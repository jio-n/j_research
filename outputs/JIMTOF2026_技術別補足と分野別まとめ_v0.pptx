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6f4292f0a5434f" /><Relationship Type="http://schemas.openxmlformats.org/officeDocument/2006/relationships/extended-properties" Target="/docProps/app.xml" Id="R10171bf9f9be486a" /><Relationship Type="http://schemas.openxmlformats.org/officeDocument/2006/relationships/officeDocument" Target="/ppt/presentation.xml" Id="R33c22a0fe3d04587" /></Relationships>
</file>

<file path=ppt/presentation.xml><?xml version="1.0" encoding="utf-8"?>
<p:presentation xmlns:p="http://schemas.openxmlformats.org/presentationml/2006/main">
  <p:sldMasterIdLst>
    <p:sldMasterId xmlns:r="http://schemas.openxmlformats.org/officeDocument/2006/relationships" id="2147483648" r:id="R2f1e50422f5443d5"/>
  </p:sldMasterIdLst>
  <p:notesMasterIdLst>
    <p:notesMasterId xmlns:r="http://schemas.openxmlformats.org/officeDocument/2006/relationships" r:id="R74490bdfb19f4082"/>
  </p:notesMasterIdLst>
  <p:sldIdLst>
    <p:sldId xmlns:r="http://schemas.openxmlformats.org/officeDocument/2006/relationships" id="256" r:id="Ra1b4487f2ffd4c96"/>
    <p:sldId xmlns:r="http://schemas.openxmlformats.org/officeDocument/2006/relationships" id="257" r:id="R7b048891ed904ade"/>
    <p:sldId xmlns:r="http://schemas.openxmlformats.org/officeDocument/2006/relationships" id="258" r:id="R959a42b0d80a4b69"/>
    <p:sldId xmlns:r="http://schemas.openxmlformats.org/officeDocument/2006/relationships" id="259" r:id="R2690a3466478402d"/>
    <p:sldId xmlns:r="http://schemas.openxmlformats.org/officeDocument/2006/relationships" id="260" r:id="Re1fc9b33e52a40d8"/>
    <p:sldId xmlns:r="http://schemas.openxmlformats.org/officeDocument/2006/relationships" id="261" r:id="Raab7cae0d75640d3"/>
    <p:sldId xmlns:r="http://schemas.openxmlformats.org/officeDocument/2006/relationships" id="262" r:id="R29fd140fecbd4443"/>
    <p:sldId xmlns:r="http://schemas.openxmlformats.org/officeDocument/2006/relationships" id="263" r:id="R72f63e0e36084c82"/>
    <p:sldId xmlns:r="http://schemas.openxmlformats.org/officeDocument/2006/relationships" id="264" r:id="R7210b06ba68f4670"/>
    <p:sldId xmlns:r="http://schemas.openxmlformats.org/officeDocument/2006/relationships" id="265" r:id="Rd27eda48f37b419f"/>
    <p:sldId xmlns:r="http://schemas.openxmlformats.org/officeDocument/2006/relationships" id="266" r:id="R63366f25dfcf492d"/>
    <p:sldId xmlns:r="http://schemas.openxmlformats.org/officeDocument/2006/relationships" id="267" r:id="Rc201f806ae10413d"/>
    <p:sldId xmlns:r="http://schemas.openxmlformats.org/officeDocument/2006/relationships" id="268" r:id="R7931998e379e4c52"/>
    <p:sldId xmlns:r="http://schemas.openxmlformats.org/officeDocument/2006/relationships" id="269" r:id="R539542e6d3044978"/>
    <p:sldId xmlns:r="http://schemas.openxmlformats.org/officeDocument/2006/relationships" id="270" r:id="Rd1e9ee32aabe44e8"/>
    <p:sldId xmlns:r="http://schemas.openxmlformats.org/officeDocument/2006/relationships" id="271" r:id="Rf77d7ca7cf924d7f"/>
    <p:sldId xmlns:r="http://schemas.openxmlformats.org/officeDocument/2006/relationships" id="272" r:id="R67cb5c16eaf14146"/>
    <p:sldId xmlns:r="http://schemas.openxmlformats.org/officeDocument/2006/relationships" id="273" r:id="Ra1cb3bebc224452d"/>
    <p:sldId xmlns:r="http://schemas.openxmlformats.org/officeDocument/2006/relationships" id="274" r:id="R178697d6199c4537"/>
    <p:sldId xmlns:r="http://schemas.openxmlformats.org/officeDocument/2006/relationships" id="275" r:id="R8d232fb0db32461f"/>
    <p:sldId xmlns:r="http://schemas.openxmlformats.org/officeDocument/2006/relationships" id="276" r:id="Re552215bb78248f3"/>
    <p:sldId xmlns:r="http://schemas.openxmlformats.org/officeDocument/2006/relationships" id="277" r:id="R2772c17dda284516"/>
    <p:sldId xmlns:r="http://schemas.openxmlformats.org/officeDocument/2006/relationships" id="278" r:id="R1bb93ddad4a44834"/>
    <p:sldId xmlns:r="http://schemas.openxmlformats.org/officeDocument/2006/relationships" id="279" r:id="R74d493a67f7047d3"/>
    <p:sldId xmlns:r="http://schemas.openxmlformats.org/officeDocument/2006/relationships" id="280" r:id="R7fb8aac72d404ddb"/>
    <p:sldId xmlns:r="http://schemas.openxmlformats.org/officeDocument/2006/relationships" id="281" r:id="R598a9859f6a04ece"/>
    <p:sldId xmlns:r="http://schemas.openxmlformats.org/officeDocument/2006/relationships" id="282" r:id="Rab0391dc38534b1e"/>
    <p:sldId xmlns:r="http://schemas.openxmlformats.org/officeDocument/2006/relationships" id="283" r:id="R8a3e4bf96a944a9a"/>
    <p:sldId xmlns:r="http://schemas.openxmlformats.org/officeDocument/2006/relationships" id="284" r:id="R20609de949cc4dfa"/>
    <p:sldId xmlns:r="http://schemas.openxmlformats.org/officeDocument/2006/relationships" id="285" r:id="R2468fa5494464c7f"/>
    <p:sldId xmlns:r="http://schemas.openxmlformats.org/officeDocument/2006/relationships" id="286" r:id="R9065531bef4b41b0"/>
    <p:sldId xmlns:r="http://schemas.openxmlformats.org/officeDocument/2006/relationships" id="287" r:id="Rdd9594d45b5d4170"/>
    <p:sldId xmlns:r="http://schemas.openxmlformats.org/officeDocument/2006/relationships" id="288" r:id="R663fdd8c0b3d462e"/>
    <p:sldId xmlns:r="http://schemas.openxmlformats.org/officeDocument/2006/relationships" id="289" r:id="R765b05e42f1c4ae5"/>
    <p:sldId xmlns:r="http://schemas.openxmlformats.org/officeDocument/2006/relationships" id="290" r:id="Rc474b8c22ba64167"/>
    <p:sldId xmlns:r="http://schemas.openxmlformats.org/officeDocument/2006/relationships" id="291" r:id="R3f95b6959aaa422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28187ee0a54e09" /><Relationship Type="http://schemas.openxmlformats.org/officeDocument/2006/relationships/slideMaster" Target="/ppt/slideMasters/slideMaster1.xml" Id="R2f1e50422f5443d5" /><Relationship Type="http://schemas.openxmlformats.org/officeDocument/2006/relationships/notesMaster" Target="/ppt/notesMasters/notesMaster1.xml" Id="R74490bdfb19f4082" /><Relationship Type="http://schemas.openxmlformats.org/officeDocument/2006/relationships/presProps" Target="/ppt/presProps.xml" Id="R696457caea014856" /><Relationship Type="http://schemas.openxmlformats.org/officeDocument/2006/relationships/tableStyles" Target="/ppt/tableStyles.xml" Id="R94a09451c8e54736" /><Relationship Type="http://schemas.openxmlformats.org/officeDocument/2006/relationships/slide" Target="/ppt/slides/slide1.xml" Id="Ra1b4487f2ffd4c96" /><Relationship Type="http://schemas.openxmlformats.org/officeDocument/2006/relationships/slide" Target="/ppt/slides/slide2.xml" Id="R7b048891ed904ade" /><Relationship Type="http://schemas.openxmlformats.org/officeDocument/2006/relationships/slide" Target="/ppt/slides/slide3.xml" Id="R959a42b0d80a4b69" /><Relationship Type="http://schemas.openxmlformats.org/officeDocument/2006/relationships/slide" Target="/ppt/slides/slide4.xml" Id="R2690a3466478402d" /><Relationship Type="http://schemas.openxmlformats.org/officeDocument/2006/relationships/slide" Target="/ppt/slides/slide5.xml" Id="Re1fc9b33e52a40d8" /><Relationship Type="http://schemas.openxmlformats.org/officeDocument/2006/relationships/slide" Target="/ppt/slides/slide6.xml" Id="Raab7cae0d75640d3" /><Relationship Type="http://schemas.openxmlformats.org/officeDocument/2006/relationships/slide" Target="/ppt/slides/slide7.xml" Id="R29fd140fecbd4443" /><Relationship Type="http://schemas.openxmlformats.org/officeDocument/2006/relationships/slide" Target="/ppt/slides/slide8.xml" Id="R72f63e0e36084c82" /><Relationship Type="http://schemas.openxmlformats.org/officeDocument/2006/relationships/slide" Target="/ppt/slides/slide9.xml" Id="R7210b06ba68f4670" /><Relationship Type="http://schemas.openxmlformats.org/officeDocument/2006/relationships/slide" Target="/ppt/slides/slide10.xml" Id="Rd27eda48f37b419f" /><Relationship Type="http://schemas.openxmlformats.org/officeDocument/2006/relationships/slide" Target="/ppt/slides/slide11.xml" Id="R63366f25dfcf492d" /><Relationship Type="http://schemas.openxmlformats.org/officeDocument/2006/relationships/slide" Target="/ppt/slides/slide12.xml" Id="Rc201f806ae10413d" /><Relationship Type="http://schemas.openxmlformats.org/officeDocument/2006/relationships/slide" Target="/ppt/slides/slide13.xml" Id="R7931998e379e4c52" /><Relationship Type="http://schemas.openxmlformats.org/officeDocument/2006/relationships/slide" Target="/ppt/slides/slide14.xml" Id="R539542e6d3044978" /><Relationship Type="http://schemas.openxmlformats.org/officeDocument/2006/relationships/slide" Target="/ppt/slides/slide15.xml" Id="Rd1e9ee32aabe44e8" /><Relationship Type="http://schemas.openxmlformats.org/officeDocument/2006/relationships/slide" Target="/ppt/slides/slide16.xml" Id="Rf77d7ca7cf924d7f" /><Relationship Type="http://schemas.openxmlformats.org/officeDocument/2006/relationships/slide" Target="/ppt/slides/slide17.xml" Id="R67cb5c16eaf14146" /><Relationship Type="http://schemas.openxmlformats.org/officeDocument/2006/relationships/slide" Target="/ppt/slides/slide18.xml" Id="Ra1cb3bebc224452d" /><Relationship Type="http://schemas.openxmlformats.org/officeDocument/2006/relationships/slide" Target="/ppt/slides/slide19.xml" Id="R178697d6199c4537" /><Relationship Type="http://schemas.openxmlformats.org/officeDocument/2006/relationships/slide" Target="/ppt/slides/slide20.xml" Id="R8d232fb0db32461f" /><Relationship Type="http://schemas.openxmlformats.org/officeDocument/2006/relationships/slide" Target="/ppt/slides/slide21.xml" Id="Re552215bb78248f3" /><Relationship Type="http://schemas.openxmlformats.org/officeDocument/2006/relationships/slide" Target="/ppt/slides/slide22.xml" Id="R2772c17dda284516" /><Relationship Type="http://schemas.openxmlformats.org/officeDocument/2006/relationships/slide" Target="/ppt/slides/slide23.xml" Id="R1bb93ddad4a44834" /><Relationship Type="http://schemas.openxmlformats.org/officeDocument/2006/relationships/slide" Target="/ppt/slides/slide24.xml" Id="R74d493a67f7047d3" /><Relationship Type="http://schemas.openxmlformats.org/officeDocument/2006/relationships/slide" Target="/ppt/slides/slide25.xml" Id="R7fb8aac72d404ddb" /><Relationship Type="http://schemas.openxmlformats.org/officeDocument/2006/relationships/slide" Target="/ppt/slides/slide26.xml" Id="R598a9859f6a04ece" /><Relationship Type="http://schemas.openxmlformats.org/officeDocument/2006/relationships/slide" Target="/ppt/slides/slide27.xml" Id="Rab0391dc38534b1e" /><Relationship Type="http://schemas.openxmlformats.org/officeDocument/2006/relationships/slide" Target="/ppt/slides/slide28.xml" Id="R8a3e4bf96a944a9a" /><Relationship Type="http://schemas.openxmlformats.org/officeDocument/2006/relationships/slide" Target="/ppt/slides/slide29.xml" Id="R20609de949cc4dfa" /><Relationship Type="http://schemas.openxmlformats.org/officeDocument/2006/relationships/slide" Target="/ppt/slides/slide30.xml" Id="R2468fa5494464c7f" /><Relationship Type="http://schemas.openxmlformats.org/officeDocument/2006/relationships/slide" Target="/ppt/slides/slide31.xml" Id="R9065531bef4b41b0" /><Relationship Type="http://schemas.openxmlformats.org/officeDocument/2006/relationships/slide" Target="/ppt/slides/slide32.xml" Id="Rdd9594d45b5d4170" /><Relationship Type="http://schemas.openxmlformats.org/officeDocument/2006/relationships/slide" Target="/ppt/slides/slide33.xml" Id="R663fdd8c0b3d462e" /><Relationship Type="http://schemas.openxmlformats.org/officeDocument/2006/relationships/slide" Target="/ppt/slides/slide34.xml" Id="R765b05e42f1c4ae5" /><Relationship Type="http://schemas.openxmlformats.org/officeDocument/2006/relationships/slide" Target="/ppt/slides/slide35.xml" Id="Rc474b8c22ba64167" /><Relationship Type="http://schemas.openxmlformats.org/officeDocument/2006/relationships/slide" Target="/ppt/slides/slide36.xml" Id="R3f95b6959aaa42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65d92109324d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52a5d347ba45b9" /><Relationship Type="http://schemas.openxmlformats.org/officeDocument/2006/relationships/notesMaster" Target="/ppt/notesMasters/notesMaster1.xml" Id="Re04c4083b34147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a791bb3ec24519" /><Relationship Type="http://schemas.openxmlformats.org/officeDocument/2006/relationships/notesMaster" Target="/ppt/notesMasters/notesMaster1.xml" Id="Rf9152c97d24b4d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cf04edc3904a3c" /><Relationship Type="http://schemas.openxmlformats.org/officeDocument/2006/relationships/notesMaster" Target="/ppt/notesMasters/notesMaster1.xml" Id="R6ecb7df74d2e41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2836cd452b4d79" /><Relationship Type="http://schemas.openxmlformats.org/officeDocument/2006/relationships/notesMaster" Target="/ppt/notesMasters/notesMaster1.xml" Id="Rec3e1ee7ab9943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4e569ba7e646bf" /><Relationship Type="http://schemas.openxmlformats.org/officeDocument/2006/relationships/notesMaster" Target="/ppt/notesMasters/notesMaster1.xml" Id="R8b69eb7fdfe74c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4ddf06a3404aa9" /><Relationship Type="http://schemas.openxmlformats.org/officeDocument/2006/relationships/notesMaster" Target="/ppt/notesMasters/notesMaster1.xml" Id="Rded5f7f0dce745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50ea763f2947cd" /><Relationship Type="http://schemas.openxmlformats.org/officeDocument/2006/relationships/notesMaster" Target="/ppt/notesMasters/notesMaster1.xml" Id="R9b0e3ca77d0a41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6133fd10a84441" /><Relationship Type="http://schemas.openxmlformats.org/officeDocument/2006/relationships/notesMaster" Target="/ppt/notesMasters/notesMaster1.xml" Id="R568006f9cda74d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eea8d9abaf4e64" /><Relationship Type="http://schemas.openxmlformats.org/officeDocument/2006/relationships/notesMaster" Target="/ppt/notesMasters/notesMaster1.xml" Id="R0671d266434646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9e8fdf352f4d21" /><Relationship Type="http://schemas.openxmlformats.org/officeDocument/2006/relationships/notesMaster" Target="/ppt/notesMasters/notesMaster1.xml" Id="R2d963242ddea4f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46eac5e7fc4ed2" /><Relationship Type="http://schemas.openxmlformats.org/officeDocument/2006/relationships/notesMaster" Target="/ppt/notesMasters/notesMaster1.xml" Id="Re02f9d182ac346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af83ddf12843bb" /><Relationship Type="http://schemas.openxmlformats.org/officeDocument/2006/relationships/notesMaster" Target="/ppt/notesMasters/notesMaster1.xml" Id="Rd1d1a0b7f59c48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27f0ae7ce64f10" /><Relationship Type="http://schemas.openxmlformats.org/officeDocument/2006/relationships/notesMaster" Target="/ppt/notesMasters/notesMaster1.xml" Id="R25992b5f6e974a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e168e4bc9144e6" /><Relationship Type="http://schemas.openxmlformats.org/officeDocument/2006/relationships/notesMaster" Target="/ppt/notesMasters/notesMaster1.xml" Id="R7c230ec6f30649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c572a5da504c30" /><Relationship Type="http://schemas.openxmlformats.org/officeDocument/2006/relationships/notesMaster" Target="/ppt/notesMasters/notesMaster1.xml" Id="R3947a86baa0f46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d7f6cffc7f4db9" /><Relationship Type="http://schemas.openxmlformats.org/officeDocument/2006/relationships/notesMaster" Target="/ppt/notesMasters/notesMaster1.xml" Id="Re147d43368e04f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84c9cfc0164d46" /><Relationship Type="http://schemas.openxmlformats.org/officeDocument/2006/relationships/notesMaster" Target="/ppt/notesMasters/notesMaster1.xml" Id="R2ac72899a6b84a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07a8e922eba48e7" /><Relationship Type="http://schemas.openxmlformats.org/officeDocument/2006/relationships/notesMaster" Target="/ppt/notesMasters/notesMaster1.xml" Id="Rfe8332e40e8f4d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675fc77dee54261" /><Relationship Type="http://schemas.openxmlformats.org/officeDocument/2006/relationships/notesMaster" Target="/ppt/notesMasters/notesMaster1.xml" Id="Rf27c34cfbec842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3c19d8354c4514" /><Relationship Type="http://schemas.openxmlformats.org/officeDocument/2006/relationships/notesMaster" Target="/ppt/notesMasters/notesMaster1.xml" Id="Rfa8cd4f6fedb453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fe29ae70724d50" /><Relationship Type="http://schemas.openxmlformats.org/officeDocument/2006/relationships/notesMaster" Target="/ppt/notesMasters/notesMaster1.xml" Id="Rca7a7e61f0514c2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ed0a9c615544bbe" /><Relationship Type="http://schemas.openxmlformats.org/officeDocument/2006/relationships/notesMaster" Target="/ppt/notesMasters/notesMaster1.xml" Id="R6ed82d45101a429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4ba714100e4473c" /><Relationship Type="http://schemas.openxmlformats.org/officeDocument/2006/relationships/notesMaster" Target="/ppt/notesMasters/notesMaster1.xml" Id="R87e224616462415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c07ef2262494628" /><Relationship Type="http://schemas.openxmlformats.org/officeDocument/2006/relationships/notesMaster" Target="/ppt/notesMasters/notesMaster1.xml" Id="Ree2068a9afc24a7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b49fe1fc2bb4be4" /><Relationship Type="http://schemas.openxmlformats.org/officeDocument/2006/relationships/notesMaster" Target="/ppt/notesMasters/notesMaster1.xml" Id="Rd3225e61b4134f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c5fcbe6430140d4" /><Relationship Type="http://schemas.openxmlformats.org/officeDocument/2006/relationships/notesMaster" Target="/ppt/notesMasters/notesMaster1.xml" Id="Ra5612933eaf94db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811443495164438" /><Relationship Type="http://schemas.openxmlformats.org/officeDocument/2006/relationships/notesMaster" Target="/ppt/notesMasters/notesMaster1.xml" Id="R8d37eac9a6a647b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dd5de2194e04c12" /><Relationship Type="http://schemas.openxmlformats.org/officeDocument/2006/relationships/notesMaster" Target="/ppt/notesMasters/notesMaster1.xml" Id="Ra3b255e6fecf4c3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2ea167ab38449f8" /><Relationship Type="http://schemas.openxmlformats.org/officeDocument/2006/relationships/notesMaster" Target="/ppt/notesMasters/notesMaster1.xml" Id="Raa8e368d435d4dc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cb62510c0b14c15" /><Relationship Type="http://schemas.openxmlformats.org/officeDocument/2006/relationships/notesMaster" Target="/ppt/notesMasters/notesMaster1.xml" Id="R7e4d3a810a7d4de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5c814983f5e493e" /><Relationship Type="http://schemas.openxmlformats.org/officeDocument/2006/relationships/notesMaster" Target="/ppt/notesMasters/notesMaster1.xml" Id="R36fe790f3d74481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420f322858c4592" /><Relationship Type="http://schemas.openxmlformats.org/officeDocument/2006/relationships/notesMaster" Target="/ppt/notesMasters/notesMaster1.xml" Id="Rca81242897b4452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1682521a36242ac" /><Relationship Type="http://schemas.openxmlformats.org/officeDocument/2006/relationships/notesMaster" Target="/ppt/notesMasters/notesMaster1.xml" Id="R534dfba4c759413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a42bab6045e46b5" /><Relationship Type="http://schemas.openxmlformats.org/officeDocument/2006/relationships/notesMaster" Target="/ppt/notesMasters/notesMaster1.xml" Id="R3a0eb55c5561454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eea1f68833148c8" /><Relationship Type="http://schemas.openxmlformats.org/officeDocument/2006/relationships/notesMaster" Target="/ppt/notesMasters/notesMaster1.xml" Id="R27dd85a80d7e4a7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f065f7ebd814e60" /><Relationship Type="http://schemas.openxmlformats.org/officeDocument/2006/relationships/notesMaster" Target="/ppt/notesMasters/notesMaster1.xml" Id="Rf552cbce279e4c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図面検索・見積作成</a:t>
            </a:r>
          </a:p>
          <a:p xmlns:a="http://schemas.openxmlformats.org/drawingml/2006/main">
            <a:r>
              <a:t>B01-1 株式会社Fact Base / ズメーン：図面・関連文書管理とAI / S3017</a:t>
            </a:r>
          </a:p>
          <a:p xmlns:a="http://schemas.openxmlformats.org/drawingml/2006/main">
            <a:r>
              <a:t>対象:図面を登録・検索し関連文書と結ぶ</a:t>
            </a:r>
          </a:p>
          <a:p xmlns:a="http://schemas.openxmlformats.org/drawingml/2006/main">
            <a:r>
              <a:t>公式要約:図面のOCR登録と関連文書管理。顧客事例では読取り結果を人が修正。</a:t>
            </a:r>
          </a:p>
          <a:p xmlns:a="http://schemas.openxmlformats.org/drawingml/2006/main">
            <a:r>
              <a:t>年度:2024の同名詳細なし。2026初登場とは断定しない。</a:t>
            </a:r>
          </a:p>
          <a:p xmlns:a="http://schemas.openxmlformats.org/drawingml/2006/main">
            <a:r>
              <a:t>人・未確認:登録・読取り確認は人。図面の誤関連や改訂の検出は未確認。</a:t>
            </a:r>
          </a:p>
          <a:p xmlns:a="http://schemas.openxmlformats.org/drawingml/2006/main">
            <a:r>
              <a:t>Evidence:EEX-EXH-2026-3b6a1de81c17dfee,EDP-11</a:t>
            </a:r>
          </a:p>
          <a:p xmlns:a="http://schemas.openxmlformats.org/drawingml/2006/main">
            <a:r>
              <a:t/>
            </a:r>
          </a:p>
          <a:p xmlns:a="http://schemas.openxmlformats.org/drawingml/2006/main">
            <a:r>
              <a:t>B01-2 匠技研工業 / 匠フォース：業務AIエージェント / S3011</a:t>
            </a:r>
          </a:p>
          <a:p xmlns:a="http://schemas.openxmlformats.org/drawingml/2006/main">
            <a:r>
              <a:t>対象:図面と原価情報から見積書案を作る</a:t>
            </a:r>
          </a:p>
          <a:p xmlns:a="http://schemas.openxmlformats.org/drawingml/2006/main">
            <a:r>
              <a:t>公式要約:図面認識・類似案件参照・原価計算から見積書案を作る。</a:t>
            </a:r>
          </a:p>
          <a:p xmlns:a="http://schemas.openxmlformats.org/drawingml/2006/main">
            <a:r>
              <a:t>年度:2024比較不能。2026/7の企業発表で一連の処理を具体化。</a:t>
            </a:r>
          </a:p>
          <a:p xmlns:a="http://schemas.openxmlformats.org/drawingml/2006/main">
            <a:r>
              <a:t>人・未確認:担当者が根拠を確認・修正・承認。社外自動送信は未確認。</a:t>
            </a:r>
          </a:p>
          <a:p xmlns:a="http://schemas.openxmlformats.org/drawingml/2006/main">
            <a:r>
              <a:t>Evidence:EOV-V041-2026-1,EDP-05</a:t>
            </a:r>
          </a:p>
          <a:p xmlns:a="http://schemas.openxmlformats.org/drawingml/2006/main">
            <a:r>
              <a:t/>
            </a:r>
          </a:p>
          <a:p xmlns:a="http://schemas.openxmlformats.org/drawingml/2006/main">
            <a:r>
              <a:t>B01-3 ものレボ / MonoRevo：類似図面検索・自動見積 / W3042</a:t>
            </a:r>
          </a:p>
          <a:p xmlns:a="http://schemas.openxmlformats.org/drawingml/2006/main">
            <a:r>
              <a:t>対象:過去図面を探し見積を作る</a:t>
            </a:r>
          </a:p>
          <a:p xmlns:a="http://schemas.openxmlformats.org/drawingml/2006/main">
            <a:r>
              <a:t>公式要約:類似図面検索と自動見積を説明。</a:t>
            </a:r>
          </a:p>
          <a:p xmlns:a="http://schemas.openxmlformats.org/drawingml/2006/main">
            <a:r>
              <a:t>年度:2024個別比較不能。</a:t>
            </a:r>
          </a:p>
          <a:p xmlns:a="http://schemas.openxmlformats.org/drawingml/2006/main">
            <a:r>
              <a:t>人・未確認:見積前提の設定・確定者、計算ロジックは未確認。</a:t>
            </a:r>
          </a:p>
          <a:p xmlns:a="http://schemas.openxmlformats.org/drawingml/2006/main">
            <a:r>
              <a:t>Evidence:EOV-V014-2026-1</a:t>
            </a:r>
          </a:p>
          <a:p xmlns:a="http://schemas.openxmlformats.org/drawingml/2006/main">
            <a:r>
              <a:t/>
            </a:r>
          </a:p>
          <a:p xmlns:a="http://schemas.openxmlformats.org/drawingml/2006/main">
            <a:r>
              <a:t>工程・CAMプログラムの作成</a:t>
            </a:r>
          </a:p>
          <a:p xmlns:a="http://schemas.openxmlformats.org/drawingml/2006/main">
            <a:r>
              <a:t>B02-1 Hexagon Manufacturing Intelligence / ESPRIT EDGE ProPlanAI / E2013</a:t>
            </a:r>
          </a:p>
          <a:p xmlns:a="http://schemas.openxmlformats.org/drawingml/2006/main">
            <a:r>
              <a:t>対象:新しい部品の加工工程を考える</a:t>
            </a:r>
          </a:p>
          <a:p xmlns:a="http://schemas.openxmlformats.org/drawingml/2006/main">
            <a:r>
              <a:t>公式要約:過去ジョブと形状特徴から工程を予測するProPlanAI。</a:t>
            </a:r>
          </a:p>
          <a:p xmlns:a="http://schemas.openxmlformats.org/drawingml/2006/main">
            <a:r>
              <a:t>年度:2024比較不能。2025の旋削betaから2026の商用範囲拡張を確認。</a:t>
            </a:r>
          </a:p>
          <a:p xmlns:a="http://schemas.openxmlformats.org/drawingml/2006/main">
            <a:r>
              <a:t>人・未確認:過去データを準備。確認画面はあるが最終NC採用権限は未公表。</a:t>
            </a:r>
          </a:p>
          <a:p xmlns:a="http://schemas.openxmlformats.org/drawingml/2006/main">
            <a:r>
              <a:t>Evidence:EOV-V007-2026-2,EOV-W02</a:t>
            </a:r>
          </a:p>
          <a:p xmlns:a="http://schemas.openxmlformats.org/drawingml/2006/main">
            <a:r>
              <a:t/>
            </a:r>
          </a:p>
          <a:p xmlns:a="http://schemas.openxmlformats.org/drawingml/2006/main">
            <a:r>
              <a:t>B02-2 ジェービーエムエンジニアリング / Mastercam＋CAMAssist / E2002</a:t>
            </a:r>
          </a:p>
          <a:p xmlns:a="http://schemas.openxmlformats.org/drawingml/2006/main">
            <a:r>
              <a:t>対象:部品形状から加工方法・工具経路を作る</a:t>
            </a:r>
          </a:p>
          <a:p xmlns:a="http://schemas.openxmlformats.org/drawingml/2006/main">
            <a:r>
              <a:t>公式要約:工具・材料・機械等の条件から加工戦略・経路・条件案を生成。</a:t>
            </a:r>
          </a:p>
          <a:p xmlns:a="http://schemas.openxmlformats.org/drawingml/2006/main">
            <a:r>
              <a:t>年度:Mastercam対応は2024/7に発表済み。2026の出展記述が具体化。</a:t>
            </a:r>
          </a:p>
          <a:p xmlns:a="http://schemas.openxmlformats.org/drawingml/2006/main">
            <a:r>
              <a:t>人・未確認:人が前提を設定し、戦略案を確認・調整してCAMへ送る。</a:t>
            </a:r>
          </a:p>
          <a:p xmlns:a="http://schemas.openxmlformats.org/drawingml/2006/main">
            <a:r>
              <a:t>Evidence:EOV-V008-2024-1,EOV-V008-2024-2,EOV-V008-2026-1,EDP-09,EDP-10,ERF-03</a:t>
            </a:r>
          </a:p>
          <a:p xmlns:a="http://schemas.openxmlformats.org/drawingml/2006/main">
            <a:r>
              <a:t/>
            </a:r>
          </a:p>
          <a:p xmlns:a="http://schemas.openxmlformats.org/drawingml/2006/main">
            <a:r>
              <a:t>B02-3 タクテックス株式会社 / CAM Assist for SolidCAM／SolidShop / S1016</a:t>
            </a:r>
          </a:p>
          <a:p xmlns:a="http://schemas.openxmlformats.org/drawingml/2006/main">
            <a:r>
              <a:t>対象:3軸・3+2軸の加工経路を作る</a:t>
            </a:r>
          </a:p>
          <a:p xmlns:a="http://schemas.openxmlformats.org/drawingml/2006/main">
            <a:r>
              <a:t>公式要約:SolidCAM向けに3軸・3+2軸の戦略と経路案を生成。</a:t>
            </a:r>
          </a:p>
          <a:p xmlns:a="http://schemas.openxmlformats.org/drawingml/2006/main">
            <a:r>
              <a:t>年度:2024はSolidCAM等。2026はAI支援を追加記載。</a:t>
            </a:r>
          </a:p>
          <a:p xmlns:a="http://schemas.openxmlformats.org/drawingml/2006/main">
            <a:r>
              <a:t>人・未確認:工具・保持等を設定し、生成案を編集・採用。最終制御権は人。</a:t>
            </a:r>
          </a:p>
          <a:p xmlns:a="http://schemas.openxmlformats.org/drawingml/2006/main">
            <a:r>
              <a:t>Evidence:EEX-EXH-2026-0436fc7b61f51a8e,EEX-EXH-2024-eb84f3b7fa9cf6db,EDP-07,EDP-08,ERF-04</a:t>
            </a:r>
          </a:p>
          <a:p xmlns:a="http://schemas.openxmlformats.org/drawingml/2006/main">
            <a:r>
              <a:t/>
            </a:r>
          </a:p>
          <a:p xmlns:a="http://schemas.openxmlformats.org/drawingml/2006/main">
            <a:r>
              <a:t>NC送り最適化・加工中の適応制御</a:t>
            </a:r>
          </a:p>
          <a:p xmlns:a="http://schemas.openxmlformats.org/drawingml/2006/main">
            <a:r>
              <a:t>B03-1 CGTech / Vericut Force／Optimizer / S3014</a:t>
            </a:r>
          </a:p>
          <a:p xmlns:a="http://schemas.openxmlformats.org/drawingml/2006/main">
            <a:r>
              <a:t>対象:加工前にNCの送り速度を調整する</a:t>
            </a:r>
          </a:p>
          <a:p xmlns:a="http://schemas.openxmlformats.org/drawingml/2006/main">
            <a:r>
              <a:t>公式要約:Forceは切削物理と力・動力制約を使い加工前に送りを最適化。</a:t>
            </a:r>
          </a:p>
          <a:p xmlns:a="http://schemas.openxmlformats.org/drawingml/2006/main">
            <a:r>
              <a:t>年度:Forceは2024掲載済み。2026のAI訴求とOptimizerの方式差は未確認。</a:t>
            </a:r>
          </a:p>
          <a:p xmlns:a="http://schemas.openxmlformats.org/drawingml/2006/main">
            <a:r>
              <a:t>人・未確認:材料・工具・限界条件とNC採用が必要〈分析〉。運用詳細は未確認。</a:t>
            </a:r>
          </a:p>
          <a:p xmlns:a="http://schemas.openxmlformats.org/drawingml/2006/main">
            <a:r>
              <a:t>Evidence:EOV-V009-2024-1,EOV-V009-2026-1,RPT-S04</a:t>
            </a:r>
          </a:p>
          <a:p xmlns:a="http://schemas.openxmlformats.org/drawingml/2006/main">
            <a:r>
              <a:t/>
            </a:r>
          </a:p>
          <a:p xmlns:a="http://schemas.openxmlformats.org/drawingml/2006/main">
            <a:r>
              <a:t>B03-2 Third Wave Systems Japan / Production Module／AdvantEdge / E1064</a:t>
            </a:r>
          </a:p>
          <a:p xmlns:a="http://schemas.openxmlformats.org/drawingml/2006/main">
            <a:r>
              <a:t>対象:加工負荷を予測しNC送りを最適化する</a:t>
            </a:r>
          </a:p>
          <a:p xmlns:a="http://schemas.openxmlformats.org/drawingml/2006/main">
            <a:r>
              <a:t>公式要約:Production ModuleはNCレベルの負荷解析。刃先FEMのAdvantEdgeとは別。</a:t>
            </a:r>
          </a:p>
          <a:p xmlns:a="http://schemas.openxmlformats.org/drawingml/2006/main">
            <a:r>
              <a:t>年度:2024展示比較不能。工具たわみ等は2019年にも公式説明。</a:t>
            </a:r>
          </a:p>
          <a:p xmlns:a="http://schemas.openxmlformats.org/drawingml/2006/main">
            <a:r>
              <a:t>人・未確認:モデル・材料・工具の設定と採用判断が必要〈分析〉。</a:t>
            </a:r>
          </a:p>
          <a:p xmlns:a="http://schemas.openxmlformats.org/drawingml/2006/main">
            <a:r>
              <a:t>Evidence:RPT-EXH-2026-3f24aaee60d77db1,RPT-S05</a:t>
            </a:r>
          </a:p>
          <a:p xmlns:a="http://schemas.openxmlformats.org/drawingml/2006/main">
            <a:r>
              <a:t/>
            </a:r>
          </a:p>
          <a:p xmlns:a="http://schemas.openxmlformats.org/drawingml/2006/main">
            <a:r>
              <a:t>B03-3 西部商工 / ACM / S3020</a:t>
            </a:r>
          </a:p>
          <a:p xmlns:a="http://schemas.openxmlformats.org/drawingml/2006/main">
            <a:r>
              <a:t>対象:加工中の負荷に応じ送りを自動調整する</a:t>
            </a:r>
          </a:p>
          <a:p xmlns:a="http://schemas.openxmlformats.org/drawingml/2006/main">
            <a:r>
              <a:t>公式要約:ACMは実測主軸負荷を使い加工中の送りを自動調整。</a:t>
            </a:r>
          </a:p>
          <a:p xmlns:a="http://schemas.openxmlformats.org/drawingml/2006/main">
            <a:r>
              <a:t>年度:2024も負荷監視と送り制御を記載。基本方式は継続。</a:t>
            </a:r>
          </a:p>
          <a:p xmlns:a="http://schemas.openxmlformats.org/drawingml/2006/main">
            <a:r>
              <a:t>人・未確認:負荷限界の設定者・停止復帰の手順は未確認。</a:t>
            </a:r>
          </a:p>
          <a:p xmlns:a="http://schemas.openxmlformats.org/drawingml/2006/main">
            <a:r>
              <a:t>Evidence:RPT-EXH-2026-107042c6cf64ba96,RPT-EXH-2024-151b23d9e05ccb13</a:t>
            </a:r>
          </a:p>
          <a:p xmlns:a="http://schemas.openxmlformats.org/drawingml/2006/main">
            <a:r>
              <a:t/>
            </a:r>
          </a:p>
          <a:p xmlns:a="http://schemas.openxmlformats.org/drawingml/2006/main">
            <a:r>
              <a:t>PLC・HMI・電気設計の支援</a:t>
            </a:r>
          </a:p>
          <a:p xmlns:a="http://schemas.openxmlformats.org/drawingml/2006/main">
            <a:r>
              <a:t>B04-1 ベッコフオートメーション / TwinCAT CoAgent for Engineering：PLC / E2028</a:t>
            </a:r>
          </a:p>
          <a:p xmlns:a="http://schemas.openxmlformats.org/drawingml/2006/main">
            <a:r>
              <a:t>対象:設備のPLC制御プログラムを作る</a:t>
            </a:r>
          </a:p>
          <a:p xmlns:a="http://schemas.openxmlformats.org/drawingml/2006/main">
            <a:r>
              <a:t>公式要約:要求とプロジェクト文脈からPLCコード案を提案。</a:t>
            </a:r>
          </a:p>
          <a:p xmlns:a="http://schemas.openxmlformats.org/drawingml/2006/main">
            <a:r>
              <a:t>年度:PLCコード支援は2023発表済み。2026初の方式ではない。</a:t>
            </a:r>
          </a:p>
          <a:p xmlns:a="http://schemas.openxmlformats.org/drawingml/2006/main">
            <a:r>
              <a:t>人・未確認:専門家が確認・確定・実行承認。書込みや起動の個別権限は未確認。</a:t>
            </a:r>
          </a:p>
          <a:p xmlns:a="http://schemas.openxmlformats.org/drawingml/2006/main">
            <a:r>
              <a:t>Evidence:EOV-V005-2026-1,EAT-N03,EAT-N05,EDP-03,ERF-01</a:t>
            </a:r>
          </a:p>
          <a:p xmlns:a="http://schemas.openxmlformats.org/drawingml/2006/main">
            <a:r>
              <a:t/>
            </a:r>
          </a:p>
          <a:p xmlns:a="http://schemas.openxmlformats.org/drawingml/2006/main">
            <a:r>
              <a:t>B04-2 ベッコフオートメーション / TwinCAT CoAgent for Engineering：I/O・HMI / E2028</a:t>
            </a:r>
          </a:p>
          <a:p xmlns:a="http://schemas.openxmlformats.org/drawingml/2006/main">
            <a:r>
              <a:t>対象:設備の入出力設定と操作画面を作る</a:t>
            </a:r>
          </a:p>
          <a:p xmlns:a="http://schemas.openxmlformats.org/drawingml/2006/main">
            <a:r>
              <a:t>公式要約:I/O構成とHMI生成・操作を支援するEngineering機能。</a:t>
            </a:r>
          </a:p>
          <a:p xmlns:a="http://schemas.openxmlformats.org/drawingml/2006/main">
            <a:r>
              <a:t>年度:I/O・HMI支援は2025/6にも公式説明。</a:t>
            </a:r>
          </a:p>
          <a:p xmlns:a="http://schemas.openxmlformats.org/drawingml/2006/main">
            <a:r>
              <a:t>人・未確認:専門家のレビュー方針。構成誤りの検証・差戻しは未確認。</a:t>
            </a:r>
          </a:p>
          <a:p xmlns:a="http://schemas.openxmlformats.org/drawingml/2006/main">
            <a:r>
              <a:t>Evidence:EOV-V005-2026-1,EAT-N03,EAT-N05,EDP-03,ERF-01</a:t>
            </a:r>
          </a:p>
          <a:p xmlns:a="http://schemas.openxmlformats.org/drawingml/2006/main">
            <a:r>
              <a:t/>
            </a:r>
          </a:p>
          <a:p xmlns:a="http://schemas.openxmlformats.org/drawingml/2006/main">
            <a:r>
              <a:t>B04-3 EPLAN / Eplan Copilot / S1067</a:t>
            </a:r>
          </a:p>
          <a:p xmlns:a="http://schemas.openxmlformats.org/drawingml/2006/main">
            <a:r>
              <a:t>対象:電気設計の情報・操作手順を調べる</a:t>
            </a:r>
          </a:p>
          <a:p xmlns:a="http://schemas.openxmlformats.org/drawingml/2006/main">
            <a:r>
              <a:t>公式要約:Eplan Copilotが文脈に応じた回答・推奨・手順を生成。</a:t>
            </a:r>
          </a:p>
          <a:p xmlns:a="http://schemas.openxmlformats.org/drawingml/2006/main">
            <a:r>
              <a:t>年度:2024の盤設計・データ連携に対し、2026はCopilotを記載。</a:t>
            </a:r>
          </a:p>
          <a:p xmlns:a="http://schemas.openxmlformats.org/drawingml/2006/main">
            <a:r>
              <a:t>人・未確認:意思決定は人。設計変更の自動採用は現機能と確認できない。</a:t>
            </a:r>
          </a:p>
          <a:p xmlns:a="http://schemas.openxmlformats.org/drawingml/2006/main">
            <a:r>
              <a:t>Evidence:EOV-V006-2024-1,EOV-V006-2026-1,EAT-N06</a:t>
            </a:r>
          </a:p>
          <a:p xmlns:a="http://schemas.openxmlformats.org/drawingml/2006/main">
            <a:r>
              <a:t/>
            </a:r>
          </a:p>
          <a:p xmlns:a="http://schemas.openxmlformats.org/drawingml/2006/main">
            <a:r>
              <a:t>熱変位補正・びびり抑制</a:t>
            </a:r>
          </a:p>
          <a:p xmlns:a="http://schemas.openxmlformats.org/drawingml/2006/main">
            <a:r>
              <a:t>B05-1 オークマ / 熱変位制御・AI知能化 / E3028</a:t>
            </a:r>
          </a:p>
          <a:p xmlns:a="http://schemas.openxmlformats.org/drawingml/2006/main">
            <a:r>
              <a:t>対象:温度変化による加工位置のずれを抑える</a:t>
            </a:r>
          </a:p>
          <a:p xmlns:a="http://schemas.openxmlformats.org/drawingml/2006/main">
            <a:r>
              <a:t>公式要約:熱を単純化する構造と熱変位制御を組み合わせる。</a:t>
            </a:r>
          </a:p>
          <a:p xmlns:a="http://schemas.openxmlformats.org/drawingml/2006/main">
            <a:r>
              <a:t>年度:熱安定化は既存技術。2026のAI訴求だけで補正全体をAIとしない。</a:t>
            </a:r>
          </a:p>
          <a:p xmlns:a="http://schemas.openxmlformats.org/drawingml/2006/main">
            <a:r>
              <a:t>人・未確認:校正・補正限界・条件変化時の人の関与は未確認。</a:t>
            </a:r>
          </a:p>
          <a:p xmlns:a="http://schemas.openxmlformats.org/drawingml/2006/main">
            <a:r>
              <a:t>Evidence:EOV-V003-2024-1,EOV-V003-2026-1,RPT-S02</a:t>
            </a:r>
          </a:p>
          <a:p xmlns:a="http://schemas.openxmlformats.org/drawingml/2006/main">
            <a:r>
              <a:t/>
            </a:r>
          </a:p>
          <a:p xmlns:a="http://schemas.openxmlformats.org/drawingml/2006/main">
            <a:r>
              <a:t>B05-2 ヤマザキマザック / Ai Thermal Shield（製品資料による比較） / E1001</a:t>
            </a:r>
          </a:p>
          <a:p xmlns:a="http://schemas.openxmlformats.org/drawingml/2006/main">
            <a:r>
              <a:t>対象:加工後測定も使い熱変位補正を調整する</a:t>
            </a:r>
          </a:p>
          <a:p xmlns:a="http://schemas.openxmlformats.org/drawingml/2006/main">
            <a:r>
              <a:t>公式要約:温度・回転等を考慮。加工後測定の学習で熱変位補正を最適化。</a:t>
            </a:r>
          </a:p>
          <a:p xmlns:a="http://schemas.openxmlformats.org/drawingml/2006/main">
            <a:r>
              <a:t>年度:製品資料の比較例。同機能の2026展示搭載・年度差は未確認。</a:t>
            </a:r>
          </a:p>
          <a:p xmlns:a="http://schemas.openxmlformats.org/drawingml/2006/main">
            <a:r>
              <a:t>人・未確認:測定準備・更新採否・補正限界の設定者は未確認。</a:t>
            </a:r>
          </a:p>
          <a:p xmlns:a="http://schemas.openxmlformats.org/drawingml/2006/main">
            <a:r>
              <a:t>Evidence:RPT-S03,EOV-V004-2024-1,EOV-V004-2026-1,EAT-N08</a:t>
            </a:r>
          </a:p>
          <a:p xmlns:a="http://schemas.openxmlformats.org/drawingml/2006/main">
            <a:r>
              <a:t/>
            </a:r>
          </a:p>
          <a:p xmlns:a="http://schemas.openxmlformats.org/drawingml/2006/main">
            <a:r>
              <a:t>B05-3 オークマ / 加工ナビM-i／M-gⅡ（製品資料による比較） / E3028</a:t>
            </a:r>
          </a:p>
          <a:p xmlns:a="http://schemas.openxmlformats.org/drawingml/2006/main">
            <a:r>
              <a:t>対象:びびり振動に応じ主軸回転数を調整する</a:t>
            </a:r>
          </a:p>
          <a:p xmlns:a="http://schemas.openxmlformats.org/drawingml/2006/main">
            <a:r>
              <a:t>公式要約:M-iは振動計測から主軸速度を自動変更。M-gⅡは速度候補を提示。</a:t>
            </a:r>
          </a:p>
          <a:p xmlns:a="http://schemas.openxmlformats.org/drawingml/2006/main">
            <a:r>
              <a:t>年度:既存製品技術の比較例。2024/2026の機能増分は未確認。</a:t>
            </a:r>
          </a:p>
          <a:p xmlns:a="http://schemas.openxmlformats.org/drawingml/2006/main">
            <a:r>
              <a:t>人・未確認:M-iは設定後に自動制御。M-gⅡは人が候補を選ぶ。</a:t>
            </a:r>
          </a:p>
          <a:p xmlns:a="http://schemas.openxmlformats.org/drawingml/2006/main">
            <a:r>
              <a:t>Evidence:RPT-S01,EOV-V003-2024-1,EOV-V003-2026-1</a:t>
            </a:r>
          </a:p>
          <a:p xmlns:a="http://schemas.openxmlformats.org/drawingml/2006/main">
            <a:r>
              <a:t/>
            </a:r>
          </a:p>
          <a:p xmlns:a="http://schemas.openxmlformats.org/drawingml/2006/main">
            <a:r>
              <a:t>計測から加工へのフィードバック</a:t>
            </a:r>
          </a:p>
          <a:p xmlns:a="http://schemas.openxmlformats.org/drawingml/2006/main">
            <a:r>
              <a:t>B06-1 レニショー / Renishaw Central＋IPC / E7089</a:t>
            </a:r>
          </a:p>
          <a:p xmlns:a="http://schemas.openxmlformats.org/drawingml/2006/main">
            <a:r>
              <a:t>対象:測定した寸法を加工補正へ戻す</a:t>
            </a:r>
          </a:p>
          <a:p xmlns:a="http://schemas.openxmlformats.org/drawingml/2006/main">
            <a:r>
              <a:t>公式要約:Renishaw Central＋IPCで工具オフセットや機械変数を更新。</a:t>
            </a:r>
          </a:p>
          <a:p xmlns:a="http://schemas.openxmlformats.org/drawingml/2006/main">
            <a:r>
              <a:t>年度:Centralは2024掲載済み。2026も継続。</a:t>
            </a:r>
          </a:p>
          <a:p xmlns:a="http://schemas.openxmlformats.org/drawingml/2006/main">
            <a:r>
              <a:t>人・未確認:計測不確かさ、補正上限、異常値の抑止条件は未確認。</a:t>
            </a:r>
          </a:p>
          <a:p xmlns:a="http://schemas.openxmlformats.org/drawingml/2006/main">
            <a:r>
              <a:t>Evidence:EOV-V018-2024-1,EOV-V018-2026-1,EOV-W03</a:t>
            </a:r>
          </a:p>
          <a:p xmlns:a="http://schemas.openxmlformats.org/drawingml/2006/main">
            <a:r>
              <a:t/>
            </a:r>
          </a:p>
          <a:p xmlns:a="http://schemas.openxmlformats.org/drawingml/2006/main">
            <a:r>
              <a:t>B06-2 Wintech Automation / HGM-DX：測定フィードバック研削 / W3051</a:t>
            </a:r>
          </a:p>
          <a:p xmlns:a="http://schemas.openxmlformats.org/drawingml/2006/main">
            <a:r>
              <a:t>対象:測定値を研削加工の補正へ戻す</a:t>
            </a:r>
          </a:p>
          <a:p xmlns:a="http://schemas.openxmlformats.org/drawingml/2006/main">
            <a:r>
              <a:t>公式要約:HGM-DXは測定値を研削機へ返し加工公差を自動補正。</a:t>
            </a:r>
          </a:p>
          <a:p xmlns:a="http://schemas.openxmlformats.org/drawingml/2006/main">
            <a:r>
              <a:t>年度:2024は製造・検査自動化。2026は測定→研削を具体記載。</a:t>
            </a:r>
          </a:p>
          <a:p xmlns:a="http://schemas.openxmlformats.org/drawingml/2006/main">
            <a:r>
              <a:t>人・未確認:補正上限と誤計測時の対応は未確認。</a:t>
            </a:r>
          </a:p>
          <a:p xmlns:a="http://schemas.openxmlformats.org/drawingml/2006/main">
            <a:r>
              <a:t>Evidence:EOV-V034-2024-1,EOV-V034-2026-1</a:t>
            </a:r>
          </a:p>
          <a:p xmlns:a="http://schemas.openxmlformats.org/drawingml/2006/main">
            <a:r>
              <a:t/>
            </a:r>
          </a:p>
          <a:p xmlns:a="http://schemas.openxmlformats.org/drawingml/2006/main">
            <a:r>
              <a:t>B06-3 株式会社サイバーRC / GH5：工具の3D画像認識・AI補正ホーニング / E7074</a:t>
            </a:r>
          </a:p>
          <a:p xmlns:a="http://schemas.openxmlformats.org/drawingml/2006/main">
            <a:r>
              <a:t>対象:工具刃先の幅・角度を狙い値へ加工する</a:t>
            </a:r>
          </a:p>
          <a:p xmlns:a="http://schemas.openxmlformats.org/drawingml/2006/main">
            <a:r>
              <a:t>公式要約:GH5は機内3D画像で刃先を測り、幅・角度の目標へAI補正。</a:t>
            </a:r>
          </a:p>
          <a:p xmlns:a="http://schemas.openxmlformats.org/drawingml/2006/main">
            <a:r>
              <a:t>年度:2024のGM5等から、2026はGH5の測定・加工一体化を記載。</a:t>
            </a:r>
          </a:p>
          <a:p xmlns:a="http://schemas.openxmlformats.org/drawingml/2006/main">
            <a:r>
              <a:t>人・未確認:目標値は人が設定。過研磨・測定不能時の停止復帰は未確認。</a:t>
            </a:r>
          </a:p>
          <a:p xmlns:a="http://schemas.openxmlformats.org/drawingml/2006/main">
            <a:r>
              <a:t>Evidence:EEX-EXH-2026-a0cbad27ea34d7c4,EEX-EXH-2024-76ac534a229f7c29,EDP-02</a:t>
            </a:r>
          </a:p>
          <a:p xmlns:a="http://schemas.openxmlformats.org/drawingml/2006/main">
            <a:r>
              <a:t/>
            </a:r>
          </a:p>
          <a:p xmlns:a="http://schemas.openxmlformats.org/drawingml/2006/main">
            <a:r>
              <a:t>外観検査・撮像と追加学習</a:t>
            </a:r>
          </a:p>
          <a:p xmlns:a="http://schemas.openxmlformats.org/drawingml/2006/main">
            <a:r>
              <a:t>B07-1 HACARUS / HACARUS Check ZERO / S1031</a:t>
            </a:r>
          </a:p>
          <a:p xmlns:a="http://schemas.openxmlformats.org/drawingml/2006/main">
            <a:r>
              <a:t>対象:製品表面の傷・欠け等を判定する</a:t>
            </a:r>
          </a:p>
          <a:p xmlns:a="http://schemas.openxmlformats.org/drawingml/2006/main">
            <a:r>
              <a:t>公式要約:ZEROは良品との差で異常を検出し、人の良否注釈で追加調整。</a:t>
            </a:r>
          </a:p>
          <a:p xmlns:a="http://schemas.openxmlformats.org/drawingml/2006/main">
            <a:r>
              <a:t>年度:追加学習は2025/7発表済み。2026だけの新機能としない。</a:t>
            </a:r>
          </a:p>
          <a:p xmlns:a="http://schemas.openxmlformats.org/drawingml/2006/main">
            <a:r>
              <a:t>人・未確認:人が画像・注釈を準備。更新モデル採用と出荷判定の権限は未確認。</a:t>
            </a:r>
          </a:p>
          <a:p xmlns:a="http://schemas.openxmlformats.org/drawingml/2006/main">
            <a:r>
              <a:t>Evidence:EOV-V021-2026-1,EOV-W06,EDP-14,EDP-15,ERF-05</a:t>
            </a:r>
          </a:p>
          <a:p xmlns:a="http://schemas.openxmlformats.org/drawingml/2006/main">
            <a:r>
              <a:t/>
            </a:r>
          </a:p>
          <a:p xmlns:a="http://schemas.openxmlformats.org/drawingml/2006/main">
            <a:r>
              <a:t>B07-2 日東商事 / HACARUS Check：協働ロボット多面検査 / S1031</a:t>
            </a:r>
          </a:p>
          <a:p xmlns:a="http://schemas.openxmlformats.org/drawingml/2006/main">
            <a:r>
              <a:t>対象:ワークを多方向から撮り外観を検査する</a:t>
            </a:r>
          </a:p>
          <a:p xmlns:a="http://schemas.openxmlformats.org/drawingml/2006/main">
            <a:r>
              <a:t>公式要約:協働ロボットで多角度撮像し、AIで傷・欠けを判定。</a:t>
            </a:r>
          </a:p>
          <a:p xmlns:a="http://schemas.openxmlformats.org/drawingml/2006/main">
            <a:r>
              <a:t>年度:日東商事2024の放電加工機展示から、AI検査を追加記載。</a:t>
            </a:r>
          </a:p>
          <a:p xmlns:a="http://schemas.openxmlformats.org/drawingml/2006/main">
            <a:r>
              <a:t>人・未確認:姿勢教示・再撮像・不良排出の権限は未確認。</a:t>
            </a:r>
          </a:p>
          <a:p xmlns:a="http://schemas.openxmlformats.org/drawingml/2006/main">
            <a:r>
              <a:t>Evidence:EOV-V022-2024-1,EOV-V022-2026-1</a:t>
            </a:r>
          </a:p>
          <a:p xmlns:a="http://schemas.openxmlformats.org/drawingml/2006/main">
            <a:r>
              <a:t/>
            </a:r>
          </a:p>
          <a:p xmlns:a="http://schemas.openxmlformats.org/drawingml/2006/main">
            <a:r>
              <a:t>B07-3 ブルーム-ノボテスト / FormControl X／DIGILOG / E7084</a:t>
            </a:r>
          </a:p>
          <a:p xmlns:a="http://schemas.openxmlformats.org/drawingml/2006/main">
            <a:r>
              <a:t>対象:機上のワーク形状と工具を測る</a:t>
            </a:r>
          </a:p>
          <a:p xmlns:a="http://schemas.openxmlformats.org/drawingml/2006/main">
            <a:r>
              <a:t>公式要約:機上3D測定と工具計測・欠け検知・補正を組み合わせる。</a:t>
            </a:r>
          </a:p>
          <a:p xmlns:a="http://schemas.openxmlformats.org/drawingml/2006/main">
            <a:r>
              <a:t>年度:2024のFormControl X等を継続し、2026はLC54等を追加。</a:t>
            </a:r>
          </a:p>
          <a:p xmlns:a="http://schemas.openxmlformats.org/drawingml/2006/main">
            <a:r>
              <a:t>人・未確認:校正・熱状態・機種適合の条件は未確認。</a:t>
            </a:r>
          </a:p>
          <a:p xmlns:a="http://schemas.openxmlformats.org/drawingml/2006/main">
            <a:r>
              <a:t>Evidence:EOV-V019-2024-1,EOV-V019-2026-1</a:t>
            </a:r>
          </a:p>
          <a:p xmlns:a="http://schemas.openxmlformats.org/drawingml/2006/main">
            <a:r>
              <a:t/>
            </a:r>
          </a:p>
          <a:p xmlns:a="http://schemas.openxmlformats.org/drawingml/2006/main">
            <a:r>
              <a:t>工具摩耗の判定・交換判断</a:t>
            </a:r>
          </a:p>
          <a:p xmlns:a="http://schemas.openxmlformats.org/drawingml/2006/main">
            <a:r>
              <a:t>B08-1 モリマシナリー / ツールコラージュ / S3048</a:t>
            </a:r>
          </a:p>
          <a:p xmlns:a="http://schemas.openxmlformats.org/drawingml/2006/main">
            <a:r>
              <a:t>対象:刃先の欠け・摩耗を判定し記録する</a:t>
            </a:r>
          </a:p>
          <a:p xmlns:a="http://schemas.openxmlformats.org/drawingml/2006/main">
            <a:r>
              <a:t>公式要約:刃先の診断箇所を認知し、欠け・摩耗をAI判定・記録。</a:t>
            </a:r>
          </a:p>
          <a:p xmlns:a="http://schemas.openxmlformats.org/drawingml/2006/main">
            <a:r>
              <a:t>年度:AI摩耗判定は2024にも説明済み。2026は継続。</a:t>
            </a:r>
          </a:p>
          <a:p xmlns:a="http://schemas.openxmlformats.org/drawingml/2006/main">
            <a:r>
              <a:t>人・未確認:対象工具と撮像条件を準備。継続使用の最終決定者は未確認。</a:t>
            </a:r>
          </a:p>
          <a:p xmlns:a="http://schemas.openxmlformats.org/drawingml/2006/main">
            <a:r>
              <a:t>Evidence:EOV-V024-2024-1,EOV-V024-2026-1,EDP-12</a:t>
            </a:r>
          </a:p>
          <a:p xmlns:a="http://schemas.openxmlformats.org/drawingml/2006/main">
            <a:r>
              <a:t/>
            </a:r>
          </a:p>
          <a:p xmlns:a="http://schemas.openxmlformats.org/drawingml/2006/main">
            <a:r>
              <a:t>B08-2 ハイデンハイン / VT122＋VTC 6.0 / E7043</a:t>
            </a:r>
          </a:p>
          <a:p xmlns:a="http://schemas.openxmlformats.org/drawingml/2006/main">
            <a:r>
              <a:t>対象:工具画像から摩耗状態を診断する</a:t>
            </a:r>
          </a:p>
          <a:p xmlns:a="http://schemas.openxmlformats.org/drawingml/2006/main">
            <a:r>
              <a:t>公式要約:VT122にVTC 6.0のAI摩耗診断・工具長機能を記載。</a:t>
            </a:r>
          </a:p>
          <a:p xmlns:a="http://schemas.openxmlformats.org/drawingml/2006/main">
            <a:r>
              <a:t>年度:2024はVT122検査。2026はAI摩耗診断を追加記載。</a:t>
            </a:r>
          </a:p>
          <a:p xmlns:a="http://schemas.openxmlformats.org/drawingml/2006/main">
            <a:r>
              <a:t>人・未確認:判定閾値と自動交換への接続は未確認。</a:t>
            </a:r>
          </a:p>
          <a:p xmlns:a="http://schemas.openxmlformats.org/drawingml/2006/main">
            <a:r>
              <a:t>Evidence:EOV-V023-2024-1,EOV-V023-2026-1</a:t>
            </a:r>
          </a:p>
          <a:p xmlns:a="http://schemas.openxmlformats.org/drawingml/2006/main">
            <a:r>
              <a:t/>
            </a:r>
          </a:p>
          <a:p xmlns:a="http://schemas.openxmlformats.org/drawingml/2006/main">
            <a:r>
              <a:t>B08-3 三菱電機 / NC MachiningAID（2024）／2026 CNC省人化 / S2003</a:t>
            </a:r>
          </a:p>
          <a:p xmlns:a="http://schemas.openxmlformats.org/drawingml/2006/main">
            <a:r>
              <a:t>対象:加工異常・工具摩耗・作業ミスを検知する</a:t>
            </a:r>
          </a:p>
          <a:p xmlns:a="http://schemas.openxmlformats.org/drawingml/2006/main">
            <a:r>
              <a:t>公式要約:2024のMachiningAIDは加工異常・工具摩耗・作業ミスをAI検知。</a:t>
            </a:r>
          </a:p>
          <a:p xmlns:a="http://schemas.openxmlformats.org/drawingml/2006/main">
            <a:r>
              <a:t>年度:2026はAI省人化の総論。個別機能の進化は比較不能。</a:t>
            </a:r>
          </a:p>
          <a:p xmlns:a="http://schemas.openxmlformats.org/drawingml/2006/main">
            <a:r>
              <a:t>人・未確認:2026の継承機能と自動停止・交換権限は未確認。</a:t>
            </a:r>
          </a:p>
          <a:p xmlns:a="http://schemas.openxmlformats.org/drawingml/2006/main">
            <a:r>
              <a:t>Evidence:EAT-V043-2024-1,EAT-V043-2026-1</a:t>
            </a:r>
          </a:p>
          <a:p xmlns:a="http://schemas.openxmlformats.org/drawingml/2006/main">
            <a:r>
              <a:t/>
            </a:r>
          </a:p>
          <a:p xmlns:a="http://schemas.openxmlformats.org/drawingml/2006/main">
            <a:r>
              <a:t>B08-4 モリマシナリー / ツールコラージュアナライザー / S3048</a:t>
            </a:r>
          </a:p>
          <a:p xmlns:a="http://schemas.openxmlformats.org/drawingml/2006/main">
            <a:r>
              <a:t>対象:切削工具をいつ交換するか</a:t>
            </a:r>
          </a:p>
          <a:p xmlns:a="http://schemas.openxmlformats.org/drawingml/2006/main">
            <a:r>
              <a:t>公式要約:摩耗幅のデータを蓄積・学習し、工具寿命と交換時期を提案する。</a:t>
            </a:r>
          </a:p>
          <a:p xmlns:a="http://schemas.openxmlformats.org/drawingml/2006/main">
            <a:r>
              <a:t>年度:2026は寿命予測と交換提案を具体掲載。ただし研究発表は2023にもあり、新方式の誕生とは扱わない。</a:t>
            </a:r>
          </a:p>
          <a:p xmlns:a="http://schemas.openxmlformats.org/drawingml/2006/main">
            <a:r>
              <a:t>人・未確認:人が工具・加工条件と提案の適用を確認する運用は要確認。</a:t>
            </a:r>
          </a:p>
          <a:p xmlns:a="http://schemas.openxmlformats.org/drawingml/2006/main">
            <a:r>
              <a:t>Evidence:EOV-V024-2024-1,EOV-V024-2026-1,EOV-W08</a:t>
            </a:r>
          </a:p>
          <a:p xmlns:a="http://schemas.openxmlformats.org/drawingml/2006/main">
            <a:r>
              <a:t/>
            </a:r>
          </a:p>
          <a:p xmlns:a="http://schemas.openxmlformats.org/drawingml/2006/main">
            <a:r>
              <a:t>B08-5 興和オプトロニクス / RW耐環境ビジョンユニット / S3104</a:t>
            </a:r>
          </a:p>
          <a:p xmlns:a="http://schemas.openxmlformats.org/drawingml/2006/main">
            <a:r>
              <a:t>対象:加工機内の工具折損・摩耗を見つける</a:t>
            </a:r>
          </a:p>
          <a:p xmlns:a="http://schemas.openxmlformats.org/drawingml/2006/main">
            <a:r>
              <a:t>公式要約:水・油・ミスト環境で撮像し、AIで工具折損・摩耗や切粉の異常蓄積を検知するとの説明。</a:t>
            </a:r>
          </a:p>
          <a:p xmlns:a="http://schemas.openxmlformats.org/drawingml/2006/main">
            <a:r>
              <a:t>年度:2024同名原典なし。2026の耐環境撮像とAI検知は確認、登場時期は比較不能。</a:t>
            </a:r>
          </a:p>
          <a:p xmlns:a="http://schemas.openxmlformats.org/drawingml/2006/main">
            <a:r>
              <a:t>人・未確認:対象工具、判定の閾値、検知後の停止・交換の分担は未確認。</a:t>
            </a:r>
          </a:p>
          <a:p xmlns:a="http://schemas.openxmlformats.org/drawingml/2006/main">
            <a:r>
              <a:t>Evidence:EOV-V042-2026-1,EDP-33</a:t>
            </a:r>
          </a:p>
          <a:p xmlns:a="http://schemas.openxmlformats.org/drawingml/2006/main">
            <a:r>
              <a:t/>
            </a:r>
          </a:p>
          <a:p xmlns:a="http://schemas.openxmlformats.org/drawingml/2006/main">
            <a:r>
              <a:t>B08-6 マーポス / ARTIS／BLU／VTS / E7087</a:t>
            </a:r>
          </a:p>
          <a:p xmlns:a="http://schemas.openxmlformats.org/drawingml/2006/main">
            <a:r>
              <a:t>対象:工具寸法と加工状態を測り・監視する</a:t>
            </a:r>
          </a:p>
          <a:p xmlns:a="http://schemas.openxmlformats.org/drawingml/2006/main">
            <a:r>
              <a:t>公式要約:カメラ・レーザーの工具測定と、工具・機械・加工プロセスの監視を展示。</a:t>
            </a:r>
          </a:p>
          <a:p xmlns:a="http://schemas.openxmlformats.org/drawingml/2006/main">
            <a:r>
              <a:t>年度:ARTIS・VTS等は2024にも掲載。2026の展示名だけでは機能の増分を断定できない。</a:t>
            </a:r>
          </a:p>
          <a:p xmlns:a="http://schemas.openxmlformats.org/drawingml/2006/main">
            <a:r>
              <a:t>人・未確認:交換・停止を決める基準と、各機能のAI使用は未確認。</a:t>
            </a:r>
          </a:p>
          <a:p xmlns:a="http://schemas.openxmlformats.org/drawingml/2006/main">
            <a:r>
              <a:t>Evidence:EOV-V020-2024-1,EOV-V020-2026-1</a:t>
            </a:r>
          </a:p>
          <a:p xmlns:a="http://schemas.openxmlformats.org/drawingml/2006/main">
            <a:r>
              <a:t/>
            </a:r>
          </a:p>
          <a:p xmlns:a="http://schemas.openxmlformats.org/drawingml/2006/main">
            <a:r>
              <a:t>B08-7 Masterlink / 工作機械センシングの知能化による生産性向上： / E1050</a:t>
            </a:r>
          </a:p>
          <a:p xmlns:a="http://schemas.openxmlformats.org/drawingml/2006/main">
            <a:r>
              <a:t>対象:工具の異常を監視する（方式要確認）</a:t>
            </a:r>
          </a:p>
          <a:p xmlns:a="http://schemas.openxmlformats.org/drawingml/2006/main">
            <a:r>
              <a:t>公式要約:工具監視、適応加工、予知保全を出展項目として掲載。入力信号と判定方式は未記載。</a:t>
            </a:r>
          </a:p>
          <a:p xmlns:a="http://schemas.openxmlformats.org/drawingml/2006/main">
            <a:r>
              <a:t>年度:2024はセンシング・現場管理の総論。2026は工具監視等を列挙。性能差は不明。</a:t>
            </a:r>
          </a:p>
          <a:p xmlns:a="http://schemas.openxmlformats.org/drawingml/2006/main">
            <a:r>
              <a:t>人・未確認:監視結果から停止・交換へ移す手順、担当者は未確認。</a:t>
            </a:r>
          </a:p>
          <a:p xmlns:a="http://schemas.openxmlformats.org/drawingml/2006/main">
            <a:r>
              <a:t>Evidence:EEX-EXH-2026-19ce238d137fe275,EEX-EXH-2024-a2fae1d1864676d1</a:t>
            </a:r>
          </a:p>
          <a:p xmlns:a="http://schemas.openxmlformats.org/drawingml/2006/main">
            <a:r>
              <a:t/>
            </a:r>
          </a:p>
          <a:p xmlns:a="http://schemas.openxmlformats.org/drawingml/2006/main">
            <a:r>
              <a:t>設備・刃具の異常検知と保全</a:t>
            </a:r>
          </a:p>
          <a:p xmlns:a="http://schemas.openxmlformats.org/drawingml/2006/main">
            <a:r>
              <a:t>B09-1 ムラテックＣＣＳ株式会社 / プライマリドクタサービス：稼働中データのAI診断 / E3031</a:t>
            </a:r>
          </a:p>
          <a:p xmlns:a="http://schemas.openxmlformats.org/drawingml/2006/main">
            <a:r>
              <a:t>対象:設備の電流・振動から劣化を診断する</a:t>
            </a:r>
          </a:p>
          <a:p xmlns:a="http://schemas.openxmlformats.org/drawingml/2006/main">
            <a:r>
              <a:t>公式要約:稼働中の電流・振動等を新品状態と比較し劣化・異常を診断。</a:t>
            </a:r>
          </a:p>
          <a:p xmlns:a="http://schemas.openxmlformats.org/drawingml/2006/main">
            <a:r>
              <a:t>年度:プライマリドクタのAI診断は2024から継続。</a:t>
            </a:r>
          </a:p>
          <a:p xmlns:a="http://schemas.openxmlformats.org/drawingml/2006/main">
            <a:r>
              <a:t>人・未確認:計測後の点検・交換の最終決定者、誤警報時の扱いは未確認。</a:t>
            </a:r>
          </a:p>
          <a:p xmlns:a="http://schemas.openxmlformats.org/drawingml/2006/main">
            <a:r>
              <a:t>Evidence:EEX-EXH-2026-308c5194f12fe009,EEX-EXH-2024-b0a94c1cd407ea8a,EDP-13</a:t>
            </a:r>
          </a:p>
          <a:p xmlns:a="http://schemas.openxmlformats.org/drawingml/2006/main">
            <a:r>
              <a:t/>
            </a:r>
          </a:p>
          <a:p xmlns:a="http://schemas.openxmlformats.org/drawingml/2006/main">
            <a:r>
              <a:t>B09-2 アズビル（TACO共同出展） / U4DM01 NC旋盤予兆検知 / W4070</a:t>
            </a:r>
          </a:p>
          <a:p xmlns:a="http://schemas.openxmlformats.org/drawingml/2006/main">
            <a:r>
              <a:t>対象:NC旋盤の刃具破損を検知する</a:t>
            </a:r>
          </a:p>
          <a:p xmlns:a="http://schemas.openxmlformats.org/drawingml/2006/main">
            <a:r>
              <a:t>公式要約:U4DM01はNC旋盤の刃具破損検知と後付け適用を説明。</a:t>
            </a:r>
          </a:p>
          <a:p xmlns:a="http://schemas.openxmlformats.org/drawingml/2006/main">
            <a:r>
              <a:t>年度:2024参考U4Dから2026 Coming soon表記。性能差は不明。</a:t>
            </a:r>
          </a:p>
          <a:p xmlns:a="http://schemas.openxmlformats.org/drawingml/2006/main">
            <a:r>
              <a:t>人・未確認:2024は設定・学習開始操作あり。停止や交換権限は未確認。</a:t>
            </a:r>
          </a:p>
          <a:p xmlns:a="http://schemas.openxmlformats.org/drawingml/2006/main">
            <a:r>
              <a:t>Evidence:RPT-EXH-2026-2c48cf1373cedc75,RPT-EXH-2024-2caebd449015630d</a:t>
            </a:r>
          </a:p>
          <a:p xmlns:a="http://schemas.openxmlformats.org/drawingml/2006/main">
            <a:r>
              <a:t/>
            </a:r>
          </a:p>
          <a:p xmlns:a="http://schemas.openxmlformats.org/drawingml/2006/main">
            <a:r>
              <a:t>B09-3 日本精工 / 振動診断AI・遠隔監視 / W2048</a:t>
            </a:r>
          </a:p>
          <a:p xmlns:a="http://schemas.openxmlformats.org/drawingml/2006/main">
            <a:r>
              <a:t>対象:振動から設備状態を診断する</a:t>
            </a:r>
          </a:p>
          <a:p xmlns:a="http://schemas.openxmlformats.org/drawingml/2006/main">
            <a:r>
              <a:t>公式要約:2024はAI振動診断と遠隔監視を紹介。</a:t>
            </a:r>
          </a:p>
          <a:p xmlns:a="http://schemas.openxmlformats.org/drawingml/2006/main">
            <a:r>
              <a:t>年度:2026の総論だけでは2024比の増分を判定できない。</a:t>
            </a:r>
          </a:p>
          <a:p xmlns:a="http://schemas.openxmlformats.org/drawingml/2006/main">
            <a:r>
              <a:t>人・未確認:2026の個別機能、保全判断への接続は資料不足。</a:t>
            </a:r>
          </a:p>
          <a:p xmlns:a="http://schemas.openxmlformats.org/drawingml/2006/main">
            <a:r>
              <a:t>Evidence:EOV-V032-2024-1,EOV-V032-2026-1</a:t>
            </a:r>
          </a:p>
          <a:p xmlns:a="http://schemas.openxmlformats.org/drawingml/2006/main">
            <a:r>
              <a:t/>
            </a:r>
          </a:p>
          <a:p xmlns:a="http://schemas.openxmlformats.org/drawingml/2006/main">
            <a:r>
              <a:t>爪・治具・ハンドと位置の段取り</a:t>
            </a:r>
          </a:p>
          <a:p xmlns:a="http://schemas.openxmlformats.org/drawingml/2006/main">
            <a:r>
              <a:t>B10-1 松本機械工業株式会社 / Smart Terrace Adv／爪・CAPTO工具の交換 / W2070</a:t>
            </a:r>
          </a:p>
          <a:p xmlns:a="http://schemas.openxmlformats.org/drawingml/2006/main">
            <a:r>
              <a:t>対象:爪・工具等を交換して段取りを変える</a:t>
            </a:r>
          </a:p>
          <a:p xmlns:a="http://schemas.openxmlformats.org/drawingml/2006/main">
            <a:r>
              <a:t>公式要約:Smart Terrace Advは爪等の交換。寸法入力から動作を設定。</a:t>
            </a:r>
          </a:p>
          <a:p xmlns:a="http://schemas.openxmlformats.org/drawingml/2006/main">
            <a:r>
              <a:t>年度:CAPTO等の交換は2024初披露済み。2026はAdv構成等に注目。</a:t>
            </a:r>
          </a:p>
          <a:p xmlns:a="http://schemas.openxmlformats.org/drawingml/2006/main">
            <a:r>
              <a:t>人・未確認:人が寸法入力。初期プログラムはメーカーが組込み。</a:t>
            </a:r>
          </a:p>
          <a:p xmlns:a="http://schemas.openxmlformats.org/drawingml/2006/main">
            <a:r>
              <a:t>Evidence:EEX-EXH-2026-0daa587f8abf6076,EEX-EXH-2024-1dc10e3b594ed9d8,EDP-26,EDP-27,EDP-28</a:t>
            </a:r>
          </a:p>
          <a:p xmlns:a="http://schemas.openxmlformats.org/drawingml/2006/main">
            <a:r>
              <a:t/>
            </a:r>
          </a:p>
          <a:p xmlns:a="http://schemas.openxmlformats.org/drawingml/2006/main">
            <a:r>
              <a:t>B10-2 イマオコーポレーション / ナットランナー治具 / W2001</a:t>
            </a:r>
          </a:p>
          <a:p xmlns:a="http://schemas.openxmlformats.org/drawingml/2006/main">
            <a:r>
              <a:t>対象:加工前にワークを治具へ固定する</a:t>
            </a:r>
          </a:p>
          <a:p xmlns:a="http://schemas.openxmlformats.org/drawingml/2006/main">
            <a:r>
              <a:t>公式要約:ナットランナーとメカ機構でワークを締結する治具。</a:t>
            </a:r>
          </a:p>
          <a:p xmlns:a="http://schemas.openxmlformats.org/drawingml/2006/main">
            <a:r>
              <a:t>年度:2024も具体治具あり。2026は種類追加を記載。</a:t>
            </a:r>
          </a:p>
          <a:p xmlns:a="http://schemas.openxmlformats.org/drawingml/2006/main">
            <a:r>
              <a:t>人・未確認:人が治具・フック等を設計選定。着座・締結異常の扱いは未確認。</a:t>
            </a:r>
          </a:p>
          <a:p xmlns:a="http://schemas.openxmlformats.org/drawingml/2006/main">
            <a:r>
              <a:t>Evidence:EOV-V025-2024-1,EOV-V025-2026-1,EDP-30,EDP-32</a:t>
            </a:r>
          </a:p>
          <a:p xmlns:a="http://schemas.openxmlformats.org/drawingml/2006/main">
            <a:r>
              <a:t/>
            </a:r>
          </a:p>
          <a:p xmlns:a="http://schemas.openxmlformats.org/drawingml/2006/main">
            <a:r>
              <a:t>B10-3 中村留精密工業 / RoboSync：移設後の位置復旧 / E2027</a:t>
            </a:r>
          </a:p>
          <a:p xmlns:a="http://schemas.openxmlformats.org/drawingml/2006/main">
            <a:r>
              <a:t>対象:移設したロボットの位置を復旧する</a:t>
            </a:r>
          </a:p>
          <a:p xmlns:a="http://schemas.openxmlformats.org/drawingml/2006/main">
            <a:r>
              <a:t>公式要約:RoboSyncは移設後にマーカーを読み相対位置を補正。</a:t>
            </a:r>
          </a:p>
          <a:p xmlns:a="http://schemas.openxmlformats.org/drawingml/2006/main">
            <a:r>
              <a:t>年度:2026は位置復旧を具体説明。同一機能の2024版は未確認。</a:t>
            </a:r>
          </a:p>
          <a:p xmlns:a="http://schemas.openxmlformats.org/drawingml/2006/main">
            <a:r>
              <a:t>人・未確認:人の移設・復旧操作を含む。未知トラブルの自律復帰とは別。</a:t>
            </a:r>
          </a:p>
          <a:p xmlns:a="http://schemas.openxmlformats.org/drawingml/2006/main">
            <a:r>
              <a:t>Evidence:EOV-V029-2024-1,EOV-V029-2026-1,EOV-W04</a:t>
            </a:r>
          </a:p>
          <a:p xmlns:a="http://schemas.openxmlformats.org/drawingml/2006/main">
            <a:r>
              <a:t/>
            </a:r>
          </a:p>
          <a:p xmlns:a="http://schemas.openxmlformats.org/drawingml/2006/main">
            <a:r>
              <a:t>B10-4 共立精機株式会社 / 全自動計測システム　HP-6040V-FA / W2025</a:t>
            </a:r>
          </a:p>
          <a:p xmlns:a="http://schemas.openxmlformats.org/drawingml/2006/main">
            <a:r>
              <a:t>対象:工具を測定・調整し、交換する段取り</a:t>
            </a:r>
          </a:p>
          <a:p xmlns:a="http://schemas.openxmlformats.org/drawingml/2006/main">
            <a:r>
              <a:t>公式要約:工具の交換、突き出し量調整、刃先測定を連続自動化し、インサート交換装置も展示。</a:t>
            </a:r>
          </a:p>
          <a:p xmlns:a="http://schemas.openxmlformats.org/drawingml/2006/main">
            <a:r>
              <a:t>年度:HP-6040V-FAによる工具段取り自動化は2024にも記載。2026は交換工程等を具体説明。</a:t>
            </a:r>
          </a:p>
          <a:p xmlns:a="http://schemas.openxmlformats.org/drawingml/2006/main">
            <a:r>
              <a:t>人・未確認:工具・チップの補給や品種設定、不良時の復旧は要確認。</a:t>
            </a:r>
          </a:p>
          <a:p xmlns:a="http://schemas.openxmlformats.org/drawingml/2006/main">
            <a:r>
              <a:t>Evidence:EEX-EXH-2026-1c8938d47b63e4bb,EEX-EXH-2024-3a9bfb48fcb6542c</a:t>
            </a:r>
          </a:p>
          <a:p xmlns:a="http://schemas.openxmlformats.org/drawingml/2006/main">
            <a:r>
              <a:t/>
            </a:r>
          </a:p>
          <a:p xmlns:a="http://schemas.openxmlformats.org/drawingml/2006/main">
            <a:r>
              <a:t>ワーク・パレット・切粉の搬送</a:t>
            </a:r>
          </a:p>
          <a:p xmlns:a="http://schemas.openxmlformats.org/drawingml/2006/main">
            <a:r>
              <a:t>B11-1 DMG森精機 / MATRIS WPH 210 / E8005</a:t>
            </a:r>
          </a:p>
          <a:p xmlns:a="http://schemas.openxmlformats.org/drawingml/2006/main">
            <a:r>
              <a:t>対象:ワークとパレットを加工機へ供給する</a:t>
            </a:r>
          </a:p>
          <a:p xmlns:a="http://schemas.openxmlformats.org/drawingml/2006/main">
            <a:r>
              <a:t>公式要約:MATRIS WPH 210がワークとパレット両方を供給。</a:t>
            </a:r>
          </a:p>
          <a:p xmlns:a="http://schemas.openxmlformats.org/drawingml/2006/main">
            <a:r>
              <a:t>年度:2024のPH Cell等に対しWPH 210を日本初公開と記載。</a:t>
            </a:r>
          </a:p>
          <a:p xmlns:a="http://schemas.openxmlformats.org/drawingml/2006/main">
            <a:r>
              <a:t>人・未確認:把持・治具・品種切替の事前準備と異常対応は未確認。</a:t>
            </a:r>
          </a:p>
          <a:p xmlns:a="http://schemas.openxmlformats.org/drawingml/2006/main">
            <a:r>
              <a:t>Evidence:EOV-V001-2024-1,EOV-V001-2026-1</a:t>
            </a:r>
          </a:p>
          <a:p xmlns:a="http://schemas.openxmlformats.org/drawingml/2006/main">
            <a:r>
              <a:t/>
            </a:r>
          </a:p>
          <a:p xmlns:a="http://schemas.openxmlformats.org/drawingml/2006/main">
            <a:r>
              <a:t>B11-2 オークマ / ARMROID／OMR20 / E3028</a:t>
            </a:r>
          </a:p>
          <a:p xmlns:a="http://schemas.openxmlformats.org/drawingml/2006/main">
            <a:r>
              <a:t>対象:加工機へのワーク搬入出を自動化する</a:t>
            </a:r>
          </a:p>
          <a:p xmlns:a="http://schemas.openxmlformats.org/drawingml/2006/main">
            <a:r>
              <a:t>公式要約:ARMROID機内ロボット、OMR20等で工作機械の自動化を構成。</a:t>
            </a:r>
          </a:p>
          <a:p xmlns:a="http://schemas.openxmlformats.org/drawingml/2006/main">
            <a:r>
              <a:t>年度:ARMROID・OMR20は2024にも掲載。2026も継続。</a:t>
            </a:r>
          </a:p>
          <a:p xmlns:a="http://schemas.openxmlformats.org/drawingml/2006/main">
            <a:r>
              <a:t>人・未確認:手動との切替と品種変更の介入範囲は未確認。</a:t>
            </a:r>
          </a:p>
          <a:p xmlns:a="http://schemas.openxmlformats.org/drawingml/2006/main">
            <a:r>
              <a:t>Evidence:EOV-V003-2024-1,EOV-V003-2026-1</a:t>
            </a:r>
          </a:p>
          <a:p xmlns:a="http://schemas.openxmlformats.org/drawingml/2006/main">
            <a:r>
              <a:t/>
            </a:r>
          </a:p>
          <a:p xmlns:a="http://schemas.openxmlformats.org/drawingml/2006/main">
            <a:r>
              <a:t>B11-3 株式会社白山機工 / AMRによる切り屑自動回収 / E2007</a:t>
            </a:r>
          </a:p>
          <a:p xmlns:a="http://schemas.openxmlformats.org/drawingml/2006/main">
            <a:r>
              <a:t>対象:加工機から出る切粉容器を回収する</a:t>
            </a:r>
          </a:p>
          <a:p xmlns:a="http://schemas.openxmlformats.org/drawingml/2006/main">
            <a:r>
              <a:t>公式要約:AMRで切粉容器を回収。実演と模型を併記。</a:t>
            </a:r>
          </a:p>
          <a:p xmlns:a="http://schemas.openxmlformats.org/drawingml/2006/main">
            <a:r>
              <a:t>年度:2024のろ過・集中処理から、2026はAMR回収を追加記載。</a:t>
            </a:r>
          </a:p>
          <a:p xmlns:a="http://schemas.openxmlformats.org/drawingml/2006/main">
            <a:r>
              <a:t>人・未確認:満杯・こぼれ・ドッキング失敗・容器交換の対応は未確認。</a:t>
            </a:r>
          </a:p>
          <a:p xmlns:a="http://schemas.openxmlformats.org/drawingml/2006/main">
            <a:r>
              <a:t>Evidence:EEX-EXH-2026-d8a50e23a9101b11,EEX-EXH-2024-89cb7807f64be75b,EDP-29</a:t>
            </a:r>
          </a:p>
          <a:p xmlns:a="http://schemas.openxmlformats.org/drawingml/2006/main">
            <a:r>
              <a:t/>
            </a:r>
          </a:p>
          <a:p xmlns:a="http://schemas.openxmlformats.org/drawingml/2006/main">
            <a:r>
              <a:t>認識を伴うピック・付帯加工・除去</a:t>
            </a:r>
          </a:p>
          <a:p xmlns:a="http://schemas.openxmlformats.org/drawingml/2006/main">
            <a:r>
              <a:t>B12-1 TAKISAWA / TR-20W：主軸の切粉除去 / E3013</a:t>
            </a:r>
          </a:p>
          <a:p xmlns:a="http://schemas.openxmlformats.org/drawingml/2006/main">
            <a:r>
              <a:t>対象:主軸に絡まった切粉を取り除く</a:t>
            </a:r>
          </a:p>
          <a:p xmlns:a="http://schemas.openxmlformats.org/drawingml/2006/main">
            <a:r>
              <a:t>公式要約:TAKISAWAは切粉の絡まりを判断し主軸の切粉を除去する参考出品。</a:t>
            </a:r>
          </a:p>
          <a:p xmlns:a="http://schemas.openxmlformats.org/drawingml/2006/main">
            <a:r>
              <a:t>年度:2024 TR-20Wは搬入出。2026は切粉除去を追加記載。</a:t>
            </a:r>
          </a:p>
          <a:p xmlns:a="http://schemas.openxmlformats.org/drawingml/2006/main">
            <a:r>
              <a:t>人・未確認:許可動作、除去失敗の検出・再試行・人への引継ぎは未確認。</a:t>
            </a:r>
          </a:p>
          <a:p xmlns:a="http://schemas.openxmlformats.org/drawingml/2006/main">
            <a:r>
              <a:t>Evidence:EOV-V030-2024-1,EOV-V030-2026-1,EAT-N01,EAT-N02,ERF-13</a:t>
            </a:r>
          </a:p>
          <a:p xmlns:a="http://schemas.openxmlformats.org/drawingml/2006/main">
            <a:r>
              <a:t/>
            </a:r>
          </a:p>
          <a:p xmlns:a="http://schemas.openxmlformats.org/drawingml/2006/main">
            <a:r>
              <a:t>B12-2 カネテック株式会社 / マグネットピンセット：AI・2Dカメラ・協働ロボット / W2013</a:t>
            </a:r>
          </a:p>
          <a:p xmlns:a="http://schemas.openxmlformats.org/drawingml/2006/main">
            <a:r>
              <a:t>対象:ばら積みの小径ねじ・小部品を拾う</a:t>
            </a:r>
          </a:p>
          <a:p xmlns:a="http://schemas.openxmlformats.org/drawingml/2006/main">
            <a:r>
              <a:t>公式要約:カメラ・協働ロボット・磁気ピンセットで小径ねじ等をピック。</a:t>
            </a:r>
          </a:p>
          <a:p xmlns:a="http://schemas.openxmlformats.org/drawingml/2006/main">
            <a:r>
              <a:t>年度:同種構成は2024あり。2026はAIを明記、性能増分は不明。</a:t>
            </a:r>
          </a:p>
          <a:p xmlns:a="http://schemas.openxmlformats.org/drawingml/2006/main">
            <a:r>
              <a:t>人・未確認:複数個吸着・空振り等の処理、AI担当の詳細は未公開。</a:t>
            </a:r>
          </a:p>
          <a:p xmlns:a="http://schemas.openxmlformats.org/drawingml/2006/main">
            <a:r>
              <a:t>Evidence:EEX-EXH-2026-30b70a74241de123,EEX-EXH-2024-45415d070f47dc6e,EDP-01</a:t>
            </a:r>
          </a:p>
          <a:p xmlns:a="http://schemas.openxmlformats.org/drawingml/2006/main">
            <a:r>
              <a:t/>
            </a:r>
          </a:p>
          <a:p xmlns:a="http://schemas.openxmlformats.org/drawingml/2006/main">
            <a:r>
              <a:t>B12-3 東京エレクトロンデバイス株式会社 / 3D形状認識・教示不要の面取り／皿もみ / E7073</a:t>
            </a:r>
          </a:p>
          <a:p xmlns:a="http://schemas.openxmlformats.org/drawingml/2006/main">
            <a:r>
              <a:t>対象:不定形ワークの面取り・皿もみを行う</a:t>
            </a:r>
          </a:p>
          <a:p xmlns:a="http://schemas.openxmlformats.org/drawingml/2006/main">
            <a:r>
              <a:t>公式要約:3Dスキャンから不定形ワークを認識し面取り等の軌道を生成。</a:t>
            </a:r>
          </a:p>
          <a:p xmlns:a="http://schemas.openxmlformats.org/drawingml/2006/main">
            <a:r>
              <a:t>年度:2024同名比較不能。2026の具体タスクは確認。</a:t>
            </a:r>
          </a:p>
          <a:p xmlns:a="http://schemas.openxmlformats.org/drawingml/2006/main">
            <a:r>
              <a:t>人・未確認:加工条件設定、干渉確認、誤認識時の停止・品質承認は未公開。</a:t>
            </a:r>
          </a:p>
          <a:p xmlns:a="http://schemas.openxmlformats.org/drawingml/2006/main">
            <a:r>
              <a:t>Evidence:EEX-EXH-2026-8c08de1ffed47316,EEX-WTED</a:t>
            </a:r>
          </a:p>
          <a:p xmlns:a="http://schemas.openxmlformats.org/drawingml/2006/main">
            <a:r>
              <a:t/>
            </a:r>
          </a:p>
          <a:p xmlns:a="http://schemas.openxmlformats.org/drawingml/2006/main">
            <a:r>
              <a:t>B12-4 株式会社ジーベックテクノロジー / XEBEC CPS オートホルダー / WA006</a:t>
            </a:r>
          </a:p>
          <a:p xmlns:a="http://schemas.openxmlformats.org/drawingml/2006/main">
            <a:r>
              <a:t>対象:バリ取り中のブラシ摩耗を補う</a:t>
            </a:r>
          </a:p>
          <a:p xmlns:a="http://schemas.openxmlformats.org/drawingml/2006/main">
            <a:r>
              <a:t>公式要約:ブラシ摩耗に応じて突出し量を自動調整するホルダーを、ロボットのギヤバリ取りに組み合わせる。</a:t>
            </a:r>
          </a:p>
          <a:p xmlns:a="http://schemas.openxmlformats.org/drawingml/2006/main">
            <a:r>
              <a:t>年度:2024はバリ取り自動化工具を紹介。2026は摩耗に伴う人の調整を減らす構成を具体記載。</a:t>
            </a:r>
          </a:p>
          <a:p xmlns:a="http://schemas.openxmlformats.org/drawingml/2006/main">
            <a:r>
              <a:t>人・未確認:加工条件・ブラシ選定と、不良時の調整は要確認。</a:t>
            </a:r>
          </a:p>
          <a:p xmlns:a="http://schemas.openxmlformats.org/drawingml/2006/main">
            <a:r>
              <a:t>Evidence:EEX-EXH-2026-ba283a239e52d644,EEX-EXH-2024-1632c66ef4d28e78</a:t>
            </a:r>
          </a:p>
          <a:p xmlns:a="http://schemas.openxmlformats.org/drawingml/2006/main">
            <a:r>
              <a:t/>
            </a:r>
          </a:p>
          <a:p xmlns:a="http://schemas.openxmlformats.org/drawingml/2006/main">
            <a:r>
              <a:t>現場エージェント・遠隔介入</a:t>
            </a:r>
          </a:p>
          <a:p xmlns:a="http://schemas.openxmlformats.org/drawingml/2006/main">
            <a:r>
              <a:t>B13-1 ベッコフオートメーション / TwinCAT CoAgent for Operations / E2028</a:t>
            </a:r>
          </a:p>
          <a:p xmlns:a="http://schemas.openxmlformats.org/drawingml/2006/main">
            <a:r>
              <a:t>対象:機械のアラーム原因と対処方法を調べる</a:t>
            </a:r>
          </a:p>
          <a:p xmlns:a="http://schemas.openxmlformats.org/drawingml/2006/main">
            <a:r>
              <a:t>公式要約:Operationsは機械データと文書から原因仮説・対処案を作る。</a:t>
            </a:r>
          </a:p>
          <a:p xmlns:a="http://schemas.openxmlformats.org/drawingml/2006/main">
            <a:r>
              <a:t>年度:2024比較不能。製品発表・投入時期要問合せ。</a:t>
            </a:r>
          </a:p>
          <a:p xmlns:a="http://schemas.openxmlformats.org/drawingml/2006/main">
            <a:r>
              <a:t>人・未確認:専門家が制御権保持。毎回承認・書込権限・失敗復帰は未公開。</a:t>
            </a:r>
          </a:p>
          <a:p xmlns:a="http://schemas.openxmlformats.org/drawingml/2006/main">
            <a:r>
              <a:t>Evidence:EOV-V005-2026-1,EAT-N04,EAT-N05,EDP-03,ERF-02</a:t>
            </a:r>
          </a:p>
          <a:p xmlns:a="http://schemas.openxmlformats.org/drawingml/2006/main">
            <a:r>
              <a:t/>
            </a:r>
          </a:p>
          <a:p xmlns:a="http://schemas.openxmlformats.org/drawingml/2006/main">
            <a:r>
              <a:t>B13-2 ソフィックス / SOFIXCAN Fleeter＋AI Forecast：ミニ工場 / E1067</a:t>
            </a:r>
          </a:p>
          <a:p xmlns:a="http://schemas.openxmlformats.org/drawingml/2006/main">
            <a:r>
              <a:t>対象:設備・搬送を連携し予測を活用する</a:t>
            </a:r>
          </a:p>
          <a:p xmlns:a="http://schemas.openxmlformats.org/drawingml/2006/main">
            <a:r>
              <a:t>公式要約:AI Forecastの予測とFleeterの機器連携をミニ工場で紹介。</a:t>
            </a:r>
          </a:p>
          <a:p xmlns:a="http://schemas.openxmlformats.org/drawingml/2006/main">
            <a:r>
              <a:t>年度:Fleeterミニ工場は2025にも予告済み。2026初とはしない。</a:t>
            </a:r>
          </a:p>
          <a:p xmlns:a="http://schemas.openxmlformats.org/drawingml/2006/main">
            <a:r>
              <a:t>人・未確認:予測から指令への権限、通信・搬送失敗時の復帰は未公開。</a:t>
            </a:r>
          </a:p>
          <a:p xmlns:a="http://schemas.openxmlformats.org/drawingml/2006/main">
            <a:r>
              <a:t>Evidence:EOV-V015-2024-1,EOV-V015-2026-1,EDP-21,EDP-22,EDP-23</a:t>
            </a:r>
          </a:p>
          <a:p xmlns:a="http://schemas.openxmlformats.org/drawingml/2006/main">
            <a:r>
              <a:t/>
            </a:r>
          </a:p>
          <a:p xmlns:a="http://schemas.openxmlformats.org/drawingml/2006/main">
            <a:r>
              <a:t>B13-3 パナソニックプロダクションエンジニアリング / X-Area Remote / W3086</a:t>
            </a:r>
          </a:p>
          <a:p xmlns:a="http://schemas.openxmlformats.org/drawingml/2006/main">
            <a:r>
              <a:t>対象:停止した搬送車を人が遠隔で復帰させる</a:t>
            </a:r>
          </a:p>
          <a:p xmlns:a="http://schemas.openxmlformats.org/drawingml/2006/main">
            <a:r>
              <a:t>公式要約:X-Area Remote実証では停止車両を人が遠隔操作して回避。</a:t>
            </a:r>
          </a:p>
          <a:p xmlns:a="http://schemas.openxmlformats.org/drawingml/2006/main">
            <a:r>
              <a:t>年度:2026/7実証で人の担当を具体確認。2024個別比較不能。</a:t>
            </a:r>
          </a:p>
          <a:p xmlns:a="http://schemas.openxmlformats.org/drawingml/2006/main">
            <a:r>
              <a:t>人・未確認:運行担当者が介入。実証はセーフティドライバー搭乗。</a:t>
            </a:r>
          </a:p>
          <a:p xmlns:a="http://schemas.openxmlformats.org/drawingml/2006/main">
            <a:r>
              <a:t>Evidence:EOV-V016-2026-1,EOV-W05,EOV-W09,EDP-24</a:t>
            </a:r>
          </a:p>
          <a:p xmlns:a="http://schemas.openxmlformats.org/drawingml/2006/main">
            <a:r>
              <a:t/>
            </a:r>
          </a:p>
          <a:p xmlns:a="http://schemas.openxmlformats.org/drawingml/2006/main">
            <a:r>
              <a:t>工場データ・計画・資源の連携</a:t>
            </a:r>
          </a:p>
          <a:p xmlns:a="http://schemas.openxmlformats.org/drawingml/2006/main">
            <a:r>
              <a:t>B14-1 WinTool AG / WinTool：工具情報と現物・工程資源の連携 / E1049</a:t>
            </a:r>
          </a:p>
          <a:p xmlns:a="http://schemas.openxmlformats.org/drawingml/2006/main">
            <a:r>
              <a:t>対象:工具情報・所在・在庫を工程と結ぶ</a:t>
            </a:r>
          </a:p>
          <a:p xmlns:a="http://schemas.openxmlformats.org/drawingml/2006/main">
            <a:r>
              <a:t>公式要約:WinToolは工具情報と工程資源を連携。在庫ルールで購買要求。</a:t>
            </a:r>
          </a:p>
          <a:p xmlns:a="http://schemas.openxmlformats.org/drawingml/2006/main">
            <a:r>
              <a:t>年度:工具・CAM・在庫連携は2024から継続。2026は資源の一貫性を強調。</a:t>
            </a:r>
          </a:p>
          <a:p xmlns:a="http://schemas.openxmlformats.org/drawingml/2006/main">
            <a:r>
              <a:t>人・未確認:管理者承認後ERPへ送信。AIによる自律発注とは記載なし。</a:t>
            </a:r>
          </a:p>
          <a:p xmlns:a="http://schemas.openxmlformats.org/drawingml/2006/main">
            <a:r>
              <a:t>Evidence:EEX-EXH-2026-4fb92ba6b82546d7,EEX-EXH-2024-3f1fa1966a57e011,EDP-18,EDP-19</a:t>
            </a:r>
          </a:p>
          <a:p xmlns:a="http://schemas.openxmlformats.org/drawingml/2006/main">
            <a:r>
              <a:t/>
            </a:r>
          </a:p>
          <a:p xmlns:a="http://schemas.openxmlformats.org/drawingml/2006/main">
            <a:r>
              <a:t>B14-2 Smart Craft / Smart Craft MES / S3002</a:t>
            </a:r>
          </a:p>
          <a:p xmlns:a="http://schemas.openxmlformats.org/drawingml/2006/main">
            <a:r>
              <a:t>対象:作業記録・指示・製造履歴を管理する</a:t>
            </a:r>
          </a:p>
          <a:p xmlns:a="http://schemas.openxmlformats.org/drawingml/2006/main">
            <a:r>
              <a:t>公式要約:Smart Craft MESは記録・指示・履歴を一元管理しAPI連携。</a:t>
            </a:r>
          </a:p>
          <a:p xmlns:a="http://schemas.openxmlformats.org/drawingml/2006/main">
            <a:r>
              <a:t>年度:2024個別比較不能。</a:t>
            </a:r>
          </a:p>
          <a:p xmlns:a="http://schemas.openxmlformats.org/drawingml/2006/main">
            <a:r>
              <a:t>人・未確認:AI分析の内容や判断権限、入力作業の残りは未確認。</a:t>
            </a:r>
          </a:p>
          <a:p xmlns:a="http://schemas.openxmlformats.org/drawingml/2006/main">
            <a:r>
              <a:t>Evidence:EOV-V013-2026-1</a:t>
            </a:r>
          </a:p>
          <a:p xmlns:a="http://schemas.openxmlformats.org/drawingml/2006/main">
            <a:r>
              <a:t/>
            </a:r>
          </a:p>
          <a:p xmlns:a="http://schemas.openxmlformats.org/drawingml/2006/main">
            <a:r>
              <a:t>B14-3 ものレボ / MonoRevo：工程計画・スケジューリング / W3042</a:t>
            </a:r>
          </a:p>
          <a:p xmlns:a="http://schemas.openxmlformats.org/drawingml/2006/main">
            <a:r>
              <a:t>対象:工程の順番と生産予定を組む</a:t>
            </a:r>
          </a:p>
          <a:p xmlns:a="http://schemas.openxmlformats.org/drawingml/2006/main">
            <a:r>
              <a:t>公式要約:MonoRevoは工程設計・計画・進捗をまとめ自動計画を支援。</a:t>
            </a:r>
          </a:p>
          <a:p xmlns:a="http://schemas.openxmlformats.org/drawingml/2006/main">
            <a:r>
              <a:t>年度:2024個別比較不能。2026は自動スケジューリングを記載。</a:t>
            </a:r>
          </a:p>
          <a:p xmlns:a="http://schemas.openxmlformats.org/drawingml/2006/main">
            <a:r>
              <a:t>人・未確認:計画制約・再計画確定者・例外対応は未確認。</a:t>
            </a:r>
          </a:p>
          <a:p xmlns:a="http://schemas.openxmlformats.org/drawingml/2006/main">
            <a:r>
              <a:t>Evidence:EOV-V014-2026-1</a:t>
            </a:r>
          </a:p>
          <a:p xmlns:a="http://schemas.openxmlformats.org/drawingml/2006/main">
            <a:r>
              <a:t/>
            </a:r>
          </a:p>
          <a:p xmlns:a="http://schemas.openxmlformats.org/drawingml/2006/main">
            <a:r>
              <a:t>AIモデル作成・機器接続の基盤</a:t>
            </a:r>
          </a:p>
          <a:p xmlns:a="http://schemas.openxmlformats.org/drawingml/2006/main">
            <a:r>
              <a:t>B15-1 ベッコフオートメーション / TwinCAT Machine Learning Creator / E2028</a:t>
            </a:r>
          </a:p>
          <a:p xmlns:a="http://schemas.openxmlformats.org/drawingml/2006/main">
            <a:r>
              <a:t>対象:現場データから判定モデルを作る</a:t>
            </a:r>
          </a:p>
          <a:p xmlns:a="http://schemas.openxmlformats.org/drawingml/2006/main">
            <a:r>
              <a:t>公式要約:ML Creatorは学習・モデル選択を自動化し、解析とONNX出力を支援。</a:t>
            </a:r>
          </a:p>
          <a:p xmlns:a="http://schemas.openxmlformats.org/drawingml/2006/main">
            <a:r>
              <a:t>年度:データ分割・ONNX統合は2024公式資料にも記載。</a:t>
            </a:r>
          </a:p>
          <a:p xmlns:a="http://schemas.openxmlformats.org/drawingml/2006/main">
            <a:r>
              <a:t>人・未確認:人がデータ・注釈・目的を準備。実機採用基準は要確認。</a:t>
            </a:r>
          </a:p>
          <a:p xmlns:a="http://schemas.openxmlformats.org/drawingml/2006/main">
            <a:r>
              <a:t>Evidence:EOV-V005-2026-1,EOV-W01,EDP-04</a:t>
            </a:r>
          </a:p>
          <a:p xmlns:a="http://schemas.openxmlformats.org/drawingml/2006/main">
            <a:r>
              <a:t/>
            </a:r>
          </a:p>
          <a:p xmlns:a="http://schemas.openxmlformats.org/drawingml/2006/main">
            <a:r>
              <a:t>B15-2 たけびし / OPC UA情報モデルとエージェント連携 / S3015</a:t>
            </a:r>
          </a:p>
          <a:p xmlns:a="http://schemas.openxmlformats.org/drawingml/2006/main">
            <a:r>
              <a:t>対象:設備データをAIが扱える形で渡す</a:t>
            </a:r>
          </a:p>
          <a:p xmlns:a="http://schemas.openxmlformats.org/drawingml/2006/main">
            <a:r>
              <a:t>公式要約:OPC UA情報モデルで機器情報をエージェントへ連携する構想。</a:t>
            </a:r>
          </a:p>
          <a:p xmlns:a="http://schemas.openxmlformats.org/drawingml/2006/main">
            <a:r>
              <a:t>年度:2024は多ベンダー接続。2026はAI連携シナリオを追加。</a:t>
            </a:r>
          </a:p>
          <a:p xmlns:a="http://schemas.openxmlformats.org/drawingml/2006/main">
            <a:r>
              <a:t>人・未確認:公開するデータ・メソッド、書込権限、承認と復帰は未確認。</a:t>
            </a:r>
          </a:p>
          <a:p xmlns:a="http://schemas.openxmlformats.org/drawingml/2006/main">
            <a:r>
              <a:t>Evidence:EOV-V011-2024-1,EOV-V011-2026-1,EDP-06</a:t>
            </a:r>
          </a:p>
          <a:p xmlns:a="http://schemas.openxmlformats.org/drawingml/2006/main">
            <a:r>
              <a:t/>
            </a:r>
          </a:p>
          <a:p xmlns:a="http://schemas.openxmlformats.org/drawingml/2006/main">
            <a:r>
              <a:t>B15-3 シーイーシー / Facteye／Resolana / E2006</a:t>
            </a:r>
          </a:p>
          <a:p xmlns:a="http://schemas.openxmlformats.org/drawingml/2006/main">
            <a:r>
              <a:t>対象:既設設備の情報を集め品質と結ぶ</a:t>
            </a:r>
          </a:p>
          <a:p xmlns:a="http://schemas.openxmlformats.org/drawingml/2006/main">
            <a:r>
              <a:t>公式要約:既設設備のデータ収集・可視化を品質やAI利用へ接続。</a:t>
            </a:r>
          </a:p>
          <a:p xmlns:a="http://schemas.openxmlformats.org/drawingml/2006/main">
            <a:r>
              <a:t>年度:収集・対話AIは2024にも説明。2026は連携課題を具体化。</a:t>
            </a:r>
          </a:p>
          <a:p xmlns:a="http://schemas.openxmlformats.org/drawingml/2006/main">
            <a:r>
              <a:t>人・未確認:自動制御や工場全体最適化の実装は未確認。</a:t>
            </a:r>
          </a:p>
          <a:p xmlns:a="http://schemas.openxmlformats.org/drawingml/2006/main">
            <a:r>
              <a:t>Evidence:EOV-V012-2024-1,EOV-V012-2026-1</a:t>
            </a:r>
          </a:p>
          <a:p xmlns:a="http://schemas.openxmlformats.org/drawingml/2006/main">
            <a:r>
              <a:t/>
            </a:r>
          </a:p>
          <a:p xmlns:a="http://schemas.openxmlformats.org/drawingml/2006/main">
            <a:r>
              <a:t>デジタルツイン・物理学習用データ</a:t>
            </a:r>
          </a:p>
          <a:p xmlns:a="http://schemas.openxmlformats.org/drawingml/2006/main">
            <a:r>
              <a:t>B16-1 ファナック / FANUC Smart Digital Twin / S2001</a:t>
            </a:r>
          </a:p>
          <a:p xmlns:a="http://schemas.openxmlformats.org/drawingml/2006/main">
            <a:r>
              <a:t>対象:加工前に機械の動きを確かめる</a:t>
            </a:r>
          </a:p>
          <a:p xmlns:a="http://schemas.openxmlformats.org/drawingml/2006/main">
            <a:r>
              <a:t>公式要約:Smart Digital Twinで加工前の挙動確認を支援。</a:t>
            </a:r>
          </a:p>
          <a:p xmlns:a="http://schemas.openxmlformats.org/drawingml/2006/main">
            <a:r>
              <a:t>年度:同名ツインは2024から継続。</a:t>
            </a:r>
          </a:p>
          <a:p xmlns:a="http://schemas.openxmlformats.org/drawingml/2006/main">
            <a:r>
              <a:t>人・未確認:モデルと実機の一致や、検証対象外事象の扱いは未確認。</a:t>
            </a:r>
          </a:p>
          <a:p xmlns:a="http://schemas.openxmlformats.org/drawingml/2006/main">
            <a:r>
              <a:t>Evidence:EOV-V002-2024-1,EOV-V002-2026-1</a:t>
            </a:r>
          </a:p>
          <a:p xmlns:a="http://schemas.openxmlformats.org/drawingml/2006/main">
            <a:r>
              <a:t/>
            </a:r>
          </a:p>
          <a:p xmlns:a="http://schemas.openxmlformats.org/drawingml/2006/main">
            <a:r>
              <a:t>B16-2 シーメンス株式会社 / Digital Thread：工作機械ツイン・工程内品質保証 / E3006</a:t>
            </a:r>
          </a:p>
          <a:p xmlns:a="http://schemas.openxmlformats.org/drawingml/2006/main">
            <a:r>
              <a:t>対象:加工の仮想検証・計測連携を確認する</a:t>
            </a:r>
          </a:p>
          <a:p xmlns:a="http://schemas.openxmlformats.org/drawingml/2006/main">
            <a:r>
              <a:t>公式要約:Tokn工作機械ツイン、Equator品質保証、ヒューマノイドを別展示。</a:t>
            </a:r>
          </a:p>
          <a:p xmlns:a="http://schemas.openxmlformats.org/drawingml/2006/main">
            <a:r>
              <a:t>年度:Toknの仮想訓練は2024完了の公式事例あり。</a:t>
            </a:r>
          </a:p>
          <a:p xmlns:a="http://schemas.openxmlformats.org/drawingml/2006/main">
            <a:r>
              <a:t>人・未確認:海外HMND実証とJIMTOFの機体・タスクの同一性は未確認。</a:t>
            </a:r>
          </a:p>
          <a:p xmlns:a="http://schemas.openxmlformats.org/drawingml/2006/main">
            <a:r>
              <a:t>Evidence:EEX-EXH-2026-9b991dd8132f51dc,EEX-EXH-2024-558faea07a73f5d8,EDP-16,EDP-17</a:t>
            </a:r>
          </a:p>
          <a:p xmlns:a="http://schemas.openxmlformats.org/drawingml/2006/main">
            <a:r>
              <a:t/>
            </a:r>
          </a:p>
          <a:p xmlns:a="http://schemas.openxmlformats.org/drawingml/2006/main">
            <a:r>
              <a:t>B16-3 NdotLight Co., Ltd. / TRINIX：CADから物理シミュレーション用データ生成 / S4004</a:t>
            </a:r>
          </a:p>
          <a:p xmlns:a="http://schemas.openxmlformats.org/drawingml/2006/main">
            <a:r>
              <a:t>対象:物理シミュレーション用の3Dデータを作る</a:t>
            </a:r>
          </a:p>
          <a:p xmlns:a="http://schemas.openxmlformats.org/drawingml/2006/main">
            <a:r>
              <a:t>公式要約:TRINIXはCADから形状・物理属性等を生成し検証・自己修正を説明。</a:t>
            </a:r>
          </a:p>
          <a:p xmlns:a="http://schemas.openxmlformats.org/drawingml/2006/main">
            <a:r>
              <a:t>年度:2024同名比較不能。DexBenchは共同開発告知で完成済み標準とはしない。</a:t>
            </a:r>
          </a:p>
          <a:p xmlns:a="http://schemas.openxmlformats.org/drawingml/2006/main">
            <a:r>
              <a:t>人・未確認:実測値と推定値の区別、人の承認、収束しない時の対応は未公開。</a:t>
            </a:r>
          </a:p>
          <a:p xmlns:a="http://schemas.openxmlformats.org/drawingml/2006/main">
            <a:r>
              <a:t>Evidence:EEX-EXH-2026-016097f87d1914b2,EEX-WNDOT,ERF-06,ERF-07,ERF-08,ERF-09</a:t>
            </a:r>
          </a:p>
          <a:p xmlns:a="http://schemas.openxmlformats.org/drawingml/2006/main">
            <a:r>
              <a:t/>
            </a:r>
          </a:p>
          <a:p xmlns:a="http://schemas.openxmlformats.org/drawingml/2006/main">
            <a:r>
              <a:t>展示段階と自律化の境界</a:t>
            </a:r>
          </a:p>
          <a:p xmlns:a="http://schemas.openxmlformats.org/drawingml/2006/main">
            <a:r>
              <a:t>B17-1 ファナック / 生成AIによるロボット駆動 / S2001</a:t>
            </a:r>
          </a:p>
          <a:p xmlns:a="http://schemas.openxmlformats.org/drawingml/2006/main">
            <a:r>
              <a:t>対象:指示からロボットを動かす（具体作業未公表）</a:t>
            </a:r>
          </a:p>
          <a:p xmlns:a="http://schemas.openxmlformats.org/drawingml/2006/main">
            <a:r>
              <a:t>公式要約:ファナックは生成AIによるロボット駆動事例を展示予定。</a:t>
            </a:r>
          </a:p>
          <a:p xmlns:a="http://schemas.openxmlformats.org/drawingml/2006/main">
            <a:r>
              <a:t>年度:2024はAIバラ積み等。2026は生成AI駆動を追加記載。</a:t>
            </a:r>
          </a:p>
          <a:p xmlns:a="http://schemas.openxmlformats.org/drawingml/2006/main">
            <a:r>
              <a:t>人・未確認:機体・対象タスク・教示・停止・承認の具体範囲は未確認。</a:t>
            </a:r>
          </a:p>
          <a:p xmlns:a="http://schemas.openxmlformats.org/drawingml/2006/main">
            <a:r>
              <a:t>Evidence:EOV-V002-2024-1,EOV-V002-2026-1</a:t>
            </a:r>
          </a:p>
          <a:p xmlns:a="http://schemas.openxmlformats.org/drawingml/2006/main">
            <a:r>
              <a:t/>
            </a:r>
          </a:p>
          <a:p xmlns:a="http://schemas.openxmlformats.org/drawingml/2006/main">
            <a:r>
              <a:t>B17-2 東京貿易テクノシステム / RBY Series 双腕移動ヒューマノイド / E7038</a:t>
            </a:r>
          </a:p>
          <a:p xmlns:a="http://schemas.openxmlformats.org/drawingml/2006/main">
            <a:r>
              <a:t>対象:双腕人型ロボットを遠隔操作・教示する</a:t>
            </a:r>
          </a:p>
          <a:p xmlns:a="http://schemas.openxmlformats.org/drawingml/2006/main">
            <a:r>
              <a:t>公式要約:RBY双腕移動ヒューマノイドはテレオペと作業教示の参考出展。</a:t>
            </a:r>
          </a:p>
          <a:p xmlns:a="http://schemas.openxmlformats.org/drawingml/2006/main">
            <a:r>
              <a:t>年度:2024の個別差は未照合。</a:t>
            </a:r>
          </a:p>
          <a:p xmlns:a="http://schemas.openxmlformats.org/drawingml/2006/main">
            <a:r>
              <a:t>人・未確認:人が遠隔操作・教示。自律作業の範囲は未確認。</a:t>
            </a:r>
          </a:p>
          <a:p xmlns:a="http://schemas.openxmlformats.org/drawingml/2006/main">
            <a:r>
              <a:t>Evidence:RPT-EXH-2026-d7b599b5d3045611,RPT-EXH-2024-5cbad6b0326d2bee</a:t>
            </a:r>
          </a:p>
          <a:p xmlns:a="http://schemas.openxmlformats.org/drawingml/2006/main">
            <a:r>
              <a:t/>
            </a:r>
          </a:p>
          <a:p xmlns:a="http://schemas.openxmlformats.org/drawingml/2006/main">
            <a:r>
              <a:t>B17-3 神崎高級工機 / FD100 ギヤチェッカー / E1071</a:t>
            </a:r>
          </a:p>
          <a:p xmlns:a="http://schemas.openxmlformats.org/drawingml/2006/main">
            <a:r>
              <a:t>対象:歯車の加工前状態を測り段取りを助ける</a:t>
            </a:r>
          </a:p>
          <a:p xmlns:a="http://schemas.openxmlformats.org/drawingml/2006/main">
            <a:r>
              <a:t>公式要約:FD100に歯合わせ・前加工計測。計測による条件最適化は開発中。</a:t>
            </a:r>
          </a:p>
          <a:p xmlns:a="http://schemas.openxmlformats.org/drawingml/2006/main">
            <a:r>
              <a:t>年度:2024の構造改善等に対し段取りを具体化。開発中を実用済みとしない。</a:t>
            </a:r>
          </a:p>
          <a:p xmlns:a="http://schemas.openxmlformats.org/drawingml/2006/main">
            <a:r>
              <a:t>人・未確認:最適化方式と人の承認、自動反映範囲は未公表。</a:t>
            </a:r>
          </a:p>
          <a:p xmlns:a="http://schemas.openxmlformats.org/drawingml/2006/main">
            <a:r>
              <a:t>Evidence:RPT-EXH-2026-91aa8dd094a4a7b2,RPT-EXH-2024-50a402f6bcce2ab8</a:t>
            </a:r>
          </a:p>
          <a:p xmlns:a="http://schemas.openxmlformats.org/drawingml/2006/main">
            <a:r>
              <a:t/>
            </a:r>
          </a:p>
          <a:p xmlns:a="http://schemas.openxmlformats.org/drawingml/2006/main">
            <a:r>
              <a:t>原典</a:t>
            </a:r>
          </a:p>
          <a:p xmlns:a="http://schemas.openxmlformats.org/drawingml/2006/main">
            <a:r>
              <a:t>EEX-EXH-2026-3b6a1de81c17dfee JIMTOF2026公式出展説明：株式会社Fact Base (S3017)</a:t>
            </a:r>
          </a:p>
          <a:p xmlns:a="http://schemas.openxmlformats.org/drawingml/2006/main">
            <a:r>
              <a:t>https://www.jimtof.org/search/jp/ESdetails?e=hZaNogHdQM4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EDP-11 ズメーン導入事例：ダイニチ</a:t>
            </a:r>
          </a:p>
          <a:p xmlns:a="http://schemas.openxmlformats.org/drawingml/2006/main">
            <a:r>
              <a:t>https://lp.zume-n.com/case-1/sagadainichi</a:t>
            </a:r>
          </a:p>
          <a:p xmlns:a="http://schemas.openxmlformats.org/drawingml/2006/main">
            <a:r>
              <a:t>該当箇所:AI・OCR文字読取／人の目で確認・補正／関連資料・改訂履歴</a:t>
            </a:r>
          </a:p>
          <a:p xmlns:a="http://schemas.openxmlformats.org/drawingml/2006/main">
            <a:r>
              <a:t>確認:2026-10-16</a:t>
            </a:r>
          </a:p>
          <a:p xmlns:a="http://schemas.openxmlformats.org/drawingml/2006/main">
            <a:r>
              <a:t>種類:企業公式サイトに掲載された顧客発言</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EOV-V041-2026-1 JIMTOF2026公式カタログ：匠技研工業株式会社 (S3011)</a:t>
            </a:r>
          </a:p>
          <a:p xmlns:a="http://schemas.openxmlformats.org/drawingml/2006/main">
            <a:r>
              <a:t>https://www.jimtof.org/search/jp/ESdetails?e=i_4zCxJP258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EDP-05 匠フォースAIエージェント発表</a:t>
            </a:r>
          </a:p>
          <a:p xmlns:a="http://schemas.openxmlformats.org/drawingml/2006/main">
            <a:r>
              <a:t>https://prtimes.jp/main/html/rd/p/000000031.000057137.html</a:t>
            </a:r>
          </a:p>
          <a:p xmlns:a="http://schemas.openxmlformats.org/drawingml/2006/main">
            <a:r>
              <a:t>該当箇所:見積金額算出／人の修正による再学習／引合受領から見積書作成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EOV-V007-2026-2 JIMTOF2026公式カタログ：Hexagon Manufacturing Intelligence株式会社 (E2013)</a:t>
            </a:r>
          </a:p>
          <a:p xmlns:a="http://schemas.openxmlformats.org/drawingml/2006/main">
            <a:r>
              <a:t>https://www.jimtof.org/search/jp/ESdetails?e=6l20Qo0pjl4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EOV-W02 ESPRIT EDGE Release Highlights</a:t>
            </a:r>
          </a:p>
          <a:p xmlns:a="http://schemas.openxmlformats.org/drawingml/2006/main">
            <a:r>
              <a:t>https://hexagon.com/products/esprit-edge/release-highlights</a:t>
            </a:r>
          </a:p>
          <a:p xmlns:a="http://schemas.openxmlformats.org/drawingml/2006/main">
            <a:r>
              <a:t>該当箇所:2025.2 PROPLANAI、2026.1 ProPlanAI for Turning, Mill-Turn &amp; Swiss</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展示:メーカーの提供状況。対象機種や契約、顧客実績は未確認</a:t>
            </a:r>
          </a:p>
          <a:p xmlns:a="http://schemas.openxmlformats.org/drawingml/2006/main">
            <a:r>
              <a:t/>
            </a:r>
          </a:p>
          <a:p xmlns:a="http://schemas.openxmlformats.org/drawingml/2006/main">
            <a:r>
              <a:t>EOV-V008-2024-1 JIMTOF2024公式カタログ：ジェービーエムエンジニアリング株式会社 (E5028)</a:t>
            </a:r>
          </a:p>
          <a:p xmlns:a="http://schemas.openxmlformats.org/drawingml/2006/main">
            <a:r>
              <a:t>https://www.jimtof.org/2024/search/jp/ESdetails?e=G-8gydwhMvE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EOV-V008-2024-2 JIMTOF2024公式カタログ：ジェービーエムエンジニアリング株式会社 (AM111)</a:t>
            </a:r>
          </a:p>
          <a:p xmlns:a="http://schemas.openxmlformats.org/drawingml/2006/main">
            <a:r>
              <a:t>https://www.jimtof.org/2024/search/jp/ESdetails?e=ZBxZW2vyjUw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EOV-V008-2026-1 JIMTOF2026公式カタログ：ジェービーエムエンジニアリング株式会社 (E2002)</a:t>
            </a:r>
          </a:p>
          <a:p xmlns:a="http://schemas.openxmlformats.org/drawingml/2006/main">
            <a:r>
              <a:t>https://www.jimtof.org/search/jp/ESdetails?e=VrAjMTKmxdw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EDP-09 Mastercam向けCAM Assist</a:t>
            </a:r>
          </a:p>
          <a:p xmlns:a="http://schemas.openxmlformats.org/drawingml/2006/main">
            <a:r>
              <a:t>https://www.cloudnc.com/ja/mastercam</a:t>
            </a:r>
          </a:p>
          <a:p xmlns:a="http://schemas.openxmlformats.org/drawingml/2006/main">
            <a:r>
              <a:t>該当箇所:仕組みステップ1〜4／FAQの対象加工・顧客データ学習の否定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EDP-10 Mastercam向けCAM Assist提供開始</a:t>
            </a:r>
          </a:p>
          <a:p xmlns:a="http://schemas.openxmlformats.org/drawingml/2006/main">
            <a:r>
              <a:t>https://www.cloudnc.com/news-room/cam-assist-the-first-ai-plug-in-for-cam-is-now-available-for-mastercam</a:t>
            </a:r>
          </a:p>
          <a:p xmlns:a="http://schemas.openxmlformats.org/drawingml/2006/main">
            <a:r>
              <a:t>該当箇所:July 25, 2024／3軸・3+2軸向け。北米販売開始の説明</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ERF-03 Mastercam CAM Assist：確認・調整と学習方針</a:t>
            </a:r>
          </a:p>
          <a:p xmlns:a="http://schemas.openxmlformats.org/drawingml/2006/main">
            <a:r>
              <a:t>https://www.cloudnc.com/ja/mastercam</a:t>
            </a:r>
          </a:p>
          <a:p xmlns:a="http://schemas.openxmlformats.org/drawingml/2006/main">
            <a:r>
              <a:t>該当箇所:仕組みStep 2–4／FAQ：顧客データで学習しない、加工性評価、編集可能CAM</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EEX-EXH-2026-0436fc7b61f51a8e JIMTOF2026公式出展説明：タクテックス株式会社 (S1016)</a:t>
            </a:r>
          </a:p>
          <a:p xmlns:a="http://schemas.openxmlformats.org/drawingml/2006/main">
            <a:r>
              <a:t>https://www.jimtof.org/search/jp/ESdetails?e=2TVzwvOqLxI</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EEX-EXH-2024-eb84f3b7fa9cf6db JIMTOF2024公式出展説明：タクテックス株式会社 (E5030)</a:t>
            </a:r>
          </a:p>
          <a:p xmlns:a="http://schemas.openxmlformats.org/drawingml/2006/main">
            <a:r>
              <a:t>https://www.jimtof.org/2024/search/jp/ESdetails?e=p_i9WuUhNRg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EDP-07 SolidCAM向けCAM Assist</a:t>
            </a:r>
          </a:p>
          <a:p xmlns:a="http://schemas.openxmlformats.org/drawingml/2006/main">
            <a:r>
              <a:t>https://www.cloudnc.com/ja/solidcam</a:t>
            </a:r>
          </a:p>
          <a:p xmlns:a="http://schemas.openxmlformats.org/drawingml/2006/main">
            <a:r>
              <a:t>該当箇所:仕組みステップ1〜4／FAQの対象加工・通信・戦略生成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EDP-08 CloudNC CAM Assist公式ヘルプ</a:t>
            </a:r>
          </a:p>
          <a:p xmlns:a="http://schemas.openxmlformats.org/drawingml/2006/main">
            <a:r>
              <a:t>https://help.solidcam.com/topics/solutions/cloudnc-cam-assist.htm</a:t>
            </a:r>
          </a:p>
          <a:p xmlns:a="http://schemas.openxmlformats.org/drawingml/2006/main">
            <a:r>
              <a:t>該当箇所:形状・工具・材種・段取りの入力／プログラマーの修正・検証・NC出力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ERF-04 CAM Assistの生成後の編集・検証</a:t>
            </a:r>
          </a:p>
          <a:p xmlns:a="http://schemas.openxmlformats.org/drawingml/2006/main">
            <a:r>
              <a:t>https://help.solidcam.com/topics/solutions/cloudnc-cam-assist.htm</a:t>
            </a:r>
          </a:p>
          <a:p xmlns:a="http://schemas.openxmlformats.org/drawingml/2006/main">
            <a:r>
              <a:t>該当箇所:L11–19／プログラマーがreview・refine、既存のsimulation・verification・NC生成</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EOV-V009-2024-1 JIMTOF2024公式カタログ：株式会社CGTech (E5042)</a:t>
            </a:r>
          </a:p>
          <a:p xmlns:a="http://schemas.openxmlformats.org/drawingml/2006/main">
            <a:r>
              <a:t>https://www.jimtof.org/2024/search/jp/ESdetails?e=AxDUk3YbQDI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EOV-V009-2026-1 JIMTOF2026公式カタログ：株式会社CGTech (S3014)</a:t>
            </a:r>
          </a:p>
          <a:p xmlns:a="http://schemas.openxmlformats.org/drawingml/2006/main">
            <a:r>
              <a:t>https://www.jimtof.org/search/jp/ESdetails?e=41U8xW4UkcM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RPT-S04 Vericut Force FAQ</a:t>
            </a:r>
          </a:p>
          <a:p xmlns:a="http://schemas.openxmlformats.org/drawingml/2006/main">
            <a:r>
              <a:t>https://archive.vericut.com/force-faq/</a:t>
            </a:r>
          </a:p>
          <a:p xmlns:a="http://schemas.openxmlformats.org/drawingml/2006/main">
            <a:r>
              <a:t>該当箇所:Force physics-based optimization</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RPT-EXH-2026-3f24aaee60d77db1 Third Wave Systems Japan合同会社 JIMTOF2026</a:t>
            </a:r>
          </a:p>
          <a:p xmlns:a="http://schemas.openxmlformats.org/drawingml/2006/main">
            <a:r>
              <a:t>https://www.jimtof.org/search/jp/ESdetails?e=L43LSAjxuyc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RPT-S05 Production Module v8.2 release</a:t>
            </a:r>
          </a:p>
          <a:p xmlns:a="http://schemas.openxmlformats.org/drawingml/2006/main">
            <a:r>
              <a:t>https://thirdwavesys.com/latest-news/production-module-v8-2-release/</a:t>
            </a:r>
          </a:p>
          <a:p xmlns:a="http://schemas.openxmlformats.org/drawingml/2006/main">
            <a:r>
              <a:t>該当箇所:工具たわみ・entry/exit feedrate constraints</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RPT-EXH-2026-107042c6cf64ba96 西部商工株式会社 JIMTOF2026</a:t>
            </a:r>
          </a:p>
          <a:p xmlns:a="http://schemas.openxmlformats.org/drawingml/2006/main">
            <a:r>
              <a:t>https://www.jimtof.org/search/jp/ESdetails?e=OC6R-wdDduM</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RPT-EXH-2024-151b23d9e05ccb13 西部商工株式会社 JIMTOF2024</a:t>
            </a:r>
          </a:p>
          <a:p xmlns:a="http://schemas.openxmlformats.org/drawingml/2006/main">
            <a:r>
              <a:t>https://www.jimtof.org/2024/search/jp/ESdetails?e=YRTw8XJWi9g</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EAT-N03 CoAgent for Engineering TE1700</a:t>
            </a:r>
          </a:p>
          <a:p xmlns:a="http://schemas.openxmlformats.org/drawingml/2006/main">
            <a:r>
              <a:t>https://www.beckhoff.com/ko-kr/products/automation/twincat/texxxx-twincat-3-engineering/te1700.html</a:t>
            </a:r>
          </a:p>
          <a:p xmlns:a="http://schemas.openxmlformats.org/drawingml/2006/main">
            <a:r>
              <a:t>該当箇所:Features／Product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ERF-01 From chatbot to intelligent agent</a:t>
            </a:r>
          </a:p>
          <a:p xmlns:a="http://schemas.openxmlformats.org/drawingml/2006/main">
            <a:r>
              <a:t>https://www.beckhoff.com/en-gb/company/news/from-chatbot-to-intelligent-agent.html</a:t>
            </a:r>
          </a:p>
          <a:p xmlns:a="http://schemas.openxmlformats.org/drawingml/2006/main">
            <a:r>
              <a:t>該当箇所:2025/6/13／Placing people at the heart of automation；PLC・I/O・HMI、専門家がreview・confirm・approve</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EOV-V006-2024-1 JIMTOF2024公式カタログ：EPLAN株式会社 (E2033)</a:t>
            </a:r>
          </a:p>
          <a:p xmlns:a="http://schemas.openxmlformats.org/drawingml/2006/main">
            <a:r>
              <a:t>https://www.jimtof.org/2024/search/jp/ESdetails?e=50efK4rQsHs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EOV-V006-2026-1 JIMTOF2026公式カタログ：EPLAN株式会社 (S1067)</a:t>
            </a:r>
          </a:p>
          <a:p xmlns:a="http://schemas.openxmlformats.org/drawingml/2006/main">
            <a:r>
              <a:t>https://www.jimtof.org/search/jp/ESdetails?e=FHsQAvmFusY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EAT-N06 Eplan Copilot</a:t>
            </a:r>
          </a:p>
          <a:p xmlns:a="http://schemas.openxmlformats.org/drawingml/2006/main">
            <a:r>
              <a:t>https://www.eplan.com/us-en/about-us/innovations/eplan-copilot/</a:t>
            </a:r>
          </a:p>
          <a:p xmlns:a="http://schemas.openxmlformats.org/drawingml/2006/main">
            <a:r>
              <a:t>該当箇所:Based on a described task／Looking ahead／conceptual phase</a:t>
            </a:r>
          </a:p>
          <a:p xmlns:a="http://schemas.openxmlformats.org/drawingml/2006/main">
            <a:r>
              <a:t>確認:2026-10-16</a:t>
            </a:r>
          </a:p>
          <a:p xmlns:a="http://schemas.openxmlformats.org/drawingml/2006/main">
            <a:r>
              <a:t>種類:企業公式説明・メーカー主張</a:t>
            </a:r>
          </a:p>
          <a:p xmlns:a="http://schemas.openxmlformats.org/drawingml/2006/main">
            <a:r>
              <a:t>展示:現行支援と将来構想を分離</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RPT-S02 オークマ サーモフレンドリーコンセプト</a:t>
            </a:r>
          </a:p>
          <a:p xmlns:a="http://schemas.openxmlformats.org/drawingml/2006/main">
            <a:r>
              <a:t>https://www.okuma.co.jp/thermo-aniv/</a:t>
            </a:r>
          </a:p>
          <a:p xmlns:a="http://schemas.openxmlformats.org/drawingml/2006/main">
            <a:r>
              <a:t>該当箇所:サーモフレンドリーコンセプトの説明・沿革</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RPT-S03 Mazak Accuracy / Ai Thermal Shield</a:t>
            </a:r>
          </a:p>
          <a:p xmlns:a="http://schemas.openxmlformats.org/drawingml/2006/main">
            <a:r>
              <a:t>https://www.mazak.com/uk-en/technology/accuracy/</a:t>
            </a:r>
          </a:p>
          <a:p xmlns:a="http://schemas.openxmlformats.org/drawingml/2006/main">
            <a:r>
              <a:t>該当箇所:Ai Thermal Shield／Smooth Thermal Shield</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EOV-V004-2024-1 JIMTOF2024公式カタログ：ヤマザキマザック株式会社 (E5001)</a:t>
            </a:r>
          </a:p>
          <a:p xmlns:a="http://schemas.openxmlformats.org/drawingml/2006/main">
            <a:r>
              <a:t>https://www.jimtof.org/2024/search/jp/ESdetails?e=q0OrZBKM3uQ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EOV-V004-2026-1 JIMTOF2026公式カタログ：ヤマザキマザック株式会社 (E1001)</a:t>
            </a:r>
          </a:p>
          <a:p xmlns:a="http://schemas.openxmlformats.org/drawingml/2006/main">
            <a:r>
              <a:t>https://www.jimtof.org/search/jp/ESdetails?e=PJEgqNYlWes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EAT-N08 JIMTOF2026 Machines &amp; Automation Systems</a:t>
            </a:r>
          </a:p>
          <a:p xmlns:a="http://schemas.openxmlformats.org/drawingml/2006/main">
            <a:r>
              <a:t>https://www.mazak.com/jp-en/news-media/upcoming-events/jimtof2026/</a:t>
            </a:r>
          </a:p>
          <a:p xmlns:a="http://schemas.openxmlformats.org/drawingml/2006/main">
            <a:r>
              <a:t>該当箇所:Machines &amp; Automation Systems／Automation Systems</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展示:2026展示予定。AI機能の方式説明はない</a:t>
            </a:r>
          </a:p>
          <a:p xmlns:a="http://schemas.openxmlformats.org/drawingml/2006/main">
            <a:r>
              <a:t/>
            </a:r>
          </a:p>
          <a:p xmlns:a="http://schemas.openxmlformats.org/drawingml/2006/main">
            <a:r>
              <a:t>RPT-S01 オークマ 加工ナビ</a:t>
            </a:r>
          </a:p>
          <a:p xmlns:a="http://schemas.openxmlformats.org/drawingml/2006/main">
            <a:r>
              <a:t>https://www.okuma.co.jp/solution_technology/process/</a:t>
            </a:r>
          </a:p>
          <a:p xmlns:a="http://schemas.openxmlformats.org/drawingml/2006/main">
            <a:r>
              <a:t>該当箇所:加工ナビ M-i／M-gⅡ</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EOV-V018-2024-1 JIMTOF2024公式カタログ：レニショー株式会社 (E7026)</a:t>
            </a:r>
          </a:p>
          <a:p xmlns:a="http://schemas.openxmlformats.org/drawingml/2006/main">
            <a:r>
              <a:t>https://www.jimtof.org/2024/search/jp/ESdetails?e=ekM3exgIAtc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EOV-V018-2026-1 JIMTOF2026公式カタログ：レニショー株式会社 (E7089)</a:t>
            </a:r>
          </a:p>
          <a:p xmlns:a="http://schemas.openxmlformats.org/drawingml/2006/main">
            <a:r>
              <a:t>https://www.jimtof.org/search/jp/ESdetails?e=pYGmVz5GC1c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EOV-W03 Renishaw Central データプラットフォーム</a:t>
            </a:r>
          </a:p>
          <a:p xmlns:a="http://schemas.openxmlformats.org/drawingml/2006/main">
            <a:r>
              <a:t>https://www.renishaw.com/jp/smart-manufacturing-data-platform-for-industrial-process-control--47853</a:t>
            </a:r>
          </a:p>
          <a:p xmlns:a="http://schemas.openxmlformats.org/drawingml/2006/main">
            <a:r>
              <a:t>該当箇所:メカニズム、現場でのクローズドループ、導入効果</a:t>
            </a:r>
          </a:p>
          <a:p xmlns:a="http://schemas.openxmlformats.org/drawingml/2006/main">
            <a:r>
              <a:t>確認:2026-10-16</a:t>
            </a:r>
          </a:p>
          <a:p xmlns:a="http://schemas.openxmlformats.org/drawingml/2006/main">
            <a:r>
              <a:t>種類:企業公式資料・メーカー主張</a:t>
            </a:r>
          </a:p>
          <a:p xmlns:a="http://schemas.openxmlformats.org/drawingml/2006/main">
            <a:r>
              <a:t>展示:2024にも展示掲載済み。既存方式の実装例であり2026新規とはしない</a:t>
            </a:r>
          </a:p>
          <a:p xmlns:a="http://schemas.openxmlformats.org/drawingml/2006/main">
            <a:r>
              <a:t/>
            </a:r>
          </a:p>
          <a:p xmlns:a="http://schemas.openxmlformats.org/drawingml/2006/main">
            <a:r>
              <a:t>EOV-V034-2024-1 JIMTOF2024公式カタログ：Wintech Automation Co., Ltd. (E7025)</a:t>
            </a:r>
          </a:p>
          <a:p xmlns:a="http://schemas.openxmlformats.org/drawingml/2006/main">
            <a:r>
              <a:t>https://www.jimtof.org/2024/search/jp/ESdetails?e=-09Q4AWJx1E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EOV-V034-2026-1 JIMTOF2026公式カタログ：Wintech Automation Co., Ltd (W3051)</a:t>
            </a:r>
          </a:p>
          <a:p xmlns:a="http://schemas.openxmlformats.org/drawingml/2006/main">
            <a:r>
              <a:t>https://www.jimtof.org/search/jp/ESdetails?e=lMk3zNvQJbg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EEX-EXH-2026-a0cbad27ea34d7c4 JIMTOF2026公式出展説明：株式会社サイバーRC (E7074)</a:t>
            </a:r>
          </a:p>
          <a:p xmlns:a="http://schemas.openxmlformats.org/drawingml/2006/main">
            <a:r>
              <a:t>https://www.jimtof.org/search/jp/ESdetails?e=8ealehgmk8o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EEX-EXH-2024-76ac534a229f7c29 JIMTOF2024公式出展説明：株式会社サイバーRC (W3046)</a:t>
            </a:r>
          </a:p>
          <a:p xmlns:a="http://schemas.openxmlformats.org/drawingml/2006/main">
            <a:r>
              <a:t>https://www.jimtof.org/2024/search/jp/ESdetails?e=wk2AEX5rHpw</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EDP-02 GH5総合カタログ</a:t>
            </a:r>
          </a:p>
          <a:p xmlns:a="http://schemas.openxmlformats.org/drawingml/2006/main">
            <a:r>
              <a:t>https://cyber-rc.com/wp-content/uploads/2025/10/%E7%B7%8F%E5%90%88%E3%82%AB%E3%82%BF%E3%83%AD%E3%82%B0420-x-297-mm%E6%A8%AA%E4%B8%A6%E3%81%B3-.pdf</a:t>
            </a:r>
          </a:p>
          <a:p xmlns:a="http://schemas.openxmlformats.org/drawingml/2006/main">
            <a:r>
              <a:t>該当箇所:GRISTAR HONING 5 AXIS／幅・角度設定、Robot Eye、自動調整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EOV-V021-2026-1 JIMTOF2026公式カタログ：株式会社ＨＡＣＡＲＵＳ (S1031)</a:t>
            </a:r>
          </a:p>
          <a:p xmlns:a="http://schemas.openxmlformats.org/drawingml/2006/main">
            <a:r>
              <a:t>https://www.jimtof.org/search/jp/ESdetails?e=oatArsOZ-Wc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EOV-W06 AI外観検査ソリューション HACARUS Check</a:t>
            </a:r>
          </a:p>
          <a:p xmlns:a="http://schemas.openxmlformats.org/drawingml/2006/main">
            <a:r>
              <a:t>https://hacarus.com/ja/technology/hacarus-check-series/</a:t>
            </a:r>
          </a:p>
          <a:p xmlns:a="http://schemas.openxmlformats.org/drawingml/2006/main">
            <a:r>
              <a:t>該当箇所:2026.04.06本文</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展示:メーカー製品説明。独立評価の精度ではない</a:t>
            </a:r>
          </a:p>
          <a:p xmlns:a="http://schemas.openxmlformats.org/drawingml/2006/main">
            <a:r>
              <a:t/>
            </a:r>
          </a:p>
          <a:p xmlns:a="http://schemas.openxmlformats.org/drawingml/2006/main">
            <a:r>
              <a:t>EDP-14 Check ZERO正式販売開始</a:t>
            </a:r>
          </a:p>
          <a:p xmlns:a="http://schemas.openxmlformats.org/drawingml/2006/main">
            <a:r>
              <a:t>https://hacarus.com/ja/press-release/20250707-news/</a:t>
            </a:r>
          </a:p>
          <a:p xmlns:a="http://schemas.openxmlformats.org/drawingml/2006/main">
            <a:r>
              <a:t>該当箇所:2025/7/9販売／良品学習とアノテーション追加学習／判定UI</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EDP-15 Checkシリーズ公式製品説明</a:t>
            </a:r>
          </a:p>
          <a:p xmlns:a="http://schemas.openxmlformats.org/drawingml/2006/main">
            <a:r>
              <a:t>https://check.hacarus.com/ja/</a:t>
            </a:r>
          </a:p>
          <a:p xmlns:a="http://schemas.openxmlformats.org/drawingml/2006/main">
            <a:r>
              <a:t>該当箇所:Check ZERO／デュアルチューニング／機器構成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ERF-05 Check ZERO公式ソフトウェア説明</a:t>
            </a:r>
          </a:p>
          <a:p xmlns:a="http://schemas.openxmlformats.org/drawingml/2006/main">
            <a:r>
              <a:t>https://check.hacarus.com/ja/aisoftware/</a:t>
            </a:r>
          </a:p>
          <a:p xmlns:a="http://schemas.openxmlformats.org/drawingml/2006/main">
            <a:r>
              <a:t>該当箇所:特徴／異常箇所表示・良否アノテーション追加学習</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EOV-V022-2024-1 JIMTOF2024公式カタログ：日東商事株式会社 (E5040)</a:t>
            </a:r>
          </a:p>
          <a:p xmlns:a="http://schemas.openxmlformats.org/drawingml/2006/main">
            <a:r>
              <a:t>https://www.jimtof.org/2024/search/jp/ESdetails?e=S23RMUbJOQs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EOV-V022-2026-1 JIMTOF2026公式カタログ：日東商事株式会社 (S1031)</a:t>
            </a:r>
          </a:p>
          <a:p xmlns:a="http://schemas.openxmlformats.org/drawingml/2006/main">
            <a:r>
              <a:t>https://www.jimtof.org/search/jp/ESdetails?e=GozGZRxlviw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EOV-V019-2024-1 JIMTOF2024公式カタログ：ブルーム-ノボテスト株式会社 (E7132)</a:t>
            </a:r>
          </a:p>
          <a:p xmlns:a="http://schemas.openxmlformats.org/drawingml/2006/main">
            <a:r>
              <a:t>https://www.jimtof.org/2024/search/jp/ESdetails?e=Zz8BlB0Ylio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EOV-V019-2026-1 JIMTOF2026公式カタログ：ブルーム-ノボテスト株式会社 (E7084)</a:t>
            </a:r>
          </a:p>
          <a:p xmlns:a="http://schemas.openxmlformats.org/drawingml/2006/main">
            <a:r>
              <a:t>https://www.jimtof.org/search/jp/ESdetails?e=_njqMb9vBpc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EOV-V024-2024-1 JIMTOF2024公式カタログ：モリマシナリー株式会社 (S3017)</a:t>
            </a:r>
          </a:p>
          <a:p xmlns:a="http://schemas.openxmlformats.org/drawingml/2006/main">
            <a:r>
              <a:t>https://www.jimtof.org/2024/search/jp/ESdetails?e=yEoPl5sH6Sg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EOV-V024-2026-1 JIMTOF2026公式カタログ：モリマシナリー株式会社 (S3048)</a:t>
            </a:r>
          </a:p>
          <a:p xmlns:a="http://schemas.openxmlformats.org/drawingml/2006/main">
            <a:r>
              <a:t>https://www.jimtof.org/search/jp/ESdetails?e=ZvT3Lci-hnM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EDP-12 TOOL SOMMELIER／TOOL COLLAGE</a:t>
            </a:r>
          </a:p>
          <a:p xmlns:a="http://schemas.openxmlformats.org/drawingml/2006/main">
            <a:r>
              <a:t>https://mori-machinery.com/en/product/tool-sommelier?post_id=1066</a:t>
            </a:r>
          </a:p>
          <a:p xmlns:a="http://schemas.openxmlformats.org/drawingml/2006/main">
            <a:r>
              <a:t>該当箇所:刃先撮像・欠け摩耗自動検出／FAQの工具・径制約</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EOV-V023-2024-1 JIMTOF2024公式カタログ：ハイデンハイン株式会社 (E7123)</a:t>
            </a:r>
          </a:p>
          <a:p xmlns:a="http://schemas.openxmlformats.org/drawingml/2006/main">
            <a:r>
              <a:t>https://www.jimtof.org/2024/search/jp/ESdetails?e=GFSwCXSxe9o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EOV-V023-2026-1 JIMTOF2026公式カタログ：ハイデンハイン株式会社 (E7043)</a:t>
            </a:r>
          </a:p>
          <a:p xmlns:a="http://schemas.openxmlformats.org/drawingml/2006/main">
            <a:r>
              <a:t>https://www.jimtof.org/search/jp/ESdetails?e=iohDR5yR9VA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EAT-V043-2024-1 JIMTOF2024公式カタログ：三菱電機株式会社</a:t>
            </a:r>
          </a:p>
          <a:p xmlns:a="http://schemas.openxmlformats.org/drawingml/2006/main">
            <a:r>
              <a:t>https://www.jimtof.org/2024/search/jp/ESdetails?e=30li0vWcseI</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展示:2024当時の説明・事後実演確認ではない</a:t>
            </a:r>
          </a:p>
          <a:p xmlns:a="http://schemas.openxmlformats.org/drawingml/2006/main">
            <a:r>
              <a:t/>
            </a:r>
          </a:p>
          <a:p xmlns:a="http://schemas.openxmlformats.org/drawingml/2006/main">
            <a:r>
              <a:t>EAT-V043-2026-1 JIMTOF2026公式カタログ：三菱電機株式会社</a:t>
            </a:r>
          </a:p>
          <a:p xmlns:a="http://schemas.openxmlformats.org/drawingml/2006/main">
            <a:r>
              <a:t>https://www.jimtof.org/search/jp/ESdetails?e=AjLnzm01WWU</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EOV-W08 工具の欠け・摩耗・寿命を推定するAI研究発表</a:t>
            </a:r>
          </a:p>
          <a:p xmlns:a="http://schemas.openxmlformats.org/drawingml/2006/main">
            <a:r>
              <a:t>https://mori-machinery.com/wp-content/uploads/2023/06/%E7%86%9F%E7%B7%B4%E8%80%85%E3%81%AE%E7%B5%8C%E9%A8%93%E7%9F%A5%E3%82%92%E3%82%82%E3%81%A8%E3%81%AB%E5%88%87%E5%89%8A%E5%B7%A5%E5%85%B7%E3%81%AE%E6%AC%A0%E3%81%91%E3%83%BB%E6%91%A9%E8%80%97%E3%83%BB%E5%AF%BF%E5%91%BD%E3%82%92%E6%8E%A8%E5%AE%9A%E3%81%99%E3%82%8BAI%E3%82%92%E9%96%8B%E7%99%BA.pdf</a:t>
            </a:r>
          </a:p>
          <a:p xmlns:a="http://schemas.openxmlformats.org/drawingml/2006/main">
            <a:r>
              <a:t>該当箇所:2023年6月2日、成果と今後の展望</a:t>
            </a:r>
          </a:p>
          <a:p xmlns:a="http://schemas.openxmlformats.org/drawingml/2006/main">
            <a:r>
              <a:t>確認:2026-10-16</a:t>
            </a:r>
          </a:p>
          <a:p xmlns:a="http://schemas.openxmlformats.org/drawingml/2006/main">
            <a:r>
              <a:t>種類:企業公式資料・メーカー主張</a:t>
            </a:r>
          </a:p>
          <a:p xmlns:a="http://schemas.openxmlformats.org/drawingml/2006/main">
            <a:r>
              <a:t>展示:公式検索の該当箇所で確認。研究段階の数値を商用性能に転用していない</a:t>
            </a:r>
          </a:p>
          <a:p xmlns:a="http://schemas.openxmlformats.org/drawingml/2006/main">
            <a:r>
              <a:t/>
            </a:r>
          </a:p>
          <a:p xmlns:a="http://schemas.openxmlformats.org/drawingml/2006/main">
            <a:r>
              <a:t>EOV-V042-2026-1 JIMTOF2026公式カタログ：興和オプトロニクス株式会社 (S3104)</a:t>
            </a:r>
          </a:p>
          <a:p xmlns:a="http://schemas.openxmlformats.org/drawingml/2006/main">
            <a:r>
              <a:t>https://www.jimtof.org/search/jp/ESdetails?e=v6nw4APC-vQ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EDP-33 RW回転機構付きビジョンユニット</a:t>
            </a:r>
          </a:p>
          <a:p xmlns:a="http://schemas.openxmlformats.org/drawingml/2006/main">
            <a:r>
              <a:t>https://optical.kowa-opt.co.jp/camera-rw/</a:t>
            </a:r>
          </a:p>
          <a:p xmlns:a="http://schemas.openxmlformats.org/drawingml/2006/main">
            <a:r>
              <a:t>該当箇所:ビジョンプロセッサ併用の不良ヒートマップ・切粉巻付きアラート・工具欠損検出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EOV-V020-2024-1 JIMTOF2024公式カタログ：マーポス株式会社 (E7107)</a:t>
            </a:r>
          </a:p>
          <a:p xmlns:a="http://schemas.openxmlformats.org/drawingml/2006/main">
            <a:r>
              <a:t>https://www.jimtof.org/2024/search/jp/ESdetails?e=K8FKaawJkn0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EOV-V020-2026-1 JIMTOF2026公式カタログ：マーポス株式会社 (E7087)</a:t>
            </a:r>
          </a:p>
          <a:p xmlns:a="http://schemas.openxmlformats.org/drawingml/2006/main">
            <a:r>
              <a:t>https://www.jimtof.org/search/jp/ESdetails?e=tThKOA-gm8s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EEX-EXH-2026-19ce238d137fe275 JIMTOF2026公式出展説明：Masterlink (E1050)</a:t>
            </a:r>
          </a:p>
          <a:p xmlns:a="http://schemas.openxmlformats.org/drawingml/2006/main">
            <a:r>
              <a:t>https://www.jimtof.org/search/jp/ESdetails?e=kygm0UxJL-M</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EEX-EXH-2024-a2fae1d1864676d1 JIMTOF2024公式出展説明：Masterlink (E7052)</a:t>
            </a:r>
          </a:p>
          <a:p xmlns:a="http://schemas.openxmlformats.org/drawingml/2006/main">
            <a:r>
              <a:t>https://www.jimtof.org/2024/search/jp/ESdetails?e=58-lhh4o9Oo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EEX-EXH-2026-308c5194f12fe009 JIMTOF2026公式出展説明：ムラテックＣＣＳ株式会社 (E3031)</a:t>
            </a:r>
          </a:p>
          <a:p xmlns:a="http://schemas.openxmlformats.org/drawingml/2006/main">
            <a:r>
              <a:t>https://www.jimtof.org/search/jp/ESdetails?e=Z_SbvK_hxBY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EEX-EXH-2024-b0a94c1cd407ea8a JIMTOF2024公式出展説明：ムラテックCCS株式会社 (E6019)</a:t>
            </a:r>
          </a:p>
          <a:p xmlns:a="http://schemas.openxmlformats.org/drawingml/2006/main">
            <a:r>
              <a:t>https://www.jimtof.org/2024/search/jp/ESdetails?e=2N7pXq5Aehs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EDP-13 AIを用いた故障診断</a:t>
            </a:r>
          </a:p>
          <a:p xmlns:a="http://schemas.openxmlformats.org/drawingml/2006/main">
            <a:r>
              <a:t>https://www.muratec.jp/company/ti/rd/detail.php?id=7540</a:t>
            </a:r>
          </a:p>
          <a:p xmlns:a="http://schemas.openxmlformats.org/drawingml/2006/main">
            <a:r>
              <a:t>該当箇所:電流・振動を新品データと比較／補正入力回数・軸負荷による劣化判定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RPT-EXH-2026-2c48cf1373cedc75 アズビルTACO株式会社 JIMTOF2026</a:t>
            </a:r>
          </a:p>
          <a:p xmlns:a="http://schemas.openxmlformats.org/drawingml/2006/main">
            <a:r>
              <a:t>https://www.jimtof.org/search/jp/ESdetails?e=x6DdroBnfSA</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RPT-EXH-2024-2caebd449015630d アズビル株式会社 JIMTOF2024</a:t>
            </a:r>
          </a:p>
          <a:p xmlns:a="http://schemas.openxmlformats.org/drawingml/2006/main">
            <a:r>
              <a:t>https://www.jimtof.org/2024/search/jp/ESdetails?e=7JiCTnsEx48</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EOV-V032-2024-1 JIMTOF2024公式カタログ：日本精工株式会社 (W2026)</a:t>
            </a:r>
          </a:p>
          <a:p xmlns:a="http://schemas.openxmlformats.org/drawingml/2006/main">
            <a:r>
              <a:t>https://www.jimtof.org/2024/search/jp/ESdetails?e=5maDHvHPff8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EOV-V032-2026-1 JIMTOF2026公式カタログ：日本精工株式会社 (W2048)</a:t>
            </a:r>
          </a:p>
          <a:p xmlns:a="http://schemas.openxmlformats.org/drawingml/2006/main">
            <a:r>
              <a:t>https://www.jimtof.org/search/jp/ESdetails?e=hzAGGAi5wL4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EEX-EXH-2026-0daa587f8abf6076 JIMTOF2026公式出展説明：松本機械工業株式会社 (W2070)</a:t>
            </a:r>
          </a:p>
          <a:p xmlns:a="http://schemas.openxmlformats.org/drawingml/2006/main">
            <a:r>
              <a:t>https://www.jimtof.org/search/jp/ESdetails?e=bhpEIIjKNb4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EEX-EXH-2024-1dc10e3b594ed9d8 JIMTOF2024公式出展説明：松本機械工業株式会社 (W2055)</a:t>
            </a:r>
          </a:p>
          <a:p xmlns:a="http://schemas.openxmlformats.org/drawingml/2006/main">
            <a:r>
              <a:t>https://www.jimtof.org/2024/search/jp/ESdetails?e=1cGhqW04Qes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EDP-26 Smart Terrace Adv</a:t>
            </a:r>
          </a:p>
          <a:p xmlns:a="http://schemas.openxmlformats.org/drawingml/2006/main">
            <a:r>
              <a:t>https://mmkchuck.com/product/7218/</a:t>
            </a:r>
          </a:p>
          <a:p xmlns:a="http://schemas.openxmlformats.org/drawingml/2006/main">
            <a:r>
              <a:t>該当箇所:7つの革新／寸法パラメータ入力・出荷時組込プログラム／レトロフィット</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EDP-27 JIMTOF2024出展報告</a:t>
            </a:r>
          </a:p>
          <a:p xmlns:a="http://schemas.openxmlformats.org/drawingml/2006/main">
            <a:r>
              <a:t>https://mmkchuck.com/news/2024/5903/</a:t>
            </a:r>
          </a:p>
          <a:p xmlns:a="http://schemas.openxmlformats.org/drawingml/2006/main">
            <a:r>
              <a:t>該当箇所:爪・ケレ・計測／展示会初披露のCAPTO・MAC</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EDP-28 Smart Terrace関連資料公開</a:t>
            </a:r>
          </a:p>
          <a:p xmlns:a="http://schemas.openxmlformats.org/drawingml/2006/main">
            <a:r>
              <a:t>https://mmkchuck.com/news/2026/7380/</a:t>
            </a:r>
          </a:p>
          <a:p xmlns:a="http://schemas.openxmlformats.org/drawingml/2006/main">
            <a:r>
              <a:t>該当箇所:Advハード単体・ストッカー単体販売への対応</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EOV-V025-2024-1 JIMTOF2024公式カタログ：株式会社イマオコーポレーション (W2002)</a:t>
            </a:r>
          </a:p>
          <a:p xmlns:a="http://schemas.openxmlformats.org/drawingml/2006/main">
            <a:r>
              <a:t>https://www.jimtof.org/2024/search/jp/ESdetails?e=MTYTZ2Km3zM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EOV-V025-2026-1 JIMTOF2026公式カタログ：株式会社イマオコーポレーション (W2001)</a:t>
            </a:r>
          </a:p>
          <a:p xmlns:a="http://schemas.openxmlformats.org/drawingml/2006/main">
            <a:r>
              <a:t>https://www.jimtof.org/search/jp/ESdetails?e=shuDpJLDn-A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EDP-30 ナットランナー治具</a:t>
            </a:r>
          </a:p>
          <a:p xmlns:a="http://schemas.openxmlformats.org/drawingml/2006/main">
            <a:r>
              <a:t>https://www.imao.co.jp/products/nutrunnerclamp.html</a:t>
            </a:r>
          </a:p>
          <a:p xmlns:a="http://schemas.openxmlformats.org/drawingml/2006/main">
            <a:r>
              <a:t>該当箇所:ロボットのナットランナーでクランプ／配管配線不要／手動も可能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EDP-32 JIMTOF2024出展パンフレット</a:t>
            </a:r>
          </a:p>
          <a:p xmlns:a="http://schemas.openxmlformats.org/drawingml/2006/main">
            <a:r>
              <a:t>https://www.imao.co.jp/event-20241105-1110-jimtof/jimtof.pdf</a:t>
            </a:r>
          </a:p>
          <a:p xmlns:a="http://schemas.openxmlformats.org/drawingml/2006/main">
            <a:r>
              <a:t>該当箇所:ナットランナー治具各型式／人でもロボットでも操作可能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EOV-V029-2024-1 JIMTOF2024公式カタログ：中村留精密工業株式会社 (E5033)</a:t>
            </a:r>
          </a:p>
          <a:p xmlns:a="http://schemas.openxmlformats.org/drawingml/2006/main">
            <a:r>
              <a:t>https://www.jimtof.org/2024/search/jp/ESdetails?e=RYK326OoMn4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EOV-V029-2026-1 JIMTOF2026公式カタログ：中村留精密工業株式会社 (E2027)</a:t>
            </a:r>
          </a:p>
          <a:p xmlns:a="http://schemas.openxmlformats.org/drawingml/2006/main">
            <a:r>
              <a:t>https://www.jimtof.org/search/jp/ESdetails?e=C7A_2ZTDXNw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EOV-W04 RoboSync</a:t>
            </a:r>
          </a:p>
          <a:p xmlns:a="http://schemas.openxmlformats.org/drawingml/2006/main">
            <a:r>
              <a:t>https://www.nakamura-tome.co.jp/products/automation/robosync/</a:t>
            </a:r>
          </a:p>
          <a:p xmlns:a="http://schemas.openxmlformats.org/drawingml/2006/main">
            <a:r>
              <a:t>該当箇所:製品の特長 &gt; 簡単復旧、簡単操作</a:t>
            </a:r>
          </a:p>
          <a:p xmlns:a="http://schemas.openxmlformats.org/drawingml/2006/main">
            <a:r>
              <a:t>確認:2026-10-16</a:t>
            </a:r>
          </a:p>
          <a:p xmlns:a="http://schemas.openxmlformats.org/drawingml/2006/main">
            <a:r>
              <a:t>種類:企業公式資料・メーカー主張</a:t>
            </a:r>
          </a:p>
          <a:p xmlns:a="http://schemas.openxmlformats.org/drawingml/2006/main">
            <a:r>
              <a:t>展示:自律的な未知例外復帰の証明ではない</a:t>
            </a:r>
          </a:p>
          <a:p xmlns:a="http://schemas.openxmlformats.org/drawingml/2006/main">
            <a:r>
              <a:t/>
            </a:r>
          </a:p>
          <a:p xmlns:a="http://schemas.openxmlformats.org/drawingml/2006/main">
            <a:r>
              <a:t>EEX-EXH-2026-1c8938d47b63e4bb JIMTOF2026公式出展説明：共立精機株式会社 (W2025)</a:t>
            </a:r>
          </a:p>
          <a:p xmlns:a="http://schemas.openxmlformats.org/drawingml/2006/main">
            <a:r>
              <a:t>https://www.jimtof.org/search/jp/ESdetails?e=9k7ro8sL0VA</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EEX-EXH-2024-3a9bfb48fcb6542c JIMTOF2024公式出展説明：共立精機株式会社 (W2037)</a:t>
            </a:r>
          </a:p>
          <a:p xmlns:a="http://schemas.openxmlformats.org/drawingml/2006/main">
            <a:r>
              <a:t>https://www.jimtof.org/2024/search/jp/ESdetails?e=xT1gIvXxCpQ</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EOV-V001-2024-1 JIMTOF2024公式カタログ：DMG森精機株式会社 (E8001)</a:t>
            </a:r>
          </a:p>
          <a:p xmlns:a="http://schemas.openxmlformats.org/drawingml/2006/main">
            <a:r>
              <a:t>https://www.jimtof.org/2024/search/jp/ESdetails?e=lOXEEpvlXpM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EOV-V001-2026-1 JIMTOF2026公式カタログ：DMG森精機株式会社 (E8005)</a:t>
            </a:r>
          </a:p>
          <a:p xmlns:a="http://schemas.openxmlformats.org/drawingml/2006/main">
            <a:r>
              <a:t>https://www.jimtof.org/search/jp/ESdetails?e=zcqDj1lSkGs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EEX-EXH-2026-d8a50e23a9101b11 JIMTOF2026公式出展説明：株式会社白山機工 (E2007)</a:t>
            </a:r>
          </a:p>
          <a:p xmlns:a="http://schemas.openxmlformats.org/drawingml/2006/main">
            <a:r>
              <a:t>https://www.jimtof.org/search/jp/ESdetails?e=FNFR7REQOl4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EEX-EXH-2024-89cb7807f64be75b JIMTOF2024公式出展説明：株式会社白山機工 (E4038)</a:t>
            </a:r>
          </a:p>
          <a:p xmlns:a="http://schemas.openxmlformats.org/drawingml/2006/main">
            <a:r>
              <a:t>https://www.jimtof.org/2024/search/jp/ESdetails?e=krDglZoYKFc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EDP-29 JIMTOF2026出展告知</a:t>
            </a:r>
          </a:p>
          <a:p xmlns:a="http://schemas.openxmlformats.org/drawingml/2006/main">
            <a:r>
              <a:t>https://www.hakusankiko.co.jp/news/event/8837/</a:t>
            </a:r>
          </a:p>
          <a:p xmlns:a="http://schemas.openxmlformats.org/drawingml/2006/main">
            <a:r>
              <a:t>該当箇所:AMR切り屑回収システムを実演・模型で紹介</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EOV-V030-2024-1 JIMTOF2024公式カタログ：株式会社TAKISAWA (E3013)</a:t>
            </a:r>
          </a:p>
          <a:p xmlns:a="http://schemas.openxmlformats.org/drawingml/2006/main">
            <a:r>
              <a:t>https://www.jimtof.org/2024/search/jp/ESdetails?e=K00DRD-BngA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EOV-V030-2026-1 JIMTOF2026公式カタログ：株式会社TAKISAWA (E3013)</a:t>
            </a:r>
          </a:p>
          <a:p xmlns:a="http://schemas.openxmlformats.org/drawingml/2006/main">
            <a:r>
              <a:t>https://www.jimtof.org/search/jp/ESdetails?e=3dTDRAMwZpM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EAT-N01 JIMTOF2026 TR-20W</a:t>
            </a:r>
          </a:p>
          <a:p xmlns:a="http://schemas.openxmlformats.org/drawingml/2006/main">
            <a:r>
              <a:t>https://www.nidec.com/jp/products/machine-tools/contents/machine-tool-jimtof2026/</a:t>
            </a:r>
          </a:p>
          <a:p xmlns:a="http://schemas.openxmlformats.org/drawingml/2006/main">
            <a:r>
              <a:t>該当箇所:TR-20W：フィジカルAI搭載のロボットシステム（参考出品）</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展示:2026展示予定・参考出品</a:t>
            </a:r>
          </a:p>
          <a:p xmlns:a="http://schemas.openxmlformats.org/drawingml/2006/main">
            <a:r>
              <a:t/>
            </a:r>
          </a:p>
          <a:p xmlns:a="http://schemas.openxmlformats.org/drawingml/2006/main">
            <a:r>
              <a:t>EAT-N02 MGC300開発発表</a:t>
            </a:r>
          </a:p>
          <a:p xmlns:a="http://schemas.openxmlformats.org/drawingml/2006/main">
            <a:r>
              <a:t>https://www.nidec.com/jp/product/news/2024/news1101-03/</a:t>
            </a:r>
          </a:p>
          <a:p xmlns:a="http://schemas.openxmlformats.org/drawingml/2006/main">
            <a:r>
              <a:t>該当箇所:2024年11月1日／MGC300の出展説明</a:t>
            </a:r>
          </a:p>
          <a:p xmlns:a="http://schemas.openxmlformats.org/drawingml/2006/main">
            <a:r>
              <a:t>確認:2026-10-16</a:t>
            </a:r>
          </a:p>
          <a:p xmlns:a="http://schemas.openxmlformats.org/drawingml/2006/main">
            <a:r>
              <a:t>種類:企業公式説明・メーカー主張</a:t>
            </a:r>
          </a:p>
          <a:p xmlns:a="http://schemas.openxmlformats.org/drawingml/2006/main">
            <a:r>
              <a:t>展示:2024当時の予定説明</a:t>
            </a:r>
          </a:p>
          <a:p xmlns:a="http://schemas.openxmlformats.org/drawingml/2006/main">
            <a:r>
              <a:t/>
            </a:r>
          </a:p>
          <a:p xmlns:a="http://schemas.openxmlformats.org/drawingml/2006/main">
            <a:r>
              <a:t>ERF-13 JIMTOF2026：TR-20W参考出品</a:t>
            </a:r>
          </a:p>
          <a:p xmlns:a="http://schemas.openxmlformats.org/drawingml/2006/main">
            <a:r>
              <a:t>https://www.nidec.com/jp/products/machine-tools/contents/machine-tool-jimtof2026/</a:t>
            </a:r>
          </a:p>
          <a:p xmlns:a="http://schemas.openxmlformats.org/drawingml/2006/main">
            <a:r>
              <a:t>該当箇所:TAKISAWA／TR-20W、主軸の切粉認識・判断・除去、参考出品</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EEX-EXH-2026-30b70a74241de123 JIMTOF2026公式出展説明：カネテック株式会社 (W2013)</a:t>
            </a:r>
          </a:p>
          <a:p xmlns:a="http://schemas.openxmlformats.org/drawingml/2006/main">
            <a:r>
              <a:t>https://www.jimtof.org/search/jp/ESdetails?e=ekM3exgIAtc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EEX-EXH-2024-45415d070f47dc6e JIMTOF2024公式出展説明：カネテック株式会社 (W2030)</a:t>
            </a:r>
          </a:p>
          <a:p xmlns:a="http://schemas.openxmlformats.org/drawingml/2006/main">
            <a:r>
              <a:t>https://www.jimtof.org/2024/search/jp/ESdetails?e=ot0Fx36wI0g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EDP-01 MagnetPinset</a:t>
            </a:r>
          </a:p>
          <a:p xmlns:a="http://schemas.openxmlformats.org/drawingml/2006/main">
            <a:r>
              <a:t>https://kanetec.co.jp/lp/MagnetPinset%40LP.html</a:t>
            </a:r>
          </a:p>
          <a:p xmlns:a="http://schemas.openxmlformats.org/drawingml/2006/main">
            <a:r>
              <a:t>該当箇所:小径ネジの課題／JIMTOF2024出展／ネジ整列器</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EEX-EXH-2026-8c08de1ffed47316 JIMTOF2026公式出展説明：東京エレクトロンデバイス株式会社 (E7073)</a:t>
            </a:r>
          </a:p>
          <a:p xmlns:a="http://schemas.openxmlformats.org/drawingml/2006/main">
            <a:r>
              <a:t>https://www.jimtof.org/search/jp/ESdetails?e=c4cChQniAm8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EEX-WTED 企業公式の展示告知</a:t>
            </a:r>
          </a:p>
          <a:p xmlns:a="http://schemas.openxmlformats.org/drawingml/2006/main">
            <a:r>
              <a:t>https://www.inrevium.com/news-event/event/p7331/</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t>
            </a:r>
          </a:p>
          <a:p xmlns:a="http://schemas.openxmlformats.org/drawingml/2006/main">
            <a:r>
              <a:t/>
            </a:r>
          </a:p>
          <a:p xmlns:a="http://schemas.openxmlformats.org/drawingml/2006/main">
            <a:r>
              <a:t>EEX-EXH-2026-ba283a239e52d644 JIMTOF2026公式出展説明：株式会社ジーベックテクノロジー (WA006)</a:t>
            </a:r>
          </a:p>
          <a:p xmlns:a="http://schemas.openxmlformats.org/drawingml/2006/main">
            <a:r>
              <a:t>https://www.jimtof.org/search/jp/ESdetails?e=jbu03Ik4s00</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EEX-EXH-2024-1632c66ef4d28e78 JIMTOF2024公式出展説明：株式会社ジーベックテクノロジー (WA007)</a:t>
            </a:r>
          </a:p>
          <a:p xmlns:a="http://schemas.openxmlformats.org/drawingml/2006/main">
            <a:r>
              <a:t>https://www.jimtof.org/2024/search/jp/ESdetails?e=mnvwVRInyM8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EAT-N04 CoAgent for Operations TF1700</a:t>
            </a:r>
          </a:p>
          <a:p xmlns:a="http://schemas.openxmlformats.org/drawingml/2006/main">
            <a:r>
              <a:t>https://www.beckhoff.com/ko-kr/products/automation/twincat/tfxxxx-twincat-3-functions/tf1xxx-system/tf1700.html</a:t>
            </a:r>
          </a:p>
          <a:p xmlns:a="http://schemas.openxmlformats.org/drawingml/2006/main">
            <a:r>
              <a:t>該当箇所:Properties／Product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ERF-02 TF1700 CoAgent for Operations</a:t>
            </a:r>
          </a:p>
          <a:p xmlns:a="http://schemas.openxmlformats.org/drawingml/2006/main">
            <a:r>
              <a:t>https://www.beckhoff.com/en-en/products/automation/twincat/tfxxxx-twincat-3-functions/tf1xxx-system/tf1700.html</a:t>
            </a:r>
          </a:p>
          <a:p xmlns:a="http://schemas.openxmlformats.org/drawingml/2006/main">
            <a:r>
              <a:t>該当箇所:Properties／direct system access；Product status／market release on request</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EOV-V015-2024-1 JIMTOF2024公式カタログ：株式会社ソフィックス (E4046)</a:t>
            </a:r>
          </a:p>
          <a:p xmlns:a="http://schemas.openxmlformats.org/drawingml/2006/main">
            <a:r>
              <a:t>https://www.jimtof.org/2024/search/jp/ESdetails?e=WNiUW-E-atY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EOV-V015-2026-1 JIMTOF2026公式カタログ：株式会社ソフィックス (E1067)</a:t>
            </a:r>
          </a:p>
          <a:p xmlns:a="http://schemas.openxmlformats.org/drawingml/2006/main">
            <a:r>
              <a:t>https://www.jimtof.org/search/jp/ESdetails?e=rYRhOM0muPQ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EDP-21 SOFIXCAN AI Forecast</a:t>
            </a:r>
          </a:p>
          <a:p xmlns:a="http://schemas.openxmlformats.org/drawingml/2006/main">
            <a:r>
              <a:t>https://www.sofix.co.jp/products/sofixcan_ai_forecast/</a:t>
            </a:r>
          </a:p>
          <a:p xmlns:a="http://schemas.openxmlformats.org/drawingml/2006/main">
            <a:r>
              <a:t>該当箇所:時系列データ予測／形状領域予測／顧客別予測システム開発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EDP-22 SOFIXCAN Fleeter</a:t>
            </a:r>
          </a:p>
          <a:p xmlns:a="http://schemas.openxmlformats.org/drawingml/2006/main">
            <a:r>
              <a:t>https://www.sofix.co.jp/products/sofixcan_fleeter/</a:t>
            </a:r>
          </a:p>
          <a:p xmlns:a="http://schemas.openxmlformats.org/drawingml/2006/main">
            <a:r>
              <a:t>該当箇所:上位システム命令をトリガーに各機器を制御／通信モジュール追加</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EDP-23 JIMTOF2026告知とミニ工場の過去告知</a:t>
            </a:r>
          </a:p>
          <a:p xmlns:a="http://schemas.openxmlformats.org/drawingml/2006/main">
            <a:r>
              <a:t>https://www.sofix.co.jp/</a:t>
            </a:r>
          </a:p>
          <a:p xmlns:a="http://schemas.openxmlformats.org/drawingml/2006/main">
            <a:r>
              <a:t>該当箇所:2026/9/29告知／2025/11/4国際ロボット展でもミニ工場を予告</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EOV-V016-2026-1 JIMTOF2026公式カタログ：パナソニックプロダクションエンジニアリング株式会社 (W3086)</a:t>
            </a:r>
          </a:p>
          <a:p xmlns:a="http://schemas.openxmlformats.org/drawingml/2006/main">
            <a:r>
              <a:t>https://www.jimtof.org/search/jp/ESdetails?e=5mrMofo3nN8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EOV-W05 X-Area</a:t>
            </a:r>
          </a:p>
          <a:p xmlns:a="http://schemas.openxmlformats.org/drawingml/2006/main">
            <a:r>
              <a:t>https://www.panasonic.com/jp/company/ppe/products/x-area.html</a:t>
            </a:r>
          </a:p>
          <a:p xmlns:a="http://schemas.openxmlformats.org/drawingml/2006/main">
            <a:r>
              <a:t>該当箇所:サービス概要、システム構成</a:t>
            </a:r>
          </a:p>
          <a:p xmlns:a="http://schemas.openxmlformats.org/drawingml/2006/main">
            <a:r>
              <a:t>確認:2026-10-16</a:t>
            </a:r>
          </a:p>
          <a:p xmlns:a="http://schemas.openxmlformats.org/drawingml/2006/main">
            <a:r>
              <a:t>種類:企業公式資料・メーカー主張</a:t>
            </a:r>
          </a:p>
          <a:p xmlns:a="http://schemas.openxmlformats.org/drawingml/2006/main">
            <a:r>
              <a:t>展示:人の介入を含む運用方式。無人運用・同時台数の保証ではない</a:t>
            </a:r>
          </a:p>
          <a:p xmlns:a="http://schemas.openxmlformats.org/drawingml/2006/main">
            <a:r>
              <a:t/>
            </a:r>
          </a:p>
          <a:p xmlns:a="http://schemas.openxmlformats.org/drawingml/2006/main">
            <a:r>
              <a:t>EOV-W09 工場敷地内でのX-Area Remote実証</a:t>
            </a:r>
          </a:p>
          <a:p xmlns:a="http://schemas.openxmlformats.org/drawingml/2006/main">
            <a:r>
              <a:t>https://tech.panasonic.com/jp/td/news/20221124.html</a:t>
            </a:r>
          </a:p>
          <a:p xmlns:a="http://schemas.openxmlformats.org/drawingml/2006/main">
            <a:r>
              <a:t>該当箇所:2022/11/24 NEWS &amp; TOPICS</a:t>
            </a:r>
          </a:p>
          <a:p xmlns:a="http://schemas.openxmlformats.org/drawingml/2006/main">
            <a:r>
              <a:t>確認:2026-10-16</a:t>
            </a:r>
          </a:p>
          <a:p xmlns:a="http://schemas.openxmlformats.org/drawingml/2006/main">
            <a:r>
              <a:t>種類:企業公式資料・メーカー主張</a:t>
            </a:r>
          </a:p>
          <a:p xmlns:a="http://schemas.openxmlformats.org/drawingml/2006/main">
            <a:r>
              <a:t>展示:2024出展比較はできないが、2026に初めて遠隔管制が生まれたという解釈を否定する根拠</a:t>
            </a:r>
          </a:p>
          <a:p xmlns:a="http://schemas.openxmlformats.org/drawingml/2006/main">
            <a:r>
              <a:t/>
            </a:r>
          </a:p>
          <a:p xmlns:a="http://schemas.openxmlformats.org/drawingml/2006/main">
            <a:r>
              <a:t>EDP-24 屋外自動搬送とX-Area Remoteの実証</a:t>
            </a:r>
          </a:p>
          <a:p xmlns:a="http://schemas.openxmlformats.org/drawingml/2006/main">
            <a:r>
              <a:t>https://news.panasonic.com/jp/press/jn260713-1</a:t>
            </a:r>
          </a:p>
          <a:p xmlns:a="http://schemas.openxmlformats.org/drawingml/2006/main">
            <a:r>
              <a:t>該当箇所:障害物停止時に自動運転から人の遠隔操作へ切替／担当者とセーフティドライバー</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EEX-EXH-2026-4fb92ba6b82546d7 JIMTOF2026公式出展説明：WinTool AG (E1049)</a:t>
            </a:r>
          </a:p>
          <a:p xmlns:a="http://schemas.openxmlformats.org/drawingml/2006/main">
            <a:r>
              <a:t>https://www.jimtof.org/search/jp/ESdetails?e=sSFZV23clJo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EEX-EXH-2024-3f1fa1966a57e011 JIMTOF2024公式出展説明：WinTool AG (E5003)</a:t>
            </a:r>
          </a:p>
          <a:p xmlns:a="http://schemas.openxmlformats.org/drawingml/2006/main">
            <a:r>
              <a:t>https://www.jimtof.org/2024/search/jp/ESdetails?e=-n22F1d_CDc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EDP-18 ERP Integration</a:t>
            </a:r>
          </a:p>
          <a:p xmlns:a="http://schemas.openxmlformats.org/drawingml/2006/main">
            <a:r>
              <a:t>https://www.wintool.com/en/tool-management-software/cnc-inventory-manager/erp-integration</a:t>
            </a:r>
          </a:p>
          <a:p xmlns:a="http://schemas.openxmlformats.org/drawingml/2006/main">
            <a:r>
              <a:t>該当箇所:最低在庫で購買要求を生成し、管理者承認後にERPへ自動送信</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EDP-19 CNC Process Manager</a:t>
            </a:r>
          </a:p>
          <a:p xmlns:a="http://schemas.openxmlformats.org/drawingml/2006/main">
            <a:r>
              <a:t>https://www.wintool.com/software/cnc-prozessverwaltung</a:t>
            </a:r>
          </a:p>
          <a:p xmlns:a="http://schemas.openxmlformats.org/drawingml/2006/main">
            <a:r>
              <a:t>該当箇所:工具積卸リスト・在庫確認・プリセッター指示・NCと測定値の転送</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EOV-V013-2026-1 JIMTOF2026公式カタログ：株式会社Smart Craft (S3002)</a:t>
            </a:r>
          </a:p>
          <a:p xmlns:a="http://schemas.openxmlformats.org/drawingml/2006/main">
            <a:r>
              <a:t>https://www.jimtof.org/search/jp/ESdetails?e=WqjRB6DEqN0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EOV-W01 TwinCAT 3 Machine Learning Creator</a:t>
            </a:r>
          </a:p>
          <a:p xmlns:a="http://schemas.openxmlformats.org/drawingml/2006/main">
            <a:r>
              <a:t>https://www.beckhoff.com/en-za/products/automation/twincat/texxxx-twincat-3-engineering/te3850.html</a:t>
            </a:r>
          </a:p>
          <a:p xmlns:a="http://schemas.openxmlformats.org/drawingml/2006/main">
            <a:r>
              <a:t>該当箇所:製品説明冒頭、Product status</a:t>
            </a:r>
          </a:p>
          <a:p xmlns:a="http://schemas.openxmlformats.org/drawingml/2006/main">
            <a:r>
              <a:t>確認:2026-10-16</a:t>
            </a:r>
          </a:p>
          <a:p xmlns:a="http://schemas.openxmlformats.org/drawingml/2006/main">
            <a:r>
              <a:t>種類:企業公式資料・メーカー主張</a:t>
            </a:r>
          </a:p>
          <a:p xmlns:a="http://schemas.openxmlformats.org/drawingml/2006/main">
            <a:r>
              <a:t>展示:既存製品の方式確認。2026展示はEOV-V005-2026-1で別確認</a:t>
            </a:r>
          </a:p>
          <a:p xmlns:a="http://schemas.openxmlformats.org/drawingml/2006/main">
            <a:r>
              <a:t/>
            </a:r>
          </a:p>
          <a:p xmlns:a="http://schemas.openxmlformats.org/drawingml/2006/main">
            <a:r>
              <a:t>EDP-04 PC Control 02/2024：Machine Learning Creator</a:t>
            </a:r>
          </a:p>
          <a:p xmlns:a="http://schemas.openxmlformats.org/drawingml/2006/main">
            <a:r>
              <a:t>https://www.beckhoff.com/media/downloads/information-media/pc-control/pcc_0224_e.pdf</a:t>
            </a:r>
          </a:p>
          <a:p xmlns:a="http://schemas.openxmlformats.org/drawingml/2006/main">
            <a:r>
              <a:t>該当箇所:TE3850／訓練・テストデータ分割、モデル解析、ONNX出力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EOV-V011-2024-1 JIMTOF2024公式カタログ：株式会社たけびし (E7053)</a:t>
            </a:r>
          </a:p>
          <a:p xmlns:a="http://schemas.openxmlformats.org/drawingml/2006/main">
            <a:r>
              <a:t>https://www.jimtof.org/2024/search/jp/ESdetails?e=SiZMI-OH8_k</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EOV-V011-2026-1 JIMTOF2026公式カタログ：株式会社たけびし (S3015)</a:t>
            </a:r>
          </a:p>
          <a:p xmlns:a="http://schemas.openxmlformats.org/drawingml/2006/main">
            <a:r>
              <a:t>https://www.jimtof.org/search/jp/ESdetails?e=Qh27DAtEkbw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EDP-06 OPC UA情報モデルとAIエージェント</a:t>
            </a:r>
          </a:p>
          <a:p xmlns:a="http://schemas.openxmlformats.org/drawingml/2006/main">
            <a:r>
              <a:t>https://opcconnect.opcfoundation.org/2026/06/toward-realizing-ai-utilization-in-manufacturing-exploring-the-potential-of-integrating-the-opc-ua-information-model-with-ai-agents/</a:t>
            </a:r>
          </a:p>
          <a:p xmlns:a="http://schemas.openxmlformats.org/drawingml/2006/main">
            <a:r>
              <a:t>該当箇所:A New Approach to Connecting AI Agents／MCP Adapterはplanning to provide</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EOV-V012-2024-1 JIMTOF2024公式カタログ：株式会社シーイーシー (E5022)</a:t>
            </a:r>
          </a:p>
          <a:p xmlns:a="http://schemas.openxmlformats.org/drawingml/2006/main">
            <a:r>
              <a:t>https://www.jimtof.org/2024/search/jp/ESdetails?e=WS9ql5D41fQ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EOV-V012-2026-1 JIMTOF2026公式カタログ：株式会社シーイーシー (E2006)</a:t>
            </a:r>
          </a:p>
          <a:p xmlns:a="http://schemas.openxmlformats.org/drawingml/2006/main">
            <a:r>
              <a:t>https://www.jimtof.org/search/jp/ESdetails?e=tW-C9oF94EQ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EEX-EXH-2026-9b991dd8132f51dc JIMTOF2026公式出展説明：シーメンス株式会社 (E3006)</a:t>
            </a:r>
          </a:p>
          <a:p xmlns:a="http://schemas.openxmlformats.org/drawingml/2006/main">
            <a:r>
              <a:t>https://www.jimtof.org/search/jp/ESdetails?e=EBIotJu7lrg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EEX-EXH-2024-558faea07a73f5d8 JIMTOF2024公式出展説明：シーメンス株式会社 (E5008)</a:t>
            </a:r>
          </a:p>
          <a:p xmlns:a="http://schemas.openxmlformats.org/drawingml/2006/main">
            <a:r>
              <a:t>https://www.jimtof.org/2024/search/jp/ESdetails?e=nYvFR1vpbuE</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EDP-16 HELLER Toknとデジタルツインの訓練事例</a:t>
            </a:r>
          </a:p>
          <a:p xmlns:a="http://schemas.openxmlformats.org/drawingml/2006/main">
            <a:r>
              <a:t>https://references.siemens.com/en/reference/heller-tokn-digital-twin?id=41137</a:t>
            </a:r>
          </a:p>
          <a:p xmlns:a="http://schemas.openxmlformats.org/drawingml/2006/main">
            <a:r>
              <a:t>該当箇所:Completion: 2024／仮想SINUMERIK ONEと3D機械モデルによる訓練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EDP-17 Humanoidとの工場内物流の運用試験</a:t>
            </a:r>
          </a:p>
          <a:p xmlns:a="http://schemas.openxmlformats.org/drawingml/2006/main">
            <a:r>
              <a:t>https://press.siemens.com/jp/ja/pressrelease/pr-20260416</a:t>
            </a:r>
          </a:p>
          <a:p xmlns:a="http://schemas.openxmlformats.org/drawingml/2006/main">
            <a:r>
              <a:t>該当箇所:HMND 01 Alphaのトート把持・搬送・配置／Jetson Thor・Isaac Sim/Lab</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EEX-EXH-2026-016097f87d1914b2 JIMTOF2026公式出展説明：NdotLight Co., Ltd. (S4004)</a:t>
            </a:r>
          </a:p>
          <a:p xmlns:a="http://schemas.openxmlformats.org/drawingml/2006/main">
            <a:r>
              <a:t>https://www.jimtof.org/search/jp/ESdetails?e=6Ds1v9hxvrY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EEX-WNDOT TRINIX：Physical AI向け3Dデータの企業公式説明</a:t>
            </a:r>
          </a:p>
          <a:p xmlns:a="http://schemas.openxmlformats.org/drawingml/2006/main">
            <a:r>
              <a:t>https://ndotlight.com/newsroom/ndotlight-proposes-a-new-3d-data-standard-for-the-physical-ai-era-with-trinix</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展示:製品の方式説明。JIMTOFの実演範囲とは区別</a:t>
            </a:r>
          </a:p>
          <a:p xmlns:a="http://schemas.openxmlformats.org/drawingml/2006/main">
            <a:r>
              <a:t/>
            </a:r>
          </a:p>
          <a:p xmlns:a="http://schemas.openxmlformats.org/drawingml/2006/main">
            <a:r>
              <a:t>ERF-06 TRINIX：物理属性生成と自己修正</a:t>
            </a:r>
          </a:p>
          <a:p xmlns:a="http://schemas.openxmlformats.org/drawingml/2006/main">
            <a:r>
              <a:t>https://ndotlight.com/</a:t>
            </a:r>
          </a:p>
          <a:p xmlns:a="http://schemas.openxmlformats.org/drawingml/2006/main">
            <a:r>
              <a:t>該当箇所:Physics Injection／Self-corrective Closed Loop／FAQ</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ERF-07 SimReady FAQ：静的検証と実行時検証</a:t>
            </a:r>
          </a:p>
          <a:p xmlns:a="http://schemas.openxmlformats.org/drawingml/2006/main">
            <a:r>
              <a:t>https://docs.omniverse.nvidia.com/simready/latest/simready-faq.html</a:t>
            </a:r>
          </a:p>
          <a:p xmlns:a="http://schemas.openxmlformats.org/drawingml/2006/main">
            <a:r>
              <a:t>該当箇所:What Is the Difference…Foundation；How Do I Validate My Composed Scene…（L526–538）</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ERF-08 SimReady Physics Best Practices</a:t>
            </a:r>
          </a:p>
          <a:p xmlns:a="http://schemas.openxmlformats.org/drawingml/2006/main">
            <a:r>
              <a:t>https://docs.omniverse.nvidia.com/simready/latest/simready-asset-creation/physics-best-practices.html</a:t>
            </a:r>
          </a:p>
          <a:p xmlns:a="http://schemas.openxmlformats.org/drawingml/2006/main">
            <a:r>
              <a:t>該当箇所:Typical USDPhysics Components／Collider、Mass、materialの摩擦・密度・反発</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ERF-09 DexBench共同開発の告知</a:t>
            </a:r>
          </a:p>
          <a:p xmlns:a="http://schemas.openxmlformats.org/drawingml/2006/main">
            <a:r>
              <a:t>https://ndotlight.com/newsroom/ndotlight-to-co-develop-dexbench-a-global-standard-for-humanoid-evaluation-with-nvidia-and-rlwrld</a:t>
            </a:r>
          </a:p>
          <a:p xmlns:a="http://schemas.openxmlformats.org/drawingml/2006/main">
            <a:r>
              <a:t>該当箇所:2026/8/7／SimReady環境・操作評価・sim-to-real gap低減の共同開発</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RPT-EXH-2026-d7b599b5d3045611 東京貿易テクノシステム株式会社 JIMTOF2026</a:t>
            </a:r>
          </a:p>
          <a:p xmlns:a="http://schemas.openxmlformats.org/drawingml/2006/main">
            <a:r>
              <a:t>https://www.jimtof.org/search/jp/ESdetails?e=q65eJorv2LU</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RPT-EXH-2024-5cbad6b0326d2bee 東京貿易テクノシステム株式会社 JIMTOF2024</a:t>
            </a:r>
          </a:p>
          <a:p xmlns:a="http://schemas.openxmlformats.org/drawingml/2006/main">
            <a:r>
              <a:t>https://www.jimtof.org/2024/search/jp/ESdetails?e=RD73EqDannI</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RPT-EXH-2026-91aa8dd094a4a7b2 株式会社神崎高級工機製作所 JIMTOF2026</a:t>
            </a:r>
          </a:p>
          <a:p xmlns:a="http://schemas.openxmlformats.org/drawingml/2006/main">
            <a:r>
              <a:t>https://www.jimtof.org/search/jp/ESdetails?e=bpuT_4Xpv_c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RPT-EXH-2024-50a402f6bcce2ab8 株式会社神崎高級工機製作所 JIMTOF2024</a:t>
            </a:r>
          </a:p>
          <a:p xmlns:a="http://schemas.openxmlformats.org/drawingml/2006/main">
            <a:r>
              <a:t>https://www.jimtof.org/2024/search/jp/ESdetails?e=C7Uh8Jc1Y2s</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見積・工程検討・制御設計のたたき台をAIが作り、熟練者がゼロから考える負担を減らす。</a:t>
            </a:r>
          </a:p>
          <a:p xmlns:a="http://schemas.openxmlformats.org/drawingml/2006/main">
            <a:r>
              <a:t>図面の読取りや過去案件の探索、加工順序・工具経路・制御コードの作成に、時間と経験が必要になる。</a:t>
            </a:r>
          </a:p>
          <a:p xmlns:a="http://schemas.openxmlformats.org/drawingml/2006/main">
            <a:r>
              <a:t/>
            </a:r>
          </a:p>
          <a:p xmlns:a="http://schemas.openxmlformats.org/drawingml/2006/main">
            <a:r>
              <a:t>AIによるPLCコード支援やCAMの作成支援は2024以前にも存在。自動プログラム作成が2026に初めて生まれたわけではない。</a:t>
            </a:r>
          </a:p>
          <a:p xmlns:a="http://schemas.openxmlformats.org/drawingml/2006/main">
            <a:r>
              <a:t>2025–2026の資料では、見積の一連の作業や工程案、PLC以外のI/O設定・HMIなど、支援する仕事と設計環境への組込みが具体化している。</a:t>
            </a:r>
          </a:p>
          <a:p xmlns:a="http://schemas.openxmlformats.org/drawingml/2006/main">
            <a:r>
              <a:t/>
            </a:r>
          </a:p>
          <a:p xmlns:a="http://schemas.openxmlformats.org/drawingml/2006/main">
            <a:r>
              <a:t>図面・工具・機械・加工履歴を結び、案の生成後も担当者の修正を次の準備に生かす方向が考えられる。</a:t>
            </a:r>
          </a:p>
          <a:p xmlns:a="http://schemas.openxmlformats.org/drawingml/2006/main">
            <a:r>
              <a:t/>
            </a:r>
          </a:p>
          <a:p xmlns:a="http://schemas.openxmlformats.org/drawingml/2006/main">
            <a:r>
              <a:t>加工知識を扱う生産準備AIを重点候補とし、特定の部品群で工程案とNC検証までをつなぐ。</a:t>
            </a:r>
          </a:p>
          <a:p xmlns:a="http://schemas.openxmlformats.org/drawingml/2006/main">
            <a:r>
              <a:t>変化の読み方[分析]:コード作成等の既存支援に加え、見積の一連の作業や工程案など、業務の文脈を扱う仕事への展開が具体化している。開始年と提供範囲は製品ごとに異なる。</a:t>
            </a:r>
          </a:p>
          <a:p xmlns:a="http://schemas.openxmlformats.org/drawingml/2006/main">
            <a:r>
              <a:t/>
            </a:r>
          </a:p>
          <a:p xmlns:a="http://schemas.openxmlformats.org/drawingml/2006/main">
            <a:r>
              <a:t>図面検索・見積作成</a:t>
            </a:r>
          </a:p>
          <a:p xmlns:a="http://schemas.openxmlformats.org/drawingml/2006/main">
            <a:r>
              <a:t>B01-1 株式会社Fact Base / ズメーン：図面・関連文書管理とAI / S3017</a:t>
            </a:r>
          </a:p>
          <a:p xmlns:a="http://schemas.openxmlformats.org/drawingml/2006/main">
            <a:r>
              <a:t>対象:図面を登録・検索し関連文書と結ぶ</a:t>
            </a:r>
          </a:p>
          <a:p xmlns:a="http://schemas.openxmlformats.org/drawingml/2006/main">
            <a:r>
              <a:t>公式要約:図面のOCR登録と関連文書管理。顧客事例では読取り結果を人が修正。</a:t>
            </a:r>
          </a:p>
          <a:p xmlns:a="http://schemas.openxmlformats.org/drawingml/2006/main">
            <a:r>
              <a:t>年度:2024の同名詳細なし。2026初登場とは断定しない。</a:t>
            </a:r>
          </a:p>
          <a:p xmlns:a="http://schemas.openxmlformats.org/drawingml/2006/main">
            <a:r>
              <a:t>人・未確認:登録・読取り確認は人。図面の誤関連や改訂の検出は未確認。</a:t>
            </a:r>
          </a:p>
          <a:p xmlns:a="http://schemas.openxmlformats.org/drawingml/2006/main">
            <a:r>
              <a:t>Evidence:EEX-EXH-2026-3b6a1de81c17dfee,EDP-11</a:t>
            </a:r>
          </a:p>
          <a:p xmlns:a="http://schemas.openxmlformats.org/drawingml/2006/main">
            <a:r>
              <a:t/>
            </a:r>
          </a:p>
          <a:p xmlns:a="http://schemas.openxmlformats.org/drawingml/2006/main">
            <a:r>
              <a:t>B01-2 匠技研工業 / 匠フォース：業務AIエージェント / S3011</a:t>
            </a:r>
          </a:p>
          <a:p xmlns:a="http://schemas.openxmlformats.org/drawingml/2006/main">
            <a:r>
              <a:t>対象:図面と原価情報から見積書案を作る</a:t>
            </a:r>
          </a:p>
          <a:p xmlns:a="http://schemas.openxmlformats.org/drawingml/2006/main">
            <a:r>
              <a:t>公式要約:図面認識・類似案件参照・原価計算から見積書案を作る。</a:t>
            </a:r>
          </a:p>
          <a:p xmlns:a="http://schemas.openxmlformats.org/drawingml/2006/main">
            <a:r>
              <a:t>年度:2024比較不能。2026/7の企業発表で一連の処理を具体化。</a:t>
            </a:r>
          </a:p>
          <a:p xmlns:a="http://schemas.openxmlformats.org/drawingml/2006/main">
            <a:r>
              <a:t>人・未確認:担当者が根拠を確認・修正・承認。社外自動送信は未確認。</a:t>
            </a:r>
          </a:p>
          <a:p xmlns:a="http://schemas.openxmlformats.org/drawingml/2006/main">
            <a:r>
              <a:t>Evidence:EOV-V041-2026-1,EDP-05</a:t>
            </a:r>
          </a:p>
          <a:p xmlns:a="http://schemas.openxmlformats.org/drawingml/2006/main">
            <a:r>
              <a:t/>
            </a:r>
          </a:p>
          <a:p xmlns:a="http://schemas.openxmlformats.org/drawingml/2006/main">
            <a:r>
              <a:t>B01-3 ものレボ / MonoRevo：類似図面検索・自動見積 / W3042</a:t>
            </a:r>
          </a:p>
          <a:p xmlns:a="http://schemas.openxmlformats.org/drawingml/2006/main">
            <a:r>
              <a:t>対象:過去図面を探し見積を作る</a:t>
            </a:r>
          </a:p>
          <a:p xmlns:a="http://schemas.openxmlformats.org/drawingml/2006/main">
            <a:r>
              <a:t>公式要約:類似図面検索と自動見積を説明。</a:t>
            </a:r>
          </a:p>
          <a:p xmlns:a="http://schemas.openxmlformats.org/drawingml/2006/main">
            <a:r>
              <a:t>年度:2024個別比較不能。</a:t>
            </a:r>
          </a:p>
          <a:p xmlns:a="http://schemas.openxmlformats.org/drawingml/2006/main">
            <a:r>
              <a:t>人・未確認:見積前提の設定・確定者、計算ロジックは未確認。</a:t>
            </a:r>
          </a:p>
          <a:p xmlns:a="http://schemas.openxmlformats.org/drawingml/2006/main">
            <a:r>
              <a:t>Evidence:EOV-V014-2026-1</a:t>
            </a:r>
          </a:p>
          <a:p xmlns:a="http://schemas.openxmlformats.org/drawingml/2006/main">
            <a:r>
              <a:t/>
            </a:r>
          </a:p>
          <a:p xmlns:a="http://schemas.openxmlformats.org/drawingml/2006/main">
            <a:r>
              <a:t>工程・CAMプログラムの作成</a:t>
            </a:r>
          </a:p>
          <a:p xmlns:a="http://schemas.openxmlformats.org/drawingml/2006/main">
            <a:r>
              <a:t>B02-1 Hexagon Manufacturing Intelligence / ESPRIT EDGE ProPlanAI / E2013</a:t>
            </a:r>
          </a:p>
          <a:p xmlns:a="http://schemas.openxmlformats.org/drawingml/2006/main">
            <a:r>
              <a:t>対象:新しい部品の加工工程を考える</a:t>
            </a:r>
          </a:p>
          <a:p xmlns:a="http://schemas.openxmlformats.org/drawingml/2006/main">
            <a:r>
              <a:t>公式要約:過去ジョブと形状特徴から工程を予測するProPlanAI。</a:t>
            </a:r>
          </a:p>
          <a:p xmlns:a="http://schemas.openxmlformats.org/drawingml/2006/main">
            <a:r>
              <a:t>年度:2024比較不能。2025の旋削betaから2026の商用範囲拡張を確認。</a:t>
            </a:r>
          </a:p>
          <a:p xmlns:a="http://schemas.openxmlformats.org/drawingml/2006/main">
            <a:r>
              <a:t>人・未確認:過去データを準備。確認画面はあるが最終NC採用権限は未公表。</a:t>
            </a:r>
          </a:p>
          <a:p xmlns:a="http://schemas.openxmlformats.org/drawingml/2006/main">
            <a:r>
              <a:t>Evidence:EOV-V007-2026-2,EOV-W02</a:t>
            </a:r>
          </a:p>
          <a:p xmlns:a="http://schemas.openxmlformats.org/drawingml/2006/main">
            <a:r>
              <a:t/>
            </a:r>
          </a:p>
          <a:p xmlns:a="http://schemas.openxmlformats.org/drawingml/2006/main">
            <a:r>
              <a:t>B02-2 ジェービーエムエンジニアリング / Mastercam＋CAMAssist / E2002</a:t>
            </a:r>
          </a:p>
          <a:p xmlns:a="http://schemas.openxmlformats.org/drawingml/2006/main">
            <a:r>
              <a:t>対象:部品形状から加工方法・工具経路を作る</a:t>
            </a:r>
          </a:p>
          <a:p xmlns:a="http://schemas.openxmlformats.org/drawingml/2006/main">
            <a:r>
              <a:t>公式要約:工具・材料・機械等の条件から加工戦略・経路・条件案を生成。</a:t>
            </a:r>
          </a:p>
          <a:p xmlns:a="http://schemas.openxmlformats.org/drawingml/2006/main">
            <a:r>
              <a:t>年度:Mastercam対応は2024/7に発表済み。2026の出展記述が具体化。</a:t>
            </a:r>
          </a:p>
          <a:p xmlns:a="http://schemas.openxmlformats.org/drawingml/2006/main">
            <a:r>
              <a:t>人・未確認:人が前提を設定し、戦略案を確認・調整してCAMへ送る。</a:t>
            </a:r>
          </a:p>
          <a:p xmlns:a="http://schemas.openxmlformats.org/drawingml/2006/main">
            <a:r>
              <a:t>Evidence:EOV-V008-2024-1,EOV-V008-2024-2,EOV-V008-2026-1,EDP-09,EDP-10,ERF-03</a:t>
            </a:r>
          </a:p>
          <a:p xmlns:a="http://schemas.openxmlformats.org/drawingml/2006/main">
            <a:r>
              <a:t/>
            </a:r>
          </a:p>
          <a:p xmlns:a="http://schemas.openxmlformats.org/drawingml/2006/main">
            <a:r>
              <a:t>B02-3 タクテックス株式会社 / CAM Assist for SolidCAM／SolidShop / S1016</a:t>
            </a:r>
          </a:p>
          <a:p xmlns:a="http://schemas.openxmlformats.org/drawingml/2006/main">
            <a:r>
              <a:t>対象:3軸・3+2軸の加工経路を作る</a:t>
            </a:r>
          </a:p>
          <a:p xmlns:a="http://schemas.openxmlformats.org/drawingml/2006/main">
            <a:r>
              <a:t>公式要約:SolidCAM向けに3軸・3+2軸の戦略と経路案を生成。</a:t>
            </a:r>
          </a:p>
          <a:p xmlns:a="http://schemas.openxmlformats.org/drawingml/2006/main">
            <a:r>
              <a:t>年度:2024はSolidCAM等。2026はAI支援を追加記載。</a:t>
            </a:r>
          </a:p>
          <a:p xmlns:a="http://schemas.openxmlformats.org/drawingml/2006/main">
            <a:r>
              <a:t>人・未確認:工具・保持等を設定し、生成案を編集・採用。最終制御権は人。</a:t>
            </a:r>
          </a:p>
          <a:p xmlns:a="http://schemas.openxmlformats.org/drawingml/2006/main">
            <a:r>
              <a:t>Evidence:EEX-EXH-2026-0436fc7b61f51a8e,EEX-EXH-2024-eb84f3b7fa9cf6db,EDP-07,EDP-08,ERF-04</a:t>
            </a:r>
          </a:p>
          <a:p xmlns:a="http://schemas.openxmlformats.org/drawingml/2006/main">
            <a:r>
              <a:t/>
            </a:r>
          </a:p>
          <a:p xmlns:a="http://schemas.openxmlformats.org/drawingml/2006/main">
            <a:r>
              <a:t>PLC・HMI・電気設計の支援</a:t>
            </a:r>
          </a:p>
          <a:p xmlns:a="http://schemas.openxmlformats.org/drawingml/2006/main">
            <a:r>
              <a:t>B04-1 ベッコフオートメーション / TwinCAT CoAgent for Engineering：PLC / E2028</a:t>
            </a:r>
          </a:p>
          <a:p xmlns:a="http://schemas.openxmlformats.org/drawingml/2006/main">
            <a:r>
              <a:t>対象:設備のPLC制御プログラムを作る</a:t>
            </a:r>
          </a:p>
          <a:p xmlns:a="http://schemas.openxmlformats.org/drawingml/2006/main">
            <a:r>
              <a:t>公式要約:要求とプロジェクト文脈からPLCコード案を提案。</a:t>
            </a:r>
          </a:p>
          <a:p xmlns:a="http://schemas.openxmlformats.org/drawingml/2006/main">
            <a:r>
              <a:t>年度:PLCコード支援は2023発表済み。2026初の方式ではない。</a:t>
            </a:r>
          </a:p>
          <a:p xmlns:a="http://schemas.openxmlformats.org/drawingml/2006/main">
            <a:r>
              <a:t>人・未確認:専門家が確認・確定・実行承認。書込みや起動の個別権限は未確認。</a:t>
            </a:r>
          </a:p>
          <a:p xmlns:a="http://schemas.openxmlformats.org/drawingml/2006/main">
            <a:r>
              <a:t>Evidence:EOV-V005-2026-1,EAT-N03,EAT-N05,EDP-03,ERF-01</a:t>
            </a:r>
          </a:p>
          <a:p xmlns:a="http://schemas.openxmlformats.org/drawingml/2006/main">
            <a:r>
              <a:t/>
            </a:r>
          </a:p>
          <a:p xmlns:a="http://schemas.openxmlformats.org/drawingml/2006/main">
            <a:r>
              <a:t>B04-2 ベッコフオートメーション / TwinCAT CoAgent for Engineering：I/O・HMI / E2028</a:t>
            </a:r>
          </a:p>
          <a:p xmlns:a="http://schemas.openxmlformats.org/drawingml/2006/main">
            <a:r>
              <a:t>対象:設備の入出力設定と操作画面を作る</a:t>
            </a:r>
          </a:p>
          <a:p xmlns:a="http://schemas.openxmlformats.org/drawingml/2006/main">
            <a:r>
              <a:t>公式要約:I/O構成とHMI生成・操作を支援するEngineering機能。</a:t>
            </a:r>
          </a:p>
          <a:p xmlns:a="http://schemas.openxmlformats.org/drawingml/2006/main">
            <a:r>
              <a:t>年度:I/O・HMI支援は2025/6にも公式説明。</a:t>
            </a:r>
          </a:p>
          <a:p xmlns:a="http://schemas.openxmlformats.org/drawingml/2006/main">
            <a:r>
              <a:t>人・未確認:専門家のレビュー方針。構成誤りの検証・差戻しは未確認。</a:t>
            </a:r>
          </a:p>
          <a:p xmlns:a="http://schemas.openxmlformats.org/drawingml/2006/main">
            <a:r>
              <a:t>Evidence:EOV-V005-2026-1,EAT-N03,EAT-N05,EDP-03,ERF-01</a:t>
            </a:r>
          </a:p>
          <a:p xmlns:a="http://schemas.openxmlformats.org/drawingml/2006/main">
            <a:r>
              <a:t/>
            </a:r>
          </a:p>
          <a:p xmlns:a="http://schemas.openxmlformats.org/drawingml/2006/main">
            <a:r>
              <a:t>B04-3 EPLAN / Eplan Copilot / S1067</a:t>
            </a:r>
          </a:p>
          <a:p xmlns:a="http://schemas.openxmlformats.org/drawingml/2006/main">
            <a:r>
              <a:t>対象:電気設計の情報・操作手順を調べる</a:t>
            </a:r>
          </a:p>
          <a:p xmlns:a="http://schemas.openxmlformats.org/drawingml/2006/main">
            <a:r>
              <a:t>公式要約:Eplan Copilotが文脈に応じた回答・推奨・手順を生成。</a:t>
            </a:r>
          </a:p>
          <a:p xmlns:a="http://schemas.openxmlformats.org/drawingml/2006/main">
            <a:r>
              <a:t>年度:2024の盤設計・データ連携に対し、2026はCopilotを記載。</a:t>
            </a:r>
          </a:p>
          <a:p xmlns:a="http://schemas.openxmlformats.org/drawingml/2006/main">
            <a:r>
              <a:t>人・未確認:意思決定は人。設計変更の自動採用は現機能と確認できない。</a:t>
            </a:r>
          </a:p>
          <a:p xmlns:a="http://schemas.openxmlformats.org/drawingml/2006/main">
            <a:r>
              <a:t>Evidence:EOV-V006-2024-1,EOV-V006-2026-1,EAT-N06</a:t>
            </a:r>
          </a:p>
          <a:p xmlns:a="http://schemas.openxmlformats.org/drawingml/2006/main">
            <a:r>
              <a:t/>
            </a:r>
          </a:p>
          <a:p xmlns:a="http://schemas.openxmlformats.org/drawingml/2006/main">
            <a:r>
              <a:t>原典</a:t>
            </a:r>
          </a:p>
          <a:p xmlns:a="http://schemas.openxmlformats.org/drawingml/2006/main">
            <a:r>
              <a:t>EEX-EXH-2026-3b6a1de81c17dfee JIMTOF2026公式出展説明：株式会社Fact Base (S3017)</a:t>
            </a:r>
          </a:p>
          <a:p xmlns:a="http://schemas.openxmlformats.org/drawingml/2006/main">
            <a:r>
              <a:t>https://www.jimtof.org/search/jp/ESdetails?e=hZaNogHdQM4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EDP-11 ズメーン導入事例：ダイニチ</a:t>
            </a:r>
          </a:p>
          <a:p xmlns:a="http://schemas.openxmlformats.org/drawingml/2006/main">
            <a:r>
              <a:t>https://lp.zume-n.com/case-1/sagadainichi</a:t>
            </a:r>
          </a:p>
          <a:p xmlns:a="http://schemas.openxmlformats.org/drawingml/2006/main">
            <a:r>
              <a:t>該当箇所:AI・OCR文字読取／人の目で確認・補正／関連資料・改訂履歴</a:t>
            </a:r>
          </a:p>
          <a:p xmlns:a="http://schemas.openxmlformats.org/drawingml/2006/main">
            <a:r>
              <a:t>確認:2026-10-16</a:t>
            </a:r>
          </a:p>
          <a:p xmlns:a="http://schemas.openxmlformats.org/drawingml/2006/main">
            <a:r>
              <a:t>種類:企業公式サイトに掲載された顧客発言</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EOV-V041-2026-1 JIMTOF2026公式カタログ：匠技研工業株式会社 (S3011)</a:t>
            </a:r>
          </a:p>
          <a:p xmlns:a="http://schemas.openxmlformats.org/drawingml/2006/main">
            <a:r>
              <a:t>https://www.jimtof.org/search/jp/ESdetails?e=i_4zCxJP258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EDP-05 匠フォースAIエージェント発表</a:t>
            </a:r>
          </a:p>
          <a:p xmlns:a="http://schemas.openxmlformats.org/drawingml/2006/main">
            <a:r>
              <a:t>https://prtimes.jp/main/html/rd/p/000000031.000057137.html</a:t>
            </a:r>
          </a:p>
          <a:p xmlns:a="http://schemas.openxmlformats.org/drawingml/2006/main">
            <a:r>
              <a:t>該当箇所:見積金額算出／人の修正による再学習／引合受領から見積書作成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EOV-V007-2026-2 JIMTOF2026公式カタログ：Hexagon Manufacturing Intelligence株式会社 (E2013)</a:t>
            </a:r>
          </a:p>
          <a:p xmlns:a="http://schemas.openxmlformats.org/drawingml/2006/main">
            <a:r>
              <a:t>https://www.jimtof.org/search/jp/ESdetails?e=6l20Qo0pjl4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EOV-W02 ESPRIT EDGE Release Highlights</a:t>
            </a:r>
          </a:p>
          <a:p xmlns:a="http://schemas.openxmlformats.org/drawingml/2006/main">
            <a:r>
              <a:t>https://hexagon.com/products/esprit-edge/release-highlights</a:t>
            </a:r>
          </a:p>
          <a:p xmlns:a="http://schemas.openxmlformats.org/drawingml/2006/main">
            <a:r>
              <a:t>該当箇所:2025.2 PROPLANAI、2026.1 ProPlanAI for Turning, Mill-Turn &amp; Swiss</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展示:メーカーの提供状況。対象機種や契約、顧客実績は未確認</a:t>
            </a:r>
          </a:p>
          <a:p xmlns:a="http://schemas.openxmlformats.org/drawingml/2006/main">
            <a:r>
              <a:t/>
            </a:r>
          </a:p>
          <a:p xmlns:a="http://schemas.openxmlformats.org/drawingml/2006/main">
            <a:r>
              <a:t>EOV-V008-2024-1 JIMTOF2024公式カタログ：ジェービーエムエンジニアリング株式会社 (E5028)</a:t>
            </a:r>
          </a:p>
          <a:p xmlns:a="http://schemas.openxmlformats.org/drawingml/2006/main">
            <a:r>
              <a:t>https://www.jimtof.org/2024/search/jp/ESdetails?e=G-8gydwhMvE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EOV-V008-2024-2 JIMTOF2024公式カタログ：ジェービーエムエンジニアリング株式会社 (AM111)</a:t>
            </a:r>
          </a:p>
          <a:p xmlns:a="http://schemas.openxmlformats.org/drawingml/2006/main">
            <a:r>
              <a:t>https://www.jimtof.org/2024/search/jp/ESdetails?e=ZBxZW2vyjUw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EOV-V008-2026-1 JIMTOF2026公式カタログ：ジェービーエムエンジニアリング株式会社 (E2002)</a:t>
            </a:r>
          </a:p>
          <a:p xmlns:a="http://schemas.openxmlformats.org/drawingml/2006/main">
            <a:r>
              <a:t>https://www.jimtof.org/search/jp/ESdetails?e=VrAjMTKmxdw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EDP-09 Mastercam向けCAM Assist</a:t>
            </a:r>
          </a:p>
          <a:p xmlns:a="http://schemas.openxmlformats.org/drawingml/2006/main">
            <a:r>
              <a:t>https://www.cloudnc.com/ja/mastercam</a:t>
            </a:r>
          </a:p>
          <a:p xmlns:a="http://schemas.openxmlformats.org/drawingml/2006/main">
            <a:r>
              <a:t>該当箇所:仕組みステップ1〜4／FAQの対象加工・顧客データ学習の否定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EDP-10 Mastercam向けCAM Assist提供開始</a:t>
            </a:r>
          </a:p>
          <a:p xmlns:a="http://schemas.openxmlformats.org/drawingml/2006/main">
            <a:r>
              <a:t>https://www.cloudnc.com/news-room/cam-assist-the-first-ai-plug-in-for-cam-is-now-available-for-mastercam</a:t>
            </a:r>
          </a:p>
          <a:p xmlns:a="http://schemas.openxmlformats.org/drawingml/2006/main">
            <a:r>
              <a:t>該当箇所:July 25, 2024／3軸・3+2軸向け。北米販売開始の説明</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ERF-03 Mastercam CAM Assist：確認・調整と学習方針</a:t>
            </a:r>
          </a:p>
          <a:p xmlns:a="http://schemas.openxmlformats.org/drawingml/2006/main">
            <a:r>
              <a:t>https://www.cloudnc.com/ja/mastercam</a:t>
            </a:r>
          </a:p>
          <a:p xmlns:a="http://schemas.openxmlformats.org/drawingml/2006/main">
            <a:r>
              <a:t>該当箇所:仕組みStep 2–4／FAQ：顧客データで学習しない、加工性評価、編集可能CAM</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EEX-EXH-2026-0436fc7b61f51a8e JIMTOF2026公式出展説明：タクテックス株式会社 (S1016)</a:t>
            </a:r>
          </a:p>
          <a:p xmlns:a="http://schemas.openxmlformats.org/drawingml/2006/main">
            <a:r>
              <a:t>https://www.jimtof.org/search/jp/ESdetails?e=2TVzwvOqLxI</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EEX-EXH-2024-eb84f3b7fa9cf6db JIMTOF2024公式出展説明：タクテックス株式会社 (E5030)</a:t>
            </a:r>
          </a:p>
          <a:p xmlns:a="http://schemas.openxmlformats.org/drawingml/2006/main">
            <a:r>
              <a:t>https://www.jimtof.org/2024/search/jp/ESdetails?e=p_i9WuUhNRg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EDP-07 SolidCAM向けCAM Assist</a:t>
            </a:r>
          </a:p>
          <a:p xmlns:a="http://schemas.openxmlformats.org/drawingml/2006/main">
            <a:r>
              <a:t>https://www.cloudnc.com/ja/solidcam</a:t>
            </a:r>
          </a:p>
          <a:p xmlns:a="http://schemas.openxmlformats.org/drawingml/2006/main">
            <a:r>
              <a:t>該当箇所:仕組みステップ1〜4／FAQの対象加工・通信・戦略生成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EDP-08 CloudNC CAM Assist公式ヘルプ</a:t>
            </a:r>
          </a:p>
          <a:p xmlns:a="http://schemas.openxmlformats.org/drawingml/2006/main">
            <a:r>
              <a:t>https://help.solidcam.com/topics/solutions/cloudnc-cam-assist.htm</a:t>
            </a:r>
          </a:p>
          <a:p xmlns:a="http://schemas.openxmlformats.org/drawingml/2006/main">
            <a:r>
              <a:t>該当箇所:形状・工具・材種・段取りの入力／プログラマーの修正・検証・NC出力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ERF-04 CAM Assistの生成後の編集・検証</a:t>
            </a:r>
          </a:p>
          <a:p xmlns:a="http://schemas.openxmlformats.org/drawingml/2006/main">
            <a:r>
              <a:t>https://help.solidcam.com/topics/solutions/cloudnc-cam-assist.htm</a:t>
            </a:r>
          </a:p>
          <a:p xmlns:a="http://schemas.openxmlformats.org/drawingml/2006/main">
            <a:r>
              <a:t>該当箇所:L11–19／プログラマーがreview・refine、既存のsimulation・verification・NC生成</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EAT-N03 CoAgent for Engineering TE1700</a:t>
            </a:r>
          </a:p>
          <a:p xmlns:a="http://schemas.openxmlformats.org/drawingml/2006/main">
            <a:r>
              <a:t>https://www.beckhoff.com/ko-kr/products/automation/twincat/texxxx-twincat-3-engineering/te1700.html</a:t>
            </a:r>
          </a:p>
          <a:p xmlns:a="http://schemas.openxmlformats.org/drawingml/2006/main">
            <a:r>
              <a:t>該当箇所:Features／Product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ERF-01 From chatbot to intelligent agent</a:t>
            </a:r>
          </a:p>
          <a:p xmlns:a="http://schemas.openxmlformats.org/drawingml/2006/main">
            <a:r>
              <a:t>https://www.beckhoff.com/en-gb/company/news/from-chatbot-to-intelligent-agent.html</a:t>
            </a:r>
          </a:p>
          <a:p xmlns:a="http://schemas.openxmlformats.org/drawingml/2006/main">
            <a:r>
              <a:t>該当箇所:2025/6/13／Placing people at the heart of automation；PLC・I/O・HMI、専門家がreview・confirm・approve</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EOV-V006-2024-1 JIMTOF2024公式カタログ：EPLAN株式会社 (E2033)</a:t>
            </a:r>
          </a:p>
          <a:p xmlns:a="http://schemas.openxmlformats.org/drawingml/2006/main">
            <a:r>
              <a:t>https://www.jimtof.org/2024/search/jp/ESdetails?e=50efK4rQsHs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EOV-V006-2026-1 JIMTOF2026公式カタログ：EPLAN株式会社 (S1067)</a:t>
            </a:r>
          </a:p>
          <a:p xmlns:a="http://schemas.openxmlformats.org/drawingml/2006/main">
            <a:r>
              <a:t>https://www.jimtof.org/search/jp/ESdetails?e=FHsQAvmFusY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EAT-N06 Eplan Copilot</a:t>
            </a:r>
          </a:p>
          <a:p xmlns:a="http://schemas.openxmlformats.org/drawingml/2006/main">
            <a:r>
              <a:t>https://www.eplan.com/us-en/about-us/innovations/eplan-copilot/</a:t>
            </a:r>
          </a:p>
          <a:p xmlns:a="http://schemas.openxmlformats.org/drawingml/2006/main">
            <a:r>
              <a:t>該当箇所:Based on a described task／Looking ahead／conceptual phase</a:t>
            </a:r>
          </a:p>
          <a:p xmlns:a="http://schemas.openxmlformats.org/drawingml/2006/main">
            <a:r>
              <a:t>確認:2026-10-16</a:t>
            </a:r>
          </a:p>
          <a:p xmlns:a="http://schemas.openxmlformats.org/drawingml/2006/main">
            <a:r>
              <a:t>種類:企業公式説明・メーカー主張</a:t>
            </a:r>
          </a:p>
          <a:p xmlns:a="http://schemas.openxmlformats.org/drawingml/2006/main">
            <a:r>
              <a:t>展示:現行支援と将来構想を分離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加工負荷・温度・寸法の変化を捉えて条件を調整し、加工時間と品質のばらつきを抑える。</a:t>
            </a:r>
          </a:p>
          <a:p xmlns:a="http://schemas.openxmlformats.org/drawingml/2006/main">
            <a:r>
              <a:t>余裕を持たせすぎた加工条件は時間を延ばし、過負荷・熱変位・工具状態の変化は品質や停止に影響する。</a:t>
            </a:r>
          </a:p>
          <a:p xmlns:a="http://schemas.openxmlformats.org/drawingml/2006/main">
            <a:r>
              <a:t/>
            </a:r>
          </a:p>
          <a:p xmlns:a="http://schemas.openxmlformats.org/drawingml/2006/main">
            <a:r>
              <a:t>負荷に応じた送り制御、NCの事前最適化、測定結果による工具補正は2024にも掲載されている。</a:t>
            </a:r>
          </a:p>
          <a:p xmlns:a="http://schemas.openxmlformats.org/drawingml/2006/main">
            <a:r>
              <a:t>2026は、工具の3D計測と補正加工の一体化や、加工前のワーク情報を条件調整へ使う提案が見られる。後者には開発中の機能も含む。</a:t>
            </a:r>
          </a:p>
          <a:p xmlns:a="http://schemas.openxmlformats.org/drawingml/2006/main">
            <a:r>
              <a:t/>
            </a:r>
          </a:p>
          <a:p xmlns:a="http://schemas.openxmlformats.org/drawingml/2006/main">
            <a:r>
              <a:t>事前の加工予測と加工中・加工後の実測を組み合わせ、条件が変わっても狙いの品質へ近づける加工が開発の方向になる。</a:t>
            </a:r>
          </a:p>
          <a:p xmlns:a="http://schemas.openxmlformats.org/drawingml/2006/main">
            <a:r>
              <a:t/>
            </a:r>
          </a:p>
          <a:p xmlns:a="http://schemas.openxmlformats.org/drawingml/2006/main">
            <a:r>
              <a:t>物理モデルと工程内計測を使う適応加工を候補とし、加工条件と工具・寸法補正を一つの対象工程で扱う。</a:t>
            </a:r>
          </a:p>
          <a:p xmlns:a="http://schemas.openxmlformats.org/drawingml/2006/main">
            <a:r>
              <a:t>変化の読み方[分析]:計測・補正は以前から存在する。今回は刃先の3D計測と加工の一体化や、加工前のワーク情報の活用など、適用対象と構成の拡張に注目する。</a:t>
            </a:r>
          </a:p>
          <a:p xmlns:a="http://schemas.openxmlformats.org/drawingml/2006/main">
            <a:r>
              <a:t/>
            </a:r>
          </a:p>
          <a:p xmlns:a="http://schemas.openxmlformats.org/drawingml/2006/main">
            <a:r>
              <a:t>NC送り最適化・加工中の適応制御</a:t>
            </a:r>
          </a:p>
          <a:p xmlns:a="http://schemas.openxmlformats.org/drawingml/2006/main">
            <a:r>
              <a:t>B03-1 CGTech / Vericut Force／Optimizer / S3014</a:t>
            </a:r>
          </a:p>
          <a:p xmlns:a="http://schemas.openxmlformats.org/drawingml/2006/main">
            <a:r>
              <a:t>対象:加工前にNCの送り速度を調整する</a:t>
            </a:r>
          </a:p>
          <a:p xmlns:a="http://schemas.openxmlformats.org/drawingml/2006/main">
            <a:r>
              <a:t>公式要約:Forceは切削物理と力・動力制約を使い加工前に送りを最適化。</a:t>
            </a:r>
          </a:p>
          <a:p xmlns:a="http://schemas.openxmlformats.org/drawingml/2006/main">
            <a:r>
              <a:t>年度:Forceは2024掲載済み。2026のAI訴求とOptimizerの方式差は未確認。</a:t>
            </a:r>
          </a:p>
          <a:p xmlns:a="http://schemas.openxmlformats.org/drawingml/2006/main">
            <a:r>
              <a:t>人・未確認:材料・工具・限界条件とNC採用が必要〈分析〉。運用詳細は未確認。</a:t>
            </a:r>
          </a:p>
          <a:p xmlns:a="http://schemas.openxmlformats.org/drawingml/2006/main">
            <a:r>
              <a:t>Evidence:EOV-V009-2024-1,EOV-V009-2026-1,RPT-S04</a:t>
            </a:r>
          </a:p>
          <a:p xmlns:a="http://schemas.openxmlformats.org/drawingml/2006/main">
            <a:r>
              <a:t/>
            </a:r>
          </a:p>
          <a:p xmlns:a="http://schemas.openxmlformats.org/drawingml/2006/main">
            <a:r>
              <a:t>B03-2 Third Wave Systems Japan / Production Module／AdvantEdge / E1064</a:t>
            </a:r>
          </a:p>
          <a:p xmlns:a="http://schemas.openxmlformats.org/drawingml/2006/main">
            <a:r>
              <a:t>対象:加工負荷を予測しNC送りを最適化する</a:t>
            </a:r>
          </a:p>
          <a:p xmlns:a="http://schemas.openxmlformats.org/drawingml/2006/main">
            <a:r>
              <a:t>公式要約:Production ModuleはNCレベルの負荷解析。刃先FEMのAdvantEdgeとは別。</a:t>
            </a:r>
          </a:p>
          <a:p xmlns:a="http://schemas.openxmlformats.org/drawingml/2006/main">
            <a:r>
              <a:t>年度:2024展示比較不能。工具たわみ等は2019年にも公式説明。</a:t>
            </a:r>
          </a:p>
          <a:p xmlns:a="http://schemas.openxmlformats.org/drawingml/2006/main">
            <a:r>
              <a:t>人・未確認:モデル・材料・工具の設定と採用判断が必要〈分析〉。</a:t>
            </a:r>
          </a:p>
          <a:p xmlns:a="http://schemas.openxmlformats.org/drawingml/2006/main">
            <a:r>
              <a:t>Evidence:RPT-EXH-2026-3f24aaee60d77db1,RPT-S05</a:t>
            </a:r>
          </a:p>
          <a:p xmlns:a="http://schemas.openxmlformats.org/drawingml/2006/main">
            <a:r>
              <a:t/>
            </a:r>
          </a:p>
          <a:p xmlns:a="http://schemas.openxmlformats.org/drawingml/2006/main">
            <a:r>
              <a:t>B03-3 西部商工 / ACM / S3020</a:t>
            </a:r>
          </a:p>
          <a:p xmlns:a="http://schemas.openxmlformats.org/drawingml/2006/main">
            <a:r>
              <a:t>対象:加工中の負荷に応じ送りを自動調整する</a:t>
            </a:r>
          </a:p>
          <a:p xmlns:a="http://schemas.openxmlformats.org/drawingml/2006/main">
            <a:r>
              <a:t>公式要約:ACMは実測主軸負荷を使い加工中の送りを自動調整。</a:t>
            </a:r>
          </a:p>
          <a:p xmlns:a="http://schemas.openxmlformats.org/drawingml/2006/main">
            <a:r>
              <a:t>年度:2024も負荷監視と送り制御を記載。基本方式は継続。</a:t>
            </a:r>
          </a:p>
          <a:p xmlns:a="http://schemas.openxmlformats.org/drawingml/2006/main">
            <a:r>
              <a:t>人・未確認:負荷限界の設定者・停止復帰の手順は未確認。</a:t>
            </a:r>
          </a:p>
          <a:p xmlns:a="http://schemas.openxmlformats.org/drawingml/2006/main">
            <a:r>
              <a:t>Evidence:RPT-EXH-2026-107042c6cf64ba96,RPT-EXH-2024-151b23d9e05ccb13</a:t>
            </a:r>
          </a:p>
          <a:p xmlns:a="http://schemas.openxmlformats.org/drawingml/2006/main">
            <a:r>
              <a:t/>
            </a:r>
          </a:p>
          <a:p xmlns:a="http://schemas.openxmlformats.org/drawingml/2006/main">
            <a:r>
              <a:t>熱変位補正・びびり抑制</a:t>
            </a:r>
          </a:p>
          <a:p xmlns:a="http://schemas.openxmlformats.org/drawingml/2006/main">
            <a:r>
              <a:t>B05-1 オークマ / 熱変位制御・AI知能化 / E3028</a:t>
            </a:r>
          </a:p>
          <a:p xmlns:a="http://schemas.openxmlformats.org/drawingml/2006/main">
            <a:r>
              <a:t>対象:温度変化による加工位置のずれを抑える</a:t>
            </a:r>
          </a:p>
          <a:p xmlns:a="http://schemas.openxmlformats.org/drawingml/2006/main">
            <a:r>
              <a:t>公式要約:熱を単純化する構造と熱変位制御を組み合わせる。</a:t>
            </a:r>
          </a:p>
          <a:p xmlns:a="http://schemas.openxmlformats.org/drawingml/2006/main">
            <a:r>
              <a:t>年度:熱安定化は既存技術。2026のAI訴求だけで補正全体をAIとしない。</a:t>
            </a:r>
          </a:p>
          <a:p xmlns:a="http://schemas.openxmlformats.org/drawingml/2006/main">
            <a:r>
              <a:t>人・未確認:校正・補正限界・条件変化時の人の関与は未確認。</a:t>
            </a:r>
          </a:p>
          <a:p xmlns:a="http://schemas.openxmlformats.org/drawingml/2006/main">
            <a:r>
              <a:t>Evidence:EOV-V003-2024-1,EOV-V003-2026-1,RPT-S02</a:t>
            </a:r>
          </a:p>
          <a:p xmlns:a="http://schemas.openxmlformats.org/drawingml/2006/main">
            <a:r>
              <a:t/>
            </a:r>
          </a:p>
          <a:p xmlns:a="http://schemas.openxmlformats.org/drawingml/2006/main">
            <a:r>
              <a:t>B05-2 ヤマザキマザック / Ai Thermal Shield（製品資料による比較） / E1001</a:t>
            </a:r>
          </a:p>
          <a:p xmlns:a="http://schemas.openxmlformats.org/drawingml/2006/main">
            <a:r>
              <a:t>対象:加工後測定も使い熱変位補正を調整する</a:t>
            </a:r>
          </a:p>
          <a:p xmlns:a="http://schemas.openxmlformats.org/drawingml/2006/main">
            <a:r>
              <a:t>公式要約:温度・回転等を考慮。加工後測定の学習で熱変位補正を最適化。</a:t>
            </a:r>
          </a:p>
          <a:p xmlns:a="http://schemas.openxmlformats.org/drawingml/2006/main">
            <a:r>
              <a:t>年度:製品資料の比較例。同機能の2026展示搭載・年度差は未確認。</a:t>
            </a:r>
          </a:p>
          <a:p xmlns:a="http://schemas.openxmlformats.org/drawingml/2006/main">
            <a:r>
              <a:t>人・未確認:測定準備・更新採否・補正限界の設定者は未確認。</a:t>
            </a:r>
          </a:p>
          <a:p xmlns:a="http://schemas.openxmlformats.org/drawingml/2006/main">
            <a:r>
              <a:t>Evidence:RPT-S03,EOV-V004-2024-1,EOV-V004-2026-1,EAT-N08</a:t>
            </a:r>
          </a:p>
          <a:p xmlns:a="http://schemas.openxmlformats.org/drawingml/2006/main">
            <a:r>
              <a:t/>
            </a:r>
          </a:p>
          <a:p xmlns:a="http://schemas.openxmlformats.org/drawingml/2006/main">
            <a:r>
              <a:t>B05-3 オークマ / 加工ナビM-i／M-gⅡ（製品資料による比較） / E3028</a:t>
            </a:r>
          </a:p>
          <a:p xmlns:a="http://schemas.openxmlformats.org/drawingml/2006/main">
            <a:r>
              <a:t>対象:びびり振動に応じ主軸回転数を調整する</a:t>
            </a:r>
          </a:p>
          <a:p xmlns:a="http://schemas.openxmlformats.org/drawingml/2006/main">
            <a:r>
              <a:t>公式要約:M-iは振動計測から主軸速度を自動変更。M-gⅡは速度候補を提示。</a:t>
            </a:r>
          </a:p>
          <a:p xmlns:a="http://schemas.openxmlformats.org/drawingml/2006/main">
            <a:r>
              <a:t>年度:既存製品技術の比較例。2024/2026の機能増分は未確認。</a:t>
            </a:r>
          </a:p>
          <a:p xmlns:a="http://schemas.openxmlformats.org/drawingml/2006/main">
            <a:r>
              <a:t>人・未確認:M-iは設定後に自動制御。M-gⅡは人が候補を選ぶ。</a:t>
            </a:r>
          </a:p>
          <a:p xmlns:a="http://schemas.openxmlformats.org/drawingml/2006/main">
            <a:r>
              <a:t>Evidence:RPT-S01,EOV-V003-2024-1,EOV-V003-2026-1</a:t>
            </a:r>
          </a:p>
          <a:p xmlns:a="http://schemas.openxmlformats.org/drawingml/2006/main">
            <a:r>
              <a:t/>
            </a:r>
          </a:p>
          <a:p xmlns:a="http://schemas.openxmlformats.org/drawingml/2006/main">
            <a:r>
              <a:t>計測から加工へのフィードバック</a:t>
            </a:r>
          </a:p>
          <a:p xmlns:a="http://schemas.openxmlformats.org/drawingml/2006/main">
            <a:r>
              <a:t>B06-1 レニショー / Renishaw Central＋IPC / E7089</a:t>
            </a:r>
          </a:p>
          <a:p xmlns:a="http://schemas.openxmlformats.org/drawingml/2006/main">
            <a:r>
              <a:t>対象:測定した寸法を加工補正へ戻す</a:t>
            </a:r>
          </a:p>
          <a:p xmlns:a="http://schemas.openxmlformats.org/drawingml/2006/main">
            <a:r>
              <a:t>公式要約:Renishaw Central＋IPCで工具オフセットや機械変数を更新。</a:t>
            </a:r>
          </a:p>
          <a:p xmlns:a="http://schemas.openxmlformats.org/drawingml/2006/main">
            <a:r>
              <a:t>年度:Centralは2024掲載済み。2026も継続。</a:t>
            </a:r>
          </a:p>
          <a:p xmlns:a="http://schemas.openxmlformats.org/drawingml/2006/main">
            <a:r>
              <a:t>人・未確認:計測不確かさ、補正上限、異常値の抑止条件は未確認。</a:t>
            </a:r>
          </a:p>
          <a:p xmlns:a="http://schemas.openxmlformats.org/drawingml/2006/main">
            <a:r>
              <a:t>Evidence:EOV-V018-2024-1,EOV-V018-2026-1,EOV-W03</a:t>
            </a:r>
          </a:p>
          <a:p xmlns:a="http://schemas.openxmlformats.org/drawingml/2006/main">
            <a:r>
              <a:t/>
            </a:r>
          </a:p>
          <a:p xmlns:a="http://schemas.openxmlformats.org/drawingml/2006/main">
            <a:r>
              <a:t>B06-2 Wintech Automation / HGM-DX：測定フィードバック研削 / W3051</a:t>
            </a:r>
          </a:p>
          <a:p xmlns:a="http://schemas.openxmlformats.org/drawingml/2006/main">
            <a:r>
              <a:t>対象:測定値を研削加工の補正へ戻す</a:t>
            </a:r>
          </a:p>
          <a:p xmlns:a="http://schemas.openxmlformats.org/drawingml/2006/main">
            <a:r>
              <a:t>公式要約:HGM-DXは測定値を研削機へ返し加工公差を自動補正。</a:t>
            </a:r>
          </a:p>
          <a:p xmlns:a="http://schemas.openxmlformats.org/drawingml/2006/main">
            <a:r>
              <a:t>年度:2024は製造・検査自動化。2026は測定→研削を具体記載。</a:t>
            </a:r>
          </a:p>
          <a:p xmlns:a="http://schemas.openxmlformats.org/drawingml/2006/main">
            <a:r>
              <a:t>人・未確認:補正上限と誤計測時の対応は未確認。</a:t>
            </a:r>
          </a:p>
          <a:p xmlns:a="http://schemas.openxmlformats.org/drawingml/2006/main">
            <a:r>
              <a:t>Evidence:EOV-V034-2024-1,EOV-V034-2026-1</a:t>
            </a:r>
          </a:p>
          <a:p xmlns:a="http://schemas.openxmlformats.org/drawingml/2006/main">
            <a:r>
              <a:t/>
            </a:r>
          </a:p>
          <a:p xmlns:a="http://schemas.openxmlformats.org/drawingml/2006/main">
            <a:r>
              <a:t>B06-3 株式会社サイバーRC / GH5：工具の3D画像認識・AI補正ホーニング / E7074</a:t>
            </a:r>
          </a:p>
          <a:p xmlns:a="http://schemas.openxmlformats.org/drawingml/2006/main">
            <a:r>
              <a:t>対象:工具刃先の幅・角度を狙い値へ加工する</a:t>
            </a:r>
          </a:p>
          <a:p xmlns:a="http://schemas.openxmlformats.org/drawingml/2006/main">
            <a:r>
              <a:t>公式要約:GH5は機内3D画像で刃先を測り、幅・角度の目標へAI補正。</a:t>
            </a:r>
          </a:p>
          <a:p xmlns:a="http://schemas.openxmlformats.org/drawingml/2006/main">
            <a:r>
              <a:t>年度:2024のGM5等から、2026はGH5の測定・加工一体化を記載。</a:t>
            </a:r>
          </a:p>
          <a:p xmlns:a="http://schemas.openxmlformats.org/drawingml/2006/main">
            <a:r>
              <a:t>人・未確認:目標値は人が設定。過研磨・測定不能時の停止復帰は未確認。</a:t>
            </a:r>
          </a:p>
          <a:p xmlns:a="http://schemas.openxmlformats.org/drawingml/2006/main">
            <a:r>
              <a:t>Evidence:EEX-EXH-2026-a0cbad27ea34d7c4,EEX-EXH-2024-76ac534a229f7c29,EDP-02</a:t>
            </a:r>
          </a:p>
          <a:p xmlns:a="http://schemas.openxmlformats.org/drawingml/2006/main">
            <a:r>
              <a:t/>
            </a:r>
          </a:p>
          <a:p xmlns:a="http://schemas.openxmlformats.org/drawingml/2006/main">
            <a:r>
              <a:t>原典</a:t>
            </a:r>
          </a:p>
          <a:p xmlns:a="http://schemas.openxmlformats.org/drawingml/2006/main">
            <a:r>
              <a:t>EOV-V009-2024-1 JIMTOF2024公式カタログ：株式会社CGTech (E5042)</a:t>
            </a:r>
          </a:p>
          <a:p xmlns:a="http://schemas.openxmlformats.org/drawingml/2006/main">
            <a:r>
              <a:t>https://www.jimtof.org/2024/search/jp/ESdetails?e=AxDUk3YbQDI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EOV-V009-2026-1 JIMTOF2026公式カタログ：株式会社CGTech (S3014)</a:t>
            </a:r>
          </a:p>
          <a:p xmlns:a="http://schemas.openxmlformats.org/drawingml/2006/main">
            <a:r>
              <a:t>https://www.jimtof.org/search/jp/ESdetails?e=41U8xW4UkcM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RPT-S04 Vericut Force FAQ</a:t>
            </a:r>
          </a:p>
          <a:p xmlns:a="http://schemas.openxmlformats.org/drawingml/2006/main">
            <a:r>
              <a:t>https://archive.vericut.com/force-faq/</a:t>
            </a:r>
          </a:p>
          <a:p xmlns:a="http://schemas.openxmlformats.org/drawingml/2006/main">
            <a:r>
              <a:t>該当箇所:Force physics-based optimization</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RPT-EXH-2026-3f24aaee60d77db1 Third Wave Systems Japan合同会社 JIMTOF2026</a:t>
            </a:r>
          </a:p>
          <a:p xmlns:a="http://schemas.openxmlformats.org/drawingml/2006/main">
            <a:r>
              <a:t>https://www.jimtof.org/search/jp/ESdetails?e=L43LSAjxuyc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RPT-S05 Production Module v8.2 release</a:t>
            </a:r>
          </a:p>
          <a:p xmlns:a="http://schemas.openxmlformats.org/drawingml/2006/main">
            <a:r>
              <a:t>https://thirdwavesys.com/latest-news/production-module-v8-2-release/</a:t>
            </a:r>
          </a:p>
          <a:p xmlns:a="http://schemas.openxmlformats.org/drawingml/2006/main">
            <a:r>
              <a:t>該当箇所:工具たわみ・entry/exit feedrate constraints</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RPT-EXH-2026-107042c6cf64ba96 西部商工株式会社 JIMTOF2026</a:t>
            </a:r>
          </a:p>
          <a:p xmlns:a="http://schemas.openxmlformats.org/drawingml/2006/main">
            <a:r>
              <a:t>https://www.jimtof.org/search/jp/ESdetails?e=OC6R-wdDduM</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RPT-EXH-2024-151b23d9e05ccb13 西部商工株式会社 JIMTOF2024</a:t>
            </a:r>
          </a:p>
          <a:p xmlns:a="http://schemas.openxmlformats.org/drawingml/2006/main">
            <a:r>
              <a:t>https://www.jimtof.org/2024/search/jp/ESdetails?e=YRTw8XJWi9g</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RPT-S02 オークマ サーモフレンドリーコンセプト</a:t>
            </a:r>
          </a:p>
          <a:p xmlns:a="http://schemas.openxmlformats.org/drawingml/2006/main">
            <a:r>
              <a:t>https://www.okuma.co.jp/thermo-aniv/</a:t>
            </a:r>
          </a:p>
          <a:p xmlns:a="http://schemas.openxmlformats.org/drawingml/2006/main">
            <a:r>
              <a:t>該当箇所:サーモフレンドリーコンセプトの説明・沿革</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RPT-S03 Mazak Accuracy / Ai Thermal Shield</a:t>
            </a:r>
          </a:p>
          <a:p xmlns:a="http://schemas.openxmlformats.org/drawingml/2006/main">
            <a:r>
              <a:t>https://www.mazak.com/uk-en/technology/accuracy/</a:t>
            </a:r>
          </a:p>
          <a:p xmlns:a="http://schemas.openxmlformats.org/drawingml/2006/main">
            <a:r>
              <a:t>該当箇所:Ai Thermal Shield／Smooth Thermal Shield</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EOV-V004-2024-1 JIMTOF2024公式カタログ：ヤマザキマザック株式会社 (E5001)</a:t>
            </a:r>
          </a:p>
          <a:p xmlns:a="http://schemas.openxmlformats.org/drawingml/2006/main">
            <a:r>
              <a:t>https://www.jimtof.org/2024/search/jp/ESdetails?e=q0OrZBKM3uQ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EOV-V004-2026-1 JIMTOF2026公式カタログ：ヤマザキマザック株式会社 (E1001)</a:t>
            </a:r>
          </a:p>
          <a:p xmlns:a="http://schemas.openxmlformats.org/drawingml/2006/main">
            <a:r>
              <a:t>https://www.jimtof.org/search/jp/ESdetails?e=PJEgqNYlWes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EAT-N08 JIMTOF2026 Machines &amp; Automation Systems</a:t>
            </a:r>
          </a:p>
          <a:p xmlns:a="http://schemas.openxmlformats.org/drawingml/2006/main">
            <a:r>
              <a:t>https://www.mazak.com/jp-en/news-media/upcoming-events/jimtof2026/</a:t>
            </a:r>
          </a:p>
          <a:p xmlns:a="http://schemas.openxmlformats.org/drawingml/2006/main">
            <a:r>
              <a:t>該当箇所:Machines &amp; Automation Systems／Automation Systems</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展示:2026展示予定。AI機能の方式説明はない</a:t>
            </a:r>
          </a:p>
          <a:p xmlns:a="http://schemas.openxmlformats.org/drawingml/2006/main">
            <a:r>
              <a:t/>
            </a:r>
          </a:p>
          <a:p xmlns:a="http://schemas.openxmlformats.org/drawingml/2006/main">
            <a:r>
              <a:t>RPT-S01 オークマ 加工ナビ</a:t>
            </a:r>
          </a:p>
          <a:p xmlns:a="http://schemas.openxmlformats.org/drawingml/2006/main">
            <a:r>
              <a:t>https://www.okuma.co.jp/solution_technology/process/</a:t>
            </a:r>
          </a:p>
          <a:p xmlns:a="http://schemas.openxmlformats.org/drawingml/2006/main">
            <a:r>
              <a:t>該当箇所:加工ナビ M-i／M-gⅡ</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EOV-V018-2024-1 JIMTOF2024公式カタログ：レニショー株式会社 (E7026)</a:t>
            </a:r>
          </a:p>
          <a:p xmlns:a="http://schemas.openxmlformats.org/drawingml/2006/main">
            <a:r>
              <a:t>https://www.jimtof.org/2024/search/jp/ESdetails?e=ekM3exgIAtc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EOV-V018-2026-1 JIMTOF2026公式カタログ：レニショー株式会社 (E7089)</a:t>
            </a:r>
          </a:p>
          <a:p xmlns:a="http://schemas.openxmlformats.org/drawingml/2006/main">
            <a:r>
              <a:t>https://www.jimtof.org/search/jp/ESdetails?e=pYGmVz5GC1c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EOV-W03 Renishaw Central データプラットフォーム</a:t>
            </a:r>
          </a:p>
          <a:p xmlns:a="http://schemas.openxmlformats.org/drawingml/2006/main">
            <a:r>
              <a:t>https://www.renishaw.com/jp/smart-manufacturing-data-platform-for-industrial-process-control--47853</a:t>
            </a:r>
          </a:p>
          <a:p xmlns:a="http://schemas.openxmlformats.org/drawingml/2006/main">
            <a:r>
              <a:t>該当箇所:メカニズム、現場でのクローズドループ、導入効果</a:t>
            </a:r>
          </a:p>
          <a:p xmlns:a="http://schemas.openxmlformats.org/drawingml/2006/main">
            <a:r>
              <a:t>確認:2026-10-16</a:t>
            </a:r>
          </a:p>
          <a:p xmlns:a="http://schemas.openxmlformats.org/drawingml/2006/main">
            <a:r>
              <a:t>種類:企業公式資料・メーカー主張</a:t>
            </a:r>
          </a:p>
          <a:p xmlns:a="http://schemas.openxmlformats.org/drawingml/2006/main">
            <a:r>
              <a:t>展示:2024にも展示掲載済み。既存方式の実装例であり2026新規とはしない</a:t>
            </a:r>
          </a:p>
          <a:p xmlns:a="http://schemas.openxmlformats.org/drawingml/2006/main">
            <a:r>
              <a:t/>
            </a:r>
          </a:p>
          <a:p xmlns:a="http://schemas.openxmlformats.org/drawingml/2006/main">
            <a:r>
              <a:t>EOV-V034-2024-1 JIMTOF2024公式カタログ：Wintech Automation Co., Ltd. (E7025)</a:t>
            </a:r>
          </a:p>
          <a:p xmlns:a="http://schemas.openxmlformats.org/drawingml/2006/main">
            <a:r>
              <a:t>https://www.jimtof.org/2024/search/jp/ESdetails?e=-09Q4AWJx1E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EOV-V034-2026-1 JIMTOF2026公式カタログ：Wintech Automation Co., Ltd (W3051)</a:t>
            </a:r>
          </a:p>
          <a:p xmlns:a="http://schemas.openxmlformats.org/drawingml/2006/main">
            <a:r>
              <a:t>https://www.jimtof.org/search/jp/ESdetails?e=lMk3zNvQJbg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EEX-EXH-2026-a0cbad27ea34d7c4 JIMTOF2026公式出展説明：株式会社サイバーRC (E7074)</a:t>
            </a:r>
          </a:p>
          <a:p xmlns:a="http://schemas.openxmlformats.org/drawingml/2006/main">
            <a:r>
              <a:t>https://www.jimtof.org/search/jp/ESdetails?e=8ealehgmk8o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EEX-EXH-2024-76ac534a229f7c29 JIMTOF2024公式出展説明：株式会社サイバーRC (W3046)</a:t>
            </a:r>
          </a:p>
          <a:p xmlns:a="http://schemas.openxmlformats.org/drawingml/2006/main">
            <a:r>
              <a:t>https://www.jimtof.org/2024/search/jp/ESdetails?e=wk2AEX5rHpw</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EDP-02 GH5総合カタログ</a:t>
            </a:r>
          </a:p>
          <a:p xmlns:a="http://schemas.openxmlformats.org/drawingml/2006/main">
            <a:r>
              <a:t>https://cyber-rc.com/wp-content/uploads/2025/10/%E7%B7%8F%E5%90%88%E3%82%AB%E3%82%BF%E3%83%AD%E3%82%B0420-x-297-mm%E6%A8%AA%E4%B8%A6%E3%81%B3-.pdf</a:t>
            </a:r>
          </a:p>
          <a:p xmlns:a="http://schemas.openxmlformats.org/drawingml/2006/main">
            <a:r>
              <a:t>該当箇所:GRISTAR HONING 5 AXIS／幅・角度設定、Robot Eye、自動調整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人が目や経験で行う外観・摩耗・設備状態の判断を、画像や稼働データで支援する。</a:t>
            </a:r>
          </a:p>
          <a:p xmlns:a="http://schemas.openxmlformats.org/drawingml/2006/main">
            <a:r>
              <a:t>検査や工具交換の判断が人によって揺れ、不良の見逃し、工具の早すぎる交換、突発停止につながる。</a:t>
            </a:r>
          </a:p>
          <a:p xmlns:a="http://schemas.openxmlformats.org/drawingml/2006/main">
            <a:r>
              <a:t/>
            </a:r>
          </a:p>
          <a:p xmlns:a="http://schemas.openxmlformats.org/drawingml/2006/main">
            <a:r>
              <a:t>AIによる工具の欠け・摩耗判定、設備のAI診断、工具・工程監視は2024にも存在している。</a:t>
            </a:r>
          </a:p>
          <a:p xmlns:a="http://schemas.openxmlformats.org/drawingml/2006/main">
            <a:r>
              <a:t>2025–2026の資料では、誤判定を追加学習で調整する機能や、摩耗の記録を寿命・交換時期の提案へ使う内容が具体化。耐環境撮像や工具長測定との組合せも見られる。</a:t>
            </a:r>
          </a:p>
          <a:p xmlns:a="http://schemas.openxmlformats.org/drawingml/2006/main">
            <a:r>
              <a:t/>
            </a:r>
          </a:p>
          <a:p xmlns:a="http://schemas.openxmlformats.org/drawingml/2006/main">
            <a:r>
              <a:t>単独の合否・診断を、加工履歴や測定・品質情報と結び、加工継続・交換・保全を選ぶ判断支援へ発展させる余地がある。</a:t>
            </a:r>
          </a:p>
          <a:p xmlns:a="http://schemas.openxmlformats.org/drawingml/2006/main">
            <a:r>
              <a:t/>
            </a:r>
          </a:p>
          <a:p xmlns:a="http://schemas.openxmlformats.org/drawingml/2006/main">
            <a:r>
              <a:t>工具状態と加工品質を結び、加工を続けるか、条件を変えるか、交換するかを扱う工程AIを候補にする。</a:t>
            </a:r>
          </a:p>
          <a:p xmlns:a="http://schemas.openxmlformats.org/drawingml/2006/main">
            <a:r>
              <a:t>変化の読み方[分析]:「異常かどうか」の判定に加え、継続使用・交換・保全という次の判断を助ける方向に広がる。ただし交換の自動実行まで同じ範囲ではない。</a:t>
            </a:r>
          </a:p>
          <a:p xmlns:a="http://schemas.openxmlformats.org/drawingml/2006/main">
            <a:r>
              <a:t/>
            </a:r>
          </a:p>
          <a:p xmlns:a="http://schemas.openxmlformats.org/drawingml/2006/main">
            <a:r>
              <a:t>外観検査・撮像と追加学習</a:t>
            </a:r>
          </a:p>
          <a:p xmlns:a="http://schemas.openxmlformats.org/drawingml/2006/main">
            <a:r>
              <a:t>B07-1 HACARUS / HACARUS Check ZERO / S1031</a:t>
            </a:r>
          </a:p>
          <a:p xmlns:a="http://schemas.openxmlformats.org/drawingml/2006/main">
            <a:r>
              <a:t>対象:製品表面の傷・欠け等を判定する</a:t>
            </a:r>
          </a:p>
          <a:p xmlns:a="http://schemas.openxmlformats.org/drawingml/2006/main">
            <a:r>
              <a:t>公式要約:ZEROは良品との差で異常を検出し、人の良否注釈で追加調整。</a:t>
            </a:r>
          </a:p>
          <a:p xmlns:a="http://schemas.openxmlformats.org/drawingml/2006/main">
            <a:r>
              <a:t>年度:追加学習は2025/7発表済み。2026だけの新機能としない。</a:t>
            </a:r>
          </a:p>
          <a:p xmlns:a="http://schemas.openxmlformats.org/drawingml/2006/main">
            <a:r>
              <a:t>人・未確認:人が画像・注釈を準備。更新モデル採用と出荷判定の権限は未確認。</a:t>
            </a:r>
          </a:p>
          <a:p xmlns:a="http://schemas.openxmlformats.org/drawingml/2006/main">
            <a:r>
              <a:t>Evidence:EOV-V021-2026-1,EOV-W06,EDP-14,EDP-15,ERF-05</a:t>
            </a:r>
          </a:p>
          <a:p xmlns:a="http://schemas.openxmlformats.org/drawingml/2006/main">
            <a:r>
              <a:t/>
            </a:r>
          </a:p>
          <a:p xmlns:a="http://schemas.openxmlformats.org/drawingml/2006/main">
            <a:r>
              <a:t>B07-2 日東商事 / HACARUS Check：協働ロボット多面検査 / S1031</a:t>
            </a:r>
          </a:p>
          <a:p xmlns:a="http://schemas.openxmlformats.org/drawingml/2006/main">
            <a:r>
              <a:t>対象:ワークを多方向から撮り外観を検査する</a:t>
            </a:r>
          </a:p>
          <a:p xmlns:a="http://schemas.openxmlformats.org/drawingml/2006/main">
            <a:r>
              <a:t>公式要約:協働ロボットで多角度撮像し、AIで傷・欠けを判定。</a:t>
            </a:r>
          </a:p>
          <a:p xmlns:a="http://schemas.openxmlformats.org/drawingml/2006/main">
            <a:r>
              <a:t>年度:日東商事2024の放電加工機展示から、AI検査を追加記載。</a:t>
            </a:r>
          </a:p>
          <a:p xmlns:a="http://schemas.openxmlformats.org/drawingml/2006/main">
            <a:r>
              <a:t>人・未確認:姿勢教示・再撮像・不良排出の権限は未確認。</a:t>
            </a:r>
          </a:p>
          <a:p xmlns:a="http://schemas.openxmlformats.org/drawingml/2006/main">
            <a:r>
              <a:t>Evidence:EOV-V022-2024-1,EOV-V022-2026-1</a:t>
            </a:r>
          </a:p>
          <a:p xmlns:a="http://schemas.openxmlformats.org/drawingml/2006/main">
            <a:r>
              <a:t/>
            </a:r>
          </a:p>
          <a:p xmlns:a="http://schemas.openxmlformats.org/drawingml/2006/main">
            <a:r>
              <a:t>B07-3 ブルーム-ノボテスト / FormControl X／DIGILOG / E7084</a:t>
            </a:r>
          </a:p>
          <a:p xmlns:a="http://schemas.openxmlformats.org/drawingml/2006/main">
            <a:r>
              <a:t>対象:機上のワーク形状と工具を測る</a:t>
            </a:r>
          </a:p>
          <a:p xmlns:a="http://schemas.openxmlformats.org/drawingml/2006/main">
            <a:r>
              <a:t>公式要約:機上3D測定と工具計測・欠け検知・補正を組み合わせる。</a:t>
            </a:r>
          </a:p>
          <a:p xmlns:a="http://schemas.openxmlformats.org/drawingml/2006/main">
            <a:r>
              <a:t>年度:2024のFormControl X等を継続し、2026はLC54等を追加。</a:t>
            </a:r>
          </a:p>
          <a:p xmlns:a="http://schemas.openxmlformats.org/drawingml/2006/main">
            <a:r>
              <a:t>人・未確認:校正・熱状態・機種適合の条件は未確認。</a:t>
            </a:r>
          </a:p>
          <a:p xmlns:a="http://schemas.openxmlformats.org/drawingml/2006/main">
            <a:r>
              <a:t>Evidence:EOV-V019-2024-1,EOV-V019-2026-1</a:t>
            </a:r>
          </a:p>
          <a:p xmlns:a="http://schemas.openxmlformats.org/drawingml/2006/main">
            <a:r>
              <a:t/>
            </a:r>
          </a:p>
          <a:p xmlns:a="http://schemas.openxmlformats.org/drawingml/2006/main">
            <a:r>
              <a:t>工具摩耗の判定・交換判断</a:t>
            </a:r>
          </a:p>
          <a:p xmlns:a="http://schemas.openxmlformats.org/drawingml/2006/main">
            <a:r>
              <a:t>B08-1 モリマシナリー / ツールコラージュ / S3048</a:t>
            </a:r>
          </a:p>
          <a:p xmlns:a="http://schemas.openxmlformats.org/drawingml/2006/main">
            <a:r>
              <a:t>対象:刃先の欠け・摩耗を判定し記録する</a:t>
            </a:r>
          </a:p>
          <a:p xmlns:a="http://schemas.openxmlformats.org/drawingml/2006/main">
            <a:r>
              <a:t>公式要約:刃先の診断箇所を認知し、欠け・摩耗をAI判定・記録。</a:t>
            </a:r>
          </a:p>
          <a:p xmlns:a="http://schemas.openxmlformats.org/drawingml/2006/main">
            <a:r>
              <a:t>年度:AI摩耗判定は2024にも説明済み。2026は継続。</a:t>
            </a:r>
          </a:p>
          <a:p xmlns:a="http://schemas.openxmlformats.org/drawingml/2006/main">
            <a:r>
              <a:t>人・未確認:対象工具と撮像条件を準備。継続使用の最終決定者は未確認。</a:t>
            </a:r>
          </a:p>
          <a:p xmlns:a="http://schemas.openxmlformats.org/drawingml/2006/main">
            <a:r>
              <a:t>Evidence:EOV-V024-2024-1,EOV-V024-2026-1,EDP-12</a:t>
            </a:r>
          </a:p>
          <a:p xmlns:a="http://schemas.openxmlformats.org/drawingml/2006/main">
            <a:r>
              <a:t/>
            </a:r>
          </a:p>
          <a:p xmlns:a="http://schemas.openxmlformats.org/drawingml/2006/main">
            <a:r>
              <a:t>B08-2 ハイデンハイン / VT122＋VTC 6.0 / E7043</a:t>
            </a:r>
          </a:p>
          <a:p xmlns:a="http://schemas.openxmlformats.org/drawingml/2006/main">
            <a:r>
              <a:t>対象:工具画像から摩耗状態を診断する</a:t>
            </a:r>
          </a:p>
          <a:p xmlns:a="http://schemas.openxmlformats.org/drawingml/2006/main">
            <a:r>
              <a:t>公式要約:VT122にVTC 6.0のAI摩耗診断・工具長機能を記載。</a:t>
            </a:r>
          </a:p>
          <a:p xmlns:a="http://schemas.openxmlformats.org/drawingml/2006/main">
            <a:r>
              <a:t>年度:2024はVT122検査。2026はAI摩耗診断を追加記載。</a:t>
            </a:r>
          </a:p>
          <a:p xmlns:a="http://schemas.openxmlformats.org/drawingml/2006/main">
            <a:r>
              <a:t>人・未確認:判定閾値と自動交換への接続は未確認。</a:t>
            </a:r>
          </a:p>
          <a:p xmlns:a="http://schemas.openxmlformats.org/drawingml/2006/main">
            <a:r>
              <a:t>Evidence:EOV-V023-2024-1,EOV-V023-2026-1</a:t>
            </a:r>
          </a:p>
          <a:p xmlns:a="http://schemas.openxmlformats.org/drawingml/2006/main">
            <a:r>
              <a:t/>
            </a:r>
          </a:p>
          <a:p xmlns:a="http://schemas.openxmlformats.org/drawingml/2006/main">
            <a:r>
              <a:t>B08-3 三菱電機 / NC MachiningAID（2024）／2026 CNC省人化 / S2003</a:t>
            </a:r>
          </a:p>
          <a:p xmlns:a="http://schemas.openxmlformats.org/drawingml/2006/main">
            <a:r>
              <a:t>対象:加工異常・工具摩耗・作業ミスを検知する</a:t>
            </a:r>
          </a:p>
          <a:p xmlns:a="http://schemas.openxmlformats.org/drawingml/2006/main">
            <a:r>
              <a:t>公式要約:2024のMachiningAIDは加工異常・工具摩耗・作業ミスをAI検知。</a:t>
            </a:r>
          </a:p>
          <a:p xmlns:a="http://schemas.openxmlformats.org/drawingml/2006/main">
            <a:r>
              <a:t>年度:2026はAI省人化の総論。個別機能の進化は比較不能。</a:t>
            </a:r>
          </a:p>
          <a:p xmlns:a="http://schemas.openxmlformats.org/drawingml/2006/main">
            <a:r>
              <a:t>人・未確認:2026の継承機能と自動停止・交換権限は未確認。</a:t>
            </a:r>
          </a:p>
          <a:p xmlns:a="http://schemas.openxmlformats.org/drawingml/2006/main">
            <a:r>
              <a:t>Evidence:EAT-V043-2024-1,EAT-V043-2026-1</a:t>
            </a:r>
          </a:p>
          <a:p xmlns:a="http://schemas.openxmlformats.org/drawingml/2006/main">
            <a:r>
              <a:t/>
            </a:r>
          </a:p>
          <a:p xmlns:a="http://schemas.openxmlformats.org/drawingml/2006/main">
            <a:r>
              <a:t>B08-4 モリマシナリー / ツールコラージュアナライザー / S3048</a:t>
            </a:r>
          </a:p>
          <a:p xmlns:a="http://schemas.openxmlformats.org/drawingml/2006/main">
            <a:r>
              <a:t>対象:切削工具をいつ交換するか</a:t>
            </a:r>
          </a:p>
          <a:p xmlns:a="http://schemas.openxmlformats.org/drawingml/2006/main">
            <a:r>
              <a:t>公式要約:摩耗幅のデータを蓄積・学習し、工具寿命と交換時期を提案する。</a:t>
            </a:r>
          </a:p>
          <a:p xmlns:a="http://schemas.openxmlformats.org/drawingml/2006/main">
            <a:r>
              <a:t>年度:2026は寿命予測と交換提案を具体掲載。ただし研究発表は2023にもあり、新方式の誕生とは扱わない。</a:t>
            </a:r>
          </a:p>
          <a:p xmlns:a="http://schemas.openxmlformats.org/drawingml/2006/main">
            <a:r>
              <a:t>人・未確認:人が工具・加工条件と提案の適用を確認する運用は要確認。</a:t>
            </a:r>
          </a:p>
          <a:p xmlns:a="http://schemas.openxmlformats.org/drawingml/2006/main">
            <a:r>
              <a:t>Evidence:EOV-V024-2024-1,EOV-V024-2026-1,EOV-W08</a:t>
            </a:r>
          </a:p>
          <a:p xmlns:a="http://schemas.openxmlformats.org/drawingml/2006/main">
            <a:r>
              <a:t/>
            </a:r>
          </a:p>
          <a:p xmlns:a="http://schemas.openxmlformats.org/drawingml/2006/main">
            <a:r>
              <a:t>B08-5 興和オプトロニクス / RW耐環境ビジョンユニット / S3104</a:t>
            </a:r>
          </a:p>
          <a:p xmlns:a="http://schemas.openxmlformats.org/drawingml/2006/main">
            <a:r>
              <a:t>対象:加工機内の工具折損・摩耗を見つける</a:t>
            </a:r>
          </a:p>
          <a:p xmlns:a="http://schemas.openxmlformats.org/drawingml/2006/main">
            <a:r>
              <a:t>公式要約:水・油・ミスト環境で撮像し、AIで工具折損・摩耗や切粉の異常蓄積を検知するとの説明。</a:t>
            </a:r>
          </a:p>
          <a:p xmlns:a="http://schemas.openxmlformats.org/drawingml/2006/main">
            <a:r>
              <a:t>年度:2024同名原典なし。2026の耐環境撮像とAI検知は確認、登場時期は比較不能。</a:t>
            </a:r>
          </a:p>
          <a:p xmlns:a="http://schemas.openxmlformats.org/drawingml/2006/main">
            <a:r>
              <a:t>人・未確認:対象工具、判定の閾値、検知後の停止・交換の分担は未確認。</a:t>
            </a:r>
          </a:p>
          <a:p xmlns:a="http://schemas.openxmlformats.org/drawingml/2006/main">
            <a:r>
              <a:t>Evidence:EOV-V042-2026-1,EDP-33</a:t>
            </a:r>
          </a:p>
          <a:p xmlns:a="http://schemas.openxmlformats.org/drawingml/2006/main">
            <a:r>
              <a:t/>
            </a:r>
          </a:p>
          <a:p xmlns:a="http://schemas.openxmlformats.org/drawingml/2006/main">
            <a:r>
              <a:t>B08-6 マーポス / ARTIS／BLU／VTS / E7087</a:t>
            </a:r>
          </a:p>
          <a:p xmlns:a="http://schemas.openxmlformats.org/drawingml/2006/main">
            <a:r>
              <a:t>対象:工具寸法と加工状態を測り・監視する</a:t>
            </a:r>
          </a:p>
          <a:p xmlns:a="http://schemas.openxmlformats.org/drawingml/2006/main">
            <a:r>
              <a:t>公式要約:カメラ・レーザーの工具測定と、工具・機械・加工プロセスの監視を展示。</a:t>
            </a:r>
          </a:p>
          <a:p xmlns:a="http://schemas.openxmlformats.org/drawingml/2006/main">
            <a:r>
              <a:t>年度:ARTIS・VTS等は2024にも掲載。2026の展示名だけでは機能の増分を断定できない。</a:t>
            </a:r>
          </a:p>
          <a:p xmlns:a="http://schemas.openxmlformats.org/drawingml/2006/main">
            <a:r>
              <a:t>人・未確認:交換・停止を決める基準と、各機能のAI使用は未確認。</a:t>
            </a:r>
          </a:p>
          <a:p xmlns:a="http://schemas.openxmlformats.org/drawingml/2006/main">
            <a:r>
              <a:t>Evidence:EOV-V020-2024-1,EOV-V020-2026-1</a:t>
            </a:r>
          </a:p>
          <a:p xmlns:a="http://schemas.openxmlformats.org/drawingml/2006/main">
            <a:r>
              <a:t/>
            </a:r>
          </a:p>
          <a:p xmlns:a="http://schemas.openxmlformats.org/drawingml/2006/main">
            <a:r>
              <a:t>B08-7 Masterlink / 工作機械センシングの知能化による生産性向上： / E1050</a:t>
            </a:r>
          </a:p>
          <a:p xmlns:a="http://schemas.openxmlformats.org/drawingml/2006/main">
            <a:r>
              <a:t>対象:工具の異常を監視する（方式要確認）</a:t>
            </a:r>
          </a:p>
          <a:p xmlns:a="http://schemas.openxmlformats.org/drawingml/2006/main">
            <a:r>
              <a:t>公式要約:工具監視、適応加工、予知保全を出展項目として掲載。入力信号と判定方式は未記載。</a:t>
            </a:r>
          </a:p>
          <a:p xmlns:a="http://schemas.openxmlformats.org/drawingml/2006/main">
            <a:r>
              <a:t>年度:2024はセンシング・現場管理の総論。2026は工具監視等を列挙。性能差は不明。</a:t>
            </a:r>
          </a:p>
          <a:p xmlns:a="http://schemas.openxmlformats.org/drawingml/2006/main">
            <a:r>
              <a:t>人・未確認:監視結果から停止・交換へ移す手順、担当者は未確認。</a:t>
            </a:r>
          </a:p>
          <a:p xmlns:a="http://schemas.openxmlformats.org/drawingml/2006/main">
            <a:r>
              <a:t>Evidence:EEX-EXH-2026-19ce238d137fe275,EEX-EXH-2024-a2fae1d1864676d1</a:t>
            </a:r>
          </a:p>
          <a:p xmlns:a="http://schemas.openxmlformats.org/drawingml/2006/main">
            <a:r>
              <a:t/>
            </a:r>
          </a:p>
          <a:p xmlns:a="http://schemas.openxmlformats.org/drawingml/2006/main">
            <a:r>
              <a:t>設備・刃具の異常検知と保全</a:t>
            </a:r>
          </a:p>
          <a:p xmlns:a="http://schemas.openxmlformats.org/drawingml/2006/main">
            <a:r>
              <a:t>B09-1 ムラテックＣＣＳ株式会社 / プライマリドクタサービス：稼働中データのAI診断 / E3031</a:t>
            </a:r>
          </a:p>
          <a:p xmlns:a="http://schemas.openxmlformats.org/drawingml/2006/main">
            <a:r>
              <a:t>対象:設備の電流・振動から劣化を診断する</a:t>
            </a:r>
          </a:p>
          <a:p xmlns:a="http://schemas.openxmlformats.org/drawingml/2006/main">
            <a:r>
              <a:t>公式要約:稼働中の電流・振動等を新品状態と比較し劣化・異常を診断。</a:t>
            </a:r>
          </a:p>
          <a:p xmlns:a="http://schemas.openxmlformats.org/drawingml/2006/main">
            <a:r>
              <a:t>年度:プライマリドクタのAI診断は2024から継続。</a:t>
            </a:r>
          </a:p>
          <a:p xmlns:a="http://schemas.openxmlformats.org/drawingml/2006/main">
            <a:r>
              <a:t>人・未確認:計測後の点検・交換の最終決定者、誤警報時の扱いは未確認。</a:t>
            </a:r>
          </a:p>
          <a:p xmlns:a="http://schemas.openxmlformats.org/drawingml/2006/main">
            <a:r>
              <a:t>Evidence:EEX-EXH-2026-308c5194f12fe009,EEX-EXH-2024-b0a94c1cd407ea8a,EDP-13</a:t>
            </a:r>
          </a:p>
          <a:p xmlns:a="http://schemas.openxmlformats.org/drawingml/2006/main">
            <a:r>
              <a:t/>
            </a:r>
          </a:p>
          <a:p xmlns:a="http://schemas.openxmlformats.org/drawingml/2006/main">
            <a:r>
              <a:t>B09-2 アズビル（TACO共同出展） / U4DM01 NC旋盤予兆検知 / W4070</a:t>
            </a:r>
          </a:p>
          <a:p xmlns:a="http://schemas.openxmlformats.org/drawingml/2006/main">
            <a:r>
              <a:t>対象:NC旋盤の刃具破損を検知する</a:t>
            </a:r>
          </a:p>
          <a:p xmlns:a="http://schemas.openxmlformats.org/drawingml/2006/main">
            <a:r>
              <a:t>公式要約:U4DM01はNC旋盤の刃具破損検知と後付け適用を説明。</a:t>
            </a:r>
          </a:p>
          <a:p xmlns:a="http://schemas.openxmlformats.org/drawingml/2006/main">
            <a:r>
              <a:t>年度:2024参考U4Dから2026 Coming soon表記。性能差は不明。</a:t>
            </a:r>
          </a:p>
          <a:p xmlns:a="http://schemas.openxmlformats.org/drawingml/2006/main">
            <a:r>
              <a:t>人・未確認:2024は設定・学習開始操作あり。停止や交換権限は未確認。</a:t>
            </a:r>
          </a:p>
          <a:p xmlns:a="http://schemas.openxmlformats.org/drawingml/2006/main">
            <a:r>
              <a:t>Evidence:RPT-EXH-2026-2c48cf1373cedc75,RPT-EXH-2024-2caebd449015630d</a:t>
            </a:r>
          </a:p>
          <a:p xmlns:a="http://schemas.openxmlformats.org/drawingml/2006/main">
            <a:r>
              <a:t/>
            </a:r>
          </a:p>
          <a:p xmlns:a="http://schemas.openxmlformats.org/drawingml/2006/main">
            <a:r>
              <a:t>B09-3 日本精工 / 振動診断AI・遠隔監視 / W2048</a:t>
            </a:r>
          </a:p>
          <a:p xmlns:a="http://schemas.openxmlformats.org/drawingml/2006/main">
            <a:r>
              <a:t>対象:振動から設備状態を診断する</a:t>
            </a:r>
          </a:p>
          <a:p xmlns:a="http://schemas.openxmlformats.org/drawingml/2006/main">
            <a:r>
              <a:t>公式要約:2024はAI振動診断と遠隔監視を紹介。</a:t>
            </a:r>
          </a:p>
          <a:p xmlns:a="http://schemas.openxmlformats.org/drawingml/2006/main">
            <a:r>
              <a:t>年度:2026の総論だけでは2024比の増分を判定できない。</a:t>
            </a:r>
          </a:p>
          <a:p xmlns:a="http://schemas.openxmlformats.org/drawingml/2006/main">
            <a:r>
              <a:t>人・未確認:2026の個別機能、保全判断への接続は資料不足。</a:t>
            </a:r>
          </a:p>
          <a:p xmlns:a="http://schemas.openxmlformats.org/drawingml/2006/main">
            <a:r>
              <a:t>Evidence:EOV-V032-2024-1,EOV-V032-2026-1</a:t>
            </a:r>
          </a:p>
          <a:p xmlns:a="http://schemas.openxmlformats.org/drawingml/2006/main">
            <a:r>
              <a:t/>
            </a:r>
          </a:p>
          <a:p xmlns:a="http://schemas.openxmlformats.org/drawingml/2006/main">
            <a:r>
              <a:t>原典</a:t>
            </a:r>
          </a:p>
          <a:p xmlns:a="http://schemas.openxmlformats.org/drawingml/2006/main">
            <a:r>
              <a:t>EOV-V021-2026-1 JIMTOF2026公式カタログ：株式会社ＨＡＣＡＲＵＳ (S1031)</a:t>
            </a:r>
          </a:p>
          <a:p xmlns:a="http://schemas.openxmlformats.org/drawingml/2006/main">
            <a:r>
              <a:t>https://www.jimtof.org/search/jp/ESdetails?e=oatArsOZ-Wc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EOV-W06 AI外観検査ソリューション HACARUS Check</a:t>
            </a:r>
          </a:p>
          <a:p xmlns:a="http://schemas.openxmlformats.org/drawingml/2006/main">
            <a:r>
              <a:t>https://hacarus.com/ja/technology/hacarus-check-series/</a:t>
            </a:r>
          </a:p>
          <a:p xmlns:a="http://schemas.openxmlformats.org/drawingml/2006/main">
            <a:r>
              <a:t>該当箇所:2026.04.06本文</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展示:メーカー製品説明。独立評価の精度ではない</a:t>
            </a:r>
          </a:p>
          <a:p xmlns:a="http://schemas.openxmlformats.org/drawingml/2006/main">
            <a:r>
              <a:t/>
            </a:r>
          </a:p>
          <a:p xmlns:a="http://schemas.openxmlformats.org/drawingml/2006/main">
            <a:r>
              <a:t>EDP-14 Check ZERO正式販売開始</a:t>
            </a:r>
          </a:p>
          <a:p xmlns:a="http://schemas.openxmlformats.org/drawingml/2006/main">
            <a:r>
              <a:t>https://hacarus.com/ja/press-release/20250707-news/</a:t>
            </a:r>
          </a:p>
          <a:p xmlns:a="http://schemas.openxmlformats.org/drawingml/2006/main">
            <a:r>
              <a:t>該当箇所:2025/7/9販売／良品学習とアノテーション追加学習／判定UI</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EDP-15 Checkシリーズ公式製品説明</a:t>
            </a:r>
          </a:p>
          <a:p xmlns:a="http://schemas.openxmlformats.org/drawingml/2006/main">
            <a:r>
              <a:t>https://check.hacarus.com/ja/</a:t>
            </a:r>
          </a:p>
          <a:p xmlns:a="http://schemas.openxmlformats.org/drawingml/2006/main">
            <a:r>
              <a:t>該当箇所:Check ZERO／デュアルチューニング／機器構成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ERF-05 Check ZERO公式ソフトウェア説明</a:t>
            </a:r>
          </a:p>
          <a:p xmlns:a="http://schemas.openxmlformats.org/drawingml/2006/main">
            <a:r>
              <a:t>https://check.hacarus.com/ja/aisoftware/</a:t>
            </a:r>
          </a:p>
          <a:p xmlns:a="http://schemas.openxmlformats.org/drawingml/2006/main">
            <a:r>
              <a:t>該当箇所:特徴／異常箇所表示・良否アノテーション追加学習</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EOV-V022-2024-1 JIMTOF2024公式カタログ：日東商事株式会社 (E5040)</a:t>
            </a:r>
          </a:p>
          <a:p xmlns:a="http://schemas.openxmlformats.org/drawingml/2006/main">
            <a:r>
              <a:t>https://www.jimtof.org/2024/search/jp/ESdetails?e=S23RMUbJOQs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EOV-V022-2026-1 JIMTOF2026公式カタログ：日東商事株式会社 (S1031)</a:t>
            </a:r>
          </a:p>
          <a:p xmlns:a="http://schemas.openxmlformats.org/drawingml/2006/main">
            <a:r>
              <a:t>https://www.jimtof.org/search/jp/ESdetails?e=GozGZRxlviw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EOV-V019-2024-1 JIMTOF2024公式カタログ：ブルーム-ノボテスト株式会社 (E7132)</a:t>
            </a:r>
          </a:p>
          <a:p xmlns:a="http://schemas.openxmlformats.org/drawingml/2006/main">
            <a:r>
              <a:t>https://www.jimtof.org/2024/search/jp/ESdetails?e=Zz8BlB0Ylio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EOV-V019-2026-1 JIMTOF2026公式カタログ：ブルーム-ノボテスト株式会社 (E7084)</a:t>
            </a:r>
          </a:p>
          <a:p xmlns:a="http://schemas.openxmlformats.org/drawingml/2006/main">
            <a:r>
              <a:t>https://www.jimtof.org/search/jp/ESdetails?e=_njqMb9vBpc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EOV-V024-2024-1 JIMTOF2024公式カタログ：モリマシナリー株式会社 (S3017)</a:t>
            </a:r>
          </a:p>
          <a:p xmlns:a="http://schemas.openxmlformats.org/drawingml/2006/main">
            <a:r>
              <a:t>https://www.jimtof.org/2024/search/jp/ESdetails?e=yEoPl5sH6Sg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EOV-V024-2026-1 JIMTOF2026公式カタログ：モリマシナリー株式会社 (S3048)</a:t>
            </a:r>
          </a:p>
          <a:p xmlns:a="http://schemas.openxmlformats.org/drawingml/2006/main">
            <a:r>
              <a:t>https://www.jimtof.org/search/jp/ESdetails?e=ZvT3Lci-hnM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EDP-12 TOOL SOMMELIER／TOOL COLLAGE</a:t>
            </a:r>
          </a:p>
          <a:p xmlns:a="http://schemas.openxmlformats.org/drawingml/2006/main">
            <a:r>
              <a:t>https://mori-machinery.com/en/product/tool-sommelier?post_id=1066</a:t>
            </a:r>
          </a:p>
          <a:p xmlns:a="http://schemas.openxmlformats.org/drawingml/2006/main">
            <a:r>
              <a:t>該当箇所:刃先撮像・欠け摩耗自動検出／FAQの工具・径制約</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EOV-V023-2024-1 JIMTOF2024公式カタログ：ハイデンハイン株式会社 (E7123)</a:t>
            </a:r>
          </a:p>
          <a:p xmlns:a="http://schemas.openxmlformats.org/drawingml/2006/main">
            <a:r>
              <a:t>https://www.jimtof.org/2024/search/jp/ESdetails?e=GFSwCXSxe9o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EOV-V023-2026-1 JIMTOF2026公式カタログ：ハイデンハイン株式会社 (E7043)</a:t>
            </a:r>
          </a:p>
          <a:p xmlns:a="http://schemas.openxmlformats.org/drawingml/2006/main">
            <a:r>
              <a:t>https://www.jimtof.org/search/jp/ESdetails?e=iohDR5yR9VA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EAT-V043-2024-1 JIMTOF2024公式カタログ：三菱電機株式会社</a:t>
            </a:r>
          </a:p>
          <a:p xmlns:a="http://schemas.openxmlformats.org/drawingml/2006/main">
            <a:r>
              <a:t>https://www.jimtof.org/2024/search/jp/ESdetails?e=30li0vWcseI</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展示:2024当時の説明・事後実演確認ではない</a:t>
            </a:r>
          </a:p>
          <a:p xmlns:a="http://schemas.openxmlformats.org/drawingml/2006/main">
            <a:r>
              <a:t/>
            </a:r>
          </a:p>
          <a:p xmlns:a="http://schemas.openxmlformats.org/drawingml/2006/main">
            <a:r>
              <a:t>EAT-V043-2026-1 JIMTOF2026公式カタログ：三菱電機株式会社</a:t>
            </a:r>
          </a:p>
          <a:p xmlns:a="http://schemas.openxmlformats.org/drawingml/2006/main">
            <a:r>
              <a:t>https://www.jimtof.org/search/jp/ESdetails?e=AjLnzm01WWU</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EOV-W08 工具の欠け・摩耗・寿命を推定するAI研究発表</a:t>
            </a:r>
          </a:p>
          <a:p xmlns:a="http://schemas.openxmlformats.org/drawingml/2006/main">
            <a:r>
              <a:t>https://mori-machinery.com/wp-content/uploads/2023/06/%E7%86%9F%E7%B7%B4%E8%80%85%E3%81%AE%E7%B5%8C%E9%A8%93%E7%9F%A5%E3%82%92%E3%82%82%E3%81%A8%E3%81%AB%E5%88%87%E5%89%8A%E5%B7%A5%E5%85%B7%E3%81%AE%E6%AC%A0%E3%81%91%E3%83%BB%E6%91%A9%E8%80%97%E3%83%BB%E5%AF%BF%E5%91%BD%E3%82%92%E6%8E%A8%E5%AE%9A%E3%81%99%E3%82%8BAI%E3%82%92%E9%96%8B%E7%99%BA.pdf</a:t>
            </a:r>
          </a:p>
          <a:p xmlns:a="http://schemas.openxmlformats.org/drawingml/2006/main">
            <a:r>
              <a:t>該当箇所:2023年6月2日、成果と今後の展望</a:t>
            </a:r>
          </a:p>
          <a:p xmlns:a="http://schemas.openxmlformats.org/drawingml/2006/main">
            <a:r>
              <a:t>確認:2026-10-16</a:t>
            </a:r>
          </a:p>
          <a:p xmlns:a="http://schemas.openxmlformats.org/drawingml/2006/main">
            <a:r>
              <a:t>種類:企業公式資料・メーカー主張</a:t>
            </a:r>
          </a:p>
          <a:p xmlns:a="http://schemas.openxmlformats.org/drawingml/2006/main">
            <a:r>
              <a:t>展示:公式検索の該当箇所で確認。研究段階の数値を商用性能に転用していない</a:t>
            </a:r>
          </a:p>
          <a:p xmlns:a="http://schemas.openxmlformats.org/drawingml/2006/main">
            <a:r>
              <a:t/>
            </a:r>
          </a:p>
          <a:p xmlns:a="http://schemas.openxmlformats.org/drawingml/2006/main">
            <a:r>
              <a:t>EOV-V042-2026-1 JIMTOF2026公式カタログ：興和オプトロニクス株式会社 (S3104)</a:t>
            </a:r>
          </a:p>
          <a:p xmlns:a="http://schemas.openxmlformats.org/drawingml/2006/main">
            <a:r>
              <a:t>https://www.jimtof.org/search/jp/ESdetails?e=v6nw4APC-vQ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EDP-33 RW回転機構付きビジョンユニット</a:t>
            </a:r>
          </a:p>
          <a:p xmlns:a="http://schemas.openxmlformats.org/drawingml/2006/main">
            <a:r>
              <a:t>https://optical.kowa-opt.co.jp/camera-rw/</a:t>
            </a:r>
          </a:p>
          <a:p xmlns:a="http://schemas.openxmlformats.org/drawingml/2006/main">
            <a:r>
              <a:t>該当箇所:ビジョンプロセッサ併用の不良ヒートマップ・切粉巻付きアラート・工具欠損検出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EOV-V020-2024-1 JIMTOF2024公式カタログ：マーポス株式会社 (E7107)</a:t>
            </a:r>
          </a:p>
          <a:p xmlns:a="http://schemas.openxmlformats.org/drawingml/2006/main">
            <a:r>
              <a:t>https://www.jimtof.org/2024/search/jp/ESdetails?e=K8FKaawJkn0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EOV-V020-2026-1 JIMTOF2026公式カタログ：マーポス株式会社 (E7087)</a:t>
            </a:r>
          </a:p>
          <a:p xmlns:a="http://schemas.openxmlformats.org/drawingml/2006/main">
            <a:r>
              <a:t>https://www.jimtof.org/search/jp/ESdetails?e=tThKOA-gm8s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EEX-EXH-2026-19ce238d137fe275 JIMTOF2026公式出展説明：Masterlink (E1050)</a:t>
            </a:r>
          </a:p>
          <a:p xmlns:a="http://schemas.openxmlformats.org/drawingml/2006/main">
            <a:r>
              <a:t>https://www.jimtof.org/search/jp/ESdetails?e=kygm0UxJL-M</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EEX-EXH-2024-a2fae1d1864676d1 JIMTOF2024公式出展説明：Masterlink (E7052)</a:t>
            </a:r>
          </a:p>
          <a:p xmlns:a="http://schemas.openxmlformats.org/drawingml/2006/main">
            <a:r>
              <a:t>https://www.jimtof.org/2024/search/jp/ESdetails?e=58-lhh4o9Oo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EEX-EXH-2026-308c5194f12fe009 JIMTOF2026公式出展説明：ムラテックＣＣＳ株式会社 (E3031)</a:t>
            </a:r>
          </a:p>
          <a:p xmlns:a="http://schemas.openxmlformats.org/drawingml/2006/main">
            <a:r>
              <a:t>https://www.jimtof.org/search/jp/ESdetails?e=Z_SbvK_hxBY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EEX-EXH-2024-b0a94c1cd407ea8a JIMTOF2024公式出展説明：ムラテックCCS株式会社 (E6019)</a:t>
            </a:r>
          </a:p>
          <a:p xmlns:a="http://schemas.openxmlformats.org/drawingml/2006/main">
            <a:r>
              <a:t>https://www.jimtof.org/2024/search/jp/ESdetails?e=2N7pXq5Aehs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EDP-13 AIを用いた故障診断</a:t>
            </a:r>
          </a:p>
          <a:p xmlns:a="http://schemas.openxmlformats.org/drawingml/2006/main">
            <a:r>
              <a:t>https://www.muratec.jp/company/ti/rd/detail.php?id=7540</a:t>
            </a:r>
          </a:p>
          <a:p xmlns:a="http://schemas.openxmlformats.org/drawingml/2006/main">
            <a:r>
              <a:t>該当箇所:電流・振動を新品データと比較／補正入力回数・軸負荷による劣化判定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RPT-EXH-2026-2c48cf1373cedc75 アズビルTACO株式会社 JIMTOF2026</a:t>
            </a:r>
          </a:p>
          <a:p xmlns:a="http://schemas.openxmlformats.org/drawingml/2006/main">
            <a:r>
              <a:t>https://www.jimtof.org/search/jp/ESdetails?e=x6DdroBnfSA</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RPT-EXH-2024-2caebd449015630d アズビル株式会社 JIMTOF2024</a:t>
            </a:r>
          </a:p>
          <a:p xmlns:a="http://schemas.openxmlformats.org/drawingml/2006/main">
            <a:r>
              <a:t>https://www.jimtof.org/2024/search/jp/ESdetails?e=7JiCTnsEx48</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EOV-V032-2024-1 JIMTOF2024公式カタログ：日本精工株式会社 (W2026)</a:t>
            </a:r>
          </a:p>
          <a:p xmlns:a="http://schemas.openxmlformats.org/drawingml/2006/main">
            <a:r>
              <a:t>https://www.jimtof.org/2024/search/jp/ESdetails?e=5maDHvHPff8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EOV-V032-2026-1 JIMTOF2026公式カタログ：日本精工株式会社 (W2048)</a:t>
            </a:r>
          </a:p>
          <a:p xmlns:a="http://schemas.openxmlformats.org/drawingml/2006/main">
            <a:r>
              <a:t>https://www.jimtof.org/search/jp/ESdetails?e=hzAGGAi5wL4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爪・工具の交換、ワーク供給、切粉除去を自動化し、品種が変わるたびに残る人手を減らす。</a:t>
            </a:r>
          </a:p>
          <a:p xmlns:a="http://schemas.openxmlformats.org/drawingml/2006/main">
            <a:r>
              <a:t>搬送だけを自動化しても、治具交換・再教示・切粉処理などの付帯作業に人が必要だと連続運転が続きにくい。</a:t>
            </a:r>
          </a:p>
          <a:p xmlns:a="http://schemas.openxmlformats.org/drawingml/2006/main">
            <a:r>
              <a:t/>
            </a:r>
          </a:p>
          <a:p xmlns:a="http://schemas.openxmlformats.org/drawingml/2006/main">
            <a:r>
              <a:t>爪・工具の交換、ロボット搬入出、カメラを使う小部品ピックは2024にも展示・紹介されている。</a:t>
            </a:r>
          </a:p>
          <a:p xmlns:a="http://schemas.openxmlformats.org/drawingml/2006/main">
            <a:r>
              <a:t>2026には切粉の状態を判断して除去する参考出品、不定形ワークの面取り軌道生成、既設機への後付けや移設後の復旧を具体化した展示が見られる。</a:t>
            </a:r>
          </a:p>
          <a:p xmlns:a="http://schemas.openxmlformats.org/drawingml/2006/main">
            <a:r>
              <a:t/>
            </a:r>
          </a:p>
          <a:p xmlns:a="http://schemas.openxmlformats.org/drawingml/2006/main">
            <a:r>
              <a:t>機械・工具・周辺機構と認識を組み合わせ、対象作業を限定したまま品種変化への再教示を減らす方向が現実的な開発候補になる。</a:t>
            </a:r>
          </a:p>
          <a:p xmlns:a="http://schemas.openxmlformats.org/drawingml/2006/main">
            <a:r>
              <a:t/>
            </a:r>
          </a:p>
          <a:p xmlns:a="http://schemas.openxmlformats.org/drawingml/2006/main">
            <a:r>
              <a:t>切粉処理やバリ取り等に絞った作業特化フィジカルAIを候補とし、認識・加工動作・完了判断までを一つの仕事として開発する。</a:t>
            </a:r>
          </a:p>
          <a:p xmlns:a="http://schemas.openxmlformats.org/drawingml/2006/main">
            <a:r>
              <a:t>変化の読み方[分析]:自動化の対象がワークを運ぶ仕事から、段取り替えや変動する付帯作業にも広がっている。機構による解決と認識・AIによる解決が並存する。</a:t>
            </a:r>
          </a:p>
          <a:p xmlns:a="http://schemas.openxmlformats.org/drawingml/2006/main">
            <a:r>
              <a:t/>
            </a:r>
          </a:p>
          <a:p xmlns:a="http://schemas.openxmlformats.org/drawingml/2006/main">
            <a:r>
              <a:t>爪・治具・ハンドと位置の段取り</a:t>
            </a:r>
          </a:p>
          <a:p xmlns:a="http://schemas.openxmlformats.org/drawingml/2006/main">
            <a:r>
              <a:t>B10-1 松本機械工業株式会社 / Smart Terrace Adv／爪・CAPTO工具の交換 / W2070</a:t>
            </a:r>
          </a:p>
          <a:p xmlns:a="http://schemas.openxmlformats.org/drawingml/2006/main">
            <a:r>
              <a:t>対象:爪・工具等を交換して段取りを変える</a:t>
            </a:r>
          </a:p>
          <a:p xmlns:a="http://schemas.openxmlformats.org/drawingml/2006/main">
            <a:r>
              <a:t>公式要約:Smart Terrace Advは爪等の交換。寸法入力から動作を設定。</a:t>
            </a:r>
          </a:p>
          <a:p xmlns:a="http://schemas.openxmlformats.org/drawingml/2006/main">
            <a:r>
              <a:t>年度:CAPTO等の交換は2024初披露済み。2026はAdv構成等に注目。</a:t>
            </a:r>
          </a:p>
          <a:p xmlns:a="http://schemas.openxmlformats.org/drawingml/2006/main">
            <a:r>
              <a:t>人・未確認:人が寸法入力。初期プログラムはメーカーが組込み。</a:t>
            </a:r>
          </a:p>
          <a:p xmlns:a="http://schemas.openxmlformats.org/drawingml/2006/main">
            <a:r>
              <a:t>Evidence:EEX-EXH-2026-0daa587f8abf6076,EEX-EXH-2024-1dc10e3b594ed9d8,EDP-26,EDP-27,EDP-28</a:t>
            </a:r>
          </a:p>
          <a:p xmlns:a="http://schemas.openxmlformats.org/drawingml/2006/main">
            <a:r>
              <a:t/>
            </a:r>
          </a:p>
          <a:p xmlns:a="http://schemas.openxmlformats.org/drawingml/2006/main">
            <a:r>
              <a:t>B10-2 イマオコーポレーション / ナットランナー治具 / W2001</a:t>
            </a:r>
          </a:p>
          <a:p xmlns:a="http://schemas.openxmlformats.org/drawingml/2006/main">
            <a:r>
              <a:t>対象:加工前にワークを治具へ固定する</a:t>
            </a:r>
          </a:p>
          <a:p xmlns:a="http://schemas.openxmlformats.org/drawingml/2006/main">
            <a:r>
              <a:t>公式要約:ナットランナーとメカ機構でワークを締結する治具。</a:t>
            </a:r>
          </a:p>
          <a:p xmlns:a="http://schemas.openxmlformats.org/drawingml/2006/main">
            <a:r>
              <a:t>年度:2024も具体治具あり。2026は種類追加を記載。</a:t>
            </a:r>
          </a:p>
          <a:p xmlns:a="http://schemas.openxmlformats.org/drawingml/2006/main">
            <a:r>
              <a:t>人・未確認:人が治具・フック等を設計選定。着座・締結異常の扱いは未確認。</a:t>
            </a:r>
          </a:p>
          <a:p xmlns:a="http://schemas.openxmlformats.org/drawingml/2006/main">
            <a:r>
              <a:t>Evidence:EOV-V025-2024-1,EOV-V025-2026-1,EDP-30,EDP-32</a:t>
            </a:r>
          </a:p>
          <a:p xmlns:a="http://schemas.openxmlformats.org/drawingml/2006/main">
            <a:r>
              <a:t/>
            </a:r>
          </a:p>
          <a:p xmlns:a="http://schemas.openxmlformats.org/drawingml/2006/main">
            <a:r>
              <a:t>B10-3 中村留精密工業 / RoboSync：移設後の位置復旧 / E2027</a:t>
            </a:r>
          </a:p>
          <a:p xmlns:a="http://schemas.openxmlformats.org/drawingml/2006/main">
            <a:r>
              <a:t>対象:移設したロボットの位置を復旧する</a:t>
            </a:r>
          </a:p>
          <a:p xmlns:a="http://schemas.openxmlformats.org/drawingml/2006/main">
            <a:r>
              <a:t>公式要約:RoboSyncは移設後にマーカーを読み相対位置を補正。</a:t>
            </a:r>
          </a:p>
          <a:p xmlns:a="http://schemas.openxmlformats.org/drawingml/2006/main">
            <a:r>
              <a:t>年度:2026は位置復旧を具体説明。同一機能の2024版は未確認。</a:t>
            </a:r>
          </a:p>
          <a:p xmlns:a="http://schemas.openxmlformats.org/drawingml/2006/main">
            <a:r>
              <a:t>人・未確認:人の移設・復旧操作を含む。未知トラブルの自律復帰とは別。</a:t>
            </a:r>
          </a:p>
          <a:p xmlns:a="http://schemas.openxmlformats.org/drawingml/2006/main">
            <a:r>
              <a:t>Evidence:EOV-V029-2024-1,EOV-V029-2026-1,EOV-W04</a:t>
            </a:r>
          </a:p>
          <a:p xmlns:a="http://schemas.openxmlformats.org/drawingml/2006/main">
            <a:r>
              <a:t/>
            </a:r>
          </a:p>
          <a:p xmlns:a="http://schemas.openxmlformats.org/drawingml/2006/main">
            <a:r>
              <a:t>B10-4 共立精機株式会社 / 全自動計測システム　HP-6040V-FA / W2025</a:t>
            </a:r>
          </a:p>
          <a:p xmlns:a="http://schemas.openxmlformats.org/drawingml/2006/main">
            <a:r>
              <a:t>対象:工具を測定・調整し、交換する段取り</a:t>
            </a:r>
          </a:p>
          <a:p xmlns:a="http://schemas.openxmlformats.org/drawingml/2006/main">
            <a:r>
              <a:t>公式要約:工具の交換、突き出し量調整、刃先測定を連続自動化し、インサート交換装置も展示。</a:t>
            </a:r>
          </a:p>
          <a:p xmlns:a="http://schemas.openxmlformats.org/drawingml/2006/main">
            <a:r>
              <a:t>年度:HP-6040V-FAによる工具段取り自動化は2024にも記載。2026は交換工程等を具体説明。</a:t>
            </a:r>
          </a:p>
          <a:p xmlns:a="http://schemas.openxmlformats.org/drawingml/2006/main">
            <a:r>
              <a:t>人・未確認:工具・チップの補給や品種設定、不良時の復旧は要確認。</a:t>
            </a:r>
          </a:p>
          <a:p xmlns:a="http://schemas.openxmlformats.org/drawingml/2006/main">
            <a:r>
              <a:t>Evidence:EEX-EXH-2026-1c8938d47b63e4bb,EEX-EXH-2024-3a9bfb48fcb6542c</a:t>
            </a:r>
          </a:p>
          <a:p xmlns:a="http://schemas.openxmlformats.org/drawingml/2006/main">
            <a:r>
              <a:t/>
            </a:r>
          </a:p>
          <a:p xmlns:a="http://schemas.openxmlformats.org/drawingml/2006/main">
            <a:r>
              <a:t>ワーク・パレット・切粉の搬送</a:t>
            </a:r>
          </a:p>
          <a:p xmlns:a="http://schemas.openxmlformats.org/drawingml/2006/main">
            <a:r>
              <a:t>B11-1 DMG森精機 / MATRIS WPH 210 / E8005</a:t>
            </a:r>
          </a:p>
          <a:p xmlns:a="http://schemas.openxmlformats.org/drawingml/2006/main">
            <a:r>
              <a:t>対象:ワークとパレットを加工機へ供給する</a:t>
            </a:r>
          </a:p>
          <a:p xmlns:a="http://schemas.openxmlformats.org/drawingml/2006/main">
            <a:r>
              <a:t>公式要約:MATRIS WPH 210がワークとパレット両方を供給。</a:t>
            </a:r>
          </a:p>
          <a:p xmlns:a="http://schemas.openxmlformats.org/drawingml/2006/main">
            <a:r>
              <a:t>年度:2024のPH Cell等に対しWPH 210を日本初公開と記載。</a:t>
            </a:r>
          </a:p>
          <a:p xmlns:a="http://schemas.openxmlformats.org/drawingml/2006/main">
            <a:r>
              <a:t>人・未確認:把持・治具・品種切替の事前準備と異常対応は未確認。</a:t>
            </a:r>
          </a:p>
          <a:p xmlns:a="http://schemas.openxmlformats.org/drawingml/2006/main">
            <a:r>
              <a:t>Evidence:EOV-V001-2024-1,EOV-V001-2026-1</a:t>
            </a:r>
          </a:p>
          <a:p xmlns:a="http://schemas.openxmlformats.org/drawingml/2006/main">
            <a:r>
              <a:t/>
            </a:r>
          </a:p>
          <a:p xmlns:a="http://schemas.openxmlformats.org/drawingml/2006/main">
            <a:r>
              <a:t>B11-2 オークマ / ARMROID／OMR20 / E3028</a:t>
            </a:r>
          </a:p>
          <a:p xmlns:a="http://schemas.openxmlformats.org/drawingml/2006/main">
            <a:r>
              <a:t>対象:加工機へのワーク搬入出を自動化する</a:t>
            </a:r>
          </a:p>
          <a:p xmlns:a="http://schemas.openxmlformats.org/drawingml/2006/main">
            <a:r>
              <a:t>公式要約:ARMROID機内ロボット、OMR20等で工作機械の自動化を構成。</a:t>
            </a:r>
          </a:p>
          <a:p xmlns:a="http://schemas.openxmlformats.org/drawingml/2006/main">
            <a:r>
              <a:t>年度:ARMROID・OMR20は2024にも掲載。2026も継続。</a:t>
            </a:r>
          </a:p>
          <a:p xmlns:a="http://schemas.openxmlformats.org/drawingml/2006/main">
            <a:r>
              <a:t>人・未確認:手動との切替と品種変更の介入範囲は未確認。</a:t>
            </a:r>
          </a:p>
          <a:p xmlns:a="http://schemas.openxmlformats.org/drawingml/2006/main">
            <a:r>
              <a:t>Evidence:EOV-V003-2024-1,EOV-V003-2026-1</a:t>
            </a:r>
          </a:p>
          <a:p xmlns:a="http://schemas.openxmlformats.org/drawingml/2006/main">
            <a:r>
              <a:t/>
            </a:r>
          </a:p>
          <a:p xmlns:a="http://schemas.openxmlformats.org/drawingml/2006/main">
            <a:r>
              <a:t>B11-3 株式会社白山機工 / AMRによる切り屑自動回収 / E2007</a:t>
            </a:r>
          </a:p>
          <a:p xmlns:a="http://schemas.openxmlformats.org/drawingml/2006/main">
            <a:r>
              <a:t>対象:加工機から出る切粉容器を回収する</a:t>
            </a:r>
          </a:p>
          <a:p xmlns:a="http://schemas.openxmlformats.org/drawingml/2006/main">
            <a:r>
              <a:t>公式要約:AMRで切粉容器を回収。実演と模型を併記。</a:t>
            </a:r>
          </a:p>
          <a:p xmlns:a="http://schemas.openxmlformats.org/drawingml/2006/main">
            <a:r>
              <a:t>年度:2024のろ過・集中処理から、2026はAMR回収を追加記載。</a:t>
            </a:r>
          </a:p>
          <a:p xmlns:a="http://schemas.openxmlformats.org/drawingml/2006/main">
            <a:r>
              <a:t>人・未確認:満杯・こぼれ・ドッキング失敗・容器交換の対応は未確認。</a:t>
            </a:r>
          </a:p>
          <a:p xmlns:a="http://schemas.openxmlformats.org/drawingml/2006/main">
            <a:r>
              <a:t>Evidence:EEX-EXH-2026-d8a50e23a9101b11,EEX-EXH-2024-89cb7807f64be75b,EDP-29</a:t>
            </a:r>
          </a:p>
          <a:p xmlns:a="http://schemas.openxmlformats.org/drawingml/2006/main">
            <a:r>
              <a:t/>
            </a:r>
          </a:p>
          <a:p xmlns:a="http://schemas.openxmlformats.org/drawingml/2006/main">
            <a:r>
              <a:t>認識を伴うピック・付帯加工・除去</a:t>
            </a:r>
          </a:p>
          <a:p xmlns:a="http://schemas.openxmlformats.org/drawingml/2006/main">
            <a:r>
              <a:t>B12-1 TAKISAWA / TR-20W：主軸の切粉除去 / E3013</a:t>
            </a:r>
          </a:p>
          <a:p xmlns:a="http://schemas.openxmlformats.org/drawingml/2006/main">
            <a:r>
              <a:t>対象:主軸に絡まった切粉を取り除く</a:t>
            </a:r>
          </a:p>
          <a:p xmlns:a="http://schemas.openxmlformats.org/drawingml/2006/main">
            <a:r>
              <a:t>公式要約:TAKISAWAは切粉の絡まりを判断し主軸の切粉を除去する参考出品。</a:t>
            </a:r>
          </a:p>
          <a:p xmlns:a="http://schemas.openxmlformats.org/drawingml/2006/main">
            <a:r>
              <a:t>年度:2024 TR-20Wは搬入出。2026は切粉除去を追加記載。</a:t>
            </a:r>
          </a:p>
          <a:p xmlns:a="http://schemas.openxmlformats.org/drawingml/2006/main">
            <a:r>
              <a:t>人・未確認:許可動作、除去失敗の検出・再試行・人への引継ぎは未確認。</a:t>
            </a:r>
          </a:p>
          <a:p xmlns:a="http://schemas.openxmlformats.org/drawingml/2006/main">
            <a:r>
              <a:t>Evidence:EOV-V030-2024-1,EOV-V030-2026-1,EAT-N01,EAT-N02,ERF-13</a:t>
            </a:r>
          </a:p>
          <a:p xmlns:a="http://schemas.openxmlformats.org/drawingml/2006/main">
            <a:r>
              <a:t/>
            </a:r>
          </a:p>
          <a:p xmlns:a="http://schemas.openxmlformats.org/drawingml/2006/main">
            <a:r>
              <a:t>B12-2 カネテック株式会社 / マグネットピンセット：AI・2Dカメラ・協働ロボット / W2013</a:t>
            </a:r>
          </a:p>
          <a:p xmlns:a="http://schemas.openxmlformats.org/drawingml/2006/main">
            <a:r>
              <a:t>対象:ばら積みの小径ねじ・小部品を拾う</a:t>
            </a:r>
          </a:p>
          <a:p xmlns:a="http://schemas.openxmlformats.org/drawingml/2006/main">
            <a:r>
              <a:t>公式要約:カメラ・協働ロボット・磁気ピンセットで小径ねじ等をピック。</a:t>
            </a:r>
          </a:p>
          <a:p xmlns:a="http://schemas.openxmlformats.org/drawingml/2006/main">
            <a:r>
              <a:t>年度:同種構成は2024あり。2026はAIを明記、性能増分は不明。</a:t>
            </a:r>
          </a:p>
          <a:p xmlns:a="http://schemas.openxmlformats.org/drawingml/2006/main">
            <a:r>
              <a:t>人・未確認:複数個吸着・空振り等の処理、AI担当の詳細は未公開。</a:t>
            </a:r>
          </a:p>
          <a:p xmlns:a="http://schemas.openxmlformats.org/drawingml/2006/main">
            <a:r>
              <a:t>Evidence:EEX-EXH-2026-30b70a74241de123,EEX-EXH-2024-45415d070f47dc6e,EDP-01</a:t>
            </a:r>
          </a:p>
          <a:p xmlns:a="http://schemas.openxmlformats.org/drawingml/2006/main">
            <a:r>
              <a:t/>
            </a:r>
          </a:p>
          <a:p xmlns:a="http://schemas.openxmlformats.org/drawingml/2006/main">
            <a:r>
              <a:t>B12-3 東京エレクトロンデバイス株式会社 / 3D形状認識・教示不要の面取り／皿もみ / E7073</a:t>
            </a:r>
          </a:p>
          <a:p xmlns:a="http://schemas.openxmlformats.org/drawingml/2006/main">
            <a:r>
              <a:t>対象:不定形ワークの面取り・皿もみを行う</a:t>
            </a:r>
          </a:p>
          <a:p xmlns:a="http://schemas.openxmlformats.org/drawingml/2006/main">
            <a:r>
              <a:t>公式要約:3Dスキャンから不定形ワークを認識し面取り等の軌道を生成。</a:t>
            </a:r>
          </a:p>
          <a:p xmlns:a="http://schemas.openxmlformats.org/drawingml/2006/main">
            <a:r>
              <a:t>年度:2024同名比較不能。2026の具体タスクは確認。</a:t>
            </a:r>
          </a:p>
          <a:p xmlns:a="http://schemas.openxmlformats.org/drawingml/2006/main">
            <a:r>
              <a:t>人・未確認:加工条件設定、干渉確認、誤認識時の停止・品質承認は未公開。</a:t>
            </a:r>
          </a:p>
          <a:p xmlns:a="http://schemas.openxmlformats.org/drawingml/2006/main">
            <a:r>
              <a:t>Evidence:EEX-EXH-2026-8c08de1ffed47316,EEX-WTED</a:t>
            </a:r>
          </a:p>
          <a:p xmlns:a="http://schemas.openxmlformats.org/drawingml/2006/main">
            <a:r>
              <a:t/>
            </a:r>
          </a:p>
          <a:p xmlns:a="http://schemas.openxmlformats.org/drawingml/2006/main">
            <a:r>
              <a:t>B12-4 株式会社ジーベックテクノロジー / XEBEC CPS オートホルダー / WA006</a:t>
            </a:r>
          </a:p>
          <a:p xmlns:a="http://schemas.openxmlformats.org/drawingml/2006/main">
            <a:r>
              <a:t>対象:バリ取り中のブラシ摩耗を補う</a:t>
            </a:r>
          </a:p>
          <a:p xmlns:a="http://schemas.openxmlformats.org/drawingml/2006/main">
            <a:r>
              <a:t>公式要約:ブラシ摩耗に応じて突出し量を自動調整するホルダーを、ロボットのギヤバリ取りに組み合わせる。</a:t>
            </a:r>
          </a:p>
          <a:p xmlns:a="http://schemas.openxmlformats.org/drawingml/2006/main">
            <a:r>
              <a:t>年度:2024はバリ取り自動化工具を紹介。2026は摩耗に伴う人の調整を減らす構成を具体記載。</a:t>
            </a:r>
          </a:p>
          <a:p xmlns:a="http://schemas.openxmlformats.org/drawingml/2006/main">
            <a:r>
              <a:t>人・未確認:加工条件・ブラシ選定と、不良時の調整は要確認。</a:t>
            </a:r>
          </a:p>
          <a:p xmlns:a="http://schemas.openxmlformats.org/drawingml/2006/main">
            <a:r>
              <a:t>Evidence:EEX-EXH-2026-ba283a239e52d644,EEX-EXH-2024-1632c66ef4d28e78</a:t>
            </a:r>
          </a:p>
          <a:p xmlns:a="http://schemas.openxmlformats.org/drawingml/2006/main">
            <a:r>
              <a:t/>
            </a:r>
          </a:p>
          <a:p xmlns:a="http://schemas.openxmlformats.org/drawingml/2006/main">
            <a:r>
              <a:t>展示段階と自律化の境界</a:t>
            </a:r>
          </a:p>
          <a:p xmlns:a="http://schemas.openxmlformats.org/drawingml/2006/main">
            <a:r>
              <a:t>B17-1 ファナック / 生成AIによるロボット駆動 / S2001</a:t>
            </a:r>
          </a:p>
          <a:p xmlns:a="http://schemas.openxmlformats.org/drawingml/2006/main">
            <a:r>
              <a:t>対象:指示からロボットを動かす（具体作業未公表）</a:t>
            </a:r>
          </a:p>
          <a:p xmlns:a="http://schemas.openxmlformats.org/drawingml/2006/main">
            <a:r>
              <a:t>公式要約:ファナックは生成AIによるロボット駆動事例を展示予定。</a:t>
            </a:r>
          </a:p>
          <a:p xmlns:a="http://schemas.openxmlformats.org/drawingml/2006/main">
            <a:r>
              <a:t>年度:2024はAIバラ積み等。2026は生成AI駆動を追加記載。</a:t>
            </a:r>
          </a:p>
          <a:p xmlns:a="http://schemas.openxmlformats.org/drawingml/2006/main">
            <a:r>
              <a:t>人・未確認:機体・対象タスク・教示・停止・承認の具体範囲は未確認。</a:t>
            </a:r>
          </a:p>
          <a:p xmlns:a="http://schemas.openxmlformats.org/drawingml/2006/main">
            <a:r>
              <a:t>Evidence:EOV-V002-2024-1,EOV-V002-2026-1</a:t>
            </a:r>
          </a:p>
          <a:p xmlns:a="http://schemas.openxmlformats.org/drawingml/2006/main">
            <a:r>
              <a:t/>
            </a:r>
          </a:p>
          <a:p xmlns:a="http://schemas.openxmlformats.org/drawingml/2006/main">
            <a:r>
              <a:t>B17-2 東京貿易テクノシステム / RBY Series 双腕移動ヒューマノイド / E7038</a:t>
            </a:r>
          </a:p>
          <a:p xmlns:a="http://schemas.openxmlformats.org/drawingml/2006/main">
            <a:r>
              <a:t>対象:双腕人型ロボットを遠隔操作・教示する</a:t>
            </a:r>
          </a:p>
          <a:p xmlns:a="http://schemas.openxmlformats.org/drawingml/2006/main">
            <a:r>
              <a:t>公式要約:RBY双腕移動ヒューマノイドはテレオペと作業教示の参考出展。</a:t>
            </a:r>
          </a:p>
          <a:p xmlns:a="http://schemas.openxmlformats.org/drawingml/2006/main">
            <a:r>
              <a:t>年度:2024の個別差は未照合。</a:t>
            </a:r>
          </a:p>
          <a:p xmlns:a="http://schemas.openxmlformats.org/drawingml/2006/main">
            <a:r>
              <a:t>人・未確認:人が遠隔操作・教示。自律作業の範囲は未確認。</a:t>
            </a:r>
          </a:p>
          <a:p xmlns:a="http://schemas.openxmlformats.org/drawingml/2006/main">
            <a:r>
              <a:t>Evidence:RPT-EXH-2026-d7b599b5d3045611,RPT-EXH-2024-5cbad6b0326d2bee</a:t>
            </a:r>
          </a:p>
          <a:p xmlns:a="http://schemas.openxmlformats.org/drawingml/2006/main">
            <a:r>
              <a:t/>
            </a:r>
          </a:p>
          <a:p xmlns:a="http://schemas.openxmlformats.org/drawingml/2006/main">
            <a:r>
              <a:t>B17-3 神崎高級工機 / FD100 ギヤチェッカー / E1071</a:t>
            </a:r>
          </a:p>
          <a:p xmlns:a="http://schemas.openxmlformats.org/drawingml/2006/main">
            <a:r>
              <a:t>対象:歯車の加工前状態を測り段取りを助ける</a:t>
            </a:r>
          </a:p>
          <a:p xmlns:a="http://schemas.openxmlformats.org/drawingml/2006/main">
            <a:r>
              <a:t>公式要約:FD100に歯合わせ・前加工計測。計測による条件最適化は開発中。</a:t>
            </a:r>
          </a:p>
          <a:p xmlns:a="http://schemas.openxmlformats.org/drawingml/2006/main">
            <a:r>
              <a:t>年度:2024の構造改善等に対し段取りを具体化。開発中を実用済みとしない。</a:t>
            </a:r>
          </a:p>
          <a:p xmlns:a="http://schemas.openxmlformats.org/drawingml/2006/main">
            <a:r>
              <a:t>人・未確認:最適化方式と人の承認、自動反映範囲は未公表。</a:t>
            </a:r>
          </a:p>
          <a:p xmlns:a="http://schemas.openxmlformats.org/drawingml/2006/main">
            <a:r>
              <a:t>Evidence:RPT-EXH-2026-91aa8dd094a4a7b2,RPT-EXH-2024-50a402f6bcce2ab8</a:t>
            </a:r>
          </a:p>
          <a:p xmlns:a="http://schemas.openxmlformats.org/drawingml/2006/main">
            <a:r>
              <a:t/>
            </a:r>
          </a:p>
          <a:p xmlns:a="http://schemas.openxmlformats.org/drawingml/2006/main">
            <a:r>
              <a:t>原典</a:t>
            </a:r>
          </a:p>
          <a:p xmlns:a="http://schemas.openxmlformats.org/drawingml/2006/main">
            <a:r>
              <a:t>EEX-EXH-2026-0daa587f8abf6076 JIMTOF2026公式出展説明：松本機械工業株式会社 (W2070)</a:t>
            </a:r>
          </a:p>
          <a:p xmlns:a="http://schemas.openxmlformats.org/drawingml/2006/main">
            <a:r>
              <a:t>https://www.jimtof.org/search/jp/ESdetails?e=bhpEIIjKNb4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EEX-EXH-2024-1dc10e3b594ed9d8 JIMTOF2024公式出展説明：松本機械工業株式会社 (W2055)</a:t>
            </a:r>
          </a:p>
          <a:p xmlns:a="http://schemas.openxmlformats.org/drawingml/2006/main">
            <a:r>
              <a:t>https://www.jimtof.org/2024/search/jp/ESdetails?e=1cGhqW04Qes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EDP-26 Smart Terrace Adv</a:t>
            </a:r>
          </a:p>
          <a:p xmlns:a="http://schemas.openxmlformats.org/drawingml/2006/main">
            <a:r>
              <a:t>https://mmkchuck.com/product/7218/</a:t>
            </a:r>
          </a:p>
          <a:p xmlns:a="http://schemas.openxmlformats.org/drawingml/2006/main">
            <a:r>
              <a:t>該当箇所:7つの革新／寸法パラメータ入力・出荷時組込プログラム／レトロフィット</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EDP-27 JIMTOF2024出展報告</a:t>
            </a:r>
          </a:p>
          <a:p xmlns:a="http://schemas.openxmlformats.org/drawingml/2006/main">
            <a:r>
              <a:t>https://mmkchuck.com/news/2024/5903/</a:t>
            </a:r>
          </a:p>
          <a:p xmlns:a="http://schemas.openxmlformats.org/drawingml/2006/main">
            <a:r>
              <a:t>該当箇所:爪・ケレ・計測／展示会初披露のCAPTO・MAC</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EDP-28 Smart Terrace関連資料公開</a:t>
            </a:r>
          </a:p>
          <a:p xmlns:a="http://schemas.openxmlformats.org/drawingml/2006/main">
            <a:r>
              <a:t>https://mmkchuck.com/news/2026/7380/</a:t>
            </a:r>
          </a:p>
          <a:p xmlns:a="http://schemas.openxmlformats.org/drawingml/2006/main">
            <a:r>
              <a:t>該当箇所:Advハード単体・ストッカー単体販売への対応</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EOV-V025-2024-1 JIMTOF2024公式カタログ：株式会社イマオコーポレーション (W2002)</a:t>
            </a:r>
          </a:p>
          <a:p xmlns:a="http://schemas.openxmlformats.org/drawingml/2006/main">
            <a:r>
              <a:t>https://www.jimtof.org/2024/search/jp/ESdetails?e=MTYTZ2Km3zM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EOV-V025-2026-1 JIMTOF2026公式カタログ：株式会社イマオコーポレーション (W2001)</a:t>
            </a:r>
          </a:p>
          <a:p xmlns:a="http://schemas.openxmlformats.org/drawingml/2006/main">
            <a:r>
              <a:t>https://www.jimtof.org/search/jp/ESdetails?e=shuDpJLDn-A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EDP-30 ナットランナー治具</a:t>
            </a:r>
          </a:p>
          <a:p xmlns:a="http://schemas.openxmlformats.org/drawingml/2006/main">
            <a:r>
              <a:t>https://www.imao.co.jp/products/nutrunnerclamp.html</a:t>
            </a:r>
          </a:p>
          <a:p xmlns:a="http://schemas.openxmlformats.org/drawingml/2006/main">
            <a:r>
              <a:t>該当箇所:ロボットのナットランナーでクランプ／配管配線不要／手動も可能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EDP-32 JIMTOF2024出展パンフレット</a:t>
            </a:r>
          </a:p>
          <a:p xmlns:a="http://schemas.openxmlformats.org/drawingml/2006/main">
            <a:r>
              <a:t>https://www.imao.co.jp/event-20241105-1110-jimtof/jimtof.pdf</a:t>
            </a:r>
          </a:p>
          <a:p xmlns:a="http://schemas.openxmlformats.org/drawingml/2006/main">
            <a:r>
              <a:t>該当箇所:ナットランナー治具各型式／人でもロボットでも操作可能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EOV-V029-2024-1 JIMTOF2024公式カタログ：中村留精密工業株式会社 (E5033)</a:t>
            </a:r>
          </a:p>
          <a:p xmlns:a="http://schemas.openxmlformats.org/drawingml/2006/main">
            <a:r>
              <a:t>https://www.jimtof.org/2024/search/jp/ESdetails?e=RYK326OoMn4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EOV-V029-2026-1 JIMTOF2026公式カタログ：中村留精密工業株式会社 (E2027)</a:t>
            </a:r>
          </a:p>
          <a:p xmlns:a="http://schemas.openxmlformats.org/drawingml/2006/main">
            <a:r>
              <a:t>https://www.jimtof.org/search/jp/ESdetails?e=C7A_2ZTDXNw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EOV-W04 RoboSync</a:t>
            </a:r>
          </a:p>
          <a:p xmlns:a="http://schemas.openxmlformats.org/drawingml/2006/main">
            <a:r>
              <a:t>https://www.nakamura-tome.co.jp/products/automation/robosync/</a:t>
            </a:r>
          </a:p>
          <a:p xmlns:a="http://schemas.openxmlformats.org/drawingml/2006/main">
            <a:r>
              <a:t>該当箇所:製品の特長 &gt; 簡単復旧、簡単操作</a:t>
            </a:r>
          </a:p>
          <a:p xmlns:a="http://schemas.openxmlformats.org/drawingml/2006/main">
            <a:r>
              <a:t>確認:2026-10-16</a:t>
            </a:r>
          </a:p>
          <a:p xmlns:a="http://schemas.openxmlformats.org/drawingml/2006/main">
            <a:r>
              <a:t>種類:企業公式資料・メーカー主張</a:t>
            </a:r>
          </a:p>
          <a:p xmlns:a="http://schemas.openxmlformats.org/drawingml/2006/main">
            <a:r>
              <a:t>展示:自律的な未知例外復帰の証明ではない</a:t>
            </a:r>
          </a:p>
          <a:p xmlns:a="http://schemas.openxmlformats.org/drawingml/2006/main">
            <a:r>
              <a:t/>
            </a:r>
          </a:p>
          <a:p xmlns:a="http://schemas.openxmlformats.org/drawingml/2006/main">
            <a:r>
              <a:t>EEX-EXH-2026-1c8938d47b63e4bb JIMTOF2026公式出展説明：共立精機株式会社 (W2025)</a:t>
            </a:r>
          </a:p>
          <a:p xmlns:a="http://schemas.openxmlformats.org/drawingml/2006/main">
            <a:r>
              <a:t>https://www.jimtof.org/search/jp/ESdetails?e=9k7ro8sL0VA</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EEX-EXH-2024-3a9bfb48fcb6542c JIMTOF2024公式出展説明：共立精機株式会社 (W2037)</a:t>
            </a:r>
          </a:p>
          <a:p xmlns:a="http://schemas.openxmlformats.org/drawingml/2006/main">
            <a:r>
              <a:t>https://www.jimtof.org/2024/search/jp/ESdetails?e=xT1gIvXxCpQ</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EOV-V001-2024-1 JIMTOF2024公式カタログ：DMG森精機株式会社 (E8001)</a:t>
            </a:r>
          </a:p>
          <a:p xmlns:a="http://schemas.openxmlformats.org/drawingml/2006/main">
            <a:r>
              <a:t>https://www.jimtof.org/2024/search/jp/ESdetails?e=lOXEEpvlXpM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EOV-V001-2026-1 JIMTOF2026公式カタログ：DMG森精機株式会社 (E8005)</a:t>
            </a:r>
          </a:p>
          <a:p xmlns:a="http://schemas.openxmlformats.org/drawingml/2006/main">
            <a:r>
              <a:t>https://www.jimtof.org/search/jp/ESdetails?e=zcqDj1lSkGs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EEX-EXH-2026-d8a50e23a9101b11 JIMTOF2026公式出展説明：株式会社白山機工 (E2007)</a:t>
            </a:r>
          </a:p>
          <a:p xmlns:a="http://schemas.openxmlformats.org/drawingml/2006/main">
            <a:r>
              <a:t>https://www.jimtof.org/search/jp/ESdetails?e=FNFR7REQOl4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EEX-EXH-2024-89cb7807f64be75b JIMTOF2024公式出展説明：株式会社白山機工 (E4038)</a:t>
            </a:r>
          </a:p>
          <a:p xmlns:a="http://schemas.openxmlformats.org/drawingml/2006/main">
            <a:r>
              <a:t>https://www.jimtof.org/2024/search/jp/ESdetails?e=krDglZoYKFc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EDP-29 JIMTOF2026出展告知</a:t>
            </a:r>
          </a:p>
          <a:p xmlns:a="http://schemas.openxmlformats.org/drawingml/2006/main">
            <a:r>
              <a:t>https://www.hakusankiko.co.jp/news/event/8837/</a:t>
            </a:r>
          </a:p>
          <a:p xmlns:a="http://schemas.openxmlformats.org/drawingml/2006/main">
            <a:r>
              <a:t>該当箇所:AMR切り屑回収システムを実演・模型で紹介</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EOV-V030-2024-1 JIMTOF2024公式カタログ：株式会社TAKISAWA (E3013)</a:t>
            </a:r>
          </a:p>
          <a:p xmlns:a="http://schemas.openxmlformats.org/drawingml/2006/main">
            <a:r>
              <a:t>https://www.jimtof.org/2024/search/jp/ESdetails?e=K00DRD-BngA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EOV-V030-2026-1 JIMTOF2026公式カタログ：株式会社TAKISAWA (E3013)</a:t>
            </a:r>
          </a:p>
          <a:p xmlns:a="http://schemas.openxmlformats.org/drawingml/2006/main">
            <a:r>
              <a:t>https://www.jimtof.org/search/jp/ESdetails?e=3dTDRAMwZpM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EAT-N01 JIMTOF2026 TR-20W</a:t>
            </a:r>
          </a:p>
          <a:p xmlns:a="http://schemas.openxmlformats.org/drawingml/2006/main">
            <a:r>
              <a:t>https://www.nidec.com/jp/products/machine-tools/contents/machine-tool-jimtof2026/</a:t>
            </a:r>
          </a:p>
          <a:p xmlns:a="http://schemas.openxmlformats.org/drawingml/2006/main">
            <a:r>
              <a:t>該当箇所:TR-20W：フィジカルAI搭載のロボットシステム（参考出品）</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展示:2026展示予定・参考出品</a:t>
            </a:r>
          </a:p>
          <a:p xmlns:a="http://schemas.openxmlformats.org/drawingml/2006/main">
            <a:r>
              <a:t/>
            </a:r>
          </a:p>
          <a:p xmlns:a="http://schemas.openxmlformats.org/drawingml/2006/main">
            <a:r>
              <a:t>EAT-N02 MGC300開発発表</a:t>
            </a:r>
          </a:p>
          <a:p xmlns:a="http://schemas.openxmlformats.org/drawingml/2006/main">
            <a:r>
              <a:t>https://www.nidec.com/jp/product/news/2024/news1101-03/</a:t>
            </a:r>
          </a:p>
          <a:p xmlns:a="http://schemas.openxmlformats.org/drawingml/2006/main">
            <a:r>
              <a:t>該当箇所:2024年11月1日／MGC300の出展説明</a:t>
            </a:r>
          </a:p>
          <a:p xmlns:a="http://schemas.openxmlformats.org/drawingml/2006/main">
            <a:r>
              <a:t>確認:2026-10-16</a:t>
            </a:r>
          </a:p>
          <a:p xmlns:a="http://schemas.openxmlformats.org/drawingml/2006/main">
            <a:r>
              <a:t>種類:企業公式説明・メーカー主張</a:t>
            </a:r>
          </a:p>
          <a:p xmlns:a="http://schemas.openxmlformats.org/drawingml/2006/main">
            <a:r>
              <a:t>展示:2024当時の予定説明</a:t>
            </a:r>
          </a:p>
          <a:p xmlns:a="http://schemas.openxmlformats.org/drawingml/2006/main">
            <a:r>
              <a:t/>
            </a:r>
          </a:p>
          <a:p xmlns:a="http://schemas.openxmlformats.org/drawingml/2006/main">
            <a:r>
              <a:t>ERF-13 JIMTOF2026：TR-20W参考出品</a:t>
            </a:r>
          </a:p>
          <a:p xmlns:a="http://schemas.openxmlformats.org/drawingml/2006/main">
            <a:r>
              <a:t>https://www.nidec.com/jp/products/machine-tools/contents/machine-tool-jimtof2026/</a:t>
            </a:r>
          </a:p>
          <a:p xmlns:a="http://schemas.openxmlformats.org/drawingml/2006/main">
            <a:r>
              <a:t>該当箇所:TAKISAWA／TR-20W、主軸の切粉認識・判断・除去、参考出品</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EEX-EXH-2026-30b70a74241de123 JIMTOF2026公式出展説明：カネテック株式会社 (W2013)</a:t>
            </a:r>
          </a:p>
          <a:p xmlns:a="http://schemas.openxmlformats.org/drawingml/2006/main">
            <a:r>
              <a:t>https://www.jimtof.org/search/jp/ESdetails?e=ekM3exgIAtc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EEX-EXH-2024-45415d070f47dc6e JIMTOF2024公式出展説明：カネテック株式会社 (W2030)</a:t>
            </a:r>
          </a:p>
          <a:p xmlns:a="http://schemas.openxmlformats.org/drawingml/2006/main">
            <a:r>
              <a:t>https://www.jimtof.org/2024/search/jp/ESdetails?e=ot0Fx36wI0g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EDP-01 MagnetPinset</a:t>
            </a:r>
          </a:p>
          <a:p xmlns:a="http://schemas.openxmlformats.org/drawingml/2006/main">
            <a:r>
              <a:t>https://kanetec.co.jp/lp/MagnetPinset%40LP.html</a:t>
            </a:r>
          </a:p>
          <a:p xmlns:a="http://schemas.openxmlformats.org/drawingml/2006/main">
            <a:r>
              <a:t>該当箇所:小径ネジの課題／JIMTOF2024出展／ネジ整列器</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EEX-EXH-2026-8c08de1ffed47316 JIMTOF2026公式出展説明：東京エレクトロンデバイス株式会社 (E7073)</a:t>
            </a:r>
          </a:p>
          <a:p xmlns:a="http://schemas.openxmlformats.org/drawingml/2006/main">
            <a:r>
              <a:t>https://www.jimtof.org/search/jp/ESdetails?e=c4cChQniAm8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EEX-WTED 企業公式の展示告知</a:t>
            </a:r>
          </a:p>
          <a:p xmlns:a="http://schemas.openxmlformats.org/drawingml/2006/main">
            <a:r>
              <a:t>https://www.inrevium.com/news-event/event/p7331/</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t>
            </a:r>
          </a:p>
          <a:p xmlns:a="http://schemas.openxmlformats.org/drawingml/2006/main">
            <a:r>
              <a:t/>
            </a:r>
          </a:p>
          <a:p xmlns:a="http://schemas.openxmlformats.org/drawingml/2006/main">
            <a:r>
              <a:t>EEX-EXH-2026-ba283a239e52d644 JIMTOF2026公式出展説明：株式会社ジーベックテクノロジー (WA006)</a:t>
            </a:r>
          </a:p>
          <a:p xmlns:a="http://schemas.openxmlformats.org/drawingml/2006/main">
            <a:r>
              <a:t>https://www.jimtof.org/search/jp/ESdetails?e=jbu03Ik4s00</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EEX-EXH-2024-1632c66ef4d28e78 JIMTOF2024公式出展説明：株式会社ジーベックテクノロジー (WA007)</a:t>
            </a:r>
          </a:p>
          <a:p xmlns:a="http://schemas.openxmlformats.org/drawingml/2006/main">
            <a:r>
              <a:t>https://www.jimtof.org/2024/search/jp/ESdetails?e=mnvwVRInyM8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RPT-EXH-2026-d7b599b5d3045611 東京貿易テクノシステム株式会社 JIMTOF2026</a:t>
            </a:r>
          </a:p>
          <a:p xmlns:a="http://schemas.openxmlformats.org/drawingml/2006/main">
            <a:r>
              <a:t>https://www.jimtof.org/search/jp/ESdetails?e=q65eJorv2LU</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RPT-EXH-2024-5cbad6b0326d2bee 東京貿易テクノシステム株式会社 JIMTOF2024</a:t>
            </a:r>
          </a:p>
          <a:p xmlns:a="http://schemas.openxmlformats.org/drawingml/2006/main">
            <a:r>
              <a:t>https://www.jimtof.org/2024/search/jp/ESdetails?e=RD73EqDannI</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RPT-EXH-2026-91aa8dd094a4a7b2 株式会社神崎高級工機製作所 JIMTOF2026</a:t>
            </a:r>
          </a:p>
          <a:p xmlns:a="http://schemas.openxmlformats.org/drawingml/2006/main">
            <a:r>
              <a:t>https://www.jimtof.org/search/jp/ESdetails?e=bpuT_4Xpv_c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RPT-EXH-2024-50a402f6bcce2ab8 株式会社神崎高級工機製作所 JIMTOF2024</a:t>
            </a:r>
          </a:p>
          <a:p xmlns:a="http://schemas.openxmlformats.org/drawingml/2006/main">
            <a:r>
              <a:t>https://www.jimtof.org/2024/search/jp/ESdetails?e=C7Uh8Jc1Y2s</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設備・工具・進捗情報を集め、予定変更やトラブル時に人が調べて判断する負担を減らす。</a:t>
            </a:r>
          </a:p>
          <a:p xmlns:a="http://schemas.openxmlformats.org/drawingml/2006/main">
            <a:r>
              <a:t>機械・生産管理・工具管理の情報が分かれ、遅れや停止のたびに人が状況を集め直す必要がある。</a:t>
            </a:r>
          </a:p>
          <a:p xmlns:a="http://schemas.openxmlformats.org/drawingml/2006/main">
            <a:r>
              <a:t/>
            </a:r>
          </a:p>
          <a:p xmlns:a="http://schemas.openxmlformats.org/drawingml/2006/main">
            <a:r>
              <a:t>工具・CAM・在庫の連携、設備データの収集・対話AIなどは2024にも説明されている。</a:t>
            </a:r>
          </a:p>
          <a:p xmlns:a="http://schemas.openxmlformats.org/drawingml/2006/main">
            <a:r>
              <a:t>2026には、機械データを参照する保守エージェントや、予測・設備・搬送を組み合わせた展示が具体化。人が遠隔で例外へ対処する運用も見られる。</a:t>
            </a:r>
          </a:p>
          <a:p xmlns:a="http://schemas.openxmlformats.org/drawingml/2006/main">
            <a:r>
              <a:t/>
            </a:r>
          </a:p>
          <a:p xmlns:a="http://schemas.openxmlformats.org/drawingml/2006/main">
            <a:r>
              <a:t>工程の遅れ・工具不足・設備停止を同じ状況として捉え、代替案と担当作業を提示する工場運用支援へ広げる余地がある。</a:t>
            </a:r>
          </a:p>
          <a:p xmlns:a="http://schemas.openxmlformats.org/drawingml/2006/main">
            <a:r>
              <a:t/>
            </a:r>
          </a:p>
          <a:p xmlns:a="http://schemas.openxmlformats.org/drawingml/2006/main">
            <a:r>
              <a:t>まず工具不足や設備停止など一つの業務を選び、状態把握から代替案・作業指示までをつなぐ現場エージェントを候補とする。</a:t>
            </a:r>
          </a:p>
          <a:p xmlns:a="http://schemas.openxmlformats.org/drawingml/2006/main">
            <a:r>
              <a:t>変化の読み方[分析]:見える化・記録に加え、集めた情報から何をするかを提案し、担当者や設備の作業へつなごうとする方向が読み取れる。</a:t>
            </a:r>
          </a:p>
          <a:p xmlns:a="http://schemas.openxmlformats.org/drawingml/2006/main">
            <a:r>
              <a:t/>
            </a:r>
          </a:p>
          <a:p xmlns:a="http://schemas.openxmlformats.org/drawingml/2006/main">
            <a:r>
              <a:t>現場エージェント・遠隔介入</a:t>
            </a:r>
          </a:p>
          <a:p xmlns:a="http://schemas.openxmlformats.org/drawingml/2006/main">
            <a:r>
              <a:t>B13-1 ベッコフオートメーション / TwinCAT CoAgent for Operations / E2028</a:t>
            </a:r>
          </a:p>
          <a:p xmlns:a="http://schemas.openxmlformats.org/drawingml/2006/main">
            <a:r>
              <a:t>対象:機械のアラーム原因と対処方法を調べる</a:t>
            </a:r>
          </a:p>
          <a:p xmlns:a="http://schemas.openxmlformats.org/drawingml/2006/main">
            <a:r>
              <a:t>公式要約:Operationsは機械データと文書から原因仮説・対処案を作る。</a:t>
            </a:r>
          </a:p>
          <a:p xmlns:a="http://schemas.openxmlformats.org/drawingml/2006/main">
            <a:r>
              <a:t>年度:2024比較不能。製品発表・投入時期要問合せ。</a:t>
            </a:r>
          </a:p>
          <a:p xmlns:a="http://schemas.openxmlformats.org/drawingml/2006/main">
            <a:r>
              <a:t>人・未確認:専門家が制御権保持。毎回承認・書込権限・失敗復帰は未公開。</a:t>
            </a:r>
          </a:p>
          <a:p xmlns:a="http://schemas.openxmlformats.org/drawingml/2006/main">
            <a:r>
              <a:t>Evidence:EOV-V005-2026-1,EAT-N04,EAT-N05,EDP-03,ERF-02</a:t>
            </a:r>
          </a:p>
          <a:p xmlns:a="http://schemas.openxmlformats.org/drawingml/2006/main">
            <a:r>
              <a:t/>
            </a:r>
          </a:p>
          <a:p xmlns:a="http://schemas.openxmlformats.org/drawingml/2006/main">
            <a:r>
              <a:t>B13-2 ソフィックス / SOFIXCAN Fleeter＋AI Forecast：ミニ工場 / E1067</a:t>
            </a:r>
          </a:p>
          <a:p xmlns:a="http://schemas.openxmlformats.org/drawingml/2006/main">
            <a:r>
              <a:t>対象:設備・搬送を連携し予測を活用する</a:t>
            </a:r>
          </a:p>
          <a:p xmlns:a="http://schemas.openxmlformats.org/drawingml/2006/main">
            <a:r>
              <a:t>公式要約:AI Forecastの予測とFleeterの機器連携をミニ工場で紹介。</a:t>
            </a:r>
          </a:p>
          <a:p xmlns:a="http://schemas.openxmlformats.org/drawingml/2006/main">
            <a:r>
              <a:t>年度:Fleeterミニ工場は2025にも予告済み。2026初とはしない。</a:t>
            </a:r>
          </a:p>
          <a:p xmlns:a="http://schemas.openxmlformats.org/drawingml/2006/main">
            <a:r>
              <a:t>人・未確認:予測から指令への権限、通信・搬送失敗時の復帰は未公開。</a:t>
            </a:r>
          </a:p>
          <a:p xmlns:a="http://schemas.openxmlformats.org/drawingml/2006/main">
            <a:r>
              <a:t>Evidence:EOV-V015-2024-1,EOV-V015-2026-1,EDP-21,EDP-22,EDP-23</a:t>
            </a:r>
          </a:p>
          <a:p xmlns:a="http://schemas.openxmlformats.org/drawingml/2006/main">
            <a:r>
              <a:t/>
            </a:r>
          </a:p>
          <a:p xmlns:a="http://schemas.openxmlformats.org/drawingml/2006/main">
            <a:r>
              <a:t>B13-3 パナソニックプロダクションエンジニアリング / X-Area Remote / W3086</a:t>
            </a:r>
          </a:p>
          <a:p xmlns:a="http://schemas.openxmlformats.org/drawingml/2006/main">
            <a:r>
              <a:t>対象:停止した搬送車を人が遠隔で復帰させる</a:t>
            </a:r>
          </a:p>
          <a:p xmlns:a="http://schemas.openxmlformats.org/drawingml/2006/main">
            <a:r>
              <a:t>公式要約:X-Area Remote実証では停止車両を人が遠隔操作して回避。</a:t>
            </a:r>
          </a:p>
          <a:p xmlns:a="http://schemas.openxmlformats.org/drawingml/2006/main">
            <a:r>
              <a:t>年度:2026/7実証で人の担当を具体確認。2024個別比較不能。</a:t>
            </a:r>
          </a:p>
          <a:p xmlns:a="http://schemas.openxmlformats.org/drawingml/2006/main">
            <a:r>
              <a:t>人・未確認:運行担当者が介入。実証はセーフティドライバー搭乗。</a:t>
            </a:r>
          </a:p>
          <a:p xmlns:a="http://schemas.openxmlformats.org/drawingml/2006/main">
            <a:r>
              <a:t>Evidence:EOV-V016-2026-1,EOV-W05,EOV-W09,EDP-24</a:t>
            </a:r>
          </a:p>
          <a:p xmlns:a="http://schemas.openxmlformats.org/drawingml/2006/main">
            <a:r>
              <a:t/>
            </a:r>
          </a:p>
          <a:p xmlns:a="http://schemas.openxmlformats.org/drawingml/2006/main">
            <a:r>
              <a:t>工場データ・計画・資源の連携</a:t>
            </a:r>
          </a:p>
          <a:p xmlns:a="http://schemas.openxmlformats.org/drawingml/2006/main">
            <a:r>
              <a:t>B14-1 WinTool AG / WinTool：工具情報と現物・工程資源の連携 / E1049</a:t>
            </a:r>
          </a:p>
          <a:p xmlns:a="http://schemas.openxmlformats.org/drawingml/2006/main">
            <a:r>
              <a:t>対象:工具情報・所在・在庫を工程と結ぶ</a:t>
            </a:r>
          </a:p>
          <a:p xmlns:a="http://schemas.openxmlformats.org/drawingml/2006/main">
            <a:r>
              <a:t>公式要約:WinToolは工具情報と工程資源を連携。在庫ルールで購買要求。</a:t>
            </a:r>
          </a:p>
          <a:p xmlns:a="http://schemas.openxmlformats.org/drawingml/2006/main">
            <a:r>
              <a:t>年度:工具・CAM・在庫連携は2024から継続。2026は資源の一貫性を強調。</a:t>
            </a:r>
          </a:p>
          <a:p xmlns:a="http://schemas.openxmlformats.org/drawingml/2006/main">
            <a:r>
              <a:t>人・未確認:管理者承認後ERPへ送信。AIによる自律発注とは記載なし。</a:t>
            </a:r>
          </a:p>
          <a:p xmlns:a="http://schemas.openxmlformats.org/drawingml/2006/main">
            <a:r>
              <a:t>Evidence:EEX-EXH-2026-4fb92ba6b82546d7,EEX-EXH-2024-3f1fa1966a57e011,EDP-18,EDP-19</a:t>
            </a:r>
          </a:p>
          <a:p xmlns:a="http://schemas.openxmlformats.org/drawingml/2006/main">
            <a:r>
              <a:t/>
            </a:r>
          </a:p>
          <a:p xmlns:a="http://schemas.openxmlformats.org/drawingml/2006/main">
            <a:r>
              <a:t>B14-2 Smart Craft / Smart Craft MES / S3002</a:t>
            </a:r>
          </a:p>
          <a:p xmlns:a="http://schemas.openxmlformats.org/drawingml/2006/main">
            <a:r>
              <a:t>対象:作業記録・指示・製造履歴を管理する</a:t>
            </a:r>
          </a:p>
          <a:p xmlns:a="http://schemas.openxmlformats.org/drawingml/2006/main">
            <a:r>
              <a:t>公式要約:Smart Craft MESは記録・指示・履歴を一元管理しAPI連携。</a:t>
            </a:r>
          </a:p>
          <a:p xmlns:a="http://schemas.openxmlformats.org/drawingml/2006/main">
            <a:r>
              <a:t>年度:2024個別比較不能。</a:t>
            </a:r>
          </a:p>
          <a:p xmlns:a="http://schemas.openxmlformats.org/drawingml/2006/main">
            <a:r>
              <a:t>人・未確認:AI分析の内容や判断権限、入力作業の残りは未確認。</a:t>
            </a:r>
          </a:p>
          <a:p xmlns:a="http://schemas.openxmlformats.org/drawingml/2006/main">
            <a:r>
              <a:t>Evidence:EOV-V013-2026-1</a:t>
            </a:r>
          </a:p>
          <a:p xmlns:a="http://schemas.openxmlformats.org/drawingml/2006/main">
            <a:r>
              <a:t/>
            </a:r>
          </a:p>
          <a:p xmlns:a="http://schemas.openxmlformats.org/drawingml/2006/main">
            <a:r>
              <a:t>B14-3 ものレボ / MonoRevo：工程計画・スケジューリング / W3042</a:t>
            </a:r>
          </a:p>
          <a:p xmlns:a="http://schemas.openxmlformats.org/drawingml/2006/main">
            <a:r>
              <a:t>対象:工程の順番と生産予定を組む</a:t>
            </a:r>
          </a:p>
          <a:p xmlns:a="http://schemas.openxmlformats.org/drawingml/2006/main">
            <a:r>
              <a:t>公式要約:MonoRevoは工程設計・計画・進捗をまとめ自動計画を支援。</a:t>
            </a:r>
          </a:p>
          <a:p xmlns:a="http://schemas.openxmlformats.org/drawingml/2006/main">
            <a:r>
              <a:t>年度:2024個別比較不能。2026は自動スケジューリングを記載。</a:t>
            </a:r>
          </a:p>
          <a:p xmlns:a="http://schemas.openxmlformats.org/drawingml/2006/main">
            <a:r>
              <a:t>人・未確認:計画制約・再計画確定者・例外対応は未確認。</a:t>
            </a:r>
          </a:p>
          <a:p xmlns:a="http://schemas.openxmlformats.org/drawingml/2006/main">
            <a:r>
              <a:t>Evidence:EOV-V014-2026-1</a:t>
            </a:r>
          </a:p>
          <a:p xmlns:a="http://schemas.openxmlformats.org/drawingml/2006/main">
            <a:r>
              <a:t/>
            </a:r>
          </a:p>
          <a:p xmlns:a="http://schemas.openxmlformats.org/drawingml/2006/main">
            <a:r>
              <a:t>原典</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EAT-N04 CoAgent for Operations TF1700</a:t>
            </a:r>
          </a:p>
          <a:p xmlns:a="http://schemas.openxmlformats.org/drawingml/2006/main">
            <a:r>
              <a:t>https://www.beckhoff.com/ko-kr/products/automation/twincat/tfxxxx-twincat-3-functions/tf1xxx-system/tf1700.html</a:t>
            </a:r>
          </a:p>
          <a:p xmlns:a="http://schemas.openxmlformats.org/drawingml/2006/main">
            <a:r>
              <a:t>該当箇所:Properties／Product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ERF-02 TF1700 CoAgent for Operations</a:t>
            </a:r>
          </a:p>
          <a:p xmlns:a="http://schemas.openxmlformats.org/drawingml/2006/main">
            <a:r>
              <a:t>https://www.beckhoff.com/en-en/products/automation/twincat/tfxxxx-twincat-3-functions/tf1xxx-system/tf1700.html</a:t>
            </a:r>
          </a:p>
          <a:p xmlns:a="http://schemas.openxmlformats.org/drawingml/2006/main">
            <a:r>
              <a:t>該当箇所:Properties／direct system access；Product status／market release on request</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EOV-V015-2024-1 JIMTOF2024公式カタログ：株式会社ソフィックス (E4046)</a:t>
            </a:r>
          </a:p>
          <a:p xmlns:a="http://schemas.openxmlformats.org/drawingml/2006/main">
            <a:r>
              <a:t>https://www.jimtof.org/2024/search/jp/ESdetails?e=WNiUW-E-atY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EOV-V015-2026-1 JIMTOF2026公式カタログ：株式会社ソフィックス (E1067)</a:t>
            </a:r>
          </a:p>
          <a:p xmlns:a="http://schemas.openxmlformats.org/drawingml/2006/main">
            <a:r>
              <a:t>https://www.jimtof.org/search/jp/ESdetails?e=rYRhOM0muPQ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EDP-21 SOFIXCAN AI Forecast</a:t>
            </a:r>
          </a:p>
          <a:p xmlns:a="http://schemas.openxmlformats.org/drawingml/2006/main">
            <a:r>
              <a:t>https://www.sofix.co.jp/products/sofixcan_ai_forecast/</a:t>
            </a:r>
          </a:p>
          <a:p xmlns:a="http://schemas.openxmlformats.org/drawingml/2006/main">
            <a:r>
              <a:t>該当箇所:時系列データ予測／形状領域予測／顧客別予測システム開発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EDP-22 SOFIXCAN Fleeter</a:t>
            </a:r>
          </a:p>
          <a:p xmlns:a="http://schemas.openxmlformats.org/drawingml/2006/main">
            <a:r>
              <a:t>https://www.sofix.co.jp/products/sofixcan_fleeter/</a:t>
            </a:r>
          </a:p>
          <a:p xmlns:a="http://schemas.openxmlformats.org/drawingml/2006/main">
            <a:r>
              <a:t>該当箇所:上位システム命令をトリガーに各機器を制御／通信モジュール追加</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EDP-23 JIMTOF2026告知とミニ工場の過去告知</a:t>
            </a:r>
          </a:p>
          <a:p xmlns:a="http://schemas.openxmlformats.org/drawingml/2006/main">
            <a:r>
              <a:t>https://www.sofix.co.jp/</a:t>
            </a:r>
          </a:p>
          <a:p xmlns:a="http://schemas.openxmlformats.org/drawingml/2006/main">
            <a:r>
              <a:t>該当箇所:2026/9/29告知／2025/11/4国際ロボット展でもミニ工場を予告</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EOV-V016-2026-1 JIMTOF2026公式カタログ：パナソニックプロダクションエンジニアリング株式会社 (W3086)</a:t>
            </a:r>
          </a:p>
          <a:p xmlns:a="http://schemas.openxmlformats.org/drawingml/2006/main">
            <a:r>
              <a:t>https://www.jimtof.org/search/jp/ESdetails?e=5mrMofo3nN8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EOV-W05 X-Area</a:t>
            </a:r>
          </a:p>
          <a:p xmlns:a="http://schemas.openxmlformats.org/drawingml/2006/main">
            <a:r>
              <a:t>https://www.panasonic.com/jp/company/ppe/products/x-area.html</a:t>
            </a:r>
          </a:p>
          <a:p xmlns:a="http://schemas.openxmlformats.org/drawingml/2006/main">
            <a:r>
              <a:t>該当箇所:サービス概要、システム構成</a:t>
            </a:r>
          </a:p>
          <a:p xmlns:a="http://schemas.openxmlformats.org/drawingml/2006/main">
            <a:r>
              <a:t>確認:2026-10-16</a:t>
            </a:r>
          </a:p>
          <a:p xmlns:a="http://schemas.openxmlformats.org/drawingml/2006/main">
            <a:r>
              <a:t>種類:企業公式資料・メーカー主張</a:t>
            </a:r>
          </a:p>
          <a:p xmlns:a="http://schemas.openxmlformats.org/drawingml/2006/main">
            <a:r>
              <a:t>展示:人の介入を含む運用方式。無人運用・同時台数の保証ではない</a:t>
            </a:r>
          </a:p>
          <a:p xmlns:a="http://schemas.openxmlformats.org/drawingml/2006/main">
            <a:r>
              <a:t/>
            </a:r>
          </a:p>
          <a:p xmlns:a="http://schemas.openxmlformats.org/drawingml/2006/main">
            <a:r>
              <a:t>EOV-W09 工場敷地内でのX-Area Remote実証</a:t>
            </a:r>
          </a:p>
          <a:p xmlns:a="http://schemas.openxmlformats.org/drawingml/2006/main">
            <a:r>
              <a:t>https://tech.panasonic.com/jp/td/news/20221124.html</a:t>
            </a:r>
          </a:p>
          <a:p xmlns:a="http://schemas.openxmlformats.org/drawingml/2006/main">
            <a:r>
              <a:t>該当箇所:2022/11/24 NEWS &amp; TOPICS</a:t>
            </a:r>
          </a:p>
          <a:p xmlns:a="http://schemas.openxmlformats.org/drawingml/2006/main">
            <a:r>
              <a:t>確認:2026-10-16</a:t>
            </a:r>
          </a:p>
          <a:p xmlns:a="http://schemas.openxmlformats.org/drawingml/2006/main">
            <a:r>
              <a:t>種類:企業公式資料・メーカー主張</a:t>
            </a:r>
          </a:p>
          <a:p xmlns:a="http://schemas.openxmlformats.org/drawingml/2006/main">
            <a:r>
              <a:t>展示:2024出展比較はできないが、2026に初めて遠隔管制が生まれたという解釈を否定する根拠</a:t>
            </a:r>
          </a:p>
          <a:p xmlns:a="http://schemas.openxmlformats.org/drawingml/2006/main">
            <a:r>
              <a:t/>
            </a:r>
          </a:p>
          <a:p xmlns:a="http://schemas.openxmlformats.org/drawingml/2006/main">
            <a:r>
              <a:t>EDP-24 屋外自動搬送とX-Area Remoteの実証</a:t>
            </a:r>
          </a:p>
          <a:p xmlns:a="http://schemas.openxmlformats.org/drawingml/2006/main">
            <a:r>
              <a:t>https://news.panasonic.com/jp/press/jn260713-1</a:t>
            </a:r>
          </a:p>
          <a:p xmlns:a="http://schemas.openxmlformats.org/drawingml/2006/main">
            <a:r>
              <a:t>該当箇所:障害物停止時に自動運転から人の遠隔操作へ切替／担当者とセーフティドライバー</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EEX-EXH-2026-4fb92ba6b82546d7 JIMTOF2026公式出展説明：WinTool AG (E1049)</a:t>
            </a:r>
          </a:p>
          <a:p xmlns:a="http://schemas.openxmlformats.org/drawingml/2006/main">
            <a:r>
              <a:t>https://www.jimtof.org/search/jp/ESdetails?e=sSFZV23clJo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EEX-EXH-2024-3f1fa1966a57e011 JIMTOF2024公式出展説明：WinTool AG (E5003)</a:t>
            </a:r>
          </a:p>
          <a:p xmlns:a="http://schemas.openxmlformats.org/drawingml/2006/main">
            <a:r>
              <a:t>https://www.jimtof.org/2024/search/jp/ESdetails?e=-n22F1d_CDc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EDP-18 ERP Integration</a:t>
            </a:r>
          </a:p>
          <a:p xmlns:a="http://schemas.openxmlformats.org/drawingml/2006/main">
            <a:r>
              <a:t>https://www.wintool.com/en/tool-management-software/cnc-inventory-manager/erp-integration</a:t>
            </a:r>
          </a:p>
          <a:p xmlns:a="http://schemas.openxmlformats.org/drawingml/2006/main">
            <a:r>
              <a:t>該当箇所:最低在庫で購買要求を生成し、管理者承認後にERPへ自動送信</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EDP-19 CNC Process Manager</a:t>
            </a:r>
          </a:p>
          <a:p xmlns:a="http://schemas.openxmlformats.org/drawingml/2006/main">
            <a:r>
              <a:t>https://www.wintool.com/software/cnc-prozessverwaltung</a:t>
            </a:r>
          </a:p>
          <a:p xmlns:a="http://schemas.openxmlformats.org/drawingml/2006/main">
            <a:r>
              <a:t>該当箇所:工具積卸リスト・在庫確認・プリセッター指示・NCと測定値の転送</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EOV-V013-2026-1 JIMTOF2026公式カタログ：株式会社Smart Craft (S3002)</a:t>
            </a:r>
          </a:p>
          <a:p xmlns:a="http://schemas.openxmlformats.org/drawingml/2006/main">
            <a:r>
              <a:t>https://www.jimtof.org/search/jp/ESdetails?e=WqjRB6DEqN0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学習データと設備情報、仮想モデルを整え、AIを作る・つなぐ・試す準備を減らす。</a:t>
            </a:r>
          </a:p>
          <a:p xmlns:a="http://schemas.openxmlformats.org/drawingml/2006/main">
            <a:r>
              <a:t>AIが使うデータの意味や形式が揃わず、学習・機器接続・実機での試行に個別の作業が必要になる。</a:t>
            </a:r>
          </a:p>
          <a:p xmlns:a="http://schemas.openxmlformats.org/drawingml/2006/main">
            <a:r>
              <a:t/>
            </a:r>
          </a:p>
          <a:p xmlns:a="http://schemas.openxmlformats.org/drawingml/2006/main">
            <a:r>
              <a:t>学習支援・モデル出力、機器接続、加工デジタルツインは2024以前にも存在する。</a:t>
            </a:r>
          </a:p>
          <a:p xmlns:a="http://schemas.openxmlformats.org/drawingml/2006/main">
            <a:r>
              <a:t>2026は、機器情報をエージェントへ渡す用途や、CADに物理属性を加えてロボット学習・検証へ使う用途が具体化している。</a:t>
            </a:r>
          </a:p>
          <a:p xmlns:a="http://schemas.openxmlformats.org/drawingml/2006/main">
            <a:r>
              <a:t/>
            </a:r>
          </a:p>
          <a:p xmlns:a="http://schemas.openxmlformats.org/drawingml/2006/main">
            <a:r>
              <a:t>データ基盤は独立した汎用システムの開発より、生産準備・加工・ロボット等の用途に結び付けて必要性を判断する。</a:t>
            </a:r>
          </a:p>
          <a:p xmlns:a="http://schemas.openxmlformats.org/drawingml/2006/main">
            <a:r>
              <a:t/>
            </a:r>
          </a:p>
          <a:p xmlns:a="http://schemas.openxmlformats.org/drawingml/2006/main">
            <a:r>
              <a:t>データ接続や仮想検証は各開発テーマに共通する基盤として取り込み、実機での効果に結び付く範囲を先に整える。</a:t>
            </a:r>
          </a:p>
          <a:p xmlns:a="http://schemas.openxmlformats.org/drawingml/2006/main">
            <a:r>
              <a:t>変化の読み方[分析]:データを保管・可視化するだけでなく、AIの判断・物理動作の学習へ使うための意味とモデルを整える役割が明確になっている。</a:t>
            </a:r>
          </a:p>
          <a:p xmlns:a="http://schemas.openxmlformats.org/drawingml/2006/main">
            <a:r>
              <a:t/>
            </a:r>
          </a:p>
          <a:p xmlns:a="http://schemas.openxmlformats.org/drawingml/2006/main">
            <a:r>
              <a:t>AIモデル作成・機器接続の基盤</a:t>
            </a:r>
          </a:p>
          <a:p xmlns:a="http://schemas.openxmlformats.org/drawingml/2006/main">
            <a:r>
              <a:t>B15-1 ベッコフオートメーション / TwinCAT Machine Learning Creator / E2028</a:t>
            </a:r>
          </a:p>
          <a:p xmlns:a="http://schemas.openxmlformats.org/drawingml/2006/main">
            <a:r>
              <a:t>対象:現場データから判定モデルを作る</a:t>
            </a:r>
          </a:p>
          <a:p xmlns:a="http://schemas.openxmlformats.org/drawingml/2006/main">
            <a:r>
              <a:t>公式要約:ML Creatorは学習・モデル選択を自動化し、解析とONNX出力を支援。</a:t>
            </a:r>
          </a:p>
          <a:p xmlns:a="http://schemas.openxmlformats.org/drawingml/2006/main">
            <a:r>
              <a:t>年度:データ分割・ONNX統合は2024公式資料にも記載。</a:t>
            </a:r>
          </a:p>
          <a:p xmlns:a="http://schemas.openxmlformats.org/drawingml/2006/main">
            <a:r>
              <a:t>人・未確認:人がデータ・注釈・目的を準備。実機採用基準は要確認。</a:t>
            </a:r>
          </a:p>
          <a:p xmlns:a="http://schemas.openxmlformats.org/drawingml/2006/main">
            <a:r>
              <a:t>Evidence:EOV-V005-2026-1,EOV-W01,EDP-04</a:t>
            </a:r>
          </a:p>
          <a:p xmlns:a="http://schemas.openxmlformats.org/drawingml/2006/main">
            <a:r>
              <a:t/>
            </a:r>
          </a:p>
          <a:p xmlns:a="http://schemas.openxmlformats.org/drawingml/2006/main">
            <a:r>
              <a:t>B15-2 たけびし / OPC UA情報モデルとエージェント連携 / S3015</a:t>
            </a:r>
          </a:p>
          <a:p xmlns:a="http://schemas.openxmlformats.org/drawingml/2006/main">
            <a:r>
              <a:t>対象:設備データをAIが扱える形で渡す</a:t>
            </a:r>
          </a:p>
          <a:p xmlns:a="http://schemas.openxmlformats.org/drawingml/2006/main">
            <a:r>
              <a:t>公式要約:OPC UA情報モデルで機器情報をエージェントへ連携する構想。</a:t>
            </a:r>
          </a:p>
          <a:p xmlns:a="http://schemas.openxmlformats.org/drawingml/2006/main">
            <a:r>
              <a:t>年度:2024は多ベンダー接続。2026はAI連携シナリオを追加。</a:t>
            </a:r>
          </a:p>
          <a:p xmlns:a="http://schemas.openxmlformats.org/drawingml/2006/main">
            <a:r>
              <a:t>人・未確認:公開するデータ・メソッド、書込権限、承認と復帰は未確認。</a:t>
            </a:r>
          </a:p>
          <a:p xmlns:a="http://schemas.openxmlformats.org/drawingml/2006/main">
            <a:r>
              <a:t>Evidence:EOV-V011-2024-1,EOV-V011-2026-1,EDP-06</a:t>
            </a:r>
          </a:p>
          <a:p xmlns:a="http://schemas.openxmlformats.org/drawingml/2006/main">
            <a:r>
              <a:t/>
            </a:r>
          </a:p>
          <a:p xmlns:a="http://schemas.openxmlformats.org/drawingml/2006/main">
            <a:r>
              <a:t>B15-3 シーイーシー / Facteye／Resolana / E2006</a:t>
            </a:r>
          </a:p>
          <a:p xmlns:a="http://schemas.openxmlformats.org/drawingml/2006/main">
            <a:r>
              <a:t>対象:既設設備の情報を集め品質と結ぶ</a:t>
            </a:r>
          </a:p>
          <a:p xmlns:a="http://schemas.openxmlformats.org/drawingml/2006/main">
            <a:r>
              <a:t>公式要約:既設設備のデータ収集・可視化を品質やAI利用へ接続。</a:t>
            </a:r>
          </a:p>
          <a:p xmlns:a="http://schemas.openxmlformats.org/drawingml/2006/main">
            <a:r>
              <a:t>年度:収集・対話AIは2024にも説明。2026は連携課題を具体化。</a:t>
            </a:r>
          </a:p>
          <a:p xmlns:a="http://schemas.openxmlformats.org/drawingml/2006/main">
            <a:r>
              <a:t>人・未確認:自動制御や工場全体最適化の実装は未確認。</a:t>
            </a:r>
          </a:p>
          <a:p xmlns:a="http://schemas.openxmlformats.org/drawingml/2006/main">
            <a:r>
              <a:t>Evidence:EOV-V012-2024-1,EOV-V012-2026-1</a:t>
            </a:r>
          </a:p>
          <a:p xmlns:a="http://schemas.openxmlformats.org/drawingml/2006/main">
            <a:r>
              <a:t/>
            </a:r>
          </a:p>
          <a:p xmlns:a="http://schemas.openxmlformats.org/drawingml/2006/main">
            <a:r>
              <a:t>デジタルツイン・物理学習用データ</a:t>
            </a:r>
          </a:p>
          <a:p xmlns:a="http://schemas.openxmlformats.org/drawingml/2006/main">
            <a:r>
              <a:t>B16-1 ファナック / FANUC Smart Digital Twin / S2001</a:t>
            </a:r>
          </a:p>
          <a:p xmlns:a="http://schemas.openxmlformats.org/drawingml/2006/main">
            <a:r>
              <a:t>対象:加工前に機械の動きを確かめる</a:t>
            </a:r>
          </a:p>
          <a:p xmlns:a="http://schemas.openxmlformats.org/drawingml/2006/main">
            <a:r>
              <a:t>公式要約:Smart Digital Twinで加工前の挙動確認を支援。</a:t>
            </a:r>
          </a:p>
          <a:p xmlns:a="http://schemas.openxmlformats.org/drawingml/2006/main">
            <a:r>
              <a:t>年度:同名ツインは2024から継続。</a:t>
            </a:r>
          </a:p>
          <a:p xmlns:a="http://schemas.openxmlformats.org/drawingml/2006/main">
            <a:r>
              <a:t>人・未確認:モデルと実機の一致や、検証対象外事象の扱いは未確認。</a:t>
            </a:r>
          </a:p>
          <a:p xmlns:a="http://schemas.openxmlformats.org/drawingml/2006/main">
            <a:r>
              <a:t>Evidence:EOV-V002-2024-1,EOV-V002-2026-1</a:t>
            </a:r>
          </a:p>
          <a:p xmlns:a="http://schemas.openxmlformats.org/drawingml/2006/main">
            <a:r>
              <a:t/>
            </a:r>
          </a:p>
          <a:p xmlns:a="http://schemas.openxmlformats.org/drawingml/2006/main">
            <a:r>
              <a:t>B16-2 シーメンス株式会社 / Digital Thread：工作機械ツイン・工程内品質保証 / E3006</a:t>
            </a:r>
          </a:p>
          <a:p xmlns:a="http://schemas.openxmlformats.org/drawingml/2006/main">
            <a:r>
              <a:t>対象:加工の仮想検証・計測連携を確認する</a:t>
            </a:r>
          </a:p>
          <a:p xmlns:a="http://schemas.openxmlformats.org/drawingml/2006/main">
            <a:r>
              <a:t>公式要約:Tokn工作機械ツイン、Equator品質保証、ヒューマノイドを別展示。</a:t>
            </a:r>
          </a:p>
          <a:p xmlns:a="http://schemas.openxmlformats.org/drawingml/2006/main">
            <a:r>
              <a:t>年度:Toknの仮想訓練は2024完了の公式事例あり。</a:t>
            </a:r>
          </a:p>
          <a:p xmlns:a="http://schemas.openxmlformats.org/drawingml/2006/main">
            <a:r>
              <a:t>人・未確認:海外HMND実証とJIMTOFの機体・タスクの同一性は未確認。</a:t>
            </a:r>
          </a:p>
          <a:p xmlns:a="http://schemas.openxmlformats.org/drawingml/2006/main">
            <a:r>
              <a:t>Evidence:EEX-EXH-2026-9b991dd8132f51dc,EEX-EXH-2024-558faea07a73f5d8,EDP-16,EDP-17</a:t>
            </a:r>
          </a:p>
          <a:p xmlns:a="http://schemas.openxmlformats.org/drawingml/2006/main">
            <a:r>
              <a:t/>
            </a:r>
          </a:p>
          <a:p xmlns:a="http://schemas.openxmlformats.org/drawingml/2006/main">
            <a:r>
              <a:t>B16-3 NdotLight Co., Ltd. / TRINIX：CADから物理シミュレーション用データ生成 / S4004</a:t>
            </a:r>
          </a:p>
          <a:p xmlns:a="http://schemas.openxmlformats.org/drawingml/2006/main">
            <a:r>
              <a:t>対象:物理シミュレーション用の3Dデータを作る</a:t>
            </a:r>
          </a:p>
          <a:p xmlns:a="http://schemas.openxmlformats.org/drawingml/2006/main">
            <a:r>
              <a:t>公式要約:TRINIXはCADから形状・物理属性等を生成し検証・自己修正を説明。</a:t>
            </a:r>
          </a:p>
          <a:p xmlns:a="http://schemas.openxmlformats.org/drawingml/2006/main">
            <a:r>
              <a:t>年度:2024同名比較不能。DexBenchは共同開発告知で完成済み標準とはしない。</a:t>
            </a:r>
          </a:p>
          <a:p xmlns:a="http://schemas.openxmlformats.org/drawingml/2006/main">
            <a:r>
              <a:t>人・未確認:実測値と推定値の区別、人の承認、収束しない時の対応は未公開。</a:t>
            </a:r>
          </a:p>
          <a:p xmlns:a="http://schemas.openxmlformats.org/drawingml/2006/main">
            <a:r>
              <a:t>Evidence:EEX-EXH-2026-016097f87d1914b2,EEX-WNDOT,ERF-06,ERF-07,ERF-08,ERF-09</a:t>
            </a:r>
          </a:p>
          <a:p xmlns:a="http://schemas.openxmlformats.org/drawingml/2006/main">
            <a:r>
              <a:t/>
            </a:r>
          </a:p>
          <a:p xmlns:a="http://schemas.openxmlformats.org/drawingml/2006/main">
            <a:r>
              <a:t>原典</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EOV-W01 TwinCAT 3 Machine Learning Creator</a:t>
            </a:r>
          </a:p>
          <a:p xmlns:a="http://schemas.openxmlformats.org/drawingml/2006/main">
            <a:r>
              <a:t>https://www.beckhoff.com/en-za/products/automation/twincat/texxxx-twincat-3-engineering/te3850.html</a:t>
            </a:r>
          </a:p>
          <a:p xmlns:a="http://schemas.openxmlformats.org/drawingml/2006/main">
            <a:r>
              <a:t>該当箇所:製品説明冒頭、Product status</a:t>
            </a:r>
          </a:p>
          <a:p xmlns:a="http://schemas.openxmlformats.org/drawingml/2006/main">
            <a:r>
              <a:t>確認:2026-10-16</a:t>
            </a:r>
          </a:p>
          <a:p xmlns:a="http://schemas.openxmlformats.org/drawingml/2006/main">
            <a:r>
              <a:t>種類:企業公式資料・メーカー主張</a:t>
            </a:r>
          </a:p>
          <a:p xmlns:a="http://schemas.openxmlformats.org/drawingml/2006/main">
            <a:r>
              <a:t>展示:既存製品の方式確認。2026展示はEOV-V005-2026-1で別確認</a:t>
            </a:r>
          </a:p>
          <a:p xmlns:a="http://schemas.openxmlformats.org/drawingml/2006/main">
            <a:r>
              <a:t/>
            </a:r>
          </a:p>
          <a:p xmlns:a="http://schemas.openxmlformats.org/drawingml/2006/main">
            <a:r>
              <a:t>EDP-04 PC Control 02/2024：Machine Learning Creator</a:t>
            </a:r>
          </a:p>
          <a:p xmlns:a="http://schemas.openxmlformats.org/drawingml/2006/main">
            <a:r>
              <a:t>https://www.beckhoff.com/media/downloads/information-media/pc-control/pcc_0224_e.pdf</a:t>
            </a:r>
          </a:p>
          <a:p xmlns:a="http://schemas.openxmlformats.org/drawingml/2006/main">
            <a:r>
              <a:t>該当箇所:TE3850／訓練・テストデータ分割、モデル解析、ONNX出力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EOV-V011-2024-1 JIMTOF2024公式カタログ：株式会社たけびし (E7053)</a:t>
            </a:r>
          </a:p>
          <a:p xmlns:a="http://schemas.openxmlformats.org/drawingml/2006/main">
            <a:r>
              <a:t>https://www.jimtof.org/2024/search/jp/ESdetails?e=SiZMI-OH8_k</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EOV-V011-2026-1 JIMTOF2026公式カタログ：株式会社たけびし (S3015)</a:t>
            </a:r>
          </a:p>
          <a:p xmlns:a="http://schemas.openxmlformats.org/drawingml/2006/main">
            <a:r>
              <a:t>https://www.jimtof.org/search/jp/ESdetails?e=Qh27DAtEkbw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EDP-06 OPC UA情報モデルとAIエージェント</a:t>
            </a:r>
          </a:p>
          <a:p xmlns:a="http://schemas.openxmlformats.org/drawingml/2006/main">
            <a:r>
              <a:t>https://opcconnect.opcfoundation.org/2026/06/toward-realizing-ai-utilization-in-manufacturing-exploring-the-potential-of-integrating-the-opc-ua-information-model-with-ai-agents/</a:t>
            </a:r>
          </a:p>
          <a:p xmlns:a="http://schemas.openxmlformats.org/drawingml/2006/main">
            <a:r>
              <a:t>該当箇所:A New Approach to Connecting AI Agents／MCP Adapterはplanning to provide</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EOV-V012-2024-1 JIMTOF2024公式カタログ：株式会社シーイーシー (E5022)</a:t>
            </a:r>
          </a:p>
          <a:p xmlns:a="http://schemas.openxmlformats.org/drawingml/2006/main">
            <a:r>
              <a:t>https://www.jimtof.org/2024/search/jp/ESdetails?e=WS9ql5D41fQ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EOV-V012-2026-1 JIMTOF2026公式カタログ：株式会社シーイーシー (E2006)</a:t>
            </a:r>
          </a:p>
          <a:p xmlns:a="http://schemas.openxmlformats.org/drawingml/2006/main">
            <a:r>
              <a:t>https://www.jimtof.org/search/jp/ESdetails?e=tW-C9oF94EQ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EEX-EXH-2026-9b991dd8132f51dc JIMTOF2026公式出展説明：シーメンス株式会社 (E3006)</a:t>
            </a:r>
          </a:p>
          <a:p xmlns:a="http://schemas.openxmlformats.org/drawingml/2006/main">
            <a:r>
              <a:t>https://www.jimtof.org/search/jp/ESdetails?e=EBIotJu7lrg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EEX-EXH-2024-558faea07a73f5d8 JIMTOF2024公式出展説明：シーメンス株式会社 (E5008)</a:t>
            </a:r>
          </a:p>
          <a:p xmlns:a="http://schemas.openxmlformats.org/drawingml/2006/main">
            <a:r>
              <a:t>https://www.jimtof.org/2024/search/jp/ESdetails?e=nYvFR1vpbuE</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EDP-16 HELLER Toknとデジタルツインの訓練事例</a:t>
            </a:r>
          </a:p>
          <a:p xmlns:a="http://schemas.openxmlformats.org/drawingml/2006/main">
            <a:r>
              <a:t>https://references.siemens.com/en/reference/heller-tokn-digital-twin?id=41137</a:t>
            </a:r>
          </a:p>
          <a:p xmlns:a="http://schemas.openxmlformats.org/drawingml/2006/main">
            <a:r>
              <a:t>該当箇所:Completion: 2024／仮想SINUMERIK ONEと3D機械モデルによる訓練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EDP-17 Humanoidとの工場内物流の運用試験</a:t>
            </a:r>
          </a:p>
          <a:p xmlns:a="http://schemas.openxmlformats.org/drawingml/2006/main">
            <a:r>
              <a:t>https://press.siemens.com/jp/ja/pressrelease/pr-20260416</a:t>
            </a:r>
          </a:p>
          <a:p xmlns:a="http://schemas.openxmlformats.org/drawingml/2006/main">
            <a:r>
              <a:t>該当箇所:HMND 01 Alphaのトート把持・搬送・配置／Jetson Thor・Isaac Sim/Lab</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EEX-EXH-2026-016097f87d1914b2 JIMTOF2026公式出展説明：NdotLight Co., Ltd. (S4004)</a:t>
            </a:r>
          </a:p>
          <a:p xmlns:a="http://schemas.openxmlformats.org/drawingml/2006/main">
            <a:r>
              <a:t>https://www.jimtof.org/search/jp/ESdetails?e=6Ds1v9hxvrY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EEX-WNDOT TRINIX：Physical AI向け3Dデータの企業公式説明</a:t>
            </a:r>
          </a:p>
          <a:p xmlns:a="http://schemas.openxmlformats.org/drawingml/2006/main">
            <a:r>
              <a:t>https://ndotlight.com/newsroom/ndotlight-proposes-a-new-3d-data-standard-for-the-physical-ai-era-with-trinix</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展示:製品の方式説明。JIMTOFの実演範囲とは区別</a:t>
            </a:r>
          </a:p>
          <a:p xmlns:a="http://schemas.openxmlformats.org/drawingml/2006/main">
            <a:r>
              <a:t/>
            </a:r>
          </a:p>
          <a:p xmlns:a="http://schemas.openxmlformats.org/drawingml/2006/main">
            <a:r>
              <a:t>ERF-06 TRINIX：物理属性生成と自己修正</a:t>
            </a:r>
          </a:p>
          <a:p xmlns:a="http://schemas.openxmlformats.org/drawingml/2006/main">
            <a:r>
              <a:t>https://ndotlight.com/</a:t>
            </a:r>
          </a:p>
          <a:p xmlns:a="http://schemas.openxmlformats.org/drawingml/2006/main">
            <a:r>
              <a:t>該当箇所:Physics Injection／Self-corrective Closed Loop／FAQ</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ERF-07 SimReady FAQ：静的検証と実行時検証</a:t>
            </a:r>
          </a:p>
          <a:p xmlns:a="http://schemas.openxmlformats.org/drawingml/2006/main">
            <a:r>
              <a:t>https://docs.omniverse.nvidia.com/simready/latest/simready-faq.html</a:t>
            </a:r>
          </a:p>
          <a:p xmlns:a="http://schemas.openxmlformats.org/drawingml/2006/main">
            <a:r>
              <a:t>該当箇所:What Is the Difference…Foundation；How Do I Validate My Composed Scene…（L526–538）</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ERF-08 SimReady Physics Best Practices</a:t>
            </a:r>
          </a:p>
          <a:p xmlns:a="http://schemas.openxmlformats.org/drawingml/2006/main">
            <a:r>
              <a:t>https://docs.omniverse.nvidia.com/simready/latest/simready-asset-creation/physics-best-practices.html</a:t>
            </a:r>
          </a:p>
          <a:p xmlns:a="http://schemas.openxmlformats.org/drawingml/2006/main">
            <a:r>
              <a:t>該当箇所:Typical USDPhysics Components／Collider、Mass、materialの摩擦・密度・反発</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ERF-09 DexBench共同開発の告知</a:t>
            </a:r>
          </a:p>
          <a:p xmlns:a="http://schemas.openxmlformats.org/drawingml/2006/main">
            <a:r>
              <a:t>https://ndotlight.com/newsroom/ndotlight-to-co-develop-dexbench-a-global-standard-for-humanoid-evaluation-with-nvidia-and-rlwrld</a:t>
            </a:r>
          </a:p>
          <a:p xmlns:a="http://schemas.openxmlformats.org/drawingml/2006/main">
            <a:r>
              <a:t>該当箇所:2026/8/7／SimReady環境・操作評価・sim-to-real gap低減の共同開発</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生産準備の技能を補うAI</a:t>
            </a:r>
          </a:p>
          <a:p xmlns:a="http://schemas.openxmlformats.org/drawingml/2006/main">
            <a:r>
              <a:t>比較の限界:共通部品・工程での対応範囲や実際の工数削減は未検証。複数の製品が一つにつながって自動運用できるとは確認していない。</a:t>
            </a:r>
          </a:p>
          <a:p xmlns:a="http://schemas.openxmlformats.org/drawingml/2006/main">
            <a:r>
              <a:t/>
            </a:r>
          </a:p>
          <a:p xmlns:a="http://schemas.openxmlformats.org/drawingml/2006/main">
            <a:r>
              <a:t>加工を安定させる自動調整</a:t>
            </a:r>
          </a:p>
          <a:p xmlns:a="http://schemas.openxmlformats.org/drawingml/2006/main">
            <a:r>
              <a:t>比較の限界:測定と補正の連携自体は既存。各社の性能向上や、材料・工具が変わった際の適応範囲は資料だけでは比較できない。</a:t>
            </a:r>
          </a:p>
          <a:p xmlns:a="http://schemas.openxmlformats.org/drawingml/2006/main">
            <a:r>
              <a:t/>
            </a:r>
          </a:p>
          <a:p xmlns:a="http://schemas.openxmlformats.org/drawingml/2006/main">
            <a:r>
              <a:t>品質・工具・設備を見極めるAI</a:t>
            </a:r>
          </a:p>
          <a:p xmlns:a="http://schemas.openxmlformats.org/drawingml/2006/main">
            <a:r>
              <a:t>比較の限界:追加学習は2025に発表済み、寿命予測には以前の研究発表もある。2026初の発明や、全工具での精度向上とは判断しない。</a:t>
            </a:r>
          </a:p>
          <a:p xmlns:a="http://schemas.openxmlformats.org/drawingml/2006/main">
            <a:r>
              <a:t/>
            </a:r>
          </a:p>
          <a:p xmlns:a="http://schemas.openxmlformats.org/drawingml/2006/main">
            <a:r>
              <a:t>図面検索・見積作成</a:t>
            </a:r>
          </a:p>
          <a:p xmlns:a="http://schemas.openxmlformats.org/drawingml/2006/main">
            <a:r>
              <a:t>B01-1 株式会社Fact Base / ズメーン：図面・関連文書管理とAI / S3017</a:t>
            </a:r>
          </a:p>
          <a:p xmlns:a="http://schemas.openxmlformats.org/drawingml/2006/main">
            <a:r>
              <a:t>対象:図面を登録・検索し関連文書と結ぶ</a:t>
            </a:r>
          </a:p>
          <a:p xmlns:a="http://schemas.openxmlformats.org/drawingml/2006/main">
            <a:r>
              <a:t>公式要約:図面のOCR登録と関連文書管理。顧客事例では読取り結果を人が修正。</a:t>
            </a:r>
          </a:p>
          <a:p xmlns:a="http://schemas.openxmlformats.org/drawingml/2006/main">
            <a:r>
              <a:t>年度:2024の同名詳細なし。2026初登場とは断定しない。</a:t>
            </a:r>
          </a:p>
          <a:p xmlns:a="http://schemas.openxmlformats.org/drawingml/2006/main">
            <a:r>
              <a:t>人・未確認:登録・読取り確認は人。図面の誤関連や改訂の検出は未確認。</a:t>
            </a:r>
          </a:p>
          <a:p xmlns:a="http://schemas.openxmlformats.org/drawingml/2006/main">
            <a:r>
              <a:t>Evidence:EEX-EXH-2026-3b6a1de81c17dfee,EDP-11</a:t>
            </a:r>
          </a:p>
          <a:p xmlns:a="http://schemas.openxmlformats.org/drawingml/2006/main">
            <a:r>
              <a:t/>
            </a:r>
          </a:p>
          <a:p xmlns:a="http://schemas.openxmlformats.org/drawingml/2006/main">
            <a:r>
              <a:t>B01-2 匠技研工業 / 匠フォース：業務AIエージェント / S3011</a:t>
            </a:r>
          </a:p>
          <a:p xmlns:a="http://schemas.openxmlformats.org/drawingml/2006/main">
            <a:r>
              <a:t>対象:図面と原価情報から見積書案を作る</a:t>
            </a:r>
          </a:p>
          <a:p xmlns:a="http://schemas.openxmlformats.org/drawingml/2006/main">
            <a:r>
              <a:t>公式要約:図面認識・類似案件参照・原価計算から見積書案を作る。</a:t>
            </a:r>
          </a:p>
          <a:p xmlns:a="http://schemas.openxmlformats.org/drawingml/2006/main">
            <a:r>
              <a:t>年度:2024比較不能。2026/7の企業発表で一連の処理を具体化。</a:t>
            </a:r>
          </a:p>
          <a:p xmlns:a="http://schemas.openxmlformats.org/drawingml/2006/main">
            <a:r>
              <a:t>人・未確認:担当者が根拠を確認・修正・承認。社外自動送信は未確認。</a:t>
            </a:r>
          </a:p>
          <a:p xmlns:a="http://schemas.openxmlformats.org/drawingml/2006/main">
            <a:r>
              <a:t>Evidence:EOV-V041-2026-1,EDP-05</a:t>
            </a:r>
          </a:p>
          <a:p xmlns:a="http://schemas.openxmlformats.org/drawingml/2006/main">
            <a:r>
              <a:t/>
            </a:r>
          </a:p>
          <a:p xmlns:a="http://schemas.openxmlformats.org/drawingml/2006/main">
            <a:r>
              <a:t>B01-3 ものレボ / MonoRevo：類似図面検索・自動見積 / W3042</a:t>
            </a:r>
          </a:p>
          <a:p xmlns:a="http://schemas.openxmlformats.org/drawingml/2006/main">
            <a:r>
              <a:t>対象:過去図面を探し見積を作る</a:t>
            </a:r>
          </a:p>
          <a:p xmlns:a="http://schemas.openxmlformats.org/drawingml/2006/main">
            <a:r>
              <a:t>公式要約:類似図面検索と自動見積を説明。</a:t>
            </a:r>
          </a:p>
          <a:p xmlns:a="http://schemas.openxmlformats.org/drawingml/2006/main">
            <a:r>
              <a:t>年度:2024個別比較不能。</a:t>
            </a:r>
          </a:p>
          <a:p xmlns:a="http://schemas.openxmlformats.org/drawingml/2006/main">
            <a:r>
              <a:t>人・未確認:見積前提の設定・確定者、計算ロジックは未確認。</a:t>
            </a:r>
          </a:p>
          <a:p xmlns:a="http://schemas.openxmlformats.org/drawingml/2006/main">
            <a:r>
              <a:t>Evidence:EOV-V014-2026-1</a:t>
            </a:r>
          </a:p>
          <a:p xmlns:a="http://schemas.openxmlformats.org/drawingml/2006/main">
            <a:r>
              <a:t/>
            </a:r>
          </a:p>
          <a:p xmlns:a="http://schemas.openxmlformats.org/drawingml/2006/main">
            <a:r>
              <a:t>工程・CAMプログラムの作成</a:t>
            </a:r>
          </a:p>
          <a:p xmlns:a="http://schemas.openxmlformats.org/drawingml/2006/main">
            <a:r>
              <a:t>B02-1 Hexagon Manufacturing Intelligence / ESPRIT EDGE ProPlanAI / E2013</a:t>
            </a:r>
          </a:p>
          <a:p xmlns:a="http://schemas.openxmlformats.org/drawingml/2006/main">
            <a:r>
              <a:t>対象:新しい部品の加工工程を考える</a:t>
            </a:r>
          </a:p>
          <a:p xmlns:a="http://schemas.openxmlformats.org/drawingml/2006/main">
            <a:r>
              <a:t>公式要約:過去ジョブと形状特徴から工程を予測するProPlanAI。</a:t>
            </a:r>
          </a:p>
          <a:p xmlns:a="http://schemas.openxmlformats.org/drawingml/2006/main">
            <a:r>
              <a:t>年度:2024比較不能。2025の旋削betaから2026の商用範囲拡張を確認。</a:t>
            </a:r>
          </a:p>
          <a:p xmlns:a="http://schemas.openxmlformats.org/drawingml/2006/main">
            <a:r>
              <a:t>人・未確認:過去データを準備。確認画面はあるが最終NC採用権限は未公表。</a:t>
            </a:r>
          </a:p>
          <a:p xmlns:a="http://schemas.openxmlformats.org/drawingml/2006/main">
            <a:r>
              <a:t>Evidence:EOV-V007-2026-2,EOV-W02</a:t>
            </a:r>
          </a:p>
          <a:p xmlns:a="http://schemas.openxmlformats.org/drawingml/2006/main">
            <a:r>
              <a:t/>
            </a:r>
          </a:p>
          <a:p xmlns:a="http://schemas.openxmlformats.org/drawingml/2006/main">
            <a:r>
              <a:t>B02-2 ジェービーエムエンジニアリング / Mastercam＋CAMAssist / E2002</a:t>
            </a:r>
          </a:p>
          <a:p xmlns:a="http://schemas.openxmlformats.org/drawingml/2006/main">
            <a:r>
              <a:t>対象:部品形状から加工方法・工具経路を作る</a:t>
            </a:r>
          </a:p>
          <a:p xmlns:a="http://schemas.openxmlformats.org/drawingml/2006/main">
            <a:r>
              <a:t>公式要約:工具・材料・機械等の条件から加工戦略・経路・条件案を生成。</a:t>
            </a:r>
          </a:p>
          <a:p xmlns:a="http://schemas.openxmlformats.org/drawingml/2006/main">
            <a:r>
              <a:t>年度:Mastercam対応は2024/7に発表済み。2026の出展記述が具体化。</a:t>
            </a:r>
          </a:p>
          <a:p xmlns:a="http://schemas.openxmlformats.org/drawingml/2006/main">
            <a:r>
              <a:t>人・未確認:人が前提を設定し、戦略案を確認・調整してCAMへ送る。</a:t>
            </a:r>
          </a:p>
          <a:p xmlns:a="http://schemas.openxmlformats.org/drawingml/2006/main">
            <a:r>
              <a:t>Evidence:EOV-V008-2024-1,EOV-V008-2024-2,EOV-V008-2026-1,EDP-09,EDP-10,ERF-03</a:t>
            </a:r>
          </a:p>
          <a:p xmlns:a="http://schemas.openxmlformats.org/drawingml/2006/main">
            <a:r>
              <a:t/>
            </a:r>
          </a:p>
          <a:p xmlns:a="http://schemas.openxmlformats.org/drawingml/2006/main">
            <a:r>
              <a:t>B02-3 タクテックス株式会社 / CAM Assist for SolidCAM／SolidShop / S1016</a:t>
            </a:r>
          </a:p>
          <a:p xmlns:a="http://schemas.openxmlformats.org/drawingml/2006/main">
            <a:r>
              <a:t>対象:3軸・3+2軸の加工経路を作る</a:t>
            </a:r>
          </a:p>
          <a:p xmlns:a="http://schemas.openxmlformats.org/drawingml/2006/main">
            <a:r>
              <a:t>公式要約:SolidCAM向けに3軸・3+2軸の戦略と経路案を生成。</a:t>
            </a:r>
          </a:p>
          <a:p xmlns:a="http://schemas.openxmlformats.org/drawingml/2006/main">
            <a:r>
              <a:t>年度:2024はSolidCAM等。2026はAI支援を追加記載。</a:t>
            </a:r>
          </a:p>
          <a:p xmlns:a="http://schemas.openxmlformats.org/drawingml/2006/main">
            <a:r>
              <a:t>人・未確認:工具・保持等を設定し、生成案を編集・採用。最終制御権は人。</a:t>
            </a:r>
          </a:p>
          <a:p xmlns:a="http://schemas.openxmlformats.org/drawingml/2006/main">
            <a:r>
              <a:t>Evidence:EEX-EXH-2026-0436fc7b61f51a8e,EEX-EXH-2024-eb84f3b7fa9cf6db,EDP-07,EDP-08,ERF-04</a:t>
            </a:r>
          </a:p>
          <a:p xmlns:a="http://schemas.openxmlformats.org/drawingml/2006/main">
            <a:r>
              <a:t/>
            </a:r>
          </a:p>
          <a:p xmlns:a="http://schemas.openxmlformats.org/drawingml/2006/main">
            <a:r>
              <a:t>NC送り最適化・加工中の適応制御</a:t>
            </a:r>
          </a:p>
          <a:p xmlns:a="http://schemas.openxmlformats.org/drawingml/2006/main">
            <a:r>
              <a:t>B03-1 CGTech / Vericut Force／Optimizer / S3014</a:t>
            </a:r>
          </a:p>
          <a:p xmlns:a="http://schemas.openxmlformats.org/drawingml/2006/main">
            <a:r>
              <a:t>対象:加工前にNCの送り速度を調整する</a:t>
            </a:r>
          </a:p>
          <a:p xmlns:a="http://schemas.openxmlformats.org/drawingml/2006/main">
            <a:r>
              <a:t>公式要約:Forceは切削物理と力・動力制約を使い加工前に送りを最適化。</a:t>
            </a:r>
          </a:p>
          <a:p xmlns:a="http://schemas.openxmlformats.org/drawingml/2006/main">
            <a:r>
              <a:t>年度:Forceは2024掲載済み。2026のAI訴求とOptimizerの方式差は未確認。</a:t>
            </a:r>
          </a:p>
          <a:p xmlns:a="http://schemas.openxmlformats.org/drawingml/2006/main">
            <a:r>
              <a:t>人・未確認:材料・工具・限界条件とNC採用が必要〈分析〉。運用詳細は未確認。</a:t>
            </a:r>
          </a:p>
          <a:p xmlns:a="http://schemas.openxmlformats.org/drawingml/2006/main">
            <a:r>
              <a:t>Evidence:EOV-V009-2024-1,EOV-V009-2026-1,RPT-S04</a:t>
            </a:r>
          </a:p>
          <a:p xmlns:a="http://schemas.openxmlformats.org/drawingml/2006/main">
            <a:r>
              <a:t/>
            </a:r>
          </a:p>
          <a:p xmlns:a="http://schemas.openxmlformats.org/drawingml/2006/main">
            <a:r>
              <a:t>B03-2 Third Wave Systems Japan / Production Module／AdvantEdge / E1064</a:t>
            </a:r>
          </a:p>
          <a:p xmlns:a="http://schemas.openxmlformats.org/drawingml/2006/main">
            <a:r>
              <a:t>対象:加工負荷を予測しNC送りを最適化する</a:t>
            </a:r>
          </a:p>
          <a:p xmlns:a="http://schemas.openxmlformats.org/drawingml/2006/main">
            <a:r>
              <a:t>公式要約:Production ModuleはNCレベルの負荷解析。刃先FEMのAdvantEdgeとは別。</a:t>
            </a:r>
          </a:p>
          <a:p xmlns:a="http://schemas.openxmlformats.org/drawingml/2006/main">
            <a:r>
              <a:t>年度:2024展示比較不能。工具たわみ等は2019年にも公式説明。</a:t>
            </a:r>
          </a:p>
          <a:p xmlns:a="http://schemas.openxmlformats.org/drawingml/2006/main">
            <a:r>
              <a:t>人・未確認:モデル・材料・工具の設定と採用判断が必要〈分析〉。</a:t>
            </a:r>
          </a:p>
          <a:p xmlns:a="http://schemas.openxmlformats.org/drawingml/2006/main">
            <a:r>
              <a:t>Evidence:RPT-EXH-2026-3f24aaee60d77db1,RPT-S05</a:t>
            </a:r>
          </a:p>
          <a:p xmlns:a="http://schemas.openxmlformats.org/drawingml/2006/main">
            <a:r>
              <a:t/>
            </a:r>
          </a:p>
          <a:p xmlns:a="http://schemas.openxmlformats.org/drawingml/2006/main">
            <a:r>
              <a:t>B03-3 西部商工 / ACM / S3020</a:t>
            </a:r>
          </a:p>
          <a:p xmlns:a="http://schemas.openxmlformats.org/drawingml/2006/main">
            <a:r>
              <a:t>対象:加工中の負荷に応じ送りを自動調整する</a:t>
            </a:r>
          </a:p>
          <a:p xmlns:a="http://schemas.openxmlformats.org/drawingml/2006/main">
            <a:r>
              <a:t>公式要約:ACMは実測主軸負荷を使い加工中の送りを自動調整。</a:t>
            </a:r>
          </a:p>
          <a:p xmlns:a="http://schemas.openxmlformats.org/drawingml/2006/main">
            <a:r>
              <a:t>年度:2024も負荷監視と送り制御を記載。基本方式は継続。</a:t>
            </a:r>
          </a:p>
          <a:p xmlns:a="http://schemas.openxmlformats.org/drawingml/2006/main">
            <a:r>
              <a:t>人・未確認:負荷限界の設定者・停止復帰の手順は未確認。</a:t>
            </a:r>
          </a:p>
          <a:p xmlns:a="http://schemas.openxmlformats.org/drawingml/2006/main">
            <a:r>
              <a:t>Evidence:RPT-EXH-2026-107042c6cf64ba96,RPT-EXH-2024-151b23d9e05ccb13</a:t>
            </a:r>
          </a:p>
          <a:p xmlns:a="http://schemas.openxmlformats.org/drawingml/2006/main">
            <a:r>
              <a:t/>
            </a:r>
          </a:p>
          <a:p xmlns:a="http://schemas.openxmlformats.org/drawingml/2006/main">
            <a:r>
              <a:t>PLC・HMI・電気設計の支援</a:t>
            </a:r>
          </a:p>
          <a:p xmlns:a="http://schemas.openxmlformats.org/drawingml/2006/main">
            <a:r>
              <a:t>B04-1 ベッコフオートメーション / TwinCAT CoAgent for Engineering：PLC / E2028</a:t>
            </a:r>
          </a:p>
          <a:p xmlns:a="http://schemas.openxmlformats.org/drawingml/2006/main">
            <a:r>
              <a:t>対象:設備のPLC制御プログラムを作る</a:t>
            </a:r>
          </a:p>
          <a:p xmlns:a="http://schemas.openxmlformats.org/drawingml/2006/main">
            <a:r>
              <a:t>公式要約:要求とプロジェクト文脈からPLCコード案を提案。</a:t>
            </a:r>
          </a:p>
          <a:p xmlns:a="http://schemas.openxmlformats.org/drawingml/2006/main">
            <a:r>
              <a:t>年度:PLCコード支援は2023発表済み。2026初の方式ではない。</a:t>
            </a:r>
          </a:p>
          <a:p xmlns:a="http://schemas.openxmlformats.org/drawingml/2006/main">
            <a:r>
              <a:t>人・未確認:専門家が確認・確定・実行承認。書込みや起動の個別権限は未確認。</a:t>
            </a:r>
          </a:p>
          <a:p xmlns:a="http://schemas.openxmlformats.org/drawingml/2006/main">
            <a:r>
              <a:t>Evidence:EOV-V005-2026-1,EAT-N03,EAT-N05,EDP-03,ERF-01</a:t>
            </a:r>
          </a:p>
          <a:p xmlns:a="http://schemas.openxmlformats.org/drawingml/2006/main">
            <a:r>
              <a:t/>
            </a:r>
          </a:p>
          <a:p xmlns:a="http://schemas.openxmlformats.org/drawingml/2006/main">
            <a:r>
              <a:t>B04-2 ベッコフオートメーション / TwinCAT CoAgent for Engineering：I/O・HMI / E2028</a:t>
            </a:r>
          </a:p>
          <a:p xmlns:a="http://schemas.openxmlformats.org/drawingml/2006/main">
            <a:r>
              <a:t>対象:設備の入出力設定と操作画面を作る</a:t>
            </a:r>
          </a:p>
          <a:p xmlns:a="http://schemas.openxmlformats.org/drawingml/2006/main">
            <a:r>
              <a:t>公式要約:I/O構成とHMI生成・操作を支援するEngineering機能。</a:t>
            </a:r>
          </a:p>
          <a:p xmlns:a="http://schemas.openxmlformats.org/drawingml/2006/main">
            <a:r>
              <a:t>年度:I/O・HMI支援は2025/6にも公式説明。</a:t>
            </a:r>
          </a:p>
          <a:p xmlns:a="http://schemas.openxmlformats.org/drawingml/2006/main">
            <a:r>
              <a:t>人・未確認:専門家のレビュー方針。構成誤りの検証・差戻しは未確認。</a:t>
            </a:r>
          </a:p>
          <a:p xmlns:a="http://schemas.openxmlformats.org/drawingml/2006/main">
            <a:r>
              <a:t>Evidence:EOV-V005-2026-1,EAT-N03,EAT-N05,EDP-03,ERF-01</a:t>
            </a:r>
          </a:p>
          <a:p xmlns:a="http://schemas.openxmlformats.org/drawingml/2006/main">
            <a:r>
              <a:t/>
            </a:r>
          </a:p>
          <a:p xmlns:a="http://schemas.openxmlformats.org/drawingml/2006/main">
            <a:r>
              <a:t>B04-3 EPLAN / Eplan Copilot / S1067</a:t>
            </a:r>
          </a:p>
          <a:p xmlns:a="http://schemas.openxmlformats.org/drawingml/2006/main">
            <a:r>
              <a:t>対象:電気設計の情報・操作手順を調べる</a:t>
            </a:r>
          </a:p>
          <a:p xmlns:a="http://schemas.openxmlformats.org/drawingml/2006/main">
            <a:r>
              <a:t>公式要約:Eplan Copilotが文脈に応じた回答・推奨・手順を生成。</a:t>
            </a:r>
          </a:p>
          <a:p xmlns:a="http://schemas.openxmlformats.org/drawingml/2006/main">
            <a:r>
              <a:t>年度:2024の盤設計・データ連携に対し、2026はCopilotを記載。</a:t>
            </a:r>
          </a:p>
          <a:p xmlns:a="http://schemas.openxmlformats.org/drawingml/2006/main">
            <a:r>
              <a:t>人・未確認:意思決定は人。設計変更の自動採用は現機能と確認できない。</a:t>
            </a:r>
          </a:p>
          <a:p xmlns:a="http://schemas.openxmlformats.org/drawingml/2006/main">
            <a:r>
              <a:t>Evidence:EOV-V006-2024-1,EOV-V006-2026-1,EAT-N06</a:t>
            </a:r>
          </a:p>
          <a:p xmlns:a="http://schemas.openxmlformats.org/drawingml/2006/main">
            <a:r>
              <a:t/>
            </a:r>
          </a:p>
          <a:p xmlns:a="http://schemas.openxmlformats.org/drawingml/2006/main">
            <a:r>
              <a:t>熱変位補正・びびり抑制</a:t>
            </a:r>
          </a:p>
          <a:p xmlns:a="http://schemas.openxmlformats.org/drawingml/2006/main">
            <a:r>
              <a:t>B05-1 オークマ / 熱変位制御・AI知能化 / E3028</a:t>
            </a:r>
          </a:p>
          <a:p xmlns:a="http://schemas.openxmlformats.org/drawingml/2006/main">
            <a:r>
              <a:t>対象:温度変化による加工位置のずれを抑える</a:t>
            </a:r>
          </a:p>
          <a:p xmlns:a="http://schemas.openxmlformats.org/drawingml/2006/main">
            <a:r>
              <a:t>公式要約:熱を単純化する構造と熱変位制御を組み合わせる。</a:t>
            </a:r>
          </a:p>
          <a:p xmlns:a="http://schemas.openxmlformats.org/drawingml/2006/main">
            <a:r>
              <a:t>年度:熱安定化は既存技術。2026のAI訴求だけで補正全体をAIとしない。</a:t>
            </a:r>
          </a:p>
          <a:p xmlns:a="http://schemas.openxmlformats.org/drawingml/2006/main">
            <a:r>
              <a:t>人・未確認:校正・補正限界・条件変化時の人の関与は未確認。</a:t>
            </a:r>
          </a:p>
          <a:p xmlns:a="http://schemas.openxmlformats.org/drawingml/2006/main">
            <a:r>
              <a:t>Evidence:EOV-V003-2024-1,EOV-V003-2026-1,RPT-S02</a:t>
            </a:r>
          </a:p>
          <a:p xmlns:a="http://schemas.openxmlformats.org/drawingml/2006/main">
            <a:r>
              <a:t/>
            </a:r>
          </a:p>
          <a:p xmlns:a="http://schemas.openxmlformats.org/drawingml/2006/main">
            <a:r>
              <a:t>B05-2 ヤマザキマザック / Ai Thermal Shield（製品資料による比較） / E1001</a:t>
            </a:r>
          </a:p>
          <a:p xmlns:a="http://schemas.openxmlformats.org/drawingml/2006/main">
            <a:r>
              <a:t>対象:加工後測定も使い熱変位補正を調整する</a:t>
            </a:r>
          </a:p>
          <a:p xmlns:a="http://schemas.openxmlformats.org/drawingml/2006/main">
            <a:r>
              <a:t>公式要約:温度・回転等を考慮。加工後測定の学習で熱変位補正を最適化。</a:t>
            </a:r>
          </a:p>
          <a:p xmlns:a="http://schemas.openxmlformats.org/drawingml/2006/main">
            <a:r>
              <a:t>年度:製品資料の比較例。同機能の2026展示搭載・年度差は未確認。</a:t>
            </a:r>
          </a:p>
          <a:p xmlns:a="http://schemas.openxmlformats.org/drawingml/2006/main">
            <a:r>
              <a:t>人・未確認:測定準備・更新採否・補正限界の設定者は未確認。</a:t>
            </a:r>
          </a:p>
          <a:p xmlns:a="http://schemas.openxmlformats.org/drawingml/2006/main">
            <a:r>
              <a:t>Evidence:RPT-S03,EOV-V004-2024-1,EOV-V004-2026-1,EAT-N08</a:t>
            </a:r>
          </a:p>
          <a:p xmlns:a="http://schemas.openxmlformats.org/drawingml/2006/main">
            <a:r>
              <a:t/>
            </a:r>
          </a:p>
          <a:p xmlns:a="http://schemas.openxmlformats.org/drawingml/2006/main">
            <a:r>
              <a:t>B05-3 オークマ / 加工ナビM-i／M-gⅡ（製品資料による比較） / E3028</a:t>
            </a:r>
          </a:p>
          <a:p xmlns:a="http://schemas.openxmlformats.org/drawingml/2006/main">
            <a:r>
              <a:t>対象:びびり振動に応じ主軸回転数を調整する</a:t>
            </a:r>
          </a:p>
          <a:p xmlns:a="http://schemas.openxmlformats.org/drawingml/2006/main">
            <a:r>
              <a:t>公式要約:M-iは振動計測から主軸速度を自動変更。M-gⅡは速度候補を提示。</a:t>
            </a:r>
          </a:p>
          <a:p xmlns:a="http://schemas.openxmlformats.org/drawingml/2006/main">
            <a:r>
              <a:t>年度:既存製品技術の比較例。2024/2026の機能増分は未確認。</a:t>
            </a:r>
          </a:p>
          <a:p xmlns:a="http://schemas.openxmlformats.org/drawingml/2006/main">
            <a:r>
              <a:t>人・未確認:M-iは設定後に自動制御。M-gⅡは人が候補を選ぶ。</a:t>
            </a:r>
          </a:p>
          <a:p xmlns:a="http://schemas.openxmlformats.org/drawingml/2006/main">
            <a:r>
              <a:t>Evidence:RPT-S01,EOV-V003-2024-1,EOV-V003-2026-1</a:t>
            </a:r>
          </a:p>
          <a:p xmlns:a="http://schemas.openxmlformats.org/drawingml/2006/main">
            <a:r>
              <a:t/>
            </a:r>
          </a:p>
          <a:p xmlns:a="http://schemas.openxmlformats.org/drawingml/2006/main">
            <a:r>
              <a:t>計測から加工へのフィードバック</a:t>
            </a:r>
          </a:p>
          <a:p xmlns:a="http://schemas.openxmlformats.org/drawingml/2006/main">
            <a:r>
              <a:t>B06-1 レニショー / Renishaw Central＋IPC / E7089</a:t>
            </a:r>
          </a:p>
          <a:p xmlns:a="http://schemas.openxmlformats.org/drawingml/2006/main">
            <a:r>
              <a:t>対象:測定した寸法を加工補正へ戻す</a:t>
            </a:r>
          </a:p>
          <a:p xmlns:a="http://schemas.openxmlformats.org/drawingml/2006/main">
            <a:r>
              <a:t>公式要約:Renishaw Central＋IPCで工具オフセットや機械変数を更新。</a:t>
            </a:r>
          </a:p>
          <a:p xmlns:a="http://schemas.openxmlformats.org/drawingml/2006/main">
            <a:r>
              <a:t>年度:Centralは2024掲載済み。2026も継続。</a:t>
            </a:r>
          </a:p>
          <a:p xmlns:a="http://schemas.openxmlformats.org/drawingml/2006/main">
            <a:r>
              <a:t>人・未確認:計測不確かさ、補正上限、異常値の抑止条件は未確認。</a:t>
            </a:r>
          </a:p>
          <a:p xmlns:a="http://schemas.openxmlformats.org/drawingml/2006/main">
            <a:r>
              <a:t>Evidence:EOV-V018-2024-1,EOV-V018-2026-1,EOV-W03</a:t>
            </a:r>
          </a:p>
          <a:p xmlns:a="http://schemas.openxmlformats.org/drawingml/2006/main">
            <a:r>
              <a:t/>
            </a:r>
          </a:p>
          <a:p xmlns:a="http://schemas.openxmlformats.org/drawingml/2006/main">
            <a:r>
              <a:t>B06-2 Wintech Automation / HGM-DX：測定フィードバック研削 / W3051</a:t>
            </a:r>
          </a:p>
          <a:p xmlns:a="http://schemas.openxmlformats.org/drawingml/2006/main">
            <a:r>
              <a:t>対象:測定値を研削加工の補正へ戻す</a:t>
            </a:r>
          </a:p>
          <a:p xmlns:a="http://schemas.openxmlformats.org/drawingml/2006/main">
            <a:r>
              <a:t>公式要約:HGM-DXは測定値を研削機へ返し加工公差を自動補正。</a:t>
            </a:r>
          </a:p>
          <a:p xmlns:a="http://schemas.openxmlformats.org/drawingml/2006/main">
            <a:r>
              <a:t>年度:2024は製造・検査自動化。2026は測定→研削を具体記載。</a:t>
            </a:r>
          </a:p>
          <a:p xmlns:a="http://schemas.openxmlformats.org/drawingml/2006/main">
            <a:r>
              <a:t>人・未確認:補正上限と誤計測時の対応は未確認。</a:t>
            </a:r>
          </a:p>
          <a:p xmlns:a="http://schemas.openxmlformats.org/drawingml/2006/main">
            <a:r>
              <a:t>Evidence:EOV-V034-2024-1,EOV-V034-2026-1</a:t>
            </a:r>
          </a:p>
          <a:p xmlns:a="http://schemas.openxmlformats.org/drawingml/2006/main">
            <a:r>
              <a:t/>
            </a:r>
          </a:p>
          <a:p xmlns:a="http://schemas.openxmlformats.org/drawingml/2006/main">
            <a:r>
              <a:t>B06-3 株式会社サイバーRC / GH5：工具の3D画像認識・AI補正ホーニング / E7074</a:t>
            </a:r>
          </a:p>
          <a:p xmlns:a="http://schemas.openxmlformats.org/drawingml/2006/main">
            <a:r>
              <a:t>対象:工具刃先の幅・角度を狙い値へ加工する</a:t>
            </a:r>
          </a:p>
          <a:p xmlns:a="http://schemas.openxmlformats.org/drawingml/2006/main">
            <a:r>
              <a:t>公式要約:GH5は機内3D画像で刃先を測り、幅・角度の目標へAI補正。</a:t>
            </a:r>
          </a:p>
          <a:p xmlns:a="http://schemas.openxmlformats.org/drawingml/2006/main">
            <a:r>
              <a:t>年度:2024のGM5等から、2026はGH5の測定・加工一体化を記載。</a:t>
            </a:r>
          </a:p>
          <a:p xmlns:a="http://schemas.openxmlformats.org/drawingml/2006/main">
            <a:r>
              <a:t>人・未確認:目標値は人が設定。過研磨・測定不能時の停止復帰は未確認。</a:t>
            </a:r>
          </a:p>
          <a:p xmlns:a="http://schemas.openxmlformats.org/drawingml/2006/main">
            <a:r>
              <a:t>Evidence:EEX-EXH-2026-a0cbad27ea34d7c4,EEX-EXH-2024-76ac534a229f7c29,EDP-02</a:t>
            </a:r>
          </a:p>
          <a:p xmlns:a="http://schemas.openxmlformats.org/drawingml/2006/main">
            <a:r>
              <a:t/>
            </a:r>
          </a:p>
          <a:p xmlns:a="http://schemas.openxmlformats.org/drawingml/2006/main">
            <a:r>
              <a:t>外観検査・撮像と追加学習</a:t>
            </a:r>
          </a:p>
          <a:p xmlns:a="http://schemas.openxmlformats.org/drawingml/2006/main">
            <a:r>
              <a:t>B07-1 HACARUS / HACARUS Check ZERO / S1031</a:t>
            </a:r>
          </a:p>
          <a:p xmlns:a="http://schemas.openxmlformats.org/drawingml/2006/main">
            <a:r>
              <a:t>対象:製品表面の傷・欠け等を判定する</a:t>
            </a:r>
          </a:p>
          <a:p xmlns:a="http://schemas.openxmlformats.org/drawingml/2006/main">
            <a:r>
              <a:t>公式要約:ZEROは良品との差で異常を検出し、人の良否注釈で追加調整。</a:t>
            </a:r>
          </a:p>
          <a:p xmlns:a="http://schemas.openxmlformats.org/drawingml/2006/main">
            <a:r>
              <a:t>年度:追加学習は2025/7発表済み。2026だけの新機能としない。</a:t>
            </a:r>
          </a:p>
          <a:p xmlns:a="http://schemas.openxmlformats.org/drawingml/2006/main">
            <a:r>
              <a:t>人・未確認:人が画像・注釈を準備。更新モデル採用と出荷判定の権限は未確認。</a:t>
            </a:r>
          </a:p>
          <a:p xmlns:a="http://schemas.openxmlformats.org/drawingml/2006/main">
            <a:r>
              <a:t>Evidence:EOV-V021-2026-1,EOV-W06,EDP-14,EDP-15,ERF-05</a:t>
            </a:r>
          </a:p>
          <a:p xmlns:a="http://schemas.openxmlformats.org/drawingml/2006/main">
            <a:r>
              <a:t/>
            </a:r>
          </a:p>
          <a:p xmlns:a="http://schemas.openxmlformats.org/drawingml/2006/main">
            <a:r>
              <a:t>B07-2 日東商事 / HACARUS Check：協働ロボット多面検査 / S1031</a:t>
            </a:r>
          </a:p>
          <a:p xmlns:a="http://schemas.openxmlformats.org/drawingml/2006/main">
            <a:r>
              <a:t>対象:ワークを多方向から撮り外観を検査する</a:t>
            </a:r>
          </a:p>
          <a:p xmlns:a="http://schemas.openxmlformats.org/drawingml/2006/main">
            <a:r>
              <a:t>公式要約:協働ロボットで多角度撮像し、AIで傷・欠けを判定。</a:t>
            </a:r>
          </a:p>
          <a:p xmlns:a="http://schemas.openxmlformats.org/drawingml/2006/main">
            <a:r>
              <a:t>年度:日東商事2024の放電加工機展示から、AI検査を追加記載。</a:t>
            </a:r>
          </a:p>
          <a:p xmlns:a="http://schemas.openxmlformats.org/drawingml/2006/main">
            <a:r>
              <a:t>人・未確認:姿勢教示・再撮像・不良排出の権限は未確認。</a:t>
            </a:r>
          </a:p>
          <a:p xmlns:a="http://schemas.openxmlformats.org/drawingml/2006/main">
            <a:r>
              <a:t>Evidence:EOV-V022-2024-1,EOV-V022-2026-1</a:t>
            </a:r>
          </a:p>
          <a:p xmlns:a="http://schemas.openxmlformats.org/drawingml/2006/main">
            <a:r>
              <a:t/>
            </a:r>
          </a:p>
          <a:p xmlns:a="http://schemas.openxmlformats.org/drawingml/2006/main">
            <a:r>
              <a:t>B07-3 ブルーム-ノボテスト / FormControl X／DIGILOG / E7084</a:t>
            </a:r>
          </a:p>
          <a:p xmlns:a="http://schemas.openxmlformats.org/drawingml/2006/main">
            <a:r>
              <a:t>対象:機上のワーク形状と工具を測る</a:t>
            </a:r>
          </a:p>
          <a:p xmlns:a="http://schemas.openxmlformats.org/drawingml/2006/main">
            <a:r>
              <a:t>公式要約:機上3D測定と工具計測・欠け検知・補正を組み合わせる。</a:t>
            </a:r>
          </a:p>
          <a:p xmlns:a="http://schemas.openxmlformats.org/drawingml/2006/main">
            <a:r>
              <a:t>年度:2024のFormControl X等を継続し、2026はLC54等を追加。</a:t>
            </a:r>
          </a:p>
          <a:p xmlns:a="http://schemas.openxmlformats.org/drawingml/2006/main">
            <a:r>
              <a:t>人・未確認:校正・熱状態・機種適合の条件は未確認。</a:t>
            </a:r>
          </a:p>
          <a:p xmlns:a="http://schemas.openxmlformats.org/drawingml/2006/main">
            <a:r>
              <a:t>Evidence:EOV-V019-2024-1,EOV-V019-2026-1</a:t>
            </a:r>
          </a:p>
          <a:p xmlns:a="http://schemas.openxmlformats.org/drawingml/2006/main">
            <a:r>
              <a:t/>
            </a:r>
          </a:p>
          <a:p xmlns:a="http://schemas.openxmlformats.org/drawingml/2006/main">
            <a:r>
              <a:t>工具摩耗の判定・交換判断</a:t>
            </a:r>
          </a:p>
          <a:p xmlns:a="http://schemas.openxmlformats.org/drawingml/2006/main">
            <a:r>
              <a:t>B08-1 モリマシナリー / ツールコラージュ / S3048</a:t>
            </a:r>
          </a:p>
          <a:p xmlns:a="http://schemas.openxmlformats.org/drawingml/2006/main">
            <a:r>
              <a:t>対象:刃先の欠け・摩耗を判定し記録する</a:t>
            </a:r>
          </a:p>
          <a:p xmlns:a="http://schemas.openxmlformats.org/drawingml/2006/main">
            <a:r>
              <a:t>公式要約:刃先の診断箇所を認知し、欠け・摩耗をAI判定・記録。</a:t>
            </a:r>
          </a:p>
          <a:p xmlns:a="http://schemas.openxmlformats.org/drawingml/2006/main">
            <a:r>
              <a:t>年度:AI摩耗判定は2024にも説明済み。2026は継続。</a:t>
            </a:r>
          </a:p>
          <a:p xmlns:a="http://schemas.openxmlformats.org/drawingml/2006/main">
            <a:r>
              <a:t>人・未確認:対象工具と撮像条件を準備。継続使用の最終決定者は未確認。</a:t>
            </a:r>
          </a:p>
          <a:p xmlns:a="http://schemas.openxmlformats.org/drawingml/2006/main">
            <a:r>
              <a:t>Evidence:EOV-V024-2024-1,EOV-V024-2026-1,EDP-12</a:t>
            </a:r>
          </a:p>
          <a:p xmlns:a="http://schemas.openxmlformats.org/drawingml/2006/main">
            <a:r>
              <a:t/>
            </a:r>
          </a:p>
          <a:p xmlns:a="http://schemas.openxmlformats.org/drawingml/2006/main">
            <a:r>
              <a:t>B08-2 ハイデンハイン / VT122＋VTC 6.0 / E7043</a:t>
            </a:r>
          </a:p>
          <a:p xmlns:a="http://schemas.openxmlformats.org/drawingml/2006/main">
            <a:r>
              <a:t>対象:工具画像から摩耗状態を診断する</a:t>
            </a:r>
          </a:p>
          <a:p xmlns:a="http://schemas.openxmlformats.org/drawingml/2006/main">
            <a:r>
              <a:t>公式要約:VT122にVTC 6.0のAI摩耗診断・工具長機能を記載。</a:t>
            </a:r>
          </a:p>
          <a:p xmlns:a="http://schemas.openxmlformats.org/drawingml/2006/main">
            <a:r>
              <a:t>年度:2024はVT122検査。2026はAI摩耗診断を追加記載。</a:t>
            </a:r>
          </a:p>
          <a:p xmlns:a="http://schemas.openxmlformats.org/drawingml/2006/main">
            <a:r>
              <a:t>人・未確認:判定閾値と自動交換への接続は未確認。</a:t>
            </a:r>
          </a:p>
          <a:p xmlns:a="http://schemas.openxmlformats.org/drawingml/2006/main">
            <a:r>
              <a:t>Evidence:EOV-V023-2024-1,EOV-V023-2026-1</a:t>
            </a:r>
          </a:p>
          <a:p xmlns:a="http://schemas.openxmlformats.org/drawingml/2006/main">
            <a:r>
              <a:t/>
            </a:r>
          </a:p>
          <a:p xmlns:a="http://schemas.openxmlformats.org/drawingml/2006/main">
            <a:r>
              <a:t>B08-3 三菱電機 / NC MachiningAID（2024）／2026 CNC省人化 / S2003</a:t>
            </a:r>
          </a:p>
          <a:p xmlns:a="http://schemas.openxmlformats.org/drawingml/2006/main">
            <a:r>
              <a:t>対象:加工異常・工具摩耗・作業ミスを検知する</a:t>
            </a:r>
          </a:p>
          <a:p xmlns:a="http://schemas.openxmlformats.org/drawingml/2006/main">
            <a:r>
              <a:t>公式要約:2024のMachiningAIDは加工異常・工具摩耗・作業ミスをAI検知。</a:t>
            </a:r>
          </a:p>
          <a:p xmlns:a="http://schemas.openxmlformats.org/drawingml/2006/main">
            <a:r>
              <a:t>年度:2026はAI省人化の総論。個別機能の進化は比較不能。</a:t>
            </a:r>
          </a:p>
          <a:p xmlns:a="http://schemas.openxmlformats.org/drawingml/2006/main">
            <a:r>
              <a:t>人・未確認:2026の継承機能と自動停止・交換権限は未確認。</a:t>
            </a:r>
          </a:p>
          <a:p xmlns:a="http://schemas.openxmlformats.org/drawingml/2006/main">
            <a:r>
              <a:t>Evidence:EAT-V043-2024-1,EAT-V043-2026-1</a:t>
            </a:r>
          </a:p>
          <a:p xmlns:a="http://schemas.openxmlformats.org/drawingml/2006/main">
            <a:r>
              <a:t/>
            </a:r>
          </a:p>
          <a:p xmlns:a="http://schemas.openxmlformats.org/drawingml/2006/main">
            <a:r>
              <a:t>B08-4 モリマシナリー / ツールコラージュアナライザー / S3048</a:t>
            </a:r>
          </a:p>
          <a:p xmlns:a="http://schemas.openxmlformats.org/drawingml/2006/main">
            <a:r>
              <a:t>対象:切削工具をいつ交換するか</a:t>
            </a:r>
          </a:p>
          <a:p xmlns:a="http://schemas.openxmlformats.org/drawingml/2006/main">
            <a:r>
              <a:t>公式要約:摩耗幅のデータを蓄積・学習し、工具寿命と交換時期を提案する。</a:t>
            </a:r>
          </a:p>
          <a:p xmlns:a="http://schemas.openxmlformats.org/drawingml/2006/main">
            <a:r>
              <a:t>年度:2026は寿命予測と交換提案を具体掲載。ただし研究発表は2023にもあり、新方式の誕生とは扱わない。</a:t>
            </a:r>
          </a:p>
          <a:p xmlns:a="http://schemas.openxmlformats.org/drawingml/2006/main">
            <a:r>
              <a:t>人・未確認:人が工具・加工条件と提案の適用を確認する運用は要確認。</a:t>
            </a:r>
          </a:p>
          <a:p xmlns:a="http://schemas.openxmlformats.org/drawingml/2006/main">
            <a:r>
              <a:t>Evidence:EOV-V024-2024-1,EOV-V024-2026-1,EOV-W08</a:t>
            </a:r>
          </a:p>
          <a:p xmlns:a="http://schemas.openxmlformats.org/drawingml/2006/main">
            <a:r>
              <a:t/>
            </a:r>
          </a:p>
          <a:p xmlns:a="http://schemas.openxmlformats.org/drawingml/2006/main">
            <a:r>
              <a:t>B08-5 興和オプトロニクス / RW耐環境ビジョンユニット / S3104</a:t>
            </a:r>
          </a:p>
          <a:p xmlns:a="http://schemas.openxmlformats.org/drawingml/2006/main">
            <a:r>
              <a:t>対象:加工機内の工具折損・摩耗を見つける</a:t>
            </a:r>
          </a:p>
          <a:p xmlns:a="http://schemas.openxmlformats.org/drawingml/2006/main">
            <a:r>
              <a:t>公式要約:水・油・ミスト環境で撮像し、AIで工具折損・摩耗や切粉の異常蓄積を検知するとの説明。</a:t>
            </a:r>
          </a:p>
          <a:p xmlns:a="http://schemas.openxmlformats.org/drawingml/2006/main">
            <a:r>
              <a:t>年度:2024同名原典なし。2026の耐環境撮像とAI検知は確認、登場時期は比較不能。</a:t>
            </a:r>
          </a:p>
          <a:p xmlns:a="http://schemas.openxmlformats.org/drawingml/2006/main">
            <a:r>
              <a:t>人・未確認:対象工具、判定の閾値、検知後の停止・交換の分担は未確認。</a:t>
            </a:r>
          </a:p>
          <a:p xmlns:a="http://schemas.openxmlformats.org/drawingml/2006/main">
            <a:r>
              <a:t>Evidence:EOV-V042-2026-1,EDP-33</a:t>
            </a:r>
          </a:p>
          <a:p xmlns:a="http://schemas.openxmlformats.org/drawingml/2006/main">
            <a:r>
              <a:t/>
            </a:r>
          </a:p>
          <a:p xmlns:a="http://schemas.openxmlformats.org/drawingml/2006/main">
            <a:r>
              <a:t>B08-6 マーポス / ARTIS／BLU／VTS / E7087</a:t>
            </a:r>
          </a:p>
          <a:p xmlns:a="http://schemas.openxmlformats.org/drawingml/2006/main">
            <a:r>
              <a:t>対象:工具寸法と加工状態を測り・監視する</a:t>
            </a:r>
          </a:p>
          <a:p xmlns:a="http://schemas.openxmlformats.org/drawingml/2006/main">
            <a:r>
              <a:t>公式要約:カメラ・レーザーの工具測定と、工具・機械・加工プロセスの監視を展示。</a:t>
            </a:r>
          </a:p>
          <a:p xmlns:a="http://schemas.openxmlformats.org/drawingml/2006/main">
            <a:r>
              <a:t>年度:ARTIS・VTS等は2024にも掲載。2026の展示名だけでは機能の増分を断定できない。</a:t>
            </a:r>
          </a:p>
          <a:p xmlns:a="http://schemas.openxmlformats.org/drawingml/2006/main">
            <a:r>
              <a:t>人・未確認:交換・停止を決める基準と、各機能のAI使用は未確認。</a:t>
            </a:r>
          </a:p>
          <a:p xmlns:a="http://schemas.openxmlformats.org/drawingml/2006/main">
            <a:r>
              <a:t>Evidence:EOV-V020-2024-1,EOV-V020-2026-1</a:t>
            </a:r>
          </a:p>
          <a:p xmlns:a="http://schemas.openxmlformats.org/drawingml/2006/main">
            <a:r>
              <a:t/>
            </a:r>
          </a:p>
          <a:p xmlns:a="http://schemas.openxmlformats.org/drawingml/2006/main">
            <a:r>
              <a:t>B08-7 Masterlink / 工作機械センシングの知能化による生産性向上： / E1050</a:t>
            </a:r>
          </a:p>
          <a:p xmlns:a="http://schemas.openxmlformats.org/drawingml/2006/main">
            <a:r>
              <a:t>対象:工具の異常を監視する（方式要確認）</a:t>
            </a:r>
          </a:p>
          <a:p xmlns:a="http://schemas.openxmlformats.org/drawingml/2006/main">
            <a:r>
              <a:t>公式要約:工具監視、適応加工、予知保全を出展項目として掲載。入力信号と判定方式は未記載。</a:t>
            </a:r>
          </a:p>
          <a:p xmlns:a="http://schemas.openxmlformats.org/drawingml/2006/main">
            <a:r>
              <a:t>年度:2024はセンシング・現場管理の総論。2026は工具監視等を列挙。性能差は不明。</a:t>
            </a:r>
          </a:p>
          <a:p xmlns:a="http://schemas.openxmlformats.org/drawingml/2006/main">
            <a:r>
              <a:t>人・未確認:監視結果から停止・交換へ移す手順、担当者は未確認。</a:t>
            </a:r>
          </a:p>
          <a:p xmlns:a="http://schemas.openxmlformats.org/drawingml/2006/main">
            <a:r>
              <a:t>Evidence:EEX-EXH-2026-19ce238d137fe275,EEX-EXH-2024-a2fae1d1864676d1</a:t>
            </a:r>
          </a:p>
          <a:p xmlns:a="http://schemas.openxmlformats.org/drawingml/2006/main">
            <a:r>
              <a:t/>
            </a:r>
          </a:p>
          <a:p xmlns:a="http://schemas.openxmlformats.org/drawingml/2006/main">
            <a:r>
              <a:t>設備・刃具の異常検知と保全</a:t>
            </a:r>
          </a:p>
          <a:p xmlns:a="http://schemas.openxmlformats.org/drawingml/2006/main">
            <a:r>
              <a:t>B09-1 ムラテックＣＣＳ株式会社 / プライマリドクタサービス：稼働中データのAI診断 / E3031</a:t>
            </a:r>
          </a:p>
          <a:p xmlns:a="http://schemas.openxmlformats.org/drawingml/2006/main">
            <a:r>
              <a:t>対象:設備の電流・振動から劣化を診断する</a:t>
            </a:r>
          </a:p>
          <a:p xmlns:a="http://schemas.openxmlformats.org/drawingml/2006/main">
            <a:r>
              <a:t>公式要約:稼働中の電流・振動等を新品状態と比較し劣化・異常を診断。</a:t>
            </a:r>
          </a:p>
          <a:p xmlns:a="http://schemas.openxmlformats.org/drawingml/2006/main">
            <a:r>
              <a:t>年度:プライマリドクタのAI診断は2024から継続。</a:t>
            </a:r>
          </a:p>
          <a:p xmlns:a="http://schemas.openxmlformats.org/drawingml/2006/main">
            <a:r>
              <a:t>人・未確認:計測後の点検・交換の最終決定者、誤警報時の扱いは未確認。</a:t>
            </a:r>
          </a:p>
          <a:p xmlns:a="http://schemas.openxmlformats.org/drawingml/2006/main">
            <a:r>
              <a:t>Evidence:EEX-EXH-2026-308c5194f12fe009,EEX-EXH-2024-b0a94c1cd407ea8a,EDP-13</a:t>
            </a:r>
          </a:p>
          <a:p xmlns:a="http://schemas.openxmlformats.org/drawingml/2006/main">
            <a:r>
              <a:t/>
            </a:r>
          </a:p>
          <a:p xmlns:a="http://schemas.openxmlformats.org/drawingml/2006/main">
            <a:r>
              <a:t>B09-2 アズビル（TACO共同出展） / U4DM01 NC旋盤予兆検知 / W4070</a:t>
            </a:r>
          </a:p>
          <a:p xmlns:a="http://schemas.openxmlformats.org/drawingml/2006/main">
            <a:r>
              <a:t>対象:NC旋盤の刃具破損を検知する</a:t>
            </a:r>
          </a:p>
          <a:p xmlns:a="http://schemas.openxmlformats.org/drawingml/2006/main">
            <a:r>
              <a:t>公式要約:U4DM01はNC旋盤の刃具破損検知と後付け適用を説明。</a:t>
            </a:r>
          </a:p>
          <a:p xmlns:a="http://schemas.openxmlformats.org/drawingml/2006/main">
            <a:r>
              <a:t>年度:2024参考U4Dから2026 Coming soon表記。性能差は不明。</a:t>
            </a:r>
          </a:p>
          <a:p xmlns:a="http://schemas.openxmlformats.org/drawingml/2006/main">
            <a:r>
              <a:t>人・未確認:2024は設定・学習開始操作あり。停止や交換権限は未確認。</a:t>
            </a:r>
          </a:p>
          <a:p xmlns:a="http://schemas.openxmlformats.org/drawingml/2006/main">
            <a:r>
              <a:t>Evidence:RPT-EXH-2026-2c48cf1373cedc75,RPT-EXH-2024-2caebd449015630d</a:t>
            </a:r>
          </a:p>
          <a:p xmlns:a="http://schemas.openxmlformats.org/drawingml/2006/main">
            <a:r>
              <a:t/>
            </a:r>
          </a:p>
          <a:p xmlns:a="http://schemas.openxmlformats.org/drawingml/2006/main">
            <a:r>
              <a:t>B09-3 日本精工 / 振動診断AI・遠隔監視 / W2048</a:t>
            </a:r>
          </a:p>
          <a:p xmlns:a="http://schemas.openxmlformats.org/drawingml/2006/main">
            <a:r>
              <a:t>対象:振動から設備状態を診断する</a:t>
            </a:r>
          </a:p>
          <a:p xmlns:a="http://schemas.openxmlformats.org/drawingml/2006/main">
            <a:r>
              <a:t>公式要約:2024はAI振動診断と遠隔監視を紹介。</a:t>
            </a:r>
          </a:p>
          <a:p xmlns:a="http://schemas.openxmlformats.org/drawingml/2006/main">
            <a:r>
              <a:t>年度:2026の総論だけでは2024比の増分を判定できない。</a:t>
            </a:r>
          </a:p>
          <a:p xmlns:a="http://schemas.openxmlformats.org/drawingml/2006/main">
            <a:r>
              <a:t>人・未確認:2026の個別機能、保全判断への接続は資料不足。</a:t>
            </a:r>
          </a:p>
          <a:p xmlns:a="http://schemas.openxmlformats.org/drawingml/2006/main">
            <a:r>
              <a:t>Evidence:EOV-V032-2024-1,EOV-V032-2026-1</a:t>
            </a:r>
          </a:p>
          <a:p xmlns:a="http://schemas.openxmlformats.org/drawingml/2006/main">
            <a:r>
              <a:t/>
            </a:r>
          </a:p>
          <a:p xmlns:a="http://schemas.openxmlformats.org/drawingml/2006/main">
            <a:r>
              <a:t>原典</a:t>
            </a:r>
          </a:p>
          <a:p xmlns:a="http://schemas.openxmlformats.org/drawingml/2006/main">
            <a:r>
              <a:t>EEX-EXH-2026-3b6a1de81c17dfee JIMTOF2026公式出展説明：株式会社Fact Base (S3017)</a:t>
            </a:r>
          </a:p>
          <a:p xmlns:a="http://schemas.openxmlformats.org/drawingml/2006/main">
            <a:r>
              <a:t>https://www.jimtof.org/search/jp/ESdetails?e=hZaNogHdQM4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EDP-11 ズメーン導入事例：ダイニチ</a:t>
            </a:r>
          </a:p>
          <a:p xmlns:a="http://schemas.openxmlformats.org/drawingml/2006/main">
            <a:r>
              <a:t>https://lp.zume-n.com/case-1/sagadainichi</a:t>
            </a:r>
          </a:p>
          <a:p xmlns:a="http://schemas.openxmlformats.org/drawingml/2006/main">
            <a:r>
              <a:t>該当箇所:AI・OCR文字読取／人の目で確認・補正／関連資料・改訂履歴</a:t>
            </a:r>
          </a:p>
          <a:p xmlns:a="http://schemas.openxmlformats.org/drawingml/2006/main">
            <a:r>
              <a:t>確認:2026-10-16</a:t>
            </a:r>
          </a:p>
          <a:p xmlns:a="http://schemas.openxmlformats.org/drawingml/2006/main">
            <a:r>
              <a:t>種類:企業公式サイトに掲載された顧客発言</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EOV-V041-2026-1 JIMTOF2026公式カタログ：匠技研工業株式会社 (S3011)</a:t>
            </a:r>
          </a:p>
          <a:p xmlns:a="http://schemas.openxmlformats.org/drawingml/2006/main">
            <a:r>
              <a:t>https://www.jimtof.org/search/jp/ESdetails?e=i_4zCxJP258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EDP-05 匠フォースAIエージェント発表</a:t>
            </a:r>
          </a:p>
          <a:p xmlns:a="http://schemas.openxmlformats.org/drawingml/2006/main">
            <a:r>
              <a:t>https://prtimes.jp/main/html/rd/p/000000031.000057137.html</a:t>
            </a:r>
          </a:p>
          <a:p xmlns:a="http://schemas.openxmlformats.org/drawingml/2006/main">
            <a:r>
              <a:t>該当箇所:見積金額算出／人の修正による再学習／引合受領から見積書作成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EOV-V007-2026-2 JIMTOF2026公式カタログ：Hexagon Manufacturing Intelligence株式会社 (E2013)</a:t>
            </a:r>
          </a:p>
          <a:p xmlns:a="http://schemas.openxmlformats.org/drawingml/2006/main">
            <a:r>
              <a:t>https://www.jimtof.org/search/jp/ESdetails?e=6l20Qo0pjl4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EOV-W02 ESPRIT EDGE Release Highlights</a:t>
            </a:r>
          </a:p>
          <a:p xmlns:a="http://schemas.openxmlformats.org/drawingml/2006/main">
            <a:r>
              <a:t>https://hexagon.com/products/esprit-edge/release-highlights</a:t>
            </a:r>
          </a:p>
          <a:p xmlns:a="http://schemas.openxmlformats.org/drawingml/2006/main">
            <a:r>
              <a:t>該当箇所:2025.2 PROPLANAI、2026.1 ProPlanAI for Turning, Mill-Turn &amp; Swiss</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展示:メーカーの提供状況。対象機種や契約、顧客実績は未確認</a:t>
            </a:r>
          </a:p>
          <a:p xmlns:a="http://schemas.openxmlformats.org/drawingml/2006/main">
            <a:r>
              <a:t/>
            </a:r>
          </a:p>
          <a:p xmlns:a="http://schemas.openxmlformats.org/drawingml/2006/main">
            <a:r>
              <a:t>EOV-V008-2024-1 JIMTOF2024公式カタログ：ジェービーエムエンジニアリング株式会社 (E5028)</a:t>
            </a:r>
          </a:p>
          <a:p xmlns:a="http://schemas.openxmlformats.org/drawingml/2006/main">
            <a:r>
              <a:t>https://www.jimtof.org/2024/search/jp/ESdetails?e=G-8gydwhMvE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EOV-V008-2024-2 JIMTOF2024公式カタログ：ジェービーエムエンジニアリング株式会社 (AM111)</a:t>
            </a:r>
          </a:p>
          <a:p xmlns:a="http://schemas.openxmlformats.org/drawingml/2006/main">
            <a:r>
              <a:t>https://www.jimtof.org/2024/search/jp/ESdetails?e=ZBxZW2vyjUw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EOV-V008-2026-1 JIMTOF2026公式カタログ：ジェービーエムエンジニアリング株式会社 (E2002)</a:t>
            </a:r>
          </a:p>
          <a:p xmlns:a="http://schemas.openxmlformats.org/drawingml/2006/main">
            <a:r>
              <a:t>https://www.jimtof.org/search/jp/ESdetails?e=VrAjMTKmxdw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EDP-09 Mastercam向けCAM Assist</a:t>
            </a:r>
          </a:p>
          <a:p xmlns:a="http://schemas.openxmlformats.org/drawingml/2006/main">
            <a:r>
              <a:t>https://www.cloudnc.com/ja/mastercam</a:t>
            </a:r>
          </a:p>
          <a:p xmlns:a="http://schemas.openxmlformats.org/drawingml/2006/main">
            <a:r>
              <a:t>該当箇所:仕組みステップ1〜4／FAQの対象加工・顧客データ学習の否定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EDP-10 Mastercam向けCAM Assist提供開始</a:t>
            </a:r>
          </a:p>
          <a:p xmlns:a="http://schemas.openxmlformats.org/drawingml/2006/main">
            <a:r>
              <a:t>https://www.cloudnc.com/news-room/cam-assist-the-first-ai-plug-in-for-cam-is-now-available-for-mastercam</a:t>
            </a:r>
          </a:p>
          <a:p xmlns:a="http://schemas.openxmlformats.org/drawingml/2006/main">
            <a:r>
              <a:t>該当箇所:July 25, 2024／3軸・3+2軸向け。北米販売開始の説明</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ERF-03 Mastercam CAM Assist：確認・調整と学習方針</a:t>
            </a:r>
          </a:p>
          <a:p xmlns:a="http://schemas.openxmlformats.org/drawingml/2006/main">
            <a:r>
              <a:t>https://www.cloudnc.com/ja/mastercam</a:t>
            </a:r>
          </a:p>
          <a:p xmlns:a="http://schemas.openxmlformats.org/drawingml/2006/main">
            <a:r>
              <a:t>該当箇所:仕組みStep 2–4／FAQ：顧客データで学習しない、加工性評価、編集可能CAM</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EEX-EXH-2026-0436fc7b61f51a8e JIMTOF2026公式出展説明：タクテックス株式会社 (S1016)</a:t>
            </a:r>
          </a:p>
          <a:p xmlns:a="http://schemas.openxmlformats.org/drawingml/2006/main">
            <a:r>
              <a:t>https://www.jimtof.org/search/jp/ESdetails?e=2TVzwvOqLxI</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EEX-EXH-2024-eb84f3b7fa9cf6db JIMTOF2024公式出展説明：タクテックス株式会社 (E5030)</a:t>
            </a:r>
          </a:p>
          <a:p xmlns:a="http://schemas.openxmlformats.org/drawingml/2006/main">
            <a:r>
              <a:t>https://www.jimtof.org/2024/search/jp/ESdetails?e=p_i9WuUhNRg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EDP-07 SolidCAM向けCAM Assist</a:t>
            </a:r>
          </a:p>
          <a:p xmlns:a="http://schemas.openxmlformats.org/drawingml/2006/main">
            <a:r>
              <a:t>https://www.cloudnc.com/ja/solidcam</a:t>
            </a:r>
          </a:p>
          <a:p xmlns:a="http://schemas.openxmlformats.org/drawingml/2006/main">
            <a:r>
              <a:t>該当箇所:仕組みステップ1〜4／FAQの対象加工・通信・戦略生成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EDP-08 CloudNC CAM Assist公式ヘルプ</a:t>
            </a:r>
          </a:p>
          <a:p xmlns:a="http://schemas.openxmlformats.org/drawingml/2006/main">
            <a:r>
              <a:t>https://help.solidcam.com/topics/solutions/cloudnc-cam-assist.htm</a:t>
            </a:r>
          </a:p>
          <a:p xmlns:a="http://schemas.openxmlformats.org/drawingml/2006/main">
            <a:r>
              <a:t>該当箇所:形状・工具・材種・段取りの入力／プログラマーの修正・検証・NC出力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ERF-04 CAM Assistの生成後の編集・検証</a:t>
            </a:r>
          </a:p>
          <a:p xmlns:a="http://schemas.openxmlformats.org/drawingml/2006/main">
            <a:r>
              <a:t>https://help.solidcam.com/topics/solutions/cloudnc-cam-assist.htm</a:t>
            </a:r>
          </a:p>
          <a:p xmlns:a="http://schemas.openxmlformats.org/drawingml/2006/main">
            <a:r>
              <a:t>該当箇所:L11–19／プログラマーがreview・refine、既存のsimulation・verification・NC生成</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EOV-V009-2024-1 JIMTOF2024公式カタログ：株式会社CGTech (E5042)</a:t>
            </a:r>
          </a:p>
          <a:p xmlns:a="http://schemas.openxmlformats.org/drawingml/2006/main">
            <a:r>
              <a:t>https://www.jimtof.org/2024/search/jp/ESdetails?e=AxDUk3YbQDI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EOV-V009-2026-1 JIMTOF2026公式カタログ：株式会社CGTech (S3014)</a:t>
            </a:r>
          </a:p>
          <a:p xmlns:a="http://schemas.openxmlformats.org/drawingml/2006/main">
            <a:r>
              <a:t>https://www.jimtof.org/search/jp/ESdetails?e=41U8xW4UkcM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RPT-S04 Vericut Force FAQ</a:t>
            </a:r>
          </a:p>
          <a:p xmlns:a="http://schemas.openxmlformats.org/drawingml/2006/main">
            <a:r>
              <a:t>https://archive.vericut.com/force-faq/</a:t>
            </a:r>
          </a:p>
          <a:p xmlns:a="http://schemas.openxmlformats.org/drawingml/2006/main">
            <a:r>
              <a:t>該当箇所:Force physics-based optimization</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RPT-EXH-2026-3f24aaee60d77db1 Third Wave Systems Japan合同会社 JIMTOF2026</a:t>
            </a:r>
          </a:p>
          <a:p xmlns:a="http://schemas.openxmlformats.org/drawingml/2006/main">
            <a:r>
              <a:t>https://www.jimtof.org/search/jp/ESdetails?e=L43LSAjxuyc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RPT-S05 Production Module v8.2 release</a:t>
            </a:r>
          </a:p>
          <a:p xmlns:a="http://schemas.openxmlformats.org/drawingml/2006/main">
            <a:r>
              <a:t>https://thirdwavesys.com/latest-news/production-module-v8-2-release/</a:t>
            </a:r>
          </a:p>
          <a:p xmlns:a="http://schemas.openxmlformats.org/drawingml/2006/main">
            <a:r>
              <a:t>該当箇所:工具たわみ・entry/exit feedrate constraints</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RPT-EXH-2026-107042c6cf64ba96 西部商工株式会社 JIMTOF2026</a:t>
            </a:r>
          </a:p>
          <a:p xmlns:a="http://schemas.openxmlformats.org/drawingml/2006/main">
            <a:r>
              <a:t>https://www.jimtof.org/search/jp/ESdetails?e=OC6R-wdDduM</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RPT-EXH-2024-151b23d9e05ccb13 西部商工株式会社 JIMTOF2024</a:t>
            </a:r>
          </a:p>
          <a:p xmlns:a="http://schemas.openxmlformats.org/drawingml/2006/main">
            <a:r>
              <a:t>https://www.jimtof.org/2024/search/jp/ESdetails?e=YRTw8XJWi9g</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EAT-N03 CoAgent for Engineering TE1700</a:t>
            </a:r>
          </a:p>
          <a:p xmlns:a="http://schemas.openxmlformats.org/drawingml/2006/main">
            <a:r>
              <a:t>https://www.beckhoff.com/ko-kr/products/automation/twincat/texxxx-twincat-3-engineering/te1700.html</a:t>
            </a:r>
          </a:p>
          <a:p xmlns:a="http://schemas.openxmlformats.org/drawingml/2006/main">
            <a:r>
              <a:t>該当箇所:Features／Product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ERF-01 From chatbot to intelligent agent</a:t>
            </a:r>
          </a:p>
          <a:p xmlns:a="http://schemas.openxmlformats.org/drawingml/2006/main">
            <a:r>
              <a:t>https://www.beckhoff.com/en-gb/company/news/from-chatbot-to-intelligent-agent.html</a:t>
            </a:r>
          </a:p>
          <a:p xmlns:a="http://schemas.openxmlformats.org/drawingml/2006/main">
            <a:r>
              <a:t>該当箇所:2025/6/13／Placing people at the heart of automation；PLC・I/O・HMI、専門家がreview・confirm・approve</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EOV-V006-2024-1 JIMTOF2024公式カタログ：EPLAN株式会社 (E2033)</a:t>
            </a:r>
          </a:p>
          <a:p xmlns:a="http://schemas.openxmlformats.org/drawingml/2006/main">
            <a:r>
              <a:t>https://www.jimtof.org/2024/search/jp/ESdetails?e=50efK4rQsHs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EOV-V006-2026-1 JIMTOF2026公式カタログ：EPLAN株式会社 (S1067)</a:t>
            </a:r>
          </a:p>
          <a:p xmlns:a="http://schemas.openxmlformats.org/drawingml/2006/main">
            <a:r>
              <a:t>https://www.jimtof.org/search/jp/ESdetails?e=FHsQAvmFusY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EAT-N06 Eplan Copilot</a:t>
            </a:r>
          </a:p>
          <a:p xmlns:a="http://schemas.openxmlformats.org/drawingml/2006/main">
            <a:r>
              <a:t>https://www.eplan.com/us-en/about-us/innovations/eplan-copilot/</a:t>
            </a:r>
          </a:p>
          <a:p xmlns:a="http://schemas.openxmlformats.org/drawingml/2006/main">
            <a:r>
              <a:t>該当箇所:Based on a described task／Looking ahead／conceptual phase</a:t>
            </a:r>
          </a:p>
          <a:p xmlns:a="http://schemas.openxmlformats.org/drawingml/2006/main">
            <a:r>
              <a:t>確認:2026-10-16</a:t>
            </a:r>
          </a:p>
          <a:p xmlns:a="http://schemas.openxmlformats.org/drawingml/2006/main">
            <a:r>
              <a:t>種類:企業公式説明・メーカー主張</a:t>
            </a:r>
          </a:p>
          <a:p xmlns:a="http://schemas.openxmlformats.org/drawingml/2006/main">
            <a:r>
              <a:t>展示:現行支援と将来構想を分離</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RPT-S02 オークマ サーモフレンドリーコンセプト</a:t>
            </a:r>
          </a:p>
          <a:p xmlns:a="http://schemas.openxmlformats.org/drawingml/2006/main">
            <a:r>
              <a:t>https://www.okuma.co.jp/thermo-aniv/</a:t>
            </a:r>
          </a:p>
          <a:p xmlns:a="http://schemas.openxmlformats.org/drawingml/2006/main">
            <a:r>
              <a:t>該当箇所:サーモフレンドリーコンセプトの説明・沿革</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RPT-S03 Mazak Accuracy / Ai Thermal Shield</a:t>
            </a:r>
          </a:p>
          <a:p xmlns:a="http://schemas.openxmlformats.org/drawingml/2006/main">
            <a:r>
              <a:t>https://www.mazak.com/uk-en/technology/accuracy/</a:t>
            </a:r>
          </a:p>
          <a:p xmlns:a="http://schemas.openxmlformats.org/drawingml/2006/main">
            <a:r>
              <a:t>該当箇所:Ai Thermal Shield／Smooth Thermal Shield</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EOV-V004-2024-1 JIMTOF2024公式カタログ：ヤマザキマザック株式会社 (E5001)</a:t>
            </a:r>
          </a:p>
          <a:p xmlns:a="http://schemas.openxmlformats.org/drawingml/2006/main">
            <a:r>
              <a:t>https://www.jimtof.org/2024/search/jp/ESdetails?e=q0OrZBKM3uQ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EOV-V004-2026-1 JIMTOF2026公式カタログ：ヤマザキマザック株式会社 (E1001)</a:t>
            </a:r>
          </a:p>
          <a:p xmlns:a="http://schemas.openxmlformats.org/drawingml/2006/main">
            <a:r>
              <a:t>https://www.jimtof.org/search/jp/ESdetails?e=PJEgqNYlWes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EAT-N08 JIMTOF2026 Machines &amp; Automation Systems</a:t>
            </a:r>
          </a:p>
          <a:p xmlns:a="http://schemas.openxmlformats.org/drawingml/2006/main">
            <a:r>
              <a:t>https://www.mazak.com/jp-en/news-media/upcoming-events/jimtof2026/</a:t>
            </a:r>
          </a:p>
          <a:p xmlns:a="http://schemas.openxmlformats.org/drawingml/2006/main">
            <a:r>
              <a:t>該当箇所:Machines &amp; Automation Systems／Automation Systems</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展示:2026展示予定。AI機能の方式説明はない</a:t>
            </a:r>
          </a:p>
          <a:p xmlns:a="http://schemas.openxmlformats.org/drawingml/2006/main">
            <a:r>
              <a:t/>
            </a:r>
          </a:p>
          <a:p xmlns:a="http://schemas.openxmlformats.org/drawingml/2006/main">
            <a:r>
              <a:t>RPT-S01 オークマ 加工ナビ</a:t>
            </a:r>
          </a:p>
          <a:p xmlns:a="http://schemas.openxmlformats.org/drawingml/2006/main">
            <a:r>
              <a:t>https://www.okuma.co.jp/solution_technology/process/</a:t>
            </a:r>
          </a:p>
          <a:p xmlns:a="http://schemas.openxmlformats.org/drawingml/2006/main">
            <a:r>
              <a:t>該当箇所:加工ナビ M-i／M-gⅡ</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EOV-V018-2024-1 JIMTOF2024公式カタログ：レニショー株式会社 (E7026)</a:t>
            </a:r>
          </a:p>
          <a:p xmlns:a="http://schemas.openxmlformats.org/drawingml/2006/main">
            <a:r>
              <a:t>https://www.jimtof.org/2024/search/jp/ESdetails?e=ekM3exgIAtc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EOV-V018-2026-1 JIMTOF2026公式カタログ：レニショー株式会社 (E7089)</a:t>
            </a:r>
          </a:p>
          <a:p xmlns:a="http://schemas.openxmlformats.org/drawingml/2006/main">
            <a:r>
              <a:t>https://www.jimtof.org/search/jp/ESdetails?e=pYGmVz5GC1c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EOV-W03 Renishaw Central データプラットフォーム</a:t>
            </a:r>
          </a:p>
          <a:p xmlns:a="http://schemas.openxmlformats.org/drawingml/2006/main">
            <a:r>
              <a:t>https://www.renishaw.com/jp/smart-manufacturing-data-platform-for-industrial-process-control--47853</a:t>
            </a:r>
          </a:p>
          <a:p xmlns:a="http://schemas.openxmlformats.org/drawingml/2006/main">
            <a:r>
              <a:t>該当箇所:メカニズム、現場でのクローズドループ、導入効果</a:t>
            </a:r>
          </a:p>
          <a:p xmlns:a="http://schemas.openxmlformats.org/drawingml/2006/main">
            <a:r>
              <a:t>確認:2026-10-16</a:t>
            </a:r>
          </a:p>
          <a:p xmlns:a="http://schemas.openxmlformats.org/drawingml/2006/main">
            <a:r>
              <a:t>種類:企業公式資料・メーカー主張</a:t>
            </a:r>
          </a:p>
          <a:p xmlns:a="http://schemas.openxmlformats.org/drawingml/2006/main">
            <a:r>
              <a:t>展示:2024にも展示掲載済み。既存方式の実装例であり2026新規とはしない</a:t>
            </a:r>
          </a:p>
          <a:p xmlns:a="http://schemas.openxmlformats.org/drawingml/2006/main">
            <a:r>
              <a:t/>
            </a:r>
          </a:p>
          <a:p xmlns:a="http://schemas.openxmlformats.org/drawingml/2006/main">
            <a:r>
              <a:t>EOV-V034-2024-1 JIMTOF2024公式カタログ：Wintech Automation Co., Ltd. (E7025)</a:t>
            </a:r>
          </a:p>
          <a:p xmlns:a="http://schemas.openxmlformats.org/drawingml/2006/main">
            <a:r>
              <a:t>https://www.jimtof.org/2024/search/jp/ESdetails?e=-09Q4AWJx1E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EOV-V034-2026-1 JIMTOF2026公式カタログ：Wintech Automation Co., Ltd (W3051)</a:t>
            </a:r>
          </a:p>
          <a:p xmlns:a="http://schemas.openxmlformats.org/drawingml/2006/main">
            <a:r>
              <a:t>https://www.jimtof.org/search/jp/ESdetails?e=lMk3zNvQJbg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EEX-EXH-2026-a0cbad27ea34d7c4 JIMTOF2026公式出展説明：株式会社サイバーRC (E7074)</a:t>
            </a:r>
          </a:p>
          <a:p xmlns:a="http://schemas.openxmlformats.org/drawingml/2006/main">
            <a:r>
              <a:t>https://www.jimtof.org/search/jp/ESdetails?e=8ealehgmk8o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EEX-EXH-2024-76ac534a229f7c29 JIMTOF2024公式出展説明：株式会社サイバーRC (W3046)</a:t>
            </a:r>
          </a:p>
          <a:p xmlns:a="http://schemas.openxmlformats.org/drawingml/2006/main">
            <a:r>
              <a:t>https://www.jimtof.org/2024/search/jp/ESdetails?e=wk2AEX5rHpw</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EDP-02 GH5総合カタログ</a:t>
            </a:r>
          </a:p>
          <a:p xmlns:a="http://schemas.openxmlformats.org/drawingml/2006/main">
            <a:r>
              <a:t>https://cyber-rc.com/wp-content/uploads/2025/10/%E7%B7%8F%E5%90%88%E3%82%AB%E3%82%BF%E3%83%AD%E3%82%B0420-x-297-mm%E6%A8%AA%E4%B8%A6%E3%81%B3-.pdf</a:t>
            </a:r>
          </a:p>
          <a:p xmlns:a="http://schemas.openxmlformats.org/drawingml/2006/main">
            <a:r>
              <a:t>該当箇所:GRISTAR HONING 5 AXIS／幅・角度設定、Robot Eye、自動調整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EOV-V021-2026-1 JIMTOF2026公式カタログ：株式会社ＨＡＣＡＲＵＳ (S1031)</a:t>
            </a:r>
          </a:p>
          <a:p xmlns:a="http://schemas.openxmlformats.org/drawingml/2006/main">
            <a:r>
              <a:t>https://www.jimtof.org/search/jp/ESdetails?e=oatArsOZ-Wc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EOV-W06 AI外観検査ソリューション HACARUS Check</a:t>
            </a:r>
          </a:p>
          <a:p xmlns:a="http://schemas.openxmlformats.org/drawingml/2006/main">
            <a:r>
              <a:t>https://hacarus.com/ja/technology/hacarus-check-series/</a:t>
            </a:r>
          </a:p>
          <a:p xmlns:a="http://schemas.openxmlformats.org/drawingml/2006/main">
            <a:r>
              <a:t>該当箇所:2026.04.06本文</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展示:メーカー製品説明。独立評価の精度ではない</a:t>
            </a:r>
          </a:p>
          <a:p xmlns:a="http://schemas.openxmlformats.org/drawingml/2006/main">
            <a:r>
              <a:t/>
            </a:r>
          </a:p>
          <a:p xmlns:a="http://schemas.openxmlformats.org/drawingml/2006/main">
            <a:r>
              <a:t>EDP-14 Check ZERO正式販売開始</a:t>
            </a:r>
          </a:p>
          <a:p xmlns:a="http://schemas.openxmlformats.org/drawingml/2006/main">
            <a:r>
              <a:t>https://hacarus.com/ja/press-release/20250707-news/</a:t>
            </a:r>
          </a:p>
          <a:p xmlns:a="http://schemas.openxmlformats.org/drawingml/2006/main">
            <a:r>
              <a:t>該当箇所:2025/7/9販売／良品学習とアノテーション追加学習／判定UI</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EDP-15 Checkシリーズ公式製品説明</a:t>
            </a:r>
          </a:p>
          <a:p xmlns:a="http://schemas.openxmlformats.org/drawingml/2006/main">
            <a:r>
              <a:t>https://check.hacarus.com/ja/</a:t>
            </a:r>
          </a:p>
          <a:p xmlns:a="http://schemas.openxmlformats.org/drawingml/2006/main">
            <a:r>
              <a:t>該当箇所:Check ZERO／デュアルチューニング／機器構成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ERF-05 Check ZERO公式ソフトウェア説明</a:t>
            </a:r>
          </a:p>
          <a:p xmlns:a="http://schemas.openxmlformats.org/drawingml/2006/main">
            <a:r>
              <a:t>https://check.hacarus.com/ja/aisoftware/</a:t>
            </a:r>
          </a:p>
          <a:p xmlns:a="http://schemas.openxmlformats.org/drawingml/2006/main">
            <a:r>
              <a:t>該当箇所:特徴／異常箇所表示・良否アノテーション追加学習</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EOV-V022-2024-1 JIMTOF2024公式カタログ：日東商事株式会社 (E5040)</a:t>
            </a:r>
          </a:p>
          <a:p xmlns:a="http://schemas.openxmlformats.org/drawingml/2006/main">
            <a:r>
              <a:t>https://www.jimtof.org/2024/search/jp/ESdetails?e=S23RMUbJOQs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EOV-V022-2026-1 JIMTOF2026公式カタログ：日東商事株式会社 (S1031)</a:t>
            </a:r>
          </a:p>
          <a:p xmlns:a="http://schemas.openxmlformats.org/drawingml/2006/main">
            <a:r>
              <a:t>https://www.jimtof.org/search/jp/ESdetails?e=GozGZRxlviw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EOV-V019-2024-1 JIMTOF2024公式カタログ：ブルーム-ノボテスト株式会社 (E7132)</a:t>
            </a:r>
          </a:p>
          <a:p xmlns:a="http://schemas.openxmlformats.org/drawingml/2006/main">
            <a:r>
              <a:t>https://www.jimtof.org/2024/search/jp/ESdetails?e=Zz8BlB0Ylio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EOV-V019-2026-1 JIMTOF2026公式カタログ：ブルーム-ノボテスト株式会社 (E7084)</a:t>
            </a:r>
          </a:p>
          <a:p xmlns:a="http://schemas.openxmlformats.org/drawingml/2006/main">
            <a:r>
              <a:t>https://www.jimtof.org/search/jp/ESdetails?e=_njqMb9vBpc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EOV-V024-2024-1 JIMTOF2024公式カタログ：モリマシナリー株式会社 (S3017)</a:t>
            </a:r>
          </a:p>
          <a:p xmlns:a="http://schemas.openxmlformats.org/drawingml/2006/main">
            <a:r>
              <a:t>https://www.jimtof.org/2024/search/jp/ESdetails?e=yEoPl5sH6Sg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EOV-V024-2026-1 JIMTOF2026公式カタログ：モリマシナリー株式会社 (S3048)</a:t>
            </a:r>
          </a:p>
          <a:p xmlns:a="http://schemas.openxmlformats.org/drawingml/2006/main">
            <a:r>
              <a:t>https://www.jimtof.org/search/jp/ESdetails?e=ZvT3Lci-hnM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EDP-12 TOOL SOMMELIER／TOOL COLLAGE</a:t>
            </a:r>
          </a:p>
          <a:p xmlns:a="http://schemas.openxmlformats.org/drawingml/2006/main">
            <a:r>
              <a:t>https://mori-machinery.com/en/product/tool-sommelier?post_id=1066</a:t>
            </a:r>
          </a:p>
          <a:p xmlns:a="http://schemas.openxmlformats.org/drawingml/2006/main">
            <a:r>
              <a:t>該当箇所:刃先撮像・欠け摩耗自動検出／FAQの工具・径制約</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EOV-V023-2024-1 JIMTOF2024公式カタログ：ハイデンハイン株式会社 (E7123)</a:t>
            </a:r>
          </a:p>
          <a:p xmlns:a="http://schemas.openxmlformats.org/drawingml/2006/main">
            <a:r>
              <a:t>https://www.jimtof.org/2024/search/jp/ESdetails?e=GFSwCXSxe9o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EOV-V023-2026-1 JIMTOF2026公式カタログ：ハイデンハイン株式会社 (E7043)</a:t>
            </a:r>
          </a:p>
          <a:p xmlns:a="http://schemas.openxmlformats.org/drawingml/2006/main">
            <a:r>
              <a:t>https://www.jimtof.org/search/jp/ESdetails?e=iohDR5yR9VA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EAT-V043-2024-1 JIMTOF2024公式カタログ：三菱電機株式会社</a:t>
            </a:r>
          </a:p>
          <a:p xmlns:a="http://schemas.openxmlformats.org/drawingml/2006/main">
            <a:r>
              <a:t>https://www.jimtof.org/2024/search/jp/ESdetails?e=30li0vWcseI</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展示:2024当時の説明・事後実演確認ではない</a:t>
            </a:r>
          </a:p>
          <a:p xmlns:a="http://schemas.openxmlformats.org/drawingml/2006/main">
            <a:r>
              <a:t/>
            </a:r>
          </a:p>
          <a:p xmlns:a="http://schemas.openxmlformats.org/drawingml/2006/main">
            <a:r>
              <a:t>EAT-V043-2026-1 JIMTOF2026公式カタログ：三菱電機株式会社</a:t>
            </a:r>
          </a:p>
          <a:p xmlns:a="http://schemas.openxmlformats.org/drawingml/2006/main">
            <a:r>
              <a:t>https://www.jimtof.org/search/jp/ESdetails?e=AjLnzm01WWU</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EOV-W08 工具の欠け・摩耗・寿命を推定するAI研究発表</a:t>
            </a:r>
          </a:p>
          <a:p xmlns:a="http://schemas.openxmlformats.org/drawingml/2006/main">
            <a:r>
              <a:t>https://mori-machinery.com/wp-content/uploads/2023/06/%E7%86%9F%E7%B7%B4%E8%80%85%E3%81%AE%E7%B5%8C%E9%A8%93%E7%9F%A5%E3%82%92%E3%82%82%E3%81%A8%E3%81%AB%E5%88%87%E5%89%8A%E5%B7%A5%E5%85%B7%E3%81%AE%E6%AC%A0%E3%81%91%E3%83%BB%E6%91%A9%E8%80%97%E3%83%BB%E5%AF%BF%E5%91%BD%E3%82%92%E6%8E%A8%E5%AE%9A%E3%81%99%E3%82%8BAI%E3%82%92%E9%96%8B%E7%99%BA.pdf</a:t>
            </a:r>
          </a:p>
          <a:p xmlns:a="http://schemas.openxmlformats.org/drawingml/2006/main">
            <a:r>
              <a:t>該当箇所:2023年6月2日、成果と今後の展望</a:t>
            </a:r>
          </a:p>
          <a:p xmlns:a="http://schemas.openxmlformats.org/drawingml/2006/main">
            <a:r>
              <a:t>確認:2026-10-16</a:t>
            </a:r>
          </a:p>
          <a:p xmlns:a="http://schemas.openxmlformats.org/drawingml/2006/main">
            <a:r>
              <a:t>種類:企業公式資料・メーカー主張</a:t>
            </a:r>
          </a:p>
          <a:p xmlns:a="http://schemas.openxmlformats.org/drawingml/2006/main">
            <a:r>
              <a:t>展示:公式検索の該当箇所で確認。研究段階の数値を商用性能に転用していない</a:t>
            </a:r>
          </a:p>
          <a:p xmlns:a="http://schemas.openxmlformats.org/drawingml/2006/main">
            <a:r>
              <a:t/>
            </a:r>
          </a:p>
          <a:p xmlns:a="http://schemas.openxmlformats.org/drawingml/2006/main">
            <a:r>
              <a:t>EOV-V042-2026-1 JIMTOF2026公式カタログ：興和オプトロニクス株式会社 (S3104)</a:t>
            </a:r>
          </a:p>
          <a:p xmlns:a="http://schemas.openxmlformats.org/drawingml/2006/main">
            <a:r>
              <a:t>https://www.jimtof.org/search/jp/ESdetails?e=v6nw4APC-vQ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EDP-33 RW回転機構付きビジョンユニット</a:t>
            </a:r>
          </a:p>
          <a:p xmlns:a="http://schemas.openxmlformats.org/drawingml/2006/main">
            <a:r>
              <a:t>https://optical.kowa-opt.co.jp/camera-rw/</a:t>
            </a:r>
          </a:p>
          <a:p xmlns:a="http://schemas.openxmlformats.org/drawingml/2006/main">
            <a:r>
              <a:t>該当箇所:ビジョンプロセッサ併用の不良ヒートマップ・切粉巻付きアラート・工具欠損検出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EOV-V020-2024-1 JIMTOF2024公式カタログ：マーポス株式会社 (E7107)</a:t>
            </a:r>
          </a:p>
          <a:p xmlns:a="http://schemas.openxmlformats.org/drawingml/2006/main">
            <a:r>
              <a:t>https://www.jimtof.org/2024/search/jp/ESdetails?e=K8FKaawJkn0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EOV-V020-2026-1 JIMTOF2026公式カタログ：マーポス株式会社 (E7087)</a:t>
            </a:r>
          </a:p>
          <a:p xmlns:a="http://schemas.openxmlformats.org/drawingml/2006/main">
            <a:r>
              <a:t>https://www.jimtof.org/search/jp/ESdetails?e=tThKOA-gm8s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EEX-EXH-2026-19ce238d137fe275 JIMTOF2026公式出展説明：Masterlink (E1050)</a:t>
            </a:r>
          </a:p>
          <a:p xmlns:a="http://schemas.openxmlformats.org/drawingml/2006/main">
            <a:r>
              <a:t>https://www.jimtof.org/search/jp/ESdetails?e=kygm0UxJL-M</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EEX-EXH-2024-a2fae1d1864676d1 JIMTOF2024公式出展説明：Masterlink (E7052)</a:t>
            </a:r>
          </a:p>
          <a:p xmlns:a="http://schemas.openxmlformats.org/drawingml/2006/main">
            <a:r>
              <a:t>https://www.jimtof.org/2024/search/jp/ESdetails?e=58-lhh4o9Oo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EEX-EXH-2026-308c5194f12fe009 JIMTOF2026公式出展説明：ムラテックＣＣＳ株式会社 (E3031)</a:t>
            </a:r>
          </a:p>
          <a:p xmlns:a="http://schemas.openxmlformats.org/drawingml/2006/main">
            <a:r>
              <a:t>https://www.jimtof.org/search/jp/ESdetails?e=Z_SbvK_hxBY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EEX-EXH-2024-b0a94c1cd407ea8a JIMTOF2024公式出展説明：ムラテックCCS株式会社 (E6019)</a:t>
            </a:r>
          </a:p>
          <a:p xmlns:a="http://schemas.openxmlformats.org/drawingml/2006/main">
            <a:r>
              <a:t>https://www.jimtof.org/2024/search/jp/ESdetails?e=2N7pXq5Aehs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EDP-13 AIを用いた故障診断</a:t>
            </a:r>
          </a:p>
          <a:p xmlns:a="http://schemas.openxmlformats.org/drawingml/2006/main">
            <a:r>
              <a:t>https://www.muratec.jp/company/ti/rd/detail.php?id=7540</a:t>
            </a:r>
          </a:p>
          <a:p xmlns:a="http://schemas.openxmlformats.org/drawingml/2006/main">
            <a:r>
              <a:t>該当箇所:電流・振動を新品データと比較／補正入力回数・軸負荷による劣化判定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RPT-EXH-2026-2c48cf1373cedc75 アズビルTACO株式会社 JIMTOF2026</a:t>
            </a:r>
          </a:p>
          <a:p xmlns:a="http://schemas.openxmlformats.org/drawingml/2006/main">
            <a:r>
              <a:t>https://www.jimtof.org/search/jp/ESdetails?e=x6DdroBnfSA</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RPT-EXH-2024-2caebd449015630d アズビル株式会社 JIMTOF2024</a:t>
            </a:r>
          </a:p>
          <a:p xmlns:a="http://schemas.openxmlformats.org/drawingml/2006/main">
            <a:r>
              <a:t>https://www.jimtof.org/2024/search/jp/ESdetails?e=7JiCTnsEx48</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EOV-V032-2024-1 JIMTOF2024公式カタログ：日本精工株式会社 (W2026)</a:t>
            </a:r>
          </a:p>
          <a:p xmlns:a="http://schemas.openxmlformats.org/drawingml/2006/main">
            <a:r>
              <a:t>https://www.jimtof.org/2024/search/jp/ESdetails?e=5maDHvHPff8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EOV-V032-2026-1 JIMTOF2026公式カタログ：日本精工株式会社 (W2048)</a:t>
            </a:r>
          </a:p>
          <a:p xmlns:a="http://schemas.openxmlformats.org/drawingml/2006/main">
            <a:r>
              <a:t>https://www.jimtof.org/search/jp/ESdetails?e=hzAGGAi5wL4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多品種に対応する段取り・ロボット</a:t>
            </a:r>
          </a:p>
          <a:p xmlns:a="http://schemas.openxmlformats.org/drawingml/2006/main">
            <a:r>
              <a:t>比較の限界:人型ロボットでも遠隔操作・教示の参考展示がある。フィジカルAIの呼称だけで汎用作業や無人復帰が可能とは扱わない。</a:t>
            </a:r>
          </a:p>
          <a:p xmlns:a="http://schemas.openxmlformats.org/drawingml/2006/main">
            <a:r>
              <a:t/>
            </a:r>
          </a:p>
          <a:p xmlns:a="http://schemas.openxmlformats.org/drawingml/2006/main">
            <a:r>
              <a:t>現場情報を使って運用を支えるAI</a:t>
            </a:r>
          </a:p>
          <a:p xmlns:a="http://schemas.openxmlformats.org/drawingml/2006/main">
            <a:r>
              <a:t>比較の限界:予測から生産計画や設備指令への自動接続は未確認の例がある。製品発表段階のエージェントも含み、完全自律工場の実績ではない。</a:t>
            </a:r>
          </a:p>
          <a:p xmlns:a="http://schemas.openxmlformats.org/drawingml/2006/main">
            <a:r>
              <a:t/>
            </a:r>
          </a:p>
          <a:p xmlns:a="http://schemas.openxmlformats.org/drawingml/2006/main">
            <a:r>
              <a:t>現場AIを支えるデータと仮想環境</a:t>
            </a:r>
          </a:p>
          <a:p xmlns:a="http://schemas.openxmlformats.org/drawingml/2006/main">
            <a:r>
              <a:t>比較の限界:CADから推定した物理属性と実測の一致、自己修正の収束、仮想結果と実機性能の差は未確認。ツインがそのままAI制御を意味するわけではない。</a:t>
            </a:r>
          </a:p>
          <a:p xmlns:a="http://schemas.openxmlformats.org/drawingml/2006/main">
            <a:r>
              <a:t/>
            </a:r>
          </a:p>
          <a:p xmlns:a="http://schemas.openxmlformats.org/drawingml/2006/main">
            <a:r>
              <a:t>爪・治具・ハンドと位置の段取り</a:t>
            </a:r>
          </a:p>
          <a:p xmlns:a="http://schemas.openxmlformats.org/drawingml/2006/main">
            <a:r>
              <a:t>B10-1 松本機械工業株式会社 / Smart Terrace Adv／爪・CAPTO工具の交換 / W2070</a:t>
            </a:r>
          </a:p>
          <a:p xmlns:a="http://schemas.openxmlformats.org/drawingml/2006/main">
            <a:r>
              <a:t>対象:爪・工具等を交換して段取りを変える</a:t>
            </a:r>
          </a:p>
          <a:p xmlns:a="http://schemas.openxmlformats.org/drawingml/2006/main">
            <a:r>
              <a:t>公式要約:Smart Terrace Advは爪等の交換。寸法入力から動作を設定。</a:t>
            </a:r>
          </a:p>
          <a:p xmlns:a="http://schemas.openxmlformats.org/drawingml/2006/main">
            <a:r>
              <a:t>年度:CAPTO等の交換は2024初披露済み。2026はAdv構成等に注目。</a:t>
            </a:r>
          </a:p>
          <a:p xmlns:a="http://schemas.openxmlformats.org/drawingml/2006/main">
            <a:r>
              <a:t>人・未確認:人が寸法入力。初期プログラムはメーカーが組込み。</a:t>
            </a:r>
          </a:p>
          <a:p xmlns:a="http://schemas.openxmlformats.org/drawingml/2006/main">
            <a:r>
              <a:t>Evidence:EEX-EXH-2026-0daa587f8abf6076,EEX-EXH-2024-1dc10e3b594ed9d8,EDP-26,EDP-27,EDP-28</a:t>
            </a:r>
          </a:p>
          <a:p xmlns:a="http://schemas.openxmlformats.org/drawingml/2006/main">
            <a:r>
              <a:t/>
            </a:r>
          </a:p>
          <a:p xmlns:a="http://schemas.openxmlformats.org/drawingml/2006/main">
            <a:r>
              <a:t>B10-2 イマオコーポレーション / ナットランナー治具 / W2001</a:t>
            </a:r>
          </a:p>
          <a:p xmlns:a="http://schemas.openxmlformats.org/drawingml/2006/main">
            <a:r>
              <a:t>対象:加工前にワークを治具へ固定する</a:t>
            </a:r>
          </a:p>
          <a:p xmlns:a="http://schemas.openxmlformats.org/drawingml/2006/main">
            <a:r>
              <a:t>公式要約:ナットランナーとメカ機構でワークを締結する治具。</a:t>
            </a:r>
          </a:p>
          <a:p xmlns:a="http://schemas.openxmlformats.org/drawingml/2006/main">
            <a:r>
              <a:t>年度:2024も具体治具あり。2026は種類追加を記載。</a:t>
            </a:r>
          </a:p>
          <a:p xmlns:a="http://schemas.openxmlformats.org/drawingml/2006/main">
            <a:r>
              <a:t>人・未確認:人が治具・フック等を設計選定。着座・締結異常の扱いは未確認。</a:t>
            </a:r>
          </a:p>
          <a:p xmlns:a="http://schemas.openxmlformats.org/drawingml/2006/main">
            <a:r>
              <a:t>Evidence:EOV-V025-2024-1,EOV-V025-2026-1,EDP-30,EDP-32</a:t>
            </a:r>
          </a:p>
          <a:p xmlns:a="http://schemas.openxmlformats.org/drawingml/2006/main">
            <a:r>
              <a:t/>
            </a:r>
          </a:p>
          <a:p xmlns:a="http://schemas.openxmlformats.org/drawingml/2006/main">
            <a:r>
              <a:t>B10-3 中村留精密工業 / RoboSync：移設後の位置復旧 / E2027</a:t>
            </a:r>
          </a:p>
          <a:p xmlns:a="http://schemas.openxmlformats.org/drawingml/2006/main">
            <a:r>
              <a:t>対象:移設したロボットの位置を復旧する</a:t>
            </a:r>
          </a:p>
          <a:p xmlns:a="http://schemas.openxmlformats.org/drawingml/2006/main">
            <a:r>
              <a:t>公式要約:RoboSyncは移設後にマーカーを読み相対位置を補正。</a:t>
            </a:r>
          </a:p>
          <a:p xmlns:a="http://schemas.openxmlformats.org/drawingml/2006/main">
            <a:r>
              <a:t>年度:2026は位置復旧を具体説明。同一機能の2024版は未確認。</a:t>
            </a:r>
          </a:p>
          <a:p xmlns:a="http://schemas.openxmlformats.org/drawingml/2006/main">
            <a:r>
              <a:t>人・未確認:人の移設・復旧操作を含む。未知トラブルの自律復帰とは別。</a:t>
            </a:r>
          </a:p>
          <a:p xmlns:a="http://schemas.openxmlformats.org/drawingml/2006/main">
            <a:r>
              <a:t>Evidence:EOV-V029-2024-1,EOV-V029-2026-1,EOV-W04</a:t>
            </a:r>
          </a:p>
          <a:p xmlns:a="http://schemas.openxmlformats.org/drawingml/2006/main">
            <a:r>
              <a:t/>
            </a:r>
          </a:p>
          <a:p xmlns:a="http://schemas.openxmlformats.org/drawingml/2006/main">
            <a:r>
              <a:t>B10-4 共立精機株式会社 / 全自動計測システム　HP-6040V-FA / W2025</a:t>
            </a:r>
          </a:p>
          <a:p xmlns:a="http://schemas.openxmlformats.org/drawingml/2006/main">
            <a:r>
              <a:t>対象:工具を測定・調整し、交換する段取り</a:t>
            </a:r>
          </a:p>
          <a:p xmlns:a="http://schemas.openxmlformats.org/drawingml/2006/main">
            <a:r>
              <a:t>公式要約:工具の交換、突き出し量調整、刃先測定を連続自動化し、インサート交換装置も展示。</a:t>
            </a:r>
          </a:p>
          <a:p xmlns:a="http://schemas.openxmlformats.org/drawingml/2006/main">
            <a:r>
              <a:t>年度:HP-6040V-FAによる工具段取り自動化は2024にも記載。2026は交換工程等を具体説明。</a:t>
            </a:r>
          </a:p>
          <a:p xmlns:a="http://schemas.openxmlformats.org/drawingml/2006/main">
            <a:r>
              <a:t>人・未確認:工具・チップの補給や品種設定、不良時の復旧は要確認。</a:t>
            </a:r>
          </a:p>
          <a:p xmlns:a="http://schemas.openxmlformats.org/drawingml/2006/main">
            <a:r>
              <a:t>Evidence:EEX-EXH-2026-1c8938d47b63e4bb,EEX-EXH-2024-3a9bfb48fcb6542c</a:t>
            </a:r>
          </a:p>
          <a:p xmlns:a="http://schemas.openxmlformats.org/drawingml/2006/main">
            <a:r>
              <a:t/>
            </a:r>
          </a:p>
          <a:p xmlns:a="http://schemas.openxmlformats.org/drawingml/2006/main">
            <a:r>
              <a:t>ワーク・パレット・切粉の搬送</a:t>
            </a:r>
          </a:p>
          <a:p xmlns:a="http://schemas.openxmlformats.org/drawingml/2006/main">
            <a:r>
              <a:t>B11-1 DMG森精機 / MATRIS WPH 210 / E8005</a:t>
            </a:r>
          </a:p>
          <a:p xmlns:a="http://schemas.openxmlformats.org/drawingml/2006/main">
            <a:r>
              <a:t>対象:ワークとパレットを加工機へ供給する</a:t>
            </a:r>
          </a:p>
          <a:p xmlns:a="http://schemas.openxmlformats.org/drawingml/2006/main">
            <a:r>
              <a:t>公式要約:MATRIS WPH 210がワークとパレット両方を供給。</a:t>
            </a:r>
          </a:p>
          <a:p xmlns:a="http://schemas.openxmlformats.org/drawingml/2006/main">
            <a:r>
              <a:t>年度:2024のPH Cell等に対しWPH 210を日本初公開と記載。</a:t>
            </a:r>
          </a:p>
          <a:p xmlns:a="http://schemas.openxmlformats.org/drawingml/2006/main">
            <a:r>
              <a:t>人・未確認:把持・治具・品種切替の事前準備と異常対応は未確認。</a:t>
            </a:r>
          </a:p>
          <a:p xmlns:a="http://schemas.openxmlformats.org/drawingml/2006/main">
            <a:r>
              <a:t>Evidence:EOV-V001-2024-1,EOV-V001-2026-1</a:t>
            </a:r>
          </a:p>
          <a:p xmlns:a="http://schemas.openxmlformats.org/drawingml/2006/main">
            <a:r>
              <a:t/>
            </a:r>
          </a:p>
          <a:p xmlns:a="http://schemas.openxmlformats.org/drawingml/2006/main">
            <a:r>
              <a:t>B11-2 オークマ / ARMROID／OMR20 / E3028</a:t>
            </a:r>
          </a:p>
          <a:p xmlns:a="http://schemas.openxmlformats.org/drawingml/2006/main">
            <a:r>
              <a:t>対象:加工機へのワーク搬入出を自動化する</a:t>
            </a:r>
          </a:p>
          <a:p xmlns:a="http://schemas.openxmlformats.org/drawingml/2006/main">
            <a:r>
              <a:t>公式要約:ARMROID機内ロボット、OMR20等で工作機械の自動化を構成。</a:t>
            </a:r>
          </a:p>
          <a:p xmlns:a="http://schemas.openxmlformats.org/drawingml/2006/main">
            <a:r>
              <a:t>年度:ARMROID・OMR20は2024にも掲載。2026も継続。</a:t>
            </a:r>
          </a:p>
          <a:p xmlns:a="http://schemas.openxmlformats.org/drawingml/2006/main">
            <a:r>
              <a:t>人・未確認:手動との切替と品種変更の介入範囲は未確認。</a:t>
            </a:r>
          </a:p>
          <a:p xmlns:a="http://schemas.openxmlformats.org/drawingml/2006/main">
            <a:r>
              <a:t>Evidence:EOV-V003-2024-1,EOV-V003-2026-1</a:t>
            </a:r>
          </a:p>
          <a:p xmlns:a="http://schemas.openxmlformats.org/drawingml/2006/main">
            <a:r>
              <a:t/>
            </a:r>
          </a:p>
          <a:p xmlns:a="http://schemas.openxmlformats.org/drawingml/2006/main">
            <a:r>
              <a:t>B11-3 株式会社白山機工 / AMRによる切り屑自動回収 / E2007</a:t>
            </a:r>
          </a:p>
          <a:p xmlns:a="http://schemas.openxmlformats.org/drawingml/2006/main">
            <a:r>
              <a:t>対象:加工機から出る切粉容器を回収する</a:t>
            </a:r>
          </a:p>
          <a:p xmlns:a="http://schemas.openxmlformats.org/drawingml/2006/main">
            <a:r>
              <a:t>公式要約:AMRで切粉容器を回収。実演と模型を併記。</a:t>
            </a:r>
          </a:p>
          <a:p xmlns:a="http://schemas.openxmlformats.org/drawingml/2006/main">
            <a:r>
              <a:t>年度:2024のろ過・集中処理から、2026はAMR回収を追加記載。</a:t>
            </a:r>
          </a:p>
          <a:p xmlns:a="http://schemas.openxmlformats.org/drawingml/2006/main">
            <a:r>
              <a:t>人・未確認:満杯・こぼれ・ドッキング失敗・容器交換の対応は未確認。</a:t>
            </a:r>
          </a:p>
          <a:p xmlns:a="http://schemas.openxmlformats.org/drawingml/2006/main">
            <a:r>
              <a:t>Evidence:EEX-EXH-2026-d8a50e23a9101b11,EEX-EXH-2024-89cb7807f64be75b,EDP-29</a:t>
            </a:r>
          </a:p>
          <a:p xmlns:a="http://schemas.openxmlformats.org/drawingml/2006/main">
            <a:r>
              <a:t/>
            </a:r>
          </a:p>
          <a:p xmlns:a="http://schemas.openxmlformats.org/drawingml/2006/main">
            <a:r>
              <a:t>認識を伴うピック・付帯加工・除去</a:t>
            </a:r>
          </a:p>
          <a:p xmlns:a="http://schemas.openxmlformats.org/drawingml/2006/main">
            <a:r>
              <a:t>B12-1 TAKISAWA / TR-20W：主軸の切粉除去 / E3013</a:t>
            </a:r>
          </a:p>
          <a:p xmlns:a="http://schemas.openxmlformats.org/drawingml/2006/main">
            <a:r>
              <a:t>対象:主軸に絡まった切粉を取り除く</a:t>
            </a:r>
          </a:p>
          <a:p xmlns:a="http://schemas.openxmlformats.org/drawingml/2006/main">
            <a:r>
              <a:t>公式要約:TAKISAWAは切粉の絡まりを判断し主軸の切粉を除去する参考出品。</a:t>
            </a:r>
          </a:p>
          <a:p xmlns:a="http://schemas.openxmlformats.org/drawingml/2006/main">
            <a:r>
              <a:t>年度:2024 TR-20Wは搬入出。2026は切粉除去を追加記載。</a:t>
            </a:r>
          </a:p>
          <a:p xmlns:a="http://schemas.openxmlformats.org/drawingml/2006/main">
            <a:r>
              <a:t>人・未確認:許可動作、除去失敗の検出・再試行・人への引継ぎは未確認。</a:t>
            </a:r>
          </a:p>
          <a:p xmlns:a="http://schemas.openxmlformats.org/drawingml/2006/main">
            <a:r>
              <a:t>Evidence:EOV-V030-2024-1,EOV-V030-2026-1,EAT-N01,EAT-N02,ERF-13</a:t>
            </a:r>
          </a:p>
          <a:p xmlns:a="http://schemas.openxmlformats.org/drawingml/2006/main">
            <a:r>
              <a:t/>
            </a:r>
          </a:p>
          <a:p xmlns:a="http://schemas.openxmlformats.org/drawingml/2006/main">
            <a:r>
              <a:t>B12-2 カネテック株式会社 / マグネットピンセット：AI・2Dカメラ・協働ロボット / W2013</a:t>
            </a:r>
          </a:p>
          <a:p xmlns:a="http://schemas.openxmlformats.org/drawingml/2006/main">
            <a:r>
              <a:t>対象:ばら積みの小径ねじ・小部品を拾う</a:t>
            </a:r>
          </a:p>
          <a:p xmlns:a="http://schemas.openxmlformats.org/drawingml/2006/main">
            <a:r>
              <a:t>公式要約:カメラ・協働ロボット・磁気ピンセットで小径ねじ等をピック。</a:t>
            </a:r>
          </a:p>
          <a:p xmlns:a="http://schemas.openxmlformats.org/drawingml/2006/main">
            <a:r>
              <a:t>年度:同種構成は2024あり。2026はAIを明記、性能増分は不明。</a:t>
            </a:r>
          </a:p>
          <a:p xmlns:a="http://schemas.openxmlformats.org/drawingml/2006/main">
            <a:r>
              <a:t>人・未確認:複数個吸着・空振り等の処理、AI担当の詳細は未公開。</a:t>
            </a:r>
          </a:p>
          <a:p xmlns:a="http://schemas.openxmlformats.org/drawingml/2006/main">
            <a:r>
              <a:t>Evidence:EEX-EXH-2026-30b70a74241de123,EEX-EXH-2024-45415d070f47dc6e,EDP-01</a:t>
            </a:r>
          </a:p>
          <a:p xmlns:a="http://schemas.openxmlformats.org/drawingml/2006/main">
            <a:r>
              <a:t/>
            </a:r>
          </a:p>
          <a:p xmlns:a="http://schemas.openxmlformats.org/drawingml/2006/main">
            <a:r>
              <a:t>B12-3 東京エレクトロンデバイス株式会社 / 3D形状認識・教示不要の面取り／皿もみ / E7073</a:t>
            </a:r>
          </a:p>
          <a:p xmlns:a="http://schemas.openxmlformats.org/drawingml/2006/main">
            <a:r>
              <a:t>対象:不定形ワークの面取り・皿もみを行う</a:t>
            </a:r>
          </a:p>
          <a:p xmlns:a="http://schemas.openxmlformats.org/drawingml/2006/main">
            <a:r>
              <a:t>公式要約:3Dスキャンから不定形ワークを認識し面取り等の軌道を生成。</a:t>
            </a:r>
          </a:p>
          <a:p xmlns:a="http://schemas.openxmlformats.org/drawingml/2006/main">
            <a:r>
              <a:t>年度:2024同名比較不能。2026の具体タスクは確認。</a:t>
            </a:r>
          </a:p>
          <a:p xmlns:a="http://schemas.openxmlformats.org/drawingml/2006/main">
            <a:r>
              <a:t>人・未確認:加工条件設定、干渉確認、誤認識時の停止・品質承認は未公開。</a:t>
            </a:r>
          </a:p>
          <a:p xmlns:a="http://schemas.openxmlformats.org/drawingml/2006/main">
            <a:r>
              <a:t>Evidence:EEX-EXH-2026-8c08de1ffed47316,EEX-WTED</a:t>
            </a:r>
          </a:p>
          <a:p xmlns:a="http://schemas.openxmlformats.org/drawingml/2006/main">
            <a:r>
              <a:t/>
            </a:r>
          </a:p>
          <a:p xmlns:a="http://schemas.openxmlformats.org/drawingml/2006/main">
            <a:r>
              <a:t>B12-4 株式会社ジーベックテクノロジー / XEBEC CPS オートホルダー / WA006</a:t>
            </a:r>
          </a:p>
          <a:p xmlns:a="http://schemas.openxmlformats.org/drawingml/2006/main">
            <a:r>
              <a:t>対象:バリ取り中のブラシ摩耗を補う</a:t>
            </a:r>
          </a:p>
          <a:p xmlns:a="http://schemas.openxmlformats.org/drawingml/2006/main">
            <a:r>
              <a:t>公式要約:ブラシ摩耗に応じて突出し量を自動調整するホルダーを、ロボットのギヤバリ取りに組み合わせる。</a:t>
            </a:r>
          </a:p>
          <a:p xmlns:a="http://schemas.openxmlformats.org/drawingml/2006/main">
            <a:r>
              <a:t>年度:2024はバリ取り自動化工具を紹介。2026は摩耗に伴う人の調整を減らす構成を具体記載。</a:t>
            </a:r>
          </a:p>
          <a:p xmlns:a="http://schemas.openxmlformats.org/drawingml/2006/main">
            <a:r>
              <a:t>人・未確認:加工条件・ブラシ選定と、不良時の調整は要確認。</a:t>
            </a:r>
          </a:p>
          <a:p xmlns:a="http://schemas.openxmlformats.org/drawingml/2006/main">
            <a:r>
              <a:t>Evidence:EEX-EXH-2026-ba283a239e52d644,EEX-EXH-2024-1632c66ef4d28e78</a:t>
            </a:r>
          </a:p>
          <a:p xmlns:a="http://schemas.openxmlformats.org/drawingml/2006/main">
            <a:r>
              <a:t/>
            </a:r>
          </a:p>
          <a:p xmlns:a="http://schemas.openxmlformats.org/drawingml/2006/main">
            <a:r>
              <a:t>現場エージェント・遠隔介入</a:t>
            </a:r>
          </a:p>
          <a:p xmlns:a="http://schemas.openxmlformats.org/drawingml/2006/main">
            <a:r>
              <a:t>B13-1 ベッコフオートメーション / TwinCAT CoAgent for Operations / E2028</a:t>
            </a:r>
          </a:p>
          <a:p xmlns:a="http://schemas.openxmlformats.org/drawingml/2006/main">
            <a:r>
              <a:t>対象:機械のアラーム原因と対処方法を調べる</a:t>
            </a:r>
          </a:p>
          <a:p xmlns:a="http://schemas.openxmlformats.org/drawingml/2006/main">
            <a:r>
              <a:t>公式要約:Operationsは機械データと文書から原因仮説・対処案を作る。</a:t>
            </a:r>
          </a:p>
          <a:p xmlns:a="http://schemas.openxmlformats.org/drawingml/2006/main">
            <a:r>
              <a:t>年度:2024比較不能。製品発表・投入時期要問合せ。</a:t>
            </a:r>
          </a:p>
          <a:p xmlns:a="http://schemas.openxmlformats.org/drawingml/2006/main">
            <a:r>
              <a:t>人・未確認:専門家が制御権保持。毎回承認・書込権限・失敗復帰は未公開。</a:t>
            </a:r>
          </a:p>
          <a:p xmlns:a="http://schemas.openxmlformats.org/drawingml/2006/main">
            <a:r>
              <a:t>Evidence:EOV-V005-2026-1,EAT-N04,EAT-N05,EDP-03,ERF-02</a:t>
            </a:r>
          </a:p>
          <a:p xmlns:a="http://schemas.openxmlformats.org/drawingml/2006/main">
            <a:r>
              <a:t/>
            </a:r>
          </a:p>
          <a:p xmlns:a="http://schemas.openxmlformats.org/drawingml/2006/main">
            <a:r>
              <a:t>B13-2 ソフィックス / SOFIXCAN Fleeter＋AI Forecast：ミニ工場 / E1067</a:t>
            </a:r>
          </a:p>
          <a:p xmlns:a="http://schemas.openxmlformats.org/drawingml/2006/main">
            <a:r>
              <a:t>対象:設備・搬送を連携し予測を活用する</a:t>
            </a:r>
          </a:p>
          <a:p xmlns:a="http://schemas.openxmlformats.org/drawingml/2006/main">
            <a:r>
              <a:t>公式要約:AI Forecastの予測とFleeterの機器連携をミニ工場で紹介。</a:t>
            </a:r>
          </a:p>
          <a:p xmlns:a="http://schemas.openxmlformats.org/drawingml/2006/main">
            <a:r>
              <a:t>年度:Fleeterミニ工場は2025にも予告済み。2026初とはしない。</a:t>
            </a:r>
          </a:p>
          <a:p xmlns:a="http://schemas.openxmlformats.org/drawingml/2006/main">
            <a:r>
              <a:t>人・未確認:予測から指令への権限、通信・搬送失敗時の復帰は未公開。</a:t>
            </a:r>
          </a:p>
          <a:p xmlns:a="http://schemas.openxmlformats.org/drawingml/2006/main">
            <a:r>
              <a:t>Evidence:EOV-V015-2024-1,EOV-V015-2026-1,EDP-21,EDP-22,EDP-23</a:t>
            </a:r>
          </a:p>
          <a:p xmlns:a="http://schemas.openxmlformats.org/drawingml/2006/main">
            <a:r>
              <a:t/>
            </a:r>
          </a:p>
          <a:p xmlns:a="http://schemas.openxmlformats.org/drawingml/2006/main">
            <a:r>
              <a:t>B13-3 パナソニックプロダクションエンジニアリング / X-Area Remote / W3086</a:t>
            </a:r>
          </a:p>
          <a:p xmlns:a="http://schemas.openxmlformats.org/drawingml/2006/main">
            <a:r>
              <a:t>対象:停止した搬送車を人が遠隔で復帰させる</a:t>
            </a:r>
          </a:p>
          <a:p xmlns:a="http://schemas.openxmlformats.org/drawingml/2006/main">
            <a:r>
              <a:t>公式要約:X-Area Remote実証では停止車両を人が遠隔操作して回避。</a:t>
            </a:r>
          </a:p>
          <a:p xmlns:a="http://schemas.openxmlformats.org/drawingml/2006/main">
            <a:r>
              <a:t>年度:2026/7実証で人の担当を具体確認。2024個別比較不能。</a:t>
            </a:r>
          </a:p>
          <a:p xmlns:a="http://schemas.openxmlformats.org/drawingml/2006/main">
            <a:r>
              <a:t>人・未確認:運行担当者が介入。実証はセーフティドライバー搭乗。</a:t>
            </a:r>
          </a:p>
          <a:p xmlns:a="http://schemas.openxmlformats.org/drawingml/2006/main">
            <a:r>
              <a:t>Evidence:EOV-V016-2026-1,EOV-W05,EOV-W09,EDP-24</a:t>
            </a:r>
          </a:p>
          <a:p xmlns:a="http://schemas.openxmlformats.org/drawingml/2006/main">
            <a:r>
              <a:t/>
            </a:r>
          </a:p>
          <a:p xmlns:a="http://schemas.openxmlformats.org/drawingml/2006/main">
            <a:r>
              <a:t>工場データ・計画・資源の連携</a:t>
            </a:r>
          </a:p>
          <a:p xmlns:a="http://schemas.openxmlformats.org/drawingml/2006/main">
            <a:r>
              <a:t>B14-1 WinTool AG / WinTool：工具情報と現物・工程資源の連携 / E1049</a:t>
            </a:r>
          </a:p>
          <a:p xmlns:a="http://schemas.openxmlformats.org/drawingml/2006/main">
            <a:r>
              <a:t>対象:工具情報・所在・在庫を工程と結ぶ</a:t>
            </a:r>
          </a:p>
          <a:p xmlns:a="http://schemas.openxmlformats.org/drawingml/2006/main">
            <a:r>
              <a:t>公式要約:WinToolは工具情報と工程資源を連携。在庫ルールで購買要求。</a:t>
            </a:r>
          </a:p>
          <a:p xmlns:a="http://schemas.openxmlformats.org/drawingml/2006/main">
            <a:r>
              <a:t>年度:工具・CAM・在庫連携は2024から継続。2026は資源の一貫性を強調。</a:t>
            </a:r>
          </a:p>
          <a:p xmlns:a="http://schemas.openxmlformats.org/drawingml/2006/main">
            <a:r>
              <a:t>人・未確認:管理者承認後ERPへ送信。AIによる自律発注とは記載なし。</a:t>
            </a:r>
          </a:p>
          <a:p xmlns:a="http://schemas.openxmlformats.org/drawingml/2006/main">
            <a:r>
              <a:t>Evidence:EEX-EXH-2026-4fb92ba6b82546d7,EEX-EXH-2024-3f1fa1966a57e011,EDP-18,EDP-19</a:t>
            </a:r>
          </a:p>
          <a:p xmlns:a="http://schemas.openxmlformats.org/drawingml/2006/main">
            <a:r>
              <a:t/>
            </a:r>
          </a:p>
          <a:p xmlns:a="http://schemas.openxmlformats.org/drawingml/2006/main">
            <a:r>
              <a:t>B14-2 Smart Craft / Smart Craft MES / S3002</a:t>
            </a:r>
          </a:p>
          <a:p xmlns:a="http://schemas.openxmlformats.org/drawingml/2006/main">
            <a:r>
              <a:t>対象:作業記録・指示・製造履歴を管理する</a:t>
            </a:r>
          </a:p>
          <a:p xmlns:a="http://schemas.openxmlformats.org/drawingml/2006/main">
            <a:r>
              <a:t>公式要約:Smart Craft MESは記録・指示・履歴を一元管理しAPI連携。</a:t>
            </a:r>
          </a:p>
          <a:p xmlns:a="http://schemas.openxmlformats.org/drawingml/2006/main">
            <a:r>
              <a:t>年度:2024個別比較不能。</a:t>
            </a:r>
          </a:p>
          <a:p xmlns:a="http://schemas.openxmlformats.org/drawingml/2006/main">
            <a:r>
              <a:t>人・未確認:AI分析の内容や判断権限、入力作業の残りは未確認。</a:t>
            </a:r>
          </a:p>
          <a:p xmlns:a="http://schemas.openxmlformats.org/drawingml/2006/main">
            <a:r>
              <a:t>Evidence:EOV-V013-2026-1</a:t>
            </a:r>
          </a:p>
          <a:p xmlns:a="http://schemas.openxmlformats.org/drawingml/2006/main">
            <a:r>
              <a:t/>
            </a:r>
          </a:p>
          <a:p xmlns:a="http://schemas.openxmlformats.org/drawingml/2006/main">
            <a:r>
              <a:t>B14-3 ものレボ / MonoRevo：工程計画・スケジューリング / W3042</a:t>
            </a:r>
          </a:p>
          <a:p xmlns:a="http://schemas.openxmlformats.org/drawingml/2006/main">
            <a:r>
              <a:t>対象:工程の順番と生産予定を組む</a:t>
            </a:r>
          </a:p>
          <a:p xmlns:a="http://schemas.openxmlformats.org/drawingml/2006/main">
            <a:r>
              <a:t>公式要約:MonoRevoは工程設計・計画・進捗をまとめ自動計画を支援。</a:t>
            </a:r>
          </a:p>
          <a:p xmlns:a="http://schemas.openxmlformats.org/drawingml/2006/main">
            <a:r>
              <a:t>年度:2024個別比較不能。2026は自動スケジューリングを記載。</a:t>
            </a:r>
          </a:p>
          <a:p xmlns:a="http://schemas.openxmlformats.org/drawingml/2006/main">
            <a:r>
              <a:t>人・未確認:計画制約・再計画確定者・例外対応は未確認。</a:t>
            </a:r>
          </a:p>
          <a:p xmlns:a="http://schemas.openxmlformats.org/drawingml/2006/main">
            <a:r>
              <a:t>Evidence:EOV-V014-2026-1</a:t>
            </a:r>
          </a:p>
          <a:p xmlns:a="http://schemas.openxmlformats.org/drawingml/2006/main">
            <a:r>
              <a:t/>
            </a:r>
          </a:p>
          <a:p xmlns:a="http://schemas.openxmlformats.org/drawingml/2006/main">
            <a:r>
              <a:t>AIモデル作成・機器接続の基盤</a:t>
            </a:r>
          </a:p>
          <a:p xmlns:a="http://schemas.openxmlformats.org/drawingml/2006/main">
            <a:r>
              <a:t>B15-1 ベッコフオートメーション / TwinCAT Machine Learning Creator / E2028</a:t>
            </a:r>
          </a:p>
          <a:p xmlns:a="http://schemas.openxmlformats.org/drawingml/2006/main">
            <a:r>
              <a:t>対象:現場データから判定モデルを作る</a:t>
            </a:r>
          </a:p>
          <a:p xmlns:a="http://schemas.openxmlformats.org/drawingml/2006/main">
            <a:r>
              <a:t>公式要約:ML Creatorは学習・モデル選択を自動化し、解析とONNX出力を支援。</a:t>
            </a:r>
          </a:p>
          <a:p xmlns:a="http://schemas.openxmlformats.org/drawingml/2006/main">
            <a:r>
              <a:t>年度:データ分割・ONNX統合は2024公式資料にも記載。</a:t>
            </a:r>
          </a:p>
          <a:p xmlns:a="http://schemas.openxmlformats.org/drawingml/2006/main">
            <a:r>
              <a:t>人・未確認:人がデータ・注釈・目的を準備。実機採用基準は要確認。</a:t>
            </a:r>
          </a:p>
          <a:p xmlns:a="http://schemas.openxmlformats.org/drawingml/2006/main">
            <a:r>
              <a:t>Evidence:EOV-V005-2026-1,EOV-W01,EDP-04</a:t>
            </a:r>
          </a:p>
          <a:p xmlns:a="http://schemas.openxmlformats.org/drawingml/2006/main">
            <a:r>
              <a:t/>
            </a:r>
          </a:p>
          <a:p xmlns:a="http://schemas.openxmlformats.org/drawingml/2006/main">
            <a:r>
              <a:t>B15-2 たけびし / OPC UA情報モデルとエージェント連携 / S3015</a:t>
            </a:r>
          </a:p>
          <a:p xmlns:a="http://schemas.openxmlformats.org/drawingml/2006/main">
            <a:r>
              <a:t>対象:設備データをAIが扱える形で渡す</a:t>
            </a:r>
          </a:p>
          <a:p xmlns:a="http://schemas.openxmlformats.org/drawingml/2006/main">
            <a:r>
              <a:t>公式要約:OPC UA情報モデルで機器情報をエージェントへ連携する構想。</a:t>
            </a:r>
          </a:p>
          <a:p xmlns:a="http://schemas.openxmlformats.org/drawingml/2006/main">
            <a:r>
              <a:t>年度:2024は多ベンダー接続。2026はAI連携シナリオを追加。</a:t>
            </a:r>
          </a:p>
          <a:p xmlns:a="http://schemas.openxmlformats.org/drawingml/2006/main">
            <a:r>
              <a:t>人・未確認:公開するデータ・メソッド、書込権限、承認と復帰は未確認。</a:t>
            </a:r>
          </a:p>
          <a:p xmlns:a="http://schemas.openxmlformats.org/drawingml/2006/main">
            <a:r>
              <a:t>Evidence:EOV-V011-2024-1,EOV-V011-2026-1,EDP-06</a:t>
            </a:r>
          </a:p>
          <a:p xmlns:a="http://schemas.openxmlformats.org/drawingml/2006/main">
            <a:r>
              <a:t/>
            </a:r>
          </a:p>
          <a:p xmlns:a="http://schemas.openxmlformats.org/drawingml/2006/main">
            <a:r>
              <a:t>B15-3 シーイーシー / Facteye／Resolana / E2006</a:t>
            </a:r>
          </a:p>
          <a:p xmlns:a="http://schemas.openxmlformats.org/drawingml/2006/main">
            <a:r>
              <a:t>対象:既設設備の情報を集め品質と結ぶ</a:t>
            </a:r>
          </a:p>
          <a:p xmlns:a="http://schemas.openxmlformats.org/drawingml/2006/main">
            <a:r>
              <a:t>公式要約:既設設備のデータ収集・可視化を品質やAI利用へ接続。</a:t>
            </a:r>
          </a:p>
          <a:p xmlns:a="http://schemas.openxmlformats.org/drawingml/2006/main">
            <a:r>
              <a:t>年度:収集・対話AIは2024にも説明。2026は連携課題を具体化。</a:t>
            </a:r>
          </a:p>
          <a:p xmlns:a="http://schemas.openxmlformats.org/drawingml/2006/main">
            <a:r>
              <a:t>人・未確認:自動制御や工場全体最適化の実装は未確認。</a:t>
            </a:r>
          </a:p>
          <a:p xmlns:a="http://schemas.openxmlformats.org/drawingml/2006/main">
            <a:r>
              <a:t>Evidence:EOV-V012-2024-1,EOV-V012-2026-1</a:t>
            </a:r>
          </a:p>
          <a:p xmlns:a="http://schemas.openxmlformats.org/drawingml/2006/main">
            <a:r>
              <a:t/>
            </a:r>
          </a:p>
          <a:p xmlns:a="http://schemas.openxmlformats.org/drawingml/2006/main">
            <a:r>
              <a:t>デジタルツイン・物理学習用データ</a:t>
            </a:r>
          </a:p>
          <a:p xmlns:a="http://schemas.openxmlformats.org/drawingml/2006/main">
            <a:r>
              <a:t>B16-1 ファナック / FANUC Smart Digital Twin / S2001</a:t>
            </a:r>
          </a:p>
          <a:p xmlns:a="http://schemas.openxmlformats.org/drawingml/2006/main">
            <a:r>
              <a:t>対象:加工前に機械の動きを確かめる</a:t>
            </a:r>
          </a:p>
          <a:p xmlns:a="http://schemas.openxmlformats.org/drawingml/2006/main">
            <a:r>
              <a:t>公式要約:Smart Digital Twinで加工前の挙動確認を支援。</a:t>
            </a:r>
          </a:p>
          <a:p xmlns:a="http://schemas.openxmlformats.org/drawingml/2006/main">
            <a:r>
              <a:t>年度:同名ツインは2024から継続。</a:t>
            </a:r>
          </a:p>
          <a:p xmlns:a="http://schemas.openxmlformats.org/drawingml/2006/main">
            <a:r>
              <a:t>人・未確認:モデルと実機の一致や、検証対象外事象の扱いは未確認。</a:t>
            </a:r>
          </a:p>
          <a:p xmlns:a="http://schemas.openxmlformats.org/drawingml/2006/main">
            <a:r>
              <a:t>Evidence:EOV-V002-2024-1,EOV-V002-2026-1</a:t>
            </a:r>
          </a:p>
          <a:p xmlns:a="http://schemas.openxmlformats.org/drawingml/2006/main">
            <a:r>
              <a:t/>
            </a:r>
          </a:p>
          <a:p xmlns:a="http://schemas.openxmlformats.org/drawingml/2006/main">
            <a:r>
              <a:t>B16-2 シーメンス株式会社 / Digital Thread：工作機械ツイン・工程内品質保証 / E3006</a:t>
            </a:r>
          </a:p>
          <a:p xmlns:a="http://schemas.openxmlformats.org/drawingml/2006/main">
            <a:r>
              <a:t>対象:加工の仮想検証・計測連携を確認する</a:t>
            </a:r>
          </a:p>
          <a:p xmlns:a="http://schemas.openxmlformats.org/drawingml/2006/main">
            <a:r>
              <a:t>公式要約:Tokn工作機械ツイン、Equator品質保証、ヒューマノイドを別展示。</a:t>
            </a:r>
          </a:p>
          <a:p xmlns:a="http://schemas.openxmlformats.org/drawingml/2006/main">
            <a:r>
              <a:t>年度:Toknの仮想訓練は2024完了の公式事例あり。</a:t>
            </a:r>
          </a:p>
          <a:p xmlns:a="http://schemas.openxmlformats.org/drawingml/2006/main">
            <a:r>
              <a:t>人・未確認:海外HMND実証とJIMTOFの機体・タスクの同一性は未確認。</a:t>
            </a:r>
          </a:p>
          <a:p xmlns:a="http://schemas.openxmlformats.org/drawingml/2006/main">
            <a:r>
              <a:t>Evidence:EEX-EXH-2026-9b991dd8132f51dc,EEX-EXH-2024-558faea07a73f5d8,EDP-16,EDP-17</a:t>
            </a:r>
          </a:p>
          <a:p xmlns:a="http://schemas.openxmlformats.org/drawingml/2006/main">
            <a:r>
              <a:t/>
            </a:r>
          </a:p>
          <a:p xmlns:a="http://schemas.openxmlformats.org/drawingml/2006/main">
            <a:r>
              <a:t>B16-3 NdotLight Co., Ltd. / TRINIX：CADから物理シミュレーション用データ生成 / S4004</a:t>
            </a:r>
          </a:p>
          <a:p xmlns:a="http://schemas.openxmlformats.org/drawingml/2006/main">
            <a:r>
              <a:t>対象:物理シミュレーション用の3Dデータを作る</a:t>
            </a:r>
          </a:p>
          <a:p xmlns:a="http://schemas.openxmlformats.org/drawingml/2006/main">
            <a:r>
              <a:t>公式要約:TRINIXはCADから形状・物理属性等を生成し検証・自己修正を説明。</a:t>
            </a:r>
          </a:p>
          <a:p xmlns:a="http://schemas.openxmlformats.org/drawingml/2006/main">
            <a:r>
              <a:t>年度:2024同名比較不能。DexBenchは共同開発告知で完成済み標準とはしない。</a:t>
            </a:r>
          </a:p>
          <a:p xmlns:a="http://schemas.openxmlformats.org/drawingml/2006/main">
            <a:r>
              <a:t>人・未確認:実測値と推定値の区別、人の承認、収束しない時の対応は未公開。</a:t>
            </a:r>
          </a:p>
          <a:p xmlns:a="http://schemas.openxmlformats.org/drawingml/2006/main">
            <a:r>
              <a:t>Evidence:EEX-EXH-2026-016097f87d1914b2,EEX-WNDOT,ERF-06,ERF-07,ERF-08,ERF-09</a:t>
            </a:r>
          </a:p>
          <a:p xmlns:a="http://schemas.openxmlformats.org/drawingml/2006/main">
            <a:r>
              <a:t/>
            </a:r>
          </a:p>
          <a:p xmlns:a="http://schemas.openxmlformats.org/drawingml/2006/main">
            <a:r>
              <a:t>展示段階と自律化の境界</a:t>
            </a:r>
          </a:p>
          <a:p xmlns:a="http://schemas.openxmlformats.org/drawingml/2006/main">
            <a:r>
              <a:t>B17-1 ファナック / 生成AIによるロボット駆動 / S2001</a:t>
            </a:r>
          </a:p>
          <a:p xmlns:a="http://schemas.openxmlformats.org/drawingml/2006/main">
            <a:r>
              <a:t>対象:指示からロボットを動かす（具体作業未公表）</a:t>
            </a:r>
          </a:p>
          <a:p xmlns:a="http://schemas.openxmlformats.org/drawingml/2006/main">
            <a:r>
              <a:t>公式要約:ファナックは生成AIによるロボット駆動事例を展示予定。</a:t>
            </a:r>
          </a:p>
          <a:p xmlns:a="http://schemas.openxmlformats.org/drawingml/2006/main">
            <a:r>
              <a:t>年度:2024はAIバラ積み等。2026は生成AI駆動を追加記載。</a:t>
            </a:r>
          </a:p>
          <a:p xmlns:a="http://schemas.openxmlformats.org/drawingml/2006/main">
            <a:r>
              <a:t>人・未確認:機体・対象タスク・教示・停止・承認の具体範囲は未確認。</a:t>
            </a:r>
          </a:p>
          <a:p xmlns:a="http://schemas.openxmlformats.org/drawingml/2006/main">
            <a:r>
              <a:t>Evidence:EOV-V002-2024-1,EOV-V002-2026-1</a:t>
            </a:r>
          </a:p>
          <a:p xmlns:a="http://schemas.openxmlformats.org/drawingml/2006/main">
            <a:r>
              <a:t/>
            </a:r>
          </a:p>
          <a:p xmlns:a="http://schemas.openxmlformats.org/drawingml/2006/main">
            <a:r>
              <a:t>B17-2 東京貿易テクノシステム / RBY Series 双腕移動ヒューマノイド / E7038</a:t>
            </a:r>
          </a:p>
          <a:p xmlns:a="http://schemas.openxmlformats.org/drawingml/2006/main">
            <a:r>
              <a:t>対象:双腕人型ロボットを遠隔操作・教示する</a:t>
            </a:r>
          </a:p>
          <a:p xmlns:a="http://schemas.openxmlformats.org/drawingml/2006/main">
            <a:r>
              <a:t>公式要約:RBY双腕移動ヒューマノイドはテレオペと作業教示の参考出展。</a:t>
            </a:r>
          </a:p>
          <a:p xmlns:a="http://schemas.openxmlformats.org/drawingml/2006/main">
            <a:r>
              <a:t>年度:2024の個別差は未照合。</a:t>
            </a:r>
          </a:p>
          <a:p xmlns:a="http://schemas.openxmlformats.org/drawingml/2006/main">
            <a:r>
              <a:t>人・未確認:人が遠隔操作・教示。自律作業の範囲は未確認。</a:t>
            </a:r>
          </a:p>
          <a:p xmlns:a="http://schemas.openxmlformats.org/drawingml/2006/main">
            <a:r>
              <a:t>Evidence:RPT-EXH-2026-d7b599b5d3045611,RPT-EXH-2024-5cbad6b0326d2bee</a:t>
            </a:r>
          </a:p>
          <a:p xmlns:a="http://schemas.openxmlformats.org/drawingml/2006/main">
            <a:r>
              <a:t/>
            </a:r>
          </a:p>
          <a:p xmlns:a="http://schemas.openxmlformats.org/drawingml/2006/main">
            <a:r>
              <a:t>B17-3 神崎高級工機 / FD100 ギヤチェッカー / E1071</a:t>
            </a:r>
          </a:p>
          <a:p xmlns:a="http://schemas.openxmlformats.org/drawingml/2006/main">
            <a:r>
              <a:t>対象:歯車の加工前状態を測り段取りを助ける</a:t>
            </a:r>
          </a:p>
          <a:p xmlns:a="http://schemas.openxmlformats.org/drawingml/2006/main">
            <a:r>
              <a:t>公式要約:FD100に歯合わせ・前加工計測。計測による条件最適化は開発中。</a:t>
            </a:r>
          </a:p>
          <a:p xmlns:a="http://schemas.openxmlformats.org/drawingml/2006/main">
            <a:r>
              <a:t>年度:2024の構造改善等に対し段取りを具体化。開発中を実用済みとしない。</a:t>
            </a:r>
          </a:p>
          <a:p xmlns:a="http://schemas.openxmlformats.org/drawingml/2006/main">
            <a:r>
              <a:t>人・未確認:最適化方式と人の承認、自動反映範囲は未公表。</a:t>
            </a:r>
          </a:p>
          <a:p xmlns:a="http://schemas.openxmlformats.org/drawingml/2006/main">
            <a:r>
              <a:t>Evidence:RPT-EXH-2026-91aa8dd094a4a7b2,RPT-EXH-2024-50a402f6bcce2ab8</a:t>
            </a:r>
          </a:p>
          <a:p xmlns:a="http://schemas.openxmlformats.org/drawingml/2006/main">
            <a:r>
              <a:t/>
            </a:r>
          </a:p>
          <a:p xmlns:a="http://schemas.openxmlformats.org/drawingml/2006/main">
            <a:r>
              <a:t>原典</a:t>
            </a:r>
          </a:p>
          <a:p xmlns:a="http://schemas.openxmlformats.org/drawingml/2006/main">
            <a:r>
              <a:t>EEX-EXH-2026-0daa587f8abf6076 JIMTOF2026公式出展説明：松本機械工業株式会社 (W2070)</a:t>
            </a:r>
          </a:p>
          <a:p xmlns:a="http://schemas.openxmlformats.org/drawingml/2006/main">
            <a:r>
              <a:t>https://www.jimtof.org/search/jp/ESdetails?e=bhpEIIjKNb4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EEX-EXH-2024-1dc10e3b594ed9d8 JIMTOF2024公式出展説明：松本機械工業株式会社 (W2055)</a:t>
            </a:r>
          </a:p>
          <a:p xmlns:a="http://schemas.openxmlformats.org/drawingml/2006/main">
            <a:r>
              <a:t>https://www.jimtof.org/2024/search/jp/ESdetails?e=1cGhqW04Qes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EDP-26 Smart Terrace Adv</a:t>
            </a:r>
          </a:p>
          <a:p xmlns:a="http://schemas.openxmlformats.org/drawingml/2006/main">
            <a:r>
              <a:t>https://mmkchuck.com/product/7218/</a:t>
            </a:r>
          </a:p>
          <a:p xmlns:a="http://schemas.openxmlformats.org/drawingml/2006/main">
            <a:r>
              <a:t>該当箇所:7つの革新／寸法パラメータ入力・出荷時組込プログラム／レトロフィット</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EDP-27 JIMTOF2024出展報告</a:t>
            </a:r>
          </a:p>
          <a:p xmlns:a="http://schemas.openxmlformats.org/drawingml/2006/main">
            <a:r>
              <a:t>https://mmkchuck.com/news/2024/5903/</a:t>
            </a:r>
          </a:p>
          <a:p xmlns:a="http://schemas.openxmlformats.org/drawingml/2006/main">
            <a:r>
              <a:t>該当箇所:爪・ケレ・計測／展示会初披露のCAPTO・MAC</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EDP-28 Smart Terrace関連資料公開</a:t>
            </a:r>
          </a:p>
          <a:p xmlns:a="http://schemas.openxmlformats.org/drawingml/2006/main">
            <a:r>
              <a:t>https://mmkchuck.com/news/2026/7380/</a:t>
            </a:r>
          </a:p>
          <a:p xmlns:a="http://schemas.openxmlformats.org/drawingml/2006/main">
            <a:r>
              <a:t>該当箇所:Advハード単体・ストッカー単体販売への対応</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EOV-V025-2024-1 JIMTOF2024公式カタログ：株式会社イマオコーポレーション (W2002)</a:t>
            </a:r>
          </a:p>
          <a:p xmlns:a="http://schemas.openxmlformats.org/drawingml/2006/main">
            <a:r>
              <a:t>https://www.jimtof.org/2024/search/jp/ESdetails?e=MTYTZ2Km3zM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EOV-V025-2026-1 JIMTOF2026公式カタログ：株式会社イマオコーポレーション (W2001)</a:t>
            </a:r>
          </a:p>
          <a:p xmlns:a="http://schemas.openxmlformats.org/drawingml/2006/main">
            <a:r>
              <a:t>https://www.jimtof.org/search/jp/ESdetails?e=shuDpJLDn-A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EDP-30 ナットランナー治具</a:t>
            </a:r>
          </a:p>
          <a:p xmlns:a="http://schemas.openxmlformats.org/drawingml/2006/main">
            <a:r>
              <a:t>https://www.imao.co.jp/products/nutrunnerclamp.html</a:t>
            </a:r>
          </a:p>
          <a:p xmlns:a="http://schemas.openxmlformats.org/drawingml/2006/main">
            <a:r>
              <a:t>該当箇所:ロボットのナットランナーでクランプ／配管配線不要／手動も可能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EDP-32 JIMTOF2024出展パンフレット</a:t>
            </a:r>
          </a:p>
          <a:p xmlns:a="http://schemas.openxmlformats.org/drawingml/2006/main">
            <a:r>
              <a:t>https://www.imao.co.jp/event-20241105-1110-jimtof/jimtof.pdf</a:t>
            </a:r>
          </a:p>
          <a:p xmlns:a="http://schemas.openxmlformats.org/drawingml/2006/main">
            <a:r>
              <a:t>該当箇所:ナットランナー治具各型式／人でもロボットでも操作可能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EOV-V029-2024-1 JIMTOF2024公式カタログ：中村留精密工業株式会社 (E5033)</a:t>
            </a:r>
          </a:p>
          <a:p xmlns:a="http://schemas.openxmlformats.org/drawingml/2006/main">
            <a:r>
              <a:t>https://www.jimtof.org/2024/search/jp/ESdetails?e=RYK326OoMn4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EOV-V029-2026-1 JIMTOF2026公式カタログ：中村留精密工業株式会社 (E2027)</a:t>
            </a:r>
          </a:p>
          <a:p xmlns:a="http://schemas.openxmlformats.org/drawingml/2006/main">
            <a:r>
              <a:t>https://www.jimtof.org/search/jp/ESdetails?e=C7A_2ZTDXNw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EOV-W04 RoboSync</a:t>
            </a:r>
          </a:p>
          <a:p xmlns:a="http://schemas.openxmlformats.org/drawingml/2006/main">
            <a:r>
              <a:t>https://www.nakamura-tome.co.jp/products/automation/robosync/</a:t>
            </a:r>
          </a:p>
          <a:p xmlns:a="http://schemas.openxmlformats.org/drawingml/2006/main">
            <a:r>
              <a:t>該当箇所:製品の特長 &gt; 簡単復旧、簡単操作</a:t>
            </a:r>
          </a:p>
          <a:p xmlns:a="http://schemas.openxmlformats.org/drawingml/2006/main">
            <a:r>
              <a:t>確認:2026-10-16</a:t>
            </a:r>
          </a:p>
          <a:p xmlns:a="http://schemas.openxmlformats.org/drawingml/2006/main">
            <a:r>
              <a:t>種類:企業公式資料・メーカー主張</a:t>
            </a:r>
          </a:p>
          <a:p xmlns:a="http://schemas.openxmlformats.org/drawingml/2006/main">
            <a:r>
              <a:t>展示:自律的な未知例外復帰の証明ではない</a:t>
            </a:r>
          </a:p>
          <a:p xmlns:a="http://schemas.openxmlformats.org/drawingml/2006/main">
            <a:r>
              <a:t/>
            </a:r>
          </a:p>
          <a:p xmlns:a="http://schemas.openxmlformats.org/drawingml/2006/main">
            <a:r>
              <a:t>EEX-EXH-2026-1c8938d47b63e4bb JIMTOF2026公式出展説明：共立精機株式会社 (W2025)</a:t>
            </a:r>
          </a:p>
          <a:p xmlns:a="http://schemas.openxmlformats.org/drawingml/2006/main">
            <a:r>
              <a:t>https://www.jimtof.org/search/jp/ESdetails?e=9k7ro8sL0VA</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EEX-EXH-2024-3a9bfb48fcb6542c JIMTOF2024公式出展説明：共立精機株式会社 (W2037)</a:t>
            </a:r>
          </a:p>
          <a:p xmlns:a="http://schemas.openxmlformats.org/drawingml/2006/main">
            <a:r>
              <a:t>https://www.jimtof.org/2024/search/jp/ESdetails?e=xT1gIvXxCpQ</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EOV-V001-2024-1 JIMTOF2024公式カタログ：DMG森精機株式会社 (E8001)</a:t>
            </a:r>
          </a:p>
          <a:p xmlns:a="http://schemas.openxmlformats.org/drawingml/2006/main">
            <a:r>
              <a:t>https://www.jimtof.org/2024/search/jp/ESdetails?e=lOXEEpvlXpM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EOV-V001-2026-1 JIMTOF2026公式カタログ：DMG森精機株式会社 (E8005)</a:t>
            </a:r>
          </a:p>
          <a:p xmlns:a="http://schemas.openxmlformats.org/drawingml/2006/main">
            <a:r>
              <a:t>https://www.jimtof.org/search/jp/ESdetails?e=zcqDj1lSkGs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EEX-EXH-2026-d8a50e23a9101b11 JIMTOF2026公式出展説明：株式会社白山機工 (E2007)</a:t>
            </a:r>
          </a:p>
          <a:p xmlns:a="http://schemas.openxmlformats.org/drawingml/2006/main">
            <a:r>
              <a:t>https://www.jimtof.org/search/jp/ESdetails?e=FNFR7REQOl4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EEX-EXH-2024-89cb7807f64be75b JIMTOF2024公式出展説明：株式会社白山機工 (E4038)</a:t>
            </a:r>
          </a:p>
          <a:p xmlns:a="http://schemas.openxmlformats.org/drawingml/2006/main">
            <a:r>
              <a:t>https://www.jimtof.org/2024/search/jp/ESdetails?e=krDglZoYKFc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EDP-29 JIMTOF2026出展告知</a:t>
            </a:r>
          </a:p>
          <a:p xmlns:a="http://schemas.openxmlformats.org/drawingml/2006/main">
            <a:r>
              <a:t>https://www.hakusankiko.co.jp/news/event/8837/</a:t>
            </a:r>
          </a:p>
          <a:p xmlns:a="http://schemas.openxmlformats.org/drawingml/2006/main">
            <a:r>
              <a:t>該当箇所:AMR切り屑回収システムを実演・模型で紹介</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EOV-V030-2024-1 JIMTOF2024公式カタログ：株式会社TAKISAWA (E3013)</a:t>
            </a:r>
          </a:p>
          <a:p xmlns:a="http://schemas.openxmlformats.org/drawingml/2006/main">
            <a:r>
              <a:t>https://www.jimtof.org/2024/search/jp/ESdetails?e=K00DRD-BngA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EOV-V030-2026-1 JIMTOF2026公式カタログ：株式会社TAKISAWA (E3013)</a:t>
            </a:r>
          </a:p>
          <a:p xmlns:a="http://schemas.openxmlformats.org/drawingml/2006/main">
            <a:r>
              <a:t>https://www.jimtof.org/search/jp/ESdetails?e=3dTDRAMwZpM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EAT-N01 JIMTOF2026 TR-20W</a:t>
            </a:r>
          </a:p>
          <a:p xmlns:a="http://schemas.openxmlformats.org/drawingml/2006/main">
            <a:r>
              <a:t>https://www.nidec.com/jp/products/machine-tools/contents/machine-tool-jimtof2026/</a:t>
            </a:r>
          </a:p>
          <a:p xmlns:a="http://schemas.openxmlformats.org/drawingml/2006/main">
            <a:r>
              <a:t>該当箇所:TR-20W：フィジカルAI搭載のロボットシステム（参考出品）</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展示:2026展示予定・参考出品</a:t>
            </a:r>
          </a:p>
          <a:p xmlns:a="http://schemas.openxmlformats.org/drawingml/2006/main">
            <a:r>
              <a:t/>
            </a:r>
          </a:p>
          <a:p xmlns:a="http://schemas.openxmlformats.org/drawingml/2006/main">
            <a:r>
              <a:t>EAT-N02 MGC300開発発表</a:t>
            </a:r>
          </a:p>
          <a:p xmlns:a="http://schemas.openxmlformats.org/drawingml/2006/main">
            <a:r>
              <a:t>https://www.nidec.com/jp/product/news/2024/news1101-03/</a:t>
            </a:r>
          </a:p>
          <a:p xmlns:a="http://schemas.openxmlformats.org/drawingml/2006/main">
            <a:r>
              <a:t>該当箇所:2024年11月1日／MGC300の出展説明</a:t>
            </a:r>
          </a:p>
          <a:p xmlns:a="http://schemas.openxmlformats.org/drawingml/2006/main">
            <a:r>
              <a:t>確認:2026-10-16</a:t>
            </a:r>
          </a:p>
          <a:p xmlns:a="http://schemas.openxmlformats.org/drawingml/2006/main">
            <a:r>
              <a:t>種類:企業公式説明・メーカー主張</a:t>
            </a:r>
          </a:p>
          <a:p xmlns:a="http://schemas.openxmlformats.org/drawingml/2006/main">
            <a:r>
              <a:t>展示:2024当時の予定説明</a:t>
            </a:r>
          </a:p>
          <a:p xmlns:a="http://schemas.openxmlformats.org/drawingml/2006/main">
            <a:r>
              <a:t/>
            </a:r>
          </a:p>
          <a:p xmlns:a="http://schemas.openxmlformats.org/drawingml/2006/main">
            <a:r>
              <a:t>ERF-13 JIMTOF2026：TR-20W参考出品</a:t>
            </a:r>
          </a:p>
          <a:p xmlns:a="http://schemas.openxmlformats.org/drawingml/2006/main">
            <a:r>
              <a:t>https://www.nidec.com/jp/products/machine-tools/contents/machine-tool-jimtof2026/</a:t>
            </a:r>
          </a:p>
          <a:p xmlns:a="http://schemas.openxmlformats.org/drawingml/2006/main">
            <a:r>
              <a:t>該当箇所:TAKISAWA／TR-20W、主軸の切粉認識・判断・除去、参考出品</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EEX-EXH-2026-30b70a74241de123 JIMTOF2026公式出展説明：カネテック株式会社 (W2013)</a:t>
            </a:r>
          </a:p>
          <a:p xmlns:a="http://schemas.openxmlformats.org/drawingml/2006/main">
            <a:r>
              <a:t>https://www.jimtof.org/search/jp/ESdetails?e=ekM3exgIAtc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EEX-EXH-2024-45415d070f47dc6e JIMTOF2024公式出展説明：カネテック株式会社 (W2030)</a:t>
            </a:r>
          </a:p>
          <a:p xmlns:a="http://schemas.openxmlformats.org/drawingml/2006/main">
            <a:r>
              <a:t>https://www.jimtof.org/2024/search/jp/ESdetails?e=ot0Fx36wI0g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EDP-01 MagnetPinset</a:t>
            </a:r>
          </a:p>
          <a:p xmlns:a="http://schemas.openxmlformats.org/drawingml/2006/main">
            <a:r>
              <a:t>https://kanetec.co.jp/lp/MagnetPinset%40LP.html</a:t>
            </a:r>
          </a:p>
          <a:p xmlns:a="http://schemas.openxmlformats.org/drawingml/2006/main">
            <a:r>
              <a:t>該当箇所:小径ネジの課題／JIMTOF2024出展／ネジ整列器</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EEX-EXH-2026-8c08de1ffed47316 JIMTOF2026公式出展説明：東京エレクトロンデバイス株式会社 (E7073)</a:t>
            </a:r>
          </a:p>
          <a:p xmlns:a="http://schemas.openxmlformats.org/drawingml/2006/main">
            <a:r>
              <a:t>https://www.jimtof.org/search/jp/ESdetails?e=c4cChQniAm8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EEX-WTED 企業公式の展示告知</a:t>
            </a:r>
          </a:p>
          <a:p xmlns:a="http://schemas.openxmlformats.org/drawingml/2006/main">
            <a:r>
              <a:t>https://www.inrevium.com/news-event/event/p7331/</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t>
            </a:r>
          </a:p>
          <a:p xmlns:a="http://schemas.openxmlformats.org/drawingml/2006/main">
            <a:r>
              <a:t/>
            </a:r>
          </a:p>
          <a:p xmlns:a="http://schemas.openxmlformats.org/drawingml/2006/main">
            <a:r>
              <a:t>EEX-EXH-2026-ba283a239e52d644 JIMTOF2026公式出展説明：株式会社ジーベックテクノロジー (WA006)</a:t>
            </a:r>
          </a:p>
          <a:p xmlns:a="http://schemas.openxmlformats.org/drawingml/2006/main">
            <a:r>
              <a:t>https://www.jimtof.org/search/jp/ESdetails?e=jbu03Ik4s00</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EEX-EXH-2024-1632c66ef4d28e78 JIMTOF2024公式出展説明：株式会社ジーベックテクノロジー (WA007)</a:t>
            </a:r>
          </a:p>
          <a:p xmlns:a="http://schemas.openxmlformats.org/drawingml/2006/main">
            <a:r>
              <a:t>https://www.jimtof.org/2024/search/jp/ESdetails?e=mnvwVRInyM8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EAT-N04 CoAgent for Operations TF1700</a:t>
            </a:r>
          </a:p>
          <a:p xmlns:a="http://schemas.openxmlformats.org/drawingml/2006/main">
            <a:r>
              <a:t>https://www.beckhoff.com/ko-kr/products/automation/twincat/tfxxxx-twincat-3-functions/tf1xxx-system/tf1700.html</a:t>
            </a:r>
          </a:p>
          <a:p xmlns:a="http://schemas.openxmlformats.org/drawingml/2006/main">
            <a:r>
              <a:t>該当箇所:Properties／Product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ERF-02 TF1700 CoAgent for Operations</a:t>
            </a:r>
          </a:p>
          <a:p xmlns:a="http://schemas.openxmlformats.org/drawingml/2006/main">
            <a:r>
              <a:t>https://www.beckhoff.com/en-en/products/automation/twincat/tfxxxx-twincat-3-functions/tf1xxx-system/tf1700.html</a:t>
            </a:r>
          </a:p>
          <a:p xmlns:a="http://schemas.openxmlformats.org/drawingml/2006/main">
            <a:r>
              <a:t>該当箇所:Properties／direct system access；Product status／market release on request</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EOV-V015-2024-1 JIMTOF2024公式カタログ：株式会社ソフィックス (E4046)</a:t>
            </a:r>
          </a:p>
          <a:p xmlns:a="http://schemas.openxmlformats.org/drawingml/2006/main">
            <a:r>
              <a:t>https://www.jimtof.org/2024/search/jp/ESdetails?e=WNiUW-E-atY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EOV-V015-2026-1 JIMTOF2026公式カタログ：株式会社ソフィックス (E1067)</a:t>
            </a:r>
          </a:p>
          <a:p xmlns:a="http://schemas.openxmlformats.org/drawingml/2006/main">
            <a:r>
              <a:t>https://www.jimtof.org/search/jp/ESdetails?e=rYRhOM0muPQ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EDP-21 SOFIXCAN AI Forecast</a:t>
            </a:r>
          </a:p>
          <a:p xmlns:a="http://schemas.openxmlformats.org/drawingml/2006/main">
            <a:r>
              <a:t>https://www.sofix.co.jp/products/sofixcan_ai_forecast/</a:t>
            </a:r>
          </a:p>
          <a:p xmlns:a="http://schemas.openxmlformats.org/drawingml/2006/main">
            <a:r>
              <a:t>該当箇所:時系列データ予測／形状領域予測／顧客別予測システム開発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EDP-22 SOFIXCAN Fleeter</a:t>
            </a:r>
          </a:p>
          <a:p xmlns:a="http://schemas.openxmlformats.org/drawingml/2006/main">
            <a:r>
              <a:t>https://www.sofix.co.jp/products/sofixcan_fleeter/</a:t>
            </a:r>
          </a:p>
          <a:p xmlns:a="http://schemas.openxmlformats.org/drawingml/2006/main">
            <a:r>
              <a:t>該当箇所:上位システム命令をトリガーに各機器を制御／通信モジュール追加</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EDP-23 JIMTOF2026告知とミニ工場の過去告知</a:t>
            </a:r>
          </a:p>
          <a:p xmlns:a="http://schemas.openxmlformats.org/drawingml/2006/main">
            <a:r>
              <a:t>https://www.sofix.co.jp/</a:t>
            </a:r>
          </a:p>
          <a:p xmlns:a="http://schemas.openxmlformats.org/drawingml/2006/main">
            <a:r>
              <a:t>該当箇所:2026/9/29告知／2025/11/4国際ロボット展でもミニ工場を予告</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EOV-V016-2026-1 JIMTOF2026公式カタログ：パナソニックプロダクションエンジニアリング株式会社 (W3086)</a:t>
            </a:r>
          </a:p>
          <a:p xmlns:a="http://schemas.openxmlformats.org/drawingml/2006/main">
            <a:r>
              <a:t>https://www.jimtof.org/search/jp/ESdetails?e=5mrMofo3nN8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EOV-W05 X-Area</a:t>
            </a:r>
          </a:p>
          <a:p xmlns:a="http://schemas.openxmlformats.org/drawingml/2006/main">
            <a:r>
              <a:t>https://www.panasonic.com/jp/company/ppe/products/x-area.html</a:t>
            </a:r>
          </a:p>
          <a:p xmlns:a="http://schemas.openxmlformats.org/drawingml/2006/main">
            <a:r>
              <a:t>該当箇所:サービス概要、システム構成</a:t>
            </a:r>
          </a:p>
          <a:p xmlns:a="http://schemas.openxmlformats.org/drawingml/2006/main">
            <a:r>
              <a:t>確認:2026-10-16</a:t>
            </a:r>
          </a:p>
          <a:p xmlns:a="http://schemas.openxmlformats.org/drawingml/2006/main">
            <a:r>
              <a:t>種類:企業公式資料・メーカー主張</a:t>
            </a:r>
          </a:p>
          <a:p xmlns:a="http://schemas.openxmlformats.org/drawingml/2006/main">
            <a:r>
              <a:t>展示:人の介入を含む運用方式。無人運用・同時台数の保証ではない</a:t>
            </a:r>
          </a:p>
          <a:p xmlns:a="http://schemas.openxmlformats.org/drawingml/2006/main">
            <a:r>
              <a:t/>
            </a:r>
          </a:p>
          <a:p xmlns:a="http://schemas.openxmlformats.org/drawingml/2006/main">
            <a:r>
              <a:t>EOV-W09 工場敷地内でのX-Area Remote実証</a:t>
            </a:r>
          </a:p>
          <a:p xmlns:a="http://schemas.openxmlformats.org/drawingml/2006/main">
            <a:r>
              <a:t>https://tech.panasonic.com/jp/td/news/20221124.html</a:t>
            </a:r>
          </a:p>
          <a:p xmlns:a="http://schemas.openxmlformats.org/drawingml/2006/main">
            <a:r>
              <a:t>該当箇所:2022/11/24 NEWS &amp; TOPICS</a:t>
            </a:r>
          </a:p>
          <a:p xmlns:a="http://schemas.openxmlformats.org/drawingml/2006/main">
            <a:r>
              <a:t>確認:2026-10-16</a:t>
            </a:r>
          </a:p>
          <a:p xmlns:a="http://schemas.openxmlformats.org/drawingml/2006/main">
            <a:r>
              <a:t>種類:企業公式資料・メーカー主張</a:t>
            </a:r>
          </a:p>
          <a:p xmlns:a="http://schemas.openxmlformats.org/drawingml/2006/main">
            <a:r>
              <a:t>展示:2024出展比較はできないが、2026に初めて遠隔管制が生まれたという解釈を否定する根拠</a:t>
            </a:r>
          </a:p>
          <a:p xmlns:a="http://schemas.openxmlformats.org/drawingml/2006/main">
            <a:r>
              <a:t/>
            </a:r>
          </a:p>
          <a:p xmlns:a="http://schemas.openxmlformats.org/drawingml/2006/main">
            <a:r>
              <a:t>EDP-24 屋外自動搬送とX-Area Remoteの実証</a:t>
            </a:r>
          </a:p>
          <a:p xmlns:a="http://schemas.openxmlformats.org/drawingml/2006/main">
            <a:r>
              <a:t>https://news.panasonic.com/jp/press/jn260713-1</a:t>
            </a:r>
          </a:p>
          <a:p xmlns:a="http://schemas.openxmlformats.org/drawingml/2006/main">
            <a:r>
              <a:t>該当箇所:障害物停止時に自動運転から人の遠隔操作へ切替／担当者とセーフティドライバー</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EEX-EXH-2026-4fb92ba6b82546d7 JIMTOF2026公式出展説明：WinTool AG (E1049)</a:t>
            </a:r>
          </a:p>
          <a:p xmlns:a="http://schemas.openxmlformats.org/drawingml/2006/main">
            <a:r>
              <a:t>https://www.jimtof.org/search/jp/ESdetails?e=sSFZV23clJo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EEX-EXH-2024-3f1fa1966a57e011 JIMTOF2024公式出展説明：WinTool AG (E5003)</a:t>
            </a:r>
          </a:p>
          <a:p xmlns:a="http://schemas.openxmlformats.org/drawingml/2006/main">
            <a:r>
              <a:t>https://www.jimtof.org/2024/search/jp/ESdetails?e=-n22F1d_CDc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EDP-18 ERP Integration</a:t>
            </a:r>
          </a:p>
          <a:p xmlns:a="http://schemas.openxmlformats.org/drawingml/2006/main">
            <a:r>
              <a:t>https://www.wintool.com/en/tool-management-software/cnc-inventory-manager/erp-integration</a:t>
            </a:r>
          </a:p>
          <a:p xmlns:a="http://schemas.openxmlformats.org/drawingml/2006/main">
            <a:r>
              <a:t>該当箇所:最低在庫で購買要求を生成し、管理者承認後にERPへ自動送信</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EDP-19 CNC Process Manager</a:t>
            </a:r>
          </a:p>
          <a:p xmlns:a="http://schemas.openxmlformats.org/drawingml/2006/main">
            <a:r>
              <a:t>https://www.wintool.com/software/cnc-prozessverwaltung</a:t>
            </a:r>
          </a:p>
          <a:p xmlns:a="http://schemas.openxmlformats.org/drawingml/2006/main">
            <a:r>
              <a:t>該当箇所:工具積卸リスト・在庫確認・プリセッター指示・NCと測定値の転送</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EOV-V013-2026-1 JIMTOF2026公式カタログ：株式会社Smart Craft (S3002)</a:t>
            </a:r>
          </a:p>
          <a:p xmlns:a="http://schemas.openxmlformats.org/drawingml/2006/main">
            <a:r>
              <a:t>https://www.jimtof.org/search/jp/ESdetails?e=WqjRB6DEqN0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EOV-W01 TwinCAT 3 Machine Learning Creator</a:t>
            </a:r>
          </a:p>
          <a:p xmlns:a="http://schemas.openxmlformats.org/drawingml/2006/main">
            <a:r>
              <a:t>https://www.beckhoff.com/en-za/products/automation/twincat/texxxx-twincat-3-engineering/te3850.html</a:t>
            </a:r>
          </a:p>
          <a:p xmlns:a="http://schemas.openxmlformats.org/drawingml/2006/main">
            <a:r>
              <a:t>該当箇所:製品説明冒頭、Product status</a:t>
            </a:r>
          </a:p>
          <a:p xmlns:a="http://schemas.openxmlformats.org/drawingml/2006/main">
            <a:r>
              <a:t>確認:2026-10-16</a:t>
            </a:r>
          </a:p>
          <a:p xmlns:a="http://schemas.openxmlformats.org/drawingml/2006/main">
            <a:r>
              <a:t>種類:企業公式資料・メーカー主張</a:t>
            </a:r>
          </a:p>
          <a:p xmlns:a="http://schemas.openxmlformats.org/drawingml/2006/main">
            <a:r>
              <a:t>展示:既存製品の方式確認。2026展示はEOV-V005-2026-1で別確認</a:t>
            </a:r>
          </a:p>
          <a:p xmlns:a="http://schemas.openxmlformats.org/drawingml/2006/main">
            <a:r>
              <a:t/>
            </a:r>
          </a:p>
          <a:p xmlns:a="http://schemas.openxmlformats.org/drawingml/2006/main">
            <a:r>
              <a:t>EDP-04 PC Control 02/2024：Machine Learning Creator</a:t>
            </a:r>
          </a:p>
          <a:p xmlns:a="http://schemas.openxmlformats.org/drawingml/2006/main">
            <a:r>
              <a:t>https://www.beckhoff.com/media/downloads/information-media/pc-control/pcc_0224_e.pdf</a:t>
            </a:r>
          </a:p>
          <a:p xmlns:a="http://schemas.openxmlformats.org/drawingml/2006/main">
            <a:r>
              <a:t>該当箇所:TE3850／訓練・テストデータ分割、モデル解析、ONNX出力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EOV-V011-2024-1 JIMTOF2024公式カタログ：株式会社たけびし (E7053)</a:t>
            </a:r>
          </a:p>
          <a:p xmlns:a="http://schemas.openxmlformats.org/drawingml/2006/main">
            <a:r>
              <a:t>https://www.jimtof.org/2024/search/jp/ESdetails?e=SiZMI-OH8_k</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EOV-V011-2026-1 JIMTOF2026公式カタログ：株式会社たけびし (S3015)</a:t>
            </a:r>
          </a:p>
          <a:p xmlns:a="http://schemas.openxmlformats.org/drawingml/2006/main">
            <a:r>
              <a:t>https://www.jimtof.org/search/jp/ESdetails?e=Qh27DAtEkbw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EDP-06 OPC UA情報モデルとAIエージェント</a:t>
            </a:r>
          </a:p>
          <a:p xmlns:a="http://schemas.openxmlformats.org/drawingml/2006/main">
            <a:r>
              <a:t>https://opcconnect.opcfoundation.org/2026/06/toward-realizing-ai-utilization-in-manufacturing-exploring-the-potential-of-integrating-the-opc-ua-information-model-with-ai-agents/</a:t>
            </a:r>
          </a:p>
          <a:p xmlns:a="http://schemas.openxmlformats.org/drawingml/2006/main">
            <a:r>
              <a:t>該当箇所:A New Approach to Connecting AI Agents／MCP Adapterはplanning to provide</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EOV-V012-2024-1 JIMTOF2024公式カタログ：株式会社シーイーシー (E5022)</a:t>
            </a:r>
          </a:p>
          <a:p xmlns:a="http://schemas.openxmlformats.org/drawingml/2006/main">
            <a:r>
              <a:t>https://www.jimtof.org/2024/search/jp/ESdetails?e=WS9ql5D41fQ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EOV-V012-2026-1 JIMTOF2026公式カタログ：株式会社シーイーシー (E2006)</a:t>
            </a:r>
          </a:p>
          <a:p xmlns:a="http://schemas.openxmlformats.org/drawingml/2006/main">
            <a:r>
              <a:t>https://www.jimtof.org/search/jp/ESdetails?e=tW-C9oF94EQ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EEX-EXH-2026-9b991dd8132f51dc JIMTOF2026公式出展説明：シーメンス株式会社 (E3006)</a:t>
            </a:r>
          </a:p>
          <a:p xmlns:a="http://schemas.openxmlformats.org/drawingml/2006/main">
            <a:r>
              <a:t>https://www.jimtof.org/search/jp/ESdetails?e=EBIotJu7lrg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EEX-EXH-2024-558faea07a73f5d8 JIMTOF2024公式出展説明：シーメンス株式会社 (E5008)</a:t>
            </a:r>
          </a:p>
          <a:p xmlns:a="http://schemas.openxmlformats.org/drawingml/2006/main">
            <a:r>
              <a:t>https://www.jimtof.org/2024/search/jp/ESdetails?e=nYvFR1vpbuE</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EDP-16 HELLER Toknとデジタルツインの訓練事例</a:t>
            </a:r>
          </a:p>
          <a:p xmlns:a="http://schemas.openxmlformats.org/drawingml/2006/main">
            <a:r>
              <a:t>https://references.siemens.com/en/reference/heller-tokn-digital-twin?id=41137</a:t>
            </a:r>
          </a:p>
          <a:p xmlns:a="http://schemas.openxmlformats.org/drawingml/2006/main">
            <a:r>
              <a:t>該当箇所:Completion: 2024／仮想SINUMERIK ONEと3D機械モデルによる訓練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EDP-17 Humanoidとの工場内物流の運用試験</a:t>
            </a:r>
          </a:p>
          <a:p xmlns:a="http://schemas.openxmlformats.org/drawingml/2006/main">
            <a:r>
              <a:t>https://press.siemens.com/jp/ja/pressrelease/pr-20260416</a:t>
            </a:r>
          </a:p>
          <a:p xmlns:a="http://schemas.openxmlformats.org/drawingml/2006/main">
            <a:r>
              <a:t>該当箇所:HMND 01 Alphaのトート把持・搬送・配置／Jetson Thor・Isaac Sim/Lab</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EEX-EXH-2026-016097f87d1914b2 JIMTOF2026公式出展説明：NdotLight Co., Ltd. (S4004)</a:t>
            </a:r>
          </a:p>
          <a:p xmlns:a="http://schemas.openxmlformats.org/drawingml/2006/main">
            <a:r>
              <a:t>https://www.jimtof.org/search/jp/ESdetails?e=6Ds1v9hxvrY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EEX-WNDOT TRINIX：Physical AI向け3Dデータの企業公式説明</a:t>
            </a:r>
          </a:p>
          <a:p xmlns:a="http://schemas.openxmlformats.org/drawingml/2006/main">
            <a:r>
              <a:t>https://ndotlight.com/newsroom/ndotlight-proposes-a-new-3d-data-standard-for-the-physical-ai-era-with-trinix</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展示:製品の方式説明。JIMTOFの実演範囲とは区別</a:t>
            </a:r>
          </a:p>
          <a:p xmlns:a="http://schemas.openxmlformats.org/drawingml/2006/main">
            <a:r>
              <a:t/>
            </a:r>
          </a:p>
          <a:p xmlns:a="http://schemas.openxmlformats.org/drawingml/2006/main">
            <a:r>
              <a:t>ERF-06 TRINIX：物理属性生成と自己修正</a:t>
            </a:r>
          </a:p>
          <a:p xmlns:a="http://schemas.openxmlformats.org/drawingml/2006/main">
            <a:r>
              <a:t>https://ndotlight.com/</a:t>
            </a:r>
          </a:p>
          <a:p xmlns:a="http://schemas.openxmlformats.org/drawingml/2006/main">
            <a:r>
              <a:t>該当箇所:Physics Injection／Self-corrective Closed Loop／FAQ</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ERF-07 SimReady FAQ：静的検証と実行時検証</a:t>
            </a:r>
          </a:p>
          <a:p xmlns:a="http://schemas.openxmlformats.org/drawingml/2006/main">
            <a:r>
              <a:t>https://docs.omniverse.nvidia.com/simready/latest/simready-faq.html</a:t>
            </a:r>
          </a:p>
          <a:p xmlns:a="http://schemas.openxmlformats.org/drawingml/2006/main">
            <a:r>
              <a:t>該当箇所:What Is the Difference…Foundation；How Do I Validate My Composed Scene…（L526–538）</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ERF-08 SimReady Physics Best Practices</a:t>
            </a:r>
          </a:p>
          <a:p xmlns:a="http://schemas.openxmlformats.org/drawingml/2006/main">
            <a:r>
              <a:t>https://docs.omniverse.nvidia.com/simready/latest/simready-asset-creation/physics-best-practices.html</a:t>
            </a:r>
          </a:p>
          <a:p xmlns:a="http://schemas.openxmlformats.org/drawingml/2006/main">
            <a:r>
              <a:t>該当箇所:Typical USDPhysics Components／Collider、Mass、materialの摩擦・密度・反発</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ERF-09 DexBench共同開発の告知</a:t>
            </a:r>
          </a:p>
          <a:p xmlns:a="http://schemas.openxmlformats.org/drawingml/2006/main">
            <a:r>
              <a:t>https://ndotlight.com/newsroom/ndotlight-to-co-develop-dexbench-a-global-standard-for-humanoid-evaluation-with-nvidia-and-rlwrld</a:t>
            </a:r>
          </a:p>
          <a:p xmlns:a="http://schemas.openxmlformats.org/drawingml/2006/main">
            <a:r>
              <a:t>該当箇所:2026/8/7／SimReady環境・操作評価・sim-to-real gap低減の共同開発</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RPT-EXH-2026-d7b599b5d3045611 東京貿易テクノシステム株式会社 JIMTOF2026</a:t>
            </a:r>
          </a:p>
          <a:p xmlns:a="http://schemas.openxmlformats.org/drawingml/2006/main">
            <a:r>
              <a:t>https://www.jimtof.org/search/jp/ESdetails?e=q65eJorv2LU</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RPT-EXH-2024-5cbad6b0326d2bee 東京貿易テクノシステム株式会社 JIMTOF2024</a:t>
            </a:r>
          </a:p>
          <a:p xmlns:a="http://schemas.openxmlformats.org/drawingml/2006/main">
            <a:r>
              <a:t>https://www.jimtof.org/2024/search/jp/ESdetails?e=RD73EqDannI</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RPT-EXH-2026-91aa8dd094a4a7b2 株式会社神崎高級工機製作所 JIMTOF2026</a:t>
            </a:r>
          </a:p>
          <a:p xmlns:a="http://schemas.openxmlformats.org/drawingml/2006/main">
            <a:r>
              <a:t>https://www.jimtof.org/search/jp/ESdetails?e=bpuT_4Xpv_c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RPT-EXH-2024-50a402f6bcce2ab8 株式会社神崎高級工機製作所 JIMTOF2024</a:t>
            </a:r>
          </a:p>
          <a:p xmlns:a="http://schemas.openxmlformats.org/drawingml/2006/main">
            <a:r>
              <a:t>https://www.jimtof.org/2024/search/jp/ESdetails?e=C7Uh8Jc1Y2s</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"id": "M1",</a:t>
            </a:r>
          </a:p>
          <a:p xmlns:a="http://schemas.openxmlformats.org/drawingml/2006/main">
            <a:r>
              <a:t>  "name": "加工知識を扱う生産準備AI",</a:t>
            </a:r>
          </a:p>
          <a:p xmlns:a="http://schemas.openxmlformats.org/drawingml/2006/main">
            <a:r>
              <a:t>  "basis": [</a:t>
            </a:r>
          </a:p>
          <a:p xmlns:a="http://schemas.openxmlformats.org/drawingml/2006/main">
            <a:r>
              <a:t>    "B01",</a:t>
            </a:r>
          </a:p>
          <a:p xmlns:a="http://schemas.openxmlformats.org/drawingml/2006/main">
            <a:r>
              <a:t>    "B02",</a:t>
            </a:r>
          </a:p>
          <a:p xmlns:a="http://schemas.openxmlformats.org/drawingml/2006/main">
            <a:r>
              <a:t>    "B04",</a:t>
            </a:r>
          </a:p>
          <a:p xmlns:a="http://schemas.openxmlformats.org/drawingml/2006/main">
            <a:r>
              <a:t>    "B15"</a:t>
            </a:r>
          </a:p>
          <a:p xmlns:a="http://schemas.openxmlformats.org/drawingml/2006/main">
            <a:r>
              <a:t>  ],</a:t>
            </a:r>
          </a:p>
          <a:p xmlns:a="http://schemas.openxmlformats.org/drawingml/2006/main">
            <a:r>
              <a:t>  "need": "多品種の見積・工程検討に毎回熟練者が必要となり、受注から加工開始までの準備が重い。",</a:t>
            </a:r>
          </a:p>
          <a:p xmlns:a="http://schemas.openxmlformats.org/drawingml/2006/main">
            <a:r>
              <a:t>  "signal": "図面検索・見積、加工工程の予測、経路生成、制御設計に複数社のAI提案が見られる。",</a:t>
            </a:r>
          </a:p>
          <a:p xmlns:a="http://schemas.openxmlformats.org/drawingml/2006/main">
            <a:r>
              <a:t>  "position": "生成AI・検索・CAM連携を使う開発への追随を候補にする。汎用モデルそのものの開発を前提にしない。",</a:t>
            </a:r>
          </a:p>
          <a:p xmlns:a="http://schemas.openxmlformats.org/drawingml/2006/main">
            <a:r>
              <a:t>  "hypothesis": "図面・工具・保持・加工履歴を関連づけ、特定の加工工程に使える案へ落とす部分に差別化の余地がある可能性。",</a:t>
            </a:r>
          </a:p>
          <a:p xmlns:a="http://schemas.openxmlformats.org/drawingml/2006/main">
            <a:r>
              <a:t>  "approach": "図面の意図と類似工程を検索し、設備・工具・保持の制約下で工程案を作成。既存CAMと加工検証へ渡し、人の修正を次回へ反映する。",</a:t>
            </a:r>
          </a:p>
          <a:p xmlns:a="http://schemas.openxmlformats.org/drawingml/2006/main">
            <a:r>
              <a:t>  "existing": "AI CAMには生成案の編集・加工性評価がある。機種・工具の整合確認も既存製品の範囲を調べる。",</a:t>
            </a:r>
          </a:p>
          <a:p xmlns:a="http://schemas.openxmlformats.org/drawingml/2006/main">
            <a:r>
              <a:t>  "decision": "対象部品群と利用可能な履歴を絞り、既存製品だけの運用と総準備時間・修正量で比較する。市場の空白は未確認。",</a:t>
            </a:r>
          </a:p>
          <a:p xmlns:a="http://schemas.openxmlformats.org/drawingml/2006/main">
            <a:r>
              <a:t>  "metrics": "準備時間、専門家による修正量、初品の手戻り",</a:t>
            </a:r>
          </a:p>
          <a:p xmlns:a="http://schemas.openxmlformats.org/drawingml/2006/main">
            <a:r>
              <a:t>  "priority": "重点候補〈分析・仮説〉",</a:t>
            </a:r>
          </a:p>
          <a:p xmlns:a="http://schemas.openxmlformats.org/drawingml/2006/main">
            <a:r>
              <a:t>  "child_ids": [</a:t>
            </a:r>
          </a:p>
          <a:p xmlns:a="http://schemas.openxmlformats.org/drawingml/2006/main">
            <a:r>
              <a:t>    "R1"</a:t>
            </a:r>
          </a:p>
          <a:p xmlns:a="http://schemas.openxmlformats.org/drawingml/2006/main">
            <a:r>
              <a:t>  ],</a:t>
            </a:r>
          </a:p>
          <a:p xmlns:a="http://schemas.openxmlformats.org/drawingml/2006/main">
            <a:r>
              <a:t>  "technical_approach": "図面の意図と類似工程を検索し、設備・工具・保持の制約下で工程案を作成。既存CAMと加工検証へ渡し、人の修正を次回へ反映する。"</a:t>
            </a:r>
          </a:p>
          <a:p xmlns:a="http://schemas.openxmlformats.org/drawingml/2006/main">
            <a:r>
              <a:t>}</a:t>
            </a:r>
          </a:p>
          <a:p xmlns:a="http://schemas.openxmlformats.org/drawingml/2006/main">
            <a:r>
              <a:t/>
            </a:r>
          </a:p>
          <a:p xmlns:a="http://schemas.openxmlformats.org/drawingml/2006/main">
            <a:r>
              <a:t>図面検索・見積作成</a:t>
            </a:r>
          </a:p>
          <a:p xmlns:a="http://schemas.openxmlformats.org/drawingml/2006/main">
            <a:r>
              <a:t>B01-1 株式会社Fact Base / ズメーン：図面・関連文書管理とAI / S3017</a:t>
            </a:r>
          </a:p>
          <a:p xmlns:a="http://schemas.openxmlformats.org/drawingml/2006/main">
            <a:r>
              <a:t>対象:図面を登録・検索し関連文書と結ぶ</a:t>
            </a:r>
          </a:p>
          <a:p xmlns:a="http://schemas.openxmlformats.org/drawingml/2006/main">
            <a:r>
              <a:t>公式要約:図面のOCR登録と関連文書管理。顧客事例では読取り結果を人が修正。</a:t>
            </a:r>
          </a:p>
          <a:p xmlns:a="http://schemas.openxmlformats.org/drawingml/2006/main">
            <a:r>
              <a:t>年度:2024の同名詳細なし。2026初登場とは断定しない。</a:t>
            </a:r>
          </a:p>
          <a:p xmlns:a="http://schemas.openxmlformats.org/drawingml/2006/main">
            <a:r>
              <a:t>人・未確認:登録・読取り確認は人。図面の誤関連や改訂の検出は未確認。</a:t>
            </a:r>
          </a:p>
          <a:p xmlns:a="http://schemas.openxmlformats.org/drawingml/2006/main">
            <a:r>
              <a:t>Evidence:EEX-EXH-2026-3b6a1de81c17dfee,EDP-11</a:t>
            </a:r>
          </a:p>
          <a:p xmlns:a="http://schemas.openxmlformats.org/drawingml/2006/main">
            <a:r>
              <a:t/>
            </a:r>
          </a:p>
          <a:p xmlns:a="http://schemas.openxmlformats.org/drawingml/2006/main">
            <a:r>
              <a:t>B01-2 匠技研工業 / 匠フォース：業務AIエージェント / S3011</a:t>
            </a:r>
          </a:p>
          <a:p xmlns:a="http://schemas.openxmlformats.org/drawingml/2006/main">
            <a:r>
              <a:t>対象:図面と原価情報から見積書案を作る</a:t>
            </a:r>
          </a:p>
          <a:p xmlns:a="http://schemas.openxmlformats.org/drawingml/2006/main">
            <a:r>
              <a:t>公式要約:図面認識・類似案件参照・原価計算から見積書案を作る。</a:t>
            </a:r>
          </a:p>
          <a:p xmlns:a="http://schemas.openxmlformats.org/drawingml/2006/main">
            <a:r>
              <a:t>年度:2024比較不能。2026/7の企業発表で一連の処理を具体化。</a:t>
            </a:r>
          </a:p>
          <a:p xmlns:a="http://schemas.openxmlformats.org/drawingml/2006/main">
            <a:r>
              <a:t>人・未確認:担当者が根拠を確認・修正・承認。社外自動送信は未確認。</a:t>
            </a:r>
          </a:p>
          <a:p xmlns:a="http://schemas.openxmlformats.org/drawingml/2006/main">
            <a:r>
              <a:t>Evidence:EOV-V041-2026-1,EDP-05</a:t>
            </a:r>
          </a:p>
          <a:p xmlns:a="http://schemas.openxmlformats.org/drawingml/2006/main">
            <a:r>
              <a:t/>
            </a:r>
          </a:p>
          <a:p xmlns:a="http://schemas.openxmlformats.org/drawingml/2006/main">
            <a:r>
              <a:t>B01-3 ものレボ / MonoRevo：類似図面検索・自動見積 / W3042</a:t>
            </a:r>
          </a:p>
          <a:p xmlns:a="http://schemas.openxmlformats.org/drawingml/2006/main">
            <a:r>
              <a:t>対象:過去図面を探し見積を作る</a:t>
            </a:r>
          </a:p>
          <a:p xmlns:a="http://schemas.openxmlformats.org/drawingml/2006/main">
            <a:r>
              <a:t>公式要約:類似図面検索と自動見積を説明。</a:t>
            </a:r>
          </a:p>
          <a:p xmlns:a="http://schemas.openxmlformats.org/drawingml/2006/main">
            <a:r>
              <a:t>年度:2024個別比較不能。</a:t>
            </a:r>
          </a:p>
          <a:p xmlns:a="http://schemas.openxmlformats.org/drawingml/2006/main">
            <a:r>
              <a:t>人・未確認:見積前提の設定・確定者、計算ロジックは未確認。</a:t>
            </a:r>
          </a:p>
          <a:p xmlns:a="http://schemas.openxmlformats.org/drawingml/2006/main">
            <a:r>
              <a:t>Evidence:EOV-V014-2026-1</a:t>
            </a:r>
          </a:p>
          <a:p xmlns:a="http://schemas.openxmlformats.org/drawingml/2006/main">
            <a:r>
              <a:t/>
            </a:r>
          </a:p>
          <a:p xmlns:a="http://schemas.openxmlformats.org/drawingml/2006/main">
            <a:r>
              <a:t>工程・CAMプログラムの作成</a:t>
            </a:r>
          </a:p>
          <a:p xmlns:a="http://schemas.openxmlformats.org/drawingml/2006/main">
            <a:r>
              <a:t>B02-1 Hexagon Manufacturing Intelligence / ESPRIT EDGE ProPlanAI / E2013</a:t>
            </a:r>
          </a:p>
          <a:p xmlns:a="http://schemas.openxmlformats.org/drawingml/2006/main">
            <a:r>
              <a:t>対象:新しい部品の加工工程を考える</a:t>
            </a:r>
          </a:p>
          <a:p xmlns:a="http://schemas.openxmlformats.org/drawingml/2006/main">
            <a:r>
              <a:t>公式要約:過去ジョブと形状特徴から工程を予測するProPlanAI。</a:t>
            </a:r>
          </a:p>
          <a:p xmlns:a="http://schemas.openxmlformats.org/drawingml/2006/main">
            <a:r>
              <a:t>年度:2024比較不能。2025の旋削betaから2026の商用範囲拡張を確認。</a:t>
            </a:r>
          </a:p>
          <a:p xmlns:a="http://schemas.openxmlformats.org/drawingml/2006/main">
            <a:r>
              <a:t>人・未確認:過去データを準備。確認画面はあるが最終NC採用権限は未公表。</a:t>
            </a:r>
          </a:p>
          <a:p xmlns:a="http://schemas.openxmlformats.org/drawingml/2006/main">
            <a:r>
              <a:t>Evidence:EOV-V007-2026-2,EOV-W02</a:t>
            </a:r>
          </a:p>
          <a:p xmlns:a="http://schemas.openxmlformats.org/drawingml/2006/main">
            <a:r>
              <a:t/>
            </a:r>
          </a:p>
          <a:p xmlns:a="http://schemas.openxmlformats.org/drawingml/2006/main">
            <a:r>
              <a:t>B02-2 ジェービーエムエンジニアリング / Mastercam＋CAMAssist / E2002</a:t>
            </a:r>
          </a:p>
          <a:p xmlns:a="http://schemas.openxmlformats.org/drawingml/2006/main">
            <a:r>
              <a:t>対象:部品形状から加工方法・工具経路を作る</a:t>
            </a:r>
          </a:p>
          <a:p xmlns:a="http://schemas.openxmlformats.org/drawingml/2006/main">
            <a:r>
              <a:t>公式要約:工具・材料・機械等の条件から加工戦略・経路・条件案を生成。</a:t>
            </a:r>
          </a:p>
          <a:p xmlns:a="http://schemas.openxmlformats.org/drawingml/2006/main">
            <a:r>
              <a:t>年度:Mastercam対応は2024/7に発表済み。2026の出展記述が具体化。</a:t>
            </a:r>
          </a:p>
          <a:p xmlns:a="http://schemas.openxmlformats.org/drawingml/2006/main">
            <a:r>
              <a:t>人・未確認:人が前提を設定し、戦略案を確認・調整してCAMへ送る。</a:t>
            </a:r>
          </a:p>
          <a:p xmlns:a="http://schemas.openxmlformats.org/drawingml/2006/main">
            <a:r>
              <a:t>Evidence:EOV-V008-2024-1,EOV-V008-2024-2,EOV-V008-2026-1,EDP-09,EDP-10,ERF-03</a:t>
            </a:r>
          </a:p>
          <a:p xmlns:a="http://schemas.openxmlformats.org/drawingml/2006/main">
            <a:r>
              <a:t/>
            </a:r>
          </a:p>
          <a:p xmlns:a="http://schemas.openxmlformats.org/drawingml/2006/main">
            <a:r>
              <a:t>B02-3 タクテックス株式会社 / CAM Assist for SolidCAM／SolidShop / S1016</a:t>
            </a:r>
          </a:p>
          <a:p xmlns:a="http://schemas.openxmlformats.org/drawingml/2006/main">
            <a:r>
              <a:t>対象:3軸・3+2軸の加工経路を作る</a:t>
            </a:r>
          </a:p>
          <a:p xmlns:a="http://schemas.openxmlformats.org/drawingml/2006/main">
            <a:r>
              <a:t>公式要約:SolidCAM向けに3軸・3+2軸の戦略と経路案を生成。</a:t>
            </a:r>
          </a:p>
          <a:p xmlns:a="http://schemas.openxmlformats.org/drawingml/2006/main">
            <a:r>
              <a:t>年度:2024はSolidCAM等。2026はAI支援を追加記載。</a:t>
            </a:r>
          </a:p>
          <a:p xmlns:a="http://schemas.openxmlformats.org/drawingml/2006/main">
            <a:r>
              <a:t>人・未確認:工具・保持等を設定し、生成案を編集・採用。最終制御権は人。</a:t>
            </a:r>
          </a:p>
          <a:p xmlns:a="http://schemas.openxmlformats.org/drawingml/2006/main">
            <a:r>
              <a:t>Evidence:EEX-EXH-2026-0436fc7b61f51a8e,EEX-EXH-2024-eb84f3b7fa9cf6db,EDP-07,EDP-08,ERF-04</a:t>
            </a:r>
          </a:p>
          <a:p xmlns:a="http://schemas.openxmlformats.org/drawingml/2006/main">
            <a:r>
              <a:t/>
            </a:r>
          </a:p>
          <a:p xmlns:a="http://schemas.openxmlformats.org/drawingml/2006/main">
            <a:r>
              <a:t>PLC・HMI・電気設計の支援</a:t>
            </a:r>
          </a:p>
          <a:p xmlns:a="http://schemas.openxmlformats.org/drawingml/2006/main">
            <a:r>
              <a:t>B04-1 ベッコフオートメーション / TwinCAT CoAgent for Engineering：PLC / E2028</a:t>
            </a:r>
          </a:p>
          <a:p xmlns:a="http://schemas.openxmlformats.org/drawingml/2006/main">
            <a:r>
              <a:t>対象:設備のPLC制御プログラムを作る</a:t>
            </a:r>
          </a:p>
          <a:p xmlns:a="http://schemas.openxmlformats.org/drawingml/2006/main">
            <a:r>
              <a:t>公式要約:要求とプロジェクト文脈からPLCコード案を提案。</a:t>
            </a:r>
          </a:p>
          <a:p xmlns:a="http://schemas.openxmlformats.org/drawingml/2006/main">
            <a:r>
              <a:t>年度:PLCコード支援は2023発表済み。2026初の方式ではない。</a:t>
            </a:r>
          </a:p>
          <a:p xmlns:a="http://schemas.openxmlformats.org/drawingml/2006/main">
            <a:r>
              <a:t>人・未確認:専門家が確認・確定・実行承認。書込みや起動の個別権限は未確認。</a:t>
            </a:r>
          </a:p>
          <a:p xmlns:a="http://schemas.openxmlformats.org/drawingml/2006/main">
            <a:r>
              <a:t>Evidence:EOV-V005-2026-1,EAT-N03,EAT-N05,EDP-03,ERF-01</a:t>
            </a:r>
          </a:p>
          <a:p xmlns:a="http://schemas.openxmlformats.org/drawingml/2006/main">
            <a:r>
              <a:t/>
            </a:r>
          </a:p>
          <a:p xmlns:a="http://schemas.openxmlformats.org/drawingml/2006/main">
            <a:r>
              <a:t>B04-2 ベッコフオートメーション / TwinCAT CoAgent for Engineering：I/O・HMI / E2028</a:t>
            </a:r>
          </a:p>
          <a:p xmlns:a="http://schemas.openxmlformats.org/drawingml/2006/main">
            <a:r>
              <a:t>対象:設備の入出力設定と操作画面を作る</a:t>
            </a:r>
          </a:p>
          <a:p xmlns:a="http://schemas.openxmlformats.org/drawingml/2006/main">
            <a:r>
              <a:t>公式要約:I/O構成とHMI生成・操作を支援するEngineering機能。</a:t>
            </a:r>
          </a:p>
          <a:p xmlns:a="http://schemas.openxmlformats.org/drawingml/2006/main">
            <a:r>
              <a:t>年度:I/O・HMI支援は2025/6にも公式説明。</a:t>
            </a:r>
          </a:p>
          <a:p xmlns:a="http://schemas.openxmlformats.org/drawingml/2006/main">
            <a:r>
              <a:t>人・未確認:専門家のレビュー方針。構成誤りの検証・差戻しは未確認。</a:t>
            </a:r>
          </a:p>
          <a:p xmlns:a="http://schemas.openxmlformats.org/drawingml/2006/main">
            <a:r>
              <a:t>Evidence:EOV-V005-2026-1,EAT-N03,EAT-N05,EDP-03,ERF-01</a:t>
            </a:r>
          </a:p>
          <a:p xmlns:a="http://schemas.openxmlformats.org/drawingml/2006/main">
            <a:r>
              <a:t/>
            </a:r>
          </a:p>
          <a:p xmlns:a="http://schemas.openxmlformats.org/drawingml/2006/main">
            <a:r>
              <a:t>B04-3 EPLAN / Eplan Copilot / S1067</a:t>
            </a:r>
          </a:p>
          <a:p xmlns:a="http://schemas.openxmlformats.org/drawingml/2006/main">
            <a:r>
              <a:t>対象:電気設計の情報・操作手順を調べる</a:t>
            </a:r>
          </a:p>
          <a:p xmlns:a="http://schemas.openxmlformats.org/drawingml/2006/main">
            <a:r>
              <a:t>公式要約:Eplan Copilotが文脈に応じた回答・推奨・手順を生成。</a:t>
            </a:r>
          </a:p>
          <a:p xmlns:a="http://schemas.openxmlformats.org/drawingml/2006/main">
            <a:r>
              <a:t>年度:2024の盤設計・データ連携に対し、2026はCopilotを記載。</a:t>
            </a:r>
          </a:p>
          <a:p xmlns:a="http://schemas.openxmlformats.org/drawingml/2006/main">
            <a:r>
              <a:t>人・未確認:意思決定は人。設計変更の自動採用は現機能と確認できない。</a:t>
            </a:r>
          </a:p>
          <a:p xmlns:a="http://schemas.openxmlformats.org/drawingml/2006/main">
            <a:r>
              <a:t>Evidence:EOV-V006-2024-1,EOV-V006-2026-1,EAT-N06</a:t>
            </a:r>
          </a:p>
          <a:p xmlns:a="http://schemas.openxmlformats.org/drawingml/2006/main">
            <a:r>
              <a:t/>
            </a:r>
          </a:p>
          <a:p xmlns:a="http://schemas.openxmlformats.org/drawingml/2006/main">
            <a:r>
              <a:t>AIモデル作成・機器接続の基盤</a:t>
            </a:r>
          </a:p>
          <a:p xmlns:a="http://schemas.openxmlformats.org/drawingml/2006/main">
            <a:r>
              <a:t>B15-1 ベッコフオートメーション / TwinCAT Machine Learning Creator / E2028</a:t>
            </a:r>
          </a:p>
          <a:p xmlns:a="http://schemas.openxmlformats.org/drawingml/2006/main">
            <a:r>
              <a:t>対象:現場データから判定モデルを作る</a:t>
            </a:r>
          </a:p>
          <a:p xmlns:a="http://schemas.openxmlformats.org/drawingml/2006/main">
            <a:r>
              <a:t>公式要約:ML Creatorは学習・モデル選択を自動化し、解析とONNX出力を支援。</a:t>
            </a:r>
          </a:p>
          <a:p xmlns:a="http://schemas.openxmlformats.org/drawingml/2006/main">
            <a:r>
              <a:t>年度:データ分割・ONNX統合は2024公式資料にも記載。</a:t>
            </a:r>
          </a:p>
          <a:p xmlns:a="http://schemas.openxmlformats.org/drawingml/2006/main">
            <a:r>
              <a:t>人・未確認:人がデータ・注釈・目的を準備。実機採用基準は要確認。</a:t>
            </a:r>
          </a:p>
          <a:p xmlns:a="http://schemas.openxmlformats.org/drawingml/2006/main">
            <a:r>
              <a:t>Evidence:EOV-V005-2026-1,EOV-W01,EDP-04</a:t>
            </a:r>
          </a:p>
          <a:p xmlns:a="http://schemas.openxmlformats.org/drawingml/2006/main">
            <a:r>
              <a:t/>
            </a:r>
          </a:p>
          <a:p xmlns:a="http://schemas.openxmlformats.org/drawingml/2006/main">
            <a:r>
              <a:t>B15-2 たけびし / OPC UA情報モデルとエージェント連携 / S3015</a:t>
            </a:r>
          </a:p>
          <a:p xmlns:a="http://schemas.openxmlformats.org/drawingml/2006/main">
            <a:r>
              <a:t>対象:設備データをAIが扱える形で渡す</a:t>
            </a:r>
          </a:p>
          <a:p xmlns:a="http://schemas.openxmlformats.org/drawingml/2006/main">
            <a:r>
              <a:t>公式要約:OPC UA情報モデルで機器情報をエージェントへ連携する構想。</a:t>
            </a:r>
          </a:p>
          <a:p xmlns:a="http://schemas.openxmlformats.org/drawingml/2006/main">
            <a:r>
              <a:t>年度:2024は多ベンダー接続。2026はAI連携シナリオを追加。</a:t>
            </a:r>
          </a:p>
          <a:p xmlns:a="http://schemas.openxmlformats.org/drawingml/2006/main">
            <a:r>
              <a:t>人・未確認:公開するデータ・メソッド、書込権限、承認と復帰は未確認。</a:t>
            </a:r>
          </a:p>
          <a:p xmlns:a="http://schemas.openxmlformats.org/drawingml/2006/main">
            <a:r>
              <a:t>Evidence:EOV-V011-2024-1,EOV-V011-2026-1,EDP-06</a:t>
            </a:r>
          </a:p>
          <a:p xmlns:a="http://schemas.openxmlformats.org/drawingml/2006/main">
            <a:r>
              <a:t/>
            </a:r>
          </a:p>
          <a:p xmlns:a="http://schemas.openxmlformats.org/drawingml/2006/main">
            <a:r>
              <a:t>B15-3 シーイーシー / Facteye／Resolana / E2006</a:t>
            </a:r>
          </a:p>
          <a:p xmlns:a="http://schemas.openxmlformats.org/drawingml/2006/main">
            <a:r>
              <a:t>対象:既設設備の情報を集め品質と結ぶ</a:t>
            </a:r>
          </a:p>
          <a:p xmlns:a="http://schemas.openxmlformats.org/drawingml/2006/main">
            <a:r>
              <a:t>公式要約:既設設備のデータ収集・可視化を品質やAI利用へ接続。</a:t>
            </a:r>
          </a:p>
          <a:p xmlns:a="http://schemas.openxmlformats.org/drawingml/2006/main">
            <a:r>
              <a:t>年度:収集・対話AIは2024にも説明。2026は連携課題を具体化。</a:t>
            </a:r>
          </a:p>
          <a:p xmlns:a="http://schemas.openxmlformats.org/drawingml/2006/main">
            <a:r>
              <a:t>人・未確認:自動制御や工場全体最適化の実装は未確認。</a:t>
            </a:r>
          </a:p>
          <a:p xmlns:a="http://schemas.openxmlformats.org/drawingml/2006/main">
            <a:r>
              <a:t>Evidence:EOV-V012-2024-1,EOV-V012-2026-1</a:t>
            </a:r>
          </a:p>
          <a:p xmlns:a="http://schemas.openxmlformats.org/drawingml/2006/main">
            <a:r>
              <a:t/>
            </a:r>
          </a:p>
          <a:p xmlns:a="http://schemas.openxmlformats.org/drawingml/2006/main">
            <a:r>
              <a:t>原典</a:t>
            </a:r>
          </a:p>
          <a:p xmlns:a="http://schemas.openxmlformats.org/drawingml/2006/main">
            <a:r>
              <a:t>EEX-EXH-2026-3b6a1de81c17dfee JIMTOF2026公式出展説明：株式会社Fact Base (S3017)</a:t>
            </a:r>
          </a:p>
          <a:p xmlns:a="http://schemas.openxmlformats.org/drawingml/2006/main">
            <a:r>
              <a:t>https://www.jimtof.org/search/jp/ESdetails?e=hZaNogHdQM4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EDP-11 ズメーン導入事例：ダイニチ</a:t>
            </a:r>
          </a:p>
          <a:p xmlns:a="http://schemas.openxmlformats.org/drawingml/2006/main">
            <a:r>
              <a:t>https://lp.zume-n.com/case-1/sagadainichi</a:t>
            </a:r>
          </a:p>
          <a:p xmlns:a="http://schemas.openxmlformats.org/drawingml/2006/main">
            <a:r>
              <a:t>該当箇所:AI・OCR文字読取／人の目で確認・補正／関連資料・改訂履歴</a:t>
            </a:r>
          </a:p>
          <a:p xmlns:a="http://schemas.openxmlformats.org/drawingml/2006/main">
            <a:r>
              <a:t>確認:2026-10-16</a:t>
            </a:r>
          </a:p>
          <a:p xmlns:a="http://schemas.openxmlformats.org/drawingml/2006/main">
            <a:r>
              <a:t>種類:企業公式サイトに掲載された顧客発言</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EOV-V041-2026-1 JIMTOF2026公式カタログ：匠技研工業株式会社 (S3011)</a:t>
            </a:r>
          </a:p>
          <a:p xmlns:a="http://schemas.openxmlformats.org/drawingml/2006/main">
            <a:r>
              <a:t>https://www.jimtof.org/search/jp/ESdetails?e=i_4zCxJP258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EDP-05 匠フォースAIエージェント発表</a:t>
            </a:r>
          </a:p>
          <a:p xmlns:a="http://schemas.openxmlformats.org/drawingml/2006/main">
            <a:r>
              <a:t>https://prtimes.jp/main/html/rd/p/000000031.000057137.html</a:t>
            </a:r>
          </a:p>
          <a:p xmlns:a="http://schemas.openxmlformats.org/drawingml/2006/main">
            <a:r>
              <a:t>該当箇所:見積金額算出／人の修正による再学習／引合受領から見積書作成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EOV-V007-2026-2 JIMTOF2026公式カタログ：Hexagon Manufacturing Intelligence株式会社 (E2013)</a:t>
            </a:r>
          </a:p>
          <a:p xmlns:a="http://schemas.openxmlformats.org/drawingml/2006/main">
            <a:r>
              <a:t>https://www.jimtof.org/search/jp/ESdetails?e=6l20Qo0pjl4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EOV-W02 ESPRIT EDGE Release Highlights</a:t>
            </a:r>
          </a:p>
          <a:p xmlns:a="http://schemas.openxmlformats.org/drawingml/2006/main">
            <a:r>
              <a:t>https://hexagon.com/products/esprit-edge/release-highlights</a:t>
            </a:r>
          </a:p>
          <a:p xmlns:a="http://schemas.openxmlformats.org/drawingml/2006/main">
            <a:r>
              <a:t>該当箇所:2025.2 PROPLANAI、2026.1 ProPlanAI for Turning, Mill-Turn &amp; Swiss</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展示:メーカーの提供状況。対象機種や契約、顧客実績は未確認</a:t>
            </a:r>
          </a:p>
          <a:p xmlns:a="http://schemas.openxmlformats.org/drawingml/2006/main">
            <a:r>
              <a:t/>
            </a:r>
          </a:p>
          <a:p xmlns:a="http://schemas.openxmlformats.org/drawingml/2006/main">
            <a:r>
              <a:t>EOV-V008-2024-1 JIMTOF2024公式カタログ：ジェービーエムエンジニアリング株式会社 (E5028)</a:t>
            </a:r>
          </a:p>
          <a:p xmlns:a="http://schemas.openxmlformats.org/drawingml/2006/main">
            <a:r>
              <a:t>https://www.jimtof.org/2024/search/jp/ESdetails?e=G-8gydwhMvE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EOV-V008-2024-2 JIMTOF2024公式カタログ：ジェービーエムエンジニアリング株式会社 (AM111)</a:t>
            </a:r>
          </a:p>
          <a:p xmlns:a="http://schemas.openxmlformats.org/drawingml/2006/main">
            <a:r>
              <a:t>https://www.jimtof.org/2024/search/jp/ESdetails?e=ZBxZW2vyjUw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EOV-V008-2026-1 JIMTOF2026公式カタログ：ジェービーエムエンジニアリング株式会社 (E2002)</a:t>
            </a:r>
          </a:p>
          <a:p xmlns:a="http://schemas.openxmlformats.org/drawingml/2006/main">
            <a:r>
              <a:t>https://www.jimtof.org/search/jp/ESdetails?e=VrAjMTKmxdw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EDP-09 Mastercam向けCAM Assist</a:t>
            </a:r>
          </a:p>
          <a:p xmlns:a="http://schemas.openxmlformats.org/drawingml/2006/main">
            <a:r>
              <a:t>https://www.cloudnc.com/ja/mastercam</a:t>
            </a:r>
          </a:p>
          <a:p xmlns:a="http://schemas.openxmlformats.org/drawingml/2006/main">
            <a:r>
              <a:t>該当箇所:仕組みステップ1〜4／FAQの対象加工・顧客データ学習の否定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EDP-10 Mastercam向けCAM Assist提供開始</a:t>
            </a:r>
          </a:p>
          <a:p xmlns:a="http://schemas.openxmlformats.org/drawingml/2006/main">
            <a:r>
              <a:t>https://www.cloudnc.com/news-room/cam-assist-the-first-ai-plug-in-for-cam-is-now-available-for-mastercam</a:t>
            </a:r>
          </a:p>
          <a:p xmlns:a="http://schemas.openxmlformats.org/drawingml/2006/main">
            <a:r>
              <a:t>該当箇所:July 25, 2024／3軸・3+2軸向け。北米販売開始の説明</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ERF-03 Mastercam CAM Assist：確認・調整と学習方針</a:t>
            </a:r>
          </a:p>
          <a:p xmlns:a="http://schemas.openxmlformats.org/drawingml/2006/main">
            <a:r>
              <a:t>https://www.cloudnc.com/ja/mastercam</a:t>
            </a:r>
          </a:p>
          <a:p xmlns:a="http://schemas.openxmlformats.org/drawingml/2006/main">
            <a:r>
              <a:t>該当箇所:仕組みStep 2–4／FAQ：顧客データで学習しない、加工性評価、編集可能CAM</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EEX-EXH-2026-0436fc7b61f51a8e JIMTOF2026公式出展説明：タクテックス株式会社 (S1016)</a:t>
            </a:r>
          </a:p>
          <a:p xmlns:a="http://schemas.openxmlformats.org/drawingml/2006/main">
            <a:r>
              <a:t>https://www.jimtof.org/search/jp/ESdetails?e=2TVzwvOqLxI</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EEX-EXH-2024-eb84f3b7fa9cf6db JIMTOF2024公式出展説明：タクテックス株式会社 (E5030)</a:t>
            </a:r>
          </a:p>
          <a:p xmlns:a="http://schemas.openxmlformats.org/drawingml/2006/main">
            <a:r>
              <a:t>https://www.jimtof.org/2024/search/jp/ESdetails?e=p_i9WuUhNRg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EDP-07 SolidCAM向けCAM Assist</a:t>
            </a:r>
          </a:p>
          <a:p xmlns:a="http://schemas.openxmlformats.org/drawingml/2006/main">
            <a:r>
              <a:t>https://www.cloudnc.com/ja/solidcam</a:t>
            </a:r>
          </a:p>
          <a:p xmlns:a="http://schemas.openxmlformats.org/drawingml/2006/main">
            <a:r>
              <a:t>該当箇所:仕組みステップ1〜4／FAQの対象加工・通信・戦略生成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EDP-08 CloudNC CAM Assist公式ヘルプ</a:t>
            </a:r>
          </a:p>
          <a:p xmlns:a="http://schemas.openxmlformats.org/drawingml/2006/main">
            <a:r>
              <a:t>https://help.solidcam.com/topics/solutions/cloudnc-cam-assist.htm</a:t>
            </a:r>
          </a:p>
          <a:p xmlns:a="http://schemas.openxmlformats.org/drawingml/2006/main">
            <a:r>
              <a:t>該当箇所:形状・工具・材種・段取りの入力／プログラマーの修正・検証・NC出力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ERF-04 CAM Assistの生成後の編集・検証</a:t>
            </a:r>
          </a:p>
          <a:p xmlns:a="http://schemas.openxmlformats.org/drawingml/2006/main">
            <a:r>
              <a:t>https://help.solidcam.com/topics/solutions/cloudnc-cam-assist.htm</a:t>
            </a:r>
          </a:p>
          <a:p xmlns:a="http://schemas.openxmlformats.org/drawingml/2006/main">
            <a:r>
              <a:t>該当箇所:L11–19／プログラマーがreview・refine、既存のsimulation・verification・NC生成</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EAT-N03 CoAgent for Engineering TE1700</a:t>
            </a:r>
          </a:p>
          <a:p xmlns:a="http://schemas.openxmlformats.org/drawingml/2006/main">
            <a:r>
              <a:t>https://www.beckhoff.com/ko-kr/products/automation/twincat/texxxx-twincat-3-engineering/te1700.html</a:t>
            </a:r>
          </a:p>
          <a:p xmlns:a="http://schemas.openxmlformats.org/drawingml/2006/main">
            <a:r>
              <a:t>該当箇所:Features／Product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ERF-01 From chatbot to intelligent agent</a:t>
            </a:r>
          </a:p>
          <a:p xmlns:a="http://schemas.openxmlformats.org/drawingml/2006/main">
            <a:r>
              <a:t>https://www.beckhoff.com/en-gb/company/news/from-chatbot-to-intelligent-agent.html</a:t>
            </a:r>
          </a:p>
          <a:p xmlns:a="http://schemas.openxmlformats.org/drawingml/2006/main">
            <a:r>
              <a:t>該当箇所:2025/6/13／Placing people at the heart of automation；PLC・I/O・HMI、専門家がreview・confirm・approve</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EOV-V006-2024-1 JIMTOF2024公式カタログ：EPLAN株式会社 (E2033)</a:t>
            </a:r>
          </a:p>
          <a:p xmlns:a="http://schemas.openxmlformats.org/drawingml/2006/main">
            <a:r>
              <a:t>https://www.jimtof.org/2024/search/jp/ESdetails?e=50efK4rQsHs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EOV-V006-2026-1 JIMTOF2026公式カタログ：EPLAN株式会社 (S1067)</a:t>
            </a:r>
          </a:p>
          <a:p xmlns:a="http://schemas.openxmlformats.org/drawingml/2006/main">
            <a:r>
              <a:t>https://www.jimtof.org/search/jp/ESdetails?e=FHsQAvmFusY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EAT-N06 Eplan Copilot</a:t>
            </a:r>
          </a:p>
          <a:p xmlns:a="http://schemas.openxmlformats.org/drawingml/2006/main">
            <a:r>
              <a:t>https://www.eplan.com/us-en/about-us/innovations/eplan-copilot/</a:t>
            </a:r>
          </a:p>
          <a:p xmlns:a="http://schemas.openxmlformats.org/drawingml/2006/main">
            <a:r>
              <a:t>該当箇所:Based on a described task／Looking ahead／conceptual phase</a:t>
            </a:r>
          </a:p>
          <a:p xmlns:a="http://schemas.openxmlformats.org/drawingml/2006/main">
            <a:r>
              <a:t>確認:2026-10-16</a:t>
            </a:r>
          </a:p>
          <a:p xmlns:a="http://schemas.openxmlformats.org/drawingml/2006/main">
            <a:r>
              <a:t>種類:企業公式説明・メーカー主張</a:t>
            </a:r>
          </a:p>
          <a:p xmlns:a="http://schemas.openxmlformats.org/drawingml/2006/main">
            <a:r>
              <a:t>展示:現行支援と将来構想を分離</a:t>
            </a:r>
          </a:p>
          <a:p xmlns:a="http://schemas.openxmlformats.org/drawingml/2006/main">
            <a:r>
              <a:t/>
            </a:r>
          </a:p>
          <a:p xmlns:a="http://schemas.openxmlformats.org/drawingml/2006/main">
            <a:r>
              <a:t>EOV-W01 TwinCAT 3 Machine Learning Creator</a:t>
            </a:r>
          </a:p>
          <a:p xmlns:a="http://schemas.openxmlformats.org/drawingml/2006/main">
            <a:r>
              <a:t>https://www.beckhoff.com/en-za/products/automation/twincat/texxxx-twincat-3-engineering/te3850.html</a:t>
            </a:r>
          </a:p>
          <a:p xmlns:a="http://schemas.openxmlformats.org/drawingml/2006/main">
            <a:r>
              <a:t>該当箇所:製品説明冒頭、Product status</a:t>
            </a:r>
          </a:p>
          <a:p xmlns:a="http://schemas.openxmlformats.org/drawingml/2006/main">
            <a:r>
              <a:t>確認:2026-10-16</a:t>
            </a:r>
          </a:p>
          <a:p xmlns:a="http://schemas.openxmlformats.org/drawingml/2006/main">
            <a:r>
              <a:t>種類:企業公式資料・メーカー主張</a:t>
            </a:r>
          </a:p>
          <a:p xmlns:a="http://schemas.openxmlformats.org/drawingml/2006/main">
            <a:r>
              <a:t>展示:既存製品の方式確認。2026展示はEOV-V005-2026-1で別確認</a:t>
            </a:r>
          </a:p>
          <a:p xmlns:a="http://schemas.openxmlformats.org/drawingml/2006/main">
            <a:r>
              <a:t/>
            </a:r>
          </a:p>
          <a:p xmlns:a="http://schemas.openxmlformats.org/drawingml/2006/main">
            <a:r>
              <a:t>EDP-04 PC Control 02/2024：Machine Learning Creator</a:t>
            </a:r>
          </a:p>
          <a:p xmlns:a="http://schemas.openxmlformats.org/drawingml/2006/main">
            <a:r>
              <a:t>https://www.beckhoff.com/media/downloads/information-media/pc-control/pcc_0224_e.pdf</a:t>
            </a:r>
          </a:p>
          <a:p xmlns:a="http://schemas.openxmlformats.org/drawingml/2006/main">
            <a:r>
              <a:t>該当箇所:TE3850／訓練・テストデータ分割、モデル解析、ONNX出力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EOV-V011-2024-1 JIMTOF2024公式カタログ：株式会社たけびし (E7053)</a:t>
            </a:r>
          </a:p>
          <a:p xmlns:a="http://schemas.openxmlformats.org/drawingml/2006/main">
            <a:r>
              <a:t>https://www.jimtof.org/2024/search/jp/ESdetails?e=SiZMI-OH8_k</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EOV-V011-2026-1 JIMTOF2026公式カタログ：株式会社たけびし (S3015)</a:t>
            </a:r>
          </a:p>
          <a:p xmlns:a="http://schemas.openxmlformats.org/drawingml/2006/main">
            <a:r>
              <a:t>https://www.jimtof.org/search/jp/ESdetails?e=Qh27DAtEkbw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EDP-06 OPC UA情報モデルとAIエージェント</a:t>
            </a:r>
          </a:p>
          <a:p xmlns:a="http://schemas.openxmlformats.org/drawingml/2006/main">
            <a:r>
              <a:t>https://opcconnect.opcfoundation.org/2026/06/toward-realizing-ai-utilization-in-manufacturing-exploring-the-potential-of-integrating-the-opc-ua-information-model-with-ai-agents/</a:t>
            </a:r>
          </a:p>
          <a:p xmlns:a="http://schemas.openxmlformats.org/drawingml/2006/main">
            <a:r>
              <a:t>該当箇所:A New Approach to Connecting AI Agents／MCP Adapterはplanning to provide</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EOV-V012-2024-1 JIMTOF2024公式カタログ：株式会社シーイーシー (E5022)</a:t>
            </a:r>
          </a:p>
          <a:p xmlns:a="http://schemas.openxmlformats.org/drawingml/2006/main">
            <a:r>
              <a:t>https://www.jimtof.org/2024/search/jp/ESdetails?e=WS9ql5D41fQ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EOV-V012-2026-1 JIMTOF2026公式カタログ：株式会社シーイーシー (E2006)</a:t>
            </a:r>
          </a:p>
          <a:p xmlns:a="http://schemas.openxmlformats.org/drawingml/2006/main">
            <a:r>
              <a:t>https://www.jimtof.org/search/jp/ESdetails?e=tW-C9oF94EQ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"id": "M2",</a:t>
            </a:r>
          </a:p>
          <a:p xmlns:a="http://schemas.openxmlformats.org/drawingml/2006/main">
            <a:r>
              <a:t>  "name": "品質と工具状態を見ながら調整する自律加工",</a:t>
            </a:r>
          </a:p>
          <a:p xmlns:a="http://schemas.openxmlformats.org/drawingml/2006/main">
            <a:r>
              <a:t>  "basis": [</a:t>
            </a:r>
          </a:p>
          <a:p xmlns:a="http://schemas.openxmlformats.org/drawingml/2006/main">
            <a:r>
              <a:t>    "B03",</a:t>
            </a:r>
          </a:p>
          <a:p xmlns:a="http://schemas.openxmlformats.org/drawingml/2006/main">
            <a:r>
              <a:t>    "B05",</a:t>
            </a:r>
          </a:p>
          <a:p xmlns:a="http://schemas.openxmlformats.org/drawingml/2006/main">
            <a:r>
              <a:t>    "B06",</a:t>
            </a:r>
          </a:p>
          <a:p xmlns:a="http://schemas.openxmlformats.org/drawingml/2006/main">
            <a:r>
              <a:t>    "B07",</a:t>
            </a:r>
          </a:p>
          <a:p xmlns:a="http://schemas.openxmlformats.org/drawingml/2006/main">
            <a:r>
              <a:t>    "B08",</a:t>
            </a:r>
          </a:p>
          <a:p xmlns:a="http://schemas.openxmlformats.org/drawingml/2006/main">
            <a:r>
              <a:t>    "B09"</a:t>
            </a:r>
          </a:p>
          <a:p xmlns:a="http://schemas.openxmlformats.org/drawingml/2006/main">
            <a:r>
              <a:t>  ],</a:t>
            </a:r>
          </a:p>
          <a:p xmlns:a="http://schemas.openxmlformats.org/drawingml/2006/main">
            <a:r>
              <a:t>  "need": "加工条件の追込み、工具交換、品質確認が別作業で、人が経験から結び付けている。",</a:t>
            </a:r>
          </a:p>
          <a:p xmlns:a="http://schemas.openxmlformats.org/drawingml/2006/main">
            <a:r>
              <a:t>  "signal": "負荷適応、機上計測、補正、摩耗診断、寿命提案が並存する。計測と補正加工を組み合わせる展示も見られる。",</a:t>
            </a:r>
          </a:p>
          <a:p xmlns:a="http://schemas.openxmlformats.org/drawingml/2006/main">
            <a:r>
              <a:t>  "position": "物理モデル・計測・状態推定を組み合わせる工程AIを候補にする。精度と工具費・加工時間を同時に扱う立ち位置を検討する。",</a:t>
            </a:r>
          </a:p>
          <a:p xmlns:a="http://schemas.openxmlformats.org/drawingml/2006/main">
            <a:r>
              <a:t>  "hypothesis": "条件や工具が変わる多品種加工で、加工継続・条件変更・交換を一つの工程判断にする部分に開発余地がある可能性。",</a:t>
            </a:r>
          </a:p>
          <a:p xmlns:a="http://schemas.openxmlformats.org/drawingml/2006/main">
            <a:r>
              <a:t>  "approach": "切削予測と加工中の信号、工具画像・寸法計測を照合し、送り・補正量・交換の候補を決める。まず一つの加工法に限定する。",</a:t>
            </a:r>
          </a:p>
          <a:p xmlns:a="http://schemas.openxmlformats.org/drawingml/2006/main">
            <a:r>
              <a:t>  "existing": "適応制御、熱補正、IPC、摩耗判定は既存技術。統合済みの製品・サービスとの重複は未確認。",</a:t>
            </a:r>
          </a:p>
          <a:p xmlns:a="http://schemas.openxmlformats.org/drawingml/2006/main">
            <a:r>
              <a:t>  "decision": "同じ品質条件で、個別機能の適用と連携方式を比較。材料・工具変更時の手間と初品品質を確認し、必要な連携範囲を決める。",</a:t>
            </a:r>
          </a:p>
          <a:p xmlns:a="http://schemas.openxmlformats.org/drawingml/2006/main">
            <a:r>
              <a:t>  "metrics": "初品・継続加工の品質、工具利用量、加工時間、条件変更時の再調整工数",</a:t>
            </a:r>
          </a:p>
          <a:p xmlns:a="http://schemas.openxmlformats.org/drawingml/2006/main">
            <a:r>
              <a:t>  "priority": "重点候補〈分析・仮説〉",</a:t>
            </a:r>
          </a:p>
          <a:p xmlns:a="http://schemas.openxmlformats.org/drawingml/2006/main">
            <a:r>
              <a:t>  "child_ids": [</a:t>
            </a:r>
          </a:p>
          <a:p xmlns:a="http://schemas.openxmlformats.org/drawingml/2006/main">
            <a:r>
              <a:t>    "R2"</a:t>
            </a:r>
          </a:p>
          <a:p xmlns:a="http://schemas.openxmlformats.org/drawingml/2006/main">
            <a:r>
              <a:t>  ],</a:t>
            </a:r>
          </a:p>
          <a:p xmlns:a="http://schemas.openxmlformats.org/drawingml/2006/main">
            <a:r>
              <a:t>  "technical_approach": "切削予測と加工中の信号、工具画像・寸法計測を照合し、送り・補正量・交換の候補を決める。まず一つの加工法に限定する。"</a:t>
            </a:r>
          </a:p>
          <a:p xmlns:a="http://schemas.openxmlformats.org/drawingml/2006/main">
            <a:r>
              <a:t>}</a:t>
            </a:r>
          </a:p>
          <a:p xmlns:a="http://schemas.openxmlformats.org/drawingml/2006/main">
            <a:r>
              <a:t/>
            </a:r>
          </a:p>
          <a:p xmlns:a="http://schemas.openxmlformats.org/drawingml/2006/main">
            <a:r>
              <a:t>NC送り最適化・加工中の適応制御</a:t>
            </a:r>
          </a:p>
          <a:p xmlns:a="http://schemas.openxmlformats.org/drawingml/2006/main">
            <a:r>
              <a:t>B03-1 CGTech / Vericut Force／Optimizer / S3014</a:t>
            </a:r>
          </a:p>
          <a:p xmlns:a="http://schemas.openxmlformats.org/drawingml/2006/main">
            <a:r>
              <a:t>対象:加工前にNCの送り速度を調整する</a:t>
            </a:r>
          </a:p>
          <a:p xmlns:a="http://schemas.openxmlformats.org/drawingml/2006/main">
            <a:r>
              <a:t>公式要約:Forceは切削物理と力・動力制約を使い加工前に送りを最適化。</a:t>
            </a:r>
          </a:p>
          <a:p xmlns:a="http://schemas.openxmlformats.org/drawingml/2006/main">
            <a:r>
              <a:t>年度:Forceは2024掲載済み。2026のAI訴求とOptimizerの方式差は未確認。</a:t>
            </a:r>
          </a:p>
          <a:p xmlns:a="http://schemas.openxmlformats.org/drawingml/2006/main">
            <a:r>
              <a:t>人・未確認:材料・工具・限界条件とNC採用が必要〈分析〉。運用詳細は未確認。</a:t>
            </a:r>
          </a:p>
          <a:p xmlns:a="http://schemas.openxmlformats.org/drawingml/2006/main">
            <a:r>
              <a:t>Evidence:EOV-V009-2024-1,EOV-V009-2026-1,RPT-S04</a:t>
            </a:r>
          </a:p>
          <a:p xmlns:a="http://schemas.openxmlformats.org/drawingml/2006/main">
            <a:r>
              <a:t/>
            </a:r>
          </a:p>
          <a:p xmlns:a="http://schemas.openxmlformats.org/drawingml/2006/main">
            <a:r>
              <a:t>B03-2 Third Wave Systems Japan / Production Module／AdvantEdge / E1064</a:t>
            </a:r>
          </a:p>
          <a:p xmlns:a="http://schemas.openxmlformats.org/drawingml/2006/main">
            <a:r>
              <a:t>対象:加工負荷を予測しNC送りを最適化する</a:t>
            </a:r>
          </a:p>
          <a:p xmlns:a="http://schemas.openxmlformats.org/drawingml/2006/main">
            <a:r>
              <a:t>公式要約:Production ModuleはNCレベルの負荷解析。刃先FEMのAdvantEdgeとは別。</a:t>
            </a:r>
          </a:p>
          <a:p xmlns:a="http://schemas.openxmlformats.org/drawingml/2006/main">
            <a:r>
              <a:t>年度:2024展示比較不能。工具たわみ等は2019年にも公式説明。</a:t>
            </a:r>
          </a:p>
          <a:p xmlns:a="http://schemas.openxmlformats.org/drawingml/2006/main">
            <a:r>
              <a:t>人・未確認:モデル・材料・工具の設定と採用判断が必要〈分析〉。</a:t>
            </a:r>
          </a:p>
          <a:p xmlns:a="http://schemas.openxmlformats.org/drawingml/2006/main">
            <a:r>
              <a:t>Evidence:RPT-EXH-2026-3f24aaee60d77db1,RPT-S05</a:t>
            </a:r>
          </a:p>
          <a:p xmlns:a="http://schemas.openxmlformats.org/drawingml/2006/main">
            <a:r>
              <a:t/>
            </a:r>
          </a:p>
          <a:p xmlns:a="http://schemas.openxmlformats.org/drawingml/2006/main">
            <a:r>
              <a:t>B03-3 西部商工 / ACM / S3020</a:t>
            </a:r>
          </a:p>
          <a:p xmlns:a="http://schemas.openxmlformats.org/drawingml/2006/main">
            <a:r>
              <a:t>対象:加工中の負荷に応じ送りを自動調整する</a:t>
            </a:r>
          </a:p>
          <a:p xmlns:a="http://schemas.openxmlformats.org/drawingml/2006/main">
            <a:r>
              <a:t>公式要約:ACMは実測主軸負荷を使い加工中の送りを自動調整。</a:t>
            </a:r>
          </a:p>
          <a:p xmlns:a="http://schemas.openxmlformats.org/drawingml/2006/main">
            <a:r>
              <a:t>年度:2024も負荷監視と送り制御を記載。基本方式は継続。</a:t>
            </a:r>
          </a:p>
          <a:p xmlns:a="http://schemas.openxmlformats.org/drawingml/2006/main">
            <a:r>
              <a:t>人・未確認:負荷限界の設定者・停止復帰の手順は未確認。</a:t>
            </a:r>
          </a:p>
          <a:p xmlns:a="http://schemas.openxmlformats.org/drawingml/2006/main">
            <a:r>
              <a:t>Evidence:RPT-EXH-2026-107042c6cf64ba96,RPT-EXH-2024-151b23d9e05ccb13</a:t>
            </a:r>
          </a:p>
          <a:p xmlns:a="http://schemas.openxmlformats.org/drawingml/2006/main">
            <a:r>
              <a:t/>
            </a:r>
          </a:p>
          <a:p xmlns:a="http://schemas.openxmlformats.org/drawingml/2006/main">
            <a:r>
              <a:t>熱変位補正・びびり抑制</a:t>
            </a:r>
          </a:p>
          <a:p xmlns:a="http://schemas.openxmlformats.org/drawingml/2006/main">
            <a:r>
              <a:t>B05-1 オークマ / 熱変位制御・AI知能化 / E3028</a:t>
            </a:r>
          </a:p>
          <a:p xmlns:a="http://schemas.openxmlformats.org/drawingml/2006/main">
            <a:r>
              <a:t>対象:温度変化による加工位置のずれを抑える</a:t>
            </a:r>
          </a:p>
          <a:p xmlns:a="http://schemas.openxmlformats.org/drawingml/2006/main">
            <a:r>
              <a:t>公式要約:熱を単純化する構造と熱変位制御を組み合わせる。</a:t>
            </a:r>
          </a:p>
          <a:p xmlns:a="http://schemas.openxmlformats.org/drawingml/2006/main">
            <a:r>
              <a:t>年度:熱安定化は既存技術。2026のAI訴求だけで補正全体をAIとしない。</a:t>
            </a:r>
          </a:p>
          <a:p xmlns:a="http://schemas.openxmlformats.org/drawingml/2006/main">
            <a:r>
              <a:t>人・未確認:校正・補正限界・条件変化時の人の関与は未確認。</a:t>
            </a:r>
          </a:p>
          <a:p xmlns:a="http://schemas.openxmlformats.org/drawingml/2006/main">
            <a:r>
              <a:t>Evidence:EOV-V003-2024-1,EOV-V003-2026-1,RPT-S02</a:t>
            </a:r>
          </a:p>
          <a:p xmlns:a="http://schemas.openxmlformats.org/drawingml/2006/main">
            <a:r>
              <a:t/>
            </a:r>
          </a:p>
          <a:p xmlns:a="http://schemas.openxmlformats.org/drawingml/2006/main">
            <a:r>
              <a:t>B05-2 ヤマザキマザック / Ai Thermal Shield（製品資料による比較） / E1001</a:t>
            </a:r>
          </a:p>
          <a:p xmlns:a="http://schemas.openxmlformats.org/drawingml/2006/main">
            <a:r>
              <a:t>対象:加工後測定も使い熱変位補正を調整する</a:t>
            </a:r>
          </a:p>
          <a:p xmlns:a="http://schemas.openxmlformats.org/drawingml/2006/main">
            <a:r>
              <a:t>公式要約:温度・回転等を考慮。加工後測定の学習で熱変位補正を最適化。</a:t>
            </a:r>
          </a:p>
          <a:p xmlns:a="http://schemas.openxmlformats.org/drawingml/2006/main">
            <a:r>
              <a:t>年度:製品資料の比較例。同機能の2026展示搭載・年度差は未確認。</a:t>
            </a:r>
          </a:p>
          <a:p xmlns:a="http://schemas.openxmlformats.org/drawingml/2006/main">
            <a:r>
              <a:t>人・未確認:測定準備・更新採否・補正限界の設定者は未確認。</a:t>
            </a:r>
          </a:p>
          <a:p xmlns:a="http://schemas.openxmlformats.org/drawingml/2006/main">
            <a:r>
              <a:t>Evidence:RPT-S03,EOV-V004-2024-1,EOV-V004-2026-1,EAT-N08</a:t>
            </a:r>
          </a:p>
          <a:p xmlns:a="http://schemas.openxmlformats.org/drawingml/2006/main">
            <a:r>
              <a:t/>
            </a:r>
          </a:p>
          <a:p xmlns:a="http://schemas.openxmlformats.org/drawingml/2006/main">
            <a:r>
              <a:t>B05-3 オークマ / 加工ナビM-i／M-gⅡ（製品資料による比較） / E3028</a:t>
            </a:r>
          </a:p>
          <a:p xmlns:a="http://schemas.openxmlformats.org/drawingml/2006/main">
            <a:r>
              <a:t>対象:びびり振動に応じ主軸回転数を調整する</a:t>
            </a:r>
          </a:p>
          <a:p xmlns:a="http://schemas.openxmlformats.org/drawingml/2006/main">
            <a:r>
              <a:t>公式要約:M-iは振動計測から主軸速度を自動変更。M-gⅡは速度候補を提示。</a:t>
            </a:r>
          </a:p>
          <a:p xmlns:a="http://schemas.openxmlformats.org/drawingml/2006/main">
            <a:r>
              <a:t>年度:既存製品技術の比較例。2024/2026の機能増分は未確認。</a:t>
            </a:r>
          </a:p>
          <a:p xmlns:a="http://schemas.openxmlformats.org/drawingml/2006/main">
            <a:r>
              <a:t>人・未確認:M-iは設定後に自動制御。M-gⅡは人が候補を選ぶ。</a:t>
            </a:r>
          </a:p>
          <a:p xmlns:a="http://schemas.openxmlformats.org/drawingml/2006/main">
            <a:r>
              <a:t>Evidence:RPT-S01,EOV-V003-2024-1,EOV-V003-2026-1</a:t>
            </a:r>
          </a:p>
          <a:p xmlns:a="http://schemas.openxmlformats.org/drawingml/2006/main">
            <a:r>
              <a:t/>
            </a:r>
          </a:p>
          <a:p xmlns:a="http://schemas.openxmlformats.org/drawingml/2006/main">
            <a:r>
              <a:t>計測から加工へのフィードバック</a:t>
            </a:r>
          </a:p>
          <a:p xmlns:a="http://schemas.openxmlformats.org/drawingml/2006/main">
            <a:r>
              <a:t>B06-1 レニショー / Renishaw Central＋IPC / E7089</a:t>
            </a:r>
          </a:p>
          <a:p xmlns:a="http://schemas.openxmlformats.org/drawingml/2006/main">
            <a:r>
              <a:t>対象:測定した寸法を加工補正へ戻す</a:t>
            </a:r>
          </a:p>
          <a:p xmlns:a="http://schemas.openxmlformats.org/drawingml/2006/main">
            <a:r>
              <a:t>公式要約:Renishaw Central＋IPCで工具オフセットや機械変数を更新。</a:t>
            </a:r>
          </a:p>
          <a:p xmlns:a="http://schemas.openxmlformats.org/drawingml/2006/main">
            <a:r>
              <a:t>年度:Centralは2024掲載済み。2026も継続。</a:t>
            </a:r>
          </a:p>
          <a:p xmlns:a="http://schemas.openxmlformats.org/drawingml/2006/main">
            <a:r>
              <a:t>人・未確認:計測不確かさ、補正上限、異常値の抑止条件は未確認。</a:t>
            </a:r>
          </a:p>
          <a:p xmlns:a="http://schemas.openxmlformats.org/drawingml/2006/main">
            <a:r>
              <a:t>Evidence:EOV-V018-2024-1,EOV-V018-2026-1,EOV-W03</a:t>
            </a:r>
          </a:p>
          <a:p xmlns:a="http://schemas.openxmlformats.org/drawingml/2006/main">
            <a:r>
              <a:t/>
            </a:r>
          </a:p>
          <a:p xmlns:a="http://schemas.openxmlformats.org/drawingml/2006/main">
            <a:r>
              <a:t>B06-2 Wintech Automation / HGM-DX：測定フィードバック研削 / W3051</a:t>
            </a:r>
          </a:p>
          <a:p xmlns:a="http://schemas.openxmlformats.org/drawingml/2006/main">
            <a:r>
              <a:t>対象:測定値を研削加工の補正へ戻す</a:t>
            </a:r>
          </a:p>
          <a:p xmlns:a="http://schemas.openxmlformats.org/drawingml/2006/main">
            <a:r>
              <a:t>公式要約:HGM-DXは測定値を研削機へ返し加工公差を自動補正。</a:t>
            </a:r>
          </a:p>
          <a:p xmlns:a="http://schemas.openxmlformats.org/drawingml/2006/main">
            <a:r>
              <a:t>年度:2024は製造・検査自動化。2026は測定→研削を具体記載。</a:t>
            </a:r>
          </a:p>
          <a:p xmlns:a="http://schemas.openxmlformats.org/drawingml/2006/main">
            <a:r>
              <a:t>人・未確認:補正上限と誤計測時の対応は未確認。</a:t>
            </a:r>
          </a:p>
          <a:p xmlns:a="http://schemas.openxmlformats.org/drawingml/2006/main">
            <a:r>
              <a:t>Evidence:EOV-V034-2024-1,EOV-V034-2026-1</a:t>
            </a:r>
          </a:p>
          <a:p xmlns:a="http://schemas.openxmlformats.org/drawingml/2006/main">
            <a:r>
              <a:t/>
            </a:r>
          </a:p>
          <a:p xmlns:a="http://schemas.openxmlformats.org/drawingml/2006/main">
            <a:r>
              <a:t>B06-3 株式会社サイバーRC / GH5：工具の3D画像認識・AI補正ホーニング / E7074</a:t>
            </a:r>
          </a:p>
          <a:p xmlns:a="http://schemas.openxmlformats.org/drawingml/2006/main">
            <a:r>
              <a:t>対象:工具刃先の幅・角度を狙い値へ加工する</a:t>
            </a:r>
          </a:p>
          <a:p xmlns:a="http://schemas.openxmlformats.org/drawingml/2006/main">
            <a:r>
              <a:t>公式要約:GH5は機内3D画像で刃先を測り、幅・角度の目標へAI補正。</a:t>
            </a:r>
          </a:p>
          <a:p xmlns:a="http://schemas.openxmlformats.org/drawingml/2006/main">
            <a:r>
              <a:t>年度:2024のGM5等から、2026はGH5の測定・加工一体化を記載。</a:t>
            </a:r>
          </a:p>
          <a:p xmlns:a="http://schemas.openxmlformats.org/drawingml/2006/main">
            <a:r>
              <a:t>人・未確認:目標値は人が設定。過研磨・測定不能時の停止復帰は未確認。</a:t>
            </a:r>
          </a:p>
          <a:p xmlns:a="http://schemas.openxmlformats.org/drawingml/2006/main">
            <a:r>
              <a:t>Evidence:EEX-EXH-2026-a0cbad27ea34d7c4,EEX-EXH-2024-76ac534a229f7c29,EDP-02</a:t>
            </a:r>
          </a:p>
          <a:p xmlns:a="http://schemas.openxmlformats.org/drawingml/2006/main">
            <a:r>
              <a:t/>
            </a:r>
          </a:p>
          <a:p xmlns:a="http://schemas.openxmlformats.org/drawingml/2006/main">
            <a:r>
              <a:t>外観検査・撮像と追加学習</a:t>
            </a:r>
          </a:p>
          <a:p xmlns:a="http://schemas.openxmlformats.org/drawingml/2006/main">
            <a:r>
              <a:t>B07-1 HACARUS / HACARUS Check ZERO / S1031</a:t>
            </a:r>
          </a:p>
          <a:p xmlns:a="http://schemas.openxmlformats.org/drawingml/2006/main">
            <a:r>
              <a:t>対象:製品表面の傷・欠け等を判定する</a:t>
            </a:r>
          </a:p>
          <a:p xmlns:a="http://schemas.openxmlformats.org/drawingml/2006/main">
            <a:r>
              <a:t>公式要約:ZEROは良品との差で異常を検出し、人の良否注釈で追加調整。</a:t>
            </a:r>
          </a:p>
          <a:p xmlns:a="http://schemas.openxmlformats.org/drawingml/2006/main">
            <a:r>
              <a:t>年度:追加学習は2025/7発表済み。2026だけの新機能としない。</a:t>
            </a:r>
          </a:p>
          <a:p xmlns:a="http://schemas.openxmlformats.org/drawingml/2006/main">
            <a:r>
              <a:t>人・未確認:人が画像・注釈を準備。更新モデル採用と出荷判定の権限は未確認。</a:t>
            </a:r>
          </a:p>
          <a:p xmlns:a="http://schemas.openxmlformats.org/drawingml/2006/main">
            <a:r>
              <a:t>Evidence:EOV-V021-2026-1,EOV-W06,EDP-14,EDP-15,ERF-05</a:t>
            </a:r>
          </a:p>
          <a:p xmlns:a="http://schemas.openxmlformats.org/drawingml/2006/main">
            <a:r>
              <a:t/>
            </a:r>
          </a:p>
          <a:p xmlns:a="http://schemas.openxmlformats.org/drawingml/2006/main">
            <a:r>
              <a:t>B07-2 日東商事 / HACARUS Check：協働ロボット多面検査 / S1031</a:t>
            </a:r>
          </a:p>
          <a:p xmlns:a="http://schemas.openxmlformats.org/drawingml/2006/main">
            <a:r>
              <a:t>対象:ワークを多方向から撮り外観を検査する</a:t>
            </a:r>
          </a:p>
          <a:p xmlns:a="http://schemas.openxmlformats.org/drawingml/2006/main">
            <a:r>
              <a:t>公式要約:協働ロボットで多角度撮像し、AIで傷・欠けを判定。</a:t>
            </a:r>
          </a:p>
          <a:p xmlns:a="http://schemas.openxmlformats.org/drawingml/2006/main">
            <a:r>
              <a:t>年度:日東商事2024の放電加工機展示から、AI検査を追加記載。</a:t>
            </a:r>
          </a:p>
          <a:p xmlns:a="http://schemas.openxmlformats.org/drawingml/2006/main">
            <a:r>
              <a:t>人・未確認:姿勢教示・再撮像・不良排出の権限は未確認。</a:t>
            </a:r>
          </a:p>
          <a:p xmlns:a="http://schemas.openxmlformats.org/drawingml/2006/main">
            <a:r>
              <a:t>Evidence:EOV-V022-2024-1,EOV-V022-2026-1</a:t>
            </a:r>
          </a:p>
          <a:p xmlns:a="http://schemas.openxmlformats.org/drawingml/2006/main">
            <a:r>
              <a:t/>
            </a:r>
          </a:p>
          <a:p xmlns:a="http://schemas.openxmlformats.org/drawingml/2006/main">
            <a:r>
              <a:t>B07-3 ブルーム-ノボテスト / FormControl X／DIGILOG / E7084</a:t>
            </a:r>
          </a:p>
          <a:p xmlns:a="http://schemas.openxmlformats.org/drawingml/2006/main">
            <a:r>
              <a:t>対象:機上のワーク形状と工具を測る</a:t>
            </a:r>
          </a:p>
          <a:p xmlns:a="http://schemas.openxmlformats.org/drawingml/2006/main">
            <a:r>
              <a:t>公式要約:機上3D測定と工具計測・欠け検知・補正を組み合わせる。</a:t>
            </a:r>
          </a:p>
          <a:p xmlns:a="http://schemas.openxmlformats.org/drawingml/2006/main">
            <a:r>
              <a:t>年度:2024のFormControl X等を継続し、2026はLC54等を追加。</a:t>
            </a:r>
          </a:p>
          <a:p xmlns:a="http://schemas.openxmlformats.org/drawingml/2006/main">
            <a:r>
              <a:t>人・未確認:校正・熱状態・機種適合の条件は未確認。</a:t>
            </a:r>
          </a:p>
          <a:p xmlns:a="http://schemas.openxmlformats.org/drawingml/2006/main">
            <a:r>
              <a:t>Evidence:EOV-V019-2024-1,EOV-V019-2026-1</a:t>
            </a:r>
          </a:p>
          <a:p xmlns:a="http://schemas.openxmlformats.org/drawingml/2006/main">
            <a:r>
              <a:t/>
            </a:r>
          </a:p>
          <a:p xmlns:a="http://schemas.openxmlformats.org/drawingml/2006/main">
            <a:r>
              <a:t>工具摩耗の判定・交換判断</a:t>
            </a:r>
          </a:p>
          <a:p xmlns:a="http://schemas.openxmlformats.org/drawingml/2006/main">
            <a:r>
              <a:t>B08-1 モリマシナリー / ツールコラージュ / S3048</a:t>
            </a:r>
          </a:p>
          <a:p xmlns:a="http://schemas.openxmlformats.org/drawingml/2006/main">
            <a:r>
              <a:t>対象:刃先の欠け・摩耗を判定し記録する</a:t>
            </a:r>
          </a:p>
          <a:p xmlns:a="http://schemas.openxmlformats.org/drawingml/2006/main">
            <a:r>
              <a:t>公式要約:刃先の診断箇所を認知し、欠け・摩耗をAI判定・記録。</a:t>
            </a:r>
          </a:p>
          <a:p xmlns:a="http://schemas.openxmlformats.org/drawingml/2006/main">
            <a:r>
              <a:t>年度:AI摩耗判定は2024にも説明済み。2026は継続。</a:t>
            </a:r>
          </a:p>
          <a:p xmlns:a="http://schemas.openxmlformats.org/drawingml/2006/main">
            <a:r>
              <a:t>人・未確認:対象工具と撮像条件を準備。継続使用の最終決定者は未確認。</a:t>
            </a:r>
          </a:p>
          <a:p xmlns:a="http://schemas.openxmlformats.org/drawingml/2006/main">
            <a:r>
              <a:t>Evidence:EOV-V024-2024-1,EOV-V024-2026-1,EDP-12</a:t>
            </a:r>
          </a:p>
          <a:p xmlns:a="http://schemas.openxmlformats.org/drawingml/2006/main">
            <a:r>
              <a:t/>
            </a:r>
          </a:p>
          <a:p xmlns:a="http://schemas.openxmlformats.org/drawingml/2006/main">
            <a:r>
              <a:t>B08-2 ハイデンハイン / VT122＋VTC 6.0 / E7043</a:t>
            </a:r>
          </a:p>
          <a:p xmlns:a="http://schemas.openxmlformats.org/drawingml/2006/main">
            <a:r>
              <a:t>対象:工具画像から摩耗状態を診断する</a:t>
            </a:r>
          </a:p>
          <a:p xmlns:a="http://schemas.openxmlformats.org/drawingml/2006/main">
            <a:r>
              <a:t>公式要約:VT122にVTC 6.0のAI摩耗診断・工具長機能を記載。</a:t>
            </a:r>
          </a:p>
          <a:p xmlns:a="http://schemas.openxmlformats.org/drawingml/2006/main">
            <a:r>
              <a:t>年度:2024はVT122検査。2026はAI摩耗診断を追加記載。</a:t>
            </a:r>
          </a:p>
          <a:p xmlns:a="http://schemas.openxmlformats.org/drawingml/2006/main">
            <a:r>
              <a:t>人・未確認:判定閾値と自動交換への接続は未確認。</a:t>
            </a:r>
          </a:p>
          <a:p xmlns:a="http://schemas.openxmlformats.org/drawingml/2006/main">
            <a:r>
              <a:t>Evidence:EOV-V023-2024-1,EOV-V023-2026-1</a:t>
            </a:r>
          </a:p>
          <a:p xmlns:a="http://schemas.openxmlformats.org/drawingml/2006/main">
            <a:r>
              <a:t/>
            </a:r>
          </a:p>
          <a:p xmlns:a="http://schemas.openxmlformats.org/drawingml/2006/main">
            <a:r>
              <a:t>B08-3 三菱電機 / NC MachiningAID（2024）／2026 CNC省人化 / S2003</a:t>
            </a:r>
          </a:p>
          <a:p xmlns:a="http://schemas.openxmlformats.org/drawingml/2006/main">
            <a:r>
              <a:t>対象:加工異常・工具摩耗・作業ミスを検知する</a:t>
            </a:r>
          </a:p>
          <a:p xmlns:a="http://schemas.openxmlformats.org/drawingml/2006/main">
            <a:r>
              <a:t>公式要約:2024のMachiningAIDは加工異常・工具摩耗・作業ミスをAI検知。</a:t>
            </a:r>
          </a:p>
          <a:p xmlns:a="http://schemas.openxmlformats.org/drawingml/2006/main">
            <a:r>
              <a:t>年度:2026はAI省人化の総論。個別機能の進化は比較不能。</a:t>
            </a:r>
          </a:p>
          <a:p xmlns:a="http://schemas.openxmlformats.org/drawingml/2006/main">
            <a:r>
              <a:t>人・未確認:2026の継承機能と自動停止・交換権限は未確認。</a:t>
            </a:r>
          </a:p>
          <a:p xmlns:a="http://schemas.openxmlformats.org/drawingml/2006/main">
            <a:r>
              <a:t>Evidence:EAT-V043-2024-1,EAT-V043-2026-1</a:t>
            </a:r>
          </a:p>
          <a:p xmlns:a="http://schemas.openxmlformats.org/drawingml/2006/main">
            <a:r>
              <a:t/>
            </a:r>
          </a:p>
          <a:p xmlns:a="http://schemas.openxmlformats.org/drawingml/2006/main">
            <a:r>
              <a:t>B08-4 モリマシナリー / ツールコラージュアナライザー / S3048</a:t>
            </a:r>
          </a:p>
          <a:p xmlns:a="http://schemas.openxmlformats.org/drawingml/2006/main">
            <a:r>
              <a:t>対象:切削工具をいつ交換するか</a:t>
            </a:r>
          </a:p>
          <a:p xmlns:a="http://schemas.openxmlformats.org/drawingml/2006/main">
            <a:r>
              <a:t>公式要約:摩耗幅のデータを蓄積・学習し、工具寿命と交換時期を提案する。</a:t>
            </a:r>
          </a:p>
          <a:p xmlns:a="http://schemas.openxmlformats.org/drawingml/2006/main">
            <a:r>
              <a:t>年度:2026は寿命予測と交換提案を具体掲載。ただし研究発表は2023にもあり、新方式の誕生とは扱わない。</a:t>
            </a:r>
          </a:p>
          <a:p xmlns:a="http://schemas.openxmlformats.org/drawingml/2006/main">
            <a:r>
              <a:t>人・未確認:人が工具・加工条件と提案の適用を確認する運用は要確認。</a:t>
            </a:r>
          </a:p>
          <a:p xmlns:a="http://schemas.openxmlformats.org/drawingml/2006/main">
            <a:r>
              <a:t>Evidence:EOV-V024-2024-1,EOV-V024-2026-1,EOV-W08</a:t>
            </a:r>
          </a:p>
          <a:p xmlns:a="http://schemas.openxmlformats.org/drawingml/2006/main">
            <a:r>
              <a:t/>
            </a:r>
          </a:p>
          <a:p xmlns:a="http://schemas.openxmlformats.org/drawingml/2006/main">
            <a:r>
              <a:t>B08-5 興和オプトロニクス / RW耐環境ビジョンユニット / S3104</a:t>
            </a:r>
          </a:p>
          <a:p xmlns:a="http://schemas.openxmlformats.org/drawingml/2006/main">
            <a:r>
              <a:t>対象:加工機内の工具折損・摩耗を見つける</a:t>
            </a:r>
          </a:p>
          <a:p xmlns:a="http://schemas.openxmlformats.org/drawingml/2006/main">
            <a:r>
              <a:t>公式要約:水・油・ミスト環境で撮像し、AIで工具折損・摩耗や切粉の異常蓄積を検知するとの説明。</a:t>
            </a:r>
          </a:p>
          <a:p xmlns:a="http://schemas.openxmlformats.org/drawingml/2006/main">
            <a:r>
              <a:t>年度:2024同名原典なし。2026の耐環境撮像とAI検知は確認、登場時期は比較不能。</a:t>
            </a:r>
          </a:p>
          <a:p xmlns:a="http://schemas.openxmlformats.org/drawingml/2006/main">
            <a:r>
              <a:t>人・未確認:対象工具、判定の閾値、検知後の停止・交換の分担は未確認。</a:t>
            </a:r>
          </a:p>
          <a:p xmlns:a="http://schemas.openxmlformats.org/drawingml/2006/main">
            <a:r>
              <a:t>Evidence:EOV-V042-2026-1,EDP-33</a:t>
            </a:r>
          </a:p>
          <a:p xmlns:a="http://schemas.openxmlformats.org/drawingml/2006/main">
            <a:r>
              <a:t/>
            </a:r>
          </a:p>
          <a:p xmlns:a="http://schemas.openxmlformats.org/drawingml/2006/main">
            <a:r>
              <a:t>B08-6 マーポス / ARTIS／BLU／VTS / E7087</a:t>
            </a:r>
          </a:p>
          <a:p xmlns:a="http://schemas.openxmlformats.org/drawingml/2006/main">
            <a:r>
              <a:t>対象:工具寸法と加工状態を測り・監視する</a:t>
            </a:r>
          </a:p>
          <a:p xmlns:a="http://schemas.openxmlformats.org/drawingml/2006/main">
            <a:r>
              <a:t>公式要約:カメラ・レーザーの工具測定と、工具・機械・加工プロセスの監視を展示。</a:t>
            </a:r>
          </a:p>
          <a:p xmlns:a="http://schemas.openxmlformats.org/drawingml/2006/main">
            <a:r>
              <a:t>年度:ARTIS・VTS等は2024にも掲載。2026の展示名だけでは機能の増分を断定できない。</a:t>
            </a:r>
          </a:p>
          <a:p xmlns:a="http://schemas.openxmlformats.org/drawingml/2006/main">
            <a:r>
              <a:t>人・未確認:交換・停止を決める基準と、各機能のAI使用は未確認。</a:t>
            </a:r>
          </a:p>
          <a:p xmlns:a="http://schemas.openxmlformats.org/drawingml/2006/main">
            <a:r>
              <a:t>Evidence:EOV-V020-2024-1,EOV-V020-2026-1</a:t>
            </a:r>
          </a:p>
          <a:p xmlns:a="http://schemas.openxmlformats.org/drawingml/2006/main">
            <a:r>
              <a:t/>
            </a:r>
          </a:p>
          <a:p xmlns:a="http://schemas.openxmlformats.org/drawingml/2006/main">
            <a:r>
              <a:t>B08-7 Masterlink / 工作機械センシングの知能化による生産性向上： / E1050</a:t>
            </a:r>
          </a:p>
          <a:p xmlns:a="http://schemas.openxmlformats.org/drawingml/2006/main">
            <a:r>
              <a:t>対象:工具の異常を監視する（方式要確認）</a:t>
            </a:r>
          </a:p>
          <a:p xmlns:a="http://schemas.openxmlformats.org/drawingml/2006/main">
            <a:r>
              <a:t>公式要約:工具監視、適応加工、予知保全を出展項目として掲載。入力信号と判定方式は未記載。</a:t>
            </a:r>
          </a:p>
          <a:p xmlns:a="http://schemas.openxmlformats.org/drawingml/2006/main">
            <a:r>
              <a:t>年度:2024はセンシング・現場管理の総論。2026は工具監視等を列挙。性能差は不明。</a:t>
            </a:r>
          </a:p>
          <a:p xmlns:a="http://schemas.openxmlformats.org/drawingml/2006/main">
            <a:r>
              <a:t>人・未確認:監視結果から停止・交換へ移す手順、担当者は未確認。</a:t>
            </a:r>
          </a:p>
          <a:p xmlns:a="http://schemas.openxmlformats.org/drawingml/2006/main">
            <a:r>
              <a:t>Evidence:EEX-EXH-2026-19ce238d137fe275,EEX-EXH-2024-a2fae1d1864676d1</a:t>
            </a:r>
          </a:p>
          <a:p xmlns:a="http://schemas.openxmlformats.org/drawingml/2006/main">
            <a:r>
              <a:t/>
            </a:r>
          </a:p>
          <a:p xmlns:a="http://schemas.openxmlformats.org/drawingml/2006/main">
            <a:r>
              <a:t>設備・刃具の異常検知と保全</a:t>
            </a:r>
          </a:p>
          <a:p xmlns:a="http://schemas.openxmlformats.org/drawingml/2006/main">
            <a:r>
              <a:t>B09-1 ムラテックＣＣＳ株式会社 / プライマリドクタサービス：稼働中データのAI診断 / E3031</a:t>
            </a:r>
          </a:p>
          <a:p xmlns:a="http://schemas.openxmlformats.org/drawingml/2006/main">
            <a:r>
              <a:t>対象:設備の電流・振動から劣化を診断する</a:t>
            </a:r>
          </a:p>
          <a:p xmlns:a="http://schemas.openxmlformats.org/drawingml/2006/main">
            <a:r>
              <a:t>公式要約:稼働中の電流・振動等を新品状態と比較し劣化・異常を診断。</a:t>
            </a:r>
          </a:p>
          <a:p xmlns:a="http://schemas.openxmlformats.org/drawingml/2006/main">
            <a:r>
              <a:t>年度:プライマリドクタのAI診断は2024から継続。</a:t>
            </a:r>
          </a:p>
          <a:p xmlns:a="http://schemas.openxmlformats.org/drawingml/2006/main">
            <a:r>
              <a:t>人・未確認:計測後の点検・交換の最終決定者、誤警報時の扱いは未確認。</a:t>
            </a:r>
          </a:p>
          <a:p xmlns:a="http://schemas.openxmlformats.org/drawingml/2006/main">
            <a:r>
              <a:t>Evidence:EEX-EXH-2026-308c5194f12fe009,EEX-EXH-2024-b0a94c1cd407ea8a,EDP-13</a:t>
            </a:r>
          </a:p>
          <a:p xmlns:a="http://schemas.openxmlformats.org/drawingml/2006/main">
            <a:r>
              <a:t/>
            </a:r>
          </a:p>
          <a:p xmlns:a="http://schemas.openxmlformats.org/drawingml/2006/main">
            <a:r>
              <a:t>B09-2 アズビル（TACO共同出展） / U4DM01 NC旋盤予兆検知 / W4070</a:t>
            </a:r>
          </a:p>
          <a:p xmlns:a="http://schemas.openxmlformats.org/drawingml/2006/main">
            <a:r>
              <a:t>対象:NC旋盤の刃具破損を検知する</a:t>
            </a:r>
          </a:p>
          <a:p xmlns:a="http://schemas.openxmlformats.org/drawingml/2006/main">
            <a:r>
              <a:t>公式要約:U4DM01はNC旋盤の刃具破損検知と後付け適用を説明。</a:t>
            </a:r>
          </a:p>
          <a:p xmlns:a="http://schemas.openxmlformats.org/drawingml/2006/main">
            <a:r>
              <a:t>年度:2024参考U4Dから2026 Coming soon表記。性能差は不明。</a:t>
            </a:r>
          </a:p>
          <a:p xmlns:a="http://schemas.openxmlformats.org/drawingml/2006/main">
            <a:r>
              <a:t>人・未確認:2024は設定・学習開始操作あり。停止や交換権限は未確認。</a:t>
            </a:r>
          </a:p>
          <a:p xmlns:a="http://schemas.openxmlformats.org/drawingml/2006/main">
            <a:r>
              <a:t>Evidence:RPT-EXH-2026-2c48cf1373cedc75,RPT-EXH-2024-2caebd449015630d</a:t>
            </a:r>
          </a:p>
          <a:p xmlns:a="http://schemas.openxmlformats.org/drawingml/2006/main">
            <a:r>
              <a:t/>
            </a:r>
          </a:p>
          <a:p xmlns:a="http://schemas.openxmlformats.org/drawingml/2006/main">
            <a:r>
              <a:t>B09-3 日本精工 / 振動診断AI・遠隔監視 / W2048</a:t>
            </a:r>
          </a:p>
          <a:p xmlns:a="http://schemas.openxmlformats.org/drawingml/2006/main">
            <a:r>
              <a:t>対象:振動から設備状態を診断する</a:t>
            </a:r>
          </a:p>
          <a:p xmlns:a="http://schemas.openxmlformats.org/drawingml/2006/main">
            <a:r>
              <a:t>公式要約:2024はAI振動診断と遠隔監視を紹介。</a:t>
            </a:r>
          </a:p>
          <a:p xmlns:a="http://schemas.openxmlformats.org/drawingml/2006/main">
            <a:r>
              <a:t>年度:2026の総論だけでは2024比の増分を判定できない。</a:t>
            </a:r>
          </a:p>
          <a:p xmlns:a="http://schemas.openxmlformats.org/drawingml/2006/main">
            <a:r>
              <a:t>人・未確認:2026の個別機能、保全判断への接続は資料不足。</a:t>
            </a:r>
          </a:p>
          <a:p xmlns:a="http://schemas.openxmlformats.org/drawingml/2006/main">
            <a:r>
              <a:t>Evidence:EOV-V032-2024-1,EOV-V032-2026-1</a:t>
            </a:r>
          </a:p>
          <a:p xmlns:a="http://schemas.openxmlformats.org/drawingml/2006/main">
            <a:r>
              <a:t/>
            </a:r>
          </a:p>
          <a:p xmlns:a="http://schemas.openxmlformats.org/drawingml/2006/main">
            <a:r>
              <a:t>原典</a:t>
            </a:r>
          </a:p>
          <a:p xmlns:a="http://schemas.openxmlformats.org/drawingml/2006/main">
            <a:r>
              <a:t>EOV-V009-2024-1 JIMTOF2024公式カタログ：株式会社CGTech (E5042)</a:t>
            </a:r>
          </a:p>
          <a:p xmlns:a="http://schemas.openxmlformats.org/drawingml/2006/main">
            <a:r>
              <a:t>https://www.jimtof.org/2024/search/jp/ESdetails?e=AxDUk3YbQDI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EOV-V009-2026-1 JIMTOF2026公式カタログ：株式会社CGTech (S3014)</a:t>
            </a:r>
          </a:p>
          <a:p xmlns:a="http://schemas.openxmlformats.org/drawingml/2006/main">
            <a:r>
              <a:t>https://www.jimtof.org/search/jp/ESdetails?e=41U8xW4UkcM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RPT-S04 Vericut Force FAQ</a:t>
            </a:r>
          </a:p>
          <a:p xmlns:a="http://schemas.openxmlformats.org/drawingml/2006/main">
            <a:r>
              <a:t>https://archive.vericut.com/force-faq/</a:t>
            </a:r>
          </a:p>
          <a:p xmlns:a="http://schemas.openxmlformats.org/drawingml/2006/main">
            <a:r>
              <a:t>該当箇所:Force physics-based optimization</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RPT-EXH-2026-3f24aaee60d77db1 Third Wave Systems Japan合同会社 JIMTOF2026</a:t>
            </a:r>
          </a:p>
          <a:p xmlns:a="http://schemas.openxmlformats.org/drawingml/2006/main">
            <a:r>
              <a:t>https://www.jimtof.org/search/jp/ESdetails?e=L43LSAjxuyc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RPT-S05 Production Module v8.2 release</a:t>
            </a:r>
          </a:p>
          <a:p xmlns:a="http://schemas.openxmlformats.org/drawingml/2006/main">
            <a:r>
              <a:t>https://thirdwavesys.com/latest-news/production-module-v8-2-release/</a:t>
            </a:r>
          </a:p>
          <a:p xmlns:a="http://schemas.openxmlformats.org/drawingml/2006/main">
            <a:r>
              <a:t>該当箇所:工具たわみ・entry/exit feedrate constraints</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RPT-EXH-2026-107042c6cf64ba96 西部商工株式会社 JIMTOF2026</a:t>
            </a:r>
          </a:p>
          <a:p xmlns:a="http://schemas.openxmlformats.org/drawingml/2006/main">
            <a:r>
              <a:t>https://www.jimtof.org/search/jp/ESdetails?e=OC6R-wdDduM</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RPT-EXH-2024-151b23d9e05ccb13 西部商工株式会社 JIMTOF2024</a:t>
            </a:r>
          </a:p>
          <a:p xmlns:a="http://schemas.openxmlformats.org/drawingml/2006/main">
            <a:r>
              <a:t>https://www.jimtof.org/2024/search/jp/ESdetails?e=YRTw8XJWi9g</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RPT-S02 オークマ サーモフレンドリーコンセプト</a:t>
            </a:r>
          </a:p>
          <a:p xmlns:a="http://schemas.openxmlformats.org/drawingml/2006/main">
            <a:r>
              <a:t>https://www.okuma.co.jp/thermo-aniv/</a:t>
            </a:r>
          </a:p>
          <a:p xmlns:a="http://schemas.openxmlformats.org/drawingml/2006/main">
            <a:r>
              <a:t>該当箇所:サーモフレンドリーコンセプトの説明・沿革</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RPT-S03 Mazak Accuracy / Ai Thermal Shield</a:t>
            </a:r>
          </a:p>
          <a:p xmlns:a="http://schemas.openxmlformats.org/drawingml/2006/main">
            <a:r>
              <a:t>https://www.mazak.com/uk-en/technology/accuracy/</a:t>
            </a:r>
          </a:p>
          <a:p xmlns:a="http://schemas.openxmlformats.org/drawingml/2006/main">
            <a:r>
              <a:t>該当箇所:Ai Thermal Shield／Smooth Thermal Shield</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EOV-V004-2024-1 JIMTOF2024公式カタログ：ヤマザキマザック株式会社 (E5001)</a:t>
            </a:r>
          </a:p>
          <a:p xmlns:a="http://schemas.openxmlformats.org/drawingml/2006/main">
            <a:r>
              <a:t>https://www.jimtof.org/2024/search/jp/ESdetails?e=q0OrZBKM3uQ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EOV-V004-2026-1 JIMTOF2026公式カタログ：ヤマザキマザック株式会社 (E1001)</a:t>
            </a:r>
          </a:p>
          <a:p xmlns:a="http://schemas.openxmlformats.org/drawingml/2006/main">
            <a:r>
              <a:t>https://www.jimtof.org/search/jp/ESdetails?e=PJEgqNYlWes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EAT-N08 JIMTOF2026 Machines &amp; Automation Systems</a:t>
            </a:r>
          </a:p>
          <a:p xmlns:a="http://schemas.openxmlformats.org/drawingml/2006/main">
            <a:r>
              <a:t>https://www.mazak.com/jp-en/news-media/upcoming-events/jimtof2026/</a:t>
            </a:r>
          </a:p>
          <a:p xmlns:a="http://schemas.openxmlformats.org/drawingml/2006/main">
            <a:r>
              <a:t>該当箇所:Machines &amp; Automation Systems／Automation Systems</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展示:2026展示予定。AI機能の方式説明はない</a:t>
            </a:r>
          </a:p>
          <a:p xmlns:a="http://schemas.openxmlformats.org/drawingml/2006/main">
            <a:r>
              <a:t/>
            </a:r>
          </a:p>
          <a:p xmlns:a="http://schemas.openxmlformats.org/drawingml/2006/main">
            <a:r>
              <a:t>RPT-S01 オークマ 加工ナビ</a:t>
            </a:r>
          </a:p>
          <a:p xmlns:a="http://schemas.openxmlformats.org/drawingml/2006/main">
            <a:r>
              <a:t>https://www.okuma.co.jp/solution_technology/process/</a:t>
            </a:r>
          </a:p>
          <a:p xmlns:a="http://schemas.openxmlformats.org/drawingml/2006/main">
            <a:r>
              <a:t>該当箇所:加工ナビ M-i／M-gⅡ</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EOV-V018-2024-1 JIMTOF2024公式カタログ：レニショー株式会社 (E7026)</a:t>
            </a:r>
          </a:p>
          <a:p xmlns:a="http://schemas.openxmlformats.org/drawingml/2006/main">
            <a:r>
              <a:t>https://www.jimtof.org/2024/search/jp/ESdetails?e=ekM3exgIAtc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EOV-V018-2026-1 JIMTOF2026公式カタログ：レニショー株式会社 (E7089)</a:t>
            </a:r>
          </a:p>
          <a:p xmlns:a="http://schemas.openxmlformats.org/drawingml/2006/main">
            <a:r>
              <a:t>https://www.jimtof.org/search/jp/ESdetails?e=pYGmVz5GC1c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EOV-W03 Renishaw Central データプラットフォーム</a:t>
            </a:r>
          </a:p>
          <a:p xmlns:a="http://schemas.openxmlformats.org/drawingml/2006/main">
            <a:r>
              <a:t>https://www.renishaw.com/jp/smart-manufacturing-data-platform-for-industrial-process-control--47853</a:t>
            </a:r>
          </a:p>
          <a:p xmlns:a="http://schemas.openxmlformats.org/drawingml/2006/main">
            <a:r>
              <a:t>該当箇所:メカニズム、現場でのクローズドループ、導入効果</a:t>
            </a:r>
          </a:p>
          <a:p xmlns:a="http://schemas.openxmlformats.org/drawingml/2006/main">
            <a:r>
              <a:t>確認:2026-10-16</a:t>
            </a:r>
          </a:p>
          <a:p xmlns:a="http://schemas.openxmlformats.org/drawingml/2006/main">
            <a:r>
              <a:t>種類:企業公式資料・メーカー主張</a:t>
            </a:r>
          </a:p>
          <a:p xmlns:a="http://schemas.openxmlformats.org/drawingml/2006/main">
            <a:r>
              <a:t>展示:2024にも展示掲載済み。既存方式の実装例であり2026新規とはしない</a:t>
            </a:r>
          </a:p>
          <a:p xmlns:a="http://schemas.openxmlformats.org/drawingml/2006/main">
            <a:r>
              <a:t/>
            </a:r>
          </a:p>
          <a:p xmlns:a="http://schemas.openxmlformats.org/drawingml/2006/main">
            <a:r>
              <a:t>EOV-V034-2024-1 JIMTOF2024公式カタログ：Wintech Automation Co., Ltd. (E7025)</a:t>
            </a:r>
          </a:p>
          <a:p xmlns:a="http://schemas.openxmlformats.org/drawingml/2006/main">
            <a:r>
              <a:t>https://www.jimtof.org/2024/search/jp/ESdetails?e=-09Q4AWJx1E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EOV-V034-2026-1 JIMTOF2026公式カタログ：Wintech Automation Co., Ltd (W3051)</a:t>
            </a:r>
          </a:p>
          <a:p xmlns:a="http://schemas.openxmlformats.org/drawingml/2006/main">
            <a:r>
              <a:t>https://www.jimtof.org/search/jp/ESdetails?e=lMk3zNvQJbg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EEX-EXH-2026-a0cbad27ea34d7c4 JIMTOF2026公式出展説明：株式会社サイバーRC (E7074)</a:t>
            </a:r>
          </a:p>
          <a:p xmlns:a="http://schemas.openxmlformats.org/drawingml/2006/main">
            <a:r>
              <a:t>https://www.jimtof.org/search/jp/ESdetails?e=8ealehgmk8o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EEX-EXH-2024-76ac534a229f7c29 JIMTOF2024公式出展説明：株式会社サイバーRC (W3046)</a:t>
            </a:r>
          </a:p>
          <a:p xmlns:a="http://schemas.openxmlformats.org/drawingml/2006/main">
            <a:r>
              <a:t>https://www.jimtof.org/2024/search/jp/ESdetails?e=wk2AEX5rHpw</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EDP-02 GH5総合カタログ</a:t>
            </a:r>
          </a:p>
          <a:p xmlns:a="http://schemas.openxmlformats.org/drawingml/2006/main">
            <a:r>
              <a:t>https://cyber-rc.com/wp-content/uploads/2025/10/%E7%B7%8F%E5%90%88%E3%82%AB%E3%82%BF%E3%83%AD%E3%82%B0420-x-297-mm%E6%A8%AA%E4%B8%A6%E3%81%B3-.pdf</a:t>
            </a:r>
          </a:p>
          <a:p xmlns:a="http://schemas.openxmlformats.org/drawingml/2006/main">
            <a:r>
              <a:t>該当箇所:GRISTAR HONING 5 AXIS／幅・角度設定、Robot Eye、自動調整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EOV-V021-2026-1 JIMTOF2026公式カタログ：株式会社ＨＡＣＡＲＵＳ (S1031)</a:t>
            </a:r>
          </a:p>
          <a:p xmlns:a="http://schemas.openxmlformats.org/drawingml/2006/main">
            <a:r>
              <a:t>https://www.jimtof.org/search/jp/ESdetails?e=oatArsOZ-Wc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EOV-W06 AI外観検査ソリューション HACARUS Check</a:t>
            </a:r>
          </a:p>
          <a:p xmlns:a="http://schemas.openxmlformats.org/drawingml/2006/main">
            <a:r>
              <a:t>https://hacarus.com/ja/technology/hacarus-check-series/</a:t>
            </a:r>
          </a:p>
          <a:p xmlns:a="http://schemas.openxmlformats.org/drawingml/2006/main">
            <a:r>
              <a:t>該当箇所:2026.04.06本文</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展示:メーカー製品説明。独立評価の精度ではない</a:t>
            </a:r>
          </a:p>
          <a:p xmlns:a="http://schemas.openxmlformats.org/drawingml/2006/main">
            <a:r>
              <a:t/>
            </a:r>
          </a:p>
          <a:p xmlns:a="http://schemas.openxmlformats.org/drawingml/2006/main">
            <a:r>
              <a:t>EDP-14 Check ZERO正式販売開始</a:t>
            </a:r>
          </a:p>
          <a:p xmlns:a="http://schemas.openxmlformats.org/drawingml/2006/main">
            <a:r>
              <a:t>https://hacarus.com/ja/press-release/20250707-news/</a:t>
            </a:r>
          </a:p>
          <a:p xmlns:a="http://schemas.openxmlformats.org/drawingml/2006/main">
            <a:r>
              <a:t>該当箇所:2025/7/9販売／良品学習とアノテーション追加学習／判定UI</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EDP-15 Checkシリーズ公式製品説明</a:t>
            </a:r>
          </a:p>
          <a:p xmlns:a="http://schemas.openxmlformats.org/drawingml/2006/main">
            <a:r>
              <a:t>https://check.hacarus.com/ja/</a:t>
            </a:r>
          </a:p>
          <a:p xmlns:a="http://schemas.openxmlformats.org/drawingml/2006/main">
            <a:r>
              <a:t>該当箇所:Check ZERO／デュアルチューニング／機器構成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ERF-05 Check ZERO公式ソフトウェア説明</a:t>
            </a:r>
          </a:p>
          <a:p xmlns:a="http://schemas.openxmlformats.org/drawingml/2006/main">
            <a:r>
              <a:t>https://check.hacarus.com/ja/aisoftware/</a:t>
            </a:r>
          </a:p>
          <a:p xmlns:a="http://schemas.openxmlformats.org/drawingml/2006/main">
            <a:r>
              <a:t>該当箇所:特徴／異常箇所表示・良否アノテーション追加学習</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EOV-V022-2024-1 JIMTOF2024公式カタログ：日東商事株式会社 (E5040)</a:t>
            </a:r>
          </a:p>
          <a:p xmlns:a="http://schemas.openxmlformats.org/drawingml/2006/main">
            <a:r>
              <a:t>https://www.jimtof.org/2024/search/jp/ESdetails?e=S23RMUbJOQs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EOV-V022-2026-1 JIMTOF2026公式カタログ：日東商事株式会社 (S1031)</a:t>
            </a:r>
          </a:p>
          <a:p xmlns:a="http://schemas.openxmlformats.org/drawingml/2006/main">
            <a:r>
              <a:t>https://www.jimtof.org/search/jp/ESdetails?e=GozGZRxlviw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EOV-V019-2024-1 JIMTOF2024公式カタログ：ブルーム-ノボテスト株式会社 (E7132)</a:t>
            </a:r>
          </a:p>
          <a:p xmlns:a="http://schemas.openxmlformats.org/drawingml/2006/main">
            <a:r>
              <a:t>https://www.jimtof.org/2024/search/jp/ESdetails?e=Zz8BlB0Ylio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EOV-V019-2026-1 JIMTOF2026公式カタログ：ブルーム-ノボテスト株式会社 (E7084)</a:t>
            </a:r>
          </a:p>
          <a:p xmlns:a="http://schemas.openxmlformats.org/drawingml/2006/main">
            <a:r>
              <a:t>https://www.jimtof.org/search/jp/ESdetails?e=_njqMb9vBpc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EOV-V024-2024-1 JIMTOF2024公式カタログ：モリマシナリー株式会社 (S3017)</a:t>
            </a:r>
          </a:p>
          <a:p xmlns:a="http://schemas.openxmlformats.org/drawingml/2006/main">
            <a:r>
              <a:t>https://www.jimtof.org/2024/search/jp/ESdetails?e=yEoPl5sH6Sg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EOV-V024-2026-1 JIMTOF2026公式カタログ：モリマシナリー株式会社 (S3048)</a:t>
            </a:r>
          </a:p>
          <a:p xmlns:a="http://schemas.openxmlformats.org/drawingml/2006/main">
            <a:r>
              <a:t>https://www.jimtof.org/search/jp/ESdetails?e=ZvT3Lci-hnM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EDP-12 TOOL SOMMELIER／TOOL COLLAGE</a:t>
            </a:r>
          </a:p>
          <a:p xmlns:a="http://schemas.openxmlformats.org/drawingml/2006/main">
            <a:r>
              <a:t>https://mori-machinery.com/en/product/tool-sommelier?post_id=1066</a:t>
            </a:r>
          </a:p>
          <a:p xmlns:a="http://schemas.openxmlformats.org/drawingml/2006/main">
            <a:r>
              <a:t>該当箇所:刃先撮像・欠け摩耗自動検出／FAQの工具・径制約</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EOV-V023-2024-1 JIMTOF2024公式カタログ：ハイデンハイン株式会社 (E7123)</a:t>
            </a:r>
          </a:p>
          <a:p xmlns:a="http://schemas.openxmlformats.org/drawingml/2006/main">
            <a:r>
              <a:t>https://www.jimtof.org/2024/search/jp/ESdetails?e=GFSwCXSxe9o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EOV-V023-2026-1 JIMTOF2026公式カタログ：ハイデンハイン株式会社 (E7043)</a:t>
            </a:r>
          </a:p>
          <a:p xmlns:a="http://schemas.openxmlformats.org/drawingml/2006/main">
            <a:r>
              <a:t>https://www.jimtof.org/search/jp/ESdetails?e=iohDR5yR9VA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EAT-V043-2024-1 JIMTOF2024公式カタログ：三菱電機株式会社</a:t>
            </a:r>
          </a:p>
          <a:p xmlns:a="http://schemas.openxmlformats.org/drawingml/2006/main">
            <a:r>
              <a:t>https://www.jimtof.org/2024/search/jp/ESdetails?e=30li0vWcseI</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展示:2024当時の説明・事後実演確認ではない</a:t>
            </a:r>
          </a:p>
          <a:p xmlns:a="http://schemas.openxmlformats.org/drawingml/2006/main">
            <a:r>
              <a:t/>
            </a:r>
          </a:p>
          <a:p xmlns:a="http://schemas.openxmlformats.org/drawingml/2006/main">
            <a:r>
              <a:t>EAT-V043-2026-1 JIMTOF2026公式カタログ：三菱電機株式会社</a:t>
            </a:r>
          </a:p>
          <a:p xmlns:a="http://schemas.openxmlformats.org/drawingml/2006/main">
            <a:r>
              <a:t>https://www.jimtof.org/search/jp/ESdetails?e=AjLnzm01WWU</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EOV-W08 工具の欠け・摩耗・寿命を推定するAI研究発表</a:t>
            </a:r>
          </a:p>
          <a:p xmlns:a="http://schemas.openxmlformats.org/drawingml/2006/main">
            <a:r>
              <a:t>https://mori-machinery.com/wp-content/uploads/2023/06/%E7%86%9F%E7%B7%B4%E8%80%85%E3%81%AE%E7%B5%8C%E9%A8%93%E7%9F%A5%E3%82%92%E3%82%82%E3%81%A8%E3%81%AB%E5%88%87%E5%89%8A%E5%B7%A5%E5%85%B7%E3%81%AE%E6%AC%A0%E3%81%91%E3%83%BB%E6%91%A9%E8%80%97%E3%83%BB%E5%AF%BF%E5%91%BD%E3%82%92%E6%8E%A8%E5%AE%9A%E3%81%99%E3%82%8BAI%E3%82%92%E9%96%8B%E7%99%BA.pdf</a:t>
            </a:r>
          </a:p>
          <a:p xmlns:a="http://schemas.openxmlformats.org/drawingml/2006/main">
            <a:r>
              <a:t>該当箇所:2023年6月2日、成果と今後の展望</a:t>
            </a:r>
          </a:p>
          <a:p xmlns:a="http://schemas.openxmlformats.org/drawingml/2006/main">
            <a:r>
              <a:t>確認:2026-10-16</a:t>
            </a:r>
          </a:p>
          <a:p xmlns:a="http://schemas.openxmlformats.org/drawingml/2006/main">
            <a:r>
              <a:t>種類:企業公式資料・メーカー主張</a:t>
            </a:r>
          </a:p>
          <a:p xmlns:a="http://schemas.openxmlformats.org/drawingml/2006/main">
            <a:r>
              <a:t>展示:公式検索の該当箇所で確認。研究段階の数値を商用性能に転用していない</a:t>
            </a:r>
          </a:p>
          <a:p xmlns:a="http://schemas.openxmlformats.org/drawingml/2006/main">
            <a:r>
              <a:t/>
            </a:r>
          </a:p>
          <a:p xmlns:a="http://schemas.openxmlformats.org/drawingml/2006/main">
            <a:r>
              <a:t>EOV-V042-2026-1 JIMTOF2026公式カタログ：興和オプトロニクス株式会社 (S3104)</a:t>
            </a:r>
          </a:p>
          <a:p xmlns:a="http://schemas.openxmlformats.org/drawingml/2006/main">
            <a:r>
              <a:t>https://www.jimtof.org/search/jp/ESdetails?e=v6nw4APC-vQ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EDP-33 RW回転機構付きビジョンユニット</a:t>
            </a:r>
          </a:p>
          <a:p xmlns:a="http://schemas.openxmlformats.org/drawingml/2006/main">
            <a:r>
              <a:t>https://optical.kowa-opt.co.jp/camera-rw/</a:t>
            </a:r>
          </a:p>
          <a:p xmlns:a="http://schemas.openxmlformats.org/drawingml/2006/main">
            <a:r>
              <a:t>該当箇所:ビジョンプロセッサ併用の不良ヒートマップ・切粉巻付きアラート・工具欠損検出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EOV-V020-2024-1 JIMTOF2024公式カタログ：マーポス株式会社 (E7107)</a:t>
            </a:r>
          </a:p>
          <a:p xmlns:a="http://schemas.openxmlformats.org/drawingml/2006/main">
            <a:r>
              <a:t>https://www.jimtof.org/2024/search/jp/ESdetails?e=K8FKaawJkn0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EOV-V020-2026-1 JIMTOF2026公式カタログ：マーポス株式会社 (E7087)</a:t>
            </a:r>
          </a:p>
          <a:p xmlns:a="http://schemas.openxmlformats.org/drawingml/2006/main">
            <a:r>
              <a:t>https://www.jimtof.org/search/jp/ESdetails?e=tThKOA-gm8s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EEX-EXH-2026-19ce238d137fe275 JIMTOF2026公式出展説明：Masterlink (E1050)</a:t>
            </a:r>
          </a:p>
          <a:p xmlns:a="http://schemas.openxmlformats.org/drawingml/2006/main">
            <a:r>
              <a:t>https://www.jimtof.org/search/jp/ESdetails?e=kygm0UxJL-M</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EEX-EXH-2024-a2fae1d1864676d1 JIMTOF2024公式出展説明：Masterlink (E7052)</a:t>
            </a:r>
          </a:p>
          <a:p xmlns:a="http://schemas.openxmlformats.org/drawingml/2006/main">
            <a:r>
              <a:t>https://www.jimtof.org/2024/search/jp/ESdetails?e=58-lhh4o9Oo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EEX-EXH-2026-308c5194f12fe009 JIMTOF2026公式出展説明：ムラテックＣＣＳ株式会社 (E3031)</a:t>
            </a:r>
          </a:p>
          <a:p xmlns:a="http://schemas.openxmlformats.org/drawingml/2006/main">
            <a:r>
              <a:t>https://www.jimtof.org/search/jp/ESdetails?e=Z_SbvK_hxBY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EEX-EXH-2024-b0a94c1cd407ea8a JIMTOF2024公式出展説明：ムラテックCCS株式会社 (E6019)</a:t>
            </a:r>
          </a:p>
          <a:p xmlns:a="http://schemas.openxmlformats.org/drawingml/2006/main">
            <a:r>
              <a:t>https://www.jimtof.org/2024/search/jp/ESdetails?e=2N7pXq5Aehs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EDP-13 AIを用いた故障診断</a:t>
            </a:r>
          </a:p>
          <a:p xmlns:a="http://schemas.openxmlformats.org/drawingml/2006/main">
            <a:r>
              <a:t>https://www.muratec.jp/company/ti/rd/detail.php?id=7540</a:t>
            </a:r>
          </a:p>
          <a:p xmlns:a="http://schemas.openxmlformats.org/drawingml/2006/main">
            <a:r>
              <a:t>該当箇所:電流・振動を新品データと比較／補正入力回数・軸負荷による劣化判定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RPT-EXH-2026-2c48cf1373cedc75 アズビルTACO株式会社 JIMTOF2026</a:t>
            </a:r>
          </a:p>
          <a:p xmlns:a="http://schemas.openxmlformats.org/drawingml/2006/main">
            <a:r>
              <a:t>https://www.jimtof.org/search/jp/ESdetails?e=x6DdroBnfSA</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RPT-EXH-2024-2caebd449015630d アズビル株式会社 JIMTOF2024</a:t>
            </a:r>
          </a:p>
          <a:p xmlns:a="http://schemas.openxmlformats.org/drawingml/2006/main">
            <a:r>
              <a:t>https://www.jimtof.org/2024/search/jp/ESdetails?e=7JiCTnsEx48</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EOV-V032-2024-1 JIMTOF2024公式カタログ：日本精工株式会社 (W2026)</a:t>
            </a:r>
          </a:p>
          <a:p xmlns:a="http://schemas.openxmlformats.org/drawingml/2006/main">
            <a:r>
              <a:t>https://www.jimtof.org/2024/search/jp/ESdetails?e=5maDHvHPff8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EOV-V032-2026-1 JIMTOF2026公式カタログ：日本精工株式会社 (W2048)</a:t>
            </a:r>
          </a:p>
          <a:p xmlns:a="http://schemas.openxmlformats.org/drawingml/2006/main">
            <a:r>
              <a:t>https://www.jimtof.org/search/jp/ESdetails?e=hzAGGAi5wL4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"id": "M3",</a:t>
            </a:r>
          </a:p>
          <a:p xmlns:a="http://schemas.openxmlformats.org/drawingml/2006/main">
            <a:r>
              <a:t>  "name": "多品種の付帯作業を担うフィジカルAI",</a:t>
            </a:r>
          </a:p>
          <a:p xmlns:a="http://schemas.openxmlformats.org/drawingml/2006/main">
            <a:r>
              <a:t>  "basis": [</a:t>
            </a:r>
          </a:p>
          <a:p xmlns:a="http://schemas.openxmlformats.org/drawingml/2006/main">
            <a:r>
              <a:t>    "B10",</a:t>
            </a:r>
          </a:p>
          <a:p xmlns:a="http://schemas.openxmlformats.org/drawingml/2006/main">
            <a:r>
              <a:t>    "B11",</a:t>
            </a:r>
          </a:p>
          <a:p xmlns:a="http://schemas.openxmlformats.org/drawingml/2006/main">
            <a:r>
              <a:t>    "B12",</a:t>
            </a:r>
          </a:p>
          <a:p xmlns:a="http://schemas.openxmlformats.org/drawingml/2006/main">
            <a:r>
              <a:t>    "B17",</a:t>
            </a:r>
          </a:p>
          <a:p xmlns:a="http://schemas.openxmlformats.org/drawingml/2006/main">
            <a:r>
              <a:t>    "B16"</a:t>
            </a:r>
          </a:p>
          <a:p xmlns:a="http://schemas.openxmlformats.org/drawingml/2006/main">
            <a:r>
              <a:t>  ],</a:t>
            </a:r>
          </a:p>
          <a:p xmlns:a="http://schemas.openxmlformats.org/drawingml/2006/main">
            <a:r>
              <a:t>  "need": "搬入出を自動化しても、切粉除去・バリ取り・段取り替えに人手が残り、品種変更で再教示が必要になる。",</a:t>
            </a:r>
          </a:p>
          <a:p xmlns:a="http://schemas.openxmlformats.org/drawingml/2006/main">
            <a:r>
              <a:t>  "signal": "切粉判断・除去、不定形形状からの加工軌道生成、交換機構や位置復旧の提案が見られる。参考出品も含む。",</a:t>
            </a:r>
          </a:p>
          <a:p xmlns:a="http://schemas.openxmlformats.org/drawingml/2006/main">
            <a:r>
              <a:t>  "position": "汎用人型ロボットへの追随に先立ち、作業を絞った認識・動作・工具機構の統合を候補にする。",</a:t>
            </a:r>
          </a:p>
          <a:p xmlns:a="http://schemas.openxmlformats.org/drawingml/2006/main">
            <a:r>
              <a:t>  "hypothesis": "形状や状態が変わる一方で、設備・工具・対象材を限定できる付帯作業に、実用化を狙う余地がある可能性。",</a:t>
            </a:r>
          </a:p>
          <a:p xmlns:a="http://schemas.openxmlformats.org/drawingml/2006/main">
            <a:r>
              <a:t>  "approach": "3D/画像認識と必要に応じた力・接触情報から作業位置・軌道を作り、交換可能な工具で実行。結果を見て再動作か人の介入を選ぶ。",</a:t>
            </a:r>
          </a:p>
          <a:p xmlns:a="http://schemas.openxmlformats.org/drawingml/2006/main">
            <a:r>
              <a:t>  "existing": "3D認識、自動交換、バリ取り、位置復旧は既存。教示不要や対応形状の限界、提供段階を比較する。",</a:t>
            </a:r>
          </a:p>
          <a:p xmlns:a="http://schemas.openxmlformats.org/drawingml/2006/main">
            <a:r>
              <a:t>  "decision": "切粉処理かバリ取り等の一作業で、固定手順・現行認識方式と比較。異なるワークで再設定がどれだけ減るかを見る。",</a:t>
            </a:r>
          </a:p>
          <a:p xmlns:a="http://schemas.openxmlformats.org/drawingml/2006/main">
            <a:r>
              <a:t>  "metrics": "作業完了率、品種変更時の教示時間、人の介入、タクト",</a:t>
            </a:r>
          </a:p>
          <a:p xmlns:a="http://schemas.openxmlformats.org/drawingml/2006/main">
            <a:r>
              <a:t>  "priority": "重点候補〈分析・仮説〉",</a:t>
            </a:r>
          </a:p>
          <a:p xmlns:a="http://schemas.openxmlformats.org/drawingml/2006/main">
            <a:r>
              <a:t>  "child_ids": [</a:t>
            </a:r>
          </a:p>
          <a:p xmlns:a="http://schemas.openxmlformats.org/drawingml/2006/main">
            <a:r>
              <a:t>    "R3",</a:t>
            </a:r>
          </a:p>
          <a:p xmlns:a="http://schemas.openxmlformats.org/drawingml/2006/main">
            <a:r>
              <a:t>    "R5"</a:t>
            </a:r>
          </a:p>
          <a:p xmlns:a="http://schemas.openxmlformats.org/drawingml/2006/main">
            <a:r>
              <a:t>  ],</a:t>
            </a:r>
          </a:p>
          <a:p xmlns:a="http://schemas.openxmlformats.org/drawingml/2006/main">
            <a:r>
              <a:t>  "technical_approach": "3D/画像認識と必要に応じた力・接触情報から作業位置・軌道を作り、交換可能な工具で実行。結果を見て再動作か人の介入を選ぶ。"</a:t>
            </a:r>
          </a:p>
          <a:p xmlns:a="http://schemas.openxmlformats.org/drawingml/2006/main">
            <a:r>
              <a:t>}</a:t>
            </a:r>
          </a:p>
          <a:p xmlns:a="http://schemas.openxmlformats.org/drawingml/2006/main">
            <a:r>
              <a:t/>
            </a:r>
          </a:p>
          <a:p xmlns:a="http://schemas.openxmlformats.org/drawingml/2006/main">
            <a:r>
              <a:t>爪・治具・ハンドと位置の段取り</a:t>
            </a:r>
          </a:p>
          <a:p xmlns:a="http://schemas.openxmlformats.org/drawingml/2006/main">
            <a:r>
              <a:t>B10-1 松本機械工業株式会社 / Smart Terrace Adv／爪・CAPTO工具の交換 / W2070</a:t>
            </a:r>
          </a:p>
          <a:p xmlns:a="http://schemas.openxmlformats.org/drawingml/2006/main">
            <a:r>
              <a:t>対象:爪・工具等を交換して段取りを変える</a:t>
            </a:r>
          </a:p>
          <a:p xmlns:a="http://schemas.openxmlformats.org/drawingml/2006/main">
            <a:r>
              <a:t>公式要約:Smart Terrace Advは爪等の交換。寸法入力から動作を設定。</a:t>
            </a:r>
          </a:p>
          <a:p xmlns:a="http://schemas.openxmlformats.org/drawingml/2006/main">
            <a:r>
              <a:t>年度:CAPTO等の交換は2024初披露済み。2026はAdv構成等に注目。</a:t>
            </a:r>
          </a:p>
          <a:p xmlns:a="http://schemas.openxmlformats.org/drawingml/2006/main">
            <a:r>
              <a:t>人・未確認:人が寸法入力。初期プログラムはメーカーが組込み。</a:t>
            </a:r>
          </a:p>
          <a:p xmlns:a="http://schemas.openxmlformats.org/drawingml/2006/main">
            <a:r>
              <a:t>Evidence:EEX-EXH-2026-0daa587f8abf6076,EEX-EXH-2024-1dc10e3b594ed9d8,EDP-26,EDP-27,EDP-28</a:t>
            </a:r>
          </a:p>
          <a:p xmlns:a="http://schemas.openxmlformats.org/drawingml/2006/main">
            <a:r>
              <a:t/>
            </a:r>
          </a:p>
          <a:p xmlns:a="http://schemas.openxmlformats.org/drawingml/2006/main">
            <a:r>
              <a:t>B10-2 イマオコーポレーション / ナットランナー治具 / W2001</a:t>
            </a:r>
          </a:p>
          <a:p xmlns:a="http://schemas.openxmlformats.org/drawingml/2006/main">
            <a:r>
              <a:t>対象:加工前にワークを治具へ固定する</a:t>
            </a:r>
          </a:p>
          <a:p xmlns:a="http://schemas.openxmlformats.org/drawingml/2006/main">
            <a:r>
              <a:t>公式要約:ナットランナーとメカ機構でワークを締結する治具。</a:t>
            </a:r>
          </a:p>
          <a:p xmlns:a="http://schemas.openxmlformats.org/drawingml/2006/main">
            <a:r>
              <a:t>年度:2024も具体治具あり。2026は種類追加を記載。</a:t>
            </a:r>
          </a:p>
          <a:p xmlns:a="http://schemas.openxmlformats.org/drawingml/2006/main">
            <a:r>
              <a:t>人・未確認:人が治具・フック等を設計選定。着座・締結異常の扱いは未確認。</a:t>
            </a:r>
          </a:p>
          <a:p xmlns:a="http://schemas.openxmlformats.org/drawingml/2006/main">
            <a:r>
              <a:t>Evidence:EOV-V025-2024-1,EOV-V025-2026-1,EDP-30,EDP-32</a:t>
            </a:r>
          </a:p>
          <a:p xmlns:a="http://schemas.openxmlformats.org/drawingml/2006/main">
            <a:r>
              <a:t/>
            </a:r>
          </a:p>
          <a:p xmlns:a="http://schemas.openxmlformats.org/drawingml/2006/main">
            <a:r>
              <a:t>B10-3 中村留精密工業 / RoboSync：移設後の位置復旧 / E2027</a:t>
            </a:r>
          </a:p>
          <a:p xmlns:a="http://schemas.openxmlformats.org/drawingml/2006/main">
            <a:r>
              <a:t>対象:移設したロボットの位置を復旧する</a:t>
            </a:r>
          </a:p>
          <a:p xmlns:a="http://schemas.openxmlformats.org/drawingml/2006/main">
            <a:r>
              <a:t>公式要約:RoboSyncは移設後にマーカーを読み相対位置を補正。</a:t>
            </a:r>
          </a:p>
          <a:p xmlns:a="http://schemas.openxmlformats.org/drawingml/2006/main">
            <a:r>
              <a:t>年度:2026は位置復旧を具体説明。同一機能の2024版は未確認。</a:t>
            </a:r>
          </a:p>
          <a:p xmlns:a="http://schemas.openxmlformats.org/drawingml/2006/main">
            <a:r>
              <a:t>人・未確認:人の移設・復旧操作を含む。未知トラブルの自律復帰とは別。</a:t>
            </a:r>
          </a:p>
          <a:p xmlns:a="http://schemas.openxmlformats.org/drawingml/2006/main">
            <a:r>
              <a:t>Evidence:EOV-V029-2024-1,EOV-V029-2026-1,EOV-W04</a:t>
            </a:r>
          </a:p>
          <a:p xmlns:a="http://schemas.openxmlformats.org/drawingml/2006/main">
            <a:r>
              <a:t/>
            </a:r>
          </a:p>
          <a:p xmlns:a="http://schemas.openxmlformats.org/drawingml/2006/main">
            <a:r>
              <a:t>B10-4 共立精機株式会社 / 全自動計測システム　HP-6040V-FA / W2025</a:t>
            </a:r>
          </a:p>
          <a:p xmlns:a="http://schemas.openxmlformats.org/drawingml/2006/main">
            <a:r>
              <a:t>対象:工具を測定・調整し、交換する段取り</a:t>
            </a:r>
          </a:p>
          <a:p xmlns:a="http://schemas.openxmlformats.org/drawingml/2006/main">
            <a:r>
              <a:t>公式要約:工具の交換、突き出し量調整、刃先測定を連続自動化し、インサート交換装置も展示。</a:t>
            </a:r>
          </a:p>
          <a:p xmlns:a="http://schemas.openxmlformats.org/drawingml/2006/main">
            <a:r>
              <a:t>年度:HP-6040V-FAによる工具段取り自動化は2024にも記載。2026は交換工程等を具体説明。</a:t>
            </a:r>
          </a:p>
          <a:p xmlns:a="http://schemas.openxmlformats.org/drawingml/2006/main">
            <a:r>
              <a:t>人・未確認:工具・チップの補給や品種設定、不良時の復旧は要確認。</a:t>
            </a:r>
          </a:p>
          <a:p xmlns:a="http://schemas.openxmlformats.org/drawingml/2006/main">
            <a:r>
              <a:t>Evidence:EEX-EXH-2026-1c8938d47b63e4bb,EEX-EXH-2024-3a9bfb48fcb6542c</a:t>
            </a:r>
          </a:p>
          <a:p xmlns:a="http://schemas.openxmlformats.org/drawingml/2006/main">
            <a:r>
              <a:t/>
            </a:r>
          </a:p>
          <a:p xmlns:a="http://schemas.openxmlformats.org/drawingml/2006/main">
            <a:r>
              <a:t>ワーク・パレット・切粉の搬送</a:t>
            </a:r>
          </a:p>
          <a:p xmlns:a="http://schemas.openxmlformats.org/drawingml/2006/main">
            <a:r>
              <a:t>B11-1 DMG森精機 / MATRIS WPH 210 / E8005</a:t>
            </a:r>
          </a:p>
          <a:p xmlns:a="http://schemas.openxmlformats.org/drawingml/2006/main">
            <a:r>
              <a:t>対象:ワークとパレットを加工機へ供給する</a:t>
            </a:r>
          </a:p>
          <a:p xmlns:a="http://schemas.openxmlformats.org/drawingml/2006/main">
            <a:r>
              <a:t>公式要約:MATRIS WPH 210がワークとパレット両方を供給。</a:t>
            </a:r>
          </a:p>
          <a:p xmlns:a="http://schemas.openxmlformats.org/drawingml/2006/main">
            <a:r>
              <a:t>年度:2024のPH Cell等に対しWPH 210を日本初公開と記載。</a:t>
            </a:r>
          </a:p>
          <a:p xmlns:a="http://schemas.openxmlformats.org/drawingml/2006/main">
            <a:r>
              <a:t>人・未確認:把持・治具・品種切替の事前準備と異常対応は未確認。</a:t>
            </a:r>
          </a:p>
          <a:p xmlns:a="http://schemas.openxmlformats.org/drawingml/2006/main">
            <a:r>
              <a:t>Evidence:EOV-V001-2024-1,EOV-V001-2026-1</a:t>
            </a:r>
          </a:p>
          <a:p xmlns:a="http://schemas.openxmlformats.org/drawingml/2006/main">
            <a:r>
              <a:t/>
            </a:r>
          </a:p>
          <a:p xmlns:a="http://schemas.openxmlformats.org/drawingml/2006/main">
            <a:r>
              <a:t>B11-2 オークマ / ARMROID／OMR20 / E3028</a:t>
            </a:r>
          </a:p>
          <a:p xmlns:a="http://schemas.openxmlformats.org/drawingml/2006/main">
            <a:r>
              <a:t>対象:加工機へのワーク搬入出を自動化する</a:t>
            </a:r>
          </a:p>
          <a:p xmlns:a="http://schemas.openxmlformats.org/drawingml/2006/main">
            <a:r>
              <a:t>公式要約:ARMROID機内ロボット、OMR20等で工作機械の自動化を構成。</a:t>
            </a:r>
          </a:p>
          <a:p xmlns:a="http://schemas.openxmlformats.org/drawingml/2006/main">
            <a:r>
              <a:t>年度:ARMROID・OMR20は2024にも掲載。2026も継続。</a:t>
            </a:r>
          </a:p>
          <a:p xmlns:a="http://schemas.openxmlformats.org/drawingml/2006/main">
            <a:r>
              <a:t>人・未確認:手動との切替と品種変更の介入範囲は未確認。</a:t>
            </a:r>
          </a:p>
          <a:p xmlns:a="http://schemas.openxmlformats.org/drawingml/2006/main">
            <a:r>
              <a:t>Evidence:EOV-V003-2024-1,EOV-V003-2026-1</a:t>
            </a:r>
          </a:p>
          <a:p xmlns:a="http://schemas.openxmlformats.org/drawingml/2006/main">
            <a:r>
              <a:t/>
            </a:r>
          </a:p>
          <a:p xmlns:a="http://schemas.openxmlformats.org/drawingml/2006/main">
            <a:r>
              <a:t>B11-3 株式会社白山機工 / AMRによる切り屑自動回収 / E2007</a:t>
            </a:r>
          </a:p>
          <a:p xmlns:a="http://schemas.openxmlformats.org/drawingml/2006/main">
            <a:r>
              <a:t>対象:加工機から出る切粉容器を回収する</a:t>
            </a:r>
          </a:p>
          <a:p xmlns:a="http://schemas.openxmlformats.org/drawingml/2006/main">
            <a:r>
              <a:t>公式要約:AMRで切粉容器を回収。実演と模型を併記。</a:t>
            </a:r>
          </a:p>
          <a:p xmlns:a="http://schemas.openxmlformats.org/drawingml/2006/main">
            <a:r>
              <a:t>年度:2024のろ過・集中処理から、2026はAMR回収を追加記載。</a:t>
            </a:r>
          </a:p>
          <a:p xmlns:a="http://schemas.openxmlformats.org/drawingml/2006/main">
            <a:r>
              <a:t>人・未確認:満杯・こぼれ・ドッキング失敗・容器交換の対応は未確認。</a:t>
            </a:r>
          </a:p>
          <a:p xmlns:a="http://schemas.openxmlformats.org/drawingml/2006/main">
            <a:r>
              <a:t>Evidence:EEX-EXH-2026-d8a50e23a9101b11,EEX-EXH-2024-89cb7807f64be75b,EDP-29</a:t>
            </a:r>
          </a:p>
          <a:p xmlns:a="http://schemas.openxmlformats.org/drawingml/2006/main">
            <a:r>
              <a:t/>
            </a:r>
          </a:p>
          <a:p xmlns:a="http://schemas.openxmlformats.org/drawingml/2006/main">
            <a:r>
              <a:t>認識を伴うピック・付帯加工・除去</a:t>
            </a:r>
          </a:p>
          <a:p xmlns:a="http://schemas.openxmlformats.org/drawingml/2006/main">
            <a:r>
              <a:t>B12-1 TAKISAWA / TR-20W：主軸の切粉除去 / E3013</a:t>
            </a:r>
          </a:p>
          <a:p xmlns:a="http://schemas.openxmlformats.org/drawingml/2006/main">
            <a:r>
              <a:t>対象:主軸に絡まった切粉を取り除く</a:t>
            </a:r>
          </a:p>
          <a:p xmlns:a="http://schemas.openxmlformats.org/drawingml/2006/main">
            <a:r>
              <a:t>公式要約:TAKISAWAは切粉の絡まりを判断し主軸の切粉を除去する参考出品。</a:t>
            </a:r>
          </a:p>
          <a:p xmlns:a="http://schemas.openxmlformats.org/drawingml/2006/main">
            <a:r>
              <a:t>年度:2024 TR-20Wは搬入出。2026は切粉除去を追加記載。</a:t>
            </a:r>
          </a:p>
          <a:p xmlns:a="http://schemas.openxmlformats.org/drawingml/2006/main">
            <a:r>
              <a:t>人・未確認:許可動作、除去失敗の検出・再試行・人への引継ぎは未確認。</a:t>
            </a:r>
          </a:p>
          <a:p xmlns:a="http://schemas.openxmlformats.org/drawingml/2006/main">
            <a:r>
              <a:t>Evidence:EOV-V030-2024-1,EOV-V030-2026-1,EAT-N01,EAT-N02,ERF-13</a:t>
            </a:r>
          </a:p>
          <a:p xmlns:a="http://schemas.openxmlformats.org/drawingml/2006/main">
            <a:r>
              <a:t/>
            </a:r>
          </a:p>
          <a:p xmlns:a="http://schemas.openxmlformats.org/drawingml/2006/main">
            <a:r>
              <a:t>B12-2 カネテック株式会社 / マグネットピンセット：AI・2Dカメラ・協働ロボット / W2013</a:t>
            </a:r>
          </a:p>
          <a:p xmlns:a="http://schemas.openxmlformats.org/drawingml/2006/main">
            <a:r>
              <a:t>対象:ばら積みの小径ねじ・小部品を拾う</a:t>
            </a:r>
          </a:p>
          <a:p xmlns:a="http://schemas.openxmlformats.org/drawingml/2006/main">
            <a:r>
              <a:t>公式要約:カメラ・協働ロボット・磁気ピンセットで小径ねじ等をピック。</a:t>
            </a:r>
          </a:p>
          <a:p xmlns:a="http://schemas.openxmlformats.org/drawingml/2006/main">
            <a:r>
              <a:t>年度:同種構成は2024あり。2026はAIを明記、性能増分は不明。</a:t>
            </a:r>
          </a:p>
          <a:p xmlns:a="http://schemas.openxmlformats.org/drawingml/2006/main">
            <a:r>
              <a:t>人・未確認:複数個吸着・空振り等の処理、AI担当の詳細は未公開。</a:t>
            </a:r>
          </a:p>
          <a:p xmlns:a="http://schemas.openxmlformats.org/drawingml/2006/main">
            <a:r>
              <a:t>Evidence:EEX-EXH-2026-30b70a74241de123,EEX-EXH-2024-45415d070f47dc6e,EDP-01</a:t>
            </a:r>
          </a:p>
          <a:p xmlns:a="http://schemas.openxmlformats.org/drawingml/2006/main">
            <a:r>
              <a:t/>
            </a:r>
          </a:p>
          <a:p xmlns:a="http://schemas.openxmlformats.org/drawingml/2006/main">
            <a:r>
              <a:t>B12-3 東京エレクトロンデバイス株式会社 / 3D形状認識・教示不要の面取り／皿もみ / E7073</a:t>
            </a:r>
          </a:p>
          <a:p xmlns:a="http://schemas.openxmlformats.org/drawingml/2006/main">
            <a:r>
              <a:t>対象:不定形ワークの面取り・皿もみを行う</a:t>
            </a:r>
          </a:p>
          <a:p xmlns:a="http://schemas.openxmlformats.org/drawingml/2006/main">
            <a:r>
              <a:t>公式要約:3Dスキャンから不定形ワークを認識し面取り等の軌道を生成。</a:t>
            </a:r>
          </a:p>
          <a:p xmlns:a="http://schemas.openxmlformats.org/drawingml/2006/main">
            <a:r>
              <a:t>年度:2024同名比較不能。2026の具体タスクは確認。</a:t>
            </a:r>
          </a:p>
          <a:p xmlns:a="http://schemas.openxmlformats.org/drawingml/2006/main">
            <a:r>
              <a:t>人・未確認:加工条件設定、干渉確認、誤認識時の停止・品質承認は未公開。</a:t>
            </a:r>
          </a:p>
          <a:p xmlns:a="http://schemas.openxmlformats.org/drawingml/2006/main">
            <a:r>
              <a:t>Evidence:EEX-EXH-2026-8c08de1ffed47316,EEX-WTED</a:t>
            </a:r>
          </a:p>
          <a:p xmlns:a="http://schemas.openxmlformats.org/drawingml/2006/main">
            <a:r>
              <a:t/>
            </a:r>
          </a:p>
          <a:p xmlns:a="http://schemas.openxmlformats.org/drawingml/2006/main">
            <a:r>
              <a:t>B12-4 株式会社ジーベックテクノロジー / XEBEC CPS オートホルダー / WA006</a:t>
            </a:r>
          </a:p>
          <a:p xmlns:a="http://schemas.openxmlformats.org/drawingml/2006/main">
            <a:r>
              <a:t>対象:バリ取り中のブラシ摩耗を補う</a:t>
            </a:r>
          </a:p>
          <a:p xmlns:a="http://schemas.openxmlformats.org/drawingml/2006/main">
            <a:r>
              <a:t>公式要約:ブラシ摩耗に応じて突出し量を自動調整するホルダーを、ロボットのギヤバリ取りに組み合わせる。</a:t>
            </a:r>
          </a:p>
          <a:p xmlns:a="http://schemas.openxmlformats.org/drawingml/2006/main">
            <a:r>
              <a:t>年度:2024はバリ取り自動化工具を紹介。2026は摩耗に伴う人の調整を減らす構成を具体記載。</a:t>
            </a:r>
          </a:p>
          <a:p xmlns:a="http://schemas.openxmlformats.org/drawingml/2006/main">
            <a:r>
              <a:t>人・未確認:加工条件・ブラシ選定と、不良時の調整は要確認。</a:t>
            </a:r>
          </a:p>
          <a:p xmlns:a="http://schemas.openxmlformats.org/drawingml/2006/main">
            <a:r>
              <a:t>Evidence:EEX-EXH-2026-ba283a239e52d644,EEX-EXH-2024-1632c66ef4d28e78</a:t>
            </a:r>
          </a:p>
          <a:p xmlns:a="http://schemas.openxmlformats.org/drawingml/2006/main">
            <a:r>
              <a:t/>
            </a:r>
          </a:p>
          <a:p xmlns:a="http://schemas.openxmlformats.org/drawingml/2006/main">
            <a:r>
              <a:t>デジタルツイン・物理学習用データ</a:t>
            </a:r>
          </a:p>
          <a:p xmlns:a="http://schemas.openxmlformats.org/drawingml/2006/main">
            <a:r>
              <a:t>B16-1 ファナック / FANUC Smart Digital Twin / S2001</a:t>
            </a:r>
          </a:p>
          <a:p xmlns:a="http://schemas.openxmlformats.org/drawingml/2006/main">
            <a:r>
              <a:t>対象:加工前に機械の動きを確かめる</a:t>
            </a:r>
          </a:p>
          <a:p xmlns:a="http://schemas.openxmlformats.org/drawingml/2006/main">
            <a:r>
              <a:t>公式要約:Smart Digital Twinで加工前の挙動確認を支援。</a:t>
            </a:r>
          </a:p>
          <a:p xmlns:a="http://schemas.openxmlformats.org/drawingml/2006/main">
            <a:r>
              <a:t>年度:同名ツインは2024から継続。</a:t>
            </a:r>
          </a:p>
          <a:p xmlns:a="http://schemas.openxmlformats.org/drawingml/2006/main">
            <a:r>
              <a:t>人・未確認:モデルと実機の一致や、検証対象外事象の扱いは未確認。</a:t>
            </a:r>
          </a:p>
          <a:p xmlns:a="http://schemas.openxmlformats.org/drawingml/2006/main">
            <a:r>
              <a:t>Evidence:EOV-V002-2024-1,EOV-V002-2026-1</a:t>
            </a:r>
          </a:p>
          <a:p xmlns:a="http://schemas.openxmlformats.org/drawingml/2006/main">
            <a:r>
              <a:t/>
            </a:r>
          </a:p>
          <a:p xmlns:a="http://schemas.openxmlformats.org/drawingml/2006/main">
            <a:r>
              <a:t>B16-2 シーメンス株式会社 / Digital Thread：工作機械ツイン・工程内品質保証 / E3006</a:t>
            </a:r>
          </a:p>
          <a:p xmlns:a="http://schemas.openxmlformats.org/drawingml/2006/main">
            <a:r>
              <a:t>対象:加工の仮想検証・計測連携を確認する</a:t>
            </a:r>
          </a:p>
          <a:p xmlns:a="http://schemas.openxmlformats.org/drawingml/2006/main">
            <a:r>
              <a:t>公式要約:Tokn工作機械ツイン、Equator品質保証、ヒューマノイドを別展示。</a:t>
            </a:r>
          </a:p>
          <a:p xmlns:a="http://schemas.openxmlformats.org/drawingml/2006/main">
            <a:r>
              <a:t>年度:Toknの仮想訓練は2024完了の公式事例あり。</a:t>
            </a:r>
          </a:p>
          <a:p xmlns:a="http://schemas.openxmlformats.org/drawingml/2006/main">
            <a:r>
              <a:t>人・未確認:海外HMND実証とJIMTOFの機体・タスクの同一性は未確認。</a:t>
            </a:r>
          </a:p>
          <a:p xmlns:a="http://schemas.openxmlformats.org/drawingml/2006/main">
            <a:r>
              <a:t>Evidence:EEX-EXH-2026-9b991dd8132f51dc,EEX-EXH-2024-558faea07a73f5d8,EDP-16,EDP-17</a:t>
            </a:r>
          </a:p>
          <a:p xmlns:a="http://schemas.openxmlformats.org/drawingml/2006/main">
            <a:r>
              <a:t/>
            </a:r>
          </a:p>
          <a:p xmlns:a="http://schemas.openxmlformats.org/drawingml/2006/main">
            <a:r>
              <a:t>B16-3 NdotLight Co., Ltd. / TRINIX：CADから物理シミュレーション用データ生成 / S4004</a:t>
            </a:r>
          </a:p>
          <a:p xmlns:a="http://schemas.openxmlformats.org/drawingml/2006/main">
            <a:r>
              <a:t>対象:物理シミュレーション用の3Dデータを作る</a:t>
            </a:r>
          </a:p>
          <a:p xmlns:a="http://schemas.openxmlformats.org/drawingml/2006/main">
            <a:r>
              <a:t>公式要約:TRINIXはCADから形状・物理属性等を生成し検証・自己修正を説明。</a:t>
            </a:r>
          </a:p>
          <a:p xmlns:a="http://schemas.openxmlformats.org/drawingml/2006/main">
            <a:r>
              <a:t>年度:2024同名比較不能。DexBenchは共同開発告知で完成済み標準とはしない。</a:t>
            </a:r>
          </a:p>
          <a:p xmlns:a="http://schemas.openxmlformats.org/drawingml/2006/main">
            <a:r>
              <a:t>人・未確認:実測値と推定値の区別、人の承認、収束しない時の対応は未公開。</a:t>
            </a:r>
          </a:p>
          <a:p xmlns:a="http://schemas.openxmlformats.org/drawingml/2006/main">
            <a:r>
              <a:t>Evidence:EEX-EXH-2026-016097f87d1914b2,EEX-WNDOT,ERF-06,ERF-07,ERF-08,ERF-09</a:t>
            </a:r>
          </a:p>
          <a:p xmlns:a="http://schemas.openxmlformats.org/drawingml/2006/main">
            <a:r>
              <a:t/>
            </a:r>
          </a:p>
          <a:p xmlns:a="http://schemas.openxmlformats.org/drawingml/2006/main">
            <a:r>
              <a:t>展示段階と自律化の境界</a:t>
            </a:r>
          </a:p>
          <a:p xmlns:a="http://schemas.openxmlformats.org/drawingml/2006/main">
            <a:r>
              <a:t>B17-1 ファナック / 生成AIによるロボット駆動 / S2001</a:t>
            </a:r>
          </a:p>
          <a:p xmlns:a="http://schemas.openxmlformats.org/drawingml/2006/main">
            <a:r>
              <a:t>対象:指示からロボットを動かす（具体作業未公表）</a:t>
            </a:r>
          </a:p>
          <a:p xmlns:a="http://schemas.openxmlformats.org/drawingml/2006/main">
            <a:r>
              <a:t>公式要約:ファナックは生成AIによるロボット駆動事例を展示予定。</a:t>
            </a:r>
          </a:p>
          <a:p xmlns:a="http://schemas.openxmlformats.org/drawingml/2006/main">
            <a:r>
              <a:t>年度:2024はAIバラ積み等。2026は生成AI駆動を追加記載。</a:t>
            </a:r>
          </a:p>
          <a:p xmlns:a="http://schemas.openxmlformats.org/drawingml/2006/main">
            <a:r>
              <a:t>人・未確認:機体・対象タスク・教示・停止・承認の具体範囲は未確認。</a:t>
            </a:r>
          </a:p>
          <a:p xmlns:a="http://schemas.openxmlformats.org/drawingml/2006/main">
            <a:r>
              <a:t>Evidence:EOV-V002-2024-1,EOV-V002-2026-1</a:t>
            </a:r>
          </a:p>
          <a:p xmlns:a="http://schemas.openxmlformats.org/drawingml/2006/main">
            <a:r>
              <a:t/>
            </a:r>
          </a:p>
          <a:p xmlns:a="http://schemas.openxmlformats.org/drawingml/2006/main">
            <a:r>
              <a:t>B17-2 東京貿易テクノシステム / RBY Series 双腕移動ヒューマノイド / E7038</a:t>
            </a:r>
          </a:p>
          <a:p xmlns:a="http://schemas.openxmlformats.org/drawingml/2006/main">
            <a:r>
              <a:t>対象:双腕人型ロボットを遠隔操作・教示する</a:t>
            </a:r>
          </a:p>
          <a:p xmlns:a="http://schemas.openxmlformats.org/drawingml/2006/main">
            <a:r>
              <a:t>公式要約:RBY双腕移動ヒューマノイドはテレオペと作業教示の参考出展。</a:t>
            </a:r>
          </a:p>
          <a:p xmlns:a="http://schemas.openxmlformats.org/drawingml/2006/main">
            <a:r>
              <a:t>年度:2024の個別差は未照合。</a:t>
            </a:r>
          </a:p>
          <a:p xmlns:a="http://schemas.openxmlformats.org/drawingml/2006/main">
            <a:r>
              <a:t>人・未確認:人が遠隔操作・教示。自律作業の範囲は未確認。</a:t>
            </a:r>
          </a:p>
          <a:p xmlns:a="http://schemas.openxmlformats.org/drawingml/2006/main">
            <a:r>
              <a:t>Evidence:RPT-EXH-2026-d7b599b5d3045611,RPT-EXH-2024-5cbad6b0326d2bee</a:t>
            </a:r>
          </a:p>
          <a:p xmlns:a="http://schemas.openxmlformats.org/drawingml/2006/main">
            <a:r>
              <a:t/>
            </a:r>
          </a:p>
          <a:p xmlns:a="http://schemas.openxmlformats.org/drawingml/2006/main">
            <a:r>
              <a:t>B17-3 神崎高級工機 / FD100 ギヤチェッカー / E1071</a:t>
            </a:r>
          </a:p>
          <a:p xmlns:a="http://schemas.openxmlformats.org/drawingml/2006/main">
            <a:r>
              <a:t>対象:歯車の加工前状態を測り段取りを助ける</a:t>
            </a:r>
          </a:p>
          <a:p xmlns:a="http://schemas.openxmlformats.org/drawingml/2006/main">
            <a:r>
              <a:t>公式要約:FD100に歯合わせ・前加工計測。計測による条件最適化は開発中。</a:t>
            </a:r>
          </a:p>
          <a:p xmlns:a="http://schemas.openxmlformats.org/drawingml/2006/main">
            <a:r>
              <a:t>年度:2024の構造改善等に対し段取りを具体化。開発中を実用済みとしない。</a:t>
            </a:r>
          </a:p>
          <a:p xmlns:a="http://schemas.openxmlformats.org/drawingml/2006/main">
            <a:r>
              <a:t>人・未確認:最適化方式と人の承認、自動反映範囲は未公表。</a:t>
            </a:r>
          </a:p>
          <a:p xmlns:a="http://schemas.openxmlformats.org/drawingml/2006/main">
            <a:r>
              <a:t>Evidence:RPT-EXH-2026-91aa8dd094a4a7b2,RPT-EXH-2024-50a402f6bcce2ab8</a:t>
            </a:r>
          </a:p>
          <a:p xmlns:a="http://schemas.openxmlformats.org/drawingml/2006/main">
            <a:r>
              <a:t/>
            </a:r>
          </a:p>
          <a:p xmlns:a="http://schemas.openxmlformats.org/drawingml/2006/main">
            <a:r>
              <a:t>原典</a:t>
            </a:r>
          </a:p>
          <a:p xmlns:a="http://schemas.openxmlformats.org/drawingml/2006/main">
            <a:r>
              <a:t>EEX-EXH-2026-0daa587f8abf6076 JIMTOF2026公式出展説明：松本機械工業株式会社 (W2070)</a:t>
            </a:r>
          </a:p>
          <a:p xmlns:a="http://schemas.openxmlformats.org/drawingml/2006/main">
            <a:r>
              <a:t>https://www.jimtof.org/search/jp/ESdetails?e=bhpEIIjKNb4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EEX-EXH-2024-1dc10e3b594ed9d8 JIMTOF2024公式出展説明：松本機械工業株式会社 (W2055)</a:t>
            </a:r>
          </a:p>
          <a:p xmlns:a="http://schemas.openxmlformats.org/drawingml/2006/main">
            <a:r>
              <a:t>https://www.jimtof.org/2024/search/jp/ESdetails?e=1cGhqW04Qes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EDP-26 Smart Terrace Adv</a:t>
            </a:r>
          </a:p>
          <a:p xmlns:a="http://schemas.openxmlformats.org/drawingml/2006/main">
            <a:r>
              <a:t>https://mmkchuck.com/product/7218/</a:t>
            </a:r>
          </a:p>
          <a:p xmlns:a="http://schemas.openxmlformats.org/drawingml/2006/main">
            <a:r>
              <a:t>該当箇所:7つの革新／寸法パラメータ入力・出荷時組込プログラム／レトロフィット</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EDP-27 JIMTOF2024出展報告</a:t>
            </a:r>
          </a:p>
          <a:p xmlns:a="http://schemas.openxmlformats.org/drawingml/2006/main">
            <a:r>
              <a:t>https://mmkchuck.com/news/2024/5903/</a:t>
            </a:r>
          </a:p>
          <a:p xmlns:a="http://schemas.openxmlformats.org/drawingml/2006/main">
            <a:r>
              <a:t>該当箇所:爪・ケレ・計測／展示会初披露のCAPTO・MAC</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EDP-28 Smart Terrace関連資料公開</a:t>
            </a:r>
          </a:p>
          <a:p xmlns:a="http://schemas.openxmlformats.org/drawingml/2006/main">
            <a:r>
              <a:t>https://mmkchuck.com/news/2026/7380/</a:t>
            </a:r>
          </a:p>
          <a:p xmlns:a="http://schemas.openxmlformats.org/drawingml/2006/main">
            <a:r>
              <a:t>該当箇所:Advハード単体・ストッカー単体販売への対応</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EOV-V025-2024-1 JIMTOF2024公式カタログ：株式会社イマオコーポレーション (W2002)</a:t>
            </a:r>
          </a:p>
          <a:p xmlns:a="http://schemas.openxmlformats.org/drawingml/2006/main">
            <a:r>
              <a:t>https://www.jimtof.org/2024/search/jp/ESdetails?e=MTYTZ2Km3zM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EOV-V025-2026-1 JIMTOF2026公式カタログ：株式会社イマオコーポレーション (W2001)</a:t>
            </a:r>
          </a:p>
          <a:p xmlns:a="http://schemas.openxmlformats.org/drawingml/2006/main">
            <a:r>
              <a:t>https://www.jimtof.org/search/jp/ESdetails?e=shuDpJLDn-A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EDP-30 ナットランナー治具</a:t>
            </a:r>
          </a:p>
          <a:p xmlns:a="http://schemas.openxmlformats.org/drawingml/2006/main">
            <a:r>
              <a:t>https://www.imao.co.jp/products/nutrunnerclamp.html</a:t>
            </a:r>
          </a:p>
          <a:p xmlns:a="http://schemas.openxmlformats.org/drawingml/2006/main">
            <a:r>
              <a:t>該当箇所:ロボットのナットランナーでクランプ／配管配線不要／手動も可能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EDP-32 JIMTOF2024出展パンフレット</a:t>
            </a:r>
          </a:p>
          <a:p xmlns:a="http://schemas.openxmlformats.org/drawingml/2006/main">
            <a:r>
              <a:t>https://www.imao.co.jp/event-20241105-1110-jimtof/jimtof.pdf</a:t>
            </a:r>
          </a:p>
          <a:p xmlns:a="http://schemas.openxmlformats.org/drawingml/2006/main">
            <a:r>
              <a:t>該当箇所:ナットランナー治具各型式／人でもロボットでも操作可能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EOV-V029-2024-1 JIMTOF2024公式カタログ：中村留精密工業株式会社 (E5033)</a:t>
            </a:r>
          </a:p>
          <a:p xmlns:a="http://schemas.openxmlformats.org/drawingml/2006/main">
            <a:r>
              <a:t>https://www.jimtof.org/2024/search/jp/ESdetails?e=RYK326OoMn4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EOV-V029-2026-1 JIMTOF2026公式カタログ：中村留精密工業株式会社 (E2027)</a:t>
            </a:r>
          </a:p>
          <a:p xmlns:a="http://schemas.openxmlformats.org/drawingml/2006/main">
            <a:r>
              <a:t>https://www.jimtof.org/search/jp/ESdetails?e=C7A_2ZTDXNw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EOV-W04 RoboSync</a:t>
            </a:r>
          </a:p>
          <a:p xmlns:a="http://schemas.openxmlformats.org/drawingml/2006/main">
            <a:r>
              <a:t>https://www.nakamura-tome.co.jp/products/automation/robosync/</a:t>
            </a:r>
          </a:p>
          <a:p xmlns:a="http://schemas.openxmlformats.org/drawingml/2006/main">
            <a:r>
              <a:t>該当箇所:製品の特長 &gt; 簡単復旧、簡単操作</a:t>
            </a:r>
          </a:p>
          <a:p xmlns:a="http://schemas.openxmlformats.org/drawingml/2006/main">
            <a:r>
              <a:t>確認:2026-10-16</a:t>
            </a:r>
          </a:p>
          <a:p xmlns:a="http://schemas.openxmlformats.org/drawingml/2006/main">
            <a:r>
              <a:t>種類:企業公式資料・メーカー主張</a:t>
            </a:r>
          </a:p>
          <a:p xmlns:a="http://schemas.openxmlformats.org/drawingml/2006/main">
            <a:r>
              <a:t>展示:自律的な未知例外復帰の証明ではない</a:t>
            </a:r>
          </a:p>
          <a:p xmlns:a="http://schemas.openxmlformats.org/drawingml/2006/main">
            <a:r>
              <a:t/>
            </a:r>
          </a:p>
          <a:p xmlns:a="http://schemas.openxmlformats.org/drawingml/2006/main">
            <a:r>
              <a:t>EEX-EXH-2026-1c8938d47b63e4bb JIMTOF2026公式出展説明：共立精機株式会社 (W2025)</a:t>
            </a:r>
          </a:p>
          <a:p xmlns:a="http://schemas.openxmlformats.org/drawingml/2006/main">
            <a:r>
              <a:t>https://www.jimtof.org/search/jp/ESdetails?e=9k7ro8sL0VA</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EEX-EXH-2024-3a9bfb48fcb6542c JIMTOF2024公式出展説明：共立精機株式会社 (W2037)</a:t>
            </a:r>
          </a:p>
          <a:p xmlns:a="http://schemas.openxmlformats.org/drawingml/2006/main">
            <a:r>
              <a:t>https://www.jimtof.org/2024/search/jp/ESdetails?e=xT1gIvXxCpQ</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EOV-V001-2024-1 JIMTOF2024公式カタログ：DMG森精機株式会社 (E8001)</a:t>
            </a:r>
          </a:p>
          <a:p xmlns:a="http://schemas.openxmlformats.org/drawingml/2006/main">
            <a:r>
              <a:t>https://www.jimtof.org/2024/search/jp/ESdetails?e=lOXEEpvlXpM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EOV-V001-2026-1 JIMTOF2026公式カタログ：DMG森精機株式会社 (E8005)</a:t>
            </a:r>
          </a:p>
          <a:p xmlns:a="http://schemas.openxmlformats.org/drawingml/2006/main">
            <a:r>
              <a:t>https://www.jimtof.org/search/jp/ESdetails?e=zcqDj1lSkGs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EEX-EXH-2026-d8a50e23a9101b11 JIMTOF2026公式出展説明：株式会社白山機工 (E2007)</a:t>
            </a:r>
          </a:p>
          <a:p xmlns:a="http://schemas.openxmlformats.org/drawingml/2006/main">
            <a:r>
              <a:t>https://www.jimtof.org/search/jp/ESdetails?e=FNFR7REQOl4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EEX-EXH-2024-89cb7807f64be75b JIMTOF2024公式出展説明：株式会社白山機工 (E4038)</a:t>
            </a:r>
          </a:p>
          <a:p xmlns:a="http://schemas.openxmlformats.org/drawingml/2006/main">
            <a:r>
              <a:t>https://www.jimtof.org/2024/search/jp/ESdetails?e=krDglZoYKFc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EDP-29 JIMTOF2026出展告知</a:t>
            </a:r>
          </a:p>
          <a:p xmlns:a="http://schemas.openxmlformats.org/drawingml/2006/main">
            <a:r>
              <a:t>https://www.hakusankiko.co.jp/news/event/8837/</a:t>
            </a:r>
          </a:p>
          <a:p xmlns:a="http://schemas.openxmlformats.org/drawingml/2006/main">
            <a:r>
              <a:t>該当箇所:AMR切り屑回収システムを実演・模型で紹介</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EOV-V030-2024-1 JIMTOF2024公式カタログ：株式会社TAKISAWA (E3013)</a:t>
            </a:r>
          </a:p>
          <a:p xmlns:a="http://schemas.openxmlformats.org/drawingml/2006/main">
            <a:r>
              <a:t>https://www.jimtof.org/2024/search/jp/ESdetails?e=K00DRD-BngA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EOV-V030-2026-1 JIMTOF2026公式カタログ：株式会社TAKISAWA (E3013)</a:t>
            </a:r>
          </a:p>
          <a:p xmlns:a="http://schemas.openxmlformats.org/drawingml/2006/main">
            <a:r>
              <a:t>https://www.jimtof.org/search/jp/ESdetails?e=3dTDRAMwZpM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EAT-N01 JIMTOF2026 TR-20W</a:t>
            </a:r>
          </a:p>
          <a:p xmlns:a="http://schemas.openxmlformats.org/drawingml/2006/main">
            <a:r>
              <a:t>https://www.nidec.com/jp/products/machine-tools/contents/machine-tool-jimtof2026/</a:t>
            </a:r>
          </a:p>
          <a:p xmlns:a="http://schemas.openxmlformats.org/drawingml/2006/main">
            <a:r>
              <a:t>該当箇所:TR-20W：フィジカルAI搭載のロボットシステム（参考出品）</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展示:2026展示予定・参考出品</a:t>
            </a:r>
          </a:p>
          <a:p xmlns:a="http://schemas.openxmlformats.org/drawingml/2006/main">
            <a:r>
              <a:t/>
            </a:r>
          </a:p>
          <a:p xmlns:a="http://schemas.openxmlformats.org/drawingml/2006/main">
            <a:r>
              <a:t>EAT-N02 MGC300開発発表</a:t>
            </a:r>
          </a:p>
          <a:p xmlns:a="http://schemas.openxmlformats.org/drawingml/2006/main">
            <a:r>
              <a:t>https://www.nidec.com/jp/product/news/2024/news1101-03/</a:t>
            </a:r>
          </a:p>
          <a:p xmlns:a="http://schemas.openxmlformats.org/drawingml/2006/main">
            <a:r>
              <a:t>該当箇所:2024年11月1日／MGC300の出展説明</a:t>
            </a:r>
          </a:p>
          <a:p xmlns:a="http://schemas.openxmlformats.org/drawingml/2006/main">
            <a:r>
              <a:t>確認:2026-10-16</a:t>
            </a:r>
          </a:p>
          <a:p xmlns:a="http://schemas.openxmlformats.org/drawingml/2006/main">
            <a:r>
              <a:t>種類:企業公式説明・メーカー主張</a:t>
            </a:r>
          </a:p>
          <a:p xmlns:a="http://schemas.openxmlformats.org/drawingml/2006/main">
            <a:r>
              <a:t>展示:2024当時の予定説明</a:t>
            </a:r>
          </a:p>
          <a:p xmlns:a="http://schemas.openxmlformats.org/drawingml/2006/main">
            <a:r>
              <a:t/>
            </a:r>
          </a:p>
          <a:p xmlns:a="http://schemas.openxmlformats.org/drawingml/2006/main">
            <a:r>
              <a:t>ERF-13 JIMTOF2026：TR-20W参考出品</a:t>
            </a:r>
          </a:p>
          <a:p xmlns:a="http://schemas.openxmlformats.org/drawingml/2006/main">
            <a:r>
              <a:t>https://www.nidec.com/jp/products/machine-tools/contents/machine-tool-jimtof2026/</a:t>
            </a:r>
          </a:p>
          <a:p xmlns:a="http://schemas.openxmlformats.org/drawingml/2006/main">
            <a:r>
              <a:t>該当箇所:TAKISAWA／TR-20W、主軸の切粉認識・判断・除去、参考出品</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EEX-EXH-2026-30b70a74241de123 JIMTOF2026公式出展説明：カネテック株式会社 (W2013)</a:t>
            </a:r>
          </a:p>
          <a:p xmlns:a="http://schemas.openxmlformats.org/drawingml/2006/main">
            <a:r>
              <a:t>https://www.jimtof.org/search/jp/ESdetails?e=ekM3exgIAtc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EEX-EXH-2024-45415d070f47dc6e JIMTOF2024公式出展説明：カネテック株式会社 (W2030)</a:t>
            </a:r>
          </a:p>
          <a:p xmlns:a="http://schemas.openxmlformats.org/drawingml/2006/main">
            <a:r>
              <a:t>https://www.jimtof.org/2024/search/jp/ESdetails?e=ot0Fx36wI0g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EDP-01 MagnetPinset</a:t>
            </a:r>
          </a:p>
          <a:p xmlns:a="http://schemas.openxmlformats.org/drawingml/2006/main">
            <a:r>
              <a:t>https://kanetec.co.jp/lp/MagnetPinset%40LP.html</a:t>
            </a:r>
          </a:p>
          <a:p xmlns:a="http://schemas.openxmlformats.org/drawingml/2006/main">
            <a:r>
              <a:t>該当箇所:小径ネジの課題／JIMTOF2024出展／ネジ整列器</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EEX-EXH-2026-8c08de1ffed47316 JIMTOF2026公式出展説明：東京エレクトロンデバイス株式会社 (E7073)</a:t>
            </a:r>
          </a:p>
          <a:p xmlns:a="http://schemas.openxmlformats.org/drawingml/2006/main">
            <a:r>
              <a:t>https://www.jimtof.org/search/jp/ESdetails?e=c4cChQniAm8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EEX-WTED 企業公式の展示告知</a:t>
            </a:r>
          </a:p>
          <a:p xmlns:a="http://schemas.openxmlformats.org/drawingml/2006/main">
            <a:r>
              <a:t>https://www.inrevium.com/news-event/event/p7331/</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t>
            </a:r>
          </a:p>
          <a:p xmlns:a="http://schemas.openxmlformats.org/drawingml/2006/main">
            <a:r>
              <a:t/>
            </a:r>
          </a:p>
          <a:p xmlns:a="http://schemas.openxmlformats.org/drawingml/2006/main">
            <a:r>
              <a:t>EEX-EXH-2026-ba283a239e52d644 JIMTOF2026公式出展説明：株式会社ジーベックテクノロジー (WA006)</a:t>
            </a:r>
          </a:p>
          <a:p xmlns:a="http://schemas.openxmlformats.org/drawingml/2006/main">
            <a:r>
              <a:t>https://www.jimtof.org/search/jp/ESdetails?e=jbu03Ik4s00</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EEX-EXH-2024-1632c66ef4d28e78 JIMTOF2024公式出展説明：株式会社ジーベックテクノロジー (WA007)</a:t>
            </a:r>
          </a:p>
          <a:p xmlns:a="http://schemas.openxmlformats.org/drawingml/2006/main">
            <a:r>
              <a:t>https://www.jimtof.org/2024/search/jp/ESdetails?e=mnvwVRInyM8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EEX-EXH-2026-9b991dd8132f51dc JIMTOF2026公式出展説明：シーメンス株式会社 (E3006)</a:t>
            </a:r>
          </a:p>
          <a:p xmlns:a="http://schemas.openxmlformats.org/drawingml/2006/main">
            <a:r>
              <a:t>https://www.jimtof.org/search/jp/ESdetails?e=EBIotJu7lrg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EEX-EXH-2024-558faea07a73f5d8 JIMTOF2024公式出展説明：シーメンス株式会社 (E5008)</a:t>
            </a:r>
          </a:p>
          <a:p xmlns:a="http://schemas.openxmlformats.org/drawingml/2006/main">
            <a:r>
              <a:t>https://www.jimtof.org/2024/search/jp/ESdetails?e=nYvFR1vpbuE</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EDP-16 HELLER Toknとデジタルツインの訓練事例</a:t>
            </a:r>
          </a:p>
          <a:p xmlns:a="http://schemas.openxmlformats.org/drawingml/2006/main">
            <a:r>
              <a:t>https://references.siemens.com/en/reference/heller-tokn-digital-twin?id=41137</a:t>
            </a:r>
          </a:p>
          <a:p xmlns:a="http://schemas.openxmlformats.org/drawingml/2006/main">
            <a:r>
              <a:t>該当箇所:Completion: 2024／仮想SINUMERIK ONEと3D機械モデルによる訓練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EDP-17 Humanoidとの工場内物流の運用試験</a:t>
            </a:r>
          </a:p>
          <a:p xmlns:a="http://schemas.openxmlformats.org/drawingml/2006/main">
            <a:r>
              <a:t>https://press.siemens.com/jp/ja/pressrelease/pr-20260416</a:t>
            </a:r>
          </a:p>
          <a:p xmlns:a="http://schemas.openxmlformats.org/drawingml/2006/main">
            <a:r>
              <a:t>該当箇所:HMND 01 Alphaのトート把持・搬送・配置／Jetson Thor・Isaac Sim/Lab</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EEX-EXH-2026-016097f87d1914b2 JIMTOF2026公式出展説明：NdotLight Co., Ltd. (S4004)</a:t>
            </a:r>
          </a:p>
          <a:p xmlns:a="http://schemas.openxmlformats.org/drawingml/2006/main">
            <a:r>
              <a:t>https://www.jimtof.org/search/jp/ESdetails?e=6Ds1v9hxvrY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EEX-WNDOT TRINIX：Physical AI向け3Dデータの企業公式説明</a:t>
            </a:r>
          </a:p>
          <a:p xmlns:a="http://schemas.openxmlformats.org/drawingml/2006/main">
            <a:r>
              <a:t>https://ndotlight.com/newsroom/ndotlight-proposes-a-new-3d-data-standard-for-the-physical-ai-era-with-trinix</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展示:製品の方式説明。JIMTOFの実演範囲とは区別</a:t>
            </a:r>
          </a:p>
          <a:p xmlns:a="http://schemas.openxmlformats.org/drawingml/2006/main">
            <a:r>
              <a:t/>
            </a:r>
          </a:p>
          <a:p xmlns:a="http://schemas.openxmlformats.org/drawingml/2006/main">
            <a:r>
              <a:t>ERF-06 TRINIX：物理属性生成と自己修正</a:t>
            </a:r>
          </a:p>
          <a:p xmlns:a="http://schemas.openxmlformats.org/drawingml/2006/main">
            <a:r>
              <a:t>https://ndotlight.com/</a:t>
            </a:r>
          </a:p>
          <a:p xmlns:a="http://schemas.openxmlformats.org/drawingml/2006/main">
            <a:r>
              <a:t>該当箇所:Physics Injection／Self-corrective Closed Loop／FAQ</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ERF-07 SimReady FAQ：静的検証と実行時検証</a:t>
            </a:r>
          </a:p>
          <a:p xmlns:a="http://schemas.openxmlformats.org/drawingml/2006/main">
            <a:r>
              <a:t>https://docs.omniverse.nvidia.com/simready/latest/simready-faq.html</a:t>
            </a:r>
          </a:p>
          <a:p xmlns:a="http://schemas.openxmlformats.org/drawingml/2006/main">
            <a:r>
              <a:t>該当箇所:What Is the Difference…Foundation；How Do I Validate My Composed Scene…（L526–538）</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ERF-08 SimReady Physics Best Practices</a:t>
            </a:r>
          </a:p>
          <a:p xmlns:a="http://schemas.openxmlformats.org/drawingml/2006/main">
            <a:r>
              <a:t>https://docs.omniverse.nvidia.com/simready/latest/simready-asset-creation/physics-best-practices.html</a:t>
            </a:r>
          </a:p>
          <a:p xmlns:a="http://schemas.openxmlformats.org/drawingml/2006/main">
            <a:r>
              <a:t>該当箇所:Typical USDPhysics Components／Collider、Mass、materialの摩擦・密度・反発</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ERF-09 DexBench共同開発の告知</a:t>
            </a:r>
          </a:p>
          <a:p xmlns:a="http://schemas.openxmlformats.org/drawingml/2006/main">
            <a:r>
              <a:t>https://ndotlight.com/newsroom/ndotlight-to-co-develop-dexbench-a-global-standard-for-humanoid-evaluation-with-nvidia-and-rlwrld</a:t>
            </a:r>
          </a:p>
          <a:p xmlns:a="http://schemas.openxmlformats.org/drawingml/2006/main">
            <a:r>
              <a:t>該当箇所:2026/8/7／SimReady環境・操作評価・sim-to-real gap低減の共同開発</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RPT-EXH-2026-d7b599b5d3045611 東京貿易テクノシステム株式会社 JIMTOF2026</a:t>
            </a:r>
          </a:p>
          <a:p xmlns:a="http://schemas.openxmlformats.org/drawingml/2006/main">
            <a:r>
              <a:t>https://www.jimtof.org/search/jp/ESdetails?e=q65eJorv2LU</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RPT-EXH-2024-5cbad6b0326d2bee 東京貿易テクノシステム株式会社 JIMTOF2024</a:t>
            </a:r>
          </a:p>
          <a:p xmlns:a="http://schemas.openxmlformats.org/drawingml/2006/main">
            <a:r>
              <a:t>https://www.jimtof.org/2024/search/jp/ESdetails?e=RD73EqDannI</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RPT-EXH-2026-91aa8dd094a4a7b2 株式会社神崎高級工機製作所 JIMTOF2026</a:t>
            </a:r>
          </a:p>
          <a:p xmlns:a="http://schemas.openxmlformats.org/drawingml/2006/main">
            <a:r>
              <a:t>https://www.jimtof.org/search/jp/ESdetails?e=bpuT_4Xpv_c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RPT-EXH-2024-50a402f6bcce2ab8 株式会社神崎高級工機製作所 JIMTOF2024</a:t>
            </a:r>
          </a:p>
          <a:p xmlns:a="http://schemas.openxmlformats.org/drawingml/2006/main">
            <a:r>
              <a:t>https://www.jimtof.org/2024/search/jp/ESdetails?e=C7Uh8Jc1Y2s</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"id": "M4",</a:t>
            </a:r>
          </a:p>
          <a:p xmlns:a="http://schemas.openxmlformats.org/drawingml/2006/main">
            <a:r>
              <a:t>  "name": "現場の変化に対応する工場運用AI",</a:t>
            </a:r>
          </a:p>
          <a:p xmlns:a="http://schemas.openxmlformats.org/drawingml/2006/main">
            <a:r>
              <a:t>  "basis": [</a:t>
            </a:r>
          </a:p>
          <a:p xmlns:a="http://schemas.openxmlformats.org/drawingml/2006/main">
            <a:r>
              <a:t>    "B13",</a:t>
            </a:r>
          </a:p>
          <a:p xmlns:a="http://schemas.openxmlformats.org/drawingml/2006/main">
            <a:r>
              <a:t>    "B14",</a:t>
            </a:r>
          </a:p>
          <a:p xmlns:a="http://schemas.openxmlformats.org/drawingml/2006/main">
            <a:r>
              <a:t>    "B15"</a:t>
            </a:r>
          </a:p>
          <a:p xmlns:a="http://schemas.openxmlformats.org/drawingml/2006/main">
            <a:r>
              <a:t>  ],</a:t>
            </a:r>
          </a:p>
          <a:p xmlns:a="http://schemas.openxmlformats.org/drawingml/2006/main">
            <a:r>
              <a:t>  "need": "予定変更や停止のたびに、人が設備・工具・工程の情報を集め、代替案と作業指示を組み直している。",</a:t>
            </a:r>
          </a:p>
          <a:p xmlns:a="http://schemas.openxmlformats.org/drawingml/2006/main">
            <a:r>
              <a:t>  "signal": "保守エージェント、設備情報の意味づけ、計画・工具情報の連携が見られ、データ活用の対象が運用判断へ広がる。",</a:t>
            </a:r>
          </a:p>
          <a:p xmlns:a="http://schemas.openxmlformats.org/drawingml/2006/main">
            <a:r>
              <a:t>  "position": "生産管理を丸ごと置き換えず、工具不足・停止復帰など一つの例外業務で、既存システムをまたぐ支援を候補にする。",</a:t>
            </a:r>
          </a:p>
          <a:p xmlns:a="http://schemas.openxmlformats.org/drawingml/2006/main">
            <a:r>
              <a:t>  "hypothesis": "工場固有の制約と今の設備状態を踏まえ、実行できる代替案を担当者へ渡す部分に開発余地がある可能性。",</a:t>
            </a:r>
          </a:p>
          <a:p xmlns:a="http://schemas.openxmlformats.org/drawingml/2006/main">
            <a:r>
              <a:t>  "approach": "設備・工具・進捗を共通の状態として整理し、過去の対処と制約付き計画を使って選択肢と担当作業を提示。承認後の結果を追跡する。",</a:t>
            </a:r>
          </a:p>
          <a:p xmlns:a="http://schemas.openxmlformats.org/drawingml/2006/main">
            <a:r>
              <a:t>  "existing": "MES、工具管理、承認ワークフロー、遠隔支援は既存。既存エージェントとの重複と利用可能APIは未確認。",</a:t>
            </a:r>
          </a:p>
          <a:p xmlns:a="http://schemas.openxmlformats.org/drawingml/2006/main">
            <a:r>
              <a:t>  "decision": "一つの例外業務で既存運用と比較し、状態取得・操作API・権限が得られる範囲から適用する。",</a:t>
            </a:r>
          </a:p>
          <a:p xmlns:a="http://schemas.openxmlformats.org/drawingml/2006/main">
            <a:r>
              <a:t>  "metrics": "状況確認と再計画の時間、実行できた提案の割合、停止時間、入力負担",</a:t>
            </a:r>
          </a:p>
          <a:p xmlns:a="http://schemas.openxmlformats.org/drawingml/2006/main">
            <a:r>
              <a:t>  "priority": "条件を確認する開発候補〈分析・仮説〉",</a:t>
            </a:r>
          </a:p>
          <a:p xmlns:a="http://schemas.openxmlformats.org/drawingml/2006/main">
            <a:r>
              <a:t>  "child_ids": [</a:t>
            </a:r>
          </a:p>
          <a:p xmlns:a="http://schemas.openxmlformats.org/drawingml/2006/main">
            <a:r>
              <a:t>    "R4"</a:t>
            </a:r>
          </a:p>
          <a:p xmlns:a="http://schemas.openxmlformats.org/drawingml/2006/main">
            <a:r>
              <a:t>  ],</a:t>
            </a:r>
          </a:p>
          <a:p xmlns:a="http://schemas.openxmlformats.org/drawingml/2006/main">
            <a:r>
              <a:t>  "technical_approach": "設備・工具・進捗を共通の状態として整理し、過去の対処と制約付き計画を使って選択肢と担当作業を提示。承認後の結果を追跡する。"</a:t>
            </a:r>
          </a:p>
          <a:p xmlns:a="http://schemas.openxmlformats.org/drawingml/2006/main">
            <a:r>
              <a:t>}</a:t>
            </a:r>
          </a:p>
          <a:p xmlns:a="http://schemas.openxmlformats.org/drawingml/2006/main">
            <a:r>
              <a:t/>
            </a:r>
          </a:p>
          <a:p xmlns:a="http://schemas.openxmlformats.org/drawingml/2006/main">
            <a:r>
              <a:t>現場エージェント・遠隔介入</a:t>
            </a:r>
          </a:p>
          <a:p xmlns:a="http://schemas.openxmlformats.org/drawingml/2006/main">
            <a:r>
              <a:t>B13-1 ベッコフオートメーション / TwinCAT CoAgent for Operations / E2028</a:t>
            </a:r>
          </a:p>
          <a:p xmlns:a="http://schemas.openxmlformats.org/drawingml/2006/main">
            <a:r>
              <a:t>対象:機械のアラーム原因と対処方法を調べる</a:t>
            </a:r>
          </a:p>
          <a:p xmlns:a="http://schemas.openxmlformats.org/drawingml/2006/main">
            <a:r>
              <a:t>公式要約:Operationsは機械データと文書から原因仮説・対処案を作る。</a:t>
            </a:r>
          </a:p>
          <a:p xmlns:a="http://schemas.openxmlformats.org/drawingml/2006/main">
            <a:r>
              <a:t>年度:2024比較不能。製品発表・投入時期要問合せ。</a:t>
            </a:r>
          </a:p>
          <a:p xmlns:a="http://schemas.openxmlformats.org/drawingml/2006/main">
            <a:r>
              <a:t>人・未確認:専門家が制御権保持。毎回承認・書込権限・失敗復帰は未公開。</a:t>
            </a:r>
          </a:p>
          <a:p xmlns:a="http://schemas.openxmlformats.org/drawingml/2006/main">
            <a:r>
              <a:t>Evidence:EOV-V005-2026-1,EAT-N04,EAT-N05,EDP-03,ERF-02</a:t>
            </a:r>
          </a:p>
          <a:p xmlns:a="http://schemas.openxmlformats.org/drawingml/2006/main">
            <a:r>
              <a:t/>
            </a:r>
          </a:p>
          <a:p xmlns:a="http://schemas.openxmlformats.org/drawingml/2006/main">
            <a:r>
              <a:t>B13-2 ソフィックス / SOFIXCAN Fleeter＋AI Forecast：ミニ工場 / E1067</a:t>
            </a:r>
          </a:p>
          <a:p xmlns:a="http://schemas.openxmlformats.org/drawingml/2006/main">
            <a:r>
              <a:t>対象:設備・搬送を連携し予測を活用する</a:t>
            </a:r>
          </a:p>
          <a:p xmlns:a="http://schemas.openxmlformats.org/drawingml/2006/main">
            <a:r>
              <a:t>公式要約:AI Forecastの予測とFleeterの機器連携をミニ工場で紹介。</a:t>
            </a:r>
          </a:p>
          <a:p xmlns:a="http://schemas.openxmlformats.org/drawingml/2006/main">
            <a:r>
              <a:t>年度:Fleeterミニ工場は2025にも予告済み。2026初とはしない。</a:t>
            </a:r>
          </a:p>
          <a:p xmlns:a="http://schemas.openxmlformats.org/drawingml/2006/main">
            <a:r>
              <a:t>人・未確認:予測から指令への権限、通信・搬送失敗時の復帰は未公開。</a:t>
            </a:r>
          </a:p>
          <a:p xmlns:a="http://schemas.openxmlformats.org/drawingml/2006/main">
            <a:r>
              <a:t>Evidence:EOV-V015-2024-1,EOV-V015-2026-1,EDP-21,EDP-22,EDP-23</a:t>
            </a:r>
          </a:p>
          <a:p xmlns:a="http://schemas.openxmlformats.org/drawingml/2006/main">
            <a:r>
              <a:t/>
            </a:r>
          </a:p>
          <a:p xmlns:a="http://schemas.openxmlformats.org/drawingml/2006/main">
            <a:r>
              <a:t>B13-3 パナソニックプロダクションエンジニアリング / X-Area Remote / W3086</a:t>
            </a:r>
          </a:p>
          <a:p xmlns:a="http://schemas.openxmlformats.org/drawingml/2006/main">
            <a:r>
              <a:t>対象:停止した搬送車を人が遠隔で復帰させる</a:t>
            </a:r>
          </a:p>
          <a:p xmlns:a="http://schemas.openxmlformats.org/drawingml/2006/main">
            <a:r>
              <a:t>公式要約:X-Area Remote実証では停止車両を人が遠隔操作して回避。</a:t>
            </a:r>
          </a:p>
          <a:p xmlns:a="http://schemas.openxmlformats.org/drawingml/2006/main">
            <a:r>
              <a:t>年度:2026/7実証で人の担当を具体確認。2024個別比較不能。</a:t>
            </a:r>
          </a:p>
          <a:p xmlns:a="http://schemas.openxmlformats.org/drawingml/2006/main">
            <a:r>
              <a:t>人・未確認:運行担当者が介入。実証はセーフティドライバー搭乗。</a:t>
            </a:r>
          </a:p>
          <a:p xmlns:a="http://schemas.openxmlformats.org/drawingml/2006/main">
            <a:r>
              <a:t>Evidence:EOV-V016-2026-1,EOV-W05,EOV-W09,EDP-24</a:t>
            </a:r>
          </a:p>
          <a:p xmlns:a="http://schemas.openxmlformats.org/drawingml/2006/main">
            <a:r>
              <a:t/>
            </a:r>
          </a:p>
          <a:p xmlns:a="http://schemas.openxmlformats.org/drawingml/2006/main">
            <a:r>
              <a:t>工場データ・計画・資源の連携</a:t>
            </a:r>
          </a:p>
          <a:p xmlns:a="http://schemas.openxmlformats.org/drawingml/2006/main">
            <a:r>
              <a:t>B14-1 WinTool AG / WinTool：工具情報と現物・工程資源の連携 / E1049</a:t>
            </a:r>
          </a:p>
          <a:p xmlns:a="http://schemas.openxmlformats.org/drawingml/2006/main">
            <a:r>
              <a:t>対象:工具情報・所在・在庫を工程と結ぶ</a:t>
            </a:r>
          </a:p>
          <a:p xmlns:a="http://schemas.openxmlformats.org/drawingml/2006/main">
            <a:r>
              <a:t>公式要約:WinToolは工具情報と工程資源を連携。在庫ルールで購買要求。</a:t>
            </a:r>
          </a:p>
          <a:p xmlns:a="http://schemas.openxmlformats.org/drawingml/2006/main">
            <a:r>
              <a:t>年度:工具・CAM・在庫連携は2024から継続。2026は資源の一貫性を強調。</a:t>
            </a:r>
          </a:p>
          <a:p xmlns:a="http://schemas.openxmlformats.org/drawingml/2006/main">
            <a:r>
              <a:t>人・未確認:管理者承認後ERPへ送信。AIによる自律発注とは記載なし。</a:t>
            </a:r>
          </a:p>
          <a:p xmlns:a="http://schemas.openxmlformats.org/drawingml/2006/main">
            <a:r>
              <a:t>Evidence:EEX-EXH-2026-4fb92ba6b82546d7,EEX-EXH-2024-3f1fa1966a57e011,EDP-18,EDP-19</a:t>
            </a:r>
          </a:p>
          <a:p xmlns:a="http://schemas.openxmlformats.org/drawingml/2006/main">
            <a:r>
              <a:t/>
            </a:r>
          </a:p>
          <a:p xmlns:a="http://schemas.openxmlformats.org/drawingml/2006/main">
            <a:r>
              <a:t>B14-2 Smart Craft / Smart Craft MES / S3002</a:t>
            </a:r>
          </a:p>
          <a:p xmlns:a="http://schemas.openxmlformats.org/drawingml/2006/main">
            <a:r>
              <a:t>対象:作業記録・指示・製造履歴を管理する</a:t>
            </a:r>
          </a:p>
          <a:p xmlns:a="http://schemas.openxmlformats.org/drawingml/2006/main">
            <a:r>
              <a:t>公式要約:Smart Craft MESは記録・指示・履歴を一元管理しAPI連携。</a:t>
            </a:r>
          </a:p>
          <a:p xmlns:a="http://schemas.openxmlformats.org/drawingml/2006/main">
            <a:r>
              <a:t>年度:2024個別比較不能。</a:t>
            </a:r>
          </a:p>
          <a:p xmlns:a="http://schemas.openxmlformats.org/drawingml/2006/main">
            <a:r>
              <a:t>人・未確認:AI分析の内容や判断権限、入力作業の残りは未確認。</a:t>
            </a:r>
          </a:p>
          <a:p xmlns:a="http://schemas.openxmlformats.org/drawingml/2006/main">
            <a:r>
              <a:t>Evidence:EOV-V013-2026-1</a:t>
            </a:r>
          </a:p>
          <a:p xmlns:a="http://schemas.openxmlformats.org/drawingml/2006/main">
            <a:r>
              <a:t/>
            </a:r>
          </a:p>
          <a:p xmlns:a="http://schemas.openxmlformats.org/drawingml/2006/main">
            <a:r>
              <a:t>B14-3 ものレボ / MonoRevo：工程計画・スケジューリング / W3042</a:t>
            </a:r>
          </a:p>
          <a:p xmlns:a="http://schemas.openxmlformats.org/drawingml/2006/main">
            <a:r>
              <a:t>対象:工程の順番と生産予定を組む</a:t>
            </a:r>
          </a:p>
          <a:p xmlns:a="http://schemas.openxmlformats.org/drawingml/2006/main">
            <a:r>
              <a:t>公式要約:MonoRevoは工程設計・計画・進捗をまとめ自動計画を支援。</a:t>
            </a:r>
          </a:p>
          <a:p xmlns:a="http://schemas.openxmlformats.org/drawingml/2006/main">
            <a:r>
              <a:t>年度:2024個別比較不能。2026は自動スケジューリングを記載。</a:t>
            </a:r>
          </a:p>
          <a:p xmlns:a="http://schemas.openxmlformats.org/drawingml/2006/main">
            <a:r>
              <a:t>人・未確認:計画制約・再計画確定者・例外対応は未確認。</a:t>
            </a:r>
          </a:p>
          <a:p xmlns:a="http://schemas.openxmlformats.org/drawingml/2006/main">
            <a:r>
              <a:t>Evidence:EOV-V014-2026-1</a:t>
            </a:r>
          </a:p>
          <a:p xmlns:a="http://schemas.openxmlformats.org/drawingml/2006/main">
            <a:r>
              <a:t/>
            </a:r>
          </a:p>
          <a:p xmlns:a="http://schemas.openxmlformats.org/drawingml/2006/main">
            <a:r>
              <a:t>AIモデル作成・機器接続の基盤</a:t>
            </a:r>
          </a:p>
          <a:p xmlns:a="http://schemas.openxmlformats.org/drawingml/2006/main">
            <a:r>
              <a:t>B15-1 ベッコフオートメーション / TwinCAT Machine Learning Creator / E2028</a:t>
            </a:r>
          </a:p>
          <a:p xmlns:a="http://schemas.openxmlformats.org/drawingml/2006/main">
            <a:r>
              <a:t>対象:現場データから判定モデルを作る</a:t>
            </a:r>
          </a:p>
          <a:p xmlns:a="http://schemas.openxmlformats.org/drawingml/2006/main">
            <a:r>
              <a:t>公式要約:ML Creatorは学習・モデル選択を自動化し、解析とONNX出力を支援。</a:t>
            </a:r>
          </a:p>
          <a:p xmlns:a="http://schemas.openxmlformats.org/drawingml/2006/main">
            <a:r>
              <a:t>年度:データ分割・ONNX統合は2024公式資料にも記載。</a:t>
            </a:r>
          </a:p>
          <a:p xmlns:a="http://schemas.openxmlformats.org/drawingml/2006/main">
            <a:r>
              <a:t>人・未確認:人がデータ・注釈・目的を準備。実機採用基準は要確認。</a:t>
            </a:r>
          </a:p>
          <a:p xmlns:a="http://schemas.openxmlformats.org/drawingml/2006/main">
            <a:r>
              <a:t>Evidence:EOV-V005-2026-1,EOV-W01,EDP-04</a:t>
            </a:r>
          </a:p>
          <a:p xmlns:a="http://schemas.openxmlformats.org/drawingml/2006/main">
            <a:r>
              <a:t/>
            </a:r>
          </a:p>
          <a:p xmlns:a="http://schemas.openxmlformats.org/drawingml/2006/main">
            <a:r>
              <a:t>B15-2 たけびし / OPC UA情報モデルとエージェント連携 / S3015</a:t>
            </a:r>
          </a:p>
          <a:p xmlns:a="http://schemas.openxmlformats.org/drawingml/2006/main">
            <a:r>
              <a:t>対象:設備データをAIが扱える形で渡す</a:t>
            </a:r>
          </a:p>
          <a:p xmlns:a="http://schemas.openxmlformats.org/drawingml/2006/main">
            <a:r>
              <a:t>公式要約:OPC UA情報モデルで機器情報をエージェントへ連携する構想。</a:t>
            </a:r>
          </a:p>
          <a:p xmlns:a="http://schemas.openxmlformats.org/drawingml/2006/main">
            <a:r>
              <a:t>年度:2024は多ベンダー接続。2026はAI連携シナリオを追加。</a:t>
            </a:r>
          </a:p>
          <a:p xmlns:a="http://schemas.openxmlformats.org/drawingml/2006/main">
            <a:r>
              <a:t>人・未確認:公開するデータ・メソッド、書込権限、承認と復帰は未確認。</a:t>
            </a:r>
          </a:p>
          <a:p xmlns:a="http://schemas.openxmlformats.org/drawingml/2006/main">
            <a:r>
              <a:t>Evidence:EOV-V011-2024-1,EOV-V011-2026-1,EDP-06</a:t>
            </a:r>
          </a:p>
          <a:p xmlns:a="http://schemas.openxmlformats.org/drawingml/2006/main">
            <a:r>
              <a:t/>
            </a:r>
          </a:p>
          <a:p xmlns:a="http://schemas.openxmlformats.org/drawingml/2006/main">
            <a:r>
              <a:t>B15-3 シーイーシー / Facteye／Resolana / E2006</a:t>
            </a:r>
          </a:p>
          <a:p xmlns:a="http://schemas.openxmlformats.org/drawingml/2006/main">
            <a:r>
              <a:t>対象:既設設備の情報を集め品質と結ぶ</a:t>
            </a:r>
          </a:p>
          <a:p xmlns:a="http://schemas.openxmlformats.org/drawingml/2006/main">
            <a:r>
              <a:t>公式要約:既設設備のデータ収集・可視化を品質やAI利用へ接続。</a:t>
            </a:r>
          </a:p>
          <a:p xmlns:a="http://schemas.openxmlformats.org/drawingml/2006/main">
            <a:r>
              <a:t>年度:収集・対話AIは2024にも説明。2026は連携課題を具体化。</a:t>
            </a:r>
          </a:p>
          <a:p xmlns:a="http://schemas.openxmlformats.org/drawingml/2006/main">
            <a:r>
              <a:t>人・未確認:自動制御や工場全体最適化の実装は未確認。</a:t>
            </a:r>
          </a:p>
          <a:p xmlns:a="http://schemas.openxmlformats.org/drawingml/2006/main">
            <a:r>
              <a:t>Evidence:EOV-V012-2024-1,EOV-V012-2026-1</a:t>
            </a:r>
          </a:p>
          <a:p xmlns:a="http://schemas.openxmlformats.org/drawingml/2006/main">
            <a:r>
              <a:t/>
            </a:r>
          </a:p>
          <a:p xmlns:a="http://schemas.openxmlformats.org/drawingml/2006/main">
            <a:r>
              <a:t>原典</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EAT-N04 CoAgent for Operations TF1700</a:t>
            </a:r>
          </a:p>
          <a:p xmlns:a="http://schemas.openxmlformats.org/drawingml/2006/main">
            <a:r>
              <a:t>https://www.beckhoff.com/ko-kr/products/automation/twincat/tfxxxx-twincat-3-functions/tf1xxx-system/tf1700.html</a:t>
            </a:r>
          </a:p>
          <a:p xmlns:a="http://schemas.openxmlformats.org/drawingml/2006/main">
            <a:r>
              <a:t>該当箇所:Properties／Product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ERF-02 TF1700 CoAgent for Operations</a:t>
            </a:r>
          </a:p>
          <a:p xmlns:a="http://schemas.openxmlformats.org/drawingml/2006/main">
            <a:r>
              <a:t>https://www.beckhoff.com/en-en/products/automation/twincat/tfxxxx-twincat-3-functions/tf1xxx-system/tf1700.html</a:t>
            </a:r>
          </a:p>
          <a:p xmlns:a="http://schemas.openxmlformats.org/drawingml/2006/main">
            <a:r>
              <a:t>該当箇所:Properties／direct system access；Product status／market release on request</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EOV-V015-2024-1 JIMTOF2024公式カタログ：株式会社ソフィックス (E4046)</a:t>
            </a:r>
          </a:p>
          <a:p xmlns:a="http://schemas.openxmlformats.org/drawingml/2006/main">
            <a:r>
              <a:t>https://www.jimtof.org/2024/search/jp/ESdetails?e=WNiUW-E-atY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EOV-V015-2026-1 JIMTOF2026公式カタログ：株式会社ソフィックス (E1067)</a:t>
            </a:r>
          </a:p>
          <a:p xmlns:a="http://schemas.openxmlformats.org/drawingml/2006/main">
            <a:r>
              <a:t>https://www.jimtof.org/search/jp/ESdetails?e=rYRhOM0muPQ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EDP-21 SOFIXCAN AI Forecast</a:t>
            </a:r>
          </a:p>
          <a:p xmlns:a="http://schemas.openxmlformats.org/drawingml/2006/main">
            <a:r>
              <a:t>https://www.sofix.co.jp/products/sofixcan_ai_forecast/</a:t>
            </a:r>
          </a:p>
          <a:p xmlns:a="http://schemas.openxmlformats.org/drawingml/2006/main">
            <a:r>
              <a:t>該当箇所:時系列データ予測／形状領域予測／顧客別予測システム開発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EDP-22 SOFIXCAN Fleeter</a:t>
            </a:r>
          </a:p>
          <a:p xmlns:a="http://schemas.openxmlformats.org/drawingml/2006/main">
            <a:r>
              <a:t>https://www.sofix.co.jp/products/sofixcan_fleeter/</a:t>
            </a:r>
          </a:p>
          <a:p xmlns:a="http://schemas.openxmlformats.org/drawingml/2006/main">
            <a:r>
              <a:t>該当箇所:上位システム命令をトリガーに各機器を制御／通信モジュール追加</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EDP-23 JIMTOF2026告知とミニ工場の過去告知</a:t>
            </a:r>
          </a:p>
          <a:p xmlns:a="http://schemas.openxmlformats.org/drawingml/2006/main">
            <a:r>
              <a:t>https://www.sofix.co.jp/</a:t>
            </a:r>
          </a:p>
          <a:p xmlns:a="http://schemas.openxmlformats.org/drawingml/2006/main">
            <a:r>
              <a:t>該当箇所:2026/9/29告知／2025/11/4国際ロボット展でもミニ工場を予告</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EOV-V016-2026-1 JIMTOF2026公式カタログ：パナソニックプロダクションエンジニアリング株式会社 (W3086)</a:t>
            </a:r>
          </a:p>
          <a:p xmlns:a="http://schemas.openxmlformats.org/drawingml/2006/main">
            <a:r>
              <a:t>https://www.jimtof.org/search/jp/ESdetails?e=5mrMofo3nN8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EOV-W05 X-Area</a:t>
            </a:r>
          </a:p>
          <a:p xmlns:a="http://schemas.openxmlformats.org/drawingml/2006/main">
            <a:r>
              <a:t>https://www.panasonic.com/jp/company/ppe/products/x-area.html</a:t>
            </a:r>
          </a:p>
          <a:p xmlns:a="http://schemas.openxmlformats.org/drawingml/2006/main">
            <a:r>
              <a:t>該当箇所:サービス概要、システム構成</a:t>
            </a:r>
          </a:p>
          <a:p xmlns:a="http://schemas.openxmlformats.org/drawingml/2006/main">
            <a:r>
              <a:t>確認:2026-10-16</a:t>
            </a:r>
          </a:p>
          <a:p xmlns:a="http://schemas.openxmlformats.org/drawingml/2006/main">
            <a:r>
              <a:t>種類:企業公式資料・メーカー主張</a:t>
            </a:r>
          </a:p>
          <a:p xmlns:a="http://schemas.openxmlformats.org/drawingml/2006/main">
            <a:r>
              <a:t>展示:人の介入を含む運用方式。無人運用・同時台数の保証ではない</a:t>
            </a:r>
          </a:p>
          <a:p xmlns:a="http://schemas.openxmlformats.org/drawingml/2006/main">
            <a:r>
              <a:t/>
            </a:r>
          </a:p>
          <a:p xmlns:a="http://schemas.openxmlformats.org/drawingml/2006/main">
            <a:r>
              <a:t>EOV-W09 工場敷地内でのX-Area Remote実証</a:t>
            </a:r>
          </a:p>
          <a:p xmlns:a="http://schemas.openxmlformats.org/drawingml/2006/main">
            <a:r>
              <a:t>https://tech.panasonic.com/jp/td/news/20221124.html</a:t>
            </a:r>
          </a:p>
          <a:p xmlns:a="http://schemas.openxmlformats.org/drawingml/2006/main">
            <a:r>
              <a:t>該当箇所:2022/11/24 NEWS &amp; TOPICS</a:t>
            </a:r>
          </a:p>
          <a:p xmlns:a="http://schemas.openxmlformats.org/drawingml/2006/main">
            <a:r>
              <a:t>確認:2026-10-16</a:t>
            </a:r>
          </a:p>
          <a:p xmlns:a="http://schemas.openxmlformats.org/drawingml/2006/main">
            <a:r>
              <a:t>種類:企業公式資料・メーカー主張</a:t>
            </a:r>
          </a:p>
          <a:p xmlns:a="http://schemas.openxmlformats.org/drawingml/2006/main">
            <a:r>
              <a:t>展示:2024出展比較はできないが、2026に初めて遠隔管制が生まれたという解釈を否定する根拠</a:t>
            </a:r>
          </a:p>
          <a:p xmlns:a="http://schemas.openxmlformats.org/drawingml/2006/main">
            <a:r>
              <a:t/>
            </a:r>
          </a:p>
          <a:p xmlns:a="http://schemas.openxmlformats.org/drawingml/2006/main">
            <a:r>
              <a:t>EDP-24 屋外自動搬送とX-Area Remoteの実証</a:t>
            </a:r>
          </a:p>
          <a:p xmlns:a="http://schemas.openxmlformats.org/drawingml/2006/main">
            <a:r>
              <a:t>https://news.panasonic.com/jp/press/jn260713-1</a:t>
            </a:r>
          </a:p>
          <a:p xmlns:a="http://schemas.openxmlformats.org/drawingml/2006/main">
            <a:r>
              <a:t>該当箇所:障害物停止時に自動運転から人の遠隔操作へ切替／担当者とセーフティドライバー</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EEX-EXH-2026-4fb92ba6b82546d7 JIMTOF2026公式出展説明：WinTool AG (E1049)</a:t>
            </a:r>
          </a:p>
          <a:p xmlns:a="http://schemas.openxmlformats.org/drawingml/2006/main">
            <a:r>
              <a:t>https://www.jimtof.org/search/jp/ESdetails?e=sSFZV23clJo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EEX-EXH-2024-3f1fa1966a57e011 JIMTOF2024公式出展説明：WinTool AG (E5003)</a:t>
            </a:r>
          </a:p>
          <a:p xmlns:a="http://schemas.openxmlformats.org/drawingml/2006/main">
            <a:r>
              <a:t>https://www.jimtof.org/2024/search/jp/ESdetails?e=-n22F1d_CDc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EDP-18 ERP Integration</a:t>
            </a:r>
          </a:p>
          <a:p xmlns:a="http://schemas.openxmlformats.org/drawingml/2006/main">
            <a:r>
              <a:t>https://www.wintool.com/en/tool-management-software/cnc-inventory-manager/erp-integration</a:t>
            </a:r>
          </a:p>
          <a:p xmlns:a="http://schemas.openxmlformats.org/drawingml/2006/main">
            <a:r>
              <a:t>該当箇所:最低在庫で購買要求を生成し、管理者承認後にERPへ自動送信</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EDP-19 CNC Process Manager</a:t>
            </a:r>
          </a:p>
          <a:p xmlns:a="http://schemas.openxmlformats.org/drawingml/2006/main">
            <a:r>
              <a:t>https://www.wintool.com/software/cnc-prozessverwaltung</a:t>
            </a:r>
          </a:p>
          <a:p xmlns:a="http://schemas.openxmlformats.org/drawingml/2006/main">
            <a:r>
              <a:t>該当箇所:工具積卸リスト・在庫確認・プリセッター指示・NCと測定値の転送</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EOV-V013-2026-1 JIMTOF2026公式カタログ：株式会社Smart Craft (S3002)</a:t>
            </a:r>
          </a:p>
          <a:p xmlns:a="http://schemas.openxmlformats.org/drawingml/2006/main">
            <a:r>
              <a:t>https://www.jimtof.org/search/jp/ESdetails?e=WqjRB6DEqN0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EOV-W01 TwinCAT 3 Machine Learning Creator</a:t>
            </a:r>
          </a:p>
          <a:p xmlns:a="http://schemas.openxmlformats.org/drawingml/2006/main">
            <a:r>
              <a:t>https://www.beckhoff.com/en-za/products/automation/twincat/texxxx-twincat-3-engineering/te3850.html</a:t>
            </a:r>
          </a:p>
          <a:p xmlns:a="http://schemas.openxmlformats.org/drawingml/2006/main">
            <a:r>
              <a:t>該当箇所:製品説明冒頭、Product status</a:t>
            </a:r>
          </a:p>
          <a:p xmlns:a="http://schemas.openxmlformats.org/drawingml/2006/main">
            <a:r>
              <a:t>確認:2026-10-16</a:t>
            </a:r>
          </a:p>
          <a:p xmlns:a="http://schemas.openxmlformats.org/drawingml/2006/main">
            <a:r>
              <a:t>種類:企業公式資料・メーカー主張</a:t>
            </a:r>
          </a:p>
          <a:p xmlns:a="http://schemas.openxmlformats.org/drawingml/2006/main">
            <a:r>
              <a:t>展示:既存製品の方式確認。2026展示はEOV-V005-2026-1で別確認</a:t>
            </a:r>
          </a:p>
          <a:p xmlns:a="http://schemas.openxmlformats.org/drawingml/2006/main">
            <a:r>
              <a:t/>
            </a:r>
          </a:p>
          <a:p xmlns:a="http://schemas.openxmlformats.org/drawingml/2006/main">
            <a:r>
              <a:t>EDP-04 PC Control 02/2024：Machine Learning Creator</a:t>
            </a:r>
          </a:p>
          <a:p xmlns:a="http://schemas.openxmlformats.org/drawingml/2006/main">
            <a:r>
              <a:t>https://www.beckhoff.com/media/downloads/information-media/pc-control/pcc_0224_e.pdf</a:t>
            </a:r>
          </a:p>
          <a:p xmlns:a="http://schemas.openxmlformats.org/drawingml/2006/main">
            <a:r>
              <a:t>該当箇所:TE3850／訓練・テストデータ分割、モデル解析、ONNX出力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EOV-V011-2024-1 JIMTOF2024公式カタログ：株式会社たけびし (E7053)</a:t>
            </a:r>
          </a:p>
          <a:p xmlns:a="http://schemas.openxmlformats.org/drawingml/2006/main">
            <a:r>
              <a:t>https://www.jimtof.org/2024/search/jp/ESdetails?e=SiZMI-OH8_k</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EOV-V011-2026-1 JIMTOF2026公式カタログ：株式会社たけびし (S3015)</a:t>
            </a:r>
          </a:p>
          <a:p xmlns:a="http://schemas.openxmlformats.org/drawingml/2006/main">
            <a:r>
              <a:t>https://www.jimtof.org/search/jp/ESdetails?e=Qh27DAtEkbw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EDP-06 OPC UA情報モデルとAIエージェント</a:t>
            </a:r>
          </a:p>
          <a:p xmlns:a="http://schemas.openxmlformats.org/drawingml/2006/main">
            <a:r>
              <a:t>https://opcconnect.opcfoundation.org/2026/06/toward-realizing-ai-utilization-in-manufacturing-exploring-the-potential-of-integrating-the-opc-ua-information-model-with-ai-agents/</a:t>
            </a:r>
          </a:p>
          <a:p xmlns:a="http://schemas.openxmlformats.org/drawingml/2006/main">
            <a:r>
              <a:t>該当箇所:A New Approach to Connecting AI Agents／MCP Adapterはplanning to provide</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EOV-V012-2024-1 JIMTOF2024公式カタログ：株式会社シーイーシー (E5022)</a:t>
            </a:r>
          </a:p>
          <a:p xmlns:a="http://schemas.openxmlformats.org/drawingml/2006/main">
            <a:r>
              <a:t>https://www.jimtof.org/2024/search/jp/ESdetails?e=WS9ql5D41fQ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EOV-V012-2026-1 JIMTOF2026公式カタログ：株式会社シーイーシー (E2006)</a:t>
            </a:r>
          </a:p>
          <a:p xmlns:a="http://schemas.openxmlformats.org/drawingml/2006/main">
            <a:r>
              <a:t>https://www.jimtof.org/search/jp/ESdetails?e=tW-C9oF94EQ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比較の見方[分析]:OCR・検索・原価計算・承認は別の仕事。見積額の根拠と確定者を追う。</a:t>
            </a:r>
          </a:p>
          <a:p xmlns:a="http://schemas.openxmlformats.org/drawingml/2006/main">
            <a:r>
              <a:t/>
            </a:r>
          </a:p>
          <a:p xmlns:a="http://schemas.openxmlformats.org/drawingml/2006/main">
            <a:r>
              <a:t>図面検索・見積作成</a:t>
            </a:r>
          </a:p>
          <a:p xmlns:a="http://schemas.openxmlformats.org/drawingml/2006/main">
            <a:r>
              <a:t>B01-1 株式会社Fact Base / ズメーン：図面・関連文書管理とAI / S3017</a:t>
            </a:r>
          </a:p>
          <a:p xmlns:a="http://schemas.openxmlformats.org/drawingml/2006/main">
            <a:r>
              <a:t>対象:図面を登録・検索し関連文書と結ぶ</a:t>
            </a:r>
          </a:p>
          <a:p xmlns:a="http://schemas.openxmlformats.org/drawingml/2006/main">
            <a:r>
              <a:t>公式要約:図面のOCR登録と関連文書管理。顧客事例では読取り結果を人が修正。</a:t>
            </a:r>
          </a:p>
          <a:p xmlns:a="http://schemas.openxmlformats.org/drawingml/2006/main">
            <a:r>
              <a:t>年度:2024の同名詳細なし。2026初登場とは断定しない。</a:t>
            </a:r>
          </a:p>
          <a:p xmlns:a="http://schemas.openxmlformats.org/drawingml/2006/main">
            <a:r>
              <a:t>人・未確認:登録・読取り確認は人。図面の誤関連や改訂の検出は未確認。</a:t>
            </a:r>
          </a:p>
          <a:p xmlns:a="http://schemas.openxmlformats.org/drawingml/2006/main">
            <a:r>
              <a:t>Evidence:EEX-EXH-2026-3b6a1de81c17dfee,EDP-11</a:t>
            </a:r>
          </a:p>
          <a:p xmlns:a="http://schemas.openxmlformats.org/drawingml/2006/main">
            <a:r>
              <a:t/>
            </a:r>
          </a:p>
          <a:p xmlns:a="http://schemas.openxmlformats.org/drawingml/2006/main">
            <a:r>
              <a:t>B01-2 匠技研工業 / 匠フォース：業務AIエージェント / S3011</a:t>
            </a:r>
          </a:p>
          <a:p xmlns:a="http://schemas.openxmlformats.org/drawingml/2006/main">
            <a:r>
              <a:t>対象:図面と原価情報から見積書案を作る</a:t>
            </a:r>
          </a:p>
          <a:p xmlns:a="http://schemas.openxmlformats.org/drawingml/2006/main">
            <a:r>
              <a:t>公式要約:図面認識・類似案件参照・原価計算から見積書案を作る。</a:t>
            </a:r>
          </a:p>
          <a:p xmlns:a="http://schemas.openxmlformats.org/drawingml/2006/main">
            <a:r>
              <a:t>年度:2024比較不能。2026/7の企業発表で一連の処理を具体化。</a:t>
            </a:r>
          </a:p>
          <a:p xmlns:a="http://schemas.openxmlformats.org/drawingml/2006/main">
            <a:r>
              <a:t>人・未確認:担当者が根拠を確認・修正・承認。社外自動送信は未確認。</a:t>
            </a:r>
          </a:p>
          <a:p xmlns:a="http://schemas.openxmlformats.org/drawingml/2006/main">
            <a:r>
              <a:t>Evidence:EOV-V041-2026-1,EDP-05</a:t>
            </a:r>
          </a:p>
          <a:p xmlns:a="http://schemas.openxmlformats.org/drawingml/2006/main">
            <a:r>
              <a:t/>
            </a:r>
          </a:p>
          <a:p xmlns:a="http://schemas.openxmlformats.org/drawingml/2006/main">
            <a:r>
              <a:t>B01-3 ものレボ / MonoRevo：類似図面検索・自動見積 / W3042</a:t>
            </a:r>
          </a:p>
          <a:p xmlns:a="http://schemas.openxmlformats.org/drawingml/2006/main">
            <a:r>
              <a:t>対象:過去図面を探し見積を作る</a:t>
            </a:r>
          </a:p>
          <a:p xmlns:a="http://schemas.openxmlformats.org/drawingml/2006/main">
            <a:r>
              <a:t>公式要約:類似図面検索と自動見積を説明。</a:t>
            </a:r>
          </a:p>
          <a:p xmlns:a="http://schemas.openxmlformats.org/drawingml/2006/main">
            <a:r>
              <a:t>年度:2024個別比較不能。</a:t>
            </a:r>
          </a:p>
          <a:p xmlns:a="http://schemas.openxmlformats.org/drawingml/2006/main">
            <a:r>
              <a:t>人・未確認:見積前提の設定・確定者、計算ロジックは未確認。</a:t>
            </a:r>
          </a:p>
          <a:p xmlns:a="http://schemas.openxmlformats.org/drawingml/2006/main">
            <a:r>
              <a:t>Evidence:EOV-V014-2026-1</a:t>
            </a:r>
          </a:p>
          <a:p xmlns:a="http://schemas.openxmlformats.org/drawingml/2006/main">
            <a:r>
              <a:t/>
            </a:r>
          </a:p>
          <a:p xmlns:a="http://schemas.openxmlformats.org/drawingml/2006/main">
            <a:r>
              <a:t>原典</a:t>
            </a:r>
          </a:p>
          <a:p xmlns:a="http://schemas.openxmlformats.org/drawingml/2006/main">
            <a:r>
              <a:t>EEX-EXH-2026-3b6a1de81c17dfee JIMTOF2026公式出展説明：株式会社Fact Base (S3017)</a:t>
            </a:r>
          </a:p>
          <a:p xmlns:a="http://schemas.openxmlformats.org/drawingml/2006/main">
            <a:r>
              <a:t>https://www.jimtof.org/search/jp/ESdetails?e=hZaNogHdQM4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EDP-11 ズメーン導入事例：ダイニチ</a:t>
            </a:r>
          </a:p>
          <a:p xmlns:a="http://schemas.openxmlformats.org/drawingml/2006/main">
            <a:r>
              <a:t>https://lp.zume-n.com/case-1/sagadainichi</a:t>
            </a:r>
          </a:p>
          <a:p xmlns:a="http://schemas.openxmlformats.org/drawingml/2006/main">
            <a:r>
              <a:t>該当箇所:AI・OCR文字読取／人の目で確認・補正／関連資料・改訂履歴</a:t>
            </a:r>
          </a:p>
          <a:p xmlns:a="http://schemas.openxmlformats.org/drawingml/2006/main">
            <a:r>
              <a:t>確認:2026-10-16</a:t>
            </a:r>
          </a:p>
          <a:p xmlns:a="http://schemas.openxmlformats.org/drawingml/2006/main">
            <a:r>
              <a:t>種類:企業公式サイトに掲載された顧客発言</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EOV-V041-2026-1 JIMTOF2026公式カタログ：匠技研工業株式会社 (S3011)</a:t>
            </a:r>
          </a:p>
          <a:p xmlns:a="http://schemas.openxmlformats.org/drawingml/2006/main">
            <a:r>
              <a:t>https://www.jimtof.org/search/jp/ESdetails?e=i_4zCxJP258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EDP-05 匠フォースAIエージェント発表</a:t>
            </a:r>
          </a:p>
          <a:p xmlns:a="http://schemas.openxmlformats.org/drawingml/2006/main">
            <a:r>
              <a:t>https://prtimes.jp/main/html/rd/p/000000031.000057137.html</a:t>
            </a:r>
          </a:p>
          <a:p xmlns:a="http://schemas.openxmlformats.org/drawingml/2006/main">
            <a:r>
              <a:t>該当箇所:見積金額算出／人の修正による再学習／引合受領から見積書作成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比較の見方[分析]:履歴予測と加工戦略の生成を分ける。生成案の採用と実機運転は別工程。</a:t>
            </a:r>
          </a:p>
          <a:p xmlns:a="http://schemas.openxmlformats.org/drawingml/2006/main">
            <a:r>
              <a:t/>
            </a:r>
          </a:p>
          <a:p xmlns:a="http://schemas.openxmlformats.org/drawingml/2006/main">
            <a:r>
              <a:t>工程・CAMプログラムの作成</a:t>
            </a:r>
          </a:p>
          <a:p xmlns:a="http://schemas.openxmlformats.org/drawingml/2006/main">
            <a:r>
              <a:t>B02-1 Hexagon Manufacturing Intelligence / ESPRIT EDGE ProPlanAI / E2013</a:t>
            </a:r>
          </a:p>
          <a:p xmlns:a="http://schemas.openxmlformats.org/drawingml/2006/main">
            <a:r>
              <a:t>対象:新しい部品の加工工程を考える</a:t>
            </a:r>
          </a:p>
          <a:p xmlns:a="http://schemas.openxmlformats.org/drawingml/2006/main">
            <a:r>
              <a:t>公式要約:過去ジョブと形状特徴から工程を予測するProPlanAI。</a:t>
            </a:r>
          </a:p>
          <a:p xmlns:a="http://schemas.openxmlformats.org/drawingml/2006/main">
            <a:r>
              <a:t>年度:2024比較不能。2025の旋削betaから2026の商用範囲拡張を確認。</a:t>
            </a:r>
          </a:p>
          <a:p xmlns:a="http://schemas.openxmlformats.org/drawingml/2006/main">
            <a:r>
              <a:t>人・未確認:過去データを準備。確認画面はあるが最終NC採用権限は未公表。</a:t>
            </a:r>
          </a:p>
          <a:p xmlns:a="http://schemas.openxmlformats.org/drawingml/2006/main">
            <a:r>
              <a:t>Evidence:EOV-V007-2026-2,EOV-W02</a:t>
            </a:r>
          </a:p>
          <a:p xmlns:a="http://schemas.openxmlformats.org/drawingml/2006/main">
            <a:r>
              <a:t/>
            </a:r>
          </a:p>
          <a:p xmlns:a="http://schemas.openxmlformats.org/drawingml/2006/main">
            <a:r>
              <a:t>B02-2 ジェービーエムエンジニアリング / Mastercam＋CAMAssist / E2002</a:t>
            </a:r>
          </a:p>
          <a:p xmlns:a="http://schemas.openxmlformats.org/drawingml/2006/main">
            <a:r>
              <a:t>対象:部品形状から加工方法・工具経路を作る</a:t>
            </a:r>
          </a:p>
          <a:p xmlns:a="http://schemas.openxmlformats.org/drawingml/2006/main">
            <a:r>
              <a:t>公式要約:工具・材料・機械等の条件から加工戦略・経路・条件案を生成。</a:t>
            </a:r>
          </a:p>
          <a:p xmlns:a="http://schemas.openxmlformats.org/drawingml/2006/main">
            <a:r>
              <a:t>年度:Mastercam対応は2024/7に発表済み。2026の出展記述が具体化。</a:t>
            </a:r>
          </a:p>
          <a:p xmlns:a="http://schemas.openxmlformats.org/drawingml/2006/main">
            <a:r>
              <a:t>人・未確認:人が前提を設定し、戦略案を確認・調整してCAMへ送る。</a:t>
            </a:r>
          </a:p>
          <a:p xmlns:a="http://schemas.openxmlformats.org/drawingml/2006/main">
            <a:r>
              <a:t>Evidence:EOV-V008-2024-1,EOV-V008-2024-2,EOV-V008-2026-1,EDP-09,EDP-10,ERF-03</a:t>
            </a:r>
          </a:p>
          <a:p xmlns:a="http://schemas.openxmlformats.org/drawingml/2006/main">
            <a:r>
              <a:t/>
            </a:r>
          </a:p>
          <a:p xmlns:a="http://schemas.openxmlformats.org/drawingml/2006/main">
            <a:r>
              <a:t>B02-3 タクテックス株式会社 / CAM Assist for SolidCAM／SolidShop / S1016</a:t>
            </a:r>
          </a:p>
          <a:p xmlns:a="http://schemas.openxmlformats.org/drawingml/2006/main">
            <a:r>
              <a:t>対象:3軸・3+2軸の加工経路を作る</a:t>
            </a:r>
          </a:p>
          <a:p xmlns:a="http://schemas.openxmlformats.org/drawingml/2006/main">
            <a:r>
              <a:t>公式要約:SolidCAM向けに3軸・3+2軸の戦略と経路案を生成。</a:t>
            </a:r>
          </a:p>
          <a:p xmlns:a="http://schemas.openxmlformats.org/drawingml/2006/main">
            <a:r>
              <a:t>年度:2024はSolidCAM等。2026はAI支援を追加記載。</a:t>
            </a:r>
          </a:p>
          <a:p xmlns:a="http://schemas.openxmlformats.org/drawingml/2006/main">
            <a:r>
              <a:t>人・未確認:工具・保持等を設定し、生成案を編集・採用。最終制御権は人。</a:t>
            </a:r>
          </a:p>
          <a:p xmlns:a="http://schemas.openxmlformats.org/drawingml/2006/main">
            <a:r>
              <a:t>Evidence:EEX-EXH-2026-0436fc7b61f51a8e,EEX-EXH-2024-eb84f3b7fa9cf6db,EDP-07,EDP-08,ERF-04</a:t>
            </a:r>
          </a:p>
          <a:p xmlns:a="http://schemas.openxmlformats.org/drawingml/2006/main">
            <a:r>
              <a:t/>
            </a:r>
          </a:p>
          <a:p xmlns:a="http://schemas.openxmlformats.org/drawingml/2006/main">
            <a:r>
              <a:t>原典</a:t>
            </a:r>
          </a:p>
          <a:p xmlns:a="http://schemas.openxmlformats.org/drawingml/2006/main">
            <a:r>
              <a:t>EOV-V007-2026-2 JIMTOF2026公式カタログ：Hexagon Manufacturing Intelligence株式会社 (E2013)</a:t>
            </a:r>
          </a:p>
          <a:p xmlns:a="http://schemas.openxmlformats.org/drawingml/2006/main">
            <a:r>
              <a:t>https://www.jimtof.org/search/jp/ESdetails?e=6l20Qo0pjl4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EOV-W02 ESPRIT EDGE Release Highlights</a:t>
            </a:r>
          </a:p>
          <a:p xmlns:a="http://schemas.openxmlformats.org/drawingml/2006/main">
            <a:r>
              <a:t>https://hexagon.com/products/esprit-edge/release-highlights</a:t>
            </a:r>
          </a:p>
          <a:p xmlns:a="http://schemas.openxmlformats.org/drawingml/2006/main">
            <a:r>
              <a:t>該当箇所:2025.2 PROPLANAI、2026.1 ProPlanAI for Turning, Mill-Turn &amp; Swiss</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展示:メーカーの提供状況。対象機種や契約、顧客実績は未確認</a:t>
            </a:r>
          </a:p>
          <a:p xmlns:a="http://schemas.openxmlformats.org/drawingml/2006/main">
            <a:r>
              <a:t/>
            </a:r>
          </a:p>
          <a:p xmlns:a="http://schemas.openxmlformats.org/drawingml/2006/main">
            <a:r>
              <a:t>EOV-V008-2024-1 JIMTOF2024公式カタログ：ジェービーエムエンジニアリング株式会社 (E5028)</a:t>
            </a:r>
          </a:p>
          <a:p xmlns:a="http://schemas.openxmlformats.org/drawingml/2006/main">
            <a:r>
              <a:t>https://www.jimtof.org/2024/search/jp/ESdetails?e=G-8gydwhMvE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EOV-V008-2024-2 JIMTOF2024公式カタログ：ジェービーエムエンジニアリング株式会社 (AM111)</a:t>
            </a:r>
          </a:p>
          <a:p xmlns:a="http://schemas.openxmlformats.org/drawingml/2006/main">
            <a:r>
              <a:t>https://www.jimtof.org/2024/search/jp/ESdetails?e=ZBxZW2vyjUw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EOV-V008-2026-1 JIMTOF2026公式カタログ：ジェービーエムエンジニアリング株式会社 (E2002)</a:t>
            </a:r>
          </a:p>
          <a:p xmlns:a="http://schemas.openxmlformats.org/drawingml/2006/main">
            <a:r>
              <a:t>https://www.jimtof.org/search/jp/ESdetails?e=VrAjMTKmxdw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EDP-09 Mastercam向けCAM Assist</a:t>
            </a:r>
          </a:p>
          <a:p xmlns:a="http://schemas.openxmlformats.org/drawingml/2006/main">
            <a:r>
              <a:t>https://www.cloudnc.com/ja/mastercam</a:t>
            </a:r>
          </a:p>
          <a:p xmlns:a="http://schemas.openxmlformats.org/drawingml/2006/main">
            <a:r>
              <a:t>該当箇所:仕組みステップ1〜4／FAQの対象加工・顧客データ学習の否定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EDP-10 Mastercam向けCAM Assist提供開始</a:t>
            </a:r>
          </a:p>
          <a:p xmlns:a="http://schemas.openxmlformats.org/drawingml/2006/main">
            <a:r>
              <a:t>https://www.cloudnc.com/news-room/cam-assist-the-first-ai-plug-in-for-cam-is-now-available-for-mastercam</a:t>
            </a:r>
          </a:p>
          <a:p xmlns:a="http://schemas.openxmlformats.org/drawingml/2006/main">
            <a:r>
              <a:t>該当箇所:July 25, 2024／3軸・3+2軸向け。北米販売開始の説明</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ERF-03 Mastercam CAM Assist：確認・調整と学習方針</a:t>
            </a:r>
          </a:p>
          <a:p xmlns:a="http://schemas.openxmlformats.org/drawingml/2006/main">
            <a:r>
              <a:t>https://www.cloudnc.com/ja/mastercam</a:t>
            </a:r>
          </a:p>
          <a:p xmlns:a="http://schemas.openxmlformats.org/drawingml/2006/main">
            <a:r>
              <a:t>該当箇所:仕組みStep 2–4／FAQ：顧客データで学習しない、加工性評価、編集可能CAM</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EEX-EXH-2026-0436fc7b61f51a8e JIMTOF2026公式出展説明：タクテックス株式会社 (S1016)</a:t>
            </a:r>
          </a:p>
          <a:p xmlns:a="http://schemas.openxmlformats.org/drawingml/2006/main">
            <a:r>
              <a:t>https://www.jimtof.org/search/jp/ESdetails?e=2TVzwvOqLxI</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EEX-EXH-2024-eb84f3b7fa9cf6db JIMTOF2024公式出展説明：タクテックス株式会社 (E5030)</a:t>
            </a:r>
          </a:p>
          <a:p xmlns:a="http://schemas.openxmlformats.org/drawingml/2006/main">
            <a:r>
              <a:t>https://www.jimtof.org/2024/search/jp/ESdetails?e=p_i9WuUhNRg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EDP-07 SolidCAM向けCAM Assist</a:t>
            </a:r>
          </a:p>
          <a:p xmlns:a="http://schemas.openxmlformats.org/drawingml/2006/main">
            <a:r>
              <a:t>https://www.cloudnc.com/ja/solidcam</a:t>
            </a:r>
          </a:p>
          <a:p xmlns:a="http://schemas.openxmlformats.org/drawingml/2006/main">
            <a:r>
              <a:t>該当箇所:仕組みステップ1〜4／FAQの対象加工・通信・戦略生成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EDP-08 CloudNC CAM Assist公式ヘルプ</a:t>
            </a:r>
          </a:p>
          <a:p xmlns:a="http://schemas.openxmlformats.org/drawingml/2006/main">
            <a:r>
              <a:t>https://help.solidcam.com/topics/solutions/cloudnc-cam-assist.htm</a:t>
            </a:r>
          </a:p>
          <a:p xmlns:a="http://schemas.openxmlformats.org/drawingml/2006/main">
            <a:r>
              <a:t>該当箇所:形状・工具・材種・段取りの入力／プログラマーの修正・検証・NC出力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ERF-04 CAM Assistの生成後の編集・検証</a:t>
            </a:r>
          </a:p>
          <a:p xmlns:a="http://schemas.openxmlformats.org/drawingml/2006/main">
            <a:r>
              <a:t>https://help.solidcam.com/topics/solutions/cloudnc-cam-assist.htm</a:t>
            </a:r>
          </a:p>
          <a:p xmlns:a="http://schemas.openxmlformats.org/drawingml/2006/main">
            <a:r>
              <a:t>該当箇所:L11–19／プログラマーがreview・refine、既存のsimulation・verification・NC生成</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比較の見方[分析]:加工前にNCを書き換える方式と、加工中に送りを変える方式を比較する。</a:t>
            </a:r>
          </a:p>
          <a:p xmlns:a="http://schemas.openxmlformats.org/drawingml/2006/main">
            <a:r>
              <a:t/>
            </a:r>
          </a:p>
          <a:p xmlns:a="http://schemas.openxmlformats.org/drawingml/2006/main">
            <a:r>
              <a:t>NC送り最適化・加工中の適応制御</a:t>
            </a:r>
          </a:p>
          <a:p xmlns:a="http://schemas.openxmlformats.org/drawingml/2006/main">
            <a:r>
              <a:t>B03-1 CGTech / Vericut Force／Optimizer / S3014</a:t>
            </a:r>
          </a:p>
          <a:p xmlns:a="http://schemas.openxmlformats.org/drawingml/2006/main">
            <a:r>
              <a:t>対象:加工前にNCの送り速度を調整する</a:t>
            </a:r>
          </a:p>
          <a:p xmlns:a="http://schemas.openxmlformats.org/drawingml/2006/main">
            <a:r>
              <a:t>公式要約:Forceは切削物理と力・動力制約を使い加工前に送りを最適化。</a:t>
            </a:r>
          </a:p>
          <a:p xmlns:a="http://schemas.openxmlformats.org/drawingml/2006/main">
            <a:r>
              <a:t>年度:Forceは2024掲載済み。2026のAI訴求とOptimizerの方式差は未確認。</a:t>
            </a:r>
          </a:p>
          <a:p xmlns:a="http://schemas.openxmlformats.org/drawingml/2006/main">
            <a:r>
              <a:t>人・未確認:材料・工具・限界条件とNC採用が必要〈分析〉。運用詳細は未確認。</a:t>
            </a:r>
          </a:p>
          <a:p xmlns:a="http://schemas.openxmlformats.org/drawingml/2006/main">
            <a:r>
              <a:t>Evidence:EOV-V009-2024-1,EOV-V009-2026-1,RPT-S04</a:t>
            </a:r>
          </a:p>
          <a:p xmlns:a="http://schemas.openxmlformats.org/drawingml/2006/main">
            <a:r>
              <a:t/>
            </a:r>
          </a:p>
          <a:p xmlns:a="http://schemas.openxmlformats.org/drawingml/2006/main">
            <a:r>
              <a:t>B03-2 Third Wave Systems Japan / Production Module／AdvantEdge / E1064</a:t>
            </a:r>
          </a:p>
          <a:p xmlns:a="http://schemas.openxmlformats.org/drawingml/2006/main">
            <a:r>
              <a:t>対象:加工負荷を予測しNC送りを最適化する</a:t>
            </a:r>
          </a:p>
          <a:p xmlns:a="http://schemas.openxmlformats.org/drawingml/2006/main">
            <a:r>
              <a:t>公式要約:Production ModuleはNCレベルの負荷解析。刃先FEMのAdvantEdgeとは別。</a:t>
            </a:r>
          </a:p>
          <a:p xmlns:a="http://schemas.openxmlformats.org/drawingml/2006/main">
            <a:r>
              <a:t>年度:2024展示比較不能。工具たわみ等は2019年にも公式説明。</a:t>
            </a:r>
          </a:p>
          <a:p xmlns:a="http://schemas.openxmlformats.org/drawingml/2006/main">
            <a:r>
              <a:t>人・未確認:モデル・材料・工具の設定と採用判断が必要〈分析〉。</a:t>
            </a:r>
          </a:p>
          <a:p xmlns:a="http://schemas.openxmlformats.org/drawingml/2006/main">
            <a:r>
              <a:t>Evidence:RPT-EXH-2026-3f24aaee60d77db1,RPT-S05</a:t>
            </a:r>
          </a:p>
          <a:p xmlns:a="http://schemas.openxmlformats.org/drawingml/2006/main">
            <a:r>
              <a:t/>
            </a:r>
          </a:p>
          <a:p xmlns:a="http://schemas.openxmlformats.org/drawingml/2006/main">
            <a:r>
              <a:t>B03-3 西部商工 / ACM / S3020</a:t>
            </a:r>
          </a:p>
          <a:p xmlns:a="http://schemas.openxmlformats.org/drawingml/2006/main">
            <a:r>
              <a:t>対象:加工中の負荷に応じ送りを自動調整する</a:t>
            </a:r>
          </a:p>
          <a:p xmlns:a="http://schemas.openxmlformats.org/drawingml/2006/main">
            <a:r>
              <a:t>公式要約:ACMは実測主軸負荷を使い加工中の送りを自動調整。</a:t>
            </a:r>
          </a:p>
          <a:p xmlns:a="http://schemas.openxmlformats.org/drawingml/2006/main">
            <a:r>
              <a:t>年度:2024も負荷監視と送り制御を記載。基本方式は継続。</a:t>
            </a:r>
          </a:p>
          <a:p xmlns:a="http://schemas.openxmlformats.org/drawingml/2006/main">
            <a:r>
              <a:t>人・未確認:負荷限界の設定者・停止復帰の手順は未確認。</a:t>
            </a:r>
          </a:p>
          <a:p xmlns:a="http://schemas.openxmlformats.org/drawingml/2006/main">
            <a:r>
              <a:t>Evidence:RPT-EXH-2026-107042c6cf64ba96,RPT-EXH-2024-151b23d9e05ccb13</a:t>
            </a:r>
          </a:p>
          <a:p xmlns:a="http://schemas.openxmlformats.org/drawingml/2006/main">
            <a:r>
              <a:t/>
            </a:r>
          </a:p>
          <a:p xmlns:a="http://schemas.openxmlformats.org/drawingml/2006/main">
            <a:r>
              <a:t>原典</a:t>
            </a:r>
          </a:p>
          <a:p xmlns:a="http://schemas.openxmlformats.org/drawingml/2006/main">
            <a:r>
              <a:t>EOV-V009-2024-1 JIMTOF2024公式カタログ：株式会社CGTech (E5042)</a:t>
            </a:r>
          </a:p>
          <a:p xmlns:a="http://schemas.openxmlformats.org/drawingml/2006/main">
            <a:r>
              <a:t>https://www.jimtof.org/2024/search/jp/ESdetails?e=AxDUk3YbQDI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EOV-V009-2026-1 JIMTOF2026公式カタログ：株式会社CGTech (S3014)</a:t>
            </a:r>
          </a:p>
          <a:p xmlns:a="http://schemas.openxmlformats.org/drawingml/2006/main">
            <a:r>
              <a:t>https://www.jimtof.org/search/jp/ESdetails?e=41U8xW4UkcM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RPT-S04 Vericut Force FAQ</a:t>
            </a:r>
          </a:p>
          <a:p xmlns:a="http://schemas.openxmlformats.org/drawingml/2006/main">
            <a:r>
              <a:t>https://archive.vericut.com/force-faq/</a:t>
            </a:r>
          </a:p>
          <a:p xmlns:a="http://schemas.openxmlformats.org/drawingml/2006/main">
            <a:r>
              <a:t>該当箇所:Force physics-based optimization</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RPT-EXH-2026-3f24aaee60d77db1 Third Wave Systems Japan合同会社 JIMTOF2026</a:t>
            </a:r>
          </a:p>
          <a:p xmlns:a="http://schemas.openxmlformats.org/drawingml/2006/main">
            <a:r>
              <a:t>https://www.jimtof.org/search/jp/ESdetails?e=L43LSAjxuyc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RPT-S05 Production Module v8.2 release</a:t>
            </a:r>
          </a:p>
          <a:p xmlns:a="http://schemas.openxmlformats.org/drawingml/2006/main">
            <a:r>
              <a:t>https://thirdwavesys.com/latest-news/production-module-v8-2-release/</a:t>
            </a:r>
          </a:p>
          <a:p xmlns:a="http://schemas.openxmlformats.org/drawingml/2006/main">
            <a:r>
              <a:t>該当箇所:工具たわみ・entry/exit feedrate constraints</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RPT-EXH-2026-107042c6cf64ba96 西部商工株式会社 JIMTOF2026</a:t>
            </a:r>
          </a:p>
          <a:p xmlns:a="http://schemas.openxmlformats.org/drawingml/2006/main">
            <a:r>
              <a:t>https://www.jimtof.org/search/jp/ESdetails?e=OC6R-wdDduM</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RPT-EXH-2024-151b23d9e05ccb13 西部商工株式会社 JIMTOF2024</a:t>
            </a:r>
          </a:p>
          <a:p xmlns:a="http://schemas.openxmlformats.org/drawingml/2006/main">
            <a:r>
              <a:t>https://www.jimtof.org/2024/search/jp/ESdetails?e=YRTw8XJWi9g</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比較の見方[分析]:文書回答、コード生成、設定変更、実機書込みを同じ自動化として扱わない。</a:t>
            </a:r>
          </a:p>
          <a:p xmlns:a="http://schemas.openxmlformats.org/drawingml/2006/main">
            <a:r>
              <a:t/>
            </a:r>
          </a:p>
          <a:p xmlns:a="http://schemas.openxmlformats.org/drawingml/2006/main">
            <a:r>
              <a:t>PLC・HMI・電気設計の支援</a:t>
            </a:r>
          </a:p>
          <a:p xmlns:a="http://schemas.openxmlformats.org/drawingml/2006/main">
            <a:r>
              <a:t>B04-1 ベッコフオートメーション / TwinCAT CoAgent for Engineering：PLC / E2028</a:t>
            </a:r>
          </a:p>
          <a:p xmlns:a="http://schemas.openxmlformats.org/drawingml/2006/main">
            <a:r>
              <a:t>対象:設備のPLC制御プログラムを作る</a:t>
            </a:r>
          </a:p>
          <a:p xmlns:a="http://schemas.openxmlformats.org/drawingml/2006/main">
            <a:r>
              <a:t>公式要約:要求とプロジェクト文脈からPLCコード案を提案。</a:t>
            </a:r>
          </a:p>
          <a:p xmlns:a="http://schemas.openxmlformats.org/drawingml/2006/main">
            <a:r>
              <a:t>年度:PLCコード支援は2023発表済み。2026初の方式ではない。</a:t>
            </a:r>
          </a:p>
          <a:p xmlns:a="http://schemas.openxmlformats.org/drawingml/2006/main">
            <a:r>
              <a:t>人・未確認:専門家が確認・確定・実行承認。書込みや起動の個別権限は未確認。</a:t>
            </a:r>
          </a:p>
          <a:p xmlns:a="http://schemas.openxmlformats.org/drawingml/2006/main">
            <a:r>
              <a:t>Evidence:EOV-V005-2026-1,EAT-N03,EAT-N05,EDP-03,ERF-01</a:t>
            </a:r>
          </a:p>
          <a:p xmlns:a="http://schemas.openxmlformats.org/drawingml/2006/main">
            <a:r>
              <a:t/>
            </a:r>
          </a:p>
          <a:p xmlns:a="http://schemas.openxmlformats.org/drawingml/2006/main">
            <a:r>
              <a:t>B04-2 ベッコフオートメーション / TwinCAT CoAgent for Engineering：I/O・HMI / E2028</a:t>
            </a:r>
          </a:p>
          <a:p xmlns:a="http://schemas.openxmlformats.org/drawingml/2006/main">
            <a:r>
              <a:t>対象:設備の入出力設定と操作画面を作る</a:t>
            </a:r>
          </a:p>
          <a:p xmlns:a="http://schemas.openxmlformats.org/drawingml/2006/main">
            <a:r>
              <a:t>公式要約:I/O構成とHMI生成・操作を支援するEngineering機能。</a:t>
            </a:r>
          </a:p>
          <a:p xmlns:a="http://schemas.openxmlformats.org/drawingml/2006/main">
            <a:r>
              <a:t>年度:I/O・HMI支援は2025/6にも公式説明。</a:t>
            </a:r>
          </a:p>
          <a:p xmlns:a="http://schemas.openxmlformats.org/drawingml/2006/main">
            <a:r>
              <a:t>人・未確認:専門家のレビュー方針。構成誤りの検証・差戻しは未確認。</a:t>
            </a:r>
          </a:p>
          <a:p xmlns:a="http://schemas.openxmlformats.org/drawingml/2006/main">
            <a:r>
              <a:t>Evidence:EOV-V005-2026-1,EAT-N03,EAT-N05,EDP-03,ERF-01</a:t>
            </a:r>
          </a:p>
          <a:p xmlns:a="http://schemas.openxmlformats.org/drawingml/2006/main">
            <a:r>
              <a:t/>
            </a:r>
          </a:p>
          <a:p xmlns:a="http://schemas.openxmlformats.org/drawingml/2006/main">
            <a:r>
              <a:t>B04-3 EPLAN / Eplan Copilot / S1067</a:t>
            </a:r>
          </a:p>
          <a:p xmlns:a="http://schemas.openxmlformats.org/drawingml/2006/main">
            <a:r>
              <a:t>対象:電気設計の情報・操作手順を調べる</a:t>
            </a:r>
          </a:p>
          <a:p xmlns:a="http://schemas.openxmlformats.org/drawingml/2006/main">
            <a:r>
              <a:t>公式要約:Eplan Copilotが文脈に応じた回答・推奨・手順を生成。</a:t>
            </a:r>
          </a:p>
          <a:p xmlns:a="http://schemas.openxmlformats.org/drawingml/2006/main">
            <a:r>
              <a:t>年度:2024の盤設計・データ連携に対し、2026はCopilotを記載。</a:t>
            </a:r>
          </a:p>
          <a:p xmlns:a="http://schemas.openxmlformats.org/drawingml/2006/main">
            <a:r>
              <a:t>人・未確認:意思決定は人。設計変更の自動採用は現機能と確認できない。</a:t>
            </a:r>
          </a:p>
          <a:p xmlns:a="http://schemas.openxmlformats.org/drawingml/2006/main">
            <a:r>
              <a:t>Evidence:EOV-V006-2024-1,EOV-V006-2026-1,EAT-N06</a:t>
            </a:r>
          </a:p>
          <a:p xmlns:a="http://schemas.openxmlformats.org/drawingml/2006/main">
            <a:r>
              <a:t/>
            </a:r>
          </a:p>
          <a:p xmlns:a="http://schemas.openxmlformats.org/drawingml/2006/main">
            <a:r>
              <a:t>原典</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EAT-N03 CoAgent for Engineering TE1700</a:t>
            </a:r>
          </a:p>
          <a:p xmlns:a="http://schemas.openxmlformats.org/drawingml/2006/main">
            <a:r>
              <a:t>https://www.beckhoff.com/ko-kr/products/automation/twincat/texxxx-twincat-3-engineering/te1700.html</a:t>
            </a:r>
          </a:p>
          <a:p xmlns:a="http://schemas.openxmlformats.org/drawingml/2006/main">
            <a:r>
              <a:t>該当箇所:Features／Product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ERF-01 From chatbot to intelligent agent</a:t>
            </a:r>
          </a:p>
          <a:p xmlns:a="http://schemas.openxmlformats.org/drawingml/2006/main">
            <a:r>
              <a:t>https://www.beckhoff.com/en-gb/company/news/from-chatbot-to-intelligent-agent.html</a:t>
            </a:r>
          </a:p>
          <a:p xmlns:a="http://schemas.openxmlformats.org/drawingml/2006/main">
            <a:r>
              <a:t>該当箇所:2025/6/13／Placing people at the heart of automation；PLC・I/O・HMI、専門家がreview・confirm・approve</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EOV-V006-2024-1 JIMTOF2024公式カタログ：EPLAN株式会社 (E2033)</a:t>
            </a:r>
          </a:p>
          <a:p xmlns:a="http://schemas.openxmlformats.org/drawingml/2006/main">
            <a:r>
              <a:t>https://www.jimtof.org/2024/search/jp/ESdetails?e=50efK4rQsHs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EOV-V006-2026-1 JIMTOF2026公式カタログ：EPLAN株式会社 (S1067)</a:t>
            </a:r>
          </a:p>
          <a:p xmlns:a="http://schemas.openxmlformats.org/drawingml/2006/main">
            <a:r>
              <a:t>https://www.jimtof.org/search/jp/ESdetails?e=FHsQAvmFusY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EAT-N06 Eplan Copilot</a:t>
            </a:r>
          </a:p>
          <a:p xmlns:a="http://schemas.openxmlformats.org/drawingml/2006/main">
            <a:r>
              <a:t>https://www.eplan.com/us-en/about-us/innovations/eplan-copilot/</a:t>
            </a:r>
          </a:p>
          <a:p xmlns:a="http://schemas.openxmlformats.org/drawingml/2006/main">
            <a:r>
              <a:t>該当箇所:Based on a described task／Looking ahead／conceptual phase</a:t>
            </a:r>
          </a:p>
          <a:p xmlns:a="http://schemas.openxmlformats.org/drawingml/2006/main">
            <a:r>
              <a:t>確認:2026-10-16</a:t>
            </a:r>
          </a:p>
          <a:p xmlns:a="http://schemas.openxmlformats.org/drawingml/2006/main">
            <a:r>
              <a:t>種類:企業公式説明・メーカー主張</a:t>
            </a:r>
          </a:p>
          <a:p xmlns:a="http://schemas.openxmlformats.org/drawingml/2006/main">
            <a:r>
              <a:t>展示:現行支援と将来構想を分離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比較の見方[分析]:構造設計、実測による適応、学習モデルを分け、補正範囲と外れ条件を見る。</a:t>
            </a:r>
          </a:p>
          <a:p xmlns:a="http://schemas.openxmlformats.org/drawingml/2006/main">
            <a:r>
              <a:t/>
            </a:r>
          </a:p>
          <a:p xmlns:a="http://schemas.openxmlformats.org/drawingml/2006/main">
            <a:r>
              <a:t>熱変位補正・びびり抑制</a:t>
            </a:r>
          </a:p>
          <a:p xmlns:a="http://schemas.openxmlformats.org/drawingml/2006/main">
            <a:r>
              <a:t>B05-1 オークマ / 熱変位制御・AI知能化 / E3028</a:t>
            </a:r>
          </a:p>
          <a:p xmlns:a="http://schemas.openxmlformats.org/drawingml/2006/main">
            <a:r>
              <a:t>対象:温度変化による加工位置のずれを抑える</a:t>
            </a:r>
          </a:p>
          <a:p xmlns:a="http://schemas.openxmlformats.org/drawingml/2006/main">
            <a:r>
              <a:t>公式要約:熱を単純化する構造と熱変位制御を組み合わせる。</a:t>
            </a:r>
          </a:p>
          <a:p xmlns:a="http://schemas.openxmlformats.org/drawingml/2006/main">
            <a:r>
              <a:t>年度:熱安定化は既存技術。2026のAI訴求だけで補正全体をAIとしない。</a:t>
            </a:r>
          </a:p>
          <a:p xmlns:a="http://schemas.openxmlformats.org/drawingml/2006/main">
            <a:r>
              <a:t>人・未確認:校正・補正限界・条件変化時の人の関与は未確認。</a:t>
            </a:r>
          </a:p>
          <a:p xmlns:a="http://schemas.openxmlformats.org/drawingml/2006/main">
            <a:r>
              <a:t>Evidence:EOV-V003-2024-1,EOV-V003-2026-1,RPT-S02</a:t>
            </a:r>
          </a:p>
          <a:p xmlns:a="http://schemas.openxmlformats.org/drawingml/2006/main">
            <a:r>
              <a:t/>
            </a:r>
          </a:p>
          <a:p xmlns:a="http://schemas.openxmlformats.org/drawingml/2006/main">
            <a:r>
              <a:t>B05-2 ヤマザキマザック / Ai Thermal Shield（製品資料による比較） / E1001</a:t>
            </a:r>
          </a:p>
          <a:p xmlns:a="http://schemas.openxmlformats.org/drawingml/2006/main">
            <a:r>
              <a:t>対象:加工後測定も使い熱変位補正を調整する</a:t>
            </a:r>
          </a:p>
          <a:p xmlns:a="http://schemas.openxmlformats.org/drawingml/2006/main">
            <a:r>
              <a:t>公式要約:温度・回転等を考慮。加工後測定の学習で熱変位補正を最適化。</a:t>
            </a:r>
          </a:p>
          <a:p xmlns:a="http://schemas.openxmlformats.org/drawingml/2006/main">
            <a:r>
              <a:t>年度:製品資料の比較例。同機能の2026展示搭載・年度差は未確認。</a:t>
            </a:r>
          </a:p>
          <a:p xmlns:a="http://schemas.openxmlformats.org/drawingml/2006/main">
            <a:r>
              <a:t>人・未確認:測定準備・更新採否・補正限界の設定者は未確認。</a:t>
            </a:r>
          </a:p>
          <a:p xmlns:a="http://schemas.openxmlformats.org/drawingml/2006/main">
            <a:r>
              <a:t>Evidence:RPT-S03,EOV-V004-2024-1,EOV-V004-2026-1,EAT-N08</a:t>
            </a:r>
          </a:p>
          <a:p xmlns:a="http://schemas.openxmlformats.org/drawingml/2006/main">
            <a:r>
              <a:t/>
            </a:r>
          </a:p>
          <a:p xmlns:a="http://schemas.openxmlformats.org/drawingml/2006/main">
            <a:r>
              <a:t>B05-3 オークマ / 加工ナビM-i／M-gⅡ（製品資料による比較） / E3028</a:t>
            </a:r>
          </a:p>
          <a:p xmlns:a="http://schemas.openxmlformats.org/drawingml/2006/main">
            <a:r>
              <a:t>対象:びびり振動に応じ主軸回転数を調整する</a:t>
            </a:r>
          </a:p>
          <a:p xmlns:a="http://schemas.openxmlformats.org/drawingml/2006/main">
            <a:r>
              <a:t>公式要約:M-iは振動計測から主軸速度を自動変更。M-gⅡは速度候補を提示。</a:t>
            </a:r>
          </a:p>
          <a:p xmlns:a="http://schemas.openxmlformats.org/drawingml/2006/main">
            <a:r>
              <a:t>年度:既存製品技術の比較例。2024/2026の機能増分は未確認。</a:t>
            </a:r>
          </a:p>
          <a:p xmlns:a="http://schemas.openxmlformats.org/drawingml/2006/main">
            <a:r>
              <a:t>人・未確認:M-iは設定後に自動制御。M-gⅡは人が候補を選ぶ。</a:t>
            </a:r>
          </a:p>
          <a:p xmlns:a="http://schemas.openxmlformats.org/drawingml/2006/main">
            <a:r>
              <a:t>Evidence:RPT-S01,EOV-V003-2024-1,EOV-V003-2026-1</a:t>
            </a:r>
          </a:p>
          <a:p xmlns:a="http://schemas.openxmlformats.org/drawingml/2006/main">
            <a:r>
              <a:t/>
            </a:r>
          </a:p>
          <a:p xmlns:a="http://schemas.openxmlformats.org/drawingml/2006/main">
            <a:r>
              <a:t>原典</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RPT-S02 オークマ サーモフレンドリーコンセプト</a:t>
            </a:r>
          </a:p>
          <a:p xmlns:a="http://schemas.openxmlformats.org/drawingml/2006/main">
            <a:r>
              <a:t>https://www.okuma.co.jp/thermo-aniv/</a:t>
            </a:r>
          </a:p>
          <a:p xmlns:a="http://schemas.openxmlformats.org/drawingml/2006/main">
            <a:r>
              <a:t>該当箇所:サーモフレンドリーコンセプトの説明・沿革</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RPT-S03 Mazak Accuracy / Ai Thermal Shield</a:t>
            </a:r>
          </a:p>
          <a:p xmlns:a="http://schemas.openxmlformats.org/drawingml/2006/main">
            <a:r>
              <a:t>https://www.mazak.com/uk-en/technology/accuracy/</a:t>
            </a:r>
          </a:p>
          <a:p xmlns:a="http://schemas.openxmlformats.org/drawingml/2006/main">
            <a:r>
              <a:t>該当箇所:Ai Thermal Shield／Smooth Thermal Shield</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EOV-V004-2024-1 JIMTOF2024公式カタログ：ヤマザキマザック株式会社 (E5001)</a:t>
            </a:r>
          </a:p>
          <a:p xmlns:a="http://schemas.openxmlformats.org/drawingml/2006/main">
            <a:r>
              <a:t>https://www.jimtof.org/2024/search/jp/ESdetails?e=q0OrZBKM3uQ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EOV-V004-2026-1 JIMTOF2026公式カタログ：ヤマザキマザック株式会社 (E1001)</a:t>
            </a:r>
          </a:p>
          <a:p xmlns:a="http://schemas.openxmlformats.org/drawingml/2006/main">
            <a:r>
              <a:t>https://www.jimtof.org/search/jp/ESdetails?e=PJEgqNYlWes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EAT-N08 JIMTOF2026 Machines &amp; Automation Systems</a:t>
            </a:r>
          </a:p>
          <a:p xmlns:a="http://schemas.openxmlformats.org/drawingml/2006/main">
            <a:r>
              <a:t>https://www.mazak.com/jp-en/news-media/upcoming-events/jimtof2026/</a:t>
            </a:r>
          </a:p>
          <a:p xmlns:a="http://schemas.openxmlformats.org/drawingml/2006/main">
            <a:r>
              <a:t>該当箇所:Machines &amp; Automation Systems／Automation Systems</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展示:2026展示予定。AI機能の方式説明はない</a:t>
            </a:r>
          </a:p>
          <a:p xmlns:a="http://schemas.openxmlformats.org/drawingml/2006/main">
            <a:r>
              <a:t/>
            </a:r>
          </a:p>
          <a:p xmlns:a="http://schemas.openxmlformats.org/drawingml/2006/main">
            <a:r>
              <a:t>RPT-S01 オークマ 加工ナビ</a:t>
            </a:r>
          </a:p>
          <a:p xmlns:a="http://schemas.openxmlformats.org/drawingml/2006/main">
            <a:r>
              <a:t>https://www.okuma.co.jp/solution_technology/process/</a:t>
            </a:r>
          </a:p>
          <a:p xmlns:a="http://schemas.openxmlformats.org/drawingml/2006/main">
            <a:r>
              <a:t>該当箇所:加工ナビ M-i／M-gⅡ</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比較の見方[分析]:計測・推定・補正量決定・実行のどこにAIがあるかを分ける。</a:t>
            </a:r>
          </a:p>
          <a:p xmlns:a="http://schemas.openxmlformats.org/drawingml/2006/main">
            <a:r>
              <a:t/>
            </a:r>
          </a:p>
          <a:p xmlns:a="http://schemas.openxmlformats.org/drawingml/2006/main">
            <a:r>
              <a:t>計測から加工へのフィードバック</a:t>
            </a:r>
          </a:p>
          <a:p xmlns:a="http://schemas.openxmlformats.org/drawingml/2006/main">
            <a:r>
              <a:t>B06-1 レニショー / Renishaw Central＋IPC / E7089</a:t>
            </a:r>
          </a:p>
          <a:p xmlns:a="http://schemas.openxmlformats.org/drawingml/2006/main">
            <a:r>
              <a:t>対象:測定した寸法を加工補正へ戻す</a:t>
            </a:r>
          </a:p>
          <a:p xmlns:a="http://schemas.openxmlformats.org/drawingml/2006/main">
            <a:r>
              <a:t>公式要約:Renishaw Central＋IPCで工具オフセットや機械変数を更新。</a:t>
            </a:r>
          </a:p>
          <a:p xmlns:a="http://schemas.openxmlformats.org/drawingml/2006/main">
            <a:r>
              <a:t>年度:Centralは2024掲載済み。2026も継続。</a:t>
            </a:r>
          </a:p>
          <a:p xmlns:a="http://schemas.openxmlformats.org/drawingml/2006/main">
            <a:r>
              <a:t>人・未確認:計測不確かさ、補正上限、異常値の抑止条件は未確認。</a:t>
            </a:r>
          </a:p>
          <a:p xmlns:a="http://schemas.openxmlformats.org/drawingml/2006/main">
            <a:r>
              <a:t>Evidence:EOV-V018-2024-1,EOV-V018-2026-1,EOV-W03</a:t>
            </a:r>
          </a:p>
          <a:p xmlns:a="http://schemas.openxmlformats.org/drawingml/2006/main">
            <a:r>
              <a:t/>
            </a:r>
          </a:p>
          <a:p xmlns:a="http://schemas.openxmlformats.org/drawingml/2006/main">
            <a:r>
              <a:t>B06-2 Wintech Automation / HGM-DX：測定フィードバック研削 / W3051</a:t>
            </a:r>
          </a:p>
          <a:p xmlns:a="http://schemas.openxmlformats.org/drawingml/2006/main">
            <a:r>
              <a:t>対象:測定値を研削加工の補正へ戻す</a:t>
            </a:r>
          </a:p>
          <a:p xmlns:a="http://schemas.openxmlformats.org/drawingml/2006/main">
            <a:r>
              <a:t>公式要約:HGM-DXは測定値を研削機へ返し加工公差を自動補正。</a:t>
            </a:r>
          </a:p>
          <a:p xmlns:a="http://schemas.openxmlformats.org/drawingml/2006/main">
            <a:r>
              <a:t>年度:2024は製造・検査自動化。2026は測定→研削を具体記載。</a:t>
            </a:r>
          </a:p>
          <a:p xmlns:a="http://schemas.openxmlformats.org/drawingml/2006/main">
            <a:r>
              <a:t>人・未確認:補正上限と誤計測時の対応は未確認。</a:t>
            </a:r>
          </a:p>
          <a:p xmlns:a="http://schemas.openxmlformats.org/drawingml/2006/main">
            <a:r>
              <a:t>Evidence:EOV-V034-2024-1,EOV-V034-2026-1</a:t>
            </a:r>
          </a:p>
          <a:p xmlns:a="http://schemas.openxmlformats.org/drawingml/2006/main">
            <a:r>
              <a:t/>
            </a:r>
          </a:p>
          <a:p xmlns:a="http://schemas.openxmlformats.org/drawingml/2006/main">
            <a:r>
              <a:t>B06-3 株式会社サイバーRC / GH5：工具の3D画像認識・AI補正ホーニング / E7074</a:t>
            </a:r>
          </a:p>
          <a:p xmlns:a="http://schemas.openxmlformats.org/drawingml/2006/main">
            <a:r>
              <a:t>対象:工具刃先の幅・角度を狙い値へ加工する</a:t>
            </a:r>
          </a:p>
          <a:p xmlns:a="http://schemas.openxmlformats.org/drawingml/2006/main">
            <a:r>
              <a:t>公式要約:GH5は機内3D画像で刃先を測り、幅・角度の目標へAI補正。</a:t>
            </a:r>
          </a:p>
          <a:p xmlns:a="http://schemas.openxmlformats.org/drawingml/2006/main">
            <a:r>
              <a:t>年度:2024のGM5等から、2026はGH5の測定・加工一体化を記載。</a:t>
            </a:r>
          </a:p>
          <a:p xmlns:a="http://schemas.openxmlformats.org/drawingml/2006/main">
            <a:r>
              <a:t>人・未確認:目標値は人が設定。過研磨・測定不能時の停止復帰は未確認。</a:t>
            </a:r>
          </a:p>
          <a:p xmlns:a="http://schemas.openxmlformats.org/drawingml/2006/main">
            <a:r>
              <a:t>Evidence:EEX-EXH-2026-a0cbad27ea34d7c4,EEX-EXH-2024-76ac534a229f7c29,EDP-02</a:t>
            </a:r>
          </a:p>
          <a:p xmlns:a="http://schemas.openxmlformats.org/drawingml/2006/main">
            <a:r>
              <a:t/>
            </a:r>
          </a:p>
          <a:p xmlns:a="http://schemas.openxmlformats.org/drawingml/2006/main">
            <a:r>
              <a:t>原典</a:t>
            </a:r>
          </a:p>
          <a:p xmlns:a="http://schemas.openxmlformats.org/drawingml/2006/main">
            <a:r>
              <a:t>EOV-V018-2024-1 JIMTOF2024公式カタログ：レニショー株式会社 (E7026)</a:t>
            </a:r>
          </a:p>
          <a:p xmlns:a="http://schemas.openxmlformats.org/drawingml/2006/main">
            <a:r>
              <a:t>https://www.jimtof.org/2024/search/jp/ESdetails?e=ekM3exgIAtc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EOV-V018-2026-1 JIMTOF2026公式カタログ：レニショー株式会社 (E7089)</a:t>
            </a:r>
          </a:p>
          <a:p xmlns:a="http://schemas.openxmlformats.org/drawingml/2006/main">
            <a:r>
              <a:t>https://www.jimtof.org/search/jp/ESdetails?e=pYGmVz5GC1c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EOV-W03 Renishaw Central データプラットフォーム</a:t>
            </a:r>
          </a:p>
          <a:p xmlns:a="http://schemas.openxmlformats.org/drawingml/2006/main">
            <a:r>
              <a:t>https://www.renishaw.com/jp/smart-manufacturing-data-platform-for-industrial-process-control--47853</a:t>
            </a:r>
          </a:p>
          <a:p xmlns:a="http://schemas.openxmlformats.org/drawingml/2006/main">
            <a:r>
              <a:t>該当箇所:メカニズム、現場でのクローズドループ、導入効果</a:t>
            </a:r>
          </a:p>
          <a:p xmlns:a="http://schemas.openxmlformats.org/drawingml/2006/main">
            <a:r>
              <a:t>確認:2026-10-16</a:t>
            </a:r>
          </a:p>
          <a:p xmlns:a="http://schemas.openxmlformats.org/drawingml/2006/main">
            <a:r>
              <a:t>種類:企業公式資料・メーカー主張</a:t>
            </a:r>
          </a:p>
          <a:p xmlns:a="http://schemas.openxmlformats.org/drawingml/2006/main">
            <a:r>
              <a:t>展示:2024にも展示掲載済み。既存方式の実装例であり2026新規とはしない</a:t>
            </a:r>
          </a:p>
          <a:p xmlns:a="http://schemas.openxmlformats.org/drawingml/2006/main">
            <a:r>
              <a:t/>
            </a:r>
          </a:p>
          <a:p xmlns:a="http://schemas.openxmlformats.org/drawingml/2006/main">
            <a:r>
              <a:t>EOV-V034-2024-1 JIMTOF2024公式カタログ：Wintech Automation Co., Ltd. (E7025)</a:t>
            </a:r>
          </a:p>
          <a:p xmlns:a="http://schemas.openxmlformats.org/drawingml/2006/main">
            <a:r>
              <a:t>https://www.jimtof.org/2024/search/jp/ESdetails?e=-09Q4AWJx1E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EOV-V034-2026-1 JIMTOF2026公式カタログ：Wintech Automation Co., Ltd (W3051)</a:t>
            </a:r>
          </a:p>
          <a:p xmlns:a="http://schemas.openxmlformats.org/drawingml/2006/main">
            <a:r>
              <a:t>https://www.jimtof.org/search/jp/ESdetails?e=lMk3zNvQJbg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EEX-EXH-2026-a0cbad27ea34d7c4 JIMTOF2026公式出展説明：株式会社サイバーRC (E7074)</a:t>
            </a:r>
          </a:p>
          <a:p xmlns:a="http://schemas.openxmlformats.org/drawingml/2006/main">
            <a:r>
              <a:t>https://www.jimtof.org/search/jp/ESdetails?e=8ealehgmk8o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EEX-EXH-2024-76ac534a229f7c29 JIMTOF2024公式出展説明：株式会社サイバーRC (W3046)</a:t>
            </a:r>
          </a:p>
          <a:p xmlns:a="http://schemas.openxmlformats.org/drawingml/2006/main">
            <a:r>
              <a:t>https://www.jimtof.org/2024/search/jp/ESdetails?e=wk2AEX5rHpw</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EDP-02 GH5総合カタログ</a:t>
            </a:r>
          </a:p>
          <a:p xmlns:a="http://schemas.openxmlformats.org/drawingml/2006/main">
            <a:r>
              <a:t>https://cyber-rc.com/wp-content/uploads/2025/10/%E7%B7%8F%E5%90%88%E3%82%AB%E3%82%BF%E3%83%AD%E3%82%B0420-x-297-mm%E6%A8%AA%E4%B8%A6%E3%81%B3-.pdf</a:t>
            </a:r>
          </a:p>
          <a:p xmlns:a="http://schemas.openxmlformats.org/drawingml/2006/main">
            <a:r>
              <a:t>該当箇所:GRISTAR HONING 5 AXIS／幅・角度設定、Robot Eye、自動調整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比較の見方[分析]:判定モデルの改善と、撮像・搬送・出荷判定の自動化を分ける。</a:t>
            </a:r>
          </a:p>
          <a:p xmlns:a="http://schemas.openxmlformats.org/drawingml/2006/main">
            <a:r>
              <a:t/>
            </a:r>
          </a:p>
          <a:p xmlns:a="http://schemas.openxmlformats.org/drawingml/2006/main">
            <a:r>
              <a:t>外観検査・撮像と追加学習</a:t>
            </a:r>
          </a:p>
          <a:p xmlns:a="http://schemas.openxmlformats.org/drawingml/2006/main">
            <a:r>
              <a:t>B07-1 HACARUS / HACARUS Check ZERO / S1031</a:t>
            </a:r>
          </a:p>
          <a:p xmlns:a="http://schemas.openxmlformats.org/drawingml/2006/main">
            <a:r>
              <a:t>対象:製品表面の傷・欠け等を判定する</a:t>
            </a:r>
          </a:p>
          <a:p xmlns:a="http://schemas.openxmlformats.org/drawingml/2006/main">
            <a:r>
              <a:t>公式要約:ZEROは良品との差で異常を検出し、人の良否注釈で追加調整。</a:t>
            </a:r>
          </a:p>
          <a:p xmlns:a="http://schemas.openxmlformats.org/drawingml/2006/main">
            <a:r>
              <a:t>年度:追加学習は2025/7発表済み。2026だけの新機能としない。</a:t>
            </a:r>
          </a:p>
          <a:p xmlns:a="http://schemas.openxmlformats.org/drawingml/2006/main">
            <a:r>
              <a:t>人・未確認:人が画像・注釈を準備。更新モデル採用と出荷判定の権限は未確認。</a:t>
            </a:r>
          </a:p>
          <a:p xmlns:a="http://schemas.openxmlformats.org/drawingml/2006/main">
            <a:r>
              <a:t>Evidence:EOV-V021-2026-1,EOV-W06,EDP-14,EDP-15,ERF-05</a:t>
            </a:r>
          </a:p>
          <a:p xmlns:a="http://schemas.openxmlformats.org/drawingml/2006/main">
            <a:r>
              <a:t/>
            </a:r>
          </a:p>
          <a:p xmlns:a="http://schemas.openxmlformats.org/drawingml/2006/main">
            <a:r>
              <a:t>B07-2 日東商事 / HACARUS Check：協働ロボット多面検査 / S1031</a:t>
            </a:r>
          </a:p>
          <a:p xmlns:a="http://schemas.openxmlformats.org/drawingml/2006/main">
            <a:r>
              <a:t>対象:ワークを多方向から撮り外観を検査する</a:t>
            </a:r>
          </a:p>
          <a:p xmlns:a="http://schemas.openxmlformats.org/drawingml/2006/main">
            <a:r>
              <a:t>公式要約:協働ロボットで多角度撮像し、AIで傷・欠けを判定。</a:t>
            </a:r>
          </a:p>
          <a:p xmlns:a="http://schemas.openxmlformats.org/drawingml/2006/main">
            <a:r>
              <a:t>年度:日東商事2024の放電加工機展示から、AI検査を追加記載。</a:t>
            </a:r>
          </a:p>
          <a:p xmlns:a="http://schemas.openxmlformats.org/drawingml/2006/main">
            <a:r>
              <a:t>人・未確認:姿勢教示・再撮像・不良排出の権限は未確認。</a:t>
            </a:r>
          </a:p>
          <a:p xmlns:a="http://schemas.openxmlformats.org/drawingml/2006/main">
            <a:r>
              <a:t>Evidence:EOV-V022-2024-1,EOV-V022-2026-1</a:t>
            </a:r>
          </a:p>
          <a:p xmlns:a="http://schemas.openxmlformats.org/drawingml/2006/main">
            <a:r>
              <a:t/>
            </a:r>
          </a:p>
          <a:p xmlns:a="http://schemas.openxmlformats.org/drawingml/2006/main">
            <a:r>
              <a:t>B07-3 ブルーム-ノボテスト / FormControl X／DIGILOG / E7084</a:t>
            </a:r>
          </a:p>
          <a:p xmlns:a="http://schemas.openxmlformats.org/drawingml/2006/main">
            <a:r>
              <a:t>対象:機上のワーク形状と工具を測る</a:t>
            </a:r>
          </a:p>
          <a:p xmlns:a="http://schemas.openxmlformats.org/drawingml/2006/main">
            <a:r>
              <a:t>公式要約:機上3D測定と工具計測・欠け検知・補正を組み合わせる。</a:t>
            </a:r>
          </a:p>
          <a:p xmlns:a="http://schemas.openxmlformats.org/drawingml/2006/main">
            <a:r>
              <a:t>年度:2024のFormControl X等を継続し、2026はLC54等を追加。</a:t>
            </a:r>
          </a:p>
          <a:p xmlns:a="http://schemas.openxmlformats.org/drawingml/2006/main">
            <a:r>
              <a:t>人・未確認:校正・熱状態・機種適合の条件は未確認。</a:t>
            </a:r>
          </a:p>
          <a:p xmlns:a="http://schemas.openxmlformats.org/drawingml/2006/main">
            <a:r>
              <a:t>Evidence:EOV-V019-2024-1,EOV-V019-2026-1</a:t>
            </a:r>
          </a:p>
          <a:p xmlns:a="http://schemas.openxmlformats.org/drawingml/2006/main">
            <a:r>
              <a:t/>
            </a:r>
          </a:p>
          <a:p xmlns:a="http://schemas.openxmlformats.org/drawingml/2006/main">
            <a:r>
              <a:t>原典</a:t>
            </a:r>
          </a:p>
          <a:p xmlns:a="http://schemas.openxmlformats.org/drawingml/2006/main">
            <a:r>
              <a:t>EOV-V021-2026-1 JIMTOF2026公式カタログ：株式会社ＨＡＣＡＲＵＳ (S1031)</a:t>
            </a:r>
          </a:p>
          <a:p xmlns:a="http://schemas.openxmlformats.org/drawingml/2006/main">
            <a:r>
              <a:t>https://www.jimtof.org/search/jp/ESdetails?e=oatArsOZ-Wc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EOV-W06 AI外観検査ソリューション HACARUS Check</a:t>
            </a:r>
          </a:p>
          <a:p xmlns:a="http://schemas.openxmlformats.org/drawingml/2006/main">
            <a:r>
              <a:t>https://hacarus.com/ja/technology/hacarus-check-series/</a:t>
            </a:r>
          </a:p>
          <a:p xmlns:a="http://schemas.openxmlformats.org/drawingml/2006/main">
            <a:r>
              <a:t>該当箇所:2026.04.06本文</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展示:メーカー製品説明。独立評価の精度ではない</a:t>
            </a:r>
          </a:p>
          <a:p xmlns:a="http://schemas.openxmlformats.org/drawingml/2006/main">
            <a:r>
              <a:t/>
            </a:r>
          </a:p>
          <a:p xmlns:a="http://schemas.openxmlformats.org/drawingml/2006/main">
            <a:r>
              <a:t>EDP-14 Check ZERO正式販売開始</a:t>
            </a:r>
          </a:p>
          <a:p xmlns:a="http://schemas.openxmlformats.org/drawingml/2006/main">
            <a:r>
              <a:t>https://hacarus.com/ja/press-release/20250707-news/</a:t>
            </a:r>
          </a:p>
          <a:p xmlns:a="http://schemas.openxmlformats.org/drawingml/2006/main">
            <a:r>
              <a:t>該当箇所:2025/7/9販売／良品学習とアノテーション追加学習／判定UI</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EDP-15 Checkシリーズ公式製品説明</a:t>
            </a:r>
          </a:p>
          <a:p xmlns:a="http://schemas.openxmlformats.org/drawingml/2006/main">
            <a:r>
              <a:t>https://check.hacarus.com/ja/</a:t>
            </a:r>
          </a:p>
          <a:p xmlns:a="http://schemas.openxmlformats.org/drawingml/2006/main">
            <a:r>
              <a:t>該当箇所:Check ZERO／デュアルチューニング／機器構成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ERF-05 Check ZERO公式ソフトウェア説明</a:t>
            </a:r>
          </a:p>
          <a:p xmlns:a="http://schemas.openxmlformats.org/drawingml/2006/main">
            <a:r>
              <a:t>https://check.hacarus.com/ja/aisoftware/</a:t>
            </a:r>
          </a:p>
          <a:p xmlns:a="http://schemas.openxmlformats.org/drawingml/2006/main">
            <a:r>
              <a:t>該当箇所:特徴／異常箇所表示・良否アノテーション追加学習</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EOV-V022-2024-1 JIMTOF2024公式カタログ：日東商事株式会社 (E5040)</a:t>
            </a:r>
          </a:p>
          <a:p xmlns:a="http://schemas.openxmlformats.org/drawingml/2006/main">
            <a:r>
              <a:t>https://www.jimtof.org/2024/search/jp/ESdetails?e=S23RMUbJOQs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EOV-V022-2026-1 JIMTOF2026公式カタログ：日東商事株式会社 (S1031)</a:t>
            </a:r>
          </a:p>
          <a:p xmlns:a="http://schemas.openxmlformats.org/drawingml/2006/main">
            <a:r>
              <a:t>https://www.jimtof.org/search/jp/ESdetails?e=GozGZRxlviw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EOV-V019-2024-1 JIMTOF2024公式カタログ：ブルーム-ノボテスト株式会社 (E7132)</a:t>
            </a:r>
          </a:p>
          <a:p xmlns:a="http://schemas.openxmlformats.org/drawingml/2006/main">
            <a:r>
              <a:t>https://www.jimtof.org/2024/search/jp/ESdetails?e=Zz8BlB0Ylio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EOV-V019-2026-1 JIMTOF2026公式カタログ：ブルーム-ノボテスト株式会社 (E7084)</a:t>
            </a:r>
          </a:p>
          <a:p xmlns:a="http://schemas.openxmlformats.org/drawingml/2006/main">
            <a:r>
              <a:t>https://www.jimtof.org/search/jp/ESdetails?e=_njqMb9vBpc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比較の見方[分析]:摩耗の画像診断と、残寿命予測・交換実行は別段階。</a:t>
            </a:r>
          </a:p>
          <a:p xmlns:a="http://schemas.openxmlformats.org/drawingml/2006/main">
            <a:r>
              <a:t/>
            </a:r>
          </a:p>
          <a:p xmlns:a="http://schemas.openxmlformats.org/drawingml/2006/main">
            <a:r>
              <a:t>工具摩耗の判定・交換判断</a:t>
            </a:r>
          </a:p>
          <a:p xmlns:a="http://schemas.openxmlformats.org/drawingml/2006/main">
            <a:r>
              <a:t>B08-1 モリマシナリー / ツールコラージュ / S3048</a:t>
            </a:r>
          </a:p>
          <a:p xmlns:a="http://schemas.openxmlformats.org/drawingml/2006/main">
            <a:r>
              <a:t>対象:刃先の欠け・摩耗を判定し記録する</a:t>
            </a:r>
          </a:p>
          <a:p xmlns:a="http://schemas.openxmlformats.org/drawingml/2006/main">
            <a:r>
              <a:t>公式要約:刃先の診断箇所を認知し、欠け・摩耗をAI判定・記録。</a:t>
            </a:r>
          </a:p>
          <a:p xmlns:a="http://schemas.openxmlformats.org/drawingml/2006/main">
            <a:r>
              <a:t>年度:AI摩耗判定は2024にも説明済み。2026は継続。</a:t>
            </a:r>
          </a:p>
          <a:p xmlns:a="http://schemas.openxmlformats.org/drawingml/2006/main">
            <a:r>
              <a:t>人・未確認:対象工具と撮像条件を準備。継続使用の最終決定者は未確認。</a:t>
            </a:r>
          </a:p>
          <a:p xmlns:a="http://schemas.openxmlformats.org/drawingml/2006/main">
            <a:r>
              <a:t>Evidence:EOV-V024-2024-1,EOV-V024-2026-1,EDP-12</a:t>
            </a:r>
          </a:p>
          <a:p xmlns:a="http://schemas.openxmlformats.org/drawingml/2006/main">
            <a:r>
              <a:t/>
            </a:r>
          </a:p>
          <a:p xmlns:a="http://schemas.openxmlformats.org/drawingml/2006/main">
            <a:r>
              <a:t>B08-2 ハイデンハイン / VT122＋VTC 6.0 / E7043</a:t>
            </a:r>
          </a:p>
          <a:p xmlns:a="http://schemas.openxmlformats.org/drawingml/2006/main">
            <a:r>
              <a:t>対象:工具画像から摩耗状態を診断する</a:t>
            </a:r>
          </a:p>
          <a:p xmlns:a="http://schemas.openxmlformats.org/drawingml/2006/main">
            <a:r>
              <a:t>公式要約:VT122にVTC 6.0のAI摩耗診断・工具長機能を記載。</a:t>
            </a:r>
          </a:p>
          <a:p xmlns:a="http://schemas.openxmlformats.org/drawingml/2006/main">
            <a:r>
              <a:t>年度:2024はVT122検査。2026はAI摩耗診断を追加記載。</a:t>
            </a:r>
          </a:p>
          <a:p xmlns:a="http://schemas.openxmlformats.org/drawingml/2006/main">
            <a:r>
              <a:t>人・未確認:判定閾値と自動交換への接続は未確認。</a:t>
            </a:r>
          </a:p>
          <a:p xmlns:a="http://schemas.openxmlformats.org/drawingml/2006/main">
            <a:r>
              <a:t>Evidence:EOV-V023-2024-1,EOV-V023-2026-1</a:t>
            </a:r>
          </a:p>
          <a:p xmlns:a="http://schemas.openxmlformats.org/drawingml/2006/main">
            <a:r>
              <a:t/>
            </a:r>
          </a:p>
          <a:p xmlns:a="http://schemas.openxmlformats.org/drawingml/2006/main">
            <a:r>
              <a:t>B08-3 三菱電機 / NC MachiningAID（2024）／2026 CNC省人化 / S2003</a:t>
            </a:r>
          </a:p>
          <a:p xmlns:a="http://schemas.openxmlformats.org/drawingml/2006/main">
            <a:r>
              <a:t>対象:加工異常・工具摩耗・作業ミスを検知する</a:t>
            </a:r>
          </a:p>
          <a:p xmlns:a="http://schemas.openxmlformats.org/drawingml/2006/main">
            <a:r>
              <a:t>公式要約:2024のMachiningAIDは加工異常・工具摩耗・作業ミスをAI検知。</a:t>
            </a:r>
          </a:p>
          <a:p xmlns:a="http://schemas.openxmlformats.org/drawingml/2006/main">
            <a:r>
              <a:t>年度:2026はAI省人化の総論。個別機能の進化は比較不能。</a:t>
            </a:r>
          </a:p>
          <a:p xmlns:a="http://schemas.openxmlformats.org/drawingml/2006/main">
            <a:r>
              <a:t>人・未確認:2026の継承機能と自動停止・交換権限は未確認。</a:t>
            </a:r>
          </a:p>
          <a:p xmlns:a="http://schemas.openxmlformats.org/drawingml/2006/main">
            <a:r>
              <a:t>Evidence:EAT-V043-2024-1,EAT-V043-2026-1</a:t>
            </a:r>
          </a:p>
          <a:p xmlns:a="http://schemas.openxmlformats.org/drawingml/2006/main">
            <a:r>
              <a:t/>
            </a:r>
          </a:p>
          <a:p xmlns:a="http://schemas.openxmlformats.org/drawingml/2006/main">
            <a:r>
              <a:t>B08-4 モリマシナリー / ツールコラージュアナライザー / S3048</a:t>
            </a:r>
          </a:p>
          <a:p xmlns:a="http://schemas.openxmlformats.org/drawingml/2006/main">
            <a:r>
              <a:t>対象:切削工具をいつ交換するか</a:t>
            </a:r>
          </a:p>
          <a:p xmlns:a="http://schemas.openxmlformats.org/drawingml/2006/main">
            <a:r>
              <a:t>公式要約:摩耗幅のデータを蓄積・学習し、工具寿命と交換時期を提案する。</a:t>
            </a:r>
          </a:p>
          <a:p xmlns:a="http://schemas.openxmlformats.org/drawingml/2006/main">
            <a:r>
              <a:t>年度:2026は寿命予測と交換提案を具体掲載。ただし研究発表は2023にもあり、新方式の誕生とは扱わない。</a:t>
            </a:r>
          </a:p>
          <a:p xmlns:a="http://schemas.openxmlformats.org/drawingml/2006/main">
            <a:r>
              <a:t>人・未確認:人が工具・加工条件と提案の適用を確認する運用は要確認。</a:t>
            </a:r>
          </a:p>
          <a:p xmlns:a="http://schemas.openxmlformats.org/drawingml/2006/main">
            <a:r>
              <a:t>Evidence:EOV-V024-2024-1,EOV-V024-2026-1,EOV-W08</a:t>
            </a:r>
          </a:p>
          <a:p xmlns:a="http://schemas.openxmlformats.org/drawingml/2006/main">
            <a:r>
              <a:t/>
            </a:r>
          </a:p>
          <a:p xmlns:a="http://schemas.openxmlformats.org/drawingml/2006/main">
            <a:r>
              <a:t>B08-5 興和オプトロニクス / RW耐環境ビジョンユニット / S3104</a:t>
            </a:r>
          </a:p>
          <a:p xmlns:a="http://schemas.openxmlformats.org/drawingml/2006/main">
            <a:r>
              <a:t>対象:加工機内の工具折損・摩耗を見つける</a:t>
            </a:r>
          </a:p>
          <a:p xmlns:a="http://schemas.openxmlformats.org/drawingml/2006/main">
            <a:r>
              <a:t>公式要約:水・油・ミスト環境で撮像し、AIで工具折損・摩耗や切粉の異常蓄積を検知するとの説明。</a:t>
            </a:r>
          </a:p>
          <a:p xmlns:a="http://schemas.openxmlformats.org/drawingml/2006/main">
            <a:r>
              <a:t>年度:2024同名原典なし。2026の耐環境撮像とAI検知は確認、登場時期は比較不能。</a:t>
            </a:r>
          </a:p>
          <a:p xmlns:a="http://schemas.openxmlformats.org/drawingml/2006/main">
            <a:r>
              <a:t>人・未確認:対象工具、判定の閾値、検知後の停止・交換の分担は未確認。</a:t>
            </a:r>
          </a:p>
          <a:p xmlns:a="http://schemas.openxmlformats.org/drawingml/2006/main">
            <a:r>
              <a:t>Evidence:EOV-V042-2026-1,EDP-33</a:t>
            </a:r>
          </a:p>
          <a:p xmlns:a="http://schemas.openxmlformats.org/drawingml/2006/main">
            <a:r>
              <a:t/>
            </a:r>
          </a:p>
          <a:p xmlns:a="http://schemas.openxmlformats.org/drawingml/2006/main">
            <a:r>
              <a:t>B08-6 マーポス / ARTIS／BLU／VTS / E7087</a:t>
            </a:r>
          </a:p>
          <a:p xmlns:a="http://schemas.openxmlformats.org/drawingml/2006/main">
            <a:r>
              <a:t>対象:工具寸法と加工状態を測り・監視する</a:t>
            </a:r>
          </a:p>
          <a:p xmlns:a="http://schemas.openxmlformats.org/drawingml/2006/main">
            <a:r>
              <a:t>公式要約:カメラ・レーザーの工具測定と、工具・機械・加工プロセスの監視を展示。</a:t>
            </a:r>
          </a:p>
          <a:p xmlns:a="http://schemas.openxmlformats.org/drawingml/2006/main">
            <a:r>
              <a:t>年度:ARTIS・VTS等は2024にも掲載。2026の展示名だけでは機能の増分を断定できない。</a:t>
            </a:r>
          </a:p>
          <a:p xmlns:a="http://schemas.openxmlformats.org/drawingml/2006/main">
            <a:r>
              <a:t>人・未確認:交換・停止を決める基準と、各機能のAI使用は未確認。</a:t>
            </a:r>
          </a:p>
          <a:p xmlns:a="http://schemas.openxmlformats.org/drawingml/2006/main">
            <a:r>
              <a:t>Evidence:EOV-V020-2024-1,EOV-V020-2026-1</a:t>
            </a:r>
          </a:p>
          <a:p xmlns:a="http://schemas.openxmlformats.org/drawingml/2006/main">
            <a:r>
              <a:t/>
            </a:r>
          </a:p>
          <a:p xmlns:a="http://schemas.openxmlformats.org/drawingml/2006/main">
            <a:r>
              <a:t>B08-7 Masterlink / 工作機械センシングの知能化による生産性向上： / E1050</a:t>
            </a:r>
          </a:p>
          <a:p xmlns:a="http://schemas.openxmlformats.org/drawingml/2006/main">
            <a:r>
              <a:t>対象:工具の異常を監視する（方式要確認）</a:t>
            </a:r>
          </a:p>
          <a:p xmlns:a="http://schemas.openxmlformats.org/drawingml/2006/main">
            <a:r>
              <a:t>公式要約:工具監視、適応加工、予知保全を出展項目として掲載。入力信号と判定方式は未記載。</a:t>
            </a:r>
          </a:p>
          <a:p xmlns:a="http://schemas.openxmlformats.org/drawingml/2006/main">
            <a:r>
              <a:t>年度:2024はセンシング・現場管理の総論。2026は工具監視等を列挙。性能差は不明。</a:t>
            </a:r>
          </a:p>
          <a:p xmlns:a="http://schemas.openxmlformats.org/drawingml/2006/main">
            <a:r>
              <a:t>人・未確認:監視結果から停止・交換へ移す手順、担当者は未確認。</a:t>
            </a:r>
          </a:p>
          <a:p xmlns:a="http://schemas.openxmlformats.org/drawingml/2006/main">
            <a:r>
              <a:t>Evidence:EEX-EXH-2026-19ce238d137fe275,EEX-EXH-2024-a2fae1d1864676d1</a:t>
            </a:r>
          </a:p>
          <a:p xmlns:a="http://schemas.openxmlformats.org/drawingml/2006/main">
            <a:r>
              <a:t/>
            </a:r>
          </a:p>
          <a:p xmlns:a="http://schemas.openxmlformats.org/drawingml/2006/main">
            <a:r>
              <a:t>原典</a:t>
            </a:r>
          </a:p>
          <a:p xmlns:a="http://schemas.openxmlformats.org/drawingml/2006/main">
            <a:r>
              <a:t>EOV-V024-2024-1 JIMTOF2024公式カタログ：モリマシナリー株式会社 (S3017)</a:t>
            </a:r>
          </a:p>
          <a:p xmlns:a="http://schemas.openxmlformats.org/drawingml/2006/main">
            <a:r>
              <a:t>https://www.jimtof.org/2024/search/jp/ESdetails?e=yEoPl5sH6Sg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EOV-V024-2026-1 JIMTOF2026公式カタログ：モリマシナリー株式会社 (S3048)</a:t>
            </a:r>
          </a:p>
          <a:p xmlns:a="http://schemas.openxmlformats.org/drawingml/2006/main">
            <a:r>
              <a:t>https://www.jimtof.org/search/jp/ESdetails?e=ZvT3Lci-hnM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EDP-12 TOOL SOMMELIER／TOOL COLLAGE</a:t>
            </a:r>
          </a:p>
          <a:p xmlns:a="http://schemas.openxmlformats.org/drawingml/2006/main">
            <a:r>
              <a:t>https://mori-machinery.com/en/product/tool-sommelier?post_id=1066</a:t>
            </a:r>
          </a:p>
          <a:p xmlns:a="http://schemas.openxmlformats.org/drawingml/2006/main">
            <a:r>
              <a:t>該当箇所:刃先撮像・欠け摩耗自動検出／FAQの工具・径制約</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EOV-V023-2024-1 JIMTOF2024公式カタログ：ハイデンハイン株式会社 (E7123)</a:t>
            </a:r>
          </a:p>
          <a:p xmlns:a="http://schemas.openxmlformats.org/drawingml/2006/main">
            <a:r>
              <a:t>https://www.jimtof.org/2024/search/jp/ESdetails?e=GFSwCXSxe9o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EOV-V023-2026-1 JIMTOF2026公式カタログ：ハイデンハイン株式会社 (E7043)</a:t>
            </a:r>
          </a:p>
          <a:p xmlns:a="http://schemas.openxmlformats.org/drawingml/2006/main">
            <a:r>
              <a:t>https://www.jimtof.org/search/jp/ESdetails?e=iohDR5yR9VA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EAT-V043-2024-1 JIMTOF2024公式カタログ：三菱電機株式会社</a:t>
            </a:r>
          </a:p>
          <a:p xmlns:a="http://schemas.openxmlformats.org/drawingml/2006/main">
            <a:r>
              <a:t>https://www.jimtof.org/2024/search/jp/ESdetails?e=30li0vWcseI</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展示:2024当時の説明・事後実演確認ではない</a:t>
            </a:r>
          </a:p>
          <a:p xmlns:a="http://schemas.openxmlformats.org/drawingml/2006/main">
            <a:r>
              <a:t/>
            </a:r>
          </a:p>
          <a:p xmlns:a="http://schemas.openxmlformats.org/drawingml/2006/main">
            <a:r>
              <a:t>EAT-V043-2026-1 JIMTOF2026公式カタログ：三菱電機株式会社</a:t>
            </a:r>
          </a:p>
          <a:p xmlns:a="http://schemas.openxmlformats.org/drawingml/2006/main">
            <a:r>
              <a:t>https://www.jimtof.org/search/jp/ESdetails?e=AjLnzm01WWU</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EOV-W08 工具の欠け・摩耗・寿命を推定するAI研究発表</a:t>
            </a:r>
          </a:p>
          <a:p xmlns:a="http://schemas.openxmlformats.org/drawingml/2006/main">
            <a:r>
              <a:t>https://mori-machinery.com/wp-content/uploads/2023/06/%E7%86%9F%E7%B7%B4%E8%80%85%E3%81%AE%E7%B5%8C%E9%A8%93%E7%9F%A5%E3%82%92%E3%82%82%E3%81%A8%E3%81%AB%E5%88%87%E5%89%8A%E5%B7%A5%E5%85%B7%E3%81%AE%E6%AC%A0%E3%81%91%E3%83%BB%E6%91%A9%E8%80%97%E3%83%BB%E5%AF%BF%E5%91%BD%E3%82%92%E6%8E%A8%E5%AE%9A%E3%81%99%E3%82%8BAI%E3%82%92%E9%96%8B%E7%99%BA.pdf</a:t>
            </a:r>
          </a:p>
          <a:p xmlns:a="http://schemas.openxmlformats.org/drawingml/2006/main">
            <a:r>
              <a:t>該当箇所:2023年6月2日、成果と今後の展望</a:t>
            </a:r>
          </a:p>
          <a:p xmlns:a="http://schemas.openxmlformats.org/drawingml/2006/main">
            <a:r>
              <a:t>確認:2026-10-16</a:t>
            </a:r>
          </a:p>
          <a:p xmlns:a="http://schemas.openxmlformats.org/drawingml/2006/main">
            <a:r>
              <a:t>種類:企業公式資料・メーカー主張</a:t>
            </a:r>
          </a:p>
          <a:p xmlns:a="http://schemas.openxmlformats.org/drawingml/2006/main">
            <a:r>
              <a:t>展示:公式検索の該当箇所で確認。研究段階の数値を商用性能に転用していない</a:t>
            </a:r>
          </a:p>
          <a:p xmlns:a="http://schemas.openxmlformats.org/drawingml/2006/main">
            <a:r>
              <a:t/>
            </a:r>
          </a:p>
          <a:p xmlns:a="http://schemas.openxmlformats.org/drawingml/2006/main">
            <a:r>
              <a:t>EOV-V042-2026-1 JIMTOF2026公式カタログ：興和オプトロニクス株式会社 (S3104)</a:t>
            </a:r>
          </a:p>
          <a:p xmlns:a="http://schemas.openxmlformats.org/drawingml/2006/main">
            <a:r>
              <a:t>https://www.jimtof.org/search/jp/ESdetails?e=v6nw4APC-vQ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EDP-33 RW回転機構付きビジョンユニット</a:t>
            </a:r>
          </a:p>
          <a:p xmlns:a="http://schemas.openxmlformats.org/drawingml/2006/main">
            <a:r>
              <a:t>https://optical.kowa-opt.co.jp/camera-rw/</a:t>
            </a:r>
          </a:p>
          <a:p xmlns:a="http://schemas.openxmlformats.org/drawingml/2006/main">
            <a:r>
              <a:t>該当箇所:ビジョンプロセッサ併用の不良ヒートマップ・切粉巻付きアラート・工具欠損検出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EOV-V020-2024-1 JIMTOF2024公式カタログ：マーポス株式会社 (E7107)</a:t>
            </a:r>
          </a:p>
          <a:p xmlns:a="http://schemas.openxmlformats.org/drawingml/2006/main">
            <a:r>
              <a:t>https://www.jimtof.org/2024/search/jp/ESdetails?e=K8FKaawJkn0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EOV-V020-2026-1 JIMTOF2026公式カタログ：マーポス株式会社 (E7087)</a:t>
            </a:r>
          </a:p>
          <a:p xmlns:a="http://schemas.openxmlformats.org/drawingml/2006/main">
            <a:r>
              <a:t>https://www.jimtof.org/search/jp/ESdetails?e=tThKOA-gm8s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EEX-EXH-2026-19ce238d137fe275 JIMTOF2026公式出展説明：Masterlink (E1050)</a:t>
            </a:r>
          </a:p>
          <a:p xmlns:a="http://schemas.openxmlformats.org/drawingml/2006/main">
            <a:r>
              <a:t>https://www.jimtof.org/search/jp/ESdetails?e=kygm0UxJL-M</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EEX-EXH-2024-a2fae1d1864676d1 JIMTOF2024公式出展説明：Masterlink (E7052)</a:t>
            </a:r>
          </a:p>
          <a:p xmlns:a="http://schemas.openxmlformats.org/drawingml/2006/main">
            <a:r>
              <a:t>https://www.jimtof.org/2024/search/jp/ESdetails?e=58-lhh4o9Oo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比較の見方[分析]:摩耗の画像診断と、残寿命予測・交換実行は別段階。</a:t>
            </a:r>
          </a:p>
          <a:p xmlns:a="http://schemas.openxmlformats.org/drawingml/2006/main">
            <a:r>
              <a:t/>
            </a:r>
          </a:p>
          <a:p xmlns:a="http://schemas.openxmlformats.org/drawingml/2006/main">
            <a:r>
              <a:t>工具摩耗の判定・交換判断</a:t>
            </a:r>
          </a:p>
          <a:p xmlns:a="http://schemas.openxmlformats.org/drawingml/2006/main">
            <a:r>
              <a:t>B08-1 モリマシナリー / ツールコラージュ / S3048</a:t>
            </a:r>
          </a:p>
          <a:p xmlns:a="http://schemas.openxmlformats.org/drawingml/2006/main">
            <a:r>
              <a:t>対象:刃先の欠け・摩耗を判定し記録する</a:t>
            </a:r>
          </a:p>
          <a:p xmlns:a="http://schemas.openxmlformats.org/drawingml/2006/main">
            <a:r>
              <a:t>公式要約:刃先の診断箇所を認知し、欠け・摩耗をAI判定・記録。</a:t>
            </a:r>
          </a:p>
          <a:p xmlns:a="http://schemas.openxmlformats.org/drawingml/2006/main">
            <a:r>
              <a:t>年度:AI摩耗判定は2024にも説明済み。2026は継続。</a:t>
            </a:r>
          </a:p>
          <a:p xmlns:a="http://schemas.openxmlformats.org/drawingml/2006/main">
            <a:r>
              <a:t>人・未確認:対象工具と撮像条件を準備。継続使用の最終決定者は未確認。</a:t>
            </a:r>
          </a:p>
          <a:p xmlns:a="http://schemas.openxmlformats.org/drawingml/2006/main">
            <a:r>
              <a:t>Evidence:EOV-V024-2024-1,EOV-V024-2026-1,EDP-12</a:t>
            </a:r>
          </a:p>
          <a:p xmlns:a="http://schemas.openxmlformats.org/drawingml/2006/main">
            <a:r>
              <a:t/>
            </a:r>
          </a:p>
          <a:p xmlns:a="http://schemas.openxmlformats.org/drawingml/2006/main">
            <a:r>
              <a:t>B08-2 ハイデンハイン / VT122＋VTC 6.0 / E7043</a:t>
            </a:r>
          </a:p>
          <a:p xmlns:a="http://schemas.openxmlformats.org/drawingml/2006/main">
            <a:r>
              <a:t>対象:工具画像から摩耗状態を診断する</a:t>
            </a:r>
          </a:p>
          <a:p xmlns:a="http://schemas.openxmlformats.org/drawingml/2006/main">
            <a:r>
              <a:t>公式要約:VT122にVTC 6.0のAI摩耗診断・工具長機能を記載。</a:t>
            </a:r>
          </a:p>
          <a:p xmlns:a="http://schemas.openxmlformats.org/drawingml/2006/main">
            <a:r>
              <a:t>年度:2024はVT122検査。2026はAI摩耗診断を追加記載。</a:t>
            </a:r>
          </a:p>
          <a:p xmlns:a="http://schemas.openxmlformats.org/drawingml/2006/main">
            <a:r>
              <a:t>人・未確認:判定閾値と自動交換への接続は未確認。</a:t>
            </a:r>
          </a:p>
          <a:p xmlns:a="http://schemas.openxmlformats.org/drawingml/2006/main">
            <a:r>
              <a:t>Evidence:EOV-V023-2024-1,EOV-V023-2026-1</a:t>
            </a:r>
          </a:p>
          <a:p xmlns:a="http://schemas.openxmlformats.org/drawingml/2006/main">
            <a:r>
              <a:t/>
            </a:r>
          </a:p>
          <a:p xmlns:a="http://schemas.openxmlformats.org/drawingml/2006/main">
            <a:r>
              <a:t>B08-3 三菱電機 / NC MachiningAID（2024）／2026 CNC省人化 / S2003</a:t>
            </a:r>
          </a:p>
          <a:p xmlns:a="http://schemas.openxmlformats.org/drawingml/2006/main">
            <a:r>
              <a:t>対象:加工異常・工具摩耗・作業ミスを検知する</a:t>
            </a:r>
          </a:p>
          <a:p xmlns:a="http://schemas.openxmlformats.org/drawingml/2006/main">
            <a:r>
              <a:t>公式要約:2024のMachiningAIDは加工異常・工具摩耗・作業ミスをAI検知。</a:t>
            </a:r>
          </a:p>
          <a:p xmlns:a="http://schemas.openxmlformats.org/drawingml/2006/main">
            <a:r>
              <a:t>年度:2026はAI省人化の総論。個別機能の進化は比較不能。</a:t>
            </a:r>
          </a:p>
          <a:p xmlns:a="http://schemas.openxmlformats.org/drawingml/2006/main">
            <a:r>
              <a:t>人・未確認:2026の継承機能と自動停止・交換権限は未確認。</a:t>
            </a:r>
          </a:p>
          <a:p xmlns:a="http://schemas.openxmlformats.org/drawingml/2006/main">
            <a:r>
              <a:t>Evidence:EAT-V043-2024-1,EAT-V043-2026-1</a:t>
            </a:r>
          </a:p>
          <a:p xmlns:a="http://schemas.openxmlformats.org/drawingml/2006/main">
            <a:r>
              <a:t/>
            </a:r>
          </a:p>
          <a:p xmlns:a="http://schemas.openxmlformats.org/drawingml/2006/main">
            <a:r>
              <a:t>B08-4 モリマシナリー / ツールコラージュアナライザー / S3048</a:t>
            </a:r>
          </a:p>
          <a:p xmlns:a="http://schemas.openxmlformats.org/drawingml/2006/main">
            <a:r>
              <a:t>対象:切削工具をいつ交換するか</a:t>
            </a:r>
          </a:p>
          <a:p xmlns:a="http://schemas.openxmlformats.org/drawingml/2006/main">
            <a:r>
              <a:t>公式要約:摩耗幅のデータを蓄積・学習し、工具寿命と交換時期を提案する。</a:t>
            </a:r>
          </a:p>
          <a:p xmlns:a="http://schemas.openxmlformats.org/drawingml/2006/main">
            <a:r>
              <a:t>年度:2026は寿命予測と交換提案を具体掲載。ただし研究発表は2023にもあり、新方式の誕生とは扱わない。</a:t>
            </a:r>
          </a:p>
          <a:p xmlns:a="http://schemas.openxmlformats.org/drawingml/2006/main">
            <a:r>
              <a:t>人・未確認:人が工具・加工条件と提案の適用を確認する運用は要確認。</a:t>
            </a:r>
          </a:p>
          <a:p xmlns:a="http://schemas.openxmlformats.org/drawingml/2006/main">
            <a:r>
              <a:t>Evidence:EOV-V024-2024-1,EOV-V024-2026-1,EOV-W08</a:t>
            </a:r>
          </a:p>
          <a:p xmlns:a="http://schemas.openxmlformats.org/drawingml/2006/main">
            <a:r>
              <a:t/>
            </a:r>
          </a:p>
          <a:p xmlns:a="http://schemas.openxmlformats.org/drawingml/2006/main">
            <a:r>
              <a:t>B08-5 興和オプトロニクス / RW耐環境ビジョンユニット / S3104</a:t>
            </a:r>
          </a:p>
          <a:p xmlns:a="http://schemas.openxmlformats.org/drawingml/2006/main">
            <a:r>
              <a:t>対象:加工機内の工具折損・摩耗を見つける</a:t>
            </a:r>
          </a:p>
          <a:p xmlns:a="http://schemas.openxmlformats.org/drawingml/2006/main">
            <a:r>
              <a:t>公式要約:水・油・ミスト環境で撮像し、AIで工具折損・摩耗や切粉の異常蓄積を検知するとの説明。</a:t>
            </a:r>
          </a:p>
          <a:p xmlns:a="http://schemas.openxmlformats.org/drawingml/2006/main">
            <a:r>
              <a:t>年度:2024同名原典なし。2026の耐環境撮像とAI検知は確認、登場時期は比較不能。</a:t>
            </a:r>
          </a:p>
          <a:p xmlns:a="http://schemas.openxmlformats.org/drawingml/2006/main">
            <a:r>
              <a:t>人・未確認:対象工具、判定の閾値、検知後の停止・交換の分担は未確認。</a:t>
            </a:r>
          </a:p>
          <a:p xmlns:a="http://schemas.openxmlformats.org/drawingml/2006/main">
            <a:r>
              <a:t>Evidence:EOV-V042-2026-1,EDP-33</a:t>
            </a:r>
          </a:p>
          <a:p xmlns:a="http://schemas.openxmlformats.org/drawingml/2006/main">
            <a:r>
              <a:t/>
            </a:r>
          </a:p>
          <a:p xmlns:a="http://schemas.openxmlformats.org/drawingml/2006/main">
            <a:r>
              <a:t>B08-6 マーポス / ARTIS／BLU／VTS / E7087</a:t>
            </a:r>
          </a:p>
          <a:p xmlns:a="http://schemas.openxmlformats.org/drawingml/2006/main">
            <a:r>
              <a:t>対象:工具寸法と加工状態を測り・監視する</a:t>
            </a:r>
          </a:p>
          <a:p xmlns:a="http://schemas.openxmlformats.org/drawingml/2006/main">
            <a:r>
              <a:t>公式要約:カメラ・レーザーの工具測定と、工具・機械・加工プロセスの監視を展示。</a:t>
            </a:r>
          </a:p>
          <a:p xmlns:a="http://schemas.openxmlformats.org/drawingml/2006/main">
            <a:r>
              <a:t>年度:ARTIS・VTS等は2024にも掲載。2026の展示名だけでは機能の増分を断定できない。</a:t>
            </a:r>
          </a:p>
          <a:p xmlns:a="http://schemas.openxmlformats.org/drawingml/2006/main">
            <a:r>
              <a:t>人・未確認:交換・停止を決める基準と、各機能のAI使用は未確認。</a:t>
            </a:r>
          </a:p>
          <a:p xmlns:a="http://schemas.openxmlformats.org/drawingml/2006/main">
            <a:r>
              <a:t>Evidence:EOV-V020-2024-1,EOV-V020-2026-1</a:t>
            </a:r>
          </a:p>
          <a:p xmlns:a="http://schemas.openxmlformats.org/drawingml/2006/main">
            <a:r>
              <a:t/>
            </a:r>
          </a:p>
          <a:p xmlns:a="http://schemas.openxmlformats.org/drawingml/2006/main">
            <a:r>
              <a:t>B08-7 Masterlink / 工作機械センシングの知能化による生産性向上： / E1050</a:t>
            </a:r>
          </a:p>
          <a:p xmlns:a="http://schemas.openxmlformats.org/drawingml/2006/main">
            <a:r>
              <a:t>対象:工具の異常を監視する（方式要確認）</a:t>
            </a:r>
          </a:p>
          <a:p xmlns:a="http://schemas.openxmlformats.org/drawingml/2006/main">
            <a:r>
              <a:t>公式要約:工具監視、適応加工、予知保全を出展項目として掲載。入力信号と判定方式は未記載。</a:t>
            </a:r>
          </a:p>
          <a:p xmlns:a="http://schemas.openxmlformats.org/drawingml/2006/main">
            <a:r>
              <a:t>年度:2024はセンシング・現場管理の総論。2026は工具監視等を列挙。性能差は不明。</a:t>
            </a:r>
          </a:p>
          <a:p xmlns:a="http://schemas.openxmlformats.org/drawingml/2006/main">
            <a:r>
              <a:t>人・未確認:監視結果から停止・交換へ移す手順、担当者は未確認。</a:t>
            </a:r>
          </a:p>
          <a:p xmlns:a="http://schemas.openxmlformats.org/drawingml/2006/main">
            <a:r>
              <a:t>Evidence:EEX-EXH-2026-19ce238d137fe275,EEX-EXH-2024-a2fae1d1864676d1</a:t>
            </a:r>
          </a:p>
          <a:p xmlns:a="http://schemas.openxmlformats.org/drawingml/2006/main">
            <a:r>
              <a:t/>
            </a:r>
          </a:p>
          <a:p xmlns:a="http://schemas.openxmlformats.org/drawingml/2006/main">
            <a:r>
              <a:t>原典</a:t>
            </a:r>
          </a:p>
          <a:p xmlns:a="http://schemas.openxmlformats.org/drawingml/2006/main">
            <a:r>
              <a:t>EOV-V024-2024-1 JIMTOF2024公式カタログ：モリマシナリー株式会社 (S3017)</a:t>
            </a:r>
          </a:p>
          <a:p xmlns:a="http://schemas.openxmlformats.org/drawingml/2006/main">
            <a:r>
              <a:t>https://www.jimtof.org/2024/search/jp/ESdetails?e=yEoPl5sH6Sg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EOV-V024-2026-1 JIMTOF2026公式カタログ：モリマシナリー株式会社 (S3048)</a:t>
            </a:r>
          </a:p>
          <a:p xmlns:a="http://schemas.openxmlformats.org/drawingml/2006/main">
            <a:r>
              <a:t>https://www.jimtof.org/search/jp/ESdetails?e=ZvT3Lci-hnM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EDP-12 TOOL SOMMELIER／TOOL COLLAGE</a:t>
            </a:r>
          </a:p>
          <a:p xmlns:a="http://schemas.openxmlformats.org/drawingml/2006/main">
            <a:r>
              <a:t>https://mori-machinery.com/en/product/tool-sommelier?post_id=1066</a:t>
            </a:r>
          </a:p>
          <a:p xmlns:a="http://schemas.openxmlformats.org/drawingml/2006/main">
            <a:r>
              <a:t>該当箇所:刃先撮像・欠け摩耗自動検出／FAQの工具・径制約</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EOV-V023-2024-1 JIMTOF2024公式カタログ：ハイデンハイン株式会社 (E7123)</a:t>
            </a:r>
          </a:p>
          <a:p xmlns:a="http://schemas.openxmlformats.org/drawingml/2006/main">
            <a:r>
              <a:t>https://www.jimtof.org/2024/search/jp/ESdetails?e=GFSwCXSxe9o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EOV-V023-2026-1 JIMTOF2026公式カタログ：ハイデンハイン株式会社 (E7043)</a:t>
            </a:r>
          </a:p>
          <a:p xmlns:a="http://schemas.openxmlformats.org/drawingml/2006/main">
            <a:r>
              <a:t>https://www.jimtof.org/search/jp/ESdetails?e=iohDR5yR9VA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EAT-V043-2024-1 JIMTOF2024公式カタログ：三菱電機株式会社</a:t>
            </a:r>
          </a:p>
          <a:p xmlns:a="http://schemas.openxmlformats.org/drawingml/2006/main">
            <a:r>
              <a:t>https://www.jimtof.org/2024/search/jp/ESdetails?e=30li0vWcseI</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展示:2024当時の説明・事後実演確認ではない</a:t>
            </a:r>
          </a:p>
          <a:p xmlns:a="http://schemas.openxmlformats.org/drawingml/2006/main">
            <a:r>
              <a:t/>
            </a:r>
          </a:p>
          <a:p xmlns:a="http://schemas.openxmlformats.org/drawingml/2006/main">
            <a:r>
              <a:t>EAT-V043-2026-1 JIMTOF2026公式カタログ：三菱電機株式会社</a:t>
            </a:r>
          </a:p>
          <a:p xmlns:a="http://schemas.openxmlformats.org/drawingml/2006/main">
            <a:r>
              <a:t>https://www.jimtof.org/search/jp/ESdetails?e=AjLnzm01WWU</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EOV-W08 工具の欠け・摩耗・寿命を推定するAI研究発表</a:t>
            </a:r>
          </a:p>
          <a:p xmlns:a="http://schemas.openxmlformats.org/drawingml/2006/main">
            <a:r>
              <a:t>https://mori-machinery.com/wp-content/uploads/2023/06/%E7%86%9F%E7%B7%B4%E8%80%85%E3%81%AE%E7%B5%8C%E9%A8%93%E7%9F%A5%E3%82%92%E3%82%82%E3%81%A8%E3%81%AB%E5%88%87%E5%89%8A%E5%B7%A5%E5%85%B7%E3%81%AE%E6%AC%A0%E3%81%91%E3%83%BB%E6%91%A9%E8%80%97%E3%83%BB%E5%AF%BF%E5%91%BD%E3%82%92%E6%8E%A8%E5%AE%9A%E3%81%99%E3%82%8BAI%E3%82%92%E9%96%8B%E7%99%BA.pdf</a:t>
            </a:r>
          </a:p>
          <a:p xmlns:a="http://schemas.openxmlformats.org/drawingml/2006/main">
            <a:r>
              <a:t>該当箇所:2023年6月2日、成果と今後の展望</a:t>
            </a:r>
          </a:p>
          <a:p xmlns:a="http://schemas.openxmlformats.org/drawingml/2006/main">
            <a:r>
              <a:t>確認:2026-10-16</a:t>
            </a:r>
          </a:p>
          <a:p xmlns:a="http://schemas.openxmlformats.org/drawingml/2006/main">
            <a:r>
              <a:t>種類:企業公式資料・メーカー主張</a:t>
            </a:r>
          </a:p>
          <a:p xmlns:a="http://schemas.openxmlformats.org/drawingml/2006/main">
            <a:r>
              <a:t>展示:公式検索の該当箇所で確認。研究段階の数値を商用性能に転用していない</a:t>
            </a:r>
          </a:p>
          <a:p xmlns:a="http://schemas.openxmlformats.org/drawingml/2006/main">
            <a:r>
              <a:t/>
            </a:r>
          </a:p>
          <a:p xmlns:a="http://schemas.openxmlformats.org/drawingml/2006/main">
            <a:r>
              <a:t>EOV-V042-2026-1 JIMTOF2026公式カタログ：興和オプトロニクス株式会社 (S3104)</a:t>
            </a:r>
          </a:p>
          <a:p xmlns:a="http://schemas.openxmlformats.org/drawingml/2006/main">
            <a:r>
              <a:t>https://www.jimtof.org/search/jp/ESdetails?e=v6nw4APC-vQ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EDP-33 RW回転機構付きビジョンユニット</a:t>
            </a:r>
          </a:p>
          <a:p xmlns:a="http://schemas.openxmlformats.org/drawingml/2006/main">
            <a:r>
              <a:t>https://optical.kowa-opt.co.jp/camera-rw/</a:t>
            </a:r>
          </a:p>
          <a:p xmlns:a="http://schemas.openxmlformats.org/drawingml/2006/main">
            <a:r>
              <a:t>該当箇所:ビジョンプロセッサ併用の不良ヒートマップ・切粉巻付きアラート・工具欠損検出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EOV-V020-2024-1 JIMTOF2024公式カタログ：マーポス株式会社 (E7107)</a:t>
            </a:r>
          </a:p>
          <a:p xmlns:a="http://schemas.openxmlformats.org/drawingml/2006/main">
            <a:r>
              <a:t>https://www.jimtof.org/2024/search/jp/ESdetails?e=K8FKaawJkn0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EOV-V020-2026-1 JIMTOF2026公式カタログ：マーポス株式会社 (E7087)</a:t>
            </a:r>
          </a:p>
          <a:p xmlns:a="http://schemas.openxmlformats.org/drawingml/2006/main">
            <a:r>
              <a:t>https://www.jimtof.org/search/jp/ESdetails?e=tThKOA-gm8s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EEX-EXH-2026-19ce238d137fe275 JIMTOF2026公式出展説明：Masterlink (E1050)</a:t>
            </a:r>
          </a:p>
          <a:p xmlns:a="http://schemas.openxmlformats.org/drawingml/2006/main">
            <a:r>
              <a:t>https://www.jimtof.org/search/jp/ESdetails?e=kygm0UxJL-M</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EEX-EXH-2024-a2fae1d1864676d1 JIMTOF2024公式出展説明：Masterlink (E7052)</a:t>
            </a:r>
          </a:p>
          <a:p xmlns:a="http://schemas.openxmlformats.org/drawingml/2006/main">
            <a:r>
              <a:t>https://www.jimtof.org/2024/search/jp/ESdetails?e=58-lhh4o9Oo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比較の見方[分析]:摩耗の画像診断と、残寿命予測・交換実行は別段階。</a:t>
            </a:r>
          </a:p>
          <a:p xmlns:a="http://schemas.openxmlformats.org/drawingml/2006/main">
            <a:r>
              <a:t/>
            </a:r>
          </a:p>
          <a:p xmlns:a="http://schemas.openxmlformats.org/drawingml/2006/main">
            <a:r>
              <a:t>工具摩耗の判定・交換判断</a:t>
            </a:r>
          </a:p>
          <a:p xmlns:a="http://schemas.openxmlformats.org/drawingml/2006/main">
            <a:r>
              <a:t>B08-1 モリマシナリー / ツールコラージュ / S3048</a:t>
            </a:r>
          </a:p>
          <a:p xmlns:a="http://schemas.openxmlformats.org/drawingml/2006/main">
            <a:r>
              <a:t>対象:刃先の欠け・摩耗を判定し記録する</a:t>
            </a:r>
          </a:p>
          <a:p xmlns:a="http://schemas.openxmlformats.org/drawingml/2006/main">
            <a:r>
              <a:t>公式要約:刃先の診断箇所を認知し、欠け・摩耗をAI判定・記録。</a:t>
            </a:r>
          </a:p>
          <a:p xmlns:a="http://schemas.openxmlformats.org/drawingml/2006/main">
            <a:r>
              <a:t>年度:AI摩耗判定は2024にも説明済み。2026は継続。</a:t>
            </a:r>
          </a:p>
          <a:p xmlns:a="http://schemas.openxmlformats.org/drawingml/2006/main">
            <a:r>
              <a:t>人・未確認:対象工具と撮像条件を準備。継続使用の最終決定者は未確認。</a:t>
            </a:r>
          </a:p>
          <a:p xmlns:a="http://schemas.openxmlformats.org/drawingml/2006/main">
            <a:r>
              <a:t>Evidence:EOV-V024-2024-1,EOV-V024-2026-1,EDP-12</a:t>
            </a:r>
          </a:p>
          <a:p xmlns:a="http://schemas.openxmlformats.org/drawingml/2006/main">
            <a:r>
              <a:t/>
            </a:r>
          </a:p>
          <a:p xmlns:a="http://schemas.openxmlformats.org/drawingml/2006/main">
            <a:r>
              <a:t>B08-2 ハイデンハイン / VT122＋VTC 6.0 / E7043</a:t>
            </a:r>
          </a:p>
          <a:p xmlns:a="http://schemas.openxmlformats.org/drawingml/2006/main">
            <a:r>
              <a:t>対象:工具画像から摩耗状態を診断する</a:t>
            </a:r>
          </a:p>
          <a:p xmlns:a="http://schemas.openxmlformats.org/drawingml/2006/main">
            <a:r>
              <a:t>公式要約:VT122にVTC 6.0のAI摩耗診断・工具長機能を記載。</a:t>
            </a:r>
          </a:p>
          <a:p xmlns:a="http://schemas.openxmlformats.org/drawingml/2006/main">
            <a:r>
              <a:t>年度:2024はVT122検査。2026はAI摩耗診断を追加記載。</a:t>
            </a:r>
          </a:p>
          <a:p xmlns:a="http://schemas.openxmlformats.org/drawingml/2006/main">
            <a:r>
              <a:t>人・未確認:判定閾値と自動交換への接続は未確認。</a:t>
            </a:r>
          </a:p>
          <a:p xmlns:a="http://schemas.openxmlformats.org/drawingml/2006/main">
            <a:r>
              <a:t>Evidence:EOV-V023-2024-1,EOV-V023-2026-1</a:t>
            </a:r>
          </a:p>
          <a:p xmlns:a="http://schemas.openxmlformats.org/drawingml/2006/main">
            <a:r>
              <a:t/>
            </a:r>
          </a:p>
          <a:p xmlns:a="http://schemas.openxmlformats.org/drawingml/2006/main">
            <a:r>
              <a:t>B08-3 三菱電機 / NC MachiningAID（2024）／2026 CNC省人化 / S2003</a:t>
            </a:r>
          </a:p>
          <a:p xmlns:a="http://schemas.openxmlformats.org/drawingml/2006/main">
            <a:r>
              <a:t>対象:加工異常・工具摩耗・作業ミスを検知する</a:t>
            </a:r>
          </a:p>
          <a:p xmlns:a="http://schemas.openxmlformats.org/drawingml/2006/main">
            <a:r>
              <a:t>公式要約:2024のMachiningAIDは加工異常・工具摩耗・作業ミスをAI検知。</a:t>
            </a:r>
          </a:p>
          <a:p xmlns:a="http://schemas.openxmlformats.org/drawingml/2006/main">
            <a:r>
              <a:t>年度:2026はAI省人化の総論。個別機能の進化は比較不能。</a:t>
            </a:r>
          </a:p>
          <a:p xmlns:a="http://schemas.openxmlformats.org/drawingml/2006/main">
            <a:r>
              <a:t>人・未確認:2026の継承機能と自動停止・交換権限は未確認。</a:t>
            </a:r>
          </a:p>
          <a:p xmlns:a="http://schemas.openxmlformats.org/drawingml/2006/main">
            <a:r>
              <a:t>Evidence:EAT-V043-2024-1,EAT-V043-2026-1</a:t>
            </a:r>
          </a:p>
          <a:p xmlns:a="http://schemas.openxmlformats.org/drawingml/2006/main">
            <a:r>
              <a:t/>
            </a:r>
          </a:p>
          <a:p xmlns:a="http://schemas.openxmlformats.org/drawingml/2006/main">
            <a:r>
              <a:t>B08-4 モリマシナリー / ツールコラージュアナライザー / S3048</a:t>
            </a:r>
          </a:p>
          <a:p xmlns:a="http://schemas.openxmlformats.org/drawingml/2006/main">
            <a:r>
              <a:t>対象:切削工具をいつ交換するか</a:t>
            </a:r>
          </a:p>
          <a:p xmlns:a="http://schemas.openxmlformats.org/drawingml/2006/main">
            <a:r>
              <a:t>公式要約:摩耗幅のデータを蓄積・学習し、工具寿命と交換時期を提案する。</a:t>
            </a:r>
          </a:p>
          <a:p xmlns:a="http://schemas.openxmlformats.org/drawingml/2006/main">
            <a:r>
              <a:t>年度:2026は寿命予測と交換提案を具体掲載。ただし研究発表は2023にもあり、新方式の誕生とは扱わない。</a:t>
            </a:r>
          </a:p>
          <a:p xmlns:a="http://schemas.openxmlformats.org/drawingml/2006/main">
            <a:r>
              <a:t>人・未確認:人が工具・加工条件と提案の適用を確認する運用は要確認。</a:t>
            </a:r>
          </a:p>
          <a:p xmlns:a="http://schemas.openxmlformats.org/drawingml/2006/main">
            <a:r>
              <a:t>Evidence:EOV-V024-2024-1,EOV-V024-2026-1,EOV-W08</a:t>
            </a:r>
          </a:p>
          <a:p xmlns:a="http://schemas.openxmlformats.org/drawingml/2006/main">
            <a:r>
              <a:t/>
            </a:r>
          </a:p>
          <a:p xmlns:a="http://schemas.openxmlformats.org/drawingml/2006/main">
            <a:r>
              <a:t>B08-5 興和オプトロニクス / RW耐環境ビジョンユニット / S3104</a:t>
            </a:r>
          </a:p>
          <a:p xmlns:a="http://schemas.openxmlformats.org/drawingml/2006/main">
            <a:r>
              <a:t>対象:加工機内の工具折損・摩耗を見つける</a:t>
            </a:r>
          </a:p>
          <a:p xmlns:a="http://schemas.openxmlformats.org/drawingml/2006/main">
            <a:r>
              <a:t>公式要約:水・油・ミスト環境で撮像し、AIで工具折損・摩耗や切粉の異常蓄積を検知するとの説明。</a:t>
            </a:r>
          </a:p>
          <a:p xmlns:a="http://schemas.openxmlformats.org/drawingml/2006/main">
            <a:r>
              <a:t>年度:2024同名原典なし。2026の耐環境撮像とAI検知は確認、登場時期は比較不能。</a:t>
            </a:r>
          </a:p>
          <a:p xmlns:a="http://schemas.openxmlformats.org/drawingml/2006/main">
            <a:r>
              <a:t>人・未確認:対象工具、判定の閾値、検知後の停止・交換の分担は未確認。</a:t>
            </a:r>
          </a:p>
          <a:p xmlns:a="http://schemas.openxmlformats.org/drawingml/2006/main">
            <a:r>
              <a:t>Evidence:EOV-V042-2026-1,EDP-33</a:t>
            </a:r>
          </a:p>
          <a:p xmlns:a="http://schemas.openxmlformats.org/drawingml/2006/main">
            <a:r>
              <a:t/>
            </a:r>
          </a:p>
          <a:p xmlns:a="http://schemas.openxmlformats.org/drawingml/2006/main">
            <a:r>
              <a:t>B08-6 マーポス / ARTIS／BLU／VTS / E7087</a:t>
            </a:r>
          </a:p>
          <a:p xmlns:a="http://schemas.openxmlformats.org/drawingml/2006/main">
            <a:r>
              <a:t>対象:工具寸法と加工状態を測り・監視する</a:t>
            </a:r>
          </a:p>
          <a:p xmlns:a="http://schemas.openxmlformats.org/drawingml/2006/main">
            <a:r>
              <a:t>公式要約:カメラ・レーザーの工具測定と、工具・機械・加工プロセスの監視を展示。</a:t>
            </a:r>
          </a:p>
          <a:p xmlns:a="http://schemas.openxmlformats.org/drawingml/2006/main">
            <a:r>
              <a:t>年度:ARTIS・VTS等は2024にも掲載。2026の展示名だけでは機能の増分を断定できない。</a:t>
            </a:r>
          </a:p>
          <a:p xmlns:a="http://schemas.openxmlformats.org/drawingml/2006/main">
            <a:r>
              <a:t>人・未確認:交換・停止を決める基準と、各機能のAI使用は未確認。</a:t>
            </a:r>
          </a:p>
          <a:p xmlns:a="http://schemas.openxmlformats.org/drawingml/2006/main">
            <a:r>
              <a:t>Evidence:EOV-V020-2024-1,EOV-V020-2026-1</a:t>
            </a:r>
          </a:p>
          <a:p xmlns:a="http://schemas.openxmlformats.org/drawingml/2006/main">
            <a:r>
              <a:t/>
            </a:r>
          </a:p>
          <a:p xmlns:a="http://schemas.openxmlformats.org/drawingml/2006/main">
            <a:r>
              <a:t>B08-7 Masterlink / 工作機械センシングの知能化による生産性向上： / E1050</a:t>
            </a:r>
          </a:p>
          <a:p xmlns:a="http://schemas.openxmlformats.org/drawingml/2006/main">
            <a:r>
              <a:t>対象:工具の異常を監視する（方式要確認）</a:t>
            </a:r>
          </a:p>
          <a:p xmlns:a="http://schemas.openxmlformats.org/drawingml/2006/main">
            <a:r>
              <a:t>公式要約:工具監視、適応加工、予知保全を出展項目として掲載。入力信号と判定方式は未記載。</a:t>
            </a:r>
          </a:p>
          <a:p xmlns:a="http://schemas.openxmlformats.org/drawingml/2006/main">
            <a:r>
              <a:t>年度:2024はセンシング・現場管理の総論。2026は工具監視等を列挙。性能差は不明。</a:t>
            </a:r>
          </a:p>
          <a:p xmlns:a="http://schemas.openxmlformats.org/drawingml/2006/main">
            <a:r>
              <a:t>人・未確認:監視結果から停止・交換へ移す手順、担当者は未確認。</a:t>
            </a:r>
          </a:p>
          <a:p xmlns:a="http://schemas.openxmlformats.org/drawingml/2006/main">
            <a:r>
              <a:t>Evidence:EEX-EXH-2026-19ce238d137fe275,EEX-EXH-2024-a2fae1d1864676d1</a:t>
            </a:r>
          </a:p>
          <a:p xmlns:a="http://schemas.openxmlformats.org/drawingml/2006/main">
            <a:r>
              <a:t/>
            </a:r>
          </a:p>
          <a:p xmlns:a="http://schemas.openxmlformats.org/drawingml/2006/main">
            <a:r>
              <a:t>原典</a:t>
            </a:r>
          </a:p>
          <a:p xmlns:a="http://schemas.openxmlformats.org/drawingml/2006/main">
            <a:r>
              <a:t>EOV-V024-2024-1 JIMTOF2024公式カタログ：モリマシナリー株式会社 (S3017)</a:t>
            </a:r>
          </a:p>
          <a:p xmlns:a="http://schemas.openxmlformats.org/drawingml/2006/main">
            <a:r>
              <a:t>https://www.jimtof.org/2024/search/jp/ESdetails?e=yEoPl5sH6Sg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EOV-V024-2026-1 JIMTOF2026公式カタログ：モリマシナリー株式会社 (S3048)</a:t>
            </a:r>
          </a:p>
          <a:p xmlns:a="http://schemas.openxmlformats.org/drawingml/2006/main">
            <a:r>
              <a:t>https://www.jimtof.org/search/jp/ESdetails?e=ZvT3Lci-hnM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EDP-12 TOOL SOMMELIER／TOOL COLLAGE</a:t>
            </a:r>
          </a:p>
          <a:p xmlns:a="http://schemas.openxmlformats.org/drawingml/2006/main">
            <a:r>
              <a:t>https://mori-machinery.com/en/product/tool-sommelier?post_id=1066</a:t>
            </a:r>
          </a:p>
          <a:p xmlns:a="http://schemas.openxmlformats.org/drawingml/2006/main">
            <a:r>
              <a:t>該当箇所:刃先撮像・欠け摩耗自動検出／FAQの工具・径制約</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EOV-V023-2024-1 JIMTOF2024公式カタログ：ハイデンハイン株式会社 (E7123)</a:t>
            </a:r>
          </a:p>
          <a:p xmlns:a="http://schemas.openxmlformats.org/drawingml/2006/main">
            <a:r>
              <a:t>https://www.jimtof.org/2024/search/jp/ESdetails?e=GFSwCXSxe9o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EOV-V023-2026-1 JIMTOF2026公式カタログ：ハイデンハイン株式会社 (E7043)</a:t>
            </a:r>
          </a:p>
          <a:p xmlns:a="http://schemas.openxmlformats.org/drawingml/2006/main">
            <a:r>
              <a:t>https://www.jimtof.org/search/jp/ESdetails?e=iohDR5yR9VA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EAT-V043-2024-1 JIMTOF2024公式カタログ：三菱電機株式会社</a:t>
            </a:r>
          </a:p>
          <a:p xmlns:a="http://schemas.openxmlformats.org/drawingml/2006/main">
            <a:r>
              <a:t>https://www.jimtof.org/2024/search/jp/ESdetails?e=30li0vWcseI</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展示:2024当時の説明・事後実演確認ではない</a:t>
            </a:r>
          </a:p>
          <a:p xmlns:a="http://schemas.openxmlformats.org/drawingml/2006/main">
            <a:r>
              <a:t/>
            </a:r>
          </a:p>
          <a:p xmlns:a="http://schemas.openxmlformats.org/drawingml/2006/main">
            <a:r>
              <a:t>EAT-V043-2026-1 JIMTOF2026公式カタログ：三菱電機株式会社</a:t>
            </a:r>
          </a:p>
          <a:p xmlns:a="http://schemas.openxmlformats.org/drawingml/2006/main">
            <a:r>
              <a:t>https://www.jimtof.org/search/jp/ESdetails?e=AjLnzm01WWU</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EOV-W08 工具の欠け・摩耗・寿命を推定するAI研究発表</a:t>
            </a:r>
          </a:p>
          <a:p xmlns:a="http://schemas.openxmlformats.org/drawingml/2006/main">
            <a:r>
              <a:t>https://mori-machinery.com/wp-content/uploads/2023/06/%E7%86%9F%E7%B7%B4%E8%80%85%E3%81%AE%E7%B5%8C%E9%A8%93%E7%9F%A5%E3%82%92%E3%82%82%E3%81%A8%E3%81%AB%E5%88%87%E5%89%8A%E5%B7%A5%E5%85%B7%E3%81%AE%E6%AC%A0%E3%81%91%E3%83%BB%E6%91%A9%E8%80%97%E3%83%BB%E5%AF%BF%E5%91%BD%E3%82%92%E6%8E%A8%E5%AE%9A%E3%81%99%E3%82%8BAI%E3%82%92%E9%96%8B%E7%99%BA.pdf</a:t>
            </a:r>
          </a:p>
          <a:p xmlns:a="http://schemas.openxmlformats.org/drawingml/2006/main">
            <a:r>
              <a:t>該当箇所:2023年6月2日、成果と今後の展望</a:t>
            </a:r>
          </a:p>
          <a:p xmlns:a="http://schemas.openxmlformats.org/drawingml/2006/main">
            <a:r>
              <a:t>確認:2026-10-16</a:t>
            </a:r>
          </a:p>
          <a:p xmlns:a="http://schemas.openxmlformats.org/drawingml/2006/main">
            <a:r>
              <a:t>種類:企業公式資料・メーカー主張</a:t>
            </a:r>
          </a:p>
          <a:p xmlns:a="http://schemas.openxmlformats.org/drawingml/2006/main">
            <a:r>
              <a:t>展示:公式検索の該当箇所で確認。研究段階の数値を商用性能に転用していない</a:t>
            </a:r>
          </a:p>
          <a:p xmlns:a="http://schemas.openxmlformats.org/drawingml/2006/main">
            <a:r>
              <a:t/>
            </a:r>
          </a:p>
          <a:p xmlns:a="http://schemas.openxmlformats.org/drawingml/2006/main">
            <a:r>
              <a:t>EOV-V042-2026-1 JIMTOF2026公式カタログ：興和オプトロニクス株式会社 (S3104)</a:t>
            </a:r>
          </a:p>
          <a:p xmlns:a="http://schemas.openxmlformats.org/drawingml/2006/main">
            <a:r>
              <a:t>https://www.jimtof.org/search/jp/ESdetails?e=v6nw4APC-vQ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EDP-33 RW回転機構付きビジョンユニット</a:t>
            </a:r>
          </a:p>
          <a:p xmlns:a="http://schemas.openxmlformats.org/drawingml/2006/main">
            <a:r>
              <a:t>https://optical.kowa-opt.co.jp/camera-rw/</a:t>
            </a:r>
          </a:p>
          <a:p xmlns:a="http://schemas.openxmlformats.org/drawingml/2006/main">
            <a:r>
              <a:t>該当箇所:ビジョンプロセッサ併用の不良ヒートマップ・切粉巻付きアラート・工具欠損検出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EOV-V020-2024-1 JIMTOF2024公式カタログ：マーポス株式会社 (E7107)</a:t>
            </a:r>
          </a:p>
          <a:p xmlns:a="http://schemas.openxmlformats.org/drawingml/2006/main">
            <a:r>
              <a:t>https://www.jimtof.org/2024/search/jp/ESdetails?e=K8FKaawJkn0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EOV-V020-2026-1 JIMTOF2026公式カタログ：マーポス株式会社 (E7087)</a:t>
            </a:r>
          </a:p>
          <a:p xmlns:a="http://schemas.openxmlformats.org/drawingml/2006/main">
            <a:r>
              <a:t>https://www.jimtof.org/search/jp/ESdetails?e=tThKOA-gm8s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EEX-EXH-2026-19ce238d137fe275 JIMTOF2026公式出展説明：Masterlink (E1050)</a:t>
            </a:r>
          </a:p>
          <a:p xmlns:a="http://schemas.openxmlformats.org/drawingml/2006/main">
            <a:r>
              <a:t>https://www.jimtof.org/search/jp/ESdetails?e=kygm0UxJL-M</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EEX-EXH-2024-a2fae1d1864676d1 JIMTOF2024公式出展説明：Masterlink (E7052)</a:t>
            </a:r>
          </a:p>
          <a:p xmlns:a="http://schemas.openxmlformats.org/drawingml/2006/main">
            <a:r>
              <a:t>https://www.jimtof.org/2024/search/jp/ESdetails?e=58-lhh4o9Oo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比較の見方[分析]:現在の異常検知、将来時点の予測、保全の決定を切り分ける。</a:t>
            </a:r>
          </a:p>
          <a:p xmlns:a="http://schemas.openxmlformats.org/drawingml/2006/main">
            <a:r>
              <a:t/>
            </a:r>
          </a:p>
          <a:p xmlns:a="http://schemas.openxmlformats.org/drawingml/2006/main">
            <a:r>
              <a:t>設備・刃具の異常検知と保全</a:t>
            </a:r>
          </a:p>
          <a:p xmlns:a="http://schemas.openxmlformats.org/drawingml/2006/main">
            <a:r>
              <a:t>B09-1 ムラテックＣＣＳ株式会社 / プライマリドクタサービス：稼働中データのAI診断 / E3031</a:t>
            </a:r>
          </a:p>
          <a:p xmlns:a="http://schemas.openxmlformats.org/drawingml/2006/main">
            <a:r>
              <a:t>対象:設備の電流・振動から劣化を診断する</a:t>
            </a:r>
          </a:p>
          <a:p xmlns:a="http://schemas.openxmlformats.org/drawingml/2006/main">
            <a:r>
              <a:t>公式要約:稼働中の電流・振動等を新品状態と比較し劣化・異常を診断。</a:t>
            </a:r>
          </a:p>
          <a:p xmlns:a="http://schemas.openxmlformats.org/drawingml/2006/main">
            <a:r>
              <a:t>年度:プライマリドクタのAI診断は2024から継続。</a:t>
            </a:r>
          </a:p>
          <a:p xmlns:a="http://schemas.openxmlformats.org/drawingml/2006/main">
            <a:r>
              <a:t>人・未確認:計測後の点検・交換の最終決定者、誤警報時の扱いは未確認。</a:t>
            </a:r>
          </a:p>
          <a:p xmlns:a="http://schemas.openxmlformats.org/drawingml/2006/main">
            <a:r>
              <a:t>Evidence:EEX-EXH-2026-308c5194f12fe009,EEX-EXH-2024-b0a94c1cd407ea8a,EDP-13</a:t>
            </a:r>
          </a:p>
          <a:p xmlns:a="http://schemas.openxmlformats.org/drawingml/2006/main">
            <a:r>
              <a:t/>
            </a:r>
          </a:p>
          <a:p xmlns:a="http://schemas.openxmlformats.org/drawingml/2006/main">
            <a:r>
              <a:t>B09-2 アズビル（TACO共同出展） / U4DM01 NC旋盤予兆検知 / W4070</a:t>
            </a:r>
          </a:p>
          <a:p xmlns:a="http://schemas.openxmlformats.org/drawingml/2006/main">
            <a:r>
              <a:t>対象:NC旋盤の刃具破損を検知する</a:t>
            </a:r>
          </a:p>
          <a:p xmlns:a="http://schemas.openxmlformats.org/drawingml/2006/main">
            <a:r>
              <a:t>公式要約:U4DM01はNC旋盤の刃具破損検知と後付け適用を説明。</a:t>
            </a:r>
          </a:p>
          <a:p xmlns:a="http://schemas.openxmlformats.org/drawingml/2006/main">
            <a:r>
              <a:t>年度:2024参考U4Dから2026 Coming soon表記。性能差は不明。</a:t>
            </a:r>
          </a:p>
          <a:p xmlns:a="http://schemas.openxmlformats.org/drawingml/2006/main">
            <a:r>
              <a:t>人・未確認:2024は設定・学習開始操作あり。停止や交換権限は未確認。</a:t>
            </a:r>
          </a:p>
          <a:p xmlns:a="http://schemas.openxmlformats.org/drawingml/2006/main">
            <a:r>
              <a:t>Evidence:RPT-EXH-2026-2c48cf1373cedc75,RPT-EXH-2024-2caebd449015630d</a:t>
            </a:r>
          </a:p>
          <a:p xmlns:a="http://schemas.openxmlformats.org/drawingml/2006/main">
            <a:r>
              <a:t/>
            </a:r>
          </a:p>
          <a:p xmlns:a="http://schemas.openxmlformats.org/drawingml/2006/main">
            <a:r>
              <a:t>B09-3 日本精工 / 振動診断AI・遠隔監視 / W2048</a:t>
            </a:r>
          </a:p>
          <a:p xmlns:a="http://schemas.openxmlformats.org/drawingml/2006/main">
            <a:r>
              <a:t>対象:振動から設備状態を診断する</a:t>
            </a:r>
          </a:p>
          <a:p xmlns:a="http://schemas.openxmlformats.org/drawingml/2006/main">
            <a:r>
              <a:t>公式要約:2024はAI振動診断と遠隔監視を紹介。</a:t>
            </a:r>
          </a:p>
          <a:p xmlns:a="http://schemas.openxmlformats.org/drawingml/2006/main">
            <a:r>
              <a:t>年度:2026の総論だけでは2024比の増分を判定できない。</a:t>
            </a:r>
          </a:p>
          <a:p xmlns:a="http://schemas.openxmlformats.org/drawingml/2006/main">
            <a:r>
              <a:t>人・未確認:2026の個別機能、保全判断への接続は資料不足。</a:t>
            </a:r>
          </a:p>
          <a:p xmlns:a="http://schemas.openxmlformats.org/drawingml/2006/main">
            <a:r>
              <a:t>Evidence:EOV-V032-2024-1,EOV-V032-2026-1</a:t>
            </a:r>
          </a:p>
          <a:p xmlns:a="http://schemas.openxmlformats.org/drawingml/2006/main">
            <a:r>
              <a:t/>
            </a:r>
          </a:p>
          <a:p xmlns:a="http://schemas.openxmlformats.org/drawingml/2006/main">
            <a:r>
              <a:t>原典</a:t>
            </a:r>
          </a:p>
          <a:p xmlns:a="http://schemas.openxmlformats.org/drawingml/2006/main">
            <a:r>
              <a:t>EEX-EXH-2026-308c5194f12fe009 JIMTOF2026公式出展説明：ムラテックＣＣＳ株式会社 (E3031)</a:t>
            </a:r>
          </a:p>
          <a:p xmlns:a="http://schemas.openxmlformats.org/drawingml/2006/main">
            <a:r>
              <a:t>https://www.jimtof.org/search/jp/ESdetails?e=Z_SbvK_hxBY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EEX-EXH-2024-b0a94c1cd407ea8a JIMTOF2024公式出展説明：ムラテックCCS株式会社 (E6019)</a:t>
            </a:r>
          </a:p>
          <a:p xmlns:a="http://schemas.openxmlformats.org/drawingml/2006/main">
            <a:r>
              <a:t>https://www.jimtof.org/2024/search/jp/ESdetails?e=2N7pXq5Aehs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EDP-13 AIを用いた故障診断</a:t>
            </a:r>
          </a:p>
          <a:p xmlns:a="http://schemas.openxmlformats.org/drawingml/2006/main">
            <a:r>
              <a:t>https://www.muratec.jp/company/ti/rd/detail.php?id=7540</a:t>
            </a:r>
          </a:p>
          <a:p xmlns:a="http://schemas.openxmlformats.org/drawingml/2006/main">
            <a:r>
              <a:t>該当箇所:電流・振動を新品データと比較／補正入力回数・軸負荷による劣化判定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RPT-EXH-2026-2c48cf1373cedc75 アズビルTACO株式会社 JIMTOF2026</a:t>
            </a:r>
          </a:p>
          <a:p xmlns:a="http://schemas.openxmlformats.org/drawingml/2006/main">
            <a:r>
              <a:t>https://www.jimtof.org/search/jp/ESdetails?e=x6DdroBnfSA</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RPT-EXH-2024-2caebd449015630d アズビル株式会社 JIMTOF2024</a:t>
            </a:r>
          </a:p>
          <a:p xmlns:a="http://schemas.openxmlformats.org/drawingml/2006/main">
            <a:r>
              <a:t>https://www.jimtof.org/2024/search/jp/ESdetails?e=7JiCTnsEx48</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EOV-V032-2024-1 JIMTOF2024公式カタログ：日本精工株式会社 (W2026)</a:t>
            </a:r>
          </a:p>
          <a:p xmlns:a="http://schemas.openxmlformats.org/drawingml/2006/main">
            <a:r>
              <a:t>https://www.jimtof.org/2024/search/jp/ESdetails?e=5maDHvHPff8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EOV-V032-2026-1 JIMTOF2026公式カタログ：日本精工株式会社 (W2048)</a:t>
            </a:r>
          </a:p>
          <a:p xmlns:a="http://schemas.openxmlformats.org/drawingml/2006/main">
            <a:r>
              <a:t>https://www.jimtof.org/search/jp/ESdetails?e=hzAGGAi5wL4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比較の見方[分析]:センサーレス設定・メカ機構・マーカー補正はAIと別の有効な方式。</a:t>
            </a:r>
          </a:p>
          <a:p xmlns:a="http://schemas.openxmlformats.org/drawingml/2006/main">
            <a:r>
              <a:t/>
            </a:r>
          </a:p>
          <a:p xmlns:a="http://schemas.openxmlformats.org/drawingml/2006/main">
            <a:r>
              <a:t>爪・治具・ハンドと位置の段取り</a:t>
            </a:r>
          </a:p>
          <a:p xmlns:a="http://schemas.openxmlformats.org/drawingml/2006/main">
            <a:r>
              <a:t>B10-1 松本機械工業株式会社 / Smart Terrace Adv／爪・CAPTO工具の交換 / W2070</a:t>
            </a:r>
          </a:p>
          <a:p xmlns:a="http://schemas.openxmlformats.org/drawingml/2006/main">
            <a:r>
              <a:t>対象:爪・工具等を交換して段取りを変える</a:t>
            </a:r>
          </a:p>
          <a:p xmlns:a="http://schemas.openxmlformats.org/drawingml/2006/main">
            <a:r>
              <a:t>公式要約:Smart Terrace Advは爪等の交換。寸法入力から動作を設定。</a:t>
            </a:r>
          </a:p>
          <a:p xmlns:a="http://schemas.openxmlformats.org/drawingml/2006/main">
            <a:r>
              <a:t>年度:CAPTO等の交換は2024初披露済み。2026はAdv構成等に注目。</a:t>
            </a:r>
          </a:p>
          <a:p xmlns:a="http://schemas.openxmlformats.org/drawingml/2006/main">
            <a:r>
              <a:t>人・未確認:人が寸法入力。初期プログラムはメーカーが組込み。</a:t>
            </a:r>
          </a:p>
          <a:p xmlns:a="http://schemas.openxmlformats.org/drawingml/2006/main">
            <a:r>
              <a:t>Evidence:EEX-EXH-2026-0daa587f8abf6076,EEX-EXH-2024-1dc10e3b594ed9d8,EDP-26,EDP-27,EDP-28</a:t>
            </a:r>
          </a:p>
          <a:p xmlns:a="http://schemas.openxmlformats.org/drawingml/2006/main">
            <a:r>
              <a:t/>
            </a:r>
          </a:p>
          <a:p xmlns:a="http://schemas.openxmlformats.org/drawingml/2006/main">
            <a:r>
              <a:t>B10-2 イマオコーポレーション / ナットランナー治具 / W2001</a:t>
            </a:r>
          </a:p>
          <a:p xmlns:a="http://schemas.openxmlformats.org/drawingml/2006/main">
            <a:r>
              <a:t>対象:加工前にワークを治具へ固定する</a:t>
            </a:r>
          </a:p>
          <a:p xmlns:a="http://schemas.openxmlformats.org/drawingml/2006/main">
            <a:r>
              <a:t>公式要約:ナットランナーとメカ機構でワークを締結する治具。</a:t>
            </a:r>
          </a:p>
          <a:p xmlns:a="http://schemas.openxmlformats.org/drawingml/2006/main">
            <a:r>
              <a:t>年度:2024も具体治具あり。2026は種類追加を記載。</a:t>
            </a:r>
          </a:p>
          <a:p xmlns:a="http://schemas.openxmlformats.org/drawingml/2006/main">
            <a:r>
              <a:t>人・未確認:人が治具・フック等を設計選定。着座・締結異常の扱いは未確認。</a:t>
            </a:r>
          </a:p>
          <a:p xmlns:a="http://schemas.openxmlformats.org/drawingml/2006/main">
            <a:r>
              <a:t>Evidence:EOV-V025-2024-1,EOV-V025-2026-1,EDP-30,EDP-32</a:t>
            </a:r>
          </a:p>
          <a:p xmlns:a="http://schemas.openxmlformats.org/drawingml/2006/main">
            <a:r>
              <a:t/>
            </a:r>
          </a:p>
          <a:p xmlns:a="http://schemas.openxmlformats.org/drawingml/2006/main">
            <a:r>
              <a:t>B10-3 中村留精密工業 / RoboSync：移設後の位置復旧 / E2027</a:t>
            </a:r>
          </a:p>
          <a:p xmlns:a="http://schemas.openxmlformats.org/drawingml/2006/main">
            <a:r>
              <a:t>対象:移設したロボットの位置を復旧する</a:t>
            </a:r>
          </a:p>
          <a:p xmlns:a="http://schemas.openxmlformats.org/drawingml/2006/main">
            <a:r>
              <a:t>公式要約:RoboSyncは移設後にマーカーを読み相対位置を補正。</a:t>
            </a:r>
          </a:p>
          <a:p xmlns:a="http://schemas.openxmlformats.org/drawingml/2006/main">
            <a:r>
              <a:t>年度:2026は位置復旧を具体説明。同一機能の2024版は未確認。</a:t>
            </a:r>
          </a:p>
          <a:p xmlns:a="http://schemas.openxmlformats.org/drawingml/2006/main">
            <a:r>
              <a:t>人・未確認:人の移設・復旧操作を含む。未知トラブルの自律復帰とは別。</a:t>
            </a:r>
          </a:p>
          <a:p xmlns:a="http://schemas.openxmlformats.org/drawingml/2006/main">
            <a:r>
              <a:t>Evidence:EOV-V029-2024-1,EOV-V029-2026-1,EOV-W04</a:t>
            </a:r>
          </a:p>
          <a:p xmlns:a="http://schemas.openxmlformats.org/drawingml/2006/main">
            <a:r>
              <a:t/>
            </a:r>
          </a:p>
          <a:p xmlns:a="http://schemas.openxmlformats.org/drawingml/2006/main">
            <a:r>
              <a:t>B10-4 共立精機株式会社 / 全自動計測システム　HP-6040V-FA / W2025</a:t>
            </a:r>
          </a:p>
          <a:p xmlns:a="http://schemas.openxmlformats.org/drawingml/2006/main">
            <a:r>
              <a:t>対象:工具を測定・調整し、交換する段取り</a:t>
            </a:r>
          </a:p>
          <a:p xmlns:a="http://schemas.openxmlformats.org/drawingml/2006/main">
            <a:r>
              <a:t>公式要約:工具の交換、突き出し量調整、刃先測定を連続自動化し、インサート交換装置も展示。</a:t>
            </a:r>
          </a:p>
          <a:p xmlns:a="http://schemas.openxmlformats.org/drawingml/2006/main">
            <a:r>
              <a:t>年度:HP-6040V-FAによる工具段取り自動化は2024にも記載。2026は交換工程等を具体説明。</a:t>
            </a:r>
          </a:p>
          <a:p xmlns:a="http://schemas.openxmlformats.org/drawingml/2006/main">
            <a:r>
              <a:t>人・未確認:工具・チップの補給や品種設定、不良時の復旧は要確認。</a:t>
            </a:r>
          </a:p>
          <a:p xmlns:a="http://schemas.openxmlformats.org/drawingml/2006/main">
            <a:r>
              <a:t>Evidence:EEX-EXH-2026-1c8938d47b63e4bb,EEX-EXH-2024-3a9bfb48fcb6542c</a:t>
            </a:r>
          </a:p>
          <a:p xmlns:a="http://schemas.openxmlformats.org/drawingml/2006/main">
            <a:r>
              <a:t/>
            </a:r>
          </a:p>
          <a:p xmlns:a="http://schemas.openxmlformats.org/drawingml/2006/main">
            <a:r>
              <a:t>原典</a:t>
            </a:r>
          </a:p>
          <a:p xmlns:a="http://schemas.openxmlformats.org/drawingml/2006/main">
            <a:r>
              <a:t>EEX-EXH-2026-0daa587f8abf6076 JIMTOF2026公式出展説明：松本機械工業株式会社 (W2070)</a:t>
            </a:r>
          </a:p>
          <a:p xmlns:a="http://schemas.openxmlformats.org/drawingml/2006/main">
            <a:r>
              <a:t>https://www.jimtof.org/search/jp/ESdetails?e=bhpEIIjKNb4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EEX-EXH-2024-1dc10e3b594ed9d8 JIMTOF2024公式出展説明：松本機械工業株式会社 (W2055)</a:t>
            </a:r>
          </a:p>
          <a:p xmlns:a="http://schemas.openxmlformats.org/drawingml/2006/main">
            <a:r>
              <a:t>https://www.jimtof.org/2024/search/jp/ESdetails?e=1cGhqW04Qes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EDP-26 Smart Terrace Adv</a:t>
            </a:r>
          </a:p>
          <a:p xmlns:a="http://schemas.openxmlformats.org/drawingml/2006/main">
            <a:r>
              <a:t>https://mmkchuck.com/product/7218/</a:t>
            </a:r>
          </a:p>
          <a:p xmlns:a="http://schemas.openxmlformats.org/drawingml/2006/main">
            <a:r>
              <a:t>該当箇所:7つの革新／寸法パラメータ入力・出荷時組込プログラム／レトロフィット</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EDP-27 JIMTOF2024出展報告</a:t>
            </a:r>
          </a:p>
          <a:p xmlns:a="http://schemas.openxmlformats.org/drawingml/2006/main">
            <a:r>
              <a:t>https://mmkchuck.com/news/2024/5903/</a:t>
            </a:r>
          </a:p>
          <a:p xmlns:a="http://schemas.openxmlformats.org/drawingml/2006/main">
            <a:r>
              <a:t>該当箇所:爪・ケレ・計測／展示会初披露のCAPTO・MAC</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EDP-28 Smart Terrace関連資料公開</a:t>
            </a:r>
          </a:p>
          <a:p xmlns:a="http://schemas.openxmlformats.org/drawingml/2006/main">
            <a:r>
              <a:t>https://mmkchuck.com/news/2026/7380/</a:t>
            </a:r>
          </a:p>
          <a:p xmlns:a="http://schemas.openxmlformats.org/drawingml/2006/main">
            <a:r>
              <a:t>該当箇所:Advハード単体・ストッカー単体販売への対応</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EOV-V025-2024-1 JIMTOF2024公式カタログ：株式会社イマオコーポレーション (W2002)</a:t>
            </a:r>
          </a:p>
          <a:p xmlns:a="http://schemas.openxmlformats.org/drawingml/2006/main">
            <a:r>
              <a:t>https://www.jimtof.org/2024/search/jp/ESdetails?e=MTYTZ2Km3zM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EOV-V025-2026-1 JIMTOF2026公式カタログ：株式会社イマオコーポレーション (W2001)</a:t>
            </a:r>
          </a:p>
          <a:p xmlns:a="http://schemas.openxmlformats.org/drawingml/2006/main">
            <a:r>
              <a:t>https://www.jimtof.org/search/jp/ESdetails?e=shuDpJLDn-A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EDP-30 ナットランナー治具</a:t>
            </a:r>
          </a:p>
          <a:p xmlns:a="http://schemas.openxmlformats.org/drawingml/2006/main">
            <a:r>
              <a:t>https://www.imao.co.jp/products/nutrunnerclamp.html</a:t>
            </a:r>
          </a:p>
          <a:p xmlns:a="http://schemas.openxmlformats.org/drawingml/2006/main">
            <a:r>
              <a:t>該当箇所:ロボットのナットランナーでクランプ／配管配線不要／手動も可能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EDP-32 JIMTOF2024出展パンフレット</a:t>
            </a:r>
          </a:p>
          <a:p xmlns:a="http://schemas.openxmlformats.org/drawingml/2006/main">
            <a:r>
              <a:t>https://www.imao.co.jp/event-20241105-1110-jimtof/jimtof.pdf</a:t>
            </a:r>
          </a:p>
          <a:p xmlns:a="http://schemas.openxmlformats.org/drawingml/2006/main">
            <a:r>
              <a:t>該当箇所:ナットランナー治具各型式／人でもロボットでも操作可能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EOV-V029-2024-1 JIMTOF2024公式カタログ：中村留精密工業株式会社 (E5033)</a:t>
            </a:r>
          </a:p>
          <a:p xmlns:a="http://schemas.openxmlformats.org/drawingml/2006/main">
            <a:r>
              <a:t>https://www.jimtof.org/2024/search/jp/ESdetails?e=RYK326OoMn4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EOV-V029-2026-1 JIMTOF2026公式カタログ：中村留精密工業株式会社 (E2027)</a:t>
            </a:r>
          </a:p>
          <a:p xmlns:a="http://schemas.openxmlformats.org/drawingml/2006/main">
            <a:r>
              <a:t>https://www.jimtof.org/search/jp/ESdetails?e=C7A_2ZTDXNw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EOV-W04 RoboSync</a:t>
            </a:r>
          </a:p>
          <a:p xmlns:a="http://schemas.openxmlformats.org/drawingml/2006/main">
            <a:r>
              <a:t>https://www.nakamura-tome.co.jp/products/automation/robosync/</a:t>
            </a:r>
          </a:p>
          <a:p xmlns:a="http://schemas.openxmlformats.org/drawingml/2006/main">
            <a:r>
              <a:t>該当箇所:製品の特長 &gt; 簡単復旧、簡単操作</a:t>
            </a:r>
          </a:p>
          <a:p xmlns:a="http://schemas.openxmlformats.org/drawingml/2006/main">
            <a:r>
              <a:t>確認:2026-10-16</a:t>
            </a:r>
          </a:p>
          <a:p xmlns:a="http://schemas.openxmlformats.org/drawingml/2006/main">
            <a:r>
              <a:t>種類:企業公式資料・メーカー主張</a:t>
            </a:r>
          </a:p>
          <a:p xmlns:a="http://schemas.openxmlformats.org/drawingml/2006/main">
            <a:r>
              <a:t>展示:自律的な未知例外復帰の証明ではない</a:t>
            </a:r>
          </a:p>
          <a:p xmlns:a="http://schemas.openxmlformats.org/drawingml/2006/main">
            <a:r>
              <a:t/>
            </a:r>
          </a:p>
          <a:p xmlns:a="http://schemas.openxmlformats.org/drawingml/2006/main">
            <a:r>
              <a:t>EEX-EXH-2026-1c8938d47b63e4bb JIMTOF2026公式出展説明：共立精機株式会社 (W2025)</a:t>
            </a:r>
          </a:p>
          <a:p xmlns:a="http://schemas.openxmlformats.org/drawingml/2006/main">
            <a:r>
              <a:t>https://www.jimtof.org/search/jp/ESdetails?e=9k7ro8sL0VA</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EEX-EXH-2024-3a9bfb48fcb6542c JIMTOF2024公式出展説明：共立精機株式会社 (W2037)</a:t>
            </a:r>
          </a:p>
          <a:p xmlns:a="http://schemas.openxmlformats.org/drawingml/2006/main">
            <a:r>
              <a:t>https://www.jimtof.org/2024/search/jp/ESdetails?e=xT1gIvXxCpQ</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比較の見方[分析]:センサーレス設定・メカ機構・マーカー補正はAIと別の有効な方式。</a:t>
            </a:r>
          </a:p>
          <a:p xmlns:a="http://schemas.openxmlformats.org/drawingml/2006/main">
            <a:r>
              <a:t/>
            </a:r>
          </a:p>
          <a:p xmlns:a="http://schemas.openxmlformats.org/drawingml/2006/main">
            <a:r>
              <a:t>爪・治具・ハンドと位置の段取り</a:t>
            </a:r>
          </a:p>
          <a:p xmlns:a="http://schemas.openxmlformats.org/drawingml/2006/main">
            <a:r>
              <a:t>B10-1 松本機械工業株式会社 / Smart Terrace Adv／爪・CAPTO工具の交換 / W2070</a:t>
            </a:r>
          </a:p>
          <a:p xmlns:a="http://schemas.openxmlformats.org/drawingml/2006/main">
            <a:r>
              <a:t>対象:爪・工具等を交換して段取りを変える</a:t>
            </a:r>
          </a:p>
          <a:p xmlns:a="http://schemas.openxmlformats.org/drawingml/2006/main">
            <a:r>
              <a:t>公式要約:Smart Terrace Advは爪等の交換。寸法入力から動作を設定。</a:t>
            </a:r>
          </a:p>
          <a:p xmlns:a="http://schemas.openxmlformats.org/drawingml/2006/main">
            <a:r>
              <a:t>年度:CAPTO等の交換は2024初披露済み。2026はAdv構成等に注目。</a:t>
            </a:r>
          </a:p>
          <a:p xmlns:a="http://schemas.openxmlformats.org/drawingml/2006/main">
            <a:r>
              <a:t>人・未確認:人が寸法入力。初期プログラムはメーカーが組込み。</a:t>
            </a:r>
          </a:p>
          <a:p xmlns:a="http://schemas.openxmlformats.org/drawingml/2006/main">
            <a:r>
              <a:t>Evidence:EEX-EXH-2026-0daa587f8abf6076,EEX-EXH-2024-1dc10e3b594ed9d8,EDP-26,EDP-27,EDP-28</a:t>
            </a:r>
          </a:p>
          <a:p xmlns:a="http://schemas.openxmlformats.org/drawingml/2006/main">
            <a:r>
              <a:t/>
            </a:r>
          </a:p>
          <a:p xmlns:a="http://schemas.openxmlformats.org/drawingml/2006/main">
            <a:r>
              <a:t>B10-2 イマオコーポレーション / ナットランナー治具 / W2001</a:t>
            </a:r>
          </a:p>
          <a:p xmlns:a="http://schemas.openxmlformats.org/drawingml/2006/main">
            <a:r>
              <a:t>対象:加工前にワークを治具へ固定する</a:t>
            </a:r>
          </a:p>
          <a:p xmlns:a="http://schemas.openxmlformats.org/drawingml/2006/main">
            <a:r>
              <a:t>公式要約:ナットランナーとメカ機構でワークを締結する治具。</a:t>
            </a:r>
          </a:p>
          <a:p xmlns:a="http://schemas.openxmlformats.org/drawingml/2006/main">
            <a:r>
              <a:t>年度:2024も具体治具あり。2026は種類追加を記載。</a:t>
            </a:r>
          </a:p>
          <a:p xmlns:a="http://schemas.openxmlformats.org/drawingml/2006/main">
            <a:r>
              <a:t>人・未確認:人が治具・フック等を設計選定。着座・締結異常の扱いは未確認。</a:t>
            </a:r>
          </a:p>
          <a:p xmlns:a="http://schemas.openxmlformats.org/drawingml/2006/main">
            <a:r>
              <a:t>Evidence:EOV-V025-2024-1,EOV-V025-2026-1,EDP-30,EDP-32</a:t>
            </a:r>
          </a:p>
          <a:p xmlns:a="http://schemas.openxmlformats.org/drawingml/2006/main">
            <a:r>
              <a:t/>
            </a:r>
          </a:p>
          <a:p xmlns:a="http://schemas.openxmlformats.org/drawingml/2006/main">
            <a:r>
              <a:t>B10-3 中村留精密工業 / RoboSync：移設後の位置復旧 / E2027</a:t>
            </a:r>
          </a:p>
          <a:p xmlns:a="http://schemas.openxmlformats.org/drawingml/2006/main">
            <a:r>
              <a:t>対象:移設したロボットの位置を復旧する</a:t>
            </a:r>
          </a:p>
          <a:p xmlns:a="http://schemas.openxmlformats.org/drawingml/2006/main">
            <a:r>
              <a:t>公式要約:RoboSyncは移設後にマーカーを読み相対位置を補正。</a:t>
            </a:r>
          </a:p>
          <a:p xmlns:a="http://schemas.openxmlformats.org/drawingml/2006/main">
            <a:r>
              <a:t>年度:2026は位置復旧を具体説明。同一機能の2024版は未確認。</a:t>
            </a:r>
          </a:p>
          <a:p xmlns:a="http://schemas.openxmlformats.org/drawingml/2006/main">
            <a:r>
              <a:t>人・未確認:人の移設・復旧操作を含む。未知トラブルの自律復帰とは別。</a:t>
            </a:r>
          </a:p>
          <a:p xmlns:a="http://schemas.openxmlformats.org/drawingml/2006/main">
            <a:r>
              <a:t>Evidence:EOV-V029-2024-1,EOV-V029-2026-1,EOV-W04</a:t>
            </a:r>
          </a:p>
          <a:p xmlns:a="http://schemas.openxmlformats.org/drawingml/2006/main">
            <a:r>
              <a:t/>
            </a:r>
          </a:p>
          <a:p xmlns:a="http://schemas.openxmlformats.org/drawingml/2006/main">
            <a:r>
              <a:t>B10-4 共立精機株式会社 / 全自動計測システム　HP-6040V-FA / W2025</a:t>
            </a:r>
          </a:p>
          <a:p xmlns:a="http://schemas.openxmlformats.org/drawingml/2006/main">
            <a:r>
              <a:t>対象:工具を測定・調整し、交換する段取り</a:t>
            </a:r>
          </a:p>
          <a:p xmlns:a="http://schemas.openxmlformats.org/drawingml/2006/main">
            <a:r>
              <a:t>公式要約:工具の交換、突き出し量調整、刃先測定を連続自動化し、インサート交換装置も展示。</a:t>
            </a:r>
          </a:p>
          <a:p xmlns:a="http://schemas.openxmlformats.org/drawingml/2006/main">
            <a:r>
              <a:t>年度:HP-6040V-FAによる工具段取り自動化は2024にも記載。2026は交換工程等を具体説明。</a:t>
            </a:r>
          </a:p>
          <a:p xmlns:a="http://schemas.openxmlformats.org/drawingml/2006/main">
            <a:r>
              <a:t>人・未確認:工具・チップの補給や品種設定、不良時の復旧は要確認。</a:t>
            </a:r>
          </a:p>
          <a:p xmlns:a="http://schemas.openxmlformats.org/drawingml/2006/main">
            <a:r>
              <a:t>Evidence:EEX-EXH-2026-1c8938d47b63e4bb,EEX-EXH-2024-3a9bfb48fcb6542c</a:t>
            </a:r>
          </a:p>
          <a:p xmlns:a="http://schemas.openxmlformats.org/drawingml/2006/main">
            <a:r>
              <a:t/>
            </a:r>
          </a:p>
          <a:p xmlns:a="http://schemas.openxmlformats.org/drawingml/2006/main">
            <a:r>
              <a:t>原典</a:t>
            </a:r>
          </a:p>
          <a:p xmlns:a="http://schemas.openxmlformats.org/drawingml/2006/main">
            <a:r>
              <a:t>EEX-EXH-2026-0daa587f8abf6076 JIMTOF2026公式出展説明：松本機械工業株式会社 (W2070)</a:t>
            </a:r>
          </a:p>
          <a:p xmlns:a="http://schemas.openxmlformats.org/drawingml/2006/main">
            <a:r>
              <a:t>https://www.jimtof.org/search/jp/ESdetails?e=bhpEIIjKNb4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EEX-EXH-2024-1dc10e3b594ed9d8 JIMTOF2024公式出展説明：松本機械工業株式会社 (W2055)</a:t>
            </a:r>
          </a:p>
          <a:p xmlns:a="http://schemas.openxmlformats.org/drawingml/2006/main">
            <a:r>
              <a:t>https://www.jimtof.org/2024/search/jp/ESdetails?e=1cGhqW04Qes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EDP-26 Smart Terrace Adv</a:t>
            </a:r>
          </a:p>
          <a:p xmlns:a="http://schemas.openxmlformats.org/drawingml/2006/main">
            <a:r>
              <a:t>https://mmkchuck.com/product/7218/</a:t>
            </a:r>
          </a:p>
          <a:p xmlns:a="http://schemas.openxmlformats.org/drawingml/2006/main">
            <a:r>
              <a:t>該当箇所:7つの革新／寸法パラメータ入力・出荷時組込プログラム／レトロフィット</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EDP-27 JIMTOF2024出展報告</a:t>
            </a:r>
          </a:p>
          <a:p xmlns:a="http://schemas.openxmlformats.org/drawingml/2006/main">
            <a:r>
              <a:t>https://mmkchuck.com/news/2024/5903/</a:t>
            </a:r>
          </a:p>
          <a:p xmlns:a="http://schemas.openxmlformats.org/drawingml/2006/main">
            <a:r>
              <a:t>該当箇所:爪・ケレ・計測／展示会初披露のCAPTO・MAC</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EDP-28 Smart Terrace関連資料公開</a:t>
            </a:r>
          </a:p>
          <a:p xmlns:a="http://schemas.openxmlformats.org/drawingml/2006/main">
            <a:r>
              <a:t>https://mmkchuck.com/news/2026/7380/</a:t>
            </a:r>
          </a:p>
          <a:p xmlns:a="http://schemas.openxmlformats.org/drawingml/2006/main">
            <a:r>
              <a:t>該当箇所:Advハード単体・ストッカー単体販売への対応</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EOV-V025-2024-1 JIMTOF2024公式カタログ：株式会社イマオコーポレーション (W2002)</a:t>
            </a:r>
          </a:p>
          <a:p xmlns:a="http://schemas.openxmlformats.org/drawingml/2006/main">
            <a:r>
              <a:t>https://www.jimtof.org/2024/search/jp/ESdetails?e=MTYTZ2Km3zM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EOV-V025-2026-1 JIMTOF2026公式カタログ：株式会社イマオコーポレーション (W2001)</a:t>
            </a:r>
          </a:p>
          <a:p xmlns:a="http://schemas.openxmlformats.org/drawingml/2006/main">
            <a:r>
              <a:t>https://www.jimtof.org/search/jp/ESdetails?e=shuDpJLDn-A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EDP-30 ナットランナー治具</a:t>
            </a:r>
          </a:p>
          <a:p xmlns:a="http://schemas.openxmlformats.org/drawingml/2006/main">
            <a:r>
              <a:t>https://www.imao.co.jp/products/nutrunnerclamp.html</a:t>
            </a:r>
          </a:p>
          <a:p xmlns:a="http://schemas.openxmlformats.org/drawingml/2006/main">
            <a:r>
              <a:t>該当箇所:ロボットのナットランナーでクランプ／配管配線不要／手動も可能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EDP-32 JIMTOF2024出展パンフレット</a:t>
            </a:r>
          </a:p>
          <a:p xmlns:a="http://schemas.openxmlformats.org/drawingml/2006/main">
            <a:r>
              <a:t>https://www.imao.co.jp/event-20241105-1110-jimtof/jimtof.pdf</a:t>
            </a:r>
          </a:p>
          <a:p xmlns:a="http://schemas.openxmlformats.org/drawingml/2006/main">
            <a:r>
              <a:t>該当箇所:ナットランナー治具各型式／人でもロボットでも操作可能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EOV-V029-2024-1 JIMTOF2024公式カタログ：中村留精密工業株式会社 (E5033)</a:t>
            </a:r>
          </a:p>
          <a:p xmlns:a="http://schemas.openxmlformats.org/drawingml/2006/main">
            <a:r>
              <a:t>https://www.jimtof.org/2024/search/jp/ESdetails?e=RYK326OoMn4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EOV-V029-2026-1 JIMTOF2026公式カタログ：中村留精密工業株式会社 (E2027)</a:t>
            </a:r>
          </a:p>
          <a:p xmlns:a="http://schemas.openxmlformats.org/drawingml/2006/main">
            <a:r>
              <a:t>https://www.jimtof.org/search/jp/ESdetails?e=C7A_2ZTDXNw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EOV-W04 RoboSync</a:t>
            </a:r>
          </a:p>
          <a:p xmlns:a="http://schemas.openxmlformats.org/drawingml/2006/main">
            <a:r>
              <a:t>https://www.nakamura-tome.co.jp/products/automation/robosync/</a:t>
            </a:r>
          </a:p>
          <a:p xmlns:a="http://schemas.openxmlformats.org/drawingml/2006/main">
            <a:r>
              <a:t>該当箇所:製品の特長 &gt; 簡単復旧、簡単操作</a:t>
            </a:r>
          </a:p>
          <a:p xmlns:a="http://schemas.openxmlformats.org/drawingml/2006/main">
            <a:r>
              <a:t>確認:2026-10-16</a:t>
            </a:r>
          </a:p>
          <a:p xmlns:a="http://schemas.openxmlformats.org/drawingml/2006/main">
            <a:r>
              <a:t>種類:企業公式資料・メーカー主張</a:t>
            </a:r>
          </a:p>
          <a:p xmlns:a="http://schemas.openxmlformats.org/drawingml/2006/main">
            <a:r>
              <a:t>展示:自律的な未知例外復帰の証明ではない</a:t>
            </a:r>
          </a:p>
          <a:p xmlns:a="http://schemas.openxmlformats.org/drawingml/2006/main">
            <a:r>
              <a:t/>
            </a:r>
          </a:p>
          <a:p xmlns:a="http://schemas.openxmlformats.org/drawingml/2006/main">
            <a:r>
              <a:t>EEX-EXH-2026-1c8938d47b63e4bb JIMTOF2026公式出展説明：共立精機株式会社 (W2025)</a:t>
            </a:r>
          </a:p>
          <a:p xmlns:a="http://schemas.openxmlformats.org/drawingml/2006/main">
            <a:r>
              <a:t>https://www.jimtof.org/search/jp/ESdetails?e=9k7ro8sL0VA</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EEX-EXH-2024-3a9bfb48fcb6542c JIMTOF2024公式出展説明：共立精機株式会社 (W2037)</a:t>
            </a:r>
          </a:p>
          <a:p xmlns:a="http://schemas.openxmlformats.org/drawingml/2006/main">
            <a:r>
              <a:t>https://www.jimtof.org/2024/search/jp/ESdetails?e=xT1gIvXxCpQ</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比較の見方[分析]:搬送対象、機内への受渡し、容器交換までを分けて省人範囲を見る。</a:t>
            </a:r>
          </a:p>
          <a:p xmlns:a="http://schemas.openxmlformats.org/drawingml/2006/main">
            <a:r>
              <a:t/>
            </a:r>
          </a:p>
          <a:p xmlns:a="http://schemas.openxmlformats.org/drawingml/2006/main">
            <a:r>
              <a:t>ワーク・パレット・切粉の搬送</a:t>
            </a:r>
          </a:p>
          <a:p xmlns:a="http://schemas.openxmlformats.org/drawingml/2006/main">
            <a:r>
              <a:t>B11-1 DMG森精機 / MATRIS WPH 210 / E8005</a:t>
            </a:r>
          </a:p>
          <a:p xmlns:a="http://schemas.openxmlformats.org/drawingml/2006/main">
            <a:r>
              <a:t>対象:ワークとパレットを加工機へ供給する</a:t>
            </a:r>
          </a:p>
          <a:p xmlns:a="http://schemas.openxmlformats.org/drawingml/2006/main">
            <a:r>
              <a:t>公式要約:MATRIS WPH 210がワークとパレット両方を供給。</a:t>
            </a:r>
          </a:p>
          <a:p xmlns:a="http://schemas.openxmlformats.org/drawingml/2006/main">
            <a:r>
              <a:t>年度:2024のPH Cell等に対しWPH 210を日本初公開と記載。</a:t>
            </a:r>
          </a:p>
          <a:p xmlns:a="http://schemas.openxmlformats.org/drawingml/2006/main">
            <a:r>
              <a:t>人・未確認:把持・治具・品種切替の事前準備と異常対応は未確認。</a:t>
            </a:r>
          </a:p>
          <a:p xmlns:a="http://schemas.openxmlformats.org/drawingml/2006/main">
            <a:r>
              <a:t>Evidence:EOV-V001-2024-1,EOV-V001-2026-1</a:t>
            </a:r>
          </a:p>
          <a:p xmlns:a="http://schemas.openxmlformats.org/drawingml/2006/main">
            <a:r>
              <a:t/>
            </a:r>
          </a:p>
          <a:p xmlns:a="http://schemas.openxmlformats.org/drawingml/2006/main">
            <a:r>
              <a:t>B11-2 オークマ / ARMROID／OMR20 / E3028</a:t>
            </a:r>
          </a:p>
          <a:p xmlns:a="http://schemas.openxmlformats.org/drawingml/2006/main">
            <a:r>
              <a:t>対象:加工機へのワーク搬入出を自動化する</a:t>
            </a:r>
          </a:p>
          <a:p xmlns:a="http://schemas.openxmlformats.org/drawingml/2006/main">
            <a:r>
              <a:t>公式要約:ARMROID機内ロボット、OMR20等で工作機械の自動化を構成。</a:t>
            </a:r>
          </a:p>
          <a:p xmlns:a="http://schemas.openxmlformats.org/drawingml/2006/main">
            <a:r>
              <a:t>年度:ARMROID・OMR20は2024にも掲載。2026も継続。</a:t>
            </a:r>
          </a:p>
          <a:p xmlns:a="http://schemas.openxmlformats.org/drawingml/2006/main">
            <a:r>
              <a:t>人・未確認:手動との切替と品種変更の介入範囲は未確認。</a:t>
            </a:r>
          </a:p>
          <a:p xmlns:a="http://schemas.openxmlformats.org/drawingml/2006/main">
            <a:r>
              <a:t>Evidence:EOV-V003-2024-1,EOV-V003-2026-1</a:t>
            </a:r>
          </a:p>
          <a:p xmlns:a="http://schemas.openxmlformats.org/drawingml/2006/main">
            <a:r>
              <a:t/>
            </a:r>
          </a:p>
          <a:p xmlns:a="http://schemas.openxmlformats.org/drawingml/2006/main">
            <a:r>
              <a:t>B11-3 株式会社白山機工 / AMRによる切り屑自動回収 / E2007</a:t>
            </a:r>
          </a:p>
          <a:p xmlns:a="http://schemas.openxmlformats.org/drawingml/2006/main">
            <a:r>
              <a:t>対象:加工機から出る切粉容器を回収する</a:t>
            </a:r>
          </a:p>
          <a:p xmlns:a="http://schemas.openxmlformats.org/drawingml/2006/main">
            <a:r>
              <a:t>公式要約:AMRで切粉容器を回収。実演と模型を併記。</a:t>
            </a:r>
          </a:p>
          <a:p xmlns:a="http://schemas.openxmlformats.org/drawingml/2006/main">
            <a:r>
              <a:t>年度:2024のろ過・集中処理から、2026はAMR回収を追加記載。</a:t>
            </a:r>
          </a:p>
          <a:p xmlns:a="http://schemas.openxmlformats.org/drawingml/2006/main">
            <a:r>
              <a:t>人・未確認:満杯・こぼれ・ドッキング失敗・容器交換の対応は未確認。</a:t>
            </a:r>
          </a:p>
          <a:p xmlns:a="http://schemas.openxmlformats.org/drawingml/2006/main">
            <a:r>
              <a:t>Evidence:EEX-EXH-2026-d8a50e23a9101b11,EEX-EXH-2024-89cb7807f64be75b,EDP-29</a:t>
            </a:r>
          </a:p>
          <a:p xmlns:a="http://schemas.openxmlformats.org/drawingml/2006/main">
            <a:r>
              <a:t/>
            </a:r>
          </a:p>
          <a:p xmlns:a="http://schemas.openxmlformats.org/drawingml/2006/main">
            <a:r>
              <a:t>原典</a:t>
            </a:r>
          </a:p>
          <a:p xmlns:a="http://schemas.openxmlformats.org/drawingml/2006/main">
            <a:r>
              <a:t>EOV-V001-2024-1 JIMTOF2024公式カタログ：DMG森精機株式会社 (E8001)</a:t>
            </a:r>
          </a:p>
          <a:p xmlns:a="http://schemas.openxmlformats.org/drawingml/2006/main">
            <a:r>
              <a:t>https://www.jimtof.org/2024/search/jp/ESdetails?e=lOXEEpvlXpM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EOV-V001-2026-1 JIMTOF2026公式カタログ：DMG森精機株式会社 (E8005)</a:t>
            </a:r>
          </a:p>
          <a:p xmlns:a="http://schemas.openxmlformats.org/drawingml/2006/main">
            <a:r>
              <a:t>https://www.jimtof.org/search/jp/ESdetails?e=zcqDj1lSkGs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EEX-EXH-2026-d8a50e23a9101b11 JIMTOF2026公式出展説明：株式会社白山機工 (E2007)</a:t>
            </a:r>
          </a:p>
          <a:p xmlns:a="http://schemas.openxmlformats.org/drawingml/2006/main">
            <a:r>
              <a:t>https://www.jimtof.org/search/jp/ESdetails?e=FNFR7REQOl4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EEX-EXH-2024-89cb7807f64be75b JIMTOF2024公式出展説明：株式会社白山機工 (E4038)</a:t>
            </a:r>
          </a:p>
          <a:p xmlns:a="http://schemas.openxmlformats.org/drawingml/2006/main">
            <a:r>
              <a:t>https://www.jimtof.org/2024/search/jp/ESdetails?e=krDglZoYKFc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EDP-29 JIMTOF2026出展告知</a:t>
            </a:r>
          </a:p>
          <a:p xmlns:a="http://schemas.openxmlformats.org/drawingml/2006/main">
            <a:r>
              <a:t>https://www.hakusankiko.co.jp/news/event/8837/</a:t>
            </a:r>
          </a:p>
          <a:p xmlns:a="http://schemas.openxmlformats.org/drawingml/2006/main">
            <a:r>
              <a:t>該当箇所:AMR切り屑回収システムを実演・模型で紹介</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比較の見方[分析]:何を見て何を動かすかに加え、完了判定と失敗後の人への引継ぎを比較する。</a:t>
            </a:r>
          </a:p>
          <a:p xmlns:a="http://schemas.openxmlformats.org/drawingml/2006/main">
            <a:r>
              <a:t/>
            </a:r>
          </a:p>
          <a:p xmlns:a="http://schemas.openxmlformats.org/drawingml/2006/main">
            <a:r>
              <a:t>認識を伴うピック・付帯加工・除去</a:t>
            </a:r>
          </a:p>
          <a:p xmlns:a="http://schemas.openxmlformats.org/drawingml/2006/main">
            <a:r>
              <a:t>B12-1 TAKISAWA / TR-20W：主軸の切粉除去 / E3013</a:t>
            </a:r>
          </a:p>
          <a:p xmlns:a="http://schemas.openxmlformats.org/drawingml/2006/main">
            <a:r>
              <a:t>対象:主軸に絡まった切粉を取り除く</a:t>
            </a:r>
          </a:p>
          <a:p xmlns:a="http://schemas.openxmlformats.org/drawingml/2006/main">
            <a:r>
              <a:t>公式要約:TAKISAWAは切粉の絡まりを判断し主軸の切粉を除去する参考出品。</a:t>
            </a:r>
          </a:p>
          <a:p xmlns:a="http://schemas.openxmlformats.org/drawingml/2006/main">
            <a:r>
              <a:t>年度:2024 TR-20Wは搬入出。2026は切粉除去を追加記載。</a:t>
            </a:r>
          </a:p>
          <a:p xmlns:a="http://schemas.openxmlformats.org/drawingml/2006/main">
            <a:r>
              <a:t>人・未確認:許可動作、除去失敗の検出・再試行・人への引継ぎは未確認。</a:t>
            </a:r>
          </a:p>
          <a:p xmlns:a="http://schemas.openxmlformats.org/drawingml/2006/main">
            <a:r>
              <a:t>Evidence:EOV-V030-2024-1,EOV-V030-2026-1,EAT-N01,EAT-N02,ERF-13</a:t>
            </a:r>
          </a:p>
          <a:p xmlns:a="http://schemas.openxmlformats.org/drawingml/2006/main">
            <a:r>
              <a:t/>
            </a:r>
          </a:p>
          <a:p xmlns:a="http://schemas.openxmlformats.org/drawingml/2006/main">
            <a:r>
              <a:t>B12-2 カネテック株式会社 / マグネットピンセット：AI・2Dカメラ・協働ロボット / W2013</a:t>
            </a:r>
          </a:p>
          <a:p xmlns:a="http://schemas.openxmlformats.org/drawingml/2006/main">
            <a:r>
              <a:t>対象:ばら積みの小径ねじ・小部品を拾う</a:t>
            </a:r>
          </a:p>
          <a:p xmlns:a="http://schemas.openxmlformats.org/drawingml/2006/main">
            <a:r>
              <a:t>公式要約:カメラ・協働ロボット・磁気ピンセットで小径ねじ等をピック。</a:t>
            </a:r>
          </a:p>
          <a:p xmlns:a="http://schemas.openxmlformats.org/drawingml/2006/main">
            <a:r>
              <a:t>年度:同種構成は2024あり。2026はAIを明記、性能増分は不明。</a:t>
            </a:r>
          </a:p>
          <a:p xmlns:a="http://schemas.openxmlformats.org/drawingml/2006/main">
            <a:r>
              <a:t>人・未確認:複数個吸着・空振り等の処理、AI担当の詳細は未公開。</a:t>
            </a:r>
          </a:p>
          <a:p xmlns:a="http://schemas.openxmlformats.org/drawingml/2006/main">
            <a:r>
              <a:t>Evidence:EEX-EXH-2026-30b70a74241de123,EEX-EXH-2024-45415d070f47dc6e,EDP-01</a:t>
            </a:r>
          </a:p>
          <a:p xmlns:a="http://schemas.openxmlformats.org/drawingml/2006/main">
            <a:r>
              <a:t/>
            </a:r>
          </a:p>
          <a:p xmlns:a="http://schemas.openxmlformats.org/drawingml/2006/main">
            <a:r>
              <a:t>B12-3 東京エレクトロンデバイス株式会社 / 3D形状認識・教示不要の面取り／皿もみ / E7073</a:t>
            </a:r>
          </a:p>
          <a:p xmlns:a="http://schemas.openxmlformats.org/drawingml/2006/main">
            <a:r>
              <a:t>対象:不定形ワークの面取り・皿もみを行う</a:t>
            </a:r>
          </a:p>
          <a:p xmlns:a="http://schemas.openxmlformats.org/drawingml/2006/main">
            <a:r>
              <a:t>公式要約:3Dスキャンから不定形ワークを認識し面取り等の軌道を生成。</a:t>
            </a:r>
          </a:p>
          <a:p xmlns:a="http://schemas.openxmlformats.org/drawingml/2006/main">
            <a:r>
              <a:t>年度:2024同名比較不能。2026の具体タスクは確認。</a:t>
            </a:r>
          </a:p>
          <a:p xmlns:a="http://schemas.openxmlformats.org/drawingml/2006/main">
            <a:r>
              <a:t>人・未確認:加工条件設定、干渉確認、誤認識時の停止・品質承認は未公開。</a:t>
            </a:r>
          </a:p>
          <a:p xmlns:a="http://schemas.openxmlformats.org/drawingml/2006/main">
            <a:r>
              <a:t>Evidence:EEX-EXH-2026-8c08de1ffed47316,EEX-WTED</a:t>
            </a:r>
          </a:p>
          <a:p xmlns:a="http://schemas.openxmlformats.org/drawingml/2006/main">
            <a:r>
              <a:t/>
            </a:r>
          </a:p>
          <a:p xmlns:a="http://schemas.openxmlformats.org/drawingml/2006/main">
            <a:r>
              <a:t>B12-4 株式会社ジーベックテクノロジー / XEBEC CPS オートホルダー / WA006</a:t>
            </a:r>
          </a:p>
          <a:p xmlns:a="http://schemas.openxmlformats.org/drawingml/2006/main">
            <a:r>
              <a:t>対象:バリ取り中のブラシ摩耗を補う</a:t>
            </a:r>
          </a:p>
          <a:p xmlns:a="http://schemas.openxmlformats.org/drawingml/2006/main">
            <a:r>
              <a:t>公式要約:ブラシ摩耗に応じて突出し量を自動調整するホルダーを、ロボットのギヤバリ取りに組み合わせる。</a:t>
            </a:r>
          </a:p>
          <a:p xmlns:a="http://schemas.openxmlformats.org/drawingml/2006/main">
            <a:r>
              <a:t>年度:2024はバリ取り自動化工具を紹介。2026は摩耗に伴う人の調整を減らす構成を具体記載。</a:t>
            </a:r>
          </a:p>
          <a:p xmlns:a="http://schemas.openxmlformats.org/drawingml/2006/main">
            <a:r>
              <a:t>人・未確認:加工条件・ブラシ選定と、不良時の調整は要確認。</a:t>
            </a:r>
          </a:p>
          <a:p xmlns:a="http://schemas.openxmlformats.org/drawingml/2006/main">
            <a:r>
              <a:t>Evidence:EEX-EXH-2026-ba283a239e52d644,EEX-EXH-2024-1632c66ef4d28e78</a:t>
            </a:r>
          </a:p>
          <a:p xmlns:a="http://schemas.openxmlformats.org/drawingml/2006/main">
            <a:r>
              <a:t/>
            </a:r>
          </a:p>
          <a:p xmlns:a="http://schemas.openxmlformats.org/drawingml/2006/main">
            <a:r>
              <a:t>原典</a:t>
            </a:r>
          </a:p>
          <a:p xmlns:a="http://schemas.openxmlformats.org/drawingml/2006/main">
            <a:r>
              <a:t>EOV-V030-2024-1 JIMTOF2024公式カタログ：株式会社TAKISAWA (E3013)</a:t>
            </a:r>
          </a:p>
          <a:p xmlns:a="http://schemas.openxmlformats.org/drawingml/2006/main">
            <a:r>
              <a:t>https://www.jimtof.org/2024/search/jp/ESdetails?e=K00DRD-BngA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EOV-V030-2026-1 JIMTOF2026公式カタログ：株式会社TAKISAWA (E3013)</a:t>
            </a:r>
          </a:p>
          <a:p xmlns:a="http://schemas.openxmlformats.org/drawingml/2006/main">
            <a:r>
              <a:t>https://www.jimtof.org/search/jp/ESdetails?e=3dTDRAMwZpM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EAT-N01 JIMTOF2026 TR-20W</a:t>
            </a:r>
          </a:p>
          <a:p xmlns:a="http://schemas.openxmlformats.org/drawingml/2006/main">
            <a:r>
              <a:t>https://www.nidec.com/jp/products/machine-tools/contents/machine-tool-jimtof2026/</a:t>
            </a:r>
          </a:p>
          <a:p xmlns:a="http://schemas.openxmlformats.org/drawingml/2006/main">
            <a:r>
              <a:t>該当箇所:TR-20W：フィジカルAI搭載のロボットシステム（参考出品）</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展示:2026展示予定・参考出品</a:t>
            </a:r>
          </a:p>
          <a:p xmlns:a="http://schemas.openxmlformats.org/drawingml/2006/main">
            <a:r>
              <a:t/>
            </a:r>
          </a:p>
          <a:p xmlns:a="http://schemas.openxmlformats.org/drawingml/2006/main">
            <a:r>
              <a:t>EAT-N02 MGC300開発発表</a:t>
            </a:r>
          </a:p>
          <a:p xmlns:a="http://schemas.openxmlformats.org/drawingml/2006/main">
            <a:r>
              <a:t>https://www.nidec.com/jp/product/news/2024/news1101-03/</a:t>
            </a:r>
          </a:p>
          <a:p xmlns:a="http://schemas.openxmlformats.org/drawingml/2006/main">
            <a:r>
              <a:t>該当箇所:2024年11月1日／MGC300の出展説明</a:t>
            </a:r>
          </a:p>
          <a:p xmlns:a="http://schemas.openxmlformats.org/drawingml/2006/main">
            <a:r>
              <a:t>確認:2026-10-16</a:t>
            </a:r>
          </a:p>
          <a:p xmlns:a="http://schemas.openxmlformats.org/drawingml/2006/main">
            <a:r>
              <a:t>種類:企業公式説明・メーカー主張</a:t>
            </a:r>
          </a:p>
          <a:p xmlns:a="http://schemas.openxmlformats.org/drawingml/2006/main">
            <a:r>
              <a:t>展示:2024当時の予定説明</a:t>
            </a:r>
          </a:p>
          <a:p xmlns:a="http://schemas.openxmlformats.org/drawingml/2006/main">
            <a:r>
              <a:t/>
            </a:r>
          </a:p>
          <a:p xmlns:a="http://schemas.openxmlformats.org/drawingml/2006/main">
            <a:r>
              <a:t>ERF-13 JIMTOF2026：TR-20W参考出品</a:t>
            </a:r>
          </a:p>
          <a:p xmlns:a="http://schemas.openxmlformats.org/drawingml/2006/main">
            <a:r>
              <a:t>https://www.nidec.com/jp/products/machine-tools/contents/machine-tool-jimtof2026/</a:t>
            </a:r>
          </a:p>
          <a:p xmlns:a="http://schemas.openxmlformats.org/drawingml/2006/main">
            <a:r>
              <a:t>該当箇所:TAKISAWA／TR-20W、主軸の切粉認識・判断・除去、参考出品</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EEX-EXH-2026-30b70a74241de123 JIMTOF2026公式出展説明：カネテック株式会社 (W2013)</a:t>
            </a:r>
          </a:p>
          <a:p xmlns:a="http://schemas.openxmlformats.org/drawingml/2006/main">
            <a:r>
              <a:t>https://www.jimtof.org/search/jp/ESdetails?e=ekM3exgIAtc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EEX-EXH-2024-45415d070f47dc6e JIMTOF2024公式出展説明：カネテック株式会社 (W2030)</a:t>
            </a:r>
          </a:p>
          <a:p xmlns:a="http://schemas.openxmlformats.org/drawingml/2006/main">
            <a:r>
              <a:t>https://www.jimtof.org/2024/search/jp/ESdetails?e=ot0Fx36wI0g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EDP-01 MagnetPinset</a:t>
            </a:r>
          </a:p>
          <a:p xmlns:a="http://schemas.openxmlformats.org/drawingml/2006/main">
            <a:r>
              <a:t>https://kanetec.co.jp/lp/MagnetPinset%40LP.html</a:t>
            </a:r>
          </a:p>
          <a:p xmlns:a="http://schemas.openxmlformats.org/drawingml/2006/main">
            <a:r>
              <a:t>該当箇所:小径ネジの課題／JIMTOF2024出展／ネジ整列器</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EEX-EXH-2026-8c08de1ffed47316 JIMTOF2026公式出展説明：東京エレクトロンデバイス株式会社 (E7073)</a:t>
            </a:r>
          </a:p>
          <a:p xmlns:a="http://schemas.openxmlformats.org/drawingml/2006/main">
            <a:r>
              <a:t>https://www.jimtof.org/search/jp/ESdetails?e=c4cChQniAm8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EEX-WTED 企業公式の展示告知</a:t>
            </a:r>
          </a:p>
          <a:p xmlns:a="http://schemas.openxmlformats.org/drawingml/2006/main">
            <a:r>
              <a:t>https://www.inrevium.com/news-event/event/p7331/</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t>
            </a:r>
          </a:p>
          <a:p xmlns:a="http://schemas.openxmlformats.org/drawingml/2006/main">
            <a:r>
              <a:t/>
            </a:r>
          </a:p>
          <a:p xmlns:a="http://schemas.openxmlformats.org/drawingml/2006/main">
            <a:r>
              <a:t>EEX-EXH-2026-ba283a239e52d644 JIMTOF2026公式出展説明：株式会社ジーベックテクノロジー (WA006)</a:t>
            </a:r>
          </a:p>
          <a:p xmlns:a="http://schemas.openxmlformats.org/drawingml/2006/main">
            <a:r>
              <a:t>https://www.jimtof.org/search/jp/ESdetails?e=jbu03Ik4s00</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EEX-EXH-2024-1632c66ef4d28e78 JIMTOF2024公式出展説明：株式会社ジーベックテクノロジー (WA007)</a:t>
            </a:r>
          </a:p>
          <a:p xmlns:a="http://schemas.openxmlformats.org/drawingml/2006/main">
            <a:r>
              <a:t>https://www.jimtof.org/2024/search/jp/ESdetails?e=mnvwVRInyM8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比較の見方[分析]:何を見て何を動かすかに加え、完了判定と失敗後の人への引継ぎを比較する。</a:t>
            </a:r>
          </a:p>
          <a:p xmlns:a="http://schemas.openxmlformats.org/drawingml/2006/main">
            <a:r>
              <a:t/>
            </a:r>
          </a:p>
          <a:p xmlns:a="http://schemas.openxmlformats.org/drawingml/2006/main">
            <a:r>
              <a:t>認識を伴うピック・付帯加工・除去</a:t>
            </a:r>
          </a:p>
          <a:p xmlns:a="http://schemas.openxmlformats.org/drawingml/2006/main">
            <a:r>
              <a:t>B12-1 TAKISAWA / TR-20W：主軸の切粉除去 / E3013</a:t>
            </a:r>
          </a:p>
          <a:p xmlns:a="http://schemas.openxmlformats.org/drawingml/2006/main">
            <a:r>
              <a:t>対象:主軸に絡まった切粉を取り除く</a:t>
            </a:r>
          </a:p>
          <a:p xmlns:a="http://schemas.openxmlformats.org/drawingml/2006/main">
            <a:r>
              <a:t>公式要約:TAKISAWAは切粉の絡まりを判断し主軸の切粉を除去する参考出品。</a:t>
            </a:r>
          </a:p>
          <a:p xmlns:a="http://schemas.openxmlformats.org/drawingml/2006/main">
            <a:r>
              <a:t>年度:2024 TR-20Wは搬入出。2026は切粉除去を追加記載。</a:t>
            </a:r>
          </a:p>
          <a:p xmlns:a="http://schemas.openxmlformats.org/drawingml/2006/main">
            <a:r>
              <a:t>人・未確認:許可動作、除去失敗の検出・再試行・人への引継ぎは未確認。</a:t>
            </a:r>
          </a:p>
          <a:p xmlns:a="http://schemas.openxmlformats.org/drawingml/2006/main">
            <a:r>
              <a:t>Evidence:EOV-V030-2024-1,EOV-V030-2026-1,EAT-N01,EAT-N02,ERF-13</a:t>
            </a:r>
          </a:p>
          <a:p xmlns:a="http://schemas.openxmlformats.org/drawingml/2006/main">
            <a:r>
              <a:t/>
            </a:r>
          </a:p>
          <a:p xmlns:a="http://schemas.openxmlformats.org/drawingml/2006/main">
            <a:r>
              <a:t>B12-2 カネテック株式会社 / マグネットピンセット：AI・2Dカメラ・協働ロボット / W2013</a:t>
            </a:r>
          </a:p>
          <a:p xmlns:a="http://schemas.openxmlformats.org/drawingml/2006/main">
            <a:r>
              <a:t>対象:ばら積みの小径ねじ・小部品を拾う</a:t>
            </a:r>
          </a:p>
          <a:p xmlns:a="http://schemas.openxmlformats.org/drawingml/2006/main">
            <a:r>
              <a:t>公式要約:カメラ・協働ロボット・磁気ピンセットで小径ねじ等をピック。</a:t>
            </a:r>
          </a:p>
          <a:p xmlns:a="http://schemas.openxmlformats.org/drawingml/2006/main">
            <a:r>
              <a:t>年度:同種構成は2024あり。2026はAIを明記、性能増分は不明。</a:t>
            </a:r>
          </a:p>
          <a:p xmlns:a="http://schemas.openxmlformats.org/drawingml/2006/main">
            <a:r>
              <a:t>人・未確認:複数個吸着・空振り等の処理、AI担当の詳細は未公開。</a:t>
            </a:r>
          </a:p>
          <a:p xmlns:a="http://schemas.openxmlformats.org/drawingml/2006/main">
            <a:r>
              <a:t>Evidence:EEX-EXH-2026-30b70a74241de123,EEX-EXH-2024-45415d070f47dc6e,EDP-01</a:t>
            </a:r>
          </a:p>
          <a:p xmlns:a="http://schemas.openxmlformats.org/drawingml/2006/main">
            <a:r>
              <a:t/>
            </a:r>
          </a:p>
          <a:p xmlns:a="http://schemas.openxmlformats.org/drawingml/2006/main">
            <a:r>
              <a:t>B12-3 東京エレクトロンデバイス株式会社 / 3D形状認識・教示不要の面取り／皿もみ / E7073</a:t>
            </a:r>
          </a:p>
          <a:p xmlns:a="http://schemas.openxmlformats.org/drawingml/2006/main">
            <a:r>
              <a:t>対象:不定形ワークの面取り・皿もみを行う</a:t>
            </a:r>
          </a:p>
          <a:p xmlns:a="http://schemas.openxmlformats.org/drawingml/2006/main">
            <a:r>
              <a:t>公式要約:3Dスキャンから不定形ワークを認識し面取り等の軌道を生成。</a:t>
            </a:r>
          </a:p>
          <a:p xmlns:a="http://schemas.openxmlformats.org/drawingml/2006/main">
            <a:r>
              <a:t>年度:2024同名比較不能。2026の具体タスクは確認。</a:t>
            </a:r>
          </a:p>
          <a:p xmlns:a="http://schemas.openxmlformats.org/drawingml/2006/main">
            <a:r>
              <a:t>人・未確認:加工条件設定、干渉確認、誤認識時の停止・品質承認は未公開。</a:t>
            </a:r>
          </a:p>
          <a:p xmlns:a="http://schemas.openxmlformats.org/drawingml/2006/main">
            <a:r>
              <a:t>Evidence:EEX-EXH-2026-8c08de1ffed47316,EEX-WTED</a:t>
            </a:r>
          </a:p>
          <a:p xmlns:a="http://schemas.openxmlformats.org/drawingml/2006/main">
            <a:r>
              <a:t/>
            </a:r>
          </a:p>
          <a:p xmlns:a="http://schemas.openxmlformats.org/drawingml/2006/main">
            <a:r>
              <a:t>B12-4 株式会社ジーベックテクノロジー / XEBEC CPS オートホルダー / WA006</a:t>
            </a:r>
          </a:p>
          <a:p xmlns:a="http://schemas.openxmlformats.org/drawingml/2006/main">
            <a:r>
              <a:t>対象:バリ取り中のブラシ摩耗を補う</a:t>
            </a:r>
          </a:p>
          <a:p xmlns:a="http://schemas.openxmlformats.org/drawingml/2006/main">
            <a:r>
              <a:t>公式要約:ブラシ摩耗に応じて突出し量を自動調整するホルダーを、ロボットのギヤバリ取りに組み合わせる。</a:t>
            </a:r>
          </a:p>
          <a:p xmlns:a="http://schemas.openxmlformats.org/drawingml/2006/main">
            <a:r>
              <a:t>年度:2024はバリ取り自動化工具を紹介。2026は摩耗に伴う人の調整を減らす構成を具体記載。</a:t>
            </a:r>
          </a:p>
          <a:p xmlns:a="http://schemas.openxmlformats.org/drawingml/2006/main">
            <a:r>
              <a:t>人・未確認:加工条件・ブラシ選定と、不良時の調整は要確認。</a:t>
            </a:r>
          </a:p>
          <a:p xmlns:a="http://schemas.openxmlformats.org/drawingml/2006/main">
            <a:r>
              <a:t>Evidence:EEX-EXH-2026-ba283a239e52d644,EEX-EXH-2024-1632c66ef4d28e78</a:t>
            </a:r>
          </a:p>
          <a:p xmlns:a="http://schemas.openxmlformats.org/drawingml/2006/main">
            <a:r>
              <a:t/>
            </a:r>
          </a:p>
          <a:p xmlns:a="http://schemas.openxmlformats.org/drawingml/2006/main">
            <a:r>
              <a:t>原典</a:t>
            </a:r>
          </a:p>
          <a:p xmlns:a="http://schemas.openxmlformats.org/drawingml/2006/main">
            <a:r>
              <a:t>EOV-V030-2024-1 JIMTOF2024公式カタログ：株式会社TAKISAWA (E3013)</a:t>
            </a:r>
          </a:p>
          <a:p xmlns:a="http://schemas.openxmlformats.org/drawingml/2006/main">
            <a:r>
              <a:t>https://www.jimtof.org/2024/search/jp/ESdetails?e=K00DRD-BngA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EOV-V030-2026-1 JIMTOF2026公式カタログ：株式会社TAKISAWA (E3013)</a:t>
            </a:r>
          </a:p>
          <a:p xmlns:a="http://schemas.openxmlformats.org/drawingml/2006/main">
            <a:r>
              <a:t>https://www.jimtof.org/search/jp/ESdetails?e=3dTDRAMwZpM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EAT-N01 JIMTOF2026 TR-20W</a:t>
            </a:r>
          </a:p>
          <a:p xmlns:a="http://schemas.openxmlformats.org/drawingml/2006/main">
            <a:r>
              <a:t>https://www.nidec.com/jp/products/machine-tools/contents/machine-tool-jimtof2026/</a:t>
            </a:r>
          </a:p>
          <a:p xmlns:a="http://schemas.openxmlformats.org/drawingml/2006/main">
            <a:r>
              <a:t>該当箇所:TR-20W：フィジカルAI搭載のロボットシステム（参考出品）</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展示:2026展示予定・参考出品</a:t>
            </a:r>
          </a:p>
          <a:p xmlns:a="http://schemas.openxmlformats.org/drawingml/2006/main">
            <a:r>
              <a:t/>
            </a:r>
          </a:p>
          <a:p xmlns:a="http://schemas.openxmlformats.org/drawingml/2006/main">
            <a:r>
              <a:t>EAT-N02 MGC300開発発表</a:t>
            </a:r>
          </a:p>
          <a:p xmlns:a="http://schemas.openxmlformats.org/drawingml/2006/main">
            <a:r>
              <a:t>https://www.nidec.com/jp/product/news/2024/news1101-03/</a:t>
            </a:r>
          </a:p>
          <a:p xmlns:a="http://schemas.openxmlformats.org/drawingml/2006/main">
            <a:r>
              <a:t>該当箇所:2024年11月1日／MGC300の出展説明</a:t>
            </a:r>
          </a:p>
          <a:p xmlns:a="http://schemas.openxmlformats.org/drawingml/2006/main">
            <a:r>
              <a:t>確認:2026-10-16</a:t>
            </a:r>
          </a:p>
          <a:p xmlns:a="http://schemas.openxmlformats.org/drawingml/2006/main">
            <a:r>
              <a:t>種類:企業公式説明・メーカー主張</a:t>
            </a:r>
          </a:p>
          <a:p xmlns:a="http://schemas.openxmlformats.org/drawingml/2006/main">
            <a:r>
              <a:t>展示:2024当時の予定説明</a:t>
            </a:r>
          </a:p>
          <a:p xmlns:a="http://schemas.openxmlformats.org/drawingml/2006/main">
            <a:r>
              <a:t/>
            </a:r>
          </a:p>
          <a:p xmlns:a="http://schemas.openxmlformats.org/drawingml/2006/main">
            <a:r>
              <a:t>ERF-13 JIMTOF2026：TR-20W参考出品</a:t>
            </a:r>
          </a:p>
          <a:p xmlns:a="http://schemas.openxmlformats.org/drawingml/2006/main">
            <a:r>
              <a:t>https://www.nidec.com/jp/products/machine-tools/contents/machine-tool-jimtof2026/</a:t>
            </a:r>
          </a:p>
          <a:p xmlns:a="http://schemas.openxmlformats.org/drawingml/2006/main">
            <a:r>
              <a:t>該当箇所:TAKISAWA／TR-20W、主軸の切粉認識・判断・除去、参考出品</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EEX-EXH-2026-30b70a74241de123 JIMTOF2026公式出展説明：カネテック株式会社 (W2013)</a:t>
            </a:r>
          </a:p>
          <a:p xmlns:a="http://schemas.openxmlformats.org/drawingml/2006/main">
            <a:r>
              <a:t>https://www.jimtof.org/search/jp/ESdetails?e=ekM3exgIAtc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EEX-EXH-2024-45415d070f47dc6e JIMTOF2024公式出展説明：カネテック株式会社 (W2030)</a:t>
            </a:r>
          </a:p>
          <a:p xmlns:a="http://schemas.openxmlformats.org/drawingml/2006/main">
            <a:r>
              <a:t>https://www.jimtof.org/2024/search/jp/ESdetails?e=ot0Fx36wI0g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EDP-01 MagnetPinset</a:t>
            </a:r>
          </a:p>
          <a:p xmlns:a="http://schemas.openxmlformats.org/drawingml/2006/main">
            <a:r>
              <a:t>https://kanetec.co.jp/lp/MagnetPinset%40LP.html</a:t>
            </a:r>
          </a:p>
          <a:p xmlns:a="http://schemas.openxmlformats.org/drawingml/2006/main">
            <a:r>
              <a:t>該当箇所:小径ネジの課題／JIMTOF2024出展／ネジ整列器</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EEX-EXH-2026-8c08de1ffed47316 JIMTOF2026公式出展説明：東京エレクトロンデバイス株式会社 (E7073)</a:t>
            </a:r>
          </a:p>
          <a:p xmlns:a="http://schemas.openxmlformats.org/drawingml/2006/main">
            <a:r>
              <a:t>https://www.jimtof.org/search/jp/ESdetails?e=c4cChQniAm8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EEX-WTED 企業公式の展示告知</a:t>
            </a:r>
          </a:p>
          <a:p xmlns:a="http://schemas.openxmlformats.org/drawingml/2006/main">
            <a:r>
              <a:t>https://www.inrevium.com/news-event/event/p7331/</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t>
            </a:r>
          </a:p>
          <a:p xmlns:a="http://schemas.openxmlformats.org/drawingml/2006/main">
            <a:r>
              <a:t/>
            </a:r>
          </a:p>
          <a:p xmlns:a="http://schemas.openxmlformats.org/drawingml/2006/main">
            <a:r>
              <a:t>EEX-EXH-2026-ba283a239e52d644 JIMTOF2026公式出展説明：株式会社ジーベックテクノロジー (WA006)</a:t>
            </a:r>
          </a:p>
          <a:p xmlns:a="http://schemas.openxmlformats.org/drawingml/2006/main">
            <a:r>
              <a:t>https://www.jimtof.org/search/jp/ESdetails?e=jbu03Ik4s00</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EEX-EXH-2024-1632c66ef4d28e78 JIMTOF2024公式出展説明：株式会社ジーベックテクノロジー (WA007)</a:t>
            </a:r>
          </a:p>
          <a:p xmlns:a="http://schemas.openxmlformats.org/drawingml/2006/main">
            <a:r>
              <a:t>https://www.jimtof.org/2024/search/jp/ESdetails?e=mnvwVRInyM8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比較の見方[分析]:診断提案・予測・指令・人の遠隔操作を、実行主体別に分ける。</a:t>
            </a:r>
          </a:p>
          <a:p xmlns:a="http://schemas.openxmlformats.org/drawingml/2006/main">
            <a:r>
              <a:t/>
            </a:r>
          </a:p>
          <a:p xmlns:a="http://schemas.openxmlformats.org/drawingml/2006/main">
            <a:r>
              <a:t>現場エージェント・遠隔介入</a:t>
            </a:r>
          </a:p>
          <a:p xmlns:a="http://schemas.openxmlformats.org/drawingml/2006/main">
            <a:r>
              <a:t>B13-1 ベッコフオートメーション / TwinCAT CoAgent for Operations / E2028</a:t>
            </a:r>
          </a:p>
          <a:p xmlns:a="http://schemas.openxmlformats.org/drawingml/2006/main">
            <a:r>
              <a:t>対象:機械のアラーム原因と対処方法を調べる</a:t>
            </a:r>
          </a:p>
          <a:p xmlns:a="http://schemas.openxmlformats.org/drawingml/2006/main">
            <a:r>
              <a:t>公式要約:Operationsは機械データと文書から原因仮説・対処案を作る。</a:t>
            </a:r>
          </a:p>
          <a:p xmlns:a="http://schemas.openxmlformats.org/drawingml/2006/main">
            <a:r>
              <a:t>年度:2024比較不能。製品発表・投入時期要問合せ。</a:t>
            </a:r>
          </a:p>
          <a:p xmlns:a="http://schemas.openxmlformats.org/drawingml/2006/main">
            <a:r>
              <a:t>人・未確認:専門家が制御権保持。毎回承認・書込権限・失敗復帰は未公開。</a:t>
            </a:r>
          </a:p>
          <a:p xmlns:a="http://schemas.openxmlformats.org/drawingml/2006/main">
            <a:r>
              <a:t>Evidence:EOV-V005-2026-1,EAT-N04,EAT-N05,EDP-03,ERF-02</a:t>
            </a:r>
          </a:p>
          <a:p xmlns:a="http://schemas.openxmlformats.org/drawingml/2006/main">
            <a:r>
              <a:t/>
            </a:r>
          </a:p>
          <a:p xmlns:a="http://schemas.openxmlformats.org/drawingml/2006/main">
            <a:r>
              <a:t>B13-2 ソフィックス / SOFIXCAN Fleeter＋AI Forecast：ミニ工場 / E1067</a:t>
            </a:r>
          </a:p>
          <a:p xmlns:a="http://schemas.openxmlformats.org/drawingml/2006/main">
            <a:r>
              <a:t>対象:設備・搬送を連携し予測を活用する</a:t>
            </a:r>
          </a:p>
          <a:p xmlns:a="http://schemas.openxmlformats.org/drawingml/2006/main">
            <a:r>
              <a:t>公式要約:AI Forecastの予測とFleeterの機器連携をミニ工場で紹介。</a:t>
            </a:r>
          </a:p>
          <a:p xmlns:a="http://schemas.openxmlformats.org/drawingml/2006/main">
            <a:r>
              <a:t>年度:Fleeterミニ工場は2025にも予告済み。2026初とはしない。</a:t>
            </a:r>
          </a:p>
          <a:p xmlns:a="http://schemas.openxmlformats.org/drawingml/2006/main">
            <a:r>
              <a:t>人・未確認:予測から指令への権限、通信・搬送失敗時の復帰は未公開。</a:t>
            </a:r>
          </a:p>
          <a:p xmlns:a="http://schemas.openxmlformats.org/drawingml/2006/main">
            <a:r>
              <a:t>Evidence:EOV-V015-2024-1,EOV-V015-2026-1,EDP-21,EDP-22,EDP-23</a:t>
            </a:r>
          </a:p>
          <a:p xmlns:a="http://schemas.openxmlformats.org/drawingml/2006/main">
            <a:r>
              <a:t/>
            </a:r>
          </a:p>
          <a:p xmlns:a="http://schemas.openxmlformats.org/drawingml/2006/main">
            <a:r>
              <a:t>B13-3 パナソニックプロダクションエンジニアリング / X-Area Remote / W3086</a:t>
            </a:r>
          </a:p>
          <a:p xmlns:a="http://schemas.openxmlformats.org/drawingml/2006/main">
            <a:r>
              <a:t>対象:停止した搬送車を人が遠隔で復帰させる</a:t>
            </a:r>
          </a:p>
          <a:p xmlns:a="http://schemas.openxmlformats.org/drawingml/2006/main">
            <a:r>
              <a:t>公式要約:X-Area Remote実証では停止車両を人が遠隔操作して回避。</a:t>
            </a:r>
          </a:p>
          <a:p xmlns:a="http://schemas.openxmlformats.org/drawingml/2006/main">
            <a:r>
              <a:t>年度:2026/7実証で人の担当を具体確認。2024個別比較不能。</a:t>
            </a:r>
          </a:p>
          <a:p xmlns:a="http://schemas.openxmlformats.org/drawingml/2006/main">
            <a:r>
              <a:t>人・未確認:運行担当者が介入。実証はセーフティドライバー搭乗。</a:t>
            </a:r>
          </a:p>
          <a:p xmlns:a="http://schemas.openxmlformats.org/drawingml/2006/main">
            <a:r>
              <a:t>Evidence:EOV-V016-2026-1,EOV-W05,EOV-W09,EDP-24</a:t>
            </a:r>
          </a:p>
          <a:p xmlns:a="http://schemas.openxmlformats.org/drawingml/2006/main">
            <a:r>
              <a:t/>
            </a:r>
          </a:p>
          <a:p xmlns:a="http://schemas.openxmlformats.org/drawingml/2006/main">
            <a:r>
              <a:t>原典</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EAT-N04 CoAgent for Operations TF1700</a:t>
            </a:r>
          </a:p>
          <a:p xmlns:a="http://schemas.openxmlformats.org/drawingml/2006/main">
            <a:r>
              <a:t>https://www.beckhoff.com/ko-kr/products/automation/twincat/tfxxxx-twincat-3-functions/tf1xxx-system/tf1700.html</a:t>
            </a:r>
          </a:p>
          <a:p xmlns:a="http://schemas.openxmlformats.org/drawingml/2006/main">
            <a:r>
              <a:t>該当箇所:Properties／Product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ERF-02 TF1700 CoAgent for Operations</a:t>
            </a:r>
          </a:p>
          <a:p xmlns:a="http://schemas.openxmlformats.org/drawingml/2006/main">
            <a:r>
              <a:t>https://www.beckhoff.com/en-en/products/automation/twincat/tfxxxx-twincat-3-functions/tf1xxx-system/tf1700.html</a:t>
            </a:r>
          </a:p>
          <a:p xmlns:a="http://schemas.openxmlformats.org/drawingml/2006/main">
            <a:r>
              <a:t>該当箇所:Properties／direct system access；Product status／market release on request</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EOV-V015-2024-1 JIMTOF2024公式カタログ：株式会社ソフィックス (E4046)</a:t>
            </a:r>
          </a:p>
          <a:p xmlns:a="http://schemas.openxmlformats.org/drawingml/2006/main">
            <a:r>
              <a:t>https://www.jimtof.org/2024/search/jp/ESdetails?e=WNiUW-E-atY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EOV-V015-2026-1 JIMTOF2026公式カタログ：株式会社ソフィックス (E1067)</a:t>
            </a:r>
          </a:p>
          <a:p xmlns:a="http://schemas.openxmlformats.org/drawingml/2006/main">
            <a:r>
              <a:t>https://www.jimtof.org/search/jp/ESdetails?e=rYRhOM0muPQ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EDP-21 SOFIXCAN AI Forecast</a:t>
            </a:r>
          </a:p>
          <a:p xmlns:a="http://schemas.openxmlformats.org/drawingml/2006/main">
            <a:r>
              <a:t>https://www.sofix.co.jp/products/sofixcan_ai_forecast/</a:t>
            </a:r>
          </a:p>
          <a:p xmlns:a="http://schemas.openxmlformats.org/drawingml/2006/main">
            <a:r>
              <a:t>該当箇所:時系列データ予測／形状領域予測／顧客別予測システム開発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EDP-22 SOFIXCAN Fleeter</a:t>
            </a:r>
          </a:p>
          <a:p xmlns:a="http://schemas.openxmlformats.org/drawingml/2006/main">
            <a:r>
              <a:t>https://www.sofix.co.jp/products/sofixcan_fleeter/</a:t>
            </a:r>
          </a:p>
          <a:p xmlns:a="http://schemas.openxmlformats.org/drawingml/2006/main">
            <a:r>
              <a:t>該当箇所:上位システム命令をトリガーに各機器を制御／通信モジュール追加</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EDP-23 JIMTOF2026告知とミニ工場の過去告知</a:t>
            </a:r>
          </a:p>
          <a:p xmlns:a="http://schemas.openxmlformats.org/drawingml/2006/main">
            <a:r>
              <a:t>https://www.sofix.co.jp/</a:t>
            </a:r>
          </a:p>
          <a:p xmlns:a="http://schemas.openxmlformats.org/drawingml/2006/main">
            <a:r>
              <a:t>該当箇所:2026/9/29告知／2025/11/4国際ロボット展でもミニ工場を予告</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EOV-V016-2026-1 JIMTOF2026公式カタログ：パナソニックプロダクションエンジニアリング株式会社 (W3086)</a:t>
            </a:r>
          </a:p>
          <a:p xmlns:a="http://schemas.openxmlformats.org/drawingml/2006/main">
            <a:r>
              <a:t>https://www.jimtof.org/search/jp/ESdetails?e=5mrMofo3nN8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EOV-W05 X-Area</a:t>
            </a:r>
          </a:p>
          <a:p xmlns:a="http://schemas.openxmlformats.org/drawingml/2006/main">
            <a:r>
              <a:t>https://www.panasonic.com/jp/company/ppe/products/x-area.html</a:t>
            </a:r>
          </a:p>
          <a:p xmlns:a="http://schemas.openxmlformats.org/drawingml/2006/main">
            <a:r>
              <a:t>該当箇所:サービス概要、システム構成</a:t>
            </a:r>
          </a:p>
          <a:p xmlns:a="http://schemas.openxmlformats.org/drawingml/2006/main">
            <a:r>
              <a:t>確認:2026-10-16</a:t>
            </a:r>
          </a:p>
          <a:p xmlns:a="http://schemas.openxmlformats.org/drawingml/2006/main">
            <a:r>
              <a:t>種類:企業公式資料・メーカー主張</a:t>
            </a:r>
          </a:p>
          <a:p xmlns:a="http://schemas.openxmlformats.org/drawingml/2006/main">
            <a:r>
              <a:t>展示:人の介入を含む運用方式。無人運用・同時台数の保証ではない</a:t>
            </a:r>
          </a:p>
          <a:p xmlns:a="http://schemas.openxmlformats.org/drawingml/2006/main">
            <a:r>
              <a:t/>
            </a:r>
          </a:p>
          <a:p xmlns:a="http://schemas.openxmlformats.org/drawingml/2006/main">
            <a:r>
              <a:t>EOV-W09 工場敷地内でのX-Area Remote実証</a:t>
            </a:r>
          </a:p>
          <a:p xmlns:a="http://schemas.openxmlformats.org/drawingml/2006/main">
            <a:r>
              <a:t>https://tech.panasonic.com/jp/td/news/20221124.html</a:t>
            </a:r>
          </a:p>
          <a:p xmlns:a="http://schemas.openxmlformats.org/drawingml/2006/main">
            <a:r>
              <a:t>該当箇所:2022/11/24 NEWS &amp; TOPICS</a:t>
            </a:r>
          </a:p>
          <a:p xmlns:a="http://schemas.openxmlformats.org/drawingml/2006/main">
            <a:r>
              <a:t>確認:2026-10-16</a:t>
            </a:r>
          </a:p>
          <a:p xmlns:a="http://schemas.openxmlformats.org/drawingml/2006/main">
            <a:r>
              <a:t>種類:企業公式資料・メーカー主張</a:t>
            </a:r>
          </a:p>
          <a:p xmlns:a="http://schemas.openxmlformats.org/drawingml/2006/main">
            <a:r>
              <a:t>展示:2024出展比較はできないが、2026に初めて遠隔管制が生まれたという解釈を否定する根拠</a:t>
            </a:r>
          </a:p>
          <a:p xmlns:a="http://schemas.openxmlformats.org/drawingml/2006/main">
            <a:r>
              <a:t/>
            </a:r>
          </a:p>
          <a:p xmlns:a="http://schemas.openxmlformats.org/drawingml/2006/main">
            <a:r>
              <a:t>EDP-24 屋外自動搬送とX-Area Remoteの実証</a:t>
            </a:r>
          </a:p>
          <a:p xmlns:a="http://schemas.openxmlformats.org/drawingml/2006/main">
            <a:r>
              <a:t>https://news.panasonic.com/jp/press/jn260713-1</a:t>
            </a:r>
          </a:p>
          <a:p xmlns:a="http://schemas.openxmlformats.org/drawingml/2006/main">
            <a:r>
              <a:t>該当箇所:障害物停止時に自動運転から人の遠隔操作へ切替／担当者とセーフティドライバー</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比較の見方[分析]:データ一元化・ルール自動処理・AI最適化を分け、正本と承認点を確認する。</a:t>
            </a:r>
          </a:p>
          <a:p xmlns:a="http://schemas.openxmlformats.org/drawingml/2006/main">
            <a:r>
              <a:t/>
            </a:r>
          </a:p>
          <a:p xmlns:a="http://schemas.openxmlformats.org/drawingml/2006/main">
            <a:r>
              <a:t>工場データ・計画・資源の連携</a:t>
            </a:r>
          </a:p>
          <a:p xmlns:a="http://schemas.openxmlformats.org/drawingml/2006/main">
            <a:r>
              <a:t>B14-1 WinTool AG / WinTool：工具情報と現物・工程資源の連携 / E1049</a:t>
            </a:r>
          </a:p>
          <a:p xmlns:a="http://schemas.openxmlformats.org/drawingml/2006/main">
            <a:r>
              <a:t>対象:工具情報・所在・在庫を工程と結ぶ</a:t>
            </a:r>
          </a:p>
          <a:p xmlns:a="http://schemas.openxmlformats.org/drawingml/2006/main">
            <a:r>
              <a:t>公式要約:WinToolは工具情報と工程資源を連携。在庫ルールで購買要求。</a:t>
            </a:r>
          </a:p>
          <a:p xmlns:a="http://schemas.openxmlformats.org/drawingml/2006/main">
            <a:r>
              <a:t>年度:工具・CAM・在庫連携は2024から継続。2026は資源の一貫性を強調。</a:t>
            </a:r>
          </a:p>
          <a:p xmlns:a="http://schemas.openxmlformats.org/drawingml/2006/main">
            <a:r>
              <a:t>人・未確認:管理者承認後ERPへ送信。AIによる自律発注とは記載なし。</a:t>
            </a:r>
          </a:p>
          <a:p xmlns:a="http://schemas.openxmlformats.org/drawingml/2006/main">
            <a:r>
              <a:t>Evidence:EEX-EXH-2026-4fb92ba6b82546d7,EEX-EXH-2024-3f1fa1966a57e011,EDP-18,EDP-19</a:t>
            </a:r>
          </a:p>
          <a:p xmlns:a="http://schemas.openxmlformats.org/drawingml/2006/main">
            <a:r>
              <a:t/>
            </a:r>
          </a:p>
          <a:p xmlns:a="http://schemas.openxmlformats.org/drawingml/2006/main">
            <a:r>
              <a:t>B14-2 Smart Craft / Smart Craft MES / S3002</a:t>
            </a:r>
          </a:p>
          <a:p xmlns:a="http://schemas.openxmlformats.org/drawingml/2006/main">
            <a:r>
              <a:t>対象:作業記録・指示・製造履歴を管理する</a:t>
            </a:r>
          </a:p>
          <a:p xmlns:a="http://schemas.openxmlformats.org/drawingml/2006/main">
            <a:r>
              <a:t>公式要約:Smart Craft MESは記録・指示・履歴を一元管理しAPI連携。</a:t>
            </a:r>
          </a:p>
          <a:p xmlns:a="http://schemas.openxmlformats.org/drawingml/2006/main">
            <a:r>
              <a:t>年度:2024個別比較不能。</a:t>
            </a:r>
          </a:p>
          <a:p xmlns:a="http://schemas.openxmlformats.org/drawingml/2006/main">
            <a:r>
              <a:t>人・未確認:AI分析の内容や判断権限、入力作業の残りは未確認。</a:t>
            </a:r>
          </a:p>
          <a:p xmlns:a="http://schemas.openxmlformats.org/drawingml/2006/main">
            <a:r>
              <a:t>Evidence:EOV-V013-2026-1</a:t>
            </a:r>
          </a:p>
          <a:p xmlns:a="http://schemas.openxmlformats.org/drawingml/2006/main">
            <a:r>
              <a:t/>
            </a:r>
          </a:p>
          <a:p xmlns:a="http://schemas.openxmlformats.org/drawingml/2006/main">
            <a:r>
              <a:t>B14-3 ものレボ / MonoRevo：工程計画・スケジューリング / W3042</a:t>
            </a:r>
          </a:p>
          <a:p xmlns:a="http://schemas.openxmlformats.org/drawingml/2006/main">
            <a:r>
              <a:t>対象:工程の順番と生産予定を組む</a:t>
            </a:r>
          </a:p>
          <a:p xmlns:a="http://schemas.openxmlformats.org/drawingml/2006/main">
            <a:r>
              <a:t>公式要約:MonoRevoは工程設計・計画・進捗をまとめ自動計画を支援。</a:t>
            </a:r>
          </a:p>
          <a:p xmlns:a="http://schemas.openxmlformats.org/drawingml/2006/main">
            <a:r>
              <a:t>年度:2024個別比較不能。2026は自動スケジューリングを記載。</a:t>
            </a:r>
          </a:p>
          <a:p xmlns:a="http://schemas.openxmlformats.org/drawingml/2006/main">
            <a:r>
              <a:t>人・未確認:計画制約・再計画確定者・例外対応は未確認。</a:t>
            </a:r>
          </a:p>
          <a:p xmlns:a="http://schemas.openxmlformats.org/drawingml/2006/main">
            <a:r>
              <a:t>Evidence:EOV-V014-2026-1</a:t>
            </a:r>
          </a:p>
          <a:p xmlns:a="http://schemas.openxmlformats.org/drawingml/2006/main">
            <a:r>
              <a:t/>
            </a:r>
          </a:p>
          <a:p xmlns:a="http://schemas.openxmlformats.org/drawingml/2006/main">
            <a:r>
              <a:t>原典</a:t>
            </a:r>
          </a:p>
          <a:p xmlns:a="http://schemas.openxmlformats.org/drawingml/2006/main">
            <a:r>
              <a:t>EEX-EXH-2026-4fb92ba6b82546d7 JIMTOF2026公式出展説明：WinTool AG (E1049)</a:t>
            </a:r>
          </a:p>
          <a:p xmlns:a="http://schemas.openxmlformats.org/drawingml/2006/main">
            <a:r>
              <a:t>https://www.jimtof.org/search/jp/ESdetails?e=sSFZV23clJo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EEX-EXH-2024-3f1fa1966a57e011 JIMTOF2024公式出展説明：WinTool AG (E5003)</a:t>
            </a:r>
          </a:p>
          <a:p xmlns:a="http://schemas.openxmlformats.org/drawingml/2006/main">
            <a:r>
              <a:t>https://www.jimtof.org/2024/search/jp/ESdetails?e=-n22F1d_CDc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EDP-18 ERP Integration</a:t>
            </a:r>
          </a:p>
          <a:p xmlns:a="http://schemas.openxmlformats.org/drawingml/2006/main">
            <a:r>
              <a:t>https://www.wintool.com/en/tool-management-software/cnc-inventory-manager/erp-integration</a:t>
            </a:r>
          </a:p>
          <a:p xmlns:a="http://schemas.openxmlformats.org/drawingml/2006/main">
            <a:r>
              <a:t>該当箇所:最低在庫で購買要求を生成し、管理者承認後にERPへ自動送信</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EDP-19 CNC Process Manager</a:t>
            </a:r>
          </a:p>
          <a:p xmlns:a="http://schemas.openxmlformats.org/drawingml/2006/main">
            <a:r>
              <a:t>https://www.wintool.com/software/cnc-prozessverwaltung</a:t>
            </a:r>
          </a:p>
          <a:p xmlns:a="http://schemas.openxmlformats.org/drawingml/2006/main">
            <a:r>
              <a:t>該当箇所:工具積卸リスト・在庫確認・プリセッター指示・NCと測定値の転送</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EOV-V013-2026-1 JIMTOF2026公式カタログ：株式会社Smart Craft (S3002)</a:t>
            </a:r>
          </a:p>
          <a:p xmlns:a="http://schemas.openxmlformats.org/drawingml/2006/main">
            <a:r>
              <a:t>https://www.jimtof.org/search/jp/ESdetails?e=WqjRB6DEqN0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比較の見方[分析]:モデルを作れること、機器につながること、実機で任せられることは別条件。</a:t>
            </a:r>
          </a:p>
          <a:p xmlns:a="http://schemas.openxmlformats.org/drawingml/2006/main">
            <a:r>
              <a:t/>
            </a:r>
          </a:p>
          <a:p xmlns:a="http://schemas.openxmlformats.org/drawingml/2006/main">
            <a:r>
              <a:t>AIモデル作成・機器接続の基盤</a:t>
            </a:r>
          </a:p>
          <a:p xmlns:a="http://schemas.openxmlformats.org/drawingml/2006/main">
            <a:r>
              <a:t>B15-1 ベッコフオートメーション / TwinCAT Machine Learning Creator / E2028</a:t>
            </a:r>
          </a:p>
          <a:p xmlns:a="http://schemas.openxmlformats.org/drawingml/2006/main">
            <a:r>
              <a:t>対象:現場データから判定モデルを作る</a:t>
            </a:r>
          </a:p>
          <a:p xmlns:a="http://schemas.openxmlformats.org/drawingml/2006/main">
            <a:r>
              <a:t>公式要約:ML Creatorは学習・モデル選択を自動化し、解析とONNX出力を支援。</a:t>
            </a:r>
          </a:p>
          <a:p xmlns:a="http://schemas.openxmlformats.org/drawingml/2006/main">
            <a:r>
              <a:t>年度:データ分割・ONNX統合は2024公式資料にも記載。</a:t>
            </a:r>
          </a:p>
          <a:p xmlns:a="http://schemas.openxmlformats.org/drawingml/2006/main">
            <a:r>
              <a:t>人・未確認:人がデータ・注釈・目的を準備。実機採用基準は要確認。</a:t>
            </a:r>
          </a:p>
          <a:p xmlns:a="http://schemas.openxmlformats.org/drawingml/2006/main">
            <a:r>
              <a:t>Evidence:EOV-V005-2026-1,EOV-W01,EDP-04</a:t>
            </a:r>
          </a:p>
          <a:p xmlns:a="http://schemas.openxmlformats.org/drawingml/2006/main">
            <a:r>
              <a:t/>
            </a:r>
          </a:p>
          <a:p xmlns:a="http://schemas.openxmlformats.org/drawingml/2006/main">
            <a:r>
              <a:t>B15-2 たけびし / OPC UA情報モデルとエージェント連携 / S3015</a:t>
            </a:r>
          </a:p>
          <a:p xmlns:a="http://schemas.openxmlformats.org/drawingml/2006/main">
            <a:r>
              <a:t>対象:設備データをAIが扱える形で渡す</a:t>
            </a:r>
          </a:p>
          <a:p xmlns:a="http://schemas.openxmlformats.org/drawingml/2006/main">
            <a:r>
              <a:t>公式要約:OPC UA情報モデルで機器情報をエージェントへ連携する構想。</a:t>
            </a:r>
          </a:p>
          <a:p xmlns:a="http://schemas.openxmlformats.org/drawingml/2006/main">
            <a:r>
              <a:t>年度:2024は多ベンダー接続。2026はAI連携シナリオを追加。</a:t>
            </a:r>
          </a:p>
          <a:p xmlns:a="http://schemas.openxmlformats.org/drawingml/2006/main">
            <a:r>
              <a:t>人・未確認:公開するデータ・メソッド、書込権限、承認と復帰は未確認。</a:t>
            </a:r>
          </a:p>
          <a:p xmlns:a="http://schemas.openxmlformats.org/drawingml/2006/main">
            <a:r>
              <a:t>Evidence:EOV-V011-2024-1,EOV-V011-2026-1,EDP-06</a:t>
            </a:r>
          </a:p>
          <a:p xmlns:a="http://schemas.openxmlformats.org/drawingml/2006/main">
            <a:r>
              <a:t/>
            </a:r>
          </a:p>
          <a:p xmlns:a="http://schemas.openxmlformats.org/drawingml/2006/main">
            <a:r>
              <a:t>B15-3 シーイーシー / Facteye／Resolana / E2006</a:t>
            </a:r>
          </a:p>
          <a:p xmlns:a="http://schemas.openxmlformats.org/drawingml/2006/main">
            <a:r>
              <a:t>対象:既設設備の情報を集め品質と結ぶ</a:t>
            </a:r>
          </a:p>
          <a:p xmlns:a="http://schemas.openxmlformats.org/drawingml/2006/main">
            <a:r>
              <a:t>公式要約:既設設備のデータ収集・可視化を品質やAI利用へ接続。</a:t>
            </a:r>
          </a:p>
          <a:p xmlns:a="http://schemas.openxmlformats.org/drawingml/2006/main">
            <a:r>
              <a:t>年度:収集・対話AIは2024にも説明。2026は連携課題を具体化。</a:t>
            </a:r>
          </a:p>
          <a:p xmlns:a="http://schemas.openxmlformats.org/drawingml/2006/main">
            <a:r>
              <a:t>人・未確認:自動制御や工場全体最適化の実装は未確認。</a:t>
            </a:r>
          </a:p>
          <a:p xmlns:a="http://schemas.openxmlformats.org/drawingml/2006/main">
            <a:r>
              <a:t>Evidence:EOV-V012-2024-1,EOV-V012-2026-1</a:t>
            </a:r>
          </a:p>
          <a:p xmlns:a="http://schemas.openxmlformats.org/drawingml/2006/main">
            <a:r>
              <a:t/>
            </a:r>
          </a:p>
          <a:p xmlns:a="http://schemas.openxmlformats.org/drawingml/2006/main">
            <a:r>
              <a:t>原典</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EOV-W01 TwinCAT 3 Machine Learning Creator</a:t>
            </a:r>
          </a:p>
          <a:p xmlns:a="http://schemas.openxmlformats.org/drawingml/2006/main">
            <a:r>
              <a:t>https://www.beckhoff.com/en-za/products/automation/twincat/texxxx-twincat-3-engineering/te3850.html</a:t>
            </a:r>
          </a:p>
          <a:p xmlns:a="http://schemas.openxmlformats.org/drawingml/2006/main">
            <a:r>
              <a:t>該当箇所:製品説明冒頭、Product status</a:t>
            </a:r>
          </a:p>
          <a:p xmlns:a="http://schemas.openxmlformats.org/drawingml/2006/main">
            <a:r>
              <a:t>確認:2026-10-16</a:t>
            </a:r>
          </a:p>
          <a:p xmlns:a="http://schemas.openxmlformats.org/drawingml/2006/main">
            <a:r>
              <a:t>種類:企業公式資料・メーカー主張</a:t>
            </a:r>
          </a:p>
          <a:p xmlns:a="http://schemas.openxmlformats.org/drawingml/2006/main">
            <a:r>
              <a:t>展示:既存製品の方式確認。2026展示はEOV-V005-2026-1で別確認</a:t>
            </a:r>
          </a:p>
          <a:p xmlns:a="http://schemas.openxmlformats.org/drawingml/2006/main">
            <a:r>
              <a:t/>
            </a:r>
          </a:p>
          <a:p xmlns:a="http://schemas.openxmlformats.org/drawingml/2006/main">
            <a:r>
              <a:t>EDP-04 PC Control 02/2024：Machine Learning Creator</a:t>
            </a:r>
          </a:p>
          <a:p xmlns:a="http://schemas.openxmlformats.org/drawingml/2006/main">
            <a:r>
              <a:t>https://www.beckhoff.com/media/downloads/information-media/pc-control/pcc_0224_e.pdf</a:t>
            </a:r>
          </a:p>
          <a:p xmlns:a="http://schemas.openxmlformats.org/drawingml/2006/main">
            <a:r>
              <a:t>該当箇所:TE3850／訓練・テストデータ分割、モデル解析、ONNX出力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EOV-V011-2024-1 JIMTOF2024公式カタログ：株式会社たけびし (E7053)</a:t>
            </a:r>
          </a:p>
          <a:p xmlns:a="http://schemas.openxmlformats.org/drawingml/2006/main">
            <a:r>
              <a:t>https://www.jimtof.org/2024/search/jp/ESdetails?e=SiZMI-OH8_k</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EOV-V011-2026-1 JIMTOF2026公式カタログ：株式会社たけびし (S3015)</a:t>
            </a:r>
          </a:p>
          <a:p xmlns:a="http://schemas.openxmlformats.org/drawingml/2006/main">
            <a:r>
              <a:t>https://www.jimtof.org/search/jp/ESdetails?e=Qh27DAtEkbw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EDP-06 OPC UA情報モデルとAIエージェント</a:t>
            </a:r>
          </a:p>
          <a:p xmlns:a="http://schemas.openxmlformats.org/drawingml/2006/main">
            <a:r>
              <a:t>https://opcconnect.opcfoundation.org/2026/06/toward-realizing-ai-utilization-in-manufacturing-exploring-the-potential-of-integrating-the-opc-ua-information-model-with-ai-agents/</a:t>
            </a:r>
          </a:p>
          <a:p xmlns:a="http://schemas.openxmlformats.org/drawingml/2006/main">
            <a:r>
              <a:t>該当箇所:A New Approach to Connecting AI Agents／MCP Adapterはplanning to provide</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EOV-V012-2024-1 JIMTOF2024公式カタログ：株式会社シーイーシー (E5022)</a:t>
            </a:r>
          </a:p>
          <a:p xmlns:a="http://schemas.openxmlformats.org/drawingml/2006/main">
            <a:r>
              <a:t>https://www.jimtof.org/2024/search/jp/ESdetails?e=WS9ql5D41fQ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EOV-V012-2026-1 JIMTOF2026公式カタログ：株式会社シーイーシー (E2006)</a:t>
            </a:r>
          </a:p>
          <a:p xmlns:a="http://schemas.openxmlformats.org/drawingml/2006/main">
            <a:r>
              <a:t>https://www.jimtof.org/search/jp/ESdetails?e=tW-C9oF94EQ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比較の見方[分析]:加工検証、訓練用ツイン、物理AIの学習用資産は用途を分ける。</a:t>
            </a:r>
          </a:p>
          <a:p xmlns:a="http://schemas.openxmlformats.org/drawingml/2006/main">
            <a:r>
              <a:t/>
            </a:r>
          </a:p>
          <a:p xmlns:a="http://schemas.openxmlformats.org/drawingml/2006/main">
            <a:r>
              <a:t>デジタルツイン・物理学習用データ</a:t>
            </a:r>
          </a:p>
          <a:p xmlns:a="http://schemas.openxmlformats.org/drawingml/2006/main">
            <a:r>
              <a:t>B16-1 ファナック / FANUC Smart Digital Twin / S2001</a:t>
            </a:r>
          </a:p>
          <a:p xmlns:a="http://schemas.openxmlformats.org/drawingml/2006/main">
            <a:r>
              <a:t>対象:加工前に機械の動きを確かめる</a:t>
            </a:r>
          </a:p>
          <a:p xmlns:a="http://schemas.openxmlformats.org/drawingml/2006/main">
            <a:r>
              <a:t>公式要約:Smart Digital Twinで加工前の挙動確認を支援。</a:t>
            </a:r>
          </a:p>
          <a:p xmlns:a="http://schemas.openxmlformats.org/drawingml/2006/main">
            <a:r>
              <a:t>年度:同名ツインは2024から継続。</a:t>
            </a:r>
          </a:p>
          <a:p xmlns:a="http://schemas.openxmlformats.org/drawingml/2006/main">
            <a:r>
              <a:t>人・未確認:モデルと実機の一致や、検証対象外事象の扱いは未確認。</a:t>
            </a:r>
          </a:p>
          <a:p xmlns:a="http://schemas.openxmlformats.org/drawingml/2006/main">
            <a:r>
              <a:t>Evidence:EOV-V002-2024-1,EOV-V002-2026-1</a:t>
            </a:r>
          </a:p>
          <a:p xmlns:a="http://schemas.openxmlformats.org/drawingml/2006/main">
            <a:r>
              <a:t/>
            </a:r>
          </a:p>
          <a:p xmlns:a="http://schemas.openxmlformats.org/drawingml/2006/main">
            <a:r>
              <a:t>B16-2 シーメンス株式会社 / Digital Thread：工作機械ツイン・工程内品質保証 / E3006</a:t>
            </a:r>
          </a:p>
          <a:p xmlns:a="http://schemas.openxmlformats.org/drawingml/2006/main">
            <a:r>
              <a:t>対象:加工の仮想検証・計測連携を確認する</a:t>
            </a:r>
          </a:p>
          <a:p xmlns:a="http://schemas.openxmlformats.org/drawingml/2006/main">
            <a:r>
              <a:t>公式要約:Tokn工作機械ツイン、Equator品質保証、ヒューマノイドを別展示。</a:t>
            </a:r>
          </a:p>
          <a:p xmlns:a="http://schemas.openxmlformats.org/drawingml/2006/main">
            <a:r>
              <a:t>年度:Toknの仮想訓練は2024完了の公式事例あり。</a:t>
            </a:r>
          </a:p>
          <a:p xmlns:a="http://schemas.openxmlformats.org/drawingml/2006/main">
            <a:r>
              <a:t>人・未確認:海外HMND実証とJIMTOFの機体・タスクの同一性は未確認。</a:t>
            </a:r>
          </a:p>
          <a:p xmlns:a="http://schemas.openxmlformats.org/drawingml/2006/main">
            <a:r>
              <a:t>Evidence:EEX-EXH-2026-9b991dd8132f51dc,EEX-EXH-2024-558faea07a73f5d8,EDP-16,EDP-17</a:t>
            </a:r>
          </a:p>
          <a:p xmlns:a="http://schemas.openxmlformats.org/drawingml/2006/main">
            <a:r>
              <a:t/>
            </a:r>
          </a:p>
          <a:p xmlns:a="http://schemas.openxmlformats.org/drawingml/2006/main">
            <a:r>
              <a:t>B16-3 NdotLight Co., Ltd. / TRINIX：CADから物理シミュレーション用データ生成 / S4004</a:t>
            </a:r>
          </a:p>
          <a:p xmlns:a="http://schemas.openxmlformats.org/drawingml/2006/main">
            <a:r>
              <a:t>対象:物理シミュレーション用の3Dデータを作る</a:t>
            </a:r>
          </a:p>
          <a:p xmlns:a="http://schemas.openxmlformats.org/drawingml/2006/main">
            <a:r>
              <a:t>公式要約:TRINIXはCADから形状・物理属性等を生成し検証・自己修正を説明。</a:t>
            </a:r>
          </a:p>
          <a:p xmlns:a="http://schemas.openxmlformats.org/drawingml/2006/main">
            <a:r>
              <a:t>年度:2024同名比較不能。DexBenchは共同開発告知で完成済み標準とはしない。</a:t>
            </a:r>
          </a:p>
          <a:p xmlns:a="http://schemas.openxmlformats.org/drawingml/2006/main">
            <a:r>
              <a:t>人・未確認:実測値と推定値の区別、人の承認、収束しない時の対応は未公開。</a:t>
            </a:r>
          </a:p>
          <a:p xmlns:a="http://schemas.openxmlformats.org/drawingml/2006/main">
            <a:r>
              <a:t>Evidence:EEX-EXH-2026-016097f87d1914b2,EEX-WNDOT,ERF-06,ERF-07,ERF-08,ERF-09</a:t>
            </a:r>
          </a:p>
          <a:p xmlns:a="http://schemas.openxmlformats.org/drawingml/2006/main">
            <a:r>
              <a:t/>
            </a:r>
          </a:p>
          <a:p xmlns:a="http://schemas.openxmlformats.org/drawingml/2006/main">
            <a:r>
              <a:t>原典</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EEX-EXH-2026-9b991dd8132f51dc JIMTOF2026公式出展説明：シーメンス株式会社 (E3006)</a:t>
            </a:r>
          </a:p>
          <a:p xmlns:a="http://schemas.openxmlformats.org/drawingml/2006/main">
            <a:r>
              <a:t>https://www.jimtof.org/search/jp/ESdetails?e=EBIotJu7lrg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EEX-EXH-2024-558faea07a73f5d8 JIMTOF2024公式出展説明：シーメンス株式会社 (E5008)</a:t>
            </a:r>
          </a:p>
          <a:p xmlns:a="http://schemas.openxmlformats.org/drawingml/2006/main">
            <a:r>
              <a:t>https://www.jimtof.org/2024/search/jp/ESdetails?e=nYvFR1vpbuE</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EDP-16 HELLER Toknとデジタルツインの訓練事例</a:t>
            </a:r>
          </a:p>
          <a:p xmlns:a="http://schemas.openxmlformats.org/drawingml/2006/main">
            <a:r>
              <a:t>https://references.siemens.com/en/reference/heller-tokn-digital-twin?id=41137</a:t>
            </a:r>
          </a:p>
          <a:p xmlns:a="http://schemas.openxmlformats.org/drawingml/2006/main">
            <a:r>
              <a:t>該当箇所:Completion: 2024／仮想SINUMERIK ONEと3D機械モデルによる訓練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EDP-17 Humanoidとの工場内物流の運用試験</a:t>
            </a:r>
          </a:p>
          <a:p xmlns:a="http://schemas.openxmlformats.org/drawingml/2006/main">
            <a:r>
              <a:t>https://press.siemens.com/jp/ja/pressrelease/pr-20260416</a:t>
            </a:r>
          </a:p>
          <a:p xmlns:a="http://schemas.openxmlformats.org/drawingml/2006/main">
            <a:r>
              <a:t>該当箇所:HMND 01 Alphaのトート把持・搬送・配置／Jetson Thor・Isaac Sim/Lab</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EEX-EXH-2026-016097f87d1914b2 JIMTOF2026公式出展説明：NdotLight Co., Ltd. (S4004)</a:t>
            </a:r>
          </a:p>
          <a:p xmlns:a="http://schemas.openxmlformats.org/drawingml/2006/main">
            <a:r>
              <a:t>https://www.jimtof.org/search/jp/ESdetails?e=6Ds1v9hxvrY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EEX-WNDOT TRINIX：Physical AI向け3Dデータの企業公式説明</a:t>
            </a:r>
          </a:p>
          <a:p xmlns:a="http://schemas.openxmlformats.org/drawingml/2006/main">
            <a:r>
              <a:t>https://ndotlight.com/newsroom/ndotlight-proposes-a-new-3d-data-standard-for-the-physical-ai-era-with-trinix</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展示:製品の方式説明。JIMTOFの実演範囲とは区別</a:t>
            </a:r>
          </a:p>
          <a:p xmlns:a="http://schemas.openxmlformats.org/drawingml/2006/main">
            <a:r>
              <a:t/>
            </a:r>
          </a:p>
          <a:p xmlns:a="http://schemas.openxmlformats.org/drawingml/2006/main">
            <a:r>
              <a:t>ERF-06 TRINIX：物理属性生成と自己修正</a:t>
            </a:r>
          </a:p>
          <a:p xmlns:a="http://schemas.openxmlformats.org/drawingml/2006/main">
            <a:r>
              <a:t>https://ndotlight.com/</a:t>
            </a:r>
          </a:p>
          <a:p xmlns:a="http://schemas.openxmlformats.org/drawingml/2006/main">
            <a:r>
              <a:t>該当箇所:Physics Injection／Self-corrective Closed Loop／FAQ</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ERF-07 SimReady FAQ：静的検証と実行時検証</a:t>
            </a:r>
          </a:p>
          <a:p xmlns:a="http://schemas.openxmlformats.org/drawingml/2006/main">
            <a:r>
              <a:t>https://docs.omniverse.nvidia.com/simready/latest/simready-faq.html</a:t>
            </a:r>
          </a:p>
          <a:p xmlns:a="http://schemas.openxmlformats.org/drawingml/2006/main">
            <a:r>
              <a:t>該当箇所:What Is the Difference…Foundation；How Do I Validate My Composed Scene…（L526–538）</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ERF-08 SimReady Physics Best Practices</a:t>
            </a:r>
          </a:p>
          <a:p xmlns:a="http://schemas.openxmlformats.org/drawingml/2006/main">
            <a:r>
              <a:t>https://docs.omniverse.nvidia.com/simready/latest/simready-asset-creation/physics-best-practices.html</a:t>
            </a:r>
          </a:p>
          <a:p xmlns:a="http://schemas.openxmlformats.org/drawingml/2006/main">
            <a:r>
              <a:t>該当箇所:Typical USDPhysics Components／Collider、Mass、materialの摩擦・密度・反発</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ERF-09 DexBench共同開発の告知</a:t>
            </a:r>
          </a:p>
          <a:p xmlns:a="http://schemas.openxmlformats.org/drawingml/2006/main">
            <a:r>
              <a:t>https://ndotlight.com/newsroom/ndotlight-to-co-develop-dexbench-a-global-standard-for-humanoid-evaluation-with-nvidia-and-rlwrld</a:t>
            </a:r>
          </a:p>
          <a:p xmlns:a="http://schemas.openxmlformats.org/drawingml/2006/main">
            <a:r>
              <a:t>該当箇所:2026/8/7／SimReady環境・操作評価・sim-to-real gap低減の共同開発</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比較の見方[分析]:具体タスク・実行主体・提供段階が揃うまで、将来像と実用機能を分ける。</a:t>
            </a:r>
          </a:p>
          <a:p xmlns:a="http://schemas.openxmlformats.org/drawingml/2006/main">
            <a:r>
              <a:t/>
            </a:r>
          </a:p>
          <a:p xmlns:a="http://schemas.openxmlformats.org/drawingml/2006/main">
            <a:r>
              <a:t>展示段階と自律化の境界</a:t>
            </a:r>
          </a:p>
          <a:p xmlns:a="http://schemas.openxmlformats.org/drawingml/2006/main">
            <a:r>
              <a:t>B17-1 ファナック / 生成AIによるロボット駆動 / S2001</a:t>
            </a:r>
          </a:p>
          <a:p xmlns:a="http://schemas.openxmlformats.org/drawingml/2006/main">
            <a:r>
              <a:t>対象:指示からロボットを動かす（具体作業未公表）</a:t>
            </a:r>
          </a:p>
          <a:p xmlns:a="http://schemas.openxmlformats.org/drawingml/2006/main">
            <a:r>
              <a:t>公式要約:ファナックは生成AIによるロボット駆動事例を展示予定。</a:t>
            </a:r>
          </a:p>
          <a:p xmlns:a="http://schemas.openxmlformats.org/drawingml/2006/main">
            <a:r>
              <a:t>年度:2024はAIバラ積み等。2026は生成AI駆動を追加記載。</a:t>
            </a:r>
          </a:p>
          <a:p xmlns:a="http://schemas.openxmlformats.org/drawingml/2006/main">
            <a:r>
              <a:t>人・未確認:機体・対象タスク・教示・停止・承認の具体範囲は未確認。</a:t>
            </a:r>
          </a:p>
          <a:p xmlns:a="http://schemas.openxmlformats.org/drawingml/2006/main">
            <a:r>
              <a:t>Evidence:EOV-V002-2024-1,EOV-V002-2026-1</a:t>
            </a:r>
          </a:p>
          <a:p xmlns:a="http://schemas.openxmlformats.org/drawingml/2006/main">
            <a:r>
              <a:t/>
            </a:r>
          </a:p>
          <a:p xmlns:a="http://schemas.openxmlformats.org/drawingml/2006/main">
            <a:r>
              <a:t>B17-2 東京貿易テクノシステム / RBY Series 双腕移動ヒューマノイド / E7038</a:t>
            </a:r>
          </a:p>
          <a:p xmlns:a="http://schemas.openxmlformats.org/drawingml/2006/main">
            <a:r>
              <a:t>対象:双腕人型ロボットを遠隔操作・教示する</a:t>
            </a:r>
          </a:p>
          <a:p xmlns:a="http://schemas.openxmlformats.org/drawingml/2006/main">
            <a:r>
              <a:t>公式要約:RBY双腕移動ヒューマノイドはテレオペと作業教示の参考出展。</a:t>
            </a:r>
          </a:p>
          <a:p xmlns:a="http://schemas.openxmlformats.org/drawingml/2006/main">
            <a:r>
              <a:t>年度:2024の個別差は未照合。</a:t>
            </a:r>
          </a:p>
          <a:p xmlns:a="http://schemas.openxmlformats.org/drawingml/2006/main">
            <a:r>
              <a:t>人・未確認:人が遠隔操作・教示。自律作業の範囲は未確認。</a:t>
            </a:r>
          </a:p>
          <a:p xmlns:a="http://schemas.openxmlformats.org/drawingml/2006/main">
            <a:r>
              <a:t>Evidence:RPT-EXH-2026-d7b599b5d3045611,RPT-EXH-2024-5cbad6b0326d2bee</a:t>
            </a:r>
          </a:p>
          <a:p xmlns:a="http://schemas.openxmlformats.org/drawingml/2006/main">
            <a:r>
              <a:t/>
            </a:r>
          </a:p>
          <a:p xmlns:a="http://schemas.openxmlformats.org/drawingml/2006/main">
            <a:r>
              <a:t>B17-3 神崎高級工機 / FD100 ギヤチェッカー / E1071</a:t>
            </a:r>
          </a:p>
          <a:p xmlns:a="http://schemas.openxmlformats.org/drawingml/2006/main">
            <a:r>
              <a:t>対象:歯車の加工前状態を測り段取りを助ける</a:t>
            </a:r>
          </a:p>
          <a:p xmlns:a="http://schemas.openxmlformats.org/drawingml/2006/main">
            <a:r>
              <a:t>公式要約:FD100に歯合わせ・前加工計測。計測による条件最適化は開発中。</a:t>
            </a:r>
          </a:p>
          <a:p xmlns:a="http://schemas.openxmlformats.org/drawingml/2006/main">
            <a:r>
              <a:t>年度:2024の構造改善等に対し段取りを具体化。開発中を実用済みとしない。</a:t>
            </a:r>
          </a:p>
          <a:p xmlns:a="http://schemas.openxmlformats.org/drawingml/2006/main">
            <a:r>
              <a:t>人・未確認:最適化方式と人の承認、自動反映範囲は未公表。</a:t>
            </a:r>
          </a:p>
          <a:p xmlns:a="http://schemas.openxmlformats.org/drawingml/2006/main">
            <a:r>
              <a:t>Evidence:RPT-EXH-2026-91aa8dd094a4a7b2,RPT-EXH-2024-50a402f6bcce2ab8</a:t>
            </a:r>
          </a:p>
          <a:p xmlns:a="http://schemas.openxmlformats.org/drawingml/2006/main">
            <a:r>
              <a:t/>
            </a:r>
          </a:p>
          <a:p xmlns:a="http://schemas.openxmlformats.org/drawingml/2006/main">
            <a:r>
              <a:t>原典</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RPT-EXH-2026-d7b599b5d3045611 東京貿易テクノシステム株式会社 JIMTOF2026</a:t>
            </a:r>
          </a:p>
          <a:p xmlns:a="http://schemas.openxmlformats.org/drawingml/2006/main">
            <a:r>
              <a:t>https://www.jimtof.org/search/jp/ESdetails?e=q65eJorv2LU</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RPT-EXH-2024-5cbad6b0326d2bee 東京貿易テクノシステム株式会社 JIMTOF2024</a:t>
            </a:r>
          </a:p>
          <a:p xmlns:a="http://schemas.openxmlformats.org/drawingml/2006/main">
            <a:r>
              <a:t>https://www.jimtof.org/2024/search/jp/ESdetails?e=RD73EqDannI</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RPT-EXH-2026-91aa8dd094a4a7b2 株式会社神崎高級工機製作所 JIMTOF2026</a:t>
            </a:r>
          </a:p>
          <a:p xmlns:a="http://schemas.openxmlformats.org/drawingml/2006/main">
            <a:r>
              <a:t>https://www.jimtof.org/search/jp/ESdetails?e=bpuT_4Xpv_c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RPT-EXH-2024-50a402f6bcce2ab8 株式会社神崎高級工機製作所 JIMTOF2024</a:t>
            </a:r>
          </a:p>
          <a:p xmlns:a="http://schemas.openxmlformats.org/drawingml/2006/main">
            <a:r>
              <a:t>https://www.jimtof.org/2024/search/jp/ESdetails?e=C7Uh8Jc1Y2s</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"R1",</a:t>
            </a:r>
          </a:p>
          <a:p xmlns:a="http://schemas.openxmlformats.org/drawingml/2006/main">
            <a:r>
              <a:t>    "name": "生成工程の変更影響と確認の支援",</a:t>
            </a:r>
          </a:p>
          <a:p xmlns:a="http://schemas.openxmlformats.org/drawingml/2006/main">
            <a:r>
              <a:t>    "basis": [</a:t>
            </a:r>
          </a:p>
          <a:p xmlns:a="http://schemas.openxmlformats.org/drawingml/2006/main">
            <a:r>
              <a:t>      "B02",</a:t>
            </a:r>
          </a:p>
          <a:p xmlns:a="http://schemas.openxmlformats.org/drawingml/2006/main">
            <a:r>
              <a:t>      "B03",</a:t>
            </a:r>
          </a:p>
          <a:p xmlns:a="http://schemas.openxmlformats.org/drawingml/2006/main">
            <a:r>
              <a:t>      "B04"</a:t>
            </a:r>
          </a:p>
          <a:p xmlns:a="http://schemas.openxmlformats.org/drawingml/2006/main">
            <a:r>
              <a:t>    ],</a:t>
            </a:r>
          </a:p>
          <a:p xmlns:a="http://schemas.openxmlformats.org/drawingml/2006/main">
            <a:r>
              <a:t>    "hypothesis": "工具・保持・機械の変更時、既存検証で覆えない影響の説明と確認が残る可能性。",</a:t>
            </a:r>
          </a:p>
          <a:p xmlns:a="http://schemas.openxmlformats.org/drawingml/2006/main">
            <a:r>
              <a:t>    "existing": "Vericutは2024に版違い・オフセットのpre-checkを説明。CAMには加工性評価や編集もある。",</a:t>
            </a:r>
          </a:p>
          <a:p xmlns:a="http://schemas.openxmlformats.org/drawingml/2006/main">
            <a:r>
              <a:t>    "approach": "既存CAM/NC検証の出力と変更情報を対応づけ、未検証範囲を人へ示す。",</a:t>
            </a:r>
          </a:p>
          <a:p xmlns:a="http://schemas.openxmlformats.org/drawingml/2006/main">
            <a:r>
              <a:t>    "decision": "最初は既存機能の実演を確認。未対応の変更例とデータが得られなければ見送る。",</a:t>
            </a:r>
          </a:p>
          <a:p xmlns:a="http://schemas.openxmlformats.org/drawingml/2006/main">
            <a:r>
              <a:t>    "metrics": "危険な変更の見逃し、再確認時間、追加の設定工数",</a:t>
            </a:r>
          </a:p>
          <a:p xmlns:a="http://schemas.openxmlformats.org/drawingml/2006/main">
            <a:r>
              <a:t>    "priority": "現地確認を優先／研究着手は未決定"</a:t>
            </a:r>
          </a:p>
          <a:p xmlns:a="http://schemas.openxmlformats.org/drawingml/2006/main">
            <a:r>
              <a:t>  },</a:t>
            </a:r>
          </a:p>
          <a:p xmlns:a="http://schemas.openxmlformats.org/drawingml/2006/main">
            <a:r>
              <a:t>  {</a:t>
            </a:r>
          </a:p>
          <a:p xmlns:a="http://schemas.openxmlformats.org/drawingml/2006/main">
            <a:r>
              <a:t>    "id": "R2",</a:t>
            </a:r>
          </a:p>
          <a:p xmlns:a="http://schemas.openxmlformats.org/drawingml/2006/main">
            <a:r>
              <a:t>    "name": "条件変化時の補正・判定の保留と引継ぎ",</a:t>
            </a:r>
          </a:p>
          <a:p xmlns:a="http://schemas.openxmlformats.org/drawingml/2006/main">
            <a:r>
              <a:t>    "basis": [</a:t>
            </a:r>
          </a:p>
          <a:p xmlns:a="http://schemas.openxmlformats.org/drawingml/2006/main">
            <a:r>
              <a:t>      "B05",</a:t>
            </a:r>
          </a:p>
          <a:p xmlns:a="http://schemas.openxmlformats.org/drawingml/2006/main">
            <a:r>
              <a:t>      "B06",</a:t>
            </a:r>
          </a:p>
          <a:p xmlns:a="http://schemas.openxmlformats.org/drawingml/2006/main">
            <a:r>
              <a:t>      "B07",</a:t>
            </a:r>
          </a:p>
          <a:p xmlns:a="http://schemas.openxmlformats.org/drawingml/2006/main">
            <a:r>
              <a:t>      "B08",</a:t>
            </a:r>
          </a:p>
          <a:p xmlns:a="http://schemas.openxmlformats.org/drawingml/2006/main">
            <a:r>
              <a:t>      "B09"</a:t>
            </a:r>
          </a:p>
          <a:p xmlns:a="http://schemas.openxmlformats.org/drawingml/2006/main">
            <a:r>
              <a:t>    ],</a:t>
            </a:r>
          </a:p>
          <a:p xmlns:a="http://schemas.openxmlformats.org/drawingml/2006/main">
            <a:r>
              <a:t>    "hypothesis": "工具・熱状態・測定条件が変わるとき、補正を続けてよい条件の整理が課題になる可能性。",</a:t>
            </a:r>
          </a:p>
          <a:p xmlns:a="http://schemas.openxmlformats.org/drawingml/2006/main">
            <a:r>
              <a:t>    "existing": "熱補正・IPC・良品学習・追加学習は既存。メーカー標準の異常値処理の範囲は未確認。",</a:t>
            </a:r>
          </a:p>
          <a:p xmlns:a="http://schemas.openxmlformats.org/drawingml/2006/main">
            <a:r>
              <a:t>    "approach": "既存の補正・検査を比較対象に、条件変化の識別と保留・再計測・人への引継ぎを評価。",</a:t>
            </a:r>
          </a:p>
          <a:p xmlns:a="http://schemas.openxmlformats.org/drawingml/2006/main">
            <a:r>
              <a:t>    "decision": "誤差と異常データが取れ、標準機能の未対応が確認できた場合のみ着手。",</a:t>
            </a:r>
          </a:p>
          <a:p xmlns:a="http://schemas.openxmlformats.org/drawingml/2006/main">
            <a:r>
              <a:t>    "metrics": "過補正、見逃し/過検出、保留率、再調整時間",</a:t>
            </a:r>
          </a:p>
          <a:p xmlns:a="http://schemas.openxmlformats.org/drawingml/2006/main">
            <a:r>
              <a:t>    "priority": "現地確認を優先／適用工程を1つに限定"</a:t>
            </a:r>
          </a:p>
          <a:p xmlns:a="http://schemas.openxmlformats.org/drawingml/2006/main">
            <a:r>
              <a:t>  },</a:t>
            </a:r>
          </a:p>
          <a:p xmlns:a="http://schemas.openxmlformats.org/drawingml/2006/main">
            <a:r>
              <a:t>  {</a:t>
            </a:r>
          </a:p>
          <a:p xmlns:a="http://schemas.openxmlformats.org/drawingml/2006/main">
            <a:r>
              <a:t>    "id": "R3",</a:t>
            </a:r>
          </a:p>
          <a:p xmlns:a="http://schemas.openxmlformats.org/drawingml/2006/main">
            <a:r>
              <a:t>    "name": "変動する物理作業の完了確認・失敗引継ぎ",</a:t>
            </a:r>
          </a:p>
          <a:p xmlns:a="http://schemas.openxmlformats.org/drawingml/2006/main">
            <a:r>
              <a:t>    "basis": [</a:t>
            </a:r>
          </a:p>
          <a:p xmlns:a="http://schemas.openxmlformats.org/drawingml/2006/main">
            <a:r>
              <a:t>      "B10",</a:t>
            </a:r>
          </a:p>
          <a:p xmlns:a="http://schemas.openxmlformats.org/drawingml/2006/main">
            <a:r>
              <a:t>      "B11",</a:t>
            </a:r>
          </a:p>
          <a:p xmlns:a="http://schemas.openxmlformats.org/drawingml/2006/main">
            <a:r>
              <a:t>      "B12",</a:t>
            </a:r>
          </a:p>
          <a:p xmlns:a="http://schemas.openxmlformats.org/drawingml/2006/main">
            <a:r>
              <a:t>      "B17"</a:t>
            </a:r>
          </a:p>
          <a:p xmlns:a="http://schemas.openxmlformats.org/drawingml/2006/main">
            <a:r>
              <a:t>    ],</a:t>
            </a:r>
          </a:p>
          <a:p xmlns:a="http://schemas.openxmlformats.org/drawingml/2006/main">
            <a:r>
              <a:t>    "hypothesis": "把持や切粉除去の成功動作に比べ、完了と失敗を認識し引き継ぐ範囲に差がある可能性。",</a:t>
            </a:r>
          </a:p>
          <a:p xmlns:a="http://schemas.openxmlformats.org/drawingml/2006/main">
            <a:r>
              <a:t>    "existing": "画像認識・自動交換・位置復旧は既存。参考出品の失敗処理は公開不足。",</a:t>
            </a:r>
          </a:p>
          <a:p xmlns:a="http://schemas.openxmlformats.org/drawingml/2006/main">
            <a:r>
              <a:t>    "approach": "切粉除去等の1作業で、認識・動作・完了確認と再試行/停止/人の介入を比較する。",</a:t>
            </a:r>
          </a:p>
          <a:p xmlns:a="http://schemas.openxmlformats.org/drawingml/2006/main">
            <a:r>
              <a:t>    "decision": "許容動作、停止条件、実機・ワークが得られること。既存機能で足りれば研究しない。",</a:t>
            </a:r>
          </a:p>
          <a:p xmlns:a="http://schemas.openxmlformats.org/drawingml/2006/main">
            <a:r>
              <a:t>    "metrics": "未完了の見逃し、介入回数、復帰時間、品種変更の準備工数",</a:t>
            </a:r>
          </a:p>
          <a:p xmlns:a="http://schemas.openxmlformats.org/drawingml/2006/main">
            <a:r>
              <a:t>    "priority": "現地確認を優先／汎用ロボット開発には広げない"</a:t>
            </a:r>
          </a:p>
          <a:p xmlns:a="http://schemas.openxmlformats.org/drawingml/2006/main">
            <a:r>
              <a:t>  }</a:t>
            </a:r>
          </a:p>
          <a:p xmlns:a="http://schemas.openxmlformats.org/drawingml/2006/main">
            <a:r>
              <a:t>]</a:t>
            </a:r>
          </a:p>
          <a:p xmlns:a="http://schemas.openxmlformats.org/drawingml/2006/main">
            <a:r>
              <a:t/>
            </a:r>
          </a:p>
          <a:p xmlns:a="http://schemas.openxmlformats.org/drawingml/2006/main">
            <a:r>
              <a:t>工程・CAMプログラムの作成</a:t>
            </a:r>
          </a:p>
          <a:p xmlns:a="http://schemas.openxmlformats.org/drawingml/2006/main">
            <a:r>
              <a:t>B02-1 Hexagon Manufacturing Intelligence / ESPRIT EDGE ProPlanAI / E2013</a:t>
            </a:r>
          </a:p>
          <a:p xmlns:a="http://schemas.openxmlformats.org/drawingml/2006/main">
            <a:r>
              <a:t>対象:新しい部品の加工工程を考える</a:t>
            </a:r>
          </a:p>
          <a:p xmlns:a="http://schemas.openxmlformats.org/drawingml/2006/main">
            <a:r>
              <a:t>公式要約:過去ジョブと形状特徴から工程を予測するProPlanAI。</a:t>
            </a:r>
          </a:p>
          <a:p xmlns:a="http://schemas.openxmlformats.org/drawingml/2006/main">
            <a:r>
              <a:t>年度:2024比較不能。2025の旋削betaから2026の商用範囲拡張を確認。</a:t>
            </a:r>
          </a:p>
          <a:p xmlns:a="http://schemas.openxmlformats.org/drawingml/2006/main">
            <a:r>
              <a:t>人・未確認:過去データを準備。確認画面はあるが最終NC採用権限は未公表。</a:t>
            </a:r>
          </a:p>
          <a:p xmlns:a="http://schemas.openxmlformats.org/drawingml/2006/main">
            <a:r>
              <a:t>Evidence:EOV-V007-2026-2,EOV-W02</a:t>
            </a:r>
          </a:p>
          <a:p xmlns:a="http://schemas.openxmlformats.org/drawingml/2006/main">
            <a:r>
              <a:t/>
            </a:r>
          </a:p>
          <a:p xmlns:a="http://schemas.openxmlformats.org/drawingml/2006/main">
            <a:r>
              <a:t>B02-2 ジェービーエムエンジニアリング / Mastercam＋CAMAssist / E2002</a:t>
            </a:r>
          </a:p>
          <a:p xmlns:a="http://schemas.openxmlformats.org/drawingml/2006/main">
            <a:r>
              <a:t>対象:部品形状から加工方法・工具経路を作る</a:t>
            </a:r>
          </a:p>
          <a:p xmlns:a="http://schemas.openxmlformats.org/drawingml/2006/main">
            <a:r>
              <a:t>公式要約:工具・材料・機械等の条件から加工戦略・経路・条件案を生成。</a:t>
            </a:r>
          </a:p>
          <a:p xmlns:a="http://schemas.openxmlformats.org/drawingml/2006/main">
            <a:r>
              <a:t>年度:Mastercam対応は2024/7に発表済み。2026の出展記述が具体化。</a:t>
            </a:r>
          </a:p>
          <a:p xmlns:a="http://schemas.openxmlformats.org/drawingml/2006/main">
            <a:r>
              <a:t>人・未確認:人が前提を設定し、戦略案を確認・調整してCAMへ送る。</a:t>
            </a:r>
          </a:p>
          <a:p xmlns:a="http://schemas.openxmlformats.org/drawingml/2006/main">
            <a:r>
              <a:t>Evidence:EOV-V008-2024-1,EOV-V008-2024-2,EOV-V008-2026-1,EDP-09,EDP-10,ERF-03</a:t>
            </a:r>
          </a:p>
          <a:p xmlns:a="http://schemas.openxmlformats.org/drawingml/2006/main">
            <a:r>
              <a:t/>
            </a:r>
          </a:p>
          <a:p xmlns:a="http://schemas.openxmlformats.org/drawingml/2006/main">
            <a:r>
              <a:t>B02-3 タクテックス株式会社 / CAM Assist for SolidCAM／SolidShop / S1016</a:t>
            </a:r>
          </a:p>
          <a:p xmlns:a="http://schemas.openxmlformats.org/drawingml/2006/main">
            <a:r>
              <a:t>対象:3軸・3+2軸の加工経路を作る</a:t>
            </a:r>
          </a:p>
          <a:p xmlns:a="http://schemas.openxmlformats.org/drawingml/2006/main">
            <a:r>
              <a:t>公式要約:SolidCAM向けに3軸・3+2軸の戦略と経路案を生成。</a:t>
            </a:r>
          </a:p>
          <a:p xmlns:a="http://schemas.openxmlformats.org/drawingml/2006/main">
            <a:r>
              <a:t>年度:2024はSolidCAM等。2026はAI支援を追加記載。</a:t>
            </a:r>
          </a:p>
          <a:p xmlns:a="http://schemas.openxmlformats.org/drawingml/2006/main">
            <a:r>
              <a:t>人・未確認:工具・保持等を設定し、生成案を編集・採用。最終制御権は人。</a:t>
            </a:r>
          </a:p>
          <a:p xmlns:a="http://schemas.openxmlformats.org/drawingml/2006/main">
            <a:r>
              <a:t>Evidence:EEX-EXH-2026-0436fc7b61f51a8e,EEX-EXH-2024-eb84f3b7fa9cf6db,EDP-07,EDP-08,ERF-04</a:t>
            </a:r>
          </a:p>
          <a:p xmlns:a="http://schemas.openxmlformats.org/drawingml/2006/main">
            <a:r>
              <a:t/>
            </a:r>
          </a:p>
          <a:p xmlns:a="http://schemas.openxmlformats.org/drawingml/2006/main">
            <a:r>
              <a:t>NC送り最適化・加工中の適応制御</a:t>
            </a:r>
          </a:p>
          <a:p xmlns:a="http://schemas.openxmlformats.org/drawingml/2006/main">
            <a:r>
              <a:t>B03-1 CGTech / Vericut Force／Optimizer / S3014</a:t>
            </a:r>
          </a:p>
          <a:p xmlns:a="http://schemas.openxmlformats.org/drawingml/2006/main">
            <a:r>
              <a:t>対象:加工前にNCの送り速度を調整する</a:t>
            </a:r>
          </a:p>
          <a:p xmlns:a="http://schemas.openxmlformats.org/drawingml/2006/main">
            <a:r>
              <a:t>公式要約:Forceは切削物理と力・動力制約を使い加工前に送りを最適化。</a:t>
            </a:r>
          </a:p>
          <a:p xmlns:a="http://schemas.openxmlformats.org/drawingml/2006/main">
            <a:r>
              <a:t>年度:Forceは2024掲載済み。2026のAI訴求とOptimizerの方式差は未確認。</a:t>
            </a:r>
          </a:p>
          <a:p xmlns:a="http://schemas.openxmlformats.org/drawingml/2006/main">
            <a:r>
              <a:t>人・未確認:材料・工具・限界条件とNC採用が必要〈分析〉。運用詳細は未確認。</a:t>
            </a:r>
          </a:p>
          <a:p xmlns:a="http://schemas.openxmlformats.org/drawingml/2006/main">
            <a:r>
              <a:t>Evidence:EOV-V009-2024-1,EOV-V009-2026-1,RPT-S04</a:t>
            </a:r>
          </a:p>
          <a:p xmlns:a="http://schemas.openxmlformats.org/drawingml/2006/main">
            <a:r>
              <a:t/>
            </a:r>
          </a:p>
          <a:p xmlns:a="http://schemas.openxmlformats.org/drawingml/2006/main">
            <a:r>
              <a:t>B03-2 Third Wave Systems Japan / Production Module／AdvantEdge / E1064</a:t>
            </a:r>
          </a:p>
          <a:p xmlns:a="http://schemas.openxmlformats.org/drawingml/2006/main">
            <a:r>
              <a:t>対象:加工負荷を予測しNC送りを最適化する</a:t>
            </a:r>
          </a:p>
          <a:p xmlns:a="http://schemas.openxmlformats.org/drawingml/2006/main">
            <a:r>
              <a:t>公式要約:Production ModuleはNCレベルの負荷解析。刃先FEMのAdvantEdgeとは別。</a:t>
            </a:r>
          </a:p>
          <a:p xmlns:a="http://schemas.openxmlformats.org/drawingml/2006/main">
            <a:r>
              <a:t>年度:2024展示比較不能。工具たわみ等は2019年にも公式説明。</a:t>
            </a:r>
          </a:p>
          <a:p xmlns:a="http://schemas.openxmlformats.org/drawingml/2006/main">
            <a:r>
              <a:t>人・未確認:モデル・材料・工具の設定と採用判断が必要〈分析〉。</a:t>
            </a:r>
          </a:p>
          <a:p xmlns:a="http://schemas.openxmlformats.org/drawingml/2006/main">
            <a:r>
              <a:t>Evidence:RPT-EXH-2026-3f24aaee60d77db1,RPT-S05</a:t>
            </a:r>
          </a:p>
          <a:p xmlns:a="http://schemas.openxmlformats.org/drawingml/2006/main">
            <a:r>
              <a:t/>
            </a:r>
          </a:p>
          <a:p xmlns:a="http://schemas.openxmlformats.org/drawingml/2006/main">
            <a:r>
              <a:t>B03-3 西部商工 / ACM / S3020</a:t>
            </a:r>
          </a:p>
          <a:p xmlns:a="http://schemas.openxmlformats.org/drawingml/2006/main">
            <a:r>
              <a:t>対象:加工中の負荷に応じ送りを自動調整する</a:t>
            </a:r>
          </a:p>
          <a:p xmlns:a="http://schemas.openxmlformats.org/drawingml/2006/main">
            <a:r>
              <a:t>公式要約:ACMは実測主軸負荷を使い加工中の送りを自動調整。</a:t>
            </a:r>
          </a:p>
          <a:p xmlns:a="http://schemas.openxmlformats.org/drawingml/2006/main">
            <a:r>
              <a:t>年度:2024も負荷監視と送り制御を記載。基本方式は継続。</a:t>
            </a:r>
          </a:p>
          <a:p xmlns:a="http://schemas.openxmlformats.org/drawingml/2006/main">
            <a:r>
              <a:t>人・未確認:負荷限界の設定者・停止復帰の手順は未確認。</a:t>
            </a:r>
          </a:p>
          <a:p xmlns:a="http://schemas.openxmlformats.org/drawingml/2006/main">
            <a:r>
              <a:t>Evidence:RPT-EXH-2026-107042c6cf64ba96,RPT-EXH-2024-151b23d9e05ccb13</a:t>
            </a:r>
          </a:p>
          <a:p xmlns:a="http://schemas.openxmlformats.org/drawingml/2006/main">
            <a:r>
              <a:t/>
            </a:r>
          </a:p>
          <a:p xmlns:a="http://schemas.openxmlformats.org/drawingml/2006/main">
            <a:r>
              <a:t>PLC・HMI・電気設計の支援</a:t>
            </a:r>
          </a:p>
          <a:p xmlns:a="http://schemas.openxmlformats.org/drawingml/2006/main">
            <a:r>
              <a:t>B04-1 ベッコフオートメーション / TwinCAT CoAgent for Engineering：PLC / E2028</a:t>
            </a:r>
          </a:p>
          <a:p xmlns:a="http://schemas.openxmlformats.org/drawingml/2006/main">
            <a:r>
              <a:t>対象:設備のPLC制御プログラムを作る</a:t>
            </a:r>
          </a:p>
          <a:p xmlns:a="http://schemas.openxmlformats.org/drawingml/2006/main">
            <a:r>
              <a:t>公式要約:要求とプロジェクト文脈からPLCコード案を提案。</a:t>
            </a:r>
          </a:p>
          <a:p xmlns:a="http://schemas.openxmlformats.org/drawingml/2006/main">
            <a:r>
              <a:t>年度:PLCコード支援は2023発表済み。2026初の方式ではない。</a:t>
            </a:r>
          </a:p>
          <a:p xmlns:a="http://schemas.openxmlformats.org/drawingml/2006/main">
            <a:r>
              <a:t>人・未確認:専門家が確認・確定・実行承認。書込みや起動の個別権限は未確認。</a:t>
            </a:r>
          </a:p>
          <a:p xmlns:a="http://schemas.openxmlformats.org/drawingml/2006/main">
            <a:r>
              <a:t>Evidence:EOV-V005-2026-1,EAT-N03,EAT-N05,EDP-03,ERF-01</a:t>
            </a:r>
          </a:p>
          <a:p xmlns:a="http://schemas.openxmlformats.org/drawingml/2006/main">
            <a:r>
              <a:t/>
            </a:r>
          </a:p>
          <a:p xmlns:a="http://schemas.openxmlformats.org/drawingml/2006/main">
            <a:r>
              <a:t>B04-2 ベッコフオートメーション / TwinCAT CoAgent for Engineering：I/O・HMI / E2028</a:t>
            </a:r>
          </a:p>
          <a:p xmlns:a="http://schemas.openxmlformats.org/drawingml/2006/main">
            <a:r>
              <a:t>対象:設備の入出力設定と操作画面を作る</a:t>
            </a:r>
          </a:p>
          <a:p xmlns:a="http://schemas.openxmlformats.org/drawingml/2006/main">
            <a:r>
              <a:t>公式要約:I/O構成とHMI生成・操作を支援するEngineering機能。</a:t>
            </a:r>
          </a:p>
          <a:p xmlns:a="http://schemas.openxmlformats.org/drawingml/2006/main">
            <a:r>
              <a:t>年度:I/O・HMI支援は2025/6にも公式説明。</a:t>
            </a:r>
          </a:p>
          <a:p xmlns:a="http://schemas.openxmlformats.org/drawingml/2006/main">
            <a:r>
              <a:t>人・未確認:専門家のレビュー方針。構成誤りの検証・差戻しは未確認。</a:t>
            </a:r>
          </a:p>
          <a:p xmlns:a="http://schemas.openxmlformats.org/drawingml/2006/main">
            <a:r>
              <a:t>Evidence:EOV-V005-2026-1,EAT-N03,EAT-N05,EDP-03,ERF-01</a:t>
            </a:r>
          </a:p>
          <a:p xmlns:a="http://schemas.openxmlformats.org/drawingml/2006/main">
            <a:r>
              <a:t/>
            </a:r>
          </a:p>
          <a:p xmlns:a="http://schemas.openxmlformats.org/drawingml/2006/main">
            <a:r>
              <a:t>B04-3 EPLAN / Eplan Copilot / S1067</a:t>
            </a:r>
          </a:p>
          <a:p xmlns:a="http://schemas.openxmlformats.org/drawingml/2006/main">
            <a:r>
              <a:t>対象:電気設計の情報・操作手順を調べる</a:t>
            </a:r>
          </a:p>
          <a:p xmlns:a="http://schemas.openxmlformats.org/drawingml/2006/main">
            <a:r>
              <a:t>公式要約:Eplan Copilotが文脈に応じた回答・推奨・手順を生成。</a:t>
            </a:r>
          </a:p>
          <a:p xmlns:a="http://schemas.openxmlformats.org/drawingml/2006/main">
            <a:r>
              <a:t>年度:2024の盤設計・データ連携に対し、2026はCopilotを記載。</a:t>
            </a:r>
          </a:p>
          <a:p xmlns:a="http://schemas.openxmlformats.org/drawingml/2006/main">
            <a:r>
              <a:t>人・未確認:意思決定は人。設計変更の自動採用は現機能と確認できない。</a:t>
            </a:r>
          </a:p>
          <a:p xmlns:a="http://schemas.openxmlformats.org/drawingml/2006/main">
            <a:r>
              <a:t>Evidence:EOV-V006-2024-1,EOV-V006-2026-1,EAT-N06</a:t>
            </a:r>
          </a:p>
          <a:p xmlns:a="http://schemas.openxmlformats.org/drawingml/2006/main">
            <a:r>
              <a:t/>
            </a:r>
          </a:p>
          <a:p xmlns:a="http://schemas.openxmlformats.org/drawingml/2006/main">
            <a:r>
              <a:t>熱変位補正・びびり抑制</a:t>
            </a:r>
          </a:p>
          <a:p xmlns:a="http://schemas.openxmlformats.org/drawingml/2006/main">
            <a:r>
              <a:t>B05-1 オークマ / 熱変位制御・AI知能化 / E3028</a:t>
            </a:r>
          </a:p>
          <a:p xmlns:a="http://schemas.openxmlformats.org/drawingml/2006/main">
            <a:r>
              <a:t>対象:温度変化による加工位置のずれを抑える</a:t>
            </a:r>
          </a:p>
          <a:p xmlns:a="http://schemas.openxmlformats.org/drawingml/2006/main">
            <a:r>
              <a:t>公式要約:熱を単純化する構造と熱変位制御を組み合わせる。</a:t>
            </a:r>
          </a:p>
          <a:p xmlns:a="http://schemas.openxmlformats.org/drawingml/2006/main">
            <a:r>
              <a:t>年度:熱安定化は既存技術。2026のAI訴求だけで補正全体をAIとしない。</a:t>
            </a:r>
          </a:p>
          <a:p xmlns:a="http://schemas.openxmlformats.org/drawingml/2006/main">
            <a:r>
              <a:t>人・未確認:校正・補正限界・条件変化時の人の関与は未確認。</a:t>
            </a:r>
          </a:p>
          <a:p xmlns:a="http://schemas.openxmlformats.org/drawingml/2006/main">
            <a:r>
              <a:t>Evidence:EOV-V003-2024-1,EOV-V003-2026-1,RPT-S02</a:t>
            </a:r>
          </a:p>
          <a:p xmlns:a="http://schemas.openxmlformats.org/drawingml/2006/main">
            <a:r>
              <a:t/>
            </a:r>
          </a:p>
          <a:p xmlns:a="http://schemas.openxmlformats.org/drawingml/2006/main">
            <a:r>
              <a:t>B05-2 ヤマザキマザック / Ai Thermal Shield（製品資料による比較） / E1001</a:t>
            </a:r>
          </a:p>
          <a:p xmlns:a="http://schemas.openxmlformats.org/drawingml/2006/main">
            <a:r>
              <a:t>対象:加工後測定も使い熱変位補正を調整する</a:t>
            </a:r>
          </a:p>
          <a:p xmlns:a="http://schemas.openxmlformats.org/drawingml/2006/main">
            <a:r>
              <a:t>公式要約:温度・回転等を考慮。加工後測定の学習で熱変位補正を最適化。</a:t>
            </a:r>
          </a:p>
          <a:p xmlns:a="http://schemas.openxmlformats.org/drawingml/2006/main">
            <a:r>
              <a:t>年度:製品資料の比較例。同機能の2026展示搭載・年度差は未確認。</a:t>
            </a:r>
          </a:p>
          <a:p xmlns:a="http://schemas.openxmlformats.org/drawingml/2006/main">
            <a:r>
              <a:t>人・未確認:測定準備・更新採否・補正限界の設定者は未確認。</a:t>
            </a:r>
          </a:p>
          <a:p xmlns:a="http://schemas.openxmlformats.org/drawingml/2006/main">
            <a:r>
              <a:t>Evidence:RPT-S03,EOV-V004-2024-1,EOV-V004-2026-1,EAT-N08</a:t>
            </a:r>
          </a:p>
          <a:p xmlns:a="http://schemas.openxmlformats.org/drawingml/2006/main">
            <a:r>
              <a:t/>
            </a:r>
          </a:p>
          <a:p xmlns:a="http://schemas.openxmlformats.org/drawingml/2006/main">
            <a:r>
              <a:t>B05-3 オークマ / 加工ナビM-i／M-gⅡ（製品資料による比較） / E3028</a:t>
            </a:r>
          </a:p>
          <a:p xmlns:a="http://schemas.openxmlformats.org/drawingml/2006/main">
            <a:r>
              <a:t>対象:びびり振動に応じ主軸回転数を調整する</a:t>
            </a:r>
          </a:p>
          <a:p xmlns:a="http://schemas.openxmlformats.org/drawingml/2006/main">
            <a:r>
              <a:t>公式要約:M-iは振動計測から主軸速度を自動変更。M-gⅡは速度候補を提示。</a:t>
            </a:r>
          </a:p>
          <a:p xmlns:a="http://schemas.openxmlformats.org/drawingml/2006/main">
            <a:r>
              <a:t>年度:既存製品技術の比較例。2024/2026の機能増分は未確認。</a:t>
            </a:r>
          </a:p>
          <a:p xmlns:a="http://schemas.openxmlformats.org/drawingml/2006/main">
            <a:r>
              <a:t>人・未確認:M-iは設定後に自動制御。M-gⅡは人が候補を選ぶ。</a:t>
            </a:r>
          </a:p>
          <a:p xmlns:a="http://schemas.openxmlformats.org/drawingml/2006/main">
            <a:r>
              <a:t>Evidence:RPT-S01,EOV-V003-2024-1,EOV-V003-2026-1</a:t>
            </a:r>
          </a:p>
          <a:p xmlns:a="http://schemas.openxmlformats.org/drawingml/2006/main">
            <a:r>
              <a:t/>
            </a:r>
          </a:p>
          <a:p xmlns:a="http://schemas.openxmlformats.org/drawingml/2006/main">
            <a:r>
              <a:t>計測から加工へのフィードバック</a:t>
            </a:r>
          </a:p>
          <a:p xmlns:a="http://schemas.openxmlformats.org/drawingml/2006/main">
            <a:r>
              <a:t>B06-1 レニショー / Renishaw Central＋IPC / E7089</a:t>
            </a:r>
          </a:p>
          <a:p xmlns:a="http://schemas.openxmlformats.org/drawingml/2006/main">
            <a:r>
              <a:t>対象:測定した寸法を加工補正へ戻す</a:t>
            </a:r>
          </a:p>
          <a:p xmlns:a="http://schemas.openxmlformats.org/drawingml/2006/main">
            <a:r>
              <a:t>公式要約:Renishaw Central＋IPCで工具オフセットや機械変数を更新。</a:t>
            </a:r>
          </a:p>
          <a:p xmlns:a="http://schemas.openxmlformats.org/drawingml/2006/main">
            <a:r>
              <a:t>年度:Centralは2024掲載済み。2026も継続。</a:t>
            </a:r>
          </a:p>
          <a:p xmlns:a="http://schemas.openxmlformats.org/drawingml/2006/main">
            <a:r>
              <a:t>人・未確認:計測不確かさ、補正上限、異常値の抑止条件は未確認。</a:t>
            </a:r>
          </a:p>
          <a:p xmlns:a="http://schemas.openxmlformats.org/drawingml/2006/main">
            <a:r>
              <a:t>Evidence:EOV-V018-2024-1,EOV-V018-2026-1,EOV-W03</a:t>
            </a:r>
          </a:p>
          <a:p xmlns:a="http://schemas.openxmlformats.org/drawingml/2006/main">
            <a:r>
              <a:t/>
            </a:r>
          </a:p>
          <a:p xmlns:a="http://schemas.openxmlformats.org/drawingml/2006/main">
            <a:r>
              <a:t>B06-2 Wintech Automation / HGM-DX：測定フィードバック研削 / W3051</a:t>
            </a:r>
          </a:p>
          <a:p xmlns:a="http://schemas.openxmlformats.org/drawingml/2006/main">
            <a:r>
              <a:t>対象:測定値を研削加工の補正へ戻す</a:t>
            </a:r>
          </a:p>
          <a:p xmlns:a="http://schemas.openxmlformats.org/drawingml/2006/main">
            <a:r>
              <a:t>公式要約:HGM-DXは測定値を研削機へ返し加工公差を自動補正。</a:t>
            </a:r>
          </a:p>
          <a:p xmlns:a="http://schemas.openxmlformats.org/drawingml/2006/main">
            <a:r>
              <a:t>年度:2024は製造・検査自動化。2026は測定→研削を具体記載。</a:t>
            </a:r>
          </a:p>
          <a:p xmlns:a="http://schemas.openxmlformats.org/drawingml/2006/main">
            <a:r>
              <a:t>人・未確認:補正上限と誤計測時の対応は未確認。</a:t>
            </a:r>
          </a:p>
          <a:p xmlns:a="http://schemas.openxmlformats.org/drawingml/2006/main">
            <a:r>
              <a:t>Evidence:EOV-V034-2024-1,EOV-V034-2026-1</a:t>
            </a:r>
          </a:p>
          <a:p xmlns:a="http://schemas.openxmlformats.org/drawingml/2006/main">
            <a:r>
              <a:t/>
            </a:r>
          </a:p>
          <a:p xmlns:a="http://schemas.openxmlformats.org/drawingml/2006/main">
            <a:r>
              <a:t>B06-3 株式会社サイバーRC / GH5：工具の3D画像認識・AI補正ホーニング / E7074</a:t>
            </a:r>
          </a:p>
          <a:p xmlns:a="http://schemas.openxmlformats.org/drawingml/2006/main">
            <a:r>
              <a:t>対象:工具刃先の幅・角度を狙い値へ加工する</a:t>
            </a:r>
          </a:p>
          <a:p xmlns:a="http://schemas.openxmlformats.org/drawingml/2006/main">
            <a:r>
              <a:t>公式要約:GH5は機内3D画像で刃先を測り、幅・角度の目標へAI補正。</a:t>
            </a:r>
          </a:p>
          <a:p xmlns:a="http://schemas.openxmlformats.org/drawingml/2006/main">
            <a:r>
              <a:t>年度:2024のGM5等から、2026はGH5の測定・加工一体化を記載。</a:t>
            </a:r>
          </a:p>
          <a:p xmlns:a="http://schemas.openxmlformats.org/drawingml/2006/main">
            <a:r>
              <a:t>人・未確認:目標値は人が設定。過研磨・測定不能時の停止復帰は未確認。</a:t>
            </a:r>
          </a:p>
          <a:p xmlns:a="http://schemas.openxmlformats.org/drawingml/2006/main">
            <a:r>
              <a:t>Evidence:EEX-EXH-2026-a0cbad27ea34d7c4,EEX-EXH-2024-76ac534a229f7c29,EDP-02</a:t>
            </a:r>
          </a:p>
          <a:p xmlns:a="http://schemas.openxmlformats.org/drawingml/2006/main">
            <a:r>
              <a:t/>
            </a:r>
          </a:p>
          <a:p xmlns:a="http://schemas.openxmlformats.org/drawingml/2006/main">
            <a:r>
              <a:t>外観検査・撮像と追加学習</a:t>
            </a:r>
          </a:p>
          <a:p xmlns:a="http://schemas.openxmlformats.org/drawingml/2006/main">
            <a:r>
              <a:t>B07-1 HACARUS / HACARUS Check ZERO / S1031</a:t>
            </a:r>
          </a:p>
          <a:p xmlns:a="http://schemas.openxmlformats.org/drawingml/2006/main">
            <a:r>
              <a:t>対象:製品表面の傷・欠け等を判定する</a:t>
            </a:r>
          </a:p>
          <a:p xmlns:a="http://schemas.openxmlformats.org/drawingml/2006/main">
            <a:r>
              <a:t>公式要約:ZEROは良品との差で異常を検出し、人の良否注釈で追加調整。</a:t>
            </a:r>
          </a:p>
          <a:p xmlns:a="http://schemas.openxmlformats.org/drawingml/2006/main">
            <a:r>
              <a:t>年度:追加学習は2025/7発表済み。2026だけの新機能としない。</a:t>
            </a:r>
          </a:p>
          <a:p xmlns:a="http://schemas.openxmlformats.org/drawingml/2006/main">
            <a:r>
              <a:t>人・未確認:人が画像・注釈を準備。更新モデル採用と出荷判定の権限は未確認。</a:t>
            </a:r>
          </a:p>
          <a:p xmlns:a="http://schemas.openxmlformats.org/drawingml/2006/main">
            <a:r>
              <a:t>Evidence:EOV-V021-2026-1,EOV-W06,EDP-14,EDP-15,ERF-05</a:t>
            </a:r>
          </a:p>
          <a:p xmlns:a="http://schemas.openxmlformats.org/drawingml/2006/main">
            <a:r>
              <a:t/>
            </a:r>
          </a:p>
          <a:p xmlns:a="http://schemas.openxmlformats.org/drawingml/2006/main">
            <a:r>
              <a:t>B07-2 日東商事 / HACARUS Check：協働ロボット多面検査 / S1031</a:t>
            </a:r>
          </a:p>
          <a:p xmlns:a="http://schemas.openxmlformats.org/drawingml/2006/main">
            <a:r>
              <a:t>対象:ワークを多方向から撮り外観を検査する</a:t>
            </a:r>
          </a:p>
          <a:p xmlns:a="http://schemas.openxmlformats.org/drawingml/2006/main">
            <a:r>
              <a:t>公式要約:協働ロボットで多角度撮像し、AIで傷・欠けを判定。</a:t>
            </a:r>
          </a:p>
          <a:p xmlns:a="http://schemas.openxmlformats.org/drawingml/2006/main">
            <a:r>
              <a:t>年度:日東商事2024の放電加工機展示から、AI検査を追加記載。</a:t>
            </a:r>
          </a:p>
          <a:p xmlns:a="http://schemas.openxmlformats.org/drawingml/2006/main">
            <a:r>
              <a:t>人・未確認:姿勢教示・再撮像・不良排出の権限は未確認。</a:t>
            </a:r>
          </a:p>
          <a:p xmlns:a="http://schemas.openxmlformats.org/drawingml/2006/main">
            <a:r>
              <a:t>Evidence:EOV-V022-2024-1,EOV-V022-2026-1</a:t>
            </a:r>
          </a:p>
          <a:p xmlns:a="http://schemas.openxmlformats.org/drawingml/2006/main">
            <a:r>
              <a:t/>
            </a:r>
          </a:p>
          <a:p xmlns:a="http://schemas.openxmlformats.org/drawingml/2006/main">
            <a:r>
              <a:t>B07-3 ブルーム-ノボテスト / FormControl X／DIGILOG / E7084</a:t>
            </a:r>
          </a:p>
          <a:p xmlns:a="http://schemas.openxmlformats.org/drawingml/2006/main">
            <a:r>
              <a:t>対象:機上のワーク形状と工具を測る</a:t>
            </a:r>
          </a:p>
          <a:p xmlns:a="http://schemas.openxmlformats.org/drawingml/2006/main">
            <a:r>
              <a:t>公式要約:機上3D測定と工具計測・欠け検知・補正を組み合わせる。</a:t>
            </a:r>
          </a:p>
          <a:p xmlns:a="http://schemas.openxmlformats.org/drawingml/2006/main">
            <a:r>
              <a:t>年度:2024のFormControl X等を継続し、2026はLC54等を追加。</a:t>
            </a:r>
          </a:p>
          <a:p xmlns:a="http://schemas.openxmlformats.org/drawingml/2006/main">
            <a:r>
              <a:t>人・未確認:校正・熱状態・機種適合の条件は未確認。</a:t>
            </a:r>
          </a:p>
          <a:p xmlns:a="http://schemas.openxmlformats.org/drawingml/2006/main">
            <a:r>
              <a:t>Evidence:EOV-V019-2024-1,EOV-V019-2026-1</a:t>
            </a:r>
          </a:p>
          <a:p xmlns:a="http://schemas.openxmlformats.org/drawingml/2006/main">
            <a:r>
              <a:t/>
            </a:r>
          </a:p>
          <a:p xmlns:a="http://schemas.openxmlformats.org/drawingml/2006/main">
            <a:r>
              <a:t>工具摩耗の判定・交換判断</a:t>
            </a:r>
          </a:p>
          <a:p xmlns:a="http://schemas.openxmlformats.org/drawingml/2006/main">
            <a:r>
              <a:t>B08-1 モリマシナリー / ツールコラージュ / S3048</a:t>
            </a:r>
          </a:p>
          <a:p xmlns:a="http://schemas.openxmlformats.org/drawingml/2006/main">
            <a:r>
              <a:t>対象:刃先の欠け・摩耗を判定し記録する</a:t>
            </a:r>
          </a:p>
          <a:p xmlns:a="http://schemas.openxmlformats.org/drawingml/2006/main">
            <a:r>
              <a:t>公式要約:刃先の診断箇所を認知し、欠け・摩耗をAI判定・記録。</a:t>
            </a:r>
          </a:p>
          <a:p xmlns:a="http://schemas.openxmlformats.org/drawingml/2006/main">
            <a:r>
              <a:t>年度:AI摩耗判定は2024にも説明済み。2026は継続。</a:t>
            </a:r>
          </a:p>
          <a:p xmlns:a="http://schemas.openxmlformats.org/drawingml/2006/main">
            <a:r>
              <a:t>人・未確認:対象工具と撮像条件を準備。継続使用の最終決定者は未確認。</a:t>
            </a:r>
          </a:p>
          <a:p xmlns:a="http://schemas.openxmlformats.org/drawingml/2006/main">
            <a:r>
              <a:t>Evidence:EOV-V024-2024-1,EOV-V024-2026-1,EDP-12</a:t>
            </a:r>
          </a:p>
          <a:p xmlns:a="http://schemas.openxmlformats.org/drawingml/2006/main">
            <a:r>
              <a:t/>
            </a:r>
          </a:p>
          <a:p xmlns:a="http://schemas.openxmlformats.org/drawingml/2006/main">
            <a:r>
              <a:t>B08-2 ハイデンハイン / VT122＋VTC 6.0 / E7043</a:t>
            </a:r>
          </a:p>
          <a:p xmlns:a="http://schemas.openxmlformats.org/drawingml/2006/main">
            <a:r>
              <a:t>対象:工具画像から摩耗状態を診断する</a:t>
            </a:r>
          </a:p>
          <a:p xmlns:a="http://schemas.openxmlformats.org/drawingml/2006/main">
            <a:r>
              <a:t>公式要約:VT122にVTC 6.0のAI摩耗診断・工具長機能を記載。</a:t>
            </a:r>
          </a:p>
          <a:p xmlns:a="http://schemas.openxmlformats.org/drawingml/2006/main">
            <a:r>
              <a:t>年度:2024はVT122検査。2026はAI摩耗診断を追加記載。</a:t>
            </a:r>
          </a:p>
          <a:p xmlns:a="http://schemas.openxmlformats.org/drawingml/2006/main">
            <a:r>
              <a:t>人・未確認:判定閾値と自動交換への接続は未確認。</a:t>
            </a:r>
          </a:p>
          <a:p xmlns:a="http://schemas.openxmlformats.org/drawingml/2006/main">
            <a:r>
              <a:t>Evidence:EOV-V023-2024-1,EOV-V023-2026-1</a:t>
            </a:r>
          </a:p>
          <a:p xmlns:a="http://schemas.openxmlformats.org/drawingml/2006/main">
            <a:r>
              <a:t/>
            </a:r>
          </a:p>
          <a:p xmlns:a="http://schemas.openxmlformats.org/drawingml/2006/main">
            <a:r>
              <a:t>B08-3 三菱電機 / NC MachiningAID（2024）／2026 CNC省人化 / S2003</a:t>
            </a:r>
          </a:p>
          <a:p xmlns:a="http://schemas.openxmlformats.org/drawingml/2006/main">
            <a:r>
              <a:t>対象:加工異常・工具摩耗・作業ミスを検知する</a:t>
            </a:r>
          </a:p>
          <a:p xmlns:a="http://schemas.openxmlformats.org/drawingml/2006/main">
            <a:r>
              <a:t>公式要約:2024のMachiningAIDは加工異常・工具摩耗・作業ミスをAI検知。</a:t>
            </a:r>
          </a:p>
          <a:p xmlns:a="http://schemas.openxmlformats.org/drawingml/2006/main">
            <a:r>
              <a:t>年度:2026はAI省人化の総論。個別機能の進化は比較不能。</a:t>
            </a:r>
          </a:p>
          <a:p xmlns:a="http://schemas.openxmlformats.org/drawingml/2006/main">
            <a:r>
              <a:t>人・未確認:2026の継承機能と自動停止・交換権限は未確認。</a:t>
            </a:r>
          </a:p>
          <a:p xmlns:a="http://schemas.openxmlformats.org/drawingml/2006/main">
            <a:r>
              <a:t>Evidence:EAT-V043-2024-1,EAT-V043-2026-1</a:t>
            </a:r>
          </a:p>
          <a:p xmlns:a="http://schemas.openxmlformats.org/drawingml/2006/main">
            <a:r>
              <a:t/>
            </a:r>
          </a:p>
          <a:p xmlns:a="http://schemas.openxmlformats.org/drawingml/2006/main">
            <a:r>
              <a:t>B08-4 モリマシナリー / ツールコラージュアナライザー / S3048</a:t>
            </a:r>
          </a:p>
          <a:p xmlns:a="http://schemas.openxmlformats.org/drawingml/2006/main">
            <a:r>
              <a:t>対象:切削工具をいつ交換するか</a:t>
            </a:r>
          </a:p>
          <a:p xmlns:a="http://schemas.openxmlformats.org/drawingml/2006/main">
            <a:r>
              <a:t>公式要約:摩耗幅のデータを蓄積・学習し、工具寿命と交換時期を提案する。</a:t>
            </a:r>
          </a:p>
          <a:p xmlns:a="http://schemas.openxmlformats.org/drawingml/2006/main">
            <a:r>
              <a:t>年度:2026は寿命予測と交換提案を具体掲載。ただし研究発表は2023にもあり、新方式の誕生とは扱わない。</a:t>
            </a:r>
          </a:p>
          <a:p xmlns:a="http://schemas.openxmlformats.org/drawingml/2006/main">
            <a:r>
              <a:t>人・未確認:人が工具・加工条件と提案の適用を確認する運用は要確認。</a:t>
            </a:r>
          </a:p>
          <a:p xmlns:a="http://schemas.openxmlformats.org/drawingml/2006/main">
            <a:r>
              <a:t>Evidence:EOV-V024-2024-1,EOV-V024-2026-1,EOV-W08</a:t>
            </a:r>
          </a:p>
          <a:p xmlns:a="http://schemas.openxmlformats.org/drawingml/2006/main">
            <a:r>
              <a:t/>
            </a:r>
          </a:p>
          <a:p xmlns:a="http://schemas.openxmlformats.org/drawingml/2006/main">
            <a:r>
              <a:t>B08-5 興和オプトロニクス / RW耐環境ビジョンユニット / S3104</a:t>
            </a:r>
          </a:p>
          <a:p xmlns:a="http://schemas.openxmlformats.org/drawingml/2006/main">
            <a:r>
              <a:t>対象:加工機内の工具折損・摩耗を見つける</a:t>
            </a:r>
          </a:p>
          <a:p xmlns:a="http://schemas.openxmlformats.org/drawingml/2006/main">
            <a:r>
              <a:t>公式要約:水・油・ミスト環境で撮像し、AIで工具折損・摩耗や切粉の異常蓄積を検知するとの説明。</a:t>
            </a:r>
          </a:p>
          <a:p xmlns:a="http://schemas.openxmlformats.org/drawingml/2006/main">
            <a:r>
              <a:t>年度:2024同名原典なし。2026の耐環境撮像とAI検知は確認、登場時期は比較不能。</a:t>
            </a:r>
          </a:p>
          <a:p xmlns:a="http://schemas.openxmlformats.org/drawingml/2006/main">
            <a:r>
              <a:t>人・未確認:対象工具、判定の閾値、検知後の停止・交換の分担は未確認。</a:t>
            </a:r>
          </a:p>
          <a:p xmlns:a="http://schemas.openxmlformats.org/drawingml/2006/main">
            <a:r>
              <a:t>Evidence:EOV-V042-2026-1,EDP-33</a:t>
            </a:r>
          </a:p>
          <a:p xmlns:a="http://schemas.openxmlformats.org/drawingml/2006/main">
            <a:r>
              <a:t/>
            </a:r>
          </a:p>
          <a:p xmlns:a="http://schemas.openxmlformats.org/drawingml/2006/main">
            <a:r>
              <a:t>B08-6 マーポス / ARTIS／BLU／VTS / E7087</a:t>
            </a:r>
          </a:p>
          <a:p xmlns:a="http://schemas.openxmlformats.org/drawingml/2006/main">
            <a:r>
              <a:t>対象:工具寸法と加工状態を測り・監視する</a:t>
            </a:r>
          </a:p>
          <a:p xmlns:a="http://schemas.openxmlformats.org/drawingml/2006/main">
            <a:r>
              <a:t>公式要約:カメラ・レーザーの工具測定と、工具・機械・加工プロセスの監視を展示。</a:t>
            </a:r>
          </a:p>
          <a:p xmlns:a="http://schemas.openxmlformats.org/drawingml/2006/main">
            <a:r>
              <a:t>年度:ARTIS・VTS等は2024にも掲載。2026の展示名だけでは機能の増分を断定できない。</a:t>
            </a:r>
          </a:p>
          <a:p xmlns:a="http://schemas.openxmlformats.org/drawingml/2006/main">
            <a:r>
              <a:t>人・未確認:交換・停止を決める基準と、各機能のAI使用は未確認。</a:t>
            </a:r>
          </a:p>
          <a:p xmlns:a="http://schemas.openxmlformats.org/drawingml/2006/main">
            <a:r>
              <a:t>Evidence:EOV-V020-2024-1,EOV-V020-2026-1</a:t>
            </a:r>
          </a:p>
          <a:p xmlns:a="http://schemas.openxmlformats.org/drawingml/2006/main">
            <a:r>
              <a:t/>
            </a:r>
          </a:p>
          <a:p xmlns:a="http://schemas.openxmlformats.org/drawingml/2006/main">
            <a:r>
              <a:t>B08-7 Masterlink / 工作機械センシングの知能化による生産性向上： / E1050</a:t>
            </a:r>
          </a:p>
          <a:p xmlns:a="http://schemas.openxmlformats.org/drawingml/2006/main">
            <a:r>
              <a:t>対象:工具の異常を監視する（方式要確認）</a:t>
            </a:r>
          </a:p>
          <a:p xmlns:a="http://schemas.openxmlformats.org/drawingml/2006/main">
            <a:r>
              <a:t>公式要約:工具監視、適応加工、予知保全を出展項目として掲載。入力信号と判定方式は未記載。</a:t>
            </a:r>
          </a:p>
          <a:p xmlns:a="http://schemas.openxmlformats.org/drawingml/2006/main">
            <a:r>
              <a:t>年度:2024はセンシング・現場管理の総論。2026は工具監視等を列挙。性能差は不明。</a:t>
            </a:r>
          </a:p>
          <a:p xmlns:a="http://schemas.openxmlformats.org/drawingml/2006/main">
            <a:r>
              <a:t>人・未確認:監視結果から停止・交換へ移す手順、担当者は未確認。</a:t>
            </a:r>
          </a:p>
          <a:p xmlns:a="http://schemas.openxmlformats.org/drawingml/2006/main">
            <a:r>
              <a:t>Evidence:EEX-EXH-2026-19ce238d137fe275,EEX-EXH-2024-a2fae1d1864676d1</a:t>
            </a:r>
          </a:p>
          <a:p xmlns:a="http://schemas.openxmlformats.org/drawingml/2006/main">
            <a:r>
              <a:t/>
            </a:r>
          </a:p>
          <a:p xmlns:a="http://schemas.openxmlformats.org/drawingml/2006/main">
            <a:r>
              <a:t>設備・刃具の異常検知と保全</a:t>
            </a:r>
          </a:p>
          <a:p xmlns:a="http://schemas.openxmlformats.org/drawingml/2006/main">
            <a:r>
              <a:t>B09-1 ムラテックＣＣＳ株式会社 / プライマリドクタサービス：稼働中データのAI診断 / E3031</a:t>
            </a:r>
          </a:p>
          <a:p xmlns:a="http://schemas.openxmlformats.org/drawingml/2006/main">
            <a:r>
              <a:t>対象:設備の電流・振動から劣化を診断する</a:t>
            </a:r>
          </a:p>
          <a:p xmlns:a="http://schemas.openxmlformats.org/drawingml/2006/main">
            <a:r>
              <a:t>公式要約:稼働中の電流・振動等を新品状態と比較し劣化・異常を診断。</a:t>
            </a:r>
          </a:p>
          <a:p xmlns:a="http://schemas.openxmlformats.org/drawingml/2006/main">
            <a:r>
              <a:t>年度:プライマリドクタのAI診断は2024から継続。</a:t>
            </a:r>
          </a:p>
          <a:p xmlns:a="http://schemas.openxmlformats.org/drawingml/2006/main">
            <a:r>
              <a:t>人・未確認:計測後の点検・交換の最終決定者、誤警報時の扱いは未確認。</a:t>
            </a:r>
          </a:p>
          <a:p xmlns:a="http://schemas.openxmlformats.org/drawingml/2006/main">
            <a:r>
              <a:t>Evidence:EEX-EXH-2026-308c5194f12fe009,EEX-EXH-2024-b0a94c1cd407ea8a,EDP-13</a:t>
            </a:r>
          </a:p>
          <a:p xmlns:a="http://schemas.openxmlformats.org/drawingml/2006/main">
            <a:r>
              <a:t/>
            </a:r>
          </a:p>
          <a:p xmlns:a="http://schemas.openxmlformats.org/drawingml/2006/main">
            <a:r>
              <a:t>B09-2 アズビル（TACO共同出展） / U4DM01 NC旋盤予兆検知 / W4070</a:t>
            </a:r>
          </a:p>
          <a:p xmlns:a="http://schemas.openxmlformats.org/drawingml/2006/main">
            <a:r>
              <a:t>対象:NC旋盤の刃具破損を検知する</a:t>
            </a:r>
          </a:p>
          <a:p xmlns:a="http://schemas.openxmlformats.org/drawingml/2006/main">
            <a:r>
              <a:t>公式要約:U4DM01はNC旋盤の刃具破損検知と後付け適用を説明。</a:t>
            </a:r>
          </a:p>
          <a:p xmlns:a="http://schemas.openxmlformats.org/drawingml/2006/main">
            <a:r>
              <a:t>年度:2024参考U4Dから2026 Coming soon表記。性能差は不明。</a:t>
            </a:r>
          </a:p>
          <a:p xmlns:a="http://schemas.openxmlformats.org/drawingml/2006/main">
            <a:r>
              <a:t>人・未確認:2024は設定・学習開始操作あり。停止や交換権限は未確認。</a:t>
            </a:r>
          </a:p>
          <a:p xmlns:a="http://schemas.openxmlformats.org/drawingml/2006/main">
            <a:r>
              <a:t>Evidence:RPT-EXH-2026-2c48cf1373cedc75,RPT-EXH-2024-2caebd449015630d</a:t>
            </a:r>
          </a:p>
          <a:p xmlns:a="http://schemas.openxmlformats.org/drawingml/2006/main">
            <a:r>
              <a:t/>
            </a:r>
          </a:p>
          <a:p xmlns:a="http://schemas.openxmlformats.org/drawingml/2006/main">
            <a:r>
              <a:t>B09-3 日本精工 / 振動診断AI・遠隔監視 / W2048</a:t>
            </a:r>
          </a:p>
          <a:p xmlns:a="http://schemas.openxmlformats.org/drawingml/2006/main">
            <a:r>
              <a:t>対象:振動から設備状態を診断する</a:t>
            </a:r>
          </a:p>
          <a:p xmlns:a="http://schemas.openxmlformats.org/drawingml/2006/main">
            <a:r>
              <a:t>公式要約:2024はAI振動診断と遠隔監視を紹介。</a:t>
            </a:r>
          </a:p>
          <a:p xmlns:a="http://schemas.openxmlformats.org/drawingml/2006/main">
            <a:r>
              <a:t>年度:2026の総論だけでは2024比の増分を判定できない。</a:t>
            </a:r>
          </a:p>
          <a:p xmlns:a="http://schemas.openxmlformats.org/drawingml/2006/main">
            <a:r>
              <a:t>人・未確認:2026の個別機能、保全判断への接続は資料不足。</a:t>
            </a:r>
          </a:p>
          <a:p xmlns:a="http://schemas.openxmlformats.org/drawingml/2006/main">
            <a:r>
              <a:t>Evidence:EOV-V032-2024-1,EOV-V032-2026-1</a:t>
            </a:r>
          </a:p>
          <a:p xmlns:a="http://schemas.openxmlformats.org/drawingml/2006/main">
            <a:r>
              <a:t/>
            </a:r>
          </a:p>
          <a:p xmlns:a="http://schemas.openxmlformats.org/drawingml/2006/main">
            <a:r>
              <a:t>爪・治具・ハンドと位置の段取り</a:t>
            </a:r>
          </a:p>
          <a:p xmlns:a="http://schemas.openxmlformats.org/drawingml/2006/main">
            <a:r>
              <a:t>B10-1 松本機械工業株式会社 / Smart Terrace Adv／爪・CAPTO工具の交換 / W2070</a:t>
            </a:r>
          </a:p>
          <a:p xmlns:a="http://schemas.openxmlformats.org/drawingml/2006/main">
            <a:r>
              <a:t>対象:爪・工具等を交換して段取りを変える</a:t>
            </a:r>
          </a:p>
          <a:p xmlns:a="http://schemas.openxmlformats.org/drawingml/2006/main">
            <a:r>
              <a:t>公式要約:Smart Terrace Advは爪等の交換。寸法入力から動作を設定。</a:t>
            </a:r>
          </a:p>
          <a:p xmlns:a="http://schemas.openxmlformats.org/drawingml/2006/main">
            <a:r>
              <a:t>年度:CAPTO等の交換は2024初披露済み。2026はAdv構成等に注目。</a:t>
            </a:r>
          </a:p>
          <a:p xmlns:a="http://schemas.openxmlformats.org/drawingml/2006/main">
            <a:r>
              <a:t>人・未確認:人が寸法入力。初期プログラムはメーカーが組込み。</a:t>
            </a:r>
          </a:p>
          <a:p xmlns:a="http://schemas.openxmlformats.org/drawingml/2006/main">
            <a:r>
              <a:t>Evidence:EEX-EXH-2026-0daa587f8abf6076,EEX-EXH-2024-1dc10e3b594ed9d8,EDP-26,EDP-27,EDP-28</a:t>
            </a:r>
          </a:p>
          <a:p xmlns:a="http://schemas.openxmlformats.org/drawingml/2006/main">
            <a:r>
              <a:t/>
            </a:r>
          </a:p>
          <a:p xmlns:a="http://schemas.openxmlformats.org/drawingml/2006/main">
            <a:r>
              <a:t>B10-2 イマオコーポレーション / ナットランナー治具 / W2001</a:t>
            </a:r>
          </a:p>
          <a:p xmlns:a="http://schemas.openxmlformats.org/drawingml/2006/main">
            <a:r>
              <a:t>対象:加工前にワークを治具へ固定する</a:t>
            </a:r>
          </a:p>
          <a:p xmlns:a="http://schemas.openxmlformats.org/drawingml/2006/main">
            <a:r>
              <a:t>公式要約:ナットランナーとメカ機構でワークを締結する治具。</a:t>
            </a:r>
          </a:p>
          <a:p xmlns:a="http://schemas.openxmlformats.org/drawingml/2006/main">
            <a:r>
              <a:t>年度:2024も具体治具あり。2026は種類追加を記載。</a:t>
            </a:r>
          </a:p>
          <a:p xmlns:a="http://schemas.openxmlformats.org/drawingml/2006/main">
            <a:r>
              <a:t>人・未確認:人が治具・フック等を設計選定。着座・締結異常の扱いは未確認。</a:t>
            </a:r>
          </a:p>
          <a:p xmlns:a="http://schemas.openxmlformats.org/drawingml/2006/main">
            <a:r>
              <a:t>Evidence:EOV-V025-2024-1,EOV-V025-2026-1,EDP-30,EDP-32</a:t>
            </a:r>
          </a:p>
          <a:p xmlns:a="http://schemas.openxmlformats.org/drawingml/2006/main">
            <a:r>
              <a:t/>
            </a:r>
          </a:p>
          <a:p xmlns:a="http://schemas.openxmlformats.org/drawingml/2006/main">
            <a:r>
              <a:t>B10-3 中村留精密工業 / RoboSync：移設後の位置復旧 / E2027</a:t>
            </a:r>
          </a:p>
          <a:p xmlns:a="http://schemas.openxmlformats.org/drawingml/2006/main">
            <a:r>
              <a:t>対象:移設したロボットの位置を復旧する</a:t>
            </a:r>
          </a:p>
          <a:p xmlns:a="http://schemas.openxmlformats.org/drawingml/2006/main">
            <a:r>
              <a:t>公式要約:RoboSyncは移設後にマーカーを読み相対位置を補正。</a:t>
            </a:r>
          </a:p>
          <a:p xmlns:a="http://schemas.openxmlformats.org/drawingml/2006/main">
            <a:r>
              <a:t>年度:2026は位置復旧を具体説明。同一機能の2024版は未確認。</a:t>
            </a:r>
          </a:p>
          <a:p xmlns:a="http://schemas.openxmlformats.org/drawingml/2006/main">
            <a:r>
              <a:t>人・未確認:人の移設・復旧操作を含む。未知トラブルの自律復帰とは別。</a:t>
            </a:r>
          </a:p>
          <a:p xmlns:a="http://schemas.openxmlformats.org/drawingml/2006/main">
            <a:r>
              <a:t>Evidence:EOV-V029-2024-1,EOV-V029-2026-1,EOV-W04</a:t>
            </a:r>
          </a:p>
          <a:p xmlns:a="http://schemas.openxmlformats.org/drawingml/2006/main">
            <a:r>
              <a:t/>
            </a:r>
          </a:p>
          <a:p xmlns:a="http://schemas.openxmlformats.org/drawingml/2006/main">
            <a:r>
              <a:t>B10-4 共立精機株式会社 / 全自動計測システム　HP-6040V-FA / W2025</a:t>
            </a:r>
          </a:p>
          <a:p xmlns:a="http://schemas.openxmlformats.org/drawingml/2006/main">
            <a:r>
              <a:t>対象:工具を測定・調整し、交換する段取り</a:t>
            </a:r>
          </a:p>
          <a:p xmlns:a="http://schemas.openxmlformats.org/drawingml/2006/main">
            <a:r>
              <a:t>公式要約:工具の交換、突き出し量調整、刃先測定を連続自動化し、インサート交換装置も展示。</a:t>
            </a:r>
          </a:p>
          <a:p xmlns:a="http://schemas.openxmlformats.org/drawingml/2006/main">
            <a:r>
              <a:t>年度:HP-6040V-FAによる工具段取り自動化は2024にも記載。2026は交換工程等を具体説明。</a:t>
            </a:r>
          </a:p>
          <a:p xmlns:a="http://schemas.openxmlformats.org/drawingml/2006/main">
            <a:r>
              <a:t>人・未確認:工具・チップの補給や品種設定、不良時の復旧は要確認。</a:t>
            </a:r>
          </a:p>
          <a:p xmlns:a="http://schemas.openxmlformats.org/drawingml/2006/main">
            <a:r>
              <a:t>Evidence:EEX-EXH-2026-1c8938d47b63e4bb,EEX-EXH-2024-3a9bfb48fcb6542c</a:t>
            </a:r>
          </a:p>
          <a:p xmlns:a="http://schemas.openxmlformats.org/drawingml/2006/main">
            <a:r>
              <a:t/>
            </a:r>
          </a:p>
          <a:p xmlns:a="http://schemas.openxmlformats.org/drawingml/2006/main">
            <a:r>
              <a:t>ワーク・パレット・切粉の搬送</a:t>
            </a:r>
          </a:p>
          <a:p xmlns:a="http://schemas.openxmlformats.org/drawingml/2006/main">
            <a:r>
              <a:t>B11-1 DMG森精機 / MATRIS WPH 210 / E8005</a:t>
            </a:r>
          </a:p>
          <a:p xmlns:a="http://schemas.openxmlformats.org/drawingml/2006/main">
            <a:r>
              <a:t>対象:ワークとパレットを加工機へ供給する</a:t>
            </a:r>
          </a:p>
          <a:p xmlns:a="http://schemas.openxmlformats.org/drawingml/2006/main">
            <a:r>
              <a:t>公式要約:MATRIS WPH 210がワークとパレット両方を供給。</a:t>
            </a:r>
          </a:p>
          <a:p xmlns:a="http://schemas.openxmlformats.org/drawingml/2006/main">
            <a:r>
              <a:t>年度:2024のPH Cell等に対しWPH 210を日本初公開と記載。</a:t>
            </a:r>
          </a:p>
          <a:p xmlns:a="http://schemas.openxmlformats.org/drawingml/2006/main">
            <a:r>
              <a:t>人・未確認:把持・治具・品種切替の事前準備と異常対応は未確認。</a:t>
            </a:r>
          </a:p>
          <a:p xmlns:a="http://schemas.openxmlformats.org/drawingml/2006/main">
            <a:r>
              <a:t>Evidence:EOV-V001-2024-1,EOV-V001-2026-1</a:t>
            </a:r>
          </a:p>
          <a:p xmlns:a="http://schemas.openxmlformats.org/drawingml/2006/main">
            <a:r>
              <a:t/>
            </a:r>
          </a:p>
          <a:p xmlns:a="http://schemas.openxmlformats.org/drawingml/2006/main">
            <a:r>
              <a:t>B11-2 オークマ / ARMROID／OMR20 / E3028</a:t>
            </a:r>
          </a:p>
          <a:p xmlns:a="http://schemas.openxmlformats.org/drawingml/2006/main">
            <a:r>
              <a:t>対象:加工機へのワーク搬入出を自動化する</a:t>
            </a:r>
          </a:p>
          <a:p xmlns:a="http://schemas.openxmlformats.org/drawingml/2006/main">
            <a:r>
              <a:t>公式要約:ARMROID機内ロボット、OMR20等で工作機械の自動化を構成。</a:t>
            </a:r>
          </a:p>
          <a:p xmlns:a="http://schemas.openxmlformats.org/drawingml/2006/main">
            <a:r>
              <a:t>年度:ARMROID・OMR20は2024にも掲載。2026も継続。</a:t>
            </a:r>
          </a:p>
          <a:p xmlns:a="http://schemas.openxmlformats.org/drawingml/2006/main">
            <a:r>
              <a:t>人・未確認:手動との切替と品種変更の介入範囲は未確認。</a:t>
            </a:r>
          </a:p>
          <a:p xmlns:a="http://schemas.openxmlformats.org/drawingml/2006/main">
            <a:r>
              <a:t>Evidence:EOV-V003-2024-1,EOV-V003-2026-1</a:t>
            </a:r>
          </a:p>
          <a:p xmlns:a="http://schemas.openxmlformats.org/drawingml/2006/main">
            <a:r>
              <a:t/>
            </a:r>
          </a:p>
          <a:p xmlns:a="http://schemas.openxmlformats.org/drawingml/2006/main">
            <a:r>
              <a:t>B11-3 株式会社白山機工 / AMRによる切り屑自動回収 / E2007</a:t>
            </a:r>
          </a:p>
          <a:p xmlns:a="http://schemas.openxmlformats.org/drawingml/2006/main">
            <a:r>
              <a:t>対象:加工機から出る切粉容器を回収する</a:t>
            </a:r>
          </a:p>
          <a:p xmlns:a="http://schemas.openxmlformats.org/drawingml/2006/main">
            <a:r>
              <a:t>公式要約:AMRで切粉容器を回収。実演と模型を併記。</a:t>
            </a:r>
          </a:p>
          <a:p xmlns:a="http://schemas.openxmlformats.org/drawingml/2006/main">
            <a:r>
              <a:t>年度:2024のろ過・集中処理から、2026はAMR回収を追加記載。</a:t>
            </a:r>
          </a:p>
          <a:p xmlns:a="http://schemas.openxmlformats.org/drawingml/2006/main">
            <a:r>
              <a:t>人・未確認:満杯・こぼれ・ドッキング失敗・容器交換の対応は未確認。</a:t>
            </a:r>
          </a:p>
          <a:p xmlns:a="http://schemas.openxmlformats.org/drawingml/2006/main">
            <a:r>
              <a:t>Evidence:EEX-EXH-2026-d8a50e23a9101b11,EEX-EXH-2024-89cb7807f64be75b,EDP-29</a:t>
            </a:r>
          </a:p>
          <a:p xmlns:a="http://schemas.openxmlformats.org/drawingml/2006/main">
            <a:r>
              <a:t/>
            </a:r>
          </a:p>
          <a:p xmlns:a="http://schemas.openxmlformats.org/drawingml/2006/main">
            <a:r>
              <a:t>認識を伴うピック・付帯加工・除去</a:t>
            </a:r>
          </a:p>
          <a:p xmlns:a="http://schemas.openxmlformats.org/drawingml/2006/main">
            <a:r>
              <a:t>B12-1 TAKISAWA / TR-20W：主軸の切粉除去 / E3013</a:t>
            </a:r>
          </a:p>
          <a:p xmlns:a="http://schemas.openxmlformats.org/drawingml/2006/main">
            <a:r>
              <a:t>対象:主軸に絡まった切粉を取り除く</a:t>
            </a:r>
          </a:p>
          <a:p xmlns:a="http://schemas.openxmlformats.org/drawingml/2006/main">
            <a:r>
              <a:t>公式要約:TAKISAWAは切粉の絡まりを判断し主軸の切粉を除去する参考出品。</a:t>
            </a:r>
          </a:p>
          <a:p xmlns:a="http://schemas.openxmlformats.org/drawingml/2006/main">
            <a:r>
              <a:t>年度:2024 TR-20Wは搬入出。2026は切粉除去を追加記載。</a:t>
            </a:r>
          </a:p>
          <a:p xmlns:a="http://schemas.openxmlformats.org/drawingml/2006/main">
            <a:r>
              <a:t>人・未確認:許可動作、除去失敗の検出・再試行・人への引継ぎは未確認。</a:t>
            </a:r>
          </a:p>
          <a:p xmlns:a="http://schemas.openxmlformats.org/drawingml/2006/main">
            <a:r>
              <a:t>Evidence:EOV-V030-2024-1,EOV-V030-2026-1,EAT-N01,EAT-N02,ERF-13</a:t>
            </a:r>
          </a:p>
          <a:p xmlns:a="http://schemas.openxmlformats.org/drawingml/2006/main">
            <a:r>
              <a:t/>
            </a:r>
          </a:p>
          <a:p xmlns:a="http://schemas.openxmlformats.org/drawingml/2006/main">
            <a:r>
              <a:t>B12-2 カネテック株式会社 / マグネットピンセット：AI・2Dカメラ・協働ロボット / W2013</a:t>
            </a:r>
          </a:p>
          <a:p xmlns:a="http://schemas.openxmlformats.org/drawingml/2006/main">
            <a:r>
              <a:t>対象:ばら積みの小径ねじ・小部品を拾う</a:t>
            </a:r>
          </a:p>
          <a:p xmlns:a="http://schemas.openxmlformats.org/drawingml/2006/main">
            <a:r>
              <a:t>公式要約:カメラ・協働ロボット・磁気ピンセットで小径ねじ等をピック。</a:t>
            </a:r>
          </a:p>
          <a:p xmlns:a="http://schemas.openxmlformats.org/drawingml/2006/main">
            <a:r>
              <a:t>年度:同種構成は2024あり。2026はAIを明記、性能増分は不明。</a:t>
            </a:r>
          </a:p>
          <a:p xmlns:a="http://schemas.openxmlformats.org/drawingml/2006/main">
            <a:r>
              <a:t>人・未確認:複数個吸着・空振り等の処理、AI担当の詳細は未公開。</a:t>
            </a:r>
          </a:p>
          <a:p xmlns:a="http://schemas.openxmlformats.org/drawingml/2006/main">
            <a:r>
              <a:t>Evidence:EEX-EXH-2026-30b70a74241de123,EEX-EXH-2024-45415d070f47dc6e,EDP-01</a:t>
            </a:r>
          </a:p>
          <a:p xmlns:a="http://schemas.openxmlformats.org/drawingml/2006/main">
            <a:r>
              <a:t/>
            </a:r>
          </a:p>
          <a:p xmlns:a="http://schemas.openxmlformats.org/drawingml/2006/main">
            <a:r>
              <a:t>B12-3 東京エレクトロンデバイス株式会社 / 3D形状認識・教示不要の面取り／皿もみ / E7073</a:t>
            </a:r>
          </a:p>
          <a:p xmlns:a="http://schemas.openxmlformats.org/drawingml/2006/main">
            <a:r>
              <a:t>対象:不定形ワークの面取り・皿もみを行う</a:t>
            </a:r>
          </a:p>
          <a:p xmlns:a="http://schemas.openxmlformats.org/drawingml/2006/main">
            <a:r>
              <a:t>公式要約:3Dスキャンから不定形ワークを認識し面取り等の軌道を生成。</a:t>
            </a:r>
          </a:p>
          <a:p xmlns:a="http://schemas.openxmlformats.org/drawingml/2006/main">
            <a:r>
              <a:t>年度:2024同名比較不能。2026の具体タスクは確認。</a:t>
            </a:r>
          </a:p>
          <a:p xmlns:a="http://schemas.openxmlformats.org/drawingml/2006/main">
            <a:r>
              <a:t>人・未確認:加工条件設定、干渉確認、誤認識時の停止・品質承認は未公開。</a:t>
            </a:r>
          </a:p>
          <a:p xmlns:a="http://schemas.openxmlformats.org/drawingml/2006/main">
            <a:r>
              <a:t>Evidence:EEX-EXH-2026-8c08de1ffed47316,EEX-WTED</a:t>
            </a:r>
          </a:p>
          <a:p xmlns:a="http://schemas.openxmlformats.org/drawingml/2006/main">
            <a:r>
              <a:t/>
            </a:r>
          </a:p>
          <a:p xmlns:a="http://schemas.openxmlformats.org/drawingml/2006/main">
            <a:r>
              <a:t>B12-4 株式会社ジーベックテクノロジー / XEBEC CPS オートホルダー / WA006</a:t>
            </a:r>
          </a:p>
          <a:p xmlns:a="http://schemas.openxmlformats.org/drawingml/2006/main">
            <a:r>
              <a:t>対象:バリ取り中のブラシ摩耗を補う</a:t>
            </a:r>
          </a:p>
          <a:p xmlns:a="http://schemas.openxmlformats.org/drawingml/2006/main">
            <a:r>
              <a:t>公式要約:ブラシ摩耗に応じて突出し量を自動調整するホルダーを、ロボットのギヤバリ取りに組み合わせる。</a:t>
            </a:r>
          </a:p>
          <a:p xmlns:a="http://schemas.openxmlformats.org/drawingml/2006/main">
            <a:r>
              <a:t>年度:2024はバリ取り自動化工具を紹介。2026は摩耗に伴う人の調整を減らす構成を具体記載。</a:t>
            </a:r>
          </a:p>
          <a:p xmlns:a="http://schemas.openxmlformats.org/drawingml/2006/main">
            <a:r>
              <a:t>人・未確認:加工条件・ブラシ選定と、不良時の調整は要確認。</a:t>
            </a:r>
          </a:p>
          <a:p xmlns:a="http://schemas.openxmlformats.org/drawingml/2006/main">
            <a:r>
              <a:t>Evidence:EEX-EXH-2026-ba283a239e52d644,EEX-EXH-2024-1632c66ef4d28e78</a:t>
            </a:r>
          </a:p>
          <a:p xmlns:a="http://schemas.openxmlformats.org/drawingml/2006/main">
            <a:r>
              <a:t/>
            </a:r>
          </a:p>
          <a:p xmlns:a="http://schemas.openxmlformats.org/drawingml/2006/main">
            <a:r>
              <a:t>展示段階と自律化の境界</a:t>
            </a:r>
          </a:p>
          <a:p xmlns:a="http://schemas.openxmlformats.org/drawingml/2006/main">
            <a:r>
              <a:t>B17-1 ファナック / 生成AIによるロボット駆動 / S2001</a:t>
            </a:r>
          </a:p>
          <a:p xmlns:a="http://schemas.openxmlformats.org/drawingml/2006/main">
            <a:r>
              <a:t>対象:指示からロボットを動かす（具体作業未公表）</a:t>
            </a:r>
          </a:p>
          <a:p xmlns:a="http://schemas.openxmlformats.org/drawingml/2006/main">
            <a:r>
              <a:t>公式要約:ファナックは生成AIによるロボット駆動事例を展示予定。</a:t>
            </a:r>
          </a:p>
          <a:p xmlns:a="http://schemas.openxmlformats.org/drawingml/2006/main">
            <a:r>
              <a:t>年度:2024はAIバラ積み等。2026は生成AI駆動を追加記載。</a:t>
            </a:r>
          </a:p>
          <a:p xmlns:a="http://schemas.openxmlformats.org/drawingml/2006/main">
            <a:r>
              <a:t>人・未確認:機体・対象タスク・教示・停止・承認の具体範囲は未確認。</a:t>
            </a:r>
          </a:p>
          <a:p xmlns:a="http://schemas.openxmlformats.org/drawingml/2006/main">
            <a:r>
              <a:t>Evidence:EOV-V002-2024-1,EOV-V002-2026-1</a:t>
            </a:r>
          </a:p>
          <a:p xmlns:a="http://schemas.openxmlformats.org/drawingml/2006/main">
            <a:r>
              <a:t/>
            </a:r>
          </a:p>
          <a:p xmlns:a="http://schemas.openxmlformats.org/drawingml/2006/main">
            <a:r>
              <a:t>B17-2 東京貿易テクノシステム / RBY Series 双腕移動ヒューマノイド / E7038</a:t>
            </a:r>
          </a:p>
          <a:p xmlns:a="http://schemas.openxmlformats.org/drawingml/2006/main">
            <a:r>
              <a:t>対象:双腕人型ロボットを遠隔操作・教示する</a:t>
            </a:r>
          </a:p>
          <a:p xmlns:a="http://schemas.openxmlformats.org/drawingml/2006/main">
            <a:r>
              <a:t>公式要約:RBY双腕移動ヒューマノイドはテレオペと作業教示の参考出展。</a:t>
            </a:r>
          </a:p>
          <a:p xmlns:a="http://schemas.openxmlformats.org/drawingml/2006/main">
            <a:r>
              <a:t>年度:2024の個別差は未照合。</a:t>
            </a:r>
          </a:p>
          <a:p xmlns:a="http://schemas.openxmlformats.org/drawingml/2006/main">
            <a:r>
              <a:t>人・未確認:人が遠隔操作・教示。自律作業の範囲は未確認。</a:t>
            </a:r>
          </a:p>
          <a:p xmlns:a="http://schemas.openxmlformats.org/drawingml/2006/main">
            <a:r>
              <a:t>Evidence:RPT-EXH-2026-d7b599b5d3045611,RPT-EXH-2024-5cbad6b0326d2bee</a:t>
            </a:r>
          </a:p>
          <a:p xmlns:a="http://schemas.openxmlformats.org/drawingml/2006/main">
            <a:r>
              <a:t/>
            </a:r>
          </a:p>
          <a:p xmlns:a="http://schemas.openxmlformats.org/drawingml/2006/main">
            <a:r>
              <a:t>B17-3 神崎高級工機 / FD100 ギヤチェッカー / E1071</a:t>
            </a:r>
          </a:p>
          <a:p xmlns:a="http://schemas.openxmlformats.org/drawingml/2006/main">
            <a:r>
              <a:t>対象:歯車の加工前状態を測り段取りを助ける</a:t>
            </a:r>
          </a:p>
          <a:p xmlns:a="http://schemas.openxmlformats.org/drawingml/2006/main">
            <a:r>
              <a:t>公式要約:FD100に歯合わせ・前加工計測。計測による条件最適化は開発中。</a:t>
            </a:r>
          </a:p>
          <a:p xmlns:a="http://schemas.openxmlformats.org/drawingml/2006/main">
            <a:r>
              <a:t>年度:2024の構造改善等に対し段取りを具体化。開発中を実用済みとしない。</a:t>
            </a:r>
          </a:p>
          <a:p xmlns:a="http://schemas.openxmlformats.org/drawingml/2006/main">
            <a:r>
              <a:t>人・未確認:最適化方式と人の承認、自動反映範囲は未公表。</a:t>
            </a:r>
          </a:p>
          <a:p xmlns:a="http://schemas.openxmlformats.org/drawingml/2006/main">
            <a:r>
              <a:t>Evidence:RPT-EXH-2026-91aa8dd094a4a7b2,RPT-EXH-2024-50a402f6bcce2ab8</a:t>
            </a:r>
          </a:p>
          <a:p xmlns:a="http://schemas.openxmlformats.org/drawingml/2006/main">
            <a:r>
              <a:t/>
            </a:r>
          </a:p>
          <a:p xmlns:a="http://schemas.openxmlformats.org/drawingml/2006/main">
            <a:r>
              <a:t>原典</a:t>
            </a:r>
          </a:p>
          <a:p xmlns:a="http://schemas.openxmlformats.org/drawingml/2006/main">
            <a:r>
              <a:t>EOV-V007-2026-2 JIMTOF2026公式カタログ：Hexagon Manufacturing Intelligence株式会社 (E2013)</a:t>
            </a:r>
          </a:p>
          <a:p xmlns:a="http://schemas.openxmlformats.org/drawingml/2006/main">
            <a:r>
              <a:t>https://www.jimtof.org/search/jp/ESdetails?e=6l20Qo0pjl4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EOV-W02 ESPRIT EDGE Release Highlights</a:t>
            </a:r>
          </a:p>
          <a:p xmlns:a="http://schemas.openxmlformats.org/drawingml/2006/main">
            <a:r>
              <a:t>https://hexagon.com/products/esprit-edge/release-highlights</a:t>
            </a:r>
          </a:p>
          <a:p xmlns:a="http://schemas.openxmlformats.org/drawingml/2006/main">
            <a:r>
              <a:t>該当箇所:2025.2 PROPLANAI、2026.1 ProPlanAI for Turning, Mill-Turn &amp; Swiss</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展示:メーカーの提供状況。対象機種や契約、顧客実績は未確認</a:t>
            </a:r>
          </a:p>
          <a:p xmlns:a="http://schemas.openxmlformats.org/drawingml/2006/main">
            <a:r>
              <a:t/>
            </a:r>
          </a:p>
          <a:p xmlns:a="http://schemas.openxmlformats.org/drawingml/2006/main">
            <a:r>
              <a:t>EOV-V008-2024-1 JIMTOF2024公式カタログ：ジェービーエムエンジニアリング株式会社 (E5028)</a:t>
            </a:r>
          </a:p>
          <a:p xmlns:a="http://schemas.openxmlformats.org/drawingml/2006/main">
            <a:r>
              <a:t>https://www.jimtof.org/2024/search/jp/ESdetails?e=G-8gydwhMvE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EOV-V008-2024-2 JIMTOF2024公式カタログ：ジェービーエムエンジニアリング株式会社 (AM111)</a:t>
            </a:r>
          </a:p>
          <a:p xmlns:a="http://schemas.openxmlformats.org/drawingml/2006/main">
            <a:r>
              <a:t>https://www.jimtof.org/2024/search/jp/ESdetails?e=ZBxZW2vyjUw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EOV-V008-2026-1 JIMTOF2026公式カタログ：ジェービーエムエンジニアリング株式会社 (E2002)</a:t>
            </a:r>
          </a:p>
          <a:p xmlns:a="http://schemas.openxmlformats.org/drawingml/2006/main">
            <a:r>
              <a:t>https://www.jimtof.org/search/jp/ESdetails?e=VrAjMTKmxdw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EDP-09 Mastercam向けCAM Assist</a:t>
            </a:r>
          </a:p>
          <a:p xmlns:a="http://schemas.openxmlformats.org/drawingml/2006/main">
            <a:r>
              <a:t>https://www.cloudnc.com/ja/mastercam</a:t>
            </a:r>
          </a:p>
          <a:p xmlns:a="http://schemas.openxmlformats.org/drawingml/2006/main">
            <a:r>
              <a:t>該当箇所:仕組みステップ1〜4／FAQの対象加工・顧客データ学習の否定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EDP-10 Mastercam向けCAM Assist提供開始</a:t>
            </a:r>
          </a:p>
          <a:p xmlns:a="http://schemas.openxmlformats.org/drawingml/2006/main">
            <a:r>
              <a:t>https://www.cloudnc.com/news-room/cam-assist-the-first-ai-plug-in-for-cam-is-now-available-for-mastercam</a:t>
            </a:r>
          </a:p>
          <a:p xmlns:a="http://schemas.openxmlformats.org/drawingml/2006/main">
            <a:r>
              <a:t>該当箇所:July 25, 2024／3軸・3+2軸向け。北米販売開始の説明</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ERF-03 Mastercam CAM Assist：確認・調整と学習方針</a:t>
            </a:r>
          </a:p>
          <a:p xmlns:a="http://schemas.openxmlformats.org/drawingml/2006/main">
            <a:r>
              <a:t>https://www.cloudnc.com/ja/mastercam</a:t>
            </a:r>
          </a:p>
          <a:p xmlns:a="http://schemas.openxmlformats.org/drawingml/2006/main">
            <a:r>
              <a:t>該当箇所:仕組みStep 2–4／FAQ：顧客データで学習しない、加工性評価、編集可能CAM</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EEX-EXH-2026-0436fc7b61f51a8e JIMTOF2026公式出展説明：タクテックス株式会社 (S1016)</a:t>
            </a:r>
          </a:p>
          <a:p xmlns:a="http://schemas.openxmlformats.org/drawingml/2006/main">
            <a:r>
              <a:t>https://www.jimtof.org/search/jp/ESdetails?e=2TVzwvOqLxI</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EEX-EXH-2024-eb84f3b7fa9cf6db JIMTOF2024公式出展説明：タクテックス株式会社 (E5030)</a:t>
            </a:r>
          </a:p>
          <a:p xmlns:a="http://schemas.openxmlformats.org/drawingml/2006/main">
            <a:r>
              <a:t>https://www.jimtof.org/2024/search/jp/ESdetails?e=p_i9WuUhNRg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EDP-07 SolidCAM向けCAM Assist</a:t>
            </a:r>
          </a:p>
          <a:p xmlns:a="http://schemas.openxmlformats.org/drawingml/2006/main">
            <a:r>
              <a:t>https://www.cloudnc.com/ja/solidcam</a:t>
            </a:r>
          </a:p>
          <a:p xmlns:a="http://schemas.openxmlformats.org/drawingml/2006/main">
            <a:r>
              <a:t>該当箇所:仕組みステップ1〜4／FAQの対象加工・通信・戦略生成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EDP-08 CloudNC CAM Assist公式ヘルプ</a:t>
            </a:r>
          </a:p>
          <a:p xmlns:a="http://schemas.openxmlformats.org/drawingml/2006/main">
            <a:r>
              <a:t>https://help.solidcam.com/topics/solutions/cloudnc-cam-assist.htm</a:t>
            </a:r>
          </a:p>
          <a:p xmlns:a="http://schemas.openxmlformats.org/drawingml/2006/main">
            <a:r>
              <a:t>該当箇所:形状・工具・材種・段取りの入力／プログラマーの修正・検証・NC出力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ERF-04 CAM Assistの生成後の編集・検証</a:t>
            </a:r>
          </a:p>
          <a:p xmlns:a="http://schemas.openxmlformats.org/drawingml/2006/main">
            <a:r>
              <a:t>https://help.solidcam.com/topics/solutions/cloudnc-cam-assist.htm</a:t>
            </a:r>
          </a:p>
          <a:p xmlns:a="http://schemas.openxmlformats.org/drawingml/2006/main">
            <a:r>
              <a:t>該当箇所:L11–19／プログラマーがreview・refine、既存のsimulation・verification・NC生成</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EOV-V009-2024-1 JIMTOF2024公式カタログ：株式会社CGTech (E5042)</a:t>
            </a:r>
          </a:p>
          <a:p xmlns:a="http://schemas.openxmlformats.org/drawingml/2006/main">
            <a:r>
              <a:t>https://www.jimtof.org/2024/search/jp/ESdetails?e=AxDUk3YbQDI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EOV-V009-2026-1 JIMTOF2026公式カタログ：株式会社CGTech (S3014)</a:t>
            </a:r>
          </a:p>
          <a:p xmlns:a="http://schemas.openxmlformats.org/drawingml/2006/main">
            <a:r>
              <a:t>https://www.jimtof.org/search/jp/ESdetails?e=41U8xW4UkcM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RPT-S04 Vericut Force FAQ</a:t>
            </a:r>
          </a:p>
          <a:p xmlns:a="http://schemas.openxmlformats.org/drawingml/2006/main">
            <a:r>
              <a:t>https://archive.vericut.com/force-faq/</a:t>
            </a:r>
          </a:p>
          <a:p xmlns:a="http://schemas.openxmlformats.org/drawingml/2006/main">
            <a:r>
              <a:t>該当箇所:Force physics-based optimization</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RPT-EXH-2026-3f24aaee60d77db1 Third Wave Systems Japan合同会社 JIMTOF2026</a:t>
            </a:r>
          </a:p>
          <a:p xmlns:a="http://schemas.openxmlformats.org/drawingml/2006/main">
            <a:r>
              <a:t>https://www.jimtof.org/search/jp/ESdetails?e=L43LSAjxuyc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RPT-S05 Production Module v8.2 release</a:t>
            </a:r>
          </a:p>
          <a:p xmlns:a="http://schemas.openxmlformats.org/drawingml/2006/main">
            <a:r>
              <a:t>https://thirdwavesys.com/latest-news/production-module-v8-2-release/</a:t>
            </a:r>
          </a:p>
          <a:p xmlns:a="http://schemas.openxmlformats.org/drawingml/2006/main">
            <a:r>
              <a:t>該当箇所:工具たわみ・entry/exit feedrate constraints</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RPT-EXH-2026-107042c6cf64ba96 西部商工株式会社 JIMTOF2026</a:t>
            </a:r>
          </a:p>
          <a:p xmlns:a="http://schemas.openxmlformats.org/drawingml/2006/main">
            <a:r>
              <a:t>https://www.jimtof.org/search/jp/ESdetails?e=OC6R-wdDduM</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RPT-EXH-2024-151b23d9e05ccb13 西部商工株式会社 JIMTOF2024</a:t>
            </a:r>
          </a:p>
          <a:p xmlns:a="http://schemas.openxmlformats.org/drawingml/2006/main">
            <a:r>
              <a:t>https://www.jimtof.org/2024/search/jp/ESdetails?e=YRTw8XJWi9g</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EAT-N03 CoAgent for Engineering TE1700</a:t>
            </a:r>
          </a:p>
          <a:p xmlns:a="http://schemas.openxmlformats.org/drawingml/2006/main">
            <a:r>
              <a:t>https://www.beckhoff.com/ko-kr/products/automation/twincat/texxxx-twincat-3-engineering/te1700.html</a:t>
            </a:r>
          </a:p>
          <a:p xmlns:a="http://schemas.openxmlformats.org/drawingml/2006/main">
            <a:r>
              <a:t>該当箇所:Features／Product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ERF-01 From chatbot to intelligent agent</a:t>
            </a:r>
          </a:p>
          <a:p xmlns:a="http://schemas.openxmlformats.org/drawingml/2006/main">
            <a:r>
              <a:t>https://www.beckhoff.com/en-gb/company/news/from-chatbot-to-intelligent-agent.html</a:t>
            </a:r>
          </a:p>
          <a:p xmlns:a="http://schemas.openxmlformats.org/drawingml/2006/main">
            <a:r>
              <a:t>該当箇所:2025/6/13／Placing people at the heart of automation；PLC・I/O・HMI、専門家がreview・confirm・approve</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EOV-V006-2024-1 JIMTOF2024公式カタログ：EPLAN株式会社 (E2033)</a:t>
            </a:r>
          </a:p>
          <a:p xmlns:a="http://schemas.openxmlformats.org/drawingml/2006/main">
            <a:r>
              <a:t>https://www.jimtof.org/2024/search/jp/ESdetails?e=50efK4rQsHs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EOV-V006-2026-1 JIMTOF2026公式カタログ：EPLAN株式会社 (S1067)</a:t>
            </a:r>
          </a:p>
          <a:p xmlns:a="http://schemas.openxmlformats.org/drawingml/2006/main">
            <a:r>
              <a:t>https://www.jimtof.org/search/jp/ESdetails?e=FHsQAvmFusY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EAT-N06 Eplan Copilot</a:t>
            </a:r>
          </a:p>
          <a:p xmlns:a="http://schemas.openxmlformats.org/drawingml/2006/main">
            <a:r>
              <a:t>https://www.eplan.com/us-en/about-us/innovations/eplan-copilot/</a:t>
            </a:r>
          </a:p>
          <a:p xmlns:a="http://schemas.openxmlformats.org/drawingml/2006/main">
            <a:r>
              <a:t>該当箇所:Based on a described task／Looking ahead／conceptual phase</a:t>
            </a:r>
          </a:p>
          <a:p xmlns:a="http://schemas.openxmlformats.org/drawingml/2006/main">
            <a:r>
              <a:t>確認:2026-10-16</a:t>
            </a:r>
          </a:p>
          <a:p xmlns:a="http://schemas.openxmlformats.org/drawingml/2006/main">
            <a:r>
              <a:t>種類:企業公式説明・メーカー主張</a:t>
            </a:r>
          </a:p>
          <a:p xmlns:a="http://schemas.openxmlformats.org/drawingml/2006/main">
            <a:r>
              <a:t>展示:現行支援と将来構想を分離</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RPT-S02 オークマ サーモフレンドリーコンセプト</a:t>
            </a:r>
          </a:p>
          <a:p xmlns:a="http://schemas.openxmlformats.org/drawingml/2006/main">
            <a:r>
              <a:t>https://www.okuma.co.jp/thermo-aniv/</a:t>
            </a:r>
          </a:p>
          <a:p xmlns:a="http://schemas.openxmlformats.org/drawingml/2006/main">
            <a:r>
              <a:t>該当箇所:サーモフレンドリーコンセプトの説明・沿革</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RPT-S03 Mazak Accuracy / Ai Thermal Shield</a:t>
            </a:r>
          </a:p>
          <a:p xmlns:a="http://schemas.openxmlformats.org/drawingml/2006/main">
            <a:r>
              <a:t>https://www.mazak.com/uk-en/technology/accuracy/</a:t>
            </a:r>
          </a:p>
          <a:p xmlns:a="http://schemas.openxmlformats.org/drawingml/2006/main">
            <a:r>
              <a:t>該当箇所:Ai Thermal Shield／Smooth Thermal Shield</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EOV-V004-2024-1 JIMTOF2024公式カタログ：ヤマザキマザック株式会社 (E5001)</a:t>
            </a:r>
          </a:p>
          <a:p xmlns:a="http://schemas.openxmlformats.org/drawingml/2006/main">
            <a:r>
              <a:t>https://www.jimtof.org/2024/search/jp/ESdetails?e=q0OrZBKM3uQ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EOV-V004-2026-1 JIMTOF2026公式カタログ：ヤマザキマザック株式会社 (E1001)</a:t>
            </a:r>
          </a:p>
          <a:p xmlns:a="http://schemas.openxmlformats.org/drawingml/2006/main">
            <a:r>
              <a:t>https://www.jimtof.org/search/jp/ESdetails?e=PJEgqNYlWes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EAT-N08 JIMTOF2026 Machines &amp; Automation Systems</a:t>
            </a:r>
          </a:p>
          <a:p xmlns:a="http://schemas.openxmlformats.org/drawingml/2006/main">
            <a:r>
              <a:t>https://www.mazak.com/jp-en/news-media/upcoming-events/jimtof2026/</a:t>
            </a:r>
          </a:p>
          <a:p xmlns:a="http://schemas.openxmlformats.org/drawingml/2006/main">
            <a:r>
              <a:t>該当箇所:Machines &amp; Automation Systems／Automation Systems</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展示:2026展示予定。AI機能の方式説明はない</a:t>
            </a:r>
          </a:p>
          <a:p xmlns:a="http://schemas.openxmlformats.org/drawingml/2006/main">
            <a:r>
              <a:t/>
            </a:r>
          </a:p>
          <a:p xmlns:a="http://schemas.openxmlformats.org/drawingml/2006/main">
            <a:r>
              <a:t>RPT-S01 オークマ 加工ナビ</a:t>
            </a:r>
          </a:p>
          <a:p xmlns:a="http://schemas.openxmlformats.org/drawingml/2006/main">
            <a:r>
              <a:t>https://www.okuma.co.jp/solution_technology/process/</a:t>
            </a:r>
          </a:p>
          <a:p xmlns:a="http://schemas.openxmlformats.org/drawingml/2006/main">
            <a:r>
              <a:t>該当箇所:加工ナビ M-i／M-gⅡ</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EOV-V018-2024-1 JIMTOF2024公式カタログ：レニショー株式会社 (E7026)</a:t>
            </a:r>
          </a:p>
          <a:p xmlns:a="http://schemas.openxmlformats.org/drawingml/2006/main">
            <a:r>
              <a:t>https://www.jimtof.org/2024/search/jp/ESdetails?e=ekM3exgIAtc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EOV-V018-2026-1 JIMTOF2026公式カタログ：レニショー株式会社 (E7089)</a:t>
            </a:r>
          </a:p>
          <a:p xmlns:a="http://schemas.openxmlformats.org/drawingml/2006/main">
            <a:r>
              <a:t>https://www.jimtof.org/search/jp/ESdetails?e=pYGmVz5GC1c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EOV-W03 Renishaw Central データプラットフォーム</a:t>
            </a:r>
          </a:p>
          <a:p xmlns:a="http://schemas.openxmlformats.org/drawingml/2006/main">
            <a:r>
              <a:t>https://www.renishaw.com/jp/smart-manufacturing-data-platform-for-industrial-process-control--47853</a:t>
            </a:r>
          </a:p>
          <a:p xmlns:a="http://schemas.openxmlformats.org/drawingml/2006/main">
            <a:r>
              <a:t>該当箇所:メカニズム、現場でのクローズドループ、導入効果</a:t>
            </a:r>
          </a:p>
          <a:p xmlns:a="http://schemas.openxmlformats.org/drawingml/2006/main">
            <a:r>
              <a:t>確認:2026-10-16</a:t>
            </a:r>
          </a:p>
          <a:p xmlns:a="http://schemas.openxmlformats.org/drawingml/2006/main">
            <a:r>
              <a:t>種類:企業公式資料・メーカー主張</a:t>
            </a:r>
          </a:p>
          <a:p xmlns:a="http://schemas.openxmlformats.org/drawingml/2006/main">
            <a:r>
              <a:t>展示:2024にも展示掲載済み。既存方式の実装例であり2026新規とはしない</a:t>
            </a:r>
          </a:p>
          <a:p xmlns:a="http://schemas.openxmlformats.org/drawingml/2006/main">
            <a:r>
              <a:t/>
            </a:r>
          </a:p>
          <a:p xmlns:a="http://schemas.openxmlformats.org/drawingml/2006/main">
            <a:r>
              <a:t>EOV-V034-2024-1 JIMTOF2024公式カタログ：Wintech Automation Co., Ltd. (E7025)</a:t>
            </a:r>
          </a:p>
          <a:p xmlns:a="http://schemas.openxmlformats.org/drawingml/2006/main">
            <a:r>
              <a:t>https://www.jimtof.org/2024/search/jp/ESdetails?e=-09Q4AWJx1E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EOV-V034-2026-1 JIMTOF2026公式カタログ：Wintech Automation Co., Ltd (W3051)</a:t>
            </a:r>
          </a:p>
          <a:p xmlns:a="http://schemas.openxmlformats.org/drawingml/2006/main">
            <a:r>
              <a:t>https://www.jimtof.org/search/jp/ESdetails?e=lMk3zNvQJbg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EEX-EXH-2026-a0cbad27ea34d7c4 JIMTOF2026公式出展説明：株式会社サイバーRC (E7074)</a:t>
            </a:r>
          </a:p>
          <a:p xmlns:a="http://schemas.openxmlformats.org/drawingml/2006/main">
            <a:r>
              <a:t>https://www.jimtof.org/search/jp/ESdetails?e=8ealehgmk8o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EEX-EXH-2024-76ac534a229f7c29 JIMTOF2024公式出展説明：株式会社サイバーRC (W3046)</a:t>
            </a:r>
          </a:p>
          <a:p xmlns:a="http://schemas.openxmlformats.org/drawingml/2006/main">
            <a:r>
              <a:t>https://www.jimtof.org/2024/search/jp/ESdetails?e=wk2AEX5rHpw</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EDP-02 GH5総合カタログ</a:t>
            </a:r>
          </a:p>
          <a:p xmlns:a="http://schemas.openxmlformats.org/drawingml/2006/main">
            <a:r>
              <a:t>https://cyber-rc.com/wp-content/uploads/2025/10/%E7%B7%8F%E5%90%88%E3%82%AB%E3%82%BF%E3%83%AD%E3%82%B0420-x-297-mm%E6%A8%AA%E4%B8%A6%E3%81%B3-.pdf</a:t>
            </a:r>
          </a:p>
          <a:p xmlns:a="http://schemas.openxmlformats.org/drawingml/2006/main">
            <a:r>
              <a:t>該当箇所:GRISTAR HONING 5 AXIS／幅・角度設定、Robot Eye、自動調整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EOV-V021-2026-1 JIMTOF2026公式カタログ：株式会社ＨＡＣＡＲＵＳ (S1031)</a:t>
            </a:r>
          </a:p>
          <a:p xmlns:a="http://schemas.openxmlformats.org/drawingml/2006/main">
            <a:r>
              <a:t>https://www.jimtof.org/search/jp/ESdetails?e=oatArsOZ-Wc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EOV-W06 AI外観検査ソリューション HACARUS Check</a:t>
            </a:r>
          </a:p>
          <a:p xmlns:a="http://schemas.openxmlformats.org/drawingml/2006/main">
            <a:r>
              <a:t>https://hacarus.com/ja/technology/hacarus-check-series/</a:t>
            </a:r>
          </a:p>
          <a:p xmlns:a="http://schemas.openxmlformats.org/drawingml/2006/main">
            <a:r>
              <a:t>該当箇所:2026.04.06本文</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展示:メーカー製品説明。独立評価の精度ではない</a:t>
            </a:r>
          </a:p>
          <a:p xmlns:a="http://schemas.openxmlformats.org/drawingml/2006/main">
            <a:r>
              <a:t/>
            </a:r>
          </a:p>
          <a:p xmlns:a="http://schemas.openxmlformats.org/drawingml/2006/main">
            <a:r>
              <a:t>EDP-14 Check ZERO正式販売開始</a:t>
            </a:r>
          </a:p>
          <a:p xmlns:a="http://schemas.openxmlformats.org/drawingml/2006/main">
            <a:r>
              <a:t>https://hacarus.com/ja/press-release/20250707-news/</a:t>
            </a:r>
          </a:p>
          <a:p xmlns:a="http://schemas.openxmlformats.org/drawingml/2006/main">
            <a:r>
              <a:t>該当箇所:2025/7/9販売／良品学習とアノテーション追加学習／判定UI</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EDP-15 Checkシリーズ公式製品説明</a:t>
            </a:r>
          </a:p>
          <a:p xmlns:a="http://schemas.openxmlformats.org/drawingml/2006/main">
            <a:r>
              <a:t>https://check.hacarus.com/ja/</a:t>
            </a:r>
          </a:p>
          <a:p xmlns:a="http://schemas.openxmlformats.org/drawingml/2006/main">
            <a:r>
              <a:t>該当箇所:Check ZERO／デュアルチューニング／機器構成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ERF-05 Check ZERO公式ソフトウェア説明</a:t>
            </a:r>
          </a:p>
          <a:p xmlns:a="http://schemas.openxmlformats.org/drawingml/2006/main">
            <a:r>
              <a:t>https://check.hacarus.com/ja/aisoftware/</a:t>
            </a:r>
          </a:p>
          <a:p xmlns:a="http://schemas.openxmlformats.org/drawingml/2006/main">
            <a:r>
              <a:t>該当箇所:特徴／異常箇所表示・良否アノテーション追加学習</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EOV-V022-2024-1 JIMTOF2024公式カタログ：日東商事株式会社 (E5040)</a:t>
            </a:r>
          </a:p>
          <a:p xmlns:a="http://schemas.openxmlformats.org/drawingml/2006/main">
            <a:r>
              <a:t>https://www.jimtof.org/2024/search/jp/ESdetails?e=S23RMUbJOQs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EOV-V022-2026-1 JIMTOF2026公式カタログ：日東商事株式会社 (S1031)</a:t>
            </a:r>
          </a:p>
          <a:p xmlns:a="http://schemas.openxmlformats.org/drawingml/2006/main">
            <a:r>
              <a:t>https://www.jimtof.org/search/jp/ESdetails?e=GozGZRxlviw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EOV-V019-2024-1 JIMTOF2024公式カタログ：ブルーム-ノボテスト株式会社 (E7132)</a:t>
            </a:r>
          </a:p>
          <a:p xmlns:a="http://schemas.openxmlformats.org/drawingml/2006/main">
            <a:r>
              <a:t>https://www.jimtof.org/2024/search/jp/ESdetails?e=Zz8BlB0Ylio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EOV-V019-2026-1 JIMTOF2026公式カタログ：ブルーム-ノボテスト株式会社 (E7084)</a:t>
            </a:r>
          </a:p>
          <a:p xmlns:a="http://schemas.openxmlformats.org/drawingml/2006/main">
            <a:r>
              <a:t>https://www.jimtof.org/search/jp/ESdetails?e=_njqMb9vBpc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EOV-V024-2024-1 JIMTOF2024公式カタログ：モリマシナリー株式会社 (S3017)</a:t>
            </a:r>
          </a:p>
          <a:p xmlns:a="http://schemas.openxmlformats.org/drawingml/2006/main">
            <a:r>
              <a:t>https://www.jimtof.org/2024/search/jp/ESdetails?e=yEoPl5sH6Sg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EOV-V024-2026-1 JIMTOF2026公式カタログ：モリマシナリー株式会社 (S3048)</a:t>
            </a:r>
          </a:p>
          <a:p xmlns:a="http://schemas.openxmlformats.org/drawingml/2006/main">
            <a:r>
              <a:t>https://www.jimtof.org/search/jp/ESdetails?e=ZvT3Lci-hnM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EDP-12 TOOL SOMMELIER／TOOL COLLAGE</a:t>
            </a:r>
          </a:p>
          <a:p xmlns:a="http://schemas.openxmlformats.org/drawingml/2006/main">
            <a:r>
              <a:t>https://mori-machinery.com/en/product/tool-sommelier?post_id=1066</a:t>
            </a:r>
          </a:p>
          <a:p xmlns:a="http://schemas.openxmlformats.org/drawingml/2006/main">
            <a:r>
              <a:t>該当箇所:刃先撮像・欠け摩耗自動検出／FAQの工具・径制約</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EOV-V023-2024-1 JIMTOF2024公式カタログ：ハイデンハイン株式会社 (E7123)</a:t>
            </a:r>
          </a:p>
          <a:p xmlns:a="http://schemas.openxmlformats.org/drawingml/2006/main">
            <a:r>
              <a:t>https://www.jimtof.org/2024/search/jp/ESdetails?e=GFSwCXSxe9o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EOV-V023-2026-1 JIMTOF2026公式カタログ：ハイデンハイン株式会社 (E7043)</a:t>
            </a:r>
          </a:p>
          <a:p xmlns:a="http://schemas.openxmlformats.org/drawingml/2006/main">
            <a:r>
              <a:t>https://www.jimtof.org/search/jp/ESdetails?e=iohDR5yR9VA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EAT-V043-2024-1 JIMTOF2024公式カタログ：三菱電機株式会社</a:t>
            </a:r>
          </a:p>
          <a:p xmlns:a="http://schemas.openxmlformats.org/drawingml/2006/main">
            <a:r>
              <a:t>https://www.jimtof.org/2024/search/jp/ESdetails?e=30li0vWcseI</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展示:2024当時の説明・事後実演確認ではない</a:t>
            </a:r>
          </a:p>
          <a:p xmlns:a="http://schemas.openxmlformats.org/drawingml/2006/main">
            <a:r>
              <a:t/>
            </a:r>
          </a:p>
          <a:p xmlns:a="http://schemas.openxmlformats.org/drawingml/2006/main">
            <a:r>
              <a:t>EAT-V043-2026-1 JIMTOF2026公式カタログ：三菱電機株式会社</a:t>
            </a:r>
          </a:p>
          <a:p xmlns:a="http://schemas.openxmlformats.org/drawingml/2006/main">
            <a:r>
              <a:t>https://www.jimtof.org/search/jp/ESdetails?e=AjLnzm01WWU</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EOV-W08 工具の欠け・摩耗・寿命を推定するAI研究発表</a:t>
            </a:r>
          </a:p>
          <a:p xmlns:a="http://schemas.openxmlformats.org/drawingml/2006/main">
            <a:r>
              <a:t>https://mori-machinery.com/wp-content/uploads/2023/06/%E7%86%9F%E7%B7%B4%E8%80%85%E3%81%AE%E7%B5%8C%E9%A8%93%E7%9F%A5%E3%82%92%E3%82%82%E3%81%A8%E3%81%AB%E5%88%87%E5%89%8A%E5%B7%A5%E5%85%B7%E3%81%AE%E6%AC%A0%E3%81%91%E3%83%BB%E6%91%A9%E8%80%97%E3%83%BB%E5%AF%BF%E5%91%BD%E3%82%92%E6%8E%A8%E5%AE%9A%E3%81%99%E3%82%8BAI%E3%82%92%E9%96%8B%E7%99%BA.pdf</a:t>
            </a:r>
          </a:p>
          <a:p xmlns:a="http://schemas.openxmlformats.org/drawingml/2006/main">
            <a:r>
              <a:t>該当箇所:2023年6月2日、成果と今後の展望</a:t>
            </a:r>
          </a:p>
          <a:p xmlns:a="http://schemas.openxmlformats.org/drawingml/2006/main">
            <a:r>
              <a:t>確認:2026-10-16</a:t>
            </a:r>
          </a:p>
          <a:p xmlns:a="http://schemas.openxmlformats.org/drawingml/2006/main">
            <a:r>
              <a:t>種類:企業公式資料・メーカー主張</a:t>
            </a:r>
          </a:p>
          <a:p xmlns:a="http://schemas.openxmlformats.org/drawingml/2006/main">
            <a:r>
              <a:t>展示:公式検索の該当箇所で確認。研究段階の数値を商用性能に転用していない</a:t>
            </a:r>
          </a:p>
          <a:p xmlns:a="http://schemas.openxmlformats.org/drawingml/2006/main">
            <a:r>
              <a:t/>
            </a:r>
          </a:p>
          <a:p xmlns:a="http://schemas.openxmlformats.org/drawingml/2006/main">
            <a:r>
              <a:t>EOV-V042-2026-1 JIMTOF2026公式カタログ：興和オプトロニクス株式会社 (S3104)</a:t>
            </a:r>
          </a:p>
          <a:p xmlns:a="http://schemas.openxmlformats.org/drawingml/2006/main">
            <a:r>
              <a:t>https://www.jimtof.org/search/jp/ESdetails?e=v6nw4APC-vQ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EDP-33 RW回転機構付きビジョンユニット</a:t>
            </a:r>
          </a:p>
          <a:p xmlns:a="http://schemas.openxmlformats.org/drawingml/2006/main">
            <a:r>
              <a:t>https://optical.kowa-opt.co.jp/camera-rw/</a:t>
            </a:r>
          </a:p>
          <a:p xmlns:a="http://schemas.openxmlformats.org/drawingml/2006/main">
            <a:r>
              <a:t>該当箇所:ビジョンプロセッサ併用の不良ヒートマップ・切粉巻付きアラート・工具欠損検出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EOV-V020-2024-1 JIMTOF2024公式カタログ：マーポス株式会社 (E7107)</a:t>
            </a:r>
          </a:p>
          <a:p xmlns:a="http://schemas.openxmlformats.org/drawingml/2006/main">
            <a:r>
              <a:t>https://www.jimtof.org/2024/search/jp/ESdetails?e=K8FKaawJkn0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EOV-V020-2026-1 JIMTOF2026公式カタログ：マーポス株式会社 (E7087)</a:t>
            </a:r>
          </a:p>
          <a:p xmlns:a="http://schemas.openxmlformats.org/drawingml/2006/main">
            <a:r>
              <a:t>https://www.jimtof.org/search/jp/ESdetails?e=tThKOA-gm8s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EEX-EXH-2026-19ce238d137fe275 JIMTOF2026公式出展説明：Masterlink (E1050)</a:t>
            </a:r>
          </a:p>
          <a:p xmlns:a="http://schemas.openxmlformats.org/drawingml/2006/main">
            <a:r>
              <a:t>https://www.jimtof.org/search/jp/ESdetails?e=kygm0UxJL-M</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EEX-EXH-2024-a2fae1d1864676d1 JIMTOF2024公式出展説明：Masterlink (E7052)</a:t>
            </a:r>
          </a:p>
          <a:p xmlns:a="http://schemas.openxmlformats.org/drawingml/2006/main">
            <a:r>
              <a:t>https://www.jimtof.org/2024/search/jp/ESdetails?e=58-lhh4o9Oo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EEX-EXH-2026-308c5194f12fe009 JIMTOF2026公式出展説明：ムラテックＣＣＳ株式会社 (E3031)</a:t>
            </a:r>
          </a:p>
          <a:p xmlns:a="http://schemas.openxmlformats.org/drawingml/2006/main">
            <a:r>
              <a:t>https://www.jimtof.org/search/jp/ESdetails?e=Z_SbvK_hxBY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EEX-EXH-2024-b0a94c1cd407ea8a JIMTOF2024公式出展説明：ムラテックCCS株式会社 (E6019)</a:t>
            </a:r>
          </a:p>
          <a:p xmlns:a="http://schemas.openxmlformats.org/drawingml/2006/main">
            <a:r>
              <a:t>https://www.jimtof.org/2024/search/jp/ESdetails?e=2N7pXq5Aehs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EDP-13 AIを用いた故障診断</a:t>
            </a:r>
          </a:p>
          <a:p xmlns:a="http://schemas.openxmlformats.org/drawingml/2006/main">
            <a:r>
              <a:t>https://www.muratec.jp/company/ti/rd/detail.php?id=7540</a:t>
            </a:r>
          </a:p>
          <a:p xmlns:a="http://schemas.openxmlformats.org/drawingml/2006/main">
            <a:r>
              <a:t>該当箇所:電流・振動を新品データと比較／補正入力回数・軸負荷による劣化判定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RPT-EXH-2026-2c48cf1373cedc75 アズビルTACO株式会社 JIMTOF2026</a:t>
            </a:r>
          </a:p>
          <a:p xmlns:a="http://schemas.openxmlformats.org/drawingml/2006/main">
            <a:r>
              <a:t>https://www.jimtof.org/search/jp/ESdetails?e=x6DdroBnfSA</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RPT-EXH-2024-2caebd449015630d アズビル株式会社 JIMTOF2024</a:t>
            </a:r>
          </a:p>
          <a:p xmlns:a="http://schemas.openxmlformats.org/drawingml/2006/main">
            <a:r>
              <a:t>https://www.jimtof.org/2024/search/jp/ESdetails?e=7JiCTnsEx48</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EOV-V032-2024-1 JIMTOF2024公式カタログ：日本精工株式会社 (W2026)</a:t>
            </a:r>
          </a:p>
          <a:p xmlns:a="http://schemas.openxmlformats.org/drawingml/2006/main">
            <a:r>
              <a:t>https://www.jimtof.org/2024/search/jp/ESdetails?e=5maDHvHPff8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EOV-V032-2026-1 JIMTOF2026公式カタログ：日本精工株式会社 (W2048)</a:t>
            </a:r>
          </a:p>
          <a:p xmlns:a="http://schemas.openxmlformats.org/drawingml/2006/main">
            <a:r>
              <a:t>https://www.jimtof.org/search/jp/ESdetails?e=hzAGGAi5wL4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EEX-EXH-2026-0daa587f8abf6076 JIMTOF2026公式出展説明：松本機械工業株式会社 (W2070)</a:t>
            </a:r>
          </a:p>
          <a:p xmlns:a="http://schemas.openxmlformats.org/drawingml/2006/main">
            <a:r>
              <a:t>https://www.jimtof.org/search/jp/ESdetails?e=bhpEIIjKNb4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EEX-EXH-2024-1dc10e3b594ed9d8 JIMTOF2024公式出展説明：松本機械工業株式会社 (W2055)</a:t>
            </a:r>
          </a:p>
          <a:p xmlns:a="http://schemas.openxmlformats.org/drawingml/2006/main">
            <a:r>
              <a:t>https://www.jimtof.org/2024/search/jp/ESdetails?e=1cGhqW04Qes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EDP-26 Smart Terrace Adv</a:t>
            </a:r>
          </a:p>
          <a:p xmlns:a="http://schemas.openxmlformats.org/drawingml/2006/main">
            <a:r>
              <a:t>https://mmkchuck.com/product/7218/</a:t>
            </a:r>
          </a:p>
          <a:p xmlns:a="http://schemas.openxmlformats.org/drawingml/2006/main">
            <a:r>
              <a:t>該当箇所:7つの革新／寸法パラメータ入力・出荷時組込プログラム／レトロフィット</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EDP-27 JIMTOF2024出展報告</a:t>
            </a:r>
          </a:p>
          <a:p xmlns:a="http://schemas.openxmlformats.org/drawingml/2006/main">
            <a:r>
              <a:t>https://mmkchuck.com/news/2024/5903/</a:t>
            </a:r>
          </a:p>
          <a:p xmlns:a="http://schemas.openxmlformats.org/drawingml/2006/main">
            <a:r>
              <a:t>該当箇所:爪・ケレ・計測／展示会初披露のCAPTO・MAC</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EDP-28 Smart Terrace関連資料公開</a:t>
            </a:r>
          </a:p>
          <a:p xmlns:a="http://schemas.openxmlformats.org/drawingml/2006/main">
            <a:r>
              <a:t>https://mmkchuck.com/news/2026/7380/</a:t>
            </a:r>
          </a:p>
          <a:p xmlns:a="http://schemas.openxmlformats.org/drawingml/2006/main">
            <a:r>
              <a:t>該当箇所:Advハード単体・ストッカー単体販売への対応</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EOV-V025-2024-1 JIMTOF2024公式カタログ：株式会社イマオコーポレーション (W2002)</a:t>
            </a:r>
          </a:p>
          <a:p xmlns:a="http://schemas.openxmlformats.org/drawingml/2006/main">
            <a:r>
              <a:t>https://www.jimtof.org/2024/search/jp/ESdetails?e=MTYTZ2Km3zM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EOV-V025-2026-1 JIMTOF2026公式カタログ：株式会社イマオコーポレーション (W2001)</a:t>
            </a:r>
          </a:p>
          <a:p xmlns:a="http://schemas.openxmlformats.org/drawingml/2006/main">
            <a:r>
              <a:t>https://www.jimtof.org/search/jp/ESdetails?e=shuDpJLDn-A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EDP-30 ナットランナー治具</a:t>
            </a:r>
          </a:p>
          <a:p xmlns:a="http://schemas.openxmlformats.org/drawingml/2006/main">
            <a:r>
              <a:t>https://www.imao.co.jp/products/nutrunnerclamp.html</a:t>
            </a:r>
          </a:p>
          <a:p xmlns:a="http://schemas.openxmlformats.org/drawingml/2006/main">
            <a:r>
              <a:t>該当箇所:ロボットのナットランナーでクランプ／配管配線不要／手動も可能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EDP-32 JIMTOF2024出展パンフレット</a:t>
            </a:r>
          </a:p>
          <a:p xmlns:a="http://schemas.openxmlformats.org/drawingml/2006/main">
            <a:r>
              <a:t>https://www.imao.co.jp/event-20241105-1110-jimtof/jimtof.pdf</a:t>
            </a:r>
          </a:p>
          <a:p xmlns:a="http://schemas.openxmlformats.org/drawingml/2006/main">
            <a:r>
              <a:t>該当箇所:ナットランナー治具各型式／人でもロボットでも操作可能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EOV-V029-2024-1 JIMTOF2024公式カタログ：中村留精密工業株式会社 (E5033)</a:t>
            </a:r>
          </a:p>
          <a:p xmlns:a="http://schemas.openxmlformats.org/drawingml/2006/main">
            <a:r>
              <a:t>https://www.jimtof.org/2024/search/jp/ESdetails?e=RYK326OoMn4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EOV-V029-2026-1 JIMTOF2026公式カタログ：中村留精密工業株式会社 (E2027)</a:t>
            </a:r>
          </a:p>
          <a:p xmlns:a="http://schemas.openxmlformats.org/drawingml/2006/main">
            <a:r>
              <a:t>https://www.jimtof.org/search/jp/ESdetails?e=C7A_2ZTDXNw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EOV-W04 RoboSync</a:t>
            </a:r>
          </a:p>
          <a:p xmlns:a="http://schemas.openxmlformats.org/drawingml/2006/main">
            <a:r>
              <a:t>https://www.nakamura-tome.co.jp/products/automation/robosync/</a:t>
            </a:r>
          </a:p>
          <a:p xmlns:a="http://schemas.openxmlformats.org/drawingml/2006/main">
            <a:r>
              <a:t>該当箇所:製品の特長 &gt; 簡単復旧、簡単操作</a:t>
            </a:r>
          </a:p>
          <a:p xmlns:a="http://schemas.openxmlformats.org/drawingml/2006/main">
            <a:r>
              <a:t>確認:2026-10-16</a:t>
            </a:r>
          </a:p>
          <a:p xmlns:a="http://schemas.openxmlformats.org/drawingml/2006/main">
            <a:r>
              <a:t>種類:企業公式資料・メーカー主張</a:t>
            </a:r>
          </a:p>
          <a:p xmlns:a="http://schemas.openxmlformats.org/drawingml/2006/main">
            <a:r>
              <a:t>展示:自律的な未知例外復帰の証明ではない</a:t>
            </a:r>
          </a:p>
          <a:p xmlns:a="http://schemas.openxmlformats.org/drawingml/2006/main">
            <a:r>
              <a:t/>
            </a:r>
          </a:p>
          <a:p xmlns:a="http://schemas.openxmlformats.org/drawingml/2006/main">
            <a:r>
              <a:t>EEX-EXH-2026-1c8938d47b63e4bb JIMTOF2026公式出展説明：共立精機株式会社 (W2025)</a:t>
            </a:r>
          </a:p>
          <a:p xmlns:a="http://schemas.openxmlformats.org/drawingml/2006/main">
            <a:r>
              <a:t>https://www.jimtof.org/search/jp/ESdetails?e=9k7ro8sL0VA</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EEX-EXH-2024-3a9bfb48fcb6542c JIMTOF2024公式出展説明：共立精機株式会社 (W2037)</a:t>
            </a:r>
          </a:p>
          <a:p xmlns:a="http://schemas.openxmlformats.org/drawingml/2006/main">
            <a:r>
              <a:t>https://www.jimtof.org/2024/search/jp/ESdetails?e=xT1gIvXxCpQ</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EOV-V001-2024-1 JIMTOF2024公式カタログ：DMG森精機株式会社 (E8001)</a:t>
            </a:r>
          </a:p>
          <a:p xmlns:a="http://schemas.openxmlformats.org/drawingml/2006/main">
            <a:r>
              <a:t>https://www.jimtof.org/2024/search/jp/ESdetails?e=lOXEEpvlXpM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EOV-V001-2026-1 JIMTOF2026公式カタログ：DMG森精機株式会社 (E8005)</a:t>
            </a:r>
          </a:p>
          <a:p xmlns:a="http://schemas.openxmlformats.org/drawingml/2006/main">
            <a:r>
              <a:t>https://www.jimtof.org/search/jp/ESdetails?e=zcqDj1lSkGs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EEX-EXH-2026-d8a50e23a9101b11 JIMTOF2026公式出展説明：株式会社白山機工 (E2007)</a:t>
            </a:r>
          </a:p>
          <a:p xmlns:a="http://schemas.openxmlformats.org/drawingml/2006/main">
            <a:r>
              <a:t>https://www.jimtof.org/search/jp/ESdetails?e=FNFR7REQOl4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EEX-EXH-2024-89cb7807f64be75b JIMTOF2024公式出展説明：株式会社白山機工 (E4038)</a:t>
            </a:r>
          </a:p>
          <a:p xmlns:a="http://schemas.openxmlformats.org/drawingml/2006/main">
            <a:r>
              <a:t>https://www.jimtof.org/2024/search/jp/ESdetails?e=krDglZoYKFc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EDP-29 JIMTOF2026出展告知</a:t>
            </a:r>
          </a:p>
          <a:p xmlns:a="http://schemas.openxmlformats.org/drawingml/2006/main">
            <a:r>
              <a:t>https://www.hakusankiko.co.jp/news/event/8837/</a:t>
            </a:r>
          </a:p>
          <a:p xmlns:a="http://schemas.openxmlformats.org/drawingml/2006/main">
            <a:r>
              <a:t>該当箇所:AMR切り屑回収システムを実演・模型で紹介</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EOV-V030-2024-1 JIMTOF2024公式カタログ：株式会社TAKISAWA (E3013)</a:t>
            </a:r>
          </a:p>
          <a:p xmlns:a="http://schemas.openxmlformats.org/drawingml/2006/main">
            <a:r>
              <a:t>https://www.jimtof.org/2024/search/jp/ESdetails?e=K00DRD-BngA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EOV-V030-2026-1 JIMTOF2026公式カタログ：株式会社TAKISAWA (E3013)</a:t>
            </a:r>
          </a:p>
          <a:p xmlns:a="http://schemas.openxmlformats.org/drawingml/2006/main">
            <a:r>
              <a:t>https://www.jimtof.org/search/jp/ESdetails?e=3dTDRAMwZpM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EAT-N01 JIMTOF2026 TR-20W</a:t>
            </a:r>
          </a:p>
          <a:p xmlns:a="http://schemas.openxmlformats.org/drawingml/2006/main">
            <a:r>
              <a:t>https://www.nidec.com/jp/products/machine-tools/contents/machine-tool-jimtof2026/</a:t>
            </a:r>
          </a:p>
          <a:p xmlns:a="http://schemas.openxmlformats.org/drawingml/2006/main">
            <a:r>
              <a:t>該当箇所:TR-20W：フィジカルAI搭載のロボットシステム（参考出品）</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展示:2026展示予定・参考出品</a:t>
            </a:r>
          </a:p>
          <a:p xmlns:a="http://schemas.openxmlformats.org/drawingml/2006/main">
            <a:r>
              <a:t/>
            </a:r>
          </a:p>
          <a:p xmlns:a="http://schemas.openxmlformats.org/drawingml/2006/main">
            <a:r>
              <a:t>EAT-N02 MGC300開発発表</a:t>
            </a:r>
          </a:p>
          <a:p xmlns:a="http://schemas.openxmlformats.org/drawingml/2006/main">
            <a:r>
              <a:t>https://www.nidec.com/jp/product/news/2024/news1101-03/</a:t>
            </a:r>
          </a:p>
          <a:p xmlns:a="http://schemas.openxmlformats.org/drawingml/2006/main">
            <a:r>
              <a:t>該当箇所:2024年11月1日／MGC300の出展説明</a:t>
            </a:r>
          </a:p>
          <a:p xmlns:a="http://schemas.openxmlformats.org/drawingml/2006/main">
            <a:r>
              <a:t>確認:2026-10-16</a:t>
            </a:r>
          </a:p>
          <a:p xmlns:a="http://schemas.openxmlformats.org/drawingml/2006/main">
            <a:r>
              <a:t>種類:企業公式説明・メーカー主張</a:t>
            </a:r>
          </a:p>
          <a:p xmlns:a="http://schemas.openxmlformats.org/drawingml/2006/main">
            <a:r>
              <a:t>展示:2024当時の予定説明</a:t>
            </a:r>
          </a:p>
          <a:p xmlns:a="http://schemas.openxmlformats.org/drawingml/2006/main">
            <a:r>
              <a:t/>
            </a:r>
          </a:p>
          <a:p xmlns:a="http://schemas.openxmlformats.org/drawingml/2006/main">
            <a:r>
              <a:t>ERF-13 JIMTOF2026：TR-20W参考出品</a:t>
            </a:r>
          </a:p>
          <a:p xmlns:a="http://schemas.openxmlformats.org/drawingml/2006/main">
            <a:r>
              <a:t>https://www.nidec.com/jp/products/machine-tools/contents/machine-tool-jimtof2026/</a:t>
            </a:r>
          </a:p>
          <a:p xmlns:a="http://schemas.openxmlformats.org/drawingml/2006/main">
            <a:r>
              <a:t>該当箇所:TAKISAWA／TR-20W、主軸の切粉認識・判断・除去、参考出品</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EEX-EXH-2026-30b70a74241de123 JIMTOF2026公式出展説明：カネテック株式会社 (W2013)</a:t>
            </a:r>
          </a:p>
          <a:p xmlns:a="http://schemas.openxmlformats.org/drawingml/2006/main">
            <a:r>
              <a:t>https://www.jimtof.org/search/jp/ESdetails?e=ekM3exgIAtc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EEX-EXH-2024-45415d070f47dc6e JIMTOF2024公式出展説明：カネテック株式会社 (W2030)</a:t>
            </a:r>
          </a:p>
          <a:p xmlns:a="http://schemas.openxmlformats.org/drawingml/2006/main">
            <a:r>
              <a:t>https://www.jimtof.org/2024/search/jp/ESdetails?e=ot0Fx36wI0g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EDP-01 MagnetPinset</a:t>
            </a:r>
          </a:p>
          <a:p xmlns:a="http://schemas.openxmlformats.org/drawingml/2006/main">
            <a:r>
              <a:t>https://kanetec.co.jp/lp/MagnetPinset%40LP.html</a:t>
            </a:r>
          </a:p>
          <a:p xmlns:a="http://schemas.openxmlformats.org/drawingml/2006/main">
            <a:r>
              <a:t>該当箇所:小径ネジの課題／JIMTOF2024出展／ネジ整列器</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EEX-EXH-2026-8c08de1ffed47316 JIMTOF2026公式出展説明：東京エレクトロンデバイス株式会社 (E7073)</a:t>
            </a:r>
          </a:p>
          <a:p xmlns:a="http://schemas.openxmlformats.org/drawingml/2006/main">
            <a:r>
              <a:t>https://www.jimtof.org/search/jp/ESdetails?e=c4cChQniAm8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EEX-WTED 企業公式の展示告知</a:t>
            </a:r>
          </a:p>
          <a:p xmlns:a="http://schemas.openxmlformats.org/drawingml/2006/main">
            <a:r>
              <a:t>https://www.inrevium.com/news-event/event/p7331/</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t>
            </a:r>
          </a:p>
          <a:p xmlns:a="http://schemas.openxmlformats.org/drawingml/2006/main">
            <a:r>
              <a:t/>
            </a:r>
          </a:p>
          <a:p xmlns:a="http://schemas.openxmlformats.org/drawingml/2006/main">
            <a:r>
              <a:t>EEX-EXH-2026-ba283a239e52d644 JIMTOF2026公式出展説明：株式会社ジーベックテクノロジー (WA006)</a:t>
            </a:r>
          </a:p>
          <a:p xmlns:a="http://schemas.openxmlformats.org/drawingml/2006/main">
            <a:r>
              <a:t>https://www.jimtof.org/search/jp/ESdetails?e=jbu03Ik4s00</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EEX-EXH-2024-1632c66ef4d28e78 JIMTOF2024公式出展説明：株式会社ジーベックテクノロジー (WA007)</a:t>
            </a:r>
          </a:p>
          <a:p xmlns:a="http://schemas.openxmlformats.org/drawingml/2006/main">
            <a:r>
              <a:t>https://www.jimtof.org/2024/search/jp/ESdetails?e=mnvwVRInyM8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RPT-EXH-2026-d7b599b5d3045611 東京貿易テクノシステム株式会社 JIMTOF2026</a:t>
            </a:r>
          </a:p>
          <a:p xmlns:a="http://schemas.openxmlformats.org/drawingml/2006/main">
            <a:r>
              <a:t>https://www.jimtof.org/search/jp/ESdetails?e=q65eJorv2LU</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RPT-EXH-2024-5cbad6b0326d2bee 東京貿易テクノシステム株式会社 JIMTOF2024</a:t>
            </a:r>
          </a:p>
          <a:p xmlns:a="http://schemas.openxmlformats.org/drawingml/2006/main">
            <a:r>
              <a:t>https://www.jimtof.org/2024/search/jp/ESdetails?e=RD73EqDannI</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RPT-EXH-2026-91aa8dd094a4a7b2 株式会社神崎高級工機製作所 JIMTOF2026</a:t>
            </a:r>
          </a:p>
          <a:p xmlns:a="http://schemas.openxmlformats.org/drawingml/2006/main">
            <a:r>
              <a:t>https://www.jimtof.org/search/jp/ESdetails?e=bpuT_4Xpv_c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RPT-EXH-2024-50a402f6bcce2ab8 株式会社神崎高級工機製作所 JIMTOF2024</a:t>
            </a:r>
          </a:p>
          <a:p xmlns:a="http://schemas.openxmlformats.org/drawingml/2006/main">
            <a:r>
              <a:t>https://www.jimtof.org/2024/search/jp/ESdetails?e=C7Uh8Jc1Y2s</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t>
            </a:r>
          </a:p>
          <a:p xmlns:a="http://schemas.openxmlformats.org/drawingml/2006/main">
            <a:r>
              <a:t>    "id": "R4",</a:t>
            </a:r>
          </a:p>
          <a:p xmlns:a="http://schemas.openxmlformats.org/drawingml/2006/main">
            <a:r>
              <a:t>    "name": "限定されたエージェント指令の実行管理",</a:t>
            </a:r>
          </a:p>
          <a:p xmlns:a="http://schemas.openxmlformats.org/drawingml/2006/main">
            <a:r>
              <a:t>    "basis": [</a:t>
            </a:r>
          </a:p>
          <a:p xmlns:a="http://schemas.openxmlformats.org/drawingml/2006/main">
            <a:r>
              <a:t>      "B13",</a:t>
            </a:r>
          </a:p>
          <a:p xmlns:a="http://schemas.openxmlformats.org/drawingml/2006/main">
            <a:r>
              <a:t>      "B14",</a:t>
            </a:r>
          </a:p>
          <a:p xmlns:a="http://schemas.openxmlformats.org/drawingml/2006/main">
            <a:r>
              <a:t>      "B15"</a:t>
            </a:r>
          </a:p>
          <a:p xmlns:a="http://schemas.openxmlformats.org/drawingml/2006/main">
            <a:r>
              <a:t>    ],</a:t>
            </a:r>
          </a:p>
          <a:p xmlns:a="http://schemas.openxmlformats.org/drawingml/2006/main">
            <a:r>
              <a:t>    "hypothesis": "提案を指令へ移す時に、設備状態・権限・実行結果の整合が課題になる可能性。",</a:t>
            </a:r>
          </a:p>
          <a:p xmlns:a="http://schemas.openxmlformats.org/drawingml/2006/main">
            <a:r>
              <a:t>    "existing": "人の承認、ERPワークフロー、OPC UA接続は既存。許可・二重実行防止の範囲は未公開。",</a:t>
            </a:r>
          </a:p>
          <a:p xmlns:a="http://schemas.openxmlformats.org/drawingml/2006/main">
            <a:r>
              <a:t>    "approach": "1種類の指令で状態確認・承認・結果照合を扱い、通信断後の再送を含め比較。",</a:t>
            </a:r>
          </a:p>
          <a:p xmlns:a="http://schemas.openxmlformats.org/drawingml/2006/main">
            <a:r>
              <a:t>    "decision": "API、権限モデル、状態取得が確認できるまで保留。",</a:t>
            </a:r>
          </a:p>
          <a:p xmlns:a="http://schemas.openxmlformats.org/drawingml/2006/main">
            <a:r>
              <a:t>    "metrics": "誤指令、重複実行、未完了の見逃し、承認待ち時間",</a:t>
            </a:r>
          </a:p>
          <a:p xmlns:a="http://schemas.openxmlformats.org/drawingml/2006/main">
            <a:r>
              <a:t>    "priority": "条件付き候補"</a:t>
            </a:r>
          </a:p>
          <a:p xmlns:a="http://schemas.openxmlformats.org/drawingml/2006/main">
            <a:r>
              <a:t>  },</a:t>
            </a:r>
          </a:p>
          <a:p xmlns:a="http://schemas.openxmlformats.org/drawingml/2006/main">
            <a:r>
              <a:t>  {</a:t>
            </a:r>
          </a:p>
          <a:p xmlns:a="http://schemas.openxmlformats.org/drawingml/2006/main">
            <a:r>
              <a:t>    "id": "R5",</a:t>
            </a:r>
          </a:p>
          <a:p xmlns:a="http://schemas.openxmlformats.org/drawingml/2006/main">
            <a:r>
              <a:t>    "name": "物理学習用データの実機との差の評価",</a:t>
            </a:r>
          </a:p>
          <a:p xmlns:a="http://schemas.openxmlformats.org/drawingml/2006/main">
            <a:r>
              <a:t>    "basis": [</a:t>
            </a:r>
          </a:p>
          <a:p xmlns:a="http://schemas.openxmlformats.org/drawingml/2006/main">
            <a:r>
              <a:t>      "B16"</a:t>
            </a:r>
          </a:p>
          <a:p xmlns:a="http://schemas.openxmlformats.org/drawingml/2006/main">
            <a:r>
              <a:t>    ],</a:t>
            </a:r>
          </a:p>
          <a:p xmlns:a="http://schemas.openxmlformats.org/drawingml/2006/main">
            <a:r>
              <a:t>    "hypothesis": "生成した形状・摩擦等の属性が実機成功に与える差を、既存検証で覆えない可能性。",</a:t>
            </a:r>
          </a:p>
          <a:p xmlns:a="http://schemas.openxmlformats.org/drawingml/2006/main">
            <a:r>
              <a:t>    "existing": "TRINIXの物理属性推論・自己修正、NVIDIA検証、DexBench共同開発告知がある。",</a:t>
            </a:r>
          </a:p>
          <a:p xmlns:a="http://schemas.openxmlformats.org/drawingml/2006/main">
            <a:r>
              <a:t>    "approach": "実測属性と生成属性で同一タスクの結果を比較し、誤差に効く項目を特定。",</a:t>
            </a:r>
          </a:p>
          <a:p xmlns:a="http://schemas.openxmlformats.org/drawingml/2006/main">
            <a:r>
              <a:t>    "decision": "公開済みベンチ・検証機能の範囲を確認。実機データが取れなければ保留。",</a:t>
            </a:r>
          </a:p>
          <a:p xmlns:a="http://schemas.openxmlformats.org/drawingml/2006/main">
            <a:r>
              <a:t>    "metrics": "タスク成功の差、属性誤差、修正回数、測定準備時間",</a:t>
            </a:r>
          </a:p>
          <a:p xmlns:a="http://schemas.openxmlformats.org/drawingml/2006/main">
            <a:r>
              <a:t>    "priority": "条件付き候補"</a:t>
            </a:r>
          </a:p>
          <a:p xmlns:a="http://schemas.openxmlformats.org/drawingml/2006/main">
            <a:r>
              <a:t>  }</a:t>
            </a:r>
          </a:p>
          <a:p xmlns:a="http://schemas.openxmlformats.org/drawingml/2006/main">
            <a:r>
              <a:t>]</a:t>
            </a:r>
          </a:p>
          <a:p xmlns:a="http://schemas.openxmlformats.org/drawingml/2006/main">
            <a:r>
              <a:t/>
            </a:r>
          </a:p>
          <a:p xmlns:a="http://schemas.openxmlformats.org/drawingml/2006/main">
            <a:r>
              <a:t>現場エージェント・遠隔介入</a:t>
            </a:r>
          </a:p>
          <a:p xmlns:a="http://schemas.openxmlformats.org/drawingml/2006/main">
            <a:r>
              <a:t>B13-1 ベッコフオートメーション / TwinCAT CoAgent for Operations / E2028</a:t>
            </a:r>
          </a:p>
          <a:p xmlns:a="http://schemas.openxmlformats.org/drawingml/2006/main">
            <a:r>
              <a:t>対象:機械のアラーム原因と対処方法を調べる</a:t>
            </a:r>
          </a:p>
          <a:p xmlns:a="http://schemas.openxmlformats.org/drawingml/2006/main">
            <a:r>
              <a:t>公式要約:Operationsは機械データと文書から原因仮説・対処案を作る。</a:t>
            </a:r>
          </a:p>
          <a:p xmlns:a="http://schemas.openxmlformats.org/drawingml/2006/main">
            <a:r>
              <a:t>年度:2024比較不能。製品発表・投入時期要問合せ。</a:t>
            </a:r>
          </a:p>
          <a:p xmlns:a="http://schemas.openxmlformats.org/drawingml/2006/main">
            <a:r>
              <a:t>人・未確認:専門家が制御権保持。毎回承認・書込権限・失敗復帰は未公開。</a:t>
            </a:r>
          </a:p>
          <a:p xmlns:a="http://schemas.openxmlformats.org/drawingml/2006/main">
            <a:r>
              <a:t>Evidence:EOV-V005-2026-1,EAT-N04,EAT-N05,EDP-03,ERF-02</a:t>
            </a:r>
          </a:p>
          <a:p xmlns:a="http://schemas.openxmlformats.org/drawingml/2006/main">
            <a:r>
              <a:t/>
            </a:r>
          </a:p>
          <a:p xmlns:a="http://schemas.openxmlformats.org/drawingml/2006/main">
            <a:r>
              <a:t>B13-2 ソフィックス / SOFIXCAN Fleeter＋AI Forecast：ミニ工場 / E1067</a:t>
            </a:r>
          </a:p>
          <a:p xmlns:a="http://schemas.openxmlformats.org/drawingml/2006/main">
            <a:r>
              <a:t>対象:設備・搬送を連携し予測を活用する</a:t>
            </a:r>
          </a:p>
          <a:p xmlns:a="http://schemas.openxmlformats.org/drawingml/2006/main">
            <a:r>
              <a:t>公式要約:AI Forecastの予測とFleeterの機器連携をミニ工場で紹介。</a:t>
            </a:r>
          </a:p>
          <a:p xmlns:a="http://schemas.openxmlformats.org/drawingml/2006/main">
            <a:r>
              <a:t>年度:Fleeterミニ工場は2025にも予告済み。2026初とはしない。</a:t>
            </a:r>
          </a:p>
          <a:p xmlns:a="http://schemas.openxmlformats.org/drawingml/2006/main">
            <a:r>
              <a:t>人・未確認:予測から指令への権限、通信・搬送失敗時の復帰は未公開。</a:t>
            </a:r>
          </a:p>
          <a:p xmlns:a="http://schemas.openxmlformats.org/drawingml/2006/main">
            <a:r>
              <a:t>Evidence:EOV-V015-2024-1,EOV-V015-2026-1,EDP-21,EDP-22,EDP-23</a:t>
            </a:r>
          </a:p>
          <a:p xmlns:a="http://schemas.openxmlformats.org/drawingml/2006/main">
            <a:r>
              <a:t/>
            </a:r>
          </a:p>
          <a:p xmlns:a="http://schemas.openxmlformats.org/drawingml/2006/main">
            <a:r>
              <a:t>B13-3 パナソニックプロダクションエンジニアリング / X-Area Remote / W3086</a:t>
            </a:r>
          </a:p>
          <a:p xmlns:a="http://schemas.openxmlformats.org/drawingml/2006/main">
            <a:r>
              <a:t>対象:停止した搬送車を人が遠隔で復帰させる</a:t>
            </a:r>
          </a:p>
          <a:p xmlns:a="http://schemas.openxmlformats.org/drawingml/2006/main">
            <a:r>
              <a:t>公式要約:X-Area Remote実証では停止車両を人が遠隔操作して回避。</a:t>
            </a:r>
          </a:p>
          <a:p xmlns:a="http://schemas.openxmlformats.org/drawingml/2006/main">
            <a:r>
              <a:t>年度:2026/7実証で人の担当を具体確認。2024個別比較不能。</a:t>
            </a:r>
          </a:p>
          <a:p xmlns:a="http://schemas.openxmlformats.org/drawingml/2006/main">
            <a:r>
              <a:t>人・未確認:運行担当者が介入。実証はセーフティドライバー搭乗。</a:t>
            </a:r>
          </a:p>
          <a:p xmlns:a="http://schemas.openxmlformats.org/drawingml/2006/main">
            <a:r>
              <a:t>Evidence:EOV-V016-2026-1,EOV-W05,EOV-W09,EDP-24</a:t>
            </a:r>
          </a:p>
          <a:p xmlns:a="http://schemas.openxmlformats.org/drawingml/2006/main">
            <a:r>
              <a:t/>
            </a:r>
          </a:p>
          <a:p xmlns:a="http://schemas.openxmlformats.org/drawingml/2006/main">
            <a:r>
              <a:t>工場データ・計画・資源の連携</a:t>
            </a:r>
          </a:p>
          <a:p xmlns:a="http://schemas.openxmlformats.org/drawingml/2006/main">
            <a:r>
              <a:t>B14-1 WinTool AG / WinTool：工具情報と現物・工程資源の連携 / E1049</a:t>
            </a:r>
          </a:p>
          <a:p xmlns:a="http://schemas.openxmlformats.org/drawingml/2006/main">
            <a:r>
              <a:t>対象:工具情報・所在・在庫を工程と結ぶ</a:t>
            </a:r>
          </a:p>
          <a:p xmlns:a="http://schemas.openxmlformats.org/drawingml/2006/main">
            <a:r>
              <a:t>公式要約:WinToolは工具情報と工程資源を連携。在庫ルールで購買要求。</a:t>
            </a:r>
          </a:p>
          <a:p xmlns:a="http://schemas.openxmlformats.org/drawingml/2006/main">
            <a:r>
              <a:t>年度:工具・CAM・在庫連携は2024から継続。2026は資源の一貫性を強調。</a:t>
            </a:r>
          </a:p>
          <a:p xmlns:a="http://schemas.openxmlformats.org/drawingml/2006/main">
            <a:r>
              <a:t>人・未確認:管理者承認後ERPへ送信。AIによる自律発注とは記載なし。</a:t>
            </a:r>
          </a:p>
          <a:p xmlns:a="http://schemas.openxmlformats.org/drawingml/2006/main">
            <a:r>
              <a:t>Evidence:EEX-EXH-2026-4fb92ba6b82546d7,EEX-EXH-2024-3f1fa1966a57e011,EDP-18,EDP-19</a:t>
            </a:r>
          </a:p>
          <a:p xmlns:a="http://schemas.openxmlformats.org/drawingml/2006/main">
            <a:r>
              <a:t/>
            </a:r>
          </a:p>
          <a:p xmlns:a="http://schemas.openxmlformats.org/drawingml/2006/main">
            <a:r>
              <a:t>B14-2 Smart Craft / Smart Craft MES / S3002</a:t>
            </a:r>
          </a:p>
          <a:p xmlns:a="http://schemas.openxmlformats.org/drawingml/2006/main">
            <a:r>
              <a:t>対象:作業記録・指示・製造履歴を管理する</a:t>
            </a:r>
          </a:p>
          <a:p xmlns:a="http://schemas.openxmlformats.org/drawingml/2006/main">
            <a:r>
              <a:t>公式要約:Smart Craft MESは記録・指示・履歴を一元管理しAPI連携。</a:t>
            </a:r>
          </a:p>
          <a:p xmlns:a="http://schemas.openxmlformats.org/drawingml/2006/main">
            <a:r>
              <a:t>年度:2024個別比較不能。</a:t>
            </a:r>
          </a:p>
          <a:p xmlns:a="http://schemas.openxmlformats.org/drawingml/2006/main">
            <a:r>
              <a:t>人・未確認:AI分析の内容や判断権限、入力作業の残りは未確認。</a:t>
            </a:r>
          </a:p>
          <a:p xmlns:a="http://schemas.openxmlformats.org/drawingml/2006/main">
            <a:r>
              <a:t>Evidence:EOV-V013-2026-1</a:t>
            </a:r>
          </a:p>
          <a:p xmlns:a="http://schemas.openxmlformats.org/drawingml/2006/main">
            <a:r>
              <a:t/>
            </a:r>
          </a:p>
          <a:p xmlns:a="http://schemas.openxmlformats.org/drawingml/2006/main">
            <a:r>
              <a:t>B14-3 ものレボ / MonoRevo：工程計画・スケジューリング / W3042</a:t>
            </a:r>
          </a:p>
          <a:p xmlns:a="http://schemas.openxmlformats.org/drawingml/2006/main">
            <a:r>
              <a:t>対象:工程の順番と生産予定を組む</a:t>
            </a:r>
          </a:p>
          <a:p xmlns:a="http://schemas.openxmlformats.org/drawingml/2006/main">
            <a:r>
              <a:t>公式要約:MonoRevoは工程設計・計画・進捗をまとめ自動計画を支援。</a:t>
            </a:r>
          </a:p>
          <a:p xmlns:a="http://schemas.openxmlformats.org/drawingml/2006/main">
            <a:r>
              <a:t>年度:2024個別比較不能。2026は自動スケジューリングを記載。</a:t>
            </a:r>
          </a:p>
          <a:p xmlns:a="http://schemas.openxmlformats.org/drawingml/2006/main">
            <a:r>
              <a:t>人・未確認:計画制約・再計画確定者・例外対応は未確認。</a:t>
            </a:r>
          </a:p>
          <a:p xmlns:a="http://schemas.openxmlformats.org/drawingml/2006/main">
            <a:r>
              <a:t>Evidence:EOV-V014-2026-1</a:t>
            </a:r>
          </a:p>
          <a:p xmlns:a="http://schemas.openxmlformats.org/drawingml/2006/main">
            <a:r>
              <a:t/>
            </a:r>
          </a:p>
          <a:p xmlns:a="http://schemas.openxmlformats.org/drawingml/2006/main">
            <a:r>
              <a:t>AIモデル作成・機器接続の基盤</a:t>
            </a:r>
          </a:p>
          <a:p xmlns:a="http://schemas.openxmlformats.org/drawingml/2006/main">
            <a:r>
              <a:t>B15-1 ベッコフオートメーション / TwinCAT Machine Learning Creator / E2028</a:t>
            </a:r>
          </a:p>
          <a:p xmlns:a="http://schemas.openxmlformats.org/drawingml/2006/main">
            <a:r>
              <a:t>対象:現場データから判定モデルを作る</a:t>
            </a:r>
          </a:p>
          <a:p xmlns:a="http://schemas.openxmlformats.org/drawingml/2006/main">
            <a:r>
              <a:t>公式要約:ML Creatorは学習・モデル選択を自動化し、解析とONNX出力を支援。</a:t>
            </a:r>
          </a:p>
          <a:p xmlns:a="http://schemas.openxmlformats.org/drawingml/2006/main">
            <a:r>
              <a:t>年度:データ分割・ONNX統合は2024公式資料にも記載。</a:t>
            </a:r>
          </a:p>
          <a:p xmlns:a="http://schemas.openxmlformats.org/drawingml/2006/main">
            <a:r>
              <a:t>人・未確認:人がデータ・注釈・目的を準備。実機採用基準は要確認。</a:t>
            </a:r>
          </a:p>
          <a:p xmlns:a="http://schemas.openxmlformats.org/drawingml/2006/main">
            <a:r>
              <a:t>Evidence:EOV-V005-2026-1,EOV-W01,EDP-04</a:t>
            </a:r>
          </a:p>
          <a:p xmlns:a="http://schemas.openxmlformats.org/drawingml/2006/main">
            <a:r>
              <a:t/>
            </a:r>
          </a:p>
          <a:p xmlns:a="http://schemas.openxmlformats.org/drawingml/2006/main">
            <a:r>
              <a:t>B15-2 たけびし / OPC UA情報モデルとエージェント連携 / S3015</a:t>
            </a:r>
          </a:p>
          <a:p xmlns:a="http://schemas.openxmlformats.org/drawingml/2006/main">
            <a:r>
              <a:t>対象:設備データをAIが扱える形で渡す</a:t>
            </a:r>
          </a:p>
          <a:p xmlns:a="http://schemas.openxmlformats.org/drawingml/2006/main">
            <a:r>
              <a:t>公式要約:OPC UA情報モデルで機器情報をエージェントへ連携する構想。</a:t>
            </a:r>
          </a:p>
          <a:p xmlns:a="http://schemas.openxmlformats.org/drawingml/2006/main">
            <a:r>
              <a:t>年度:2024は多ベンダー接続。2026はAI連携シナリオを追加。</a:t>
            </a:r>
          </a:p>
          <a:p xmlns:a="http://schemas.openxmlformats.org/drawingml/2006/main">
            <a:r>
              <a:t>人・未確認:公開するデータ・メソッド、書込権限、承認と復帰は未確認。</a:t>
            </a:r>
          </a:p>
          <a:p xmlns:a="http://schemas.openxmlformats.org/drawingml/2006/main">
            <a:r>
              <a:t>Evidence:EOV-V011-2024-1,EOV-V011-2026-1,EDP-06</a:t>
            </a:r>
          </a:p>
          <a:p xmlns:a="http://schemas.openxmlformats.org/drawingml/2006/main">
            <a:r>
              <a:t/>
            </a:r>
          </a:p>
          <a:p xmlns:a="http://schemas.openxmlformats.org/drawingml/2006/main">
            <a:r>
              <a:t>B15-3 シーイーシー / Facteye／Resolana / E2006</a:t>
            </a:r>
          </a:p>
          <a:p xmlns:a="http://schemas.openxmlformats.org/drawingml/2006/main">
            <a:r>
              <a:t>対象:既設設備の情報を集め品質と結ぶ</a:t>
            </a:r>
          </a:p>
          <a:p xmlns:a="http://schemas.openxmlformats.org/drawingml/2006/main">
            <a:r>
              <a:t>公式要約:既設設備のデータ収集・可視化を品質やAI利用へ接続。</a:t>
            </a:r>
          </a:p>
          <a:p xmlns:a="http://schemas.openxmlformats.org/drawingml/2006/main">
            <a:r>
              <a:t>年度:収集・対話AIは2024にも説明。2026は連携課題を具体化。</a:t>
            </a:r>
          </a:p>
          <a:p xmlns:a="http://schemas.openxmlformats.org/drawingml/2006/main">
            <a:r>
              <a:t>人・未確認:自動制御や工場全体最適化の実装は未確認。</a:t>
            </a:r>
          </a:p>
          <a:p xmlns:a="http://schemas.openxmlformats.org/drawingml/2006/main">
            <a:r>
              <a:t>Evidence:EOV-V012-2024-1,EOV-V012-2026-1</a:t>
            </a:r>
          </a:p>
          <a:p xmlns:a="http://schemas.openxmlformats.org/drawingml/2006/main">
            <a:r>
              <a:t/>
            </a:r>
          </a:p>
          <a:p xmlns:a="http://schemas.openxmlformats.org/drawingml/2006/main">
            <a:r>
              <a:t>デジタルツイン・物理学習用データ</a:t>
            </a:r>
          </a:p>
          <a:p xmlns:a="http://schemas.openxmlformats.org/drawingml/2006/main">
            <a:r>
              <a:t>B16-1 ファナック / FANUC Smart Digital Twin / S2001</a:t>
            </a:r>
          </a:p>
          <a:p xmlns:a="http://schemas.openxmlformats.org/drawingml/2006/main">
            <a:r>
              <a:t>対象:加工前に機械の動きを確かめる</a:t>
            </a:r>
          </a:p>
          <a:p xmlns:a="http://schemas.openxmlformats.org/drawingml/2006/main">
            <a:r>
              <a:t>公式要約:Smart Digital Twinで加工前の挙動確認を支援。</a:t>
            </a:r>
          </a:p>
          <a:p xmlns:a="http://schemas.openxmlformats.org/drawingml/2006/main">
            <a:r>
              <a:t>年度:同名ツインは2024から継続。</a:t>
            </a:r>
          </a:p>
          <a:p xmlns:a="http://schemas.openxmlformats.org/drawingml/2006/main">
            <a:r>
              <a:t>人・未確認:モデルと実機の一致や、検証対象外事象の扱いは未確認。</a:t>
            </a:r>
          </a:p>
          <a:p xmlns:a="http://schemas.openxmlformats.org/drawingml/2006/main">
            <a:r>
              <a:t>Evidence:EOV-V002-2024-1,EOV-V002-2026-1</a:t>
            </a:r>
          </a:p>
          <a:p xmlns:a="http://schemas.openxmlformats.org/drawingml/2006/main">
            <a:r>
              <a:t/>
            </a:r>
          </a:p>
          <a:p xmlns:a="http://schemas.openxmlformats.org/drawingml/2006/main">
            <a:r>
              <a:t>B16-2 シーメンス株式会社 / Digital Thread：工作機械ツイン・工程内品質保証 / E3006</a:t>
            </a:r>
          </a:p>
          <a:p xmlns:a="http://schemas.openxmlformats.org/drawingml/2006/main">
            <a:r>
              <a:t>対象:加工の仮想検証・計測連携を確認する</a:t>
            </a:r>
          </a:p>
          <a:p xmlns:a="http://schemas.openxmlformats.org/drawingml/2006/main">
            <a:r>
              <a:t>公式要約:Tokn工作機械ツイン、Equator品質保証、ヒューマノイドを別展示。</a:t>
            </a:r>
          </a:p>
          <a:p xmlns:a="http://schemas.openxmlformats.org/drawingml/2006/main">
            <a:r>
              <a:t>年度:Toknの仮想訓練は2024完了の公式事例あり。</a:t>
            </a:r>
          </a:p>
          <a:p xmlns:a="http://schemas.openxmlformats.org/drawingml/2006/main">
            <a:r>
              <a:t>人・未確認:海外HMND実証とJIMTOFの機体・タスクの同一性は未確認。</a:t>
            </a:r>
          </a:p>
          <a:p xmlns:a="http://schemas.openxmlformats.org/drawingml/2006/main">
            <a:r>
              <a:t>Evidence:EEX-EXH-2026-9b991dd8132f51dc,EEX-EXH-2024-558faea07a73f5d8,EDP-16,EDP-17</a:t>
            </a:r>
          </a:p>
          <a:p xmlns:a="http://schemas.openxmlformats.org/drawingml/2006/main">
            <a:r>
              <a:t/>
            </a:r>
          </a:p>
          <a:p xmlns:a="http://schemas.openxmlformats.org/drawingml/2006/main">
            <a:r>
              <a:t>B16-3 NdotLight Co., Ltd. / TRINIX：CADから物理シミュレーション用データ生成 / S4004</a:t>
            </a:r>
          </a:p>
          <a:p xmlns:a="http://schemas.openxmlformats.org/drawingml/2006/main">
            <a:r>
              <a:t>対象:物理シミュレーション用の3Dデータを作る</a:t>
            </a:r>
          </a:p>
          <a:p xmlns:a="http://schemas.openxmlformats.org/drawingml/2006/main">
            <a:r>
              <a:t>公式要約:TRINIXはCADから形状・物理属性等を生成し検証・自己修正を説明。</a:t>
            </a:r>
          </a:p>
          <a:p xmlns:a="http://schemas.openxmlformats.org/drawingml/2006/main">
            <a:r>
              <a:t>年度:2024同名比較不能。DexBenchは共同開発告知で完成済み標準とはしない。</a:t>
            </a:r>
          </a:p>
          <a:p xmlns:a="http://schemas.openxmlformats.org/drawingml/2006/main">
            <a:r>
              <a:t>人・未確認:実測値と推定値の区別、人の承認、収束しない時の対応は未公開。</a:t>
            </a:r>
          </a:p>
          <a:p xmlns:a="http://schemas.openxmlformats.org/drawingml/2006/main">
            <a:r>
              <a:t>Evidence:EEX-EXH-2026-016097f87d1914b2,EEX-WNDOT,ERF-06,ERF-07,ERF-08,ERF-09</a:t>
            </a:r>
          </a:p>
          <a:p xmlns:a="http://schemas.openxmlformats.org/drawingml/2006/main">
            <a:r>
              <a:t/>
            </a:r>
          </a:p>
          <a:p xmlns:a="http://schemas.openxmlformats.org/drawingml/2006/main">
            <a:r>
              <a:t>原典</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EAT-N04 CoAgent for Operations TF1700</a:t>
            </a:r>
          </a:p>
          <a:p xmlns:a="http://schemas.openxmlformats.org/drawingml/2006/main">
            <a:r>
              <a:t>https://www.beckhoff.com/ko-kr/products/automation/twincat/tfxxxx-twincat-3-functions/tf1xxx-system/tf1700.html</a:t>
            </a:r>
          </a:p>
          <a:p xmlns:a="http://schemas.openxmlformats.org/drawingml/2006/main">
            <a:r>
              <a:t>該当箇所:Properties／Product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ERF-02 TF1700 CoAgent for Operations</a:t>
            </a:r>
          </a:p>
          <a:p xmlns:a="http://schemas.openxmlformats.org/drawingml/2006/main">
            <a:r>
              <a:t>https://www.beckhoff.com/en-en/products/automation/twincat/tfxxxx-twincat-3-functions/tf1xxx-system/tf1700.html</a:t>
            </a:r>
          </a:p>
          <a:p xmlns:a="http://schemas.openxmlformats.org/drawingml/2006/main">
            <a:r>
              <a:t>該当箇所:Properties／direct system access；Product status／market release on request</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EOV-V015-2024-1 JIMTOF2024公式カタログ：株式会社ソフィックス (E4046)</a:t>
            </a:r>
          </a:p>
          <a:p xmlns:a="http://schemas.openxmlformats.org/drawingml/2006/main">
            <a:r>
              <a:t>https://www.jimtof.org/2024/search/jp/ESdetails?e=WNiUW-E-atY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EOV-V015-2026-1 JIMTOF2026公式カタログ：株式会社ソフィックス (E1067)</a:t>
            </a:r>
          </a:p>
          <a:p xmlns:a="http://schemas.openxmlformats.org/drawingml/2006/main">
            <a:r>
              <a:t>https://www.jimtof.org/search/jp/ESdetails?e=rYRhOM0muPQ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EDP-21 SOFIXCAN AI Forecast</a:t>
            </a:r>
          </a:p>
          <a:p xmlns:a="http://schemas.openxmlformats.org/drawingml/2006/main">
            <a:r>
              <a:t>https://www.sofix.co.jp/products/sofixcan_ai_forecast/</a:t>
            </a:r>
          </a:p>
          <a:p xmlns:a="http://schemas.openxmlformats.org/drawingml/2006/main">
            <a:r>
              <a:t>該当箇所:時系列データ予測／形状領域予測／顧客別予測システム開発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EDP-22 SOFIXCAN Fleeter</a:t>
            </a:r>
          </a:p>
          <a:p xmlns:a="http://schemas.openxmlformats.org/drawingml/2006/main">
            <a:r>
              <a:t>https://www.sofix.co.jp/products/sofixcan_fleeter/</a:t>
            </a:r>
          </a:p>
          <a:p xmlns:a="http://schemas.openxmlformats.org/drawingml/2006/main">
            <a:r>
              <a:t>該当箇所:上位システム命令をトリガーに各機器を制御／通信モジュール追加</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EDP-23 JIMTOF2026告知とミニ工場の過去告知</a:t>
            </a:r>
          </a:p>
          <a:p xmlns:a="http://schemas.openxmlformats.org/drawingml/2006/main">
            <a:r>
              <a:t>https://www.sofix.co.jp/</a:t>
            </a:r>
          </a:p>
          <a:p xmlns:a="http://schemas.openxmlformats.org/drawingml/2006/main">
            <a:r>
              <a:t>該当箇所:2026/9/29告知／2025/11/4国際ロボット展でもミニ工場を予告</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EOV-V016-2026-1 JIMTOF2026公式カタログ：パナソニックプロダクションエンジニアリング株式会社 (W3086)</a:t>
            </a:r>
          </a:p>
          <a:p xmlns:a="http://schemas.openxmlformats.org/drawingml/2006/main">
            <a:r>
              <a:t>https://www.jimtof.org/search/jp/ESdetails?e=5mrMofo3nN8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EOV-W05 X-Area</a:t>
            </a:r>
          </a:p>
          <a:p xmlns:a="http://schemas.openxmlformats.org/drawingml/2006/main">
            <a:r>
              <a:t>https://www.panasonic.com/jp/company/ppe/products/x-area.html</a:t>
            </a:r>
          </a:p>
          <a:p xmlns:a="http://schemas.openxmlformats.org/drawingml/2006/main">
            <a:r>
              <a:t>該当箇所:サービス概要、システム構成</a:t>
            </a:r>
          </a:p>
          <a:p xmlns:a="http://schemas.openxmlformats.org/drawingml/2006/main">
            <a:r>
              <a:t>確認:2026-10-16</a:t>
            </a:r>
          </a:p>
          <a:p xmlns:a="http://schemas.openxmlformats.org/drawingml/2006/main">
            <a:r>
              <a:t>種類:企業公式資料・メーカー主張</a:t>
            </a:r>
          </a:p>
          <a:p xmlns:a="http://schemas.openxmlformats.org/drawingml/2006/main">
            <a:r>
              <a:t>展示:人の介入を含む運用方式。無人運用・同時台数の保証ではない</a:t>
            </a:r>
          </a:p>
          <a:p xmlns:a="http://schemas.openxmlformats.org/drawingml/2006/main">
            <a:r>
              <a:t/>
            </a:r>
          </a:p>
          <a:p xmlns:a="http://schemas.openxmlformats.org/drawingml/2006/main">
            <a:r>
              <a:t>EOV-W09 工場敷地内でのX-Area Remote実証</a:t>
            </a:r>
          </a:p>
          <a:p xmlns:a="http://schemas.openxmlformats.org/drawingml/2006/main">
            <a:r>
              <a:t>https://tech.panasonic.com/jp/td/news/20221124.html</a:t>
            </a:r>
          </a:p>
          <a:p xmlns:a="http://schemas.openxmlformats.org/drawingml/2006/main">
            <a:r>
              <a:t>該当箇所:2022/11/24 NEWS &amp; TOPICS</a:t>
            </a:r>
          </a:p>
          <a:p xmlns:a="http://schemas.openxmlformats.org/drawingml/2006/main">
            <a:r>
              <a:t>確認:2026-10-16</a:t>
            </a:r>
          </a:p>
          <a:p xmlns:a="http://schemas.openxmlformats.org/drawingml/2006/main">
            <a:r>
              <a:t>種類:企業公式資料・メーカー主張</a:t>
            </a:r>
          </a:p>
          <a:p xmlns:a="http://schemas.openxmlformats.org/drawingml/2006/main">
            <a:r>
              <a:t>展示:2024出展比較はできないが、2026に初めて遠隔管制が生まれたという解釈を否定する根拠</a:t>
            </a:r>
          </a:p>
          <a:p xmlns:a="http://schemas.openxmlformats.org/drawingml/2006/main">
            <a:r>
              <a:t/>
            </a:r>
          </a:p>
          <a:p xmlns:a="http://schemas.openxmlformats.org/drawingml/2006/main">
            <a:r>
              <a:t>EDP-24 屋外自動搬送とX-Area Remoteの実証</a:t>
            </a:r>
          </a:p>
          <a:p xmlns:a="http://schemas.openxmlformats.org/drawingml/2006/main">
            <a:r>
              <a:t>https://news.panasonic.com/jp/press/jn260713-1</a:t>
            </a:r>
          </a:p>
          <a:p xmlns:a="http://schemas.openxmlformats.org/drawingml/2006/main">
            <a:r>
              <a:t>該当箇所:障害物停止時に自動運転から人の遠隔操作へ切替／担当者とセーフティドライバー</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EEX-EXH-2026-4fb92ba6b82546d7 JIMTOF2026公式出展説明：WinTool AG (E1049)</a:t>
            </a:r>
          </a:p>
          <a:p xmlns:a="http://schemas.openxmlformats.org/drawingml/2006/main">
            <a:r>
              <a:t>https://www.jimtof.org/search/jp/ESdetails?e=sSFZV23clJo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EEX-EXH-2024-3f1fa1966a57e011 JIMTOF2024公式出展説明：WinTool AG (E5003)</a:t>
            </a:r>
          </a:p>
          <a:p xmlns:a="http://schemas.openxmlformats.org/drawingml/2006/main">
            <a:r>
              <a:t>https://www.jimtof.org/2024/search/jp/ESdetails?e=-n22F1d_CDc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EDP-18 ERP Integration</a:t>
            </a:r>
          </a:p>
          <a:p xmlns:a="http://schemas.openxmlformats.org/drawingml/2006/main">
            <a:r>
              <a:t>https://www.wintool.com/en/tool-management-software/cnc-inventory-manager/erp-integration</a:t>
            </a:r>
          </a:p>
          <a:p xmlns:a="http://schemas.openxmlformats.org/drawingml/2006/main">
            <a:r>
              <a:t>該当箇所:最低在庫で購買要求を生成し、管理者承認後にERPへ自動送信</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EDP-19 CNC Process Manager</a:t>
            </a:r>
          </a:p>
          <a:p xmlns:a="http://schemas.openxmlformats.org/drawingml/2006/main">
            <a:r>
              <a:t>https://www.wintool.com/software/cnc-prozessverwaltung</a:t>
            </a:r>
          </a:p>
          <a:p xmlns:a="http://schemas.openxmlformats.org/drawingml/2006/main">
            <a:r>
              <a:t>該当箇所:工具積卸リスト・在庫確認・プリセッター指示・NCと測定値の転送</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EOV-V013-2026-1 JIMTOF2026公式カタログ：株式会社Smart Craft (S3002)</a:t>
            </a:r>
          </a:p>
          <a:p xmlns:a="http://schemas.openxmlformats.org/drawingml/2006/main">
            <a:r>
              <a:t>https://www.jimtof.org/search/jp/ESdetails?e=WqjRB6DEqN0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EOV-W01 TwinCAT 3 Machine Learning Creator</a:t>
            </a:r>
          </a:p>
          <a:p xmlns:a="http://schemas.openxmlformats.org/drawingml/2006/main">
            <a:r>
              <a:t>https://www.beckhoff.com/en-za/products/automation/twincat/texxxx-twincat-3-engineering/te3850.html</a:t>
            </a:r>
          </a:p>
          <a:p xmlns:a="http://schemas.openxmlformats.org/drawingml/2006/main">
            <a:r>
              <a:t>該当箇所:製品説明冒頭、Product status</a:t>
            </a:r>
          </a:p>
          <a:p xmlns:a="http://schemas.openxmlformats.org/drawingml/2006/main">
            <a:r>
              <a:t>確認:2026-10-16</a:t>
            </a:r>
          </a:p>
          <a:p xmlns:a="http://schemas.openxmlformats.org/drawingml/2006/main">
            <a:r>
              <a:t>種類:企業公式資料・メーカー主張</a:t>
            </a:r>
          </a:p>
          <a:p xmlns:a="http://schemas.openxmlformats.org/drawingml/2006/main">
            <a:r>
              <a:t>展示:既存製品の方式確認。2026展示はEOV-V005-2026-1で別確認</a:t>
            </a:r>
          </a:p>
          <a:p xmlns:a="http://schemas.openxmlformats.org/drawingml/2006/main">
            <a:r>
              <a:t/>
            </a:r>
          </a:p>
          <a:p xmlns:a="http://schemas.openxmlformats.org/drawingml/2006/main">
            <a:r>
              <a:t>EDP-04 PC Control 02/2024：Machine Learning Creator</a:t>
            </a:r>
          </a:p>
          <a:p xmlns:a="http://schemas.openxmlformats.org/drawingml/2006/main">
            <a:r>
              <a:t>https://www.beckhoff.com/media/downloads/information-media/pc-control/pcc_0224_e.pdf</a:t>
            </a:r>
          </a:p>
          <a:p xmlns:a="http://schemas.openxmlformats.org/drawingml/2006/main">
            <a:r>
              <a:t>該当箇所:TE3850／訓練・テストデータ分割、モデル解析、ONNX出力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EOV-V011-2024-1 JIMTOF2024公式カタログ：株式会社たけびし (E7053)</a:t>
            </a:r>
          </a:p>
          <a:p xmlns:a="http://schemas.openxmlformats.org/drawingml/2006/main">
            <a:r>
              <a:t>https://www.jimtof.org/2024/search/jp/ESdetails?e=SiZMI-OH8_k</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EOV-V011-2026-1 JIMTOF2026公式カタログ：株式会社たけびし (S3015)</a:t>
            </a:r>
          </a:p>
          <a:p xmlns:a="http://schemas.openxmlformats.org/drawingml/2006/main">
            <a:r>
              <a:t>https://www.jimtof.org/search/jp/ESdetails?e=Qh27DAtEkbw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EDP-06 OPC UA情報モデルとAIエージェント</a:t>
            </a:r>
          </a:p>
          <a:p xmlns:a="http://schemas.openxmlformats.org/drawingml/2006/main">
            <a:r>
              <a:t>https://opcconnect.opcfoundation.org/2026/06/toward-realizing-ai-utilization-in-manufacturing-exploring-the-potential-of-integrating-the-opc-ua-information-model-with-ai-agents/</a:t>
            </a:r>
          </a:p>
          <a:p xmlns:a="http://schemas.openxmlformats.org/drawingml/2006/main">
            <a:r>
              <a:t>該当箇所:A New Approach to Connecting AI Agents／MCP Adapterはplanning to provide</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EOV-V012-2024-1 JIMTOF2024公式カタログ：株式会社シーイーシー (E5022)</a:t>
            </a:r>
          </a:p>
          <a:p xmlns:a="http://schemas.openxmlformats.org/drawingml/2006/main">
            <a:r>
              <a:t>https://www.jimtof.org/2024/search/jp/ESdetails?e=WS9ql5D41fQ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EOV-V012-2026-1 JIMTOF2026公式カタログ：株式会社シーイーシー (E2006)</a:t>
            </a:r>
          </a:p>
          <a:p xmlns:a="http://schemas.openxmlformats.org/drawingml/2006/main">
            <a:r>
              <a:t>https://www.jimtof.org/search/jp/ESdetails?e=tW-C9oF94EQ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EEX-EXH-2026-9b991dd8132f51dc JIMTOF2026公式出展説明：シーメンス株式会社 (E3006)</a:t>
            </a:r>
          </a:p>
          <a:p xmlns:a="http://schemas.openxmlformats.org/drawingml/2006/main">
            <a:r>
              <a:t>https://www.jimtof.org/search/jp/ESdetails?e=EBIotJu7lrg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EEX-EXH-2024-558faea07a73f5d8 JIMTOF2024公式出展説明：シーメンス株式会社 (E5008)</a:t>
            </a:r>
          </a:p>
          <a:p xmlns:a="http://schemas.openxmlformats.org/drawingml/2006/main">
            <a:r>
              <a:t>https://www.jimtof.org/2024/search/jp/ESdetails?e=nYvFR1vpbuE</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EDP-16 HELLER Toknとデジタルツインの訓練事例</a:t>
            </a:r>
          </a:p>
          <a:p xmlns:a="http://schemas.openxmlformats.org/drawingml/2006/main">
            <a:r>
              <a:t>https://references.siemens.com/en/reference/heller-tokn-digital-twin?id=41137</a:t>
            </a:r>
          </a:p>
          <a:p xmlns:a="http://schemas.openxmlformats.org/drawingml/2006/main">
            <a:r>
              <a:t>該当箇所:Completion: 2024／仮想SINUMERIK ONEと3D機械モデルによる訓練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EDP-17 Humanoidとの工場内物流の運用試験</a:t>
            </a:r>
          </a:p>
          <a:p xmlns:a="http://schemas.openxmlformats.org/drawingml/2006/main">
            <a:r>
              <a:t>https://press.siemens.com/jp/ja/pressrelease/pr-20260416</a:t>
            </a:r>
          </a:p>
          <a:p xmlns:a="http://schemas.openxmlformats.org/drawingml/2006/main">
            <a:r>
              <a:t>該当箇所:HMND 01 Alphaのトート把持・搬送・配置／Jetson Thor・Isaac Sim/Lab</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EEX-EXH-2026-016097f87d1914b2 JIMTOF2026公式出展説明：NdotLight Co., Ltd. (S4004)</a:t>
            </a:r>
          </a:p>
          <a:p xmlns:a="http://schemas.openxmlformats.org/drawingml/2006/main">
            <a:r>
              <a:t>https://www.jimtof.org/search/jp/ESdetails?e=6Ds1v9hxvrY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EEX-WNDOT TRINIX：Physical AI向け3Dデータの企業公式説明</a:t>
            </a:r>
          </a:p>
          <a:p xmlns:a="http://schemas.openxmlformats.org/drawingml/2006/main">
            <a:r>
              <a:t>https://ndotlight.com/newsroom/ndotlight-proposes-a-new-3d-data-standard-for-the-physical-ai-era-with-trinix</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展示:製品の方式説明。JIMTOFの実演範囲とは区別</a:t>
            </a:r>
          </a:p>
          <a:p xmlns:a="http://schemas.openxmlformats.org/drawingml/2006/main">
            <a:r>
              <a:t/>
            </a:r>
          </a:p>
          <a:p xmlns:a="http://schemas.openxmlformats.org/drawingml/2006/main">
            <a:r>
              <a:t>ERF-06 TRINIX：物理属性生成と自己修正</a:t>
            </a:r>
          </a:p>
          <a:p xmlns:a="http://schemas.openxmlformats.org/drawingml/2006/main">
            <a:r>
              <a:t>https://ndotlight.com/</a:t>
            </a:r>
          </a:p>
          <a:p xmlns:a="http://schemas.openxmlformats.org/drawingml/2006/main">
            <a:r>
              <a:t>該当箇所:Physics Injection／Self-corrective Closed Loop／FAQ</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ERF-07 SimReady FAQ：静的検証と実行時検証</a:t>
            </a:r>
          </a:p>
          <a:p xmlns:a="http://schemas.openxmlformats.org/drawingml/2006/main">
            <a:r>
              <a:t>https://docs.omniverse.nvidia.com/simready/latest/simready-faq.html</a:t>
            </a:r>
          </a:p>
          <a:p xmlns:a="http://schemas.openxmlformats.org/drawingml/2006/main">
            <a:r>
              <a:t>該当箇所:What Is the Difference…Foundation；How Do I Validate My Composed Scene…（L526–538）</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ERF-08 SimReady Physics Best Practices</a:t>
            </a:r>
          </a:p>
          <a:p xmlns:a="http://schemas.openxmlformats.org/drawingml/2006/main">
            <a:r>
              <a:t>https://docs.omniverse.nvidia.com/simready/latest/simready-asset-creation/physics-best-practices.html</a:t>
            </a:r>
          </a:p>
          <a:p xmlns:a="http://schemas.openxmlformats.org/drawingml/2006/main">
            <a:r>
              <a:t>該当箇所:Typical USDPhysics Components／Collider、Mass、materialの摩擦・密度・反発</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ERF-09 DexBench共同開発の告知</a:t>
            </a:r>
          </a:p>
          <a:p xmlns:a="http://schemas.openxmlformats.org/drawingml/2006/main">
            <a:r>
              <a:t>https://ndotlight.com/newsroom/ndotlight-to-co-develop-dexbench-a-global-standard-for-humanoid-evaluation-with-nvidia-and-rlwrld</a:t>
            </a:r>
          </a:p>
          <a:p xmlns:a="http://schemas.openxmlformats.org/drawingml/2006/main">
            <a:r>
              <a:t>該当箇所:2026/8/7／SimReady環境・操作評価・sim-to-real gap低減の共同開発</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9dd272789e46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048c8a7f4b4c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91bbdf3bad4c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4f34c5b61a49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cba351647245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640645063145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91405C-B1FC-4D07-8C69-8A34D1560C40}"/>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808D76-63E8-4C62-A423-A9EABED8EAC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DC6F37-B877-449D-9661-FD4D57D4470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DA876B-3512-47A1-9FE3-772A57152F2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4C1D53-8342-41E6-8A88-522D2EDF926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5B3A8C-3BB6-40D8-A7CE-365D92819E8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38EC13-A551-4406-94D9-8991A259DE4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FB9164-4438-4E1F-8C71-85F36A3A24F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A7A0AA-18CA-44BB-8E29-7788E5A9188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1DA0CD-0ECA-4F53-8E22-B620AE2CE0D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4ea487b7824397" /><Relationship Type="http://schemas.openxmlformats.org/officeDocument/2006/relationships/slideLayout" Target="/ppt/slideLayouts/slideLayout1.xml" Id="R4cf5cbb100d54a5e" /><Relationship Type="http://schemas.openxmlformats.org/officeDocument/2006/relationships/slideLayout" Target="/ppt/slideLayouts/slideLayout2.xml" Id="R9ebbc1900a324885" /><Relationship Type="http://schemas.openxmlformats.org/officeDocument/2006/relationships/slideLayout" Target="/ppt/slideLayouts/slideLayout3.xml" Id="R089c255302d64d27" /><Relationship Type="http://schemas.openxmlformats.org/officeDocument/2006/relationships/slideLayout" Target="/ppt/slideLayouts/slideLayout4.xml" Id="R9e6dd36a64274cb3" /><Relationship Type="http://schemas.openxmlformats.org/officeDocument/2006/relationships/slideLayout" Target="/ppt/slideLayouts/slideLayout5.xml" Id="R069430d4c62b4ce9" /><Relationship Type="http://schemas.openxmlformats.org/officeDocument/2006/relationships/slideLayout" Target="/ppt/slideLayouts/slideLayout6.xml" Id="Rb9de5fb8f96246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f5cbb100d54a5e"/>
    <p:sldLayoutId xmlns:r="http://schemas.openxmlformats.org/officeDocument/2006/relationships" id="2147483650" r:id="R9ebbc1900a324885"/>
    <p:sldLayoutId xmlns:r="http://schemas.openxmlformats.org/officeDocument/2006/relationships" id="2147483651" r:id="R089c255302d64d27"/>
    <p:sldLayoutId xmlns:r="http://schemas.openxmlformats.org/officeDocument/2006/relationships" id="2147483652" r:id="R9e6dd36a64274cb3"/>
    <p:sldLayoutId xmlns:r="http://schemas.openxmlformats.org/officeDocument/2006/relationships" id="2147483653" r:id="R069430d4c62b4ce9"/>
    <p:sldLayoutId xmlns:r="http://schemas.openxmlformats.org/officeDocument/2006/relationships" id="2147483654" r:id="Rb9de5fb8f96246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3705e8bcdb4cd0" /><Relationship Type="http://schemas.openxmlformats.org/officeDocument/2006/relationships/notesSlide" Target="/ppt/notesSlides/notesSlide1.xml" Id="Rf15ddf06143b42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9811fa75974f79" /><Relationship Type="http://schemas.openxmlformats.org/officeDocument/2006/relationships/notesSlide" Target="/ppt/notesSlides/notesSlide2.xml" Id="R3682634629e641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92e9a658b84f76" /><Relationship Type="http://schemas.openxmlformats.org/officeDocument/2006/relationships/notesSlide" Target="/ppt/notesSlides/notesSlide3.xml" Id="R8f09f601872b4b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e6fb1d44c445b5" /><Relationship Type="http://schemas.openxmlformats.org/officeDocument/2006/relationships/notesSlide" Target="/ppt/notesSlides/notesSlide4.xml" Id="R5964aee412a84b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9d47e6746364b6a" /><Relationship Type="http://schemas.openxmlformats.org/officeDocument/2006/relationships/notesSlide" Target="/ppt/notesSlides/notesSlide5.xml" Id="R6462e2324dde41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0f9f9e24c64e8c" /><Relationship Type="http://schemas.openxmlformats.org/officeDocument/2006/relationships/notesSlide" Target="/ppt/notesSlides/notesSlide6.xml" Id="R62da51521b0045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1306125b8eb4769" /><Relationship Type="http://schemas.openxmlformats.org/officeDocument/2006/relationships/notesSlide" Target="/ppt/notesSlides/notesSlide7.xml" Id="R1980e6cd00bc44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d730c5db73a480a" /><Relationship Type="http://schemas.openxmlformats.org/officeDocument/2006/relationships/notesSlide" Target="/ppt/notesSlides/notesSlide8.xml" Id="R5d2851cbdcaf43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23e88c9d2254cf9" /><Relationship Type="http://schemas.openxmlformats.org/officeDocument/2006/relationships/notesSlide" Target="/ppt/notesSlides/notesSlide9.xml" Id="R79e8d144f27e4b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74b52fb9c6c4ede" /><Relationship Type="http://schemas.openxmlformats.org/officeDocument/2006/relationships/notesSlide" Target="/ppt/notesSlides/notesSlide10.xml" Id="R0a842cb3b09e43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a51d2bf0c0d4921" /><Relationship Type="http://schemas.openxmlformats.org/officeDocument/2006/relationships/notesSlide" Target="/ppt/notesSlides/notesSlide11.xml" Id="R0d8b28ec786349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59d001424b4fa8" /><Relationship Type="http://schemas.openxmlformats.org/officeDocument/2006/relationships/notesSlide" Target="/ppt/notesSlides/notesSlide12.xml" Id="Rd548b9b4ebf44d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1d962a7cf048ff" /><Relationship Type="http://schemas.openxmlformats.org/officeDocument/2006/relationships/notesSlide" Target="/ppt/notesSlides/notesSlide13.xml" Id="R9bcbf277acc24d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cd8d06e5a9e4922" /><Relationship Type="http://schemas.openxmlformats.org/officeDocument/2006/relationships/hyperlink" Target="https://www.jimtof.org/search/jp/ESdetails?e=hZaNogHdQM4" TargetMode="External" Id="Rb198da5f7948449e" /><Relationship Type="http://schemas.openxmlformats.org/officeDocument/2006/relationships/hyperlink" Target="https://www.jimtof.org/search/jp/ESdetails?e=i_4zCxJP258" TargetMode="External" Id="Rcc70b328d6324ea6" /><Relationship Type="http://schemas.openxmlformats.org/officeDocument/2006/relationships/hyperlink" Target="https://www.jimtof.org/search/jp/ESdetails?e=sccKfxE4bYo" TargetMode="External" Id="R2af7956581c44a52" /><Relationship Type="http://schemas.openxmlformats.org/officeDocument/2006/relationships/notesSlide" Target="/ppt/notesSlides/notesSlide14.xml" Id="Rddf05fc638cc4e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3cae572f87d422a" /><Relationship Type="http://schemas.openxmlformats.org/officeDocument/2006/relationships/hyperlink" Target="https://www.jimtof.org/search/jp/ESdetails?e=6l20Qo0pjl4" TargetMode="External" Id="R94e18f0c191c4318" /><Relationship Type="http://schemas.openxmlformats.org/officeDocument/2006/relationships/hyperlink" Target="https://www.jimtof.org/search/jp/ESdetails?e=VrAjMTKmxdw" TargetMode="External" Id="R145d2a311bd6408c" /><Relationship Type="http://schemas.openxmlformats.org/officeDocument/2006/relationships/hyperlink" Target="https://www.jimtof.org/search/jp/ESdetails?e=2TVzwvOqLxI" TargetMode="External" Id="Rad8588613ef044c1" /><Relationship Type="http://schemas.openxmlformats.org/officeDocument/2006/relationships/notesSlide" Target="/ppt/notesSlides/notesSlide15.xml" Id="R17f9ec90af964a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f708faf5384ea4" /><Relationship Type="http://schemas.openxmlformats.org/officeDocument/2006/relationships/hyperlink" Target="https://www.jimtof.org/search/jp/ESdetails?e=41U8xW4UkcM" TargetMode="External" Id="R79fc62bec82b491a" /><Relationship Type="http://schemas.openxmlformats.org/officeDocument/2006/relationships/hyperlink" Target="https://www.jimtof.org/search/jp/ESdetails?e=L43LSAjxuyc" TargetMode="External" Id="Raa3a68171cfa44b6" /><Relationship Type="http://schemas.openxmlformats.org/officeDocument/2006/relationships/hyperlink" Target="https://www.jimtof.org/search/jp/ESdetails?e=OC6R-wdDduM" TargetMode="External" Id="Rd8c5939362424c6c" /><Relationship Type="http://schemas.openxmlformats.org/officeDocument/2006/relationships/notesSlide" Target="/ppt/notesSlides/notesSlide16.xml" Id="Rad23ee7eb3044f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2dc6682309948a4" /><Relationship Type="http://schemas.openxmlformats.org/officeDocument/2006/relationships/hyperlink" Target="https://www.jimtof.org/search/jp/ESdetails?e=K7DqahO2h08" TargetMode="External" Id="Re59288ebdecb44de" /><Relationship Type="http://schemas.openxmlformats.org/officeDocument/2006/relationships/hyperlink" Target="https://www.jimtof.org/search/jp/ESdetails?e=K7DqahO2h08" TargetMode="External" Id="R73056da312ed4967" /><Relationship Type="http://schemas.openxmlformats.org/officeDocument/2006/relationships/hyperlink" Target="https://www.jimtof.org/search/jp/ESdetails?e=FHsQAvmFusY" TargetMode="External" Id="Rb74d79add4f24ad9" /><Relationship Type="http://schemas.openxmlformats.org/officeDocument/2006/relationships/notesSlide" Target="/ppt/notesSlides/notesSlide17.xml" Id="R867616dff7d242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fb309c34abf4c48" /><Relationship Type="http://schemas.openxmlformats.org/officeDocument/2006/relationships/hyperlink" Target="https://www.jimtof.org/search/jp/ESdetails?e=30li0vWcseI" TargetMode="External" Id="Rf21f7d388a3b4a2b" /><Relationship Type="http://schemas.openxmlformats.org/officeDocument/2006/relationships/hyperlink" Target="https://www.mazak.com/uk-en/technology/accuracy/" TargetMode="External" Id="R90b16b11a0ef4704" /><Relationship Type="http://schemas.openxmlformats.org/officeDocument/2006/relationships/hyperlink" Target="https://www.okuma.co.jp/solution_technology/process/" TargetMode="External" Id="R94122dcbd4834f33" /><Relationship Type="http://schemas.openxmlformats.org/officeDocument/2006/relationships/notesSlide" Target="/ppt/notesSlides/notesSlide18.xml" Id="R101a78e5b3e74a9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27615be0eb44c55" /><Relationship Type="http://schemas.openxmlformats.org/officeDocument/2006/relationships/hyperlink" Target="https://www.jimtof.org/search/jp/ESdetails?e=pYGmVz5GC1c" TargetMode="External" Id="Rc22d7ec850fc4beb" /><Relationship Type="http://schemas.openxmlformats.org/officeDocument/2006/relationships/hyperlink" Target="https://www.jimtof.org/search/jp/ESdetails?e=lMk3zNvQJbg" TargetMode="External" Id="Re4d99229beff475d" /><Relationship Type="http://schemas.openxmlformats.org/officeDocument/2006/relationships/hyperlink" Target="https://www.jimtof.org/search/jp/ESdetails?e=8ealehgmk8o" TargetMode="External" Id="R8174793116bf487d" /><Relationship Type="http://schemas.openxmlformats.org/officeDocument/2006/relationships/notesSlide" Target="/ppt/notesSlides/notesSlide19.xml" Id="R38497573b04b44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a5c5043a5a74b7c" /><Relationship Type="http://schemas.openxmlformats.org/officeDocument/2006/relationships/hyperlink" Target="https://www.jimtof.org/search/jp/ESdetails?e=oatArsOZ-Wc" TargetMode="External" Id="R4fe12505c2ac4118" /><Relationship Type="http://schemas.openxmlformats.org/officeDocument/2006/relationships/hyperlink" Target="https://www.jimtof.org/search/jp/ESdetails?e=GozGZRxlviw" TargetMode="External" Id="R1e28a160fef544f2" /><Relationship Type="http://schemas.openxmlformats.org/officeDocument/2006/relationships/hyperlink" Target="https://www.jimtof.org/search/jp/ESdetails?e=_njqMb9vBpc" TargetMode="External" Id="R025b451bf3954e7a" /><Relationship Type="http://schemas.openxmlformats.org/officeDocument/2006/relationships/notesSlide" Target="/ppt/notesSlides/notesSlide20.xml" Id="R1b2d10976178451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37398b991a8491d" /><Relationship Type="http://schemas.openxmlformats.org/officeDocument/2006/relationships/hyperlink" Target="https://www.jimtof.org/search/jp/ESdetails?e=ZvT3Lci-hnM" TargetMode="External" Id="Rf182bc8f427c4158" /><Relationship Type="http://schemas.openxmlformats.org/officeDocument/2006/relationships/hyperlink" Target="https://www.jimtof.org/search/jp/ESdetails?e=iohDR5yR9VA" TargetMode="External" Id="Rdbdf12ec5f884e5c" /><Relationship Type="http://schemas.openxmlformats.org/officeDocument/2006/relationships/hyperlink" Target="https://www.jimtof.org/search/jp/ESdetails?e=AjLnzm01WWU" TargetMode="External" Id="R221d657a78c741ec" /><Relationship Type="http://schemas.openxmlformats.org/officeDocument/2006/relationships/notesSlide" Target="/ppt/notesSlides/notesSlide21.xml" Id="Ra994bc4a3d5c460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c71fc3b15b147ab" /><Relationship Type="http://schemas.openxmlformats.org/officeDocument/2006/relationships/hyperlink" Target="https://www.jimtof.org/search/jp/ESdetails?e=ZvT3Lci-hnM" TargetMode="External" Id="R09a6100d991f451b" /><Relationship Type="http://schemas.openxmlformats.org/officeDocument/2006/relationships/hyperlink" Target="https://www.jimtof.org/search/jp/ESdetails?e=v6nw4APC-vQ" TargetMode="External" Id="Rff5d466ba8114ebf" /><Relationship Type="http://schemas.openxmlformats.org/officeDocument/2006/relationships/hyperlink" Target="https://www.jimtof.org/search/jp/ESdetails?e=tThKOA-gm8s" TargetMode="External" Id="R7f07c3de9ad14de3" /><Relationship Type="http://schemas.openxmlformats.org/officeDocument/2006/relationships/notesSlide" Target="/ppt/notesSlides/notesSlide22.xml" Id="R2cdd6cb2308b415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011d9045dc74744" /><Relationship Type="http://schemas.openxmlformats.org/officeDocument/2006/relationships/hyperlink" Target="https://www.jimtof.org/search/jp/ESdetails?e=kygm0UxJL-M" TargetMode="External" Id="Rd409c8d4a2414b7d" /><Relationship Type="http://schemas.openxmlformats.org/officeDocument/2006/relationships/notesSlide" Target="/ppt/notesSlides/notesSlide23.xml" Id="Rc63725c90fe647a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4875a065a7e45ef" /><Relationship Type="http://schemas.openxmlformats.org/officeDocument/2006/relationships/hyperlink" Target="https://www.jimtof.org/search/jp/ESdetails?e=Z_SbvK_hxBY" TargetMode="External" Id="R7001286c1d864af2" /><Relationship Type="http://schemas.openxmlformats.org/officeDocument/2006/relationships/hyperlink" Target="https://www.jimtof.org/search/jp/ESdetails?e=x6DdroBnfSA" TargetMode="External" Id="Rb22940f7a57040ae" /><Relationship Type="http://schemas.openxmlformats.org/officeDocument/2006/relationships/hyperlink" Target="https://www.jimtof.org/search/jp/ESdetails?e=hzAGGAi5wL4" TargetMode="External" Id="R8020e18a36bb48c7" /><Relationship Type="http://schemas.openxmlformats.org/officeDocument/2006/relationships/notesSlide" Target="/ppt/notesSlides/notesSlide24.xml" Id="Rcf919742013f492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f0c3c572e034a38" /><Relationship Type="http://schemas.openxmlformats.org/officeDocument/2006/relationships/hyperlink" Target="https://www.jimtof.org/search/jp/ESdetails?e=bhpEIIjKNb4" TargetMode="External" Id="R06e487d245634ba7" /><Relationship Type="http://schemas.openxmlformats.org/officeDocument/2006/relationships/hyperlink" Target="https://www.jimtof.org/search/jp/ESdetails?e=shuDpJLDn-A" TargetMode="External" Id="R2b8c368da1a7423f" /><Relationship Type="http://schemas.openxmlformats.org/officeDocument/2006/relationships/hyperlink" Target="https://www.jimtof.org/search/jp/ESdetails?e=C7A_2ZTDXNw" TargetMode="External" Id="Ra621df61a4124b25" /><Relationship Type="http://schemas.openxmlformats.org/officeDocument/2006/relationships/notesSlide" Target="/ppt/notesSlides/notesSlide25.xml" Id="Rb53ea5d5ee9142c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a3a46fd28ca4f67" /><Relationship Type="http://schemas.openxmlformats.org/officeDocument/2006/relationships/hyperlink" Target="https://www.jimtof.org/search/jp/ESdetails?e=9k7ro8sL0VA" TargetMode="External" Id="R032da07926364ef9" /><Relationship Type="http://schemas.openxmlformats.org/officeDocument/2006/relationships/notesSlide" Target="/ppt/notesSlides/notesSlide26.xml" Id="R3b619cf3b9624b3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472b0d6133a47f5" /><Relationship Type="http://schemas.openxmlformats.org/officeDocument/2006/relationships/hyperlink" Target="https://www.jimtof.org/search/jp/ESdetails?e=zcqDj1lSkGs" TargetMode="External" Id="R68859b9cc0e1446a" /><Relationship Type="http://schemas.openxmlformats.org/officeDocument/2006/relationships/hyperlink" Target="https://www.jimtof.org/search/jp/ESdetails?e=30li0vWcseI" TargetMode="External" Id="Rec8ad30d91cb4654" /><Relationship Type="http://schemas.openxmlformats.org/officeDocument/2006/relationships/hyperlink" Target="https://www.jimtof.org/search/jp/ESdetails?e=FNFR7REQOl4" TargetMode="External" Id="Rfba7d559e10c4c8b" /><Relationship Type="http://schemas.openxmlformats.org/officeDocument/2006/relationships/notesSlide" Target="/ppt/notesSlides/notesSlide27.xml" Id="Rbf11061ec1394c1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3c243c2df584c2c" /><Relationship Type="http://schemas.openxmlformats.org/officeDocument/2006/relationships/hyperlink" Target="https://www.jimtof.org/search/jp/ESdetails?e=3dTDRAMwZpM" TargetMode="External" Id="R5203d57aa1d945d3" /><Relationship Type="http://schemas.openxmlformats.org/officeDocument/2006/relationships/hyperlink" Target="https://www.jimtof.org/search/jp/ESdetails?e=ekM3exgIAtc" TargetMode="External" Id="R0caf9807f16e4fee" /><Relationship Type="http://schemas.openxmlformats.org/officeDocument/2006/relationships/hyperlink" Target="https://www.jimtof.org/search/jp/ESdetails?e=c4cChQniAm8" TargetMode="External" Id="R5b82c0ff782d4705" /><Relationship Type="http://schemas.openxmlformats.org/officeDocument/2006/relationships/notesSlide" Target="/ppt/notesSlides/notesSlide28.xml" Id="R546eedf257694e4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f8358d2ef7a4e9a" /><Relationship Type="http://schemas.openxmlformats.org/officeDocument/2006/relationships/hyperlink" Target="https://www.jimtof.org/search/jp/ESdetails?e=jbu03Ik4s00" TargetMode="External" Id="Rc4aa5915cb164106" /><Relationship Type="http://schemas.openxmlformats.org/officeDocument/2006/relationships/notesSlide" Target="/ppt/notesSlides/notesSlide29.xml" Id="Raf08f3f646234a5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d212b8c20424a7d" /><Relationship Type="http://schemas.openxmlformats.org/officeDocument/2006/relationships/hyperlink" Target="https://www.jimtof.org/search/jp/ESdetails?e=K7DqahO2h08" TargetMode="External" Id="Ra1acf44e926244e3" /><Relationship Type="http://schemas.openxmlformats.org/officeDocument/2006/relationships/hyperlink" Target="https://www.jimtof.org/search/jp/ESdetails?e=rYRhOM0muPQ" TargetMode="External" Id="Rfc1b89e031484e03" /><Relationship Type="http://schemas.openxmlformats.org/officeDocument/2006/relationships/hyperlink" Target="https://www.jimtof.org/search/jp/ESdetails?e=5mrMofo3nN8" TargetMode="External" Id="R626baee9c7f949f2" /><Relationship Type="http://schemas.openxmlformats.org/officeDocument/2006/relationships/notesSlide" Target="/ppt/notesSlides/notesSlide30.xml" Id="R8d569f05df4e4e1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38a150f1db34d2b" /><Relationship Type="http://schemas.openxmlformats.org/officeDocument/2006/relationships/hyperlink" Target="https://www.jimtof.org/search/jp/ESdetails?e=sSFZV23clJo" TargetMode="External" Id="R7d78d09ba2d5474e" /><Relationship Type="http://schemas.openxmlformats.org/officeDocument/2006/relationships/hyperlink" Target="https://www.jimtof.org/search/jp/ESdetails?e=WqjRB6DEqN0" TargetMode="External" Id="Rd16dbe57dbbd40f9" /><Relationship Type="http://schemas.openxmlformats.org/officeDocument/2006/relationships/hyperlink" Target="https://www.jimtof.org/search/jp/ESdetails?e=sccKfxE4bYo" TargetMode="External" Id="R291f605ec5434e42" /><Relationship Type="http://schemas.openxmlformats.org/officeDocument/2006/relationships/notesSlide" Target="/ppt/notesSlides/notesSlide31.xml" Id="R6355238ab20e4eb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5067b5e05b74407" /><Relationship Type="http://schemas.openxmlformats.org/officeDocument/2006/relationships/hyperlink" Target="https://www.jimtof.org/search/jp/ESdetails?e=K7DqahO2h08" TargetMode="External" Id="R0d0ca8059c1c4a9b" /><Relationship Type="http://schemas.openxmlformats.org/officeDocument/2006/relationships/hyperlink" Target="https://www.jimtof.org/search/jp/ESdetails?e=Qh27DAtEkbw" TargetMode="External" Id="R08f4a3b2d29d4ab7" /><Relationship Type="http://schemas.openxmlformats.org/officeDocument/2006/relationships/hyperlink" Target="https://www.jimtof.org/search/jp/ESdetails?e=tW-C9oF94EQ" TargetMode="External" Id="Rb81be870b3834d67" /><Relationship Type="http://schemas.openxmlformats.org/officeDocument/2006/relationships/notesSlide" Target="/ppt/notesSlides/notesSlide32.xml" Id="R83e1e61e006f44b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169ff7e713e42d7" /><Relationship Type="http://schemas.openxmlformats.org/officeDocument/2006/relationships/hyperlink" Target="https://www.jimtof.org/search/jp/ESdetails?e=q0OrZBKM3uQ" TargetMode="External" Id="Rc87d13904ca04100" /><Relationship Type="http://schemas.openxmlformats.org/officeDocument/2006/relationships/hyperlink" Target="https://www.jimtof.org/search/jp/ESdetails?e=EBIotJu7lrg" TargetMode="External" Id="R9234a1a2851f4450" /><Relationship Type="http://schemas.openxmlformats.org/officeDocument/2006/relationships/hyperlink" Target="https://www.jimtof.org/search/jp/ESdetails?e=6Ds1v9hxvrY" TargetMode="External" Id="R25fb074d713c48cf" /><Relationship Type="http://schemas.openxmlformats.org/officeDocument/2006/relationships/notesSlide" Target="/ppt/notesSlides/notesSlide33.xml" Id="R103e3e7b162b432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357b3a7e35b4e02" /><Relationship Type="http://schemas.openxmlformats.org/officeDocument/2006/relationships/hyperlink" Target="https://www.jimtof.org/search/jp/ESdetails?e=q0OrZBKM3uQ" TargetMode="External" Id="Rd10d12fd83cf4d7c" /><Relationship Type="http://schemas.openxmlformats.org/officeDocument/2006/relationships/hyperlink" Target="https://www.jimtof.org/search/jp/ESdetails?e=q65eJorv2LU" TargetMode="External" Id="Rdfd03b97da3a45ea" /><Relationship Type="http://schemas.openxmlformats.org/officeDocument/2006/relationships/hyperlink" Target="https://www.jimtof.org/search/jp/ESdetails?e=bpuT_4Xpv_c" TargetMode="External" Id="Rd5e5f3934a6a43bd" /><Relationship Type="http://schemas.openxmlformats.org/officeDocument/2006/relationships/notesSlide" Target="/ppt/notesSlides/notesSlide34.xml" Id="R64e3879f75cb4b0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46835fd4dbf45b0" /><Relationship Type="http://schemas.openxmlformats.org/officeDocument/2006/relationships/notesSlide" Target="/ppt/notesSlides/notesSlide35.xml" Id="R8a45006ab4f44e0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a0d8c257629416f" /><Relationship Type="http://schemas.openxmlformats.org/officeDocument/2006/relationships/notesSlide" Target="/ppt/notesSlides/notesSlide36.xml" Id="R5453e53eaa3f447d" /></Relationships>
</file>

<file path=ppt/slides/slide1.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9" name="title">
            <a:extLst xmlns:a="http://schemas.openxmlformats.org/drawingml/2006/main">
              <a:ext uri="{FF2B5EF4-FFF2-40B4-BE49-F238E27FC236}">
                <a16:creationId xmlns:a16="http://schemas.microsoft.com/office/drawing/2014/main" id="{73874824-A1A0-4D43-9930-286AB18C213D}"/>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全体像：どの仕事の負担を、何で減らそうとしているか</a:t>
            </a:r>
          </a:p>
        </p:txBody>
      </p:sp>
      <p:sp>
        <p:nvSpPr>
          <p:cNvPr id="2" name="sub">
            <a:extLst xmlns:a="http://schemas.openxmlformats.org/drawingml/2006/main">
              <a:ext uri="{FF2B5EF4-FFF2-40B4-BE49-F238E27FC236}">
                <a16:creationId xmlns:a16="http://schemas.microsoft.com/office/drawing/2014/main" id="{BEC6B6F9-0E32-4372-AB8E-78ED4CE463FB}"/>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顧客ニーズは公式説明を踏まえた横断分析。各分野の具体例を、同じ順番で後続ページに示す。</a:t>
            </a:r>
          </a:p>
        </p:txBody>
      </p:sp>
      <p:sp>
        <p:nvSpPr>
          <p:cNvPr id="3" name="page">
            <a:extLst xmlns:a="http://schemas.openxmlformats.org/drawingml/2006/main">
              <a:ext uri="{FF2B5EF4-FFF2-40B4-BE49-F238E27FC236}">
                <a16:creationId xmlns:a16="http://schemas.microsoft.com/office/drawing/2014/main" id="{0123942D-D2D4-41F6-922B-6C0FF93AD5B4}"/>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01</a:t>
            </a:r>
          </a:p>
        </p:txBody>
      </p:sp>
      <p:sp>
        <p:nvSpPr>
          <p:cNvPr id="4" name="domain-0">
            <a:extLst xmlns:a="http://schemas.openxmlformats.org/drawingml/2006/main">
              <a:ext uri="{FF2B5EF4-FFF2-40B4-BE49-F238E27FC236}">
                <a16:creationId xmlns:a16="http://schemas.microsoft.com/office/drawing/2014/main" id="{503A01DC-BDD4-4096-9E6A-CEB91AF948AF}"/>
              </a:ext>
            </a:extLst>
          </p:cNvPr>
          <p:cNvSpPr>
            <a:spLocks xmlns:a="http://schemas.openxmlformats.org/drawingml/2006/main" noGrp="1"/>
          </p:cNvSpPr>
          <p:nvPr/>
        </p:nvSpPr>
        <p:spPr>
          <a:xfrm xmlns:a="http://schemas.openxmlformats.org/drawingml/2006/main">
            <a:off x="609600" y="2143125"/>
            <a:ext cx="5562600" cy="34766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name-0">
            <a:extLst xmlns:a="http://schemas.openxmlformats.org/drawingml/2006/main">
              <a:ext uri="{FF2B5EF4-FFF2-40B4-BE49-F238E27FC236}">
                <a16:creationId xmlns:a16="http://schemas.microsoft.com/office/drawing/2014/main" id="{EC4CBDAE-634B-44C0-A583-4E780DDB22BC}"/>
              </a:ext>
            </a:extLst>
          </p:cNvPr>
          <p:cNvSpPr>
            <a:spLocks xmlns:a="http://schemas.openxmlformats.org/drawingml/2006/main" noGrp="1"/>
          </p:cNvSpPr>
          <p:nvPr/>
        </p:nvSpPr>
        <p:spPr>
          <a:xfrm xmlns:a="http://schemas.openxmlformats.org/drawingml/2006/main">
            <a:off x="828675" y="2343150"/>
            <a:ext cx="5124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生産準備の技能を補うAI</a:t>
            </a:r>
          </a:p>
        </p:txBody>
      </p:sp>
      <p:sp>
        <p:nvSpPr>
          <p:cNvPr id="6" name="need-0">
            <a:extLst xmlns:a="http://schemas.openxmlformats.org/drawingml/2006/main">
              <a:ext uri="{FF2B5EF4-FFF2-40B4-BE49-F238E27FC236}">
                <a16:creationId xmlns:a16="http://schemas.microsoft.com/office/drawing/2014/main" id="{980C748B-B82C-4B64-B425-18C2A51010B7}"/>
              </a:ext>
            </a:extLst>
          </p:cNvPr>
          <p:cNvSpPr>
            <a:spLocks xmlns:a="http://schemas.openxmlformats.org/drawingml/2006/main" noGrp="1"/>
          </p:cNvSpPr>
          <p:nvPr/>
        </p:nvSpPr>
        <p:spPr>
          <a:xfrm xmlns:a="http://schemas.openxmlformats.org/drawingml/2006/main">
            <a:off x="828675" y="3267075"/>
            <a:ext cx="5124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82D43"/>
                </a:solidFill>
                <a:latin typeface="Noto Sans JP"/>
                <a:ea typeface="Noto Sans JP"/>
                <a:cs typeface="Noto Sans JP"/>
              </a:defRPr>
            </a:defPPr>
          </a:lstStyle>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図面の読取りや過去案件の探索、加工順序・工</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具経路・制御コードの作成に、時間と経験が必</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要になる。</a:t>
            </a:r>
          </a:p>
        </p:txBody>
      </p:sp>
      <p:sp>
        <p:nvSpPr>
          <p:cNvPr id="7" name="tech-0">
            <a:extLst xmlns:a="http://schemas.openxmlformats.org/drawingml/2006/main">
              <a:ext uri="{FF2B5EF4-FFF2-40B4-BE49-F238E27FC236}">
                <a16:creationId xmlns:a16="http://schemas.microsoft.com/office/drawing/2014/main" id="{F5CDBD67-3207-485C-BB70-F29D10E56F2B}"/>
              </a:ext>
            </a:extLst>
          </p:cNvPr>
          <p:cNvSpPr>
            <a:spLocks xmlns:a="http://schemas.openxmlformats.org/drawingml/2006/main" noGrp="1"/>
          </p:cNvSpPr>
          <p:nvPr/>
        </p:nvSpPr>
        <p:spPr>
          <a:xfrm xmlns:a="http://schemas.openxmlformats.org/drawingml/2006/main">
            <a:off x="828675" y="4467225"/>
            <a:ext cx="5124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1">
                <a:solidFill>
                  <a:srgbClr val="182D43"/>
                </a:solidFill>
                <a:latin typeface="Noto Sans JP"/>
                <a:ea typeface="Noto Sans JP"/>
                <a:cs typeface="Noto Sans JP"/>
              </a:defRPr>
            </a:defPPr>
          </a:lstStyle>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図面認識、類似検索、加工履歴からの工程予測、</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条件を指定した経路・コード生成。</a:t>
            </a:r>
          </a:p>
        </p:txBody>
      </p:sp>
      <p:sp>
        <p:nvSpPr>
          <p:cNvPr id="8" name="domain-1">
            <a:extLst xmlns:a="http://schemas.openxmlformats.org/drawingml/2006/main">
              <a:ext uri="{FF2B5EF4-FFF2-40B4-BE49-F238E27FC236}">
                <a16:creationId xmlns:a16="http://schemas.microsoft.com/office/drawing/2014/main" id="{EBD677C6-1BEC-4B60-8054-2BCE1BA7544F}"/>
              </a:ext>
            </a:extLst>
          </p:cNvPr>
          <p:cNvSpPr>
            <a:spLocks xmlns:a="http://schemas.openxmlformats.org/drawingml/2006/main" noGrp="1"/>
          </p:cNvSpPr>
          <p:nvPr/>
        </p:nvSpPr>
        <p:spPr>
          <a:xfrm xmlns:a="http://schemas.openxmlformats.org/drawingml/2006/main">
            <a:off x="6362700" y="2143125"/>
            <a:ext cx="5562600" cy="34766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9" name="name-1">
            <a:extLst xmlns:a="http://schemas.openxmlformats.org/drawingml/2006/main">
              <a:ext uri="{FF2B5EF4-FFF2-40B4-BE49-F238E27FC236}">
                <a16:creationId xmlns:a16="http://schemas.microsoft.com/office/drawing/2014/main" id="{C3C3CD6B-91E9-44FC-AA8A-A65F50C08000}"/>
              </a:ext>
            </a:extLst>
          </p:cNvPr>
          <p:cNvSpPr>
            <a:spLocks xmlns:a="http://schemas.openxmlformats.org/drawingml/2006/main" noGrp="1"/>
          </p:cNvSpPr>
          <p:nvPr/>
        </p:nvSpPr>
        <p:spPr>
          <a:xfrm xmlns:a="http://schemas.openxmlformats.org/drawingml/2006/main">
            <a:off x="6581775" y="2343150"/>
            <a:ext cx="5124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加工を安定させる自動調整</a:t>
            </a:r>
          </a:p>
        </p:txBody>
      </p:sp>
      <p:sp>
        <p:nvSpPr>
          <p:cNvPr id="10" name="need-1">
            <a:extLst xmlns:a="http://schemas.openxmlformats.org/drawingml/2006/main">
              <a:ext uri="{FF2B5EF4-FFF2-40B4-BE49-F238E27FC236}">
                <a16:creationId xmlns:a16="http://schemas.microsoft.com/office/drawing/2014/main" id="{4033D91E-8C02-4926-A505-98F63CE3A6F0}"/>
              </a:ext>
            </a:extLst>
          </p:cNvPr>
          <p:cNvSpPr>
            <a:spLocks xmlns:a="http://schemas.openxmlformats.org/drawingml/2006/main" noGrp="1"/>
          </p:cNvSpPr>
          <p:nvPr/>
        </p:nvSpPr>
        <p:spPr>
          <a:xfrm xmlns:a="http://schemas.openxmlformats.org/drawingml/2006/main">
            <a:off x="6581775" y="3267075"/>
            <a:ext cx="5124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82D43"/>
                </a:solidFill>
                <a:latin typeface="Noto Sans JP"/>
                <a:ea typeface="Noto Sans JP"/>
                <a:cs typeface="Noto Sans JP"/>
              </a:defRPr>
            </a:defPPr>
          </a:lstStyle>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余裕を持たせすぎた加工条件は時間を延ばし、</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過負荷・熱変位・工具状態の変化は品質や停止</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に影響する。</a:t>
            </a:r>
          </a:p>
        </p:txBody>
      </p:sp>
      <p:sp>
        <p:nvSpPr>
          <p:cNvPr id="11" name="tech-1">
            <a:extLst xmlns:a="http://schemas.openxmlformats.org/drawingml/2006/main">
              <a:ext uri="{FF2B5EF4-FFF2-40B4-BE49-F238E27FC236}">
                <a16:creationId xmlns:a16="http://schemas.microsoft.com/office/drawing/2014/main" id="{CE529DE3-2586-418E-B021-1D176E9AA522}"/>
              </a:ext>
            </a:extLst>
          </p:cNvPr>
          <p:cNvSpPr>
            <a:spLocks xmlns:a="http://schemas.openxmlformats.org/drawingml/2006/main" noGrp="1"/>
          </p:cNvSpPr>
          <p:nvPr/>
        </p:nvSpPr>
        <p:spPr>
          <a:xfrm xmlns:a="http://schemas.openxmlformats.org/drawingml/2006/main">
            <a:off x="6581775" y="4467225"/>
            <a:ext cx="5124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1">
                <a:solidFill>
                  <a:srgbClr val="182D43"/>
                </a:solidFill>
                <a:latin typeface="Noto Sans JP"/>
                <a:ea typeface="Noto Sans JP"/>
                <a:cs typeface="Noto Sans JP"/>
              </a:defRPr>
            </a:defPPr>
          </a:lstStyle>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切削の物理モデルによる事前最適化、センサー</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による加工中の適応制御、計測結果を戻す補正。</a:t>
            </a:r>
          </a:p>
        </p:txBody>
      </p:sp>
      <p:sp>
        <p:nvSpPr>
          <p:cNvPr id="12" name="domain-2">
            <a:extLst xmlns:a="http://schemas.openxmlformats.org/drawingml/2006/main">
              <a:ext uri="{FF2B5EF4-FFF2-40B4-BE49-F238E27FC236}">
                <a16:creationId xmlns:a16="http://schemas.microsoft.com/office/drawing/2014/main" id="{4DAF46D3-FC8C-4FFA-9412-5BF8A8B47106}"/>
              </a:ext>
            </a:extLst>
          </p:cNvPr>
          <p:cNvSpPr>
            <a:spLocks xmlns:a="http://schemas.openxmlformats.org/drawingml/2006/main" noGrp="1"/>
          </p:cNvSpPr>
          <p:nvPr/>
        </p:nvSpPr>
        <p:spPr>
          <a:xfrm xmlns:a="http://schemas.openxmlformats.org/drawingml/2006/main">
            <a:off x="12115800" y="2143125"/>
            <a:ext cx="5562600" cy="34766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3" name="name-2">
            <a:extLst xmlns:a="http://schemas.openxmlformats.org/drawingml/2006/main">
              <a:ext uri="{FF2B5EF4-FFF2-40B4-BE49-F238E27FC236}">
                <a16:creationId xmlns:a16="http://schemas.microsoft.com/office/drawing/2014/main" id="{B22065EE-6AE5-4800-B492-DD45B2718033}"/>
              </a:ext>
            </a:extLst>
          </p:cNvPr>
          <p:cNvSpPr>
            <a:spLocks xmlns:a="http://schemas.openxmlformats.org/drawingml/2006/main" noGrp="1"/>
          </p:cNvSpPr>
          <p:nvPr/>
        </p:nvSpPr>
        <p:spPr>
          <a:xfrm xmlns:a="http://schemas.openxmlformats.org/drawingml/2006/main">
            <a:off x="12334875" y="2343150"/>
            <a:ext cx="5124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品質・工具・設備を見極めるAI</a:t>
            </a:r>
          </a:p>
        </p:txBody>
      </p:sp>
      <p:sp>
        <p:nvSpPr>
          <p:cNvPr id="14" name="need-2">
            <a:extLst xmlns:a="http://schemas.openxmlformats.org/drawingml/2006/main">
              <a:ext uri="{FF2B5EF4-FFF2-40B4-BE49-F238E27FC236}">
                <a16:creationId xmlns:a16="http://schemas.microsoft.com/office/drawing/2014/main" id="{8563A293-E79D-4391-B773-EE188D1D1419}"/>
              </a:ext>
            </a:extLst>
          </p:cNvPr>
          <p:cNvSpPr>
            <a:spLocks xmlns:a="http://schemas.openxmlformats.org/drawingml/2006/main" noGrp="1"/>
          </p:cNvSpPr>
          <p:nvPr/>
        </p:nvSpPr>
        <p:spPr>
          <a:xfrm xmlns:a="http://schemas.openxmlformats.org/drawingml/2006/main">
            <a:off x="12334875" y="3267075"/>
            <a:ext cx="5124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82D43"/>
                </a:solidFill>
                <a:latin typeface="Noto Sans JP"/>
                <a:ea typeface="Noto Sans JP"/>
                <a:cs typeface="Noto Sans JP"/>
              </a:defRPr>
            </a:defPPr>
          </a:lstStyle>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検査や工具交換の判断が人によって揺れ、不良</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の見逃し、工具の早すぎる交換、突発停止につ</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ながる。</a:t>
            </a:r>
          </a:p>
        </p:txBody>
      </p:sp>
      <p:sp>
        <p:nvSpPr>
          <p:cNvPr id="15" name="tech-2">
            <a:extLst xmlns:a="http://schemas.openxmlformats.org/drawingml/2006/main">
              <a:ext uri="{FF2B5EF4-FFF2-40B4-BE49-F238E27FC236}">
                <a16:creationId xmlns:a16="http://schemas.microsoft.com/office/drawing/2014/main" id="{BC0156DC-2D96-40AD-89B5-D72DAB8B7ED0}"/>
              </a:ext>
            </a:extLst>
          </p:cNvPr>
          <p:cNvSpPr>
            <a:spLocks xmlns:a="http://schemas.openxmlformats.org/drawingml/2006/main" noGrp="1"/>
          </p:cNvSpPr>
          <p:nvPr/>
        </p:nvSpPr>
        <p:spPr>
          <a:xfrm xmlns:a="http://schemas.openxmlformats.org/drawingml/2006/main">
            <a:off x="12334875" y="4467225"/>
            <a:ext cx="5124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1">
                <a:solidFill>
                  <a:srgbClr val="182D43"/>
                </a:solidFill>
                <a:latin typeface="Noto Sans JP"/>
                <a:ea typeface="Noto Sans JP"/>
                <a:cs typeface="Noto Sans JP"/>
              </a:defRPr>
            </a:defPPr>
          </a:lstStyle>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良品との差を捉える画像学習、刃先の画像診断、</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電流・振動の状態比較、摩耗データからの寿命</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予測。</a:t>
            </a:r>
          </a:p>
        </p:txBody>
      </p:sp>
      <p:sp>
        <p:nvSpPr>
          <p:cNvPr id="16" name="domain-3">
            <a:extLst xmlns:a="http://schemas.openxmlformats.org/drawingml/2006/main">
              <a:ext uri="{FF2B5EF4-FFF2-40B4-BE49-F238E27FC236}">
                <a16:creationId xmlns:a16="http://schemas.microsoft.com/office/drawing/2014/main" id="{FAD984D7-56C4-4CC6-BAF7-25C8F03F33F0}"/>
              </a:ext>
            </a:extLst>
          </p:cNvPr>
          <p:cNvSpPr>
            <a:spLocks xmlns:a="http://schemas.openxmlformats.org/drawingml/2006/main" noGrp="1"/>
          </p:cNvSpPr>
          <p:nvPr/>
        </p:nvSpPr>
        <p:spPr>
          <a:xfrm xmlns:a="http://schemas.openxmlformats.org/drawingml/2006/main">
            <a:off x="609600" y="5857875"/>
            <a:ext cx="5562600" cy="34766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name-3">
            <a:extLst xmlns:a="http://schemas.openxmlformats.org/drawingml/2006/main">
              <a:ext uri="{FF2B5EF4-FFF2-40B4-BE49-F238E27FC236}">
                <a16:creationId xmlns:a16="http://schemas.microsoft.com/office/drawing/2014/main" id="{2DD4D1BA-DDCA-4F49-BEB9-791C7C4468B4}"/>
              </a:ext>
            </a:extLst>
          </p:cNvPr>
          <p:cNvSpPr>
            <a:spLocks xmlns:a="http://schemas.openxmlformats.org/drawingml/2006/main" noGrp="1"/>
          </p:cNvSpPr>
          <p:nvPr/>
        </p:nvSpPr>
        <p:spPr>
          <a:xfrm xmlns:a="http://schemas.openxmlformats.org/drawingml/2006/main">
            <a:off x="828675" y="6057900"/>
            <a:ext cx="5124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多品種に対応する段取り・ロボット</a:t>
            </a:r>
          </a:p>
        </p:txBody>
      </p:sp>
      <p:sp>
        <p:nvSpPr>
          <p:cNvPr id="18" name="need-3">
            <a:extLst xmlns:a="http://schemas.openxmlformats.org/drawingml/2006/main">
              <a:ext uri="{FF2B5EF4-FFF2-40B4-BE49-F238E27FC236}">
                <a16:creationId xmlns:a16="http://schemas.microsoft.com/office/drawing/2014/main" id="{37D67DEE-64DD-42D7-843C-E0508E54E402}"/>
              </a:ext>
            </a:extLst>
          </p:cNvPr>
          <p:cNvSpPr>
            <a:spLocks xmlns:a="http://schemas.openxmlformats.org/drawingml/2006/main" noGrp="1"/>
          </p:cNvSpPr>
          <p:nvPr/>
        </p:nvSpPr>
        <p:spPr>
          <a:xfrm xmlns:a="http://schemas.openxmlformats.org/drawingml/2006/main">
            <a:off x="828675" y="6981825"/>
            <a:ext cx="5124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82D43"/>
                </a:solidFill>
                <a:latin typeface="Noto Sans JP"/>
                <a:ea typeface="Noto Sans JP"/>
                <a:cs typeface="Noto Sans JP"/>
              </a:defRPr>
            </a:defPPr>
          </a:lstStyle>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搬送だけを自動化しても、治具交換・再教示・</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切粉処理などの付帯作業に人が必要だと連続運</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転が続きにくい。</a:t>
            </a:r>
          </a:p>
        </p:txBody>
      </p:sp>
      <p:sp>
        <p:nvSpPr>
          <p:cNvPr id="19" name="tech-3">
            <a:extLst xmlns:a="http://schemas.openxmlformats.org/drawingml/2006/main">
              <a:ext uri="{FF2B5EF4-FFF2-40B4-BE49-F238E27FC236}">
                <a16:creationId xmlns:a16="http://schemas.microsoft.com/office/drawing/2014/main" id="{51171BEF-070C-48F6-9947-FB26C64937AB}"/>
              </a:ext>
            </a:extLst>
          </p:cNvPr>
          <p:cNvSpPr>
            <a:spLocks xmlns:a="http://schemas.openxmlformats.org/drawingml/2006/main" noGrp="1"/>
          </p:cNvSpPr>
          <p:nvPr/>
        </p:nvSpPr>
        <p:spPr>
          <a:xfrm xmlns:a="http://schemas.openxmlformats.org/drawingml/2006/main">
            <a:off x="828675" y="8181975"/>
            <a:ext cx="5124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1">
                <a:solidFill>
                  <a:srgbClr val="182D43"/>
                </a:solidFill>
                <a:latin typeface="Noto Sans JP"/>
                <a:ea typeface="Noto Sans JP"/>
                <a:cs typeface="Noto Sans JP"/>
              </a:defRPr>
            </a:defPPr>
          </a:lstStyle>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交換しやすい機構、マーカーによる位置補正、</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3D認識からの軌道生成、認識に基づくロボッ</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ト動作。</a:t>
            </a:r>
          </a:p>
        </p:txBody>
      </p:sp>
      <p:sp>
        <p:nvSpPr>
          <p:cNvPr id="20" name="domain-4">
            <a:extLst xmlns:a="http://schemas.openxmlformats.org/drawingml/2006/main">
              <a:ext uri="{FF2B5EF4-FFF2-40B4-BE49-F238E27FC236}">
                <a16:creationId xmlns:a16="http://schemas.microsoft.com/office/drawing/2014/main" id="{0ADE25DC-CBF7-49B2-8E3B-A315C00A7894}"/>
              </a:ext>
            </a:extLst>
          </p:cNvPr>
          <p:cNvSpPr>
            <a:spLocks xmlns:a="http://schemas.openxmlformats.org/drawingml/2006/main" noGrp="1"/>
          </p:cNvSpPr>
          <p:nvPr/>
        </p:nvSpPr>
        <p:spPr>
          <a:xfrm xmlns:a="http://schemas.openxmlformats.org/drawingml/2006/main">
            <a:off x="6362700" y="5857875"/>
            <a:ext cx="5562600" cy="34766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1" name="name-4">
            <a:extLst xmlns:a="http://schemas.openxmlformats.org/drawingml/2006/main">
              <a:ext uri="{FF2B5EF4-FFF2-40B4-BE49-F238E27FC236}">
                <a16:creationId xmlns:a16="http://schemas.microsoft.com/office/drawing/2014/main" id="{210E8D56-F6C9-4EE4-A901-B9327BF5CD16}"/>
              </a:ext>
            </a:extLst>
          </p:cNvPr>
          <p:cNvSpPr>
            <a:spLocks xmlns:a="http://schemas.openxmlformats.org/drawingml/2006/main" noGrp="1"/>
          </p:cNvSpPr>
          <p:nvPr/>
        </p:nvSpPr>
        <p:spPr>
          <a:xfrm xmlns:a="http://schemas.openxmlformats.org/drawingml/2006/main">
            <a:off x="6581775" y="6057900"/>
            <a:ext cx="5124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現場情報を使って運用を支えるAI</a:t>
            </a:r>
          </a:p>
        </p:txBody>
      </p:sp>
      <p:sp>
        <p:nvSpPr>
          <p:cNvPr id="22" name="need-4">
            <a:extLst xmlns:a="http://schemas.openxmlformats.org/drawingml/2006/main">
              <a:ext uri="{FF2B5EF4-FFF2-40B4-BE49-F238E27FC236}">
                <a16:creationId xmlns:a16="http://schemas.microsoft.com/office/drawing/2014/main" id="{8A6195A4-E5E9-4D21-ABA5-DFA2DF5FAAAD}"/>
              </a:ext>
            </a:extLst>
          </p:cNvPr>
          <p:cNvSpPr>
            <a:spLocks xmlns:a="http://schemas.openxmlformats.org/drawingml/2006/main" noGrp="1"/>
          </p:cNvSpPr>
          <p:nvPr/>
        </p:nvSpPr>
        <p:spPr>
          <a:xfrm xmlns:a="http://schemas.openxmlformats.org/drawingml/2006/main">
            <a:off x="6581775" y="6981825"/>
            <a:ext cx="5124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82D43"/>
                </a:solidFill>
                <a:latin typeface="Noto Sans JP"/>
                <a:ea typeface="Noto Sans JP"/>
                <a:cs typeface="Noto Sans JP"/>
              </a:defRPr>
            </a:defPPr>
          </a:lstStyle>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機械・生産管理・工具管理の情報が分かれ、遅</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れや停止のたびに人が状況を集め直す必要があ</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る。</a:t>
            </a:r>
          </a:p>
        </p:txBody>
      </p:sp>
      <p:sp>
        <p:nvSpPr>
          <p:cNvPr id="23" name="tech-4">
            <a:extLst xmlns:a="http://schemas.openxmlformats.org/drawingml/2006/main">
              <a:ext uri="{FF2B5EF4-FFF2-40B4-BE49-F238E27FC236}">
                <a16:creationId xmlns:a16="http://schemas.microsoft.com/office/drawing/2014/main" id="{6853758F-660F-4EB1-BFBB-96A600C019DA}"/>
              </a:ext>
            </a:extLst>
          </p:cNvPr>
          <p:cNvSpPr>
            <a:spLocks xmlns:a="http://schemas.openxmlformats.org/drawingml/2006/main" noGrp="1"/>
          </p:cNvSpPr>
          <p:nvPr/>
        </p:nvSpPr>
        <p:spPr>
          <a:xfrm xmlns:a="http://schemas.openxmlformats.org/drawingml/2006/main">
            <a:off x="6581775" y="8181975"/>
            <a:ext cx="5124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1">
                <a:solidFill>
                  <a:srgbClr val="182D43"/>
                </a:solidFill>
                <a:latin typeface="Noto Sans JP"/>
                <a:ea typeface="Noto Sans JP"/>
                <a:cs typeface="Noto Sans JP"/>
              </a:defRPr>
            </a:defPPr>
          </a:lstStyle>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設備接続と履歴の管理、制約を扱う計画、機械</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データと保守文書を使うAI対話、指示と実行</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結果の連携。</a:t>
            </a:r>
          </a:p>
        </p:txBody>
      </p:sp>
      <p:sp>
        <p:nvSpPr>
          <p:cNvPr id="24" name="domain-5">
            <a:extLst xmlns:a="http://schemas.openxmlformats.org/drawingml/2006/main">
              <a:ext uri="{FF2B5EF4-FFF2-40B4-BE49-F238E27FC236}">
                <a16:creationId xmlns:a16="http://schemas.microsoft.com/office/drawing/2014/main" id="{47567B01-F5F7-4174-B83F-FED4A94BF496}"/>
              </a:ext>
            </a:extLst>
          </p:cNvPr>
          <p:cNvSpPr>
            <a:spLocks xmlns:a="http://schemas.openxmlformats.org/drawingml/2006/main" noGrp="1"/>
          </p:cNvSpPr>
          <p:nvPr/>
        </p:nvSpPr>
        <p:spPr>
          <a:xfrm xmlns:a="http://schemas.openxmlformats.org/drawingml/2006/main">
            <a:off x="12115800" y="5857875"/>
            <a:ext cx="5562600" cy="34766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5" name="name-5">
            <a:extLst xmlns:a="http://schemas.openxmlformats.org/drawingml/2006/main">
              <a:ext uri="{FF2B5EF4-FFF2-40B4-BE49-F238E27FC236}">
                <a16:creationId xmlns:a16="http://schemas.microsoft.com/office/drawing/2014/main" id="{BF6D7464-4B80-41EA-B354-206A9A556678}"/>
              </a:ext>
            </a:extLst>
          </p:cNvPr>
          <p:cNvSpPr>
            <a:spLocks xmlns:a="http://schemas.openxmlformats.org/drawingml/2006/main" noGrp="1"/>
          </p:cNvSpPr>
          <p:nvPr/>
        </p:nvSpPr>
        <p:spPr>
          <a:xfrm xmlns:a="http://schemas.openxmlformats.org/drawingml/2006/main">
            <a:off x="12334875" y="6057900"/>
            <a:ext cx="5124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現場AIを支えるデータと仮想環境</a:t>
            </a:r>
          </a:p>
        </p:txBody>
      </p:sp>
      <p:sp>
        <p:nvSpPr>
          <p:cNvPr id="26" name="need-5">
            <a:extLst xmlns:a="http://schemas.openxmlformats.org/drawingml/2006/main">
              <a:ext uri="{FF2B5EF4-FFF2-40B4-BE49-F238E27FC236}">
                <a16:creationId xmlns:a16="http://schemas.microsoft.com/office/drawing/2014/main" id="{CF41F3FD-A866-486A-AED6-CFC803CFCD0C}"/>
              </a:ext>
            </a:extLst>
          </p:cNvPr>
          <p:cNvSpPr>
            <a:spLocks xmlns:a="http://schemas.openxmlformats.org/drawingml/2006/main" noGrp="1"/>
          </p:cNvSpPr>
          <p:nvPr/>
        </p:nvSpPr>
        <p:spPr>
          <a:xfrm xmlns:a="http://schemas.openxmlformats.org/drawingml/2006/main">
            <a:off x="12334875" y="6981825"/>
            <a:ext cx="5124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182D43"/>
                </a:solidFill>
                <a:latin typeface="Noto Sans JP"/>
                <a:ea typeface="Noto Sans JP"/>
                <a:cs typeface="Noto Sans JP"/>
              </a:defRPr>
            </a:defPPr>
          </a:lstStyle>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AIが使うデータの意味や形式が揃わず、学習</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・機器接続・実機での試行に個別の作業が必要</a:t>
            </a:r>
          </a:p>
          <a:p xmlns:a="http://schemas.openxmlformats.org/drawingml/2006/main">
            <a:pPr>
              <a:defRPr sz="1800" b="0">
                <a:solidFill>
                  <a:srgbClr val="182D43"/>
                </a:solidFill>
                <a:latin typeface="Noto Sans JP"/>
                <a:ea typeface="Noto Sans JP"/>
                <a:cs typeface="Noto Sans JP"/>
              </a:defRPr>
            </a:pPr>
            <a:r>
              <a:rPr sz="1800" b="0">
                <a:solidFill>
                  <a:srgbClr val="182D43"/>
                </a:solidFill>
                <a:latin typeface="Noto Sans JP"/>
                <a:ea typeface="Noto Sans JP"/>
                <a:cs typeface="Noto Sans JP"/>
              </a:rPr>
              <a:t>になる。</a:t>
            </a:r>
          </a:p>
        </p:txBody>
      </p:sp>
      <p:sp>
        <p:nvSpPr>
          <p:cNvPr id="27" name="tech-5">
            <a:extLst xmlns:a="http://schemas.openxmlformats.org/drawingml/2006/main">
              <a:ext uri="{FF2B5EF4-FFF2-40B4-BE49-F238E27FC236}">
                <a16:creationId xmlns:a16="http://schemas.microsoft.com/office/drawing/2014/main" id="{0E69493E-F707-433E-BAAF-0394E00A5C18}"/>
              </a:ext>
            </a:extLst>
          </p:cNvPr>
          <p:cNvSpPr>
            <a:spLocks xmlns:a="http://schemas.openxmlformats.org/drawingml/2006/main" noGrp="1"/>
          </p:cNvSpPr>
          <p:nvPr/>
        </p:nvSpPr>
        <p:spPr>
          <a:xfrm xmlns:a="http://schemas.openxmlformats.org/drawingml/2006/main">
            <a:off x="12334875" y="8181975"/>
            <a:ext cx="5124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1">
                <a:solidFill>
                  <a:srgbClr val="182D43"/>
                </a:solidFill>
                <a:latin typeface="Noto Sans JP"/>
                <a:ea typeface="Noto Sans JP"/>
                <a:cs typeface="Noto Sans JP"/>
              </a:defRPr>
            </a:defPPr>
          </a:lstStyle>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学習モデルの自動作成、設備の共通情報モデル、</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加工の仮想検証、物理シミュレーション用デー</a:t>
            </a:r>
          </a:p>
          <a:p xmlns:a="http://schemas.openxmlformats.org/drawingml/2006/main">
            <a:pPr>
              <a:defRPr sz="1800" b="1">
                <a:solidFill>
                  <a:srgbClr val="182D43"/>
                </a:solidFill>
                <a:latin typeface="Noto Sans JP"/>
                <a:ea typeface="Noto Sans JP"/>
                <a:cs typeface="Noto Sans JP"/>
              </a:defRPr>
            </a:pPr>
            <a:r>
              <a:rPr sz="1800" b="1">
                <a:solidFill>
                  <a:srgbClr val="182D43"/>
                </a:solidFill>
                <a:latin typeface="Noto Sans JP"/>
                <a:ea typeface="Noto Sans JP"/>
                <a:cs typeface="Noto Sans JP"/>
              </a:rPr>
              <a:t>タの生成。</a:t>
            </a:r>
          </a:p>
        </p:txBody>
      </p:sp>
      <p:sp>
        <p:nvSpPr>
          <p:cNvPr id="28" name="map-foot">
            <a:extLst xmlns:a="http://schemas.openxmlformats.org/drawingml/2006/main">
              <a:ext uri="{FF2B5EF4-FFF2-40B4-BE49-F238E27FC236}">
                <a16:creationId xmlns:a16="http://schemas.microsoft.com/office/drawing/2014/main" id="{61ACC2AF-B22E-49CC-8878-DA22DB08BD2E}"/>
              </a:ext>
            </a:extLst>
          </p:cNvPr>
          <p:cNvSpPr>
            <a:spLocks xmlns:a="http://schemas.openxmlformats.org/drawingml/2006/main" noGrp="1"/>
          </p:cNvSpPr>
          <p:nvPr/>
        </p:nvSpPr>
        <p:spPr>
          <a:xfrm xmlns:a="http://schemas.openxmlformats.org/drawingml/2006/main">
            <a:off x="628650" y="9810750"/>
            <a:ext cx="1571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生産準備・加工・検査・物理作業・工場運用を、データと仮想検証の基盤が支える。</a:t>
            </a:r>
          </a:p>
        </p:txBody>
      </p:sp>
    </p:spTree>
    <p:extLst>
      <p:ext uri="{BB962C8B-B14F-4D97-AF65-F5344CB8AC3E}">
        <p14:creationId xmlns:p14="http://schemas.microsoft.com/office/powerpoint/2010/main" val="234823403"/>
      </p:ext>
    </p:extLst>
  </p:cSld>
</p:sld>
</file>

<file path=ppt/slides/slide2.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8" name="title">
            <a:extLst xmlns:a="http://schemas.openxmlformats.org/drawingml/2006/main">
              <a:ext uri="{FF2B5EF4-FFF2-40B4-BE49-F238E27FC236}">
                <a16:creationId xmlns:a16="http://schemas.microsoft.com/office/drawing/2014/main" id="{F046FE17-EDF8-4ABE-97D2-F8F607D18C92}"/>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生産準備の技能を補うAI</a:t>
            </a:r>
          </a:p>
        </p:txBody>
      </p:sp>
      <p:sp>
        <p:nvSpPr>
          <p:cNvPr id="2" name="sub">
            <a:extLst xmlns:a="http://schemas.openxmlformats.org/drawingml/2006/main">
              <a:ext uri="{FF2B5EF4-FFF2-40B4-BE49-F238E27FC236}">
                <a16:creationId xmlns:a16="http://schemas.microsoft.com/office/drawing/2014/main" id="{30231EE8-A1D4-4403-ABE6-E2B3604FADA7}"/>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AX・生成AI・AIエージェント。困りごとと使う技術を起点に、2024年以前と2025–2026年の公式説明を比較。</a:t>
            </a:r>
          </a:p>
        </p:txBody>
      </p:sp>
      <p:sp>
        <p:nvSpPr>
          <p:cNvPr id="3" name="page">
            <a:extLst xmlns:a="http://schemas.openxmlformats.org/drawingml/2006/main">
              <a:ext uri="{FF2B5EF4-FFF2-40B4-BE49-F238E27FC236}">
                <a16:creationId xmlns:a16="http://schemas.microsoft.com/office/drawing/2014/main" id="{C5AD4447-D367-4CBF-BB28-6A72A32386BC}"/>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02</a:t>
            </a:r>
          </a:p>
        </p:txBody>
      </p:sp>
      <p:sp>
        <p:nvSpPr>
          <p:cNvPr id="4" name="section-1">
            <a:extLst xmlns:a="http://schemas.openxmlformats.org/drawingml/2006/main">
              <a:ext uri="{FF2B5EF4-FFF2-40B4-BE49-F238E27FC236}">
                <a16:creationId xmlns:a16="http://schemas.microsoft.com/office/drawing/2014/main" id="{6E9F47AF-CE51-4AF8-8097-AAA12A9CD2D5}"/>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5" name="heading-1">
            <a:extLst xmlns:a="http://schemas.openxmlformats.org/drawingml/2006/main">
              <a:ext uri="{FF2B5EF4-FFF2-40B4-BE49-F238E27FC236}">
                <a16:creationId xmlns:a16="http://schemas.microsoft.com/office/drawing/2014/main" id="{23AF4240-73B1-487B-A0ED-FA47DB6E2091}"/>
              </a:ext>
            </a:extLst>
          </p:cNvPr>
          <p:cNvSpPr>
            <a:spLocks xmlns:a="http://schemas.openxmlformats.org/drawingml/2006/main" noGrp="1"/>
          </p:cNvSpPr>
          <p:nvPr/>
        </p:nvSpPr>
        <p:spPr>
          <a:xfrm xmlns:a="http://schemas.openxmlformats.org/drawingml/2006/main">
            <a:off x="84772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1　結果サマリ</a:t>
            </a:r>
          </a:p>
        </p:txBody>
      </p:sp>
      <p:sp>
        <p:nvSpPr>
          <p:cNvPr id="6" name="type-1">
            <a:extLst xmlns:a="http://schemas.openxmlformats.org/drawingml/2006/main">
              <a:ext uri="{FF2B5EF4-FFF2-40B4-BE49-F238E27FC236}">
                <a16:creationId xmlns:a16="http://schemas.microsoft.com/office/drawing/2014/main" id="{98538354-3CAC-485C-9637-B3F0D4CFC827}"/>
              </a:ext>
            </a:extLst>
          </p:cNvPr>
          <p:cNvSpPr>
            <a:spLocks xmlns:a="http://schemas.openxmlformats.org/drawingml/2006/main" noGrp="1"/>
          </p:cNvSpPr>
          <p:nvPr/>
        </p:nvSpPr>
        <p:spPr>
          <a:xfrm xmlns:a="http://schemas.openxmlformats.org/drawingml/2006/main">
            <a:off x="608647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ニーズ・技術の分析</a:t>
            </a:r>
          </a:p>
        </p:txBody>
      </p:sp>
      <p:sp>
        <p:nvSpPr>
          <p:cNvPr id="7" name="section-2">
            <a:extLst xmlns:a="http://schemas.openxmlformats.org/drawingml/2006/main">
              <a:ext uri="{FF2B5EF4-FFF2-40B4-BE49-F238E27FC236}">
                <a16:creationId xmlns:a16="http://schemas.microsoft.com/office/drawing/2014/main" id="{BA747097-7B3C-409A-92C9-BDADEDD0C234}"/>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8" name="heading-2">
            <a:extLst xmlns:a="http://schemas.openxmlformats.org/drawingml/2006/main">
              <a:ext uri="{FF2B5EF4-FFF2-40B4-BE49-F238E27FC236}">
                <a16:creationId xmlns:a16="http://schemas.microsoft.com/office/drawing/2014/main" id="{E2847E01-F669-4CDA-AF93-DE38C1471E84}"/>
              </a:ext>
            </a:extLst>
          </p:cNvPr>
          <p:cNvSpPr>
            <a:spLocks xmlns:a="http://schemas.openxmlformats.org/drawingml/2006/main" noGrp="1"/>
          </p:cNvSpPr>
          <p:nvPr/>
        </p:nvSpPr>
        <p:spPr>
          <a:xfrm xmlns:a="http://schemas.openxmlformats.org/drawingml/2006/main">
            <a:off x="962977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2　技術動向</a:t>
            </a:r>
          </a:p>
        </p:txBody>
      </p:sp>
      <p:sp>
        <p:nvSpPr>
          <p:cNvPr id="9" name="type-2">
            <a:extLst xmlns:a="http://schemas.openxmlformats.org/drawingml/2006/main">
              <a:ext uri="{FF2B5EF4-FFF2-40B4-BE49-F238E27FC236}">
                <a16:creationId xmlns:a16="http://schemas.microsoft.com/office/drawing/2014/main" id="{BF96F9E5-50FE-4B46-B490-35FF75810E1D}"/>
              </a:ext>
            </a:extLst>
          </p:cNvPr>
          <p:cNvSpPr>
            <a:spLocks xmlns:a="http://schemas.openxmlformats.org/drawingml/2006/main" noGrp="1"/>
          </p:cNvSpPr>
          <p:nvPr/>
        </p:nvSpPr>
        <p:spPr>
          <a:xfrm xmlns:a="http://schemas.openxmlformats.org/drawingml/2006/main">
            <a:off x="1486852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公式説明の比較</a:t>
            </a:r>
          </a:p>
        </p:txBody>
      </p:sp>
      <p:sp>
        <p:nvSpPr>
          <p:cNvPr id="10" name="section-3">
            <a:extLst xmlns:a="http://schemas.openxmlformats.org/drawingml/2006/main">
              <a:ext uri="{FF2B5EF4-FFF2-40B4-BE49-F238E27FC236}">
                <a16:creationId xmlns:a16="http://schemas.microsoft.com/office/drawing/2014/main" id="{D234FE72-A895-4806-ABC9-282E5F160BBB}"/>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eading-3">
            <a:extLst xmlns:a="http://schemas.openxmlformats.org/drawingml/2006/main">
              <a:ext uri="{FF2B5EF4-FFF2-40B4-BE49-F238E27FC236}">
                <a16:creationId xmlns:a16="http://schemas.microsoft.com/office/drawing/2014/main" id="{44E53767-7FB0-41D5-940D-747A8BCD9AE0}"/>
              </a:ext>
            </a:extLst>
          </p:cNvPr>
          <p:cNvSpPr>
            <a:spLocks xmlns:a="http://schemas.openxmlformats.org/drawingml/2006/main" noGrp="1"/>
          </p:cNvSpPr>
          <p:nvPr/>
        </p:nvSpPr>
        <p:spPr>
          <a:xfrm xmlns:a="http://schemas.openxmlformats.org/drawingml/2006/main">
            <a:off x="84772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3　今後の方向性</a:t>
            </a:r>
          </a:p>
        </p:txBody>
      </p:sp>
      <p:sp>
        <p:nvSpPr>
          <p:cNvPr id="12" name="type-3">
            <a:extLst xmlns:a="http://schemas.openxmlformats.org/drawingml/2006/main">
              <a:ext uri="{FF2B5EF4-FFF2-40B4-BE49-F238E27FC236}">
                <a16:creationId xmlns:a16="http://schemas.microsoft.com/office/drawing/2014/main" id="{5505D5A0-2700-4ECD-A698-B605EBC54C22}"/>
              </a:ext>
            </a:extLst>
          </p:cNvPr>
          <p:cNvSpPr>
            <a:spLocks xmlns:a="http://schemas.openxmlformats.org/drawingml/2006/main" noGrp="1"/>
          </p:cNvSpPr>
          <p:nvPr/>
        </p:nvSpPr>
        <p:spPr>
          <a:xfrm xmlns:a="http://schemas.openxmlformats.org/drawingml/2006/main">
            <a:off x="608647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将来方向の仮説</a:t>
            </a:r>
          </a:p>
        </p:txBody>
      </p:sp>
      <p:sp>
        <p:nvSpPr>
          <p:cNvPr id="13" name="section-4">
            <a:extLst xmlns:a="http://schemas.openxmlformats.org/drawingml/2006/main">
              <a:ext uri="{FF2B5EF4-FFF2-40B4-BE49-F238E27FC236}">
                <a16:creationId xmlns:a16="http://schemas.microsoft.com/office/drawing/2014/main" id="{5E74DE5B-9BC3-49F1-B29B-8B77E1DF22D3}"/>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4" name="heading-4">
            <a:extLst xmlns:a="http://schemas.openxmlformats.org/drawingml/2006/main">
              <a:ext uri="{FF2B5EF4-FFF2-40B4-BE49-F238E27FC236}">
                <a16:creationId xmlns:a16="http://schemas.microsoft.com/office/drawing/2014/main" id="{395716CD-D940-40F8-8FE6-5F35842598C5}"/>
              </a:ext>
            </a:extLst>
          </p:cNvPr>
          <p:cNvSpPr>
            <a:spLocks xmlns:a="http://schemas.openxmlformats.org/drawingml/2006/main" noGrp="1"/>
          </p:cNvSpPr>
          <p:nvPr/>
        </p:nvSpPr>
        <p:spPr>
          <a:xfrm xmlns:a="http://schemas.openxmlformats.org/drawingml/2006/main">
            <a:off x="962977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4　調査結果の提言</a:t>
            </a:r>
          </a:p>
        </p:txBody>
      </p:sp>
      <p:sp>
        <p:nvSpPr>
          <p:cNvPr id="15" name="type-4">
            <a:extLst xmlns:a="http://schemas.openxmlformats.org/drawingml/2006/main">
              <a:ext uri="{FF2B5EF4-FFF2-40B4-BE49-F238E27FC236}">
                <a16:creationId xmlns:a16="http://schemas.microsoft.com/office/drawing/2014/main" id="{91D4E379-76B3-4BB0-8BF5-832F6D89E9D1}"/>
              </a:ext>
            </a:extLst>
          </p:cNvPr>
          <p:cNvSpPr>
            <a:spLocks xmlns:a="http://schemas.openxmlformats.org/drawingml/2006/main" noGrp="1"/>
          </p:cNvSpPr>
          <p:nvPr/>
        </p:nvSpPr>
        <p:spPr>
          <a:xfrm xmlns:a="http://schemas.openxmlformats.org/drawingml/2006/main">
            <a:off x="1486852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開発候補の仮説</a:t>
            </a:r>
          </a:p>
        </p:txBody>
      </p:sp>
      <p:sp>
        <p:nvSpPr>
          <p:cNvPr id="16" name="result">
            <a:extLst xmlns:a="http://schemas.openxmlformats.org/drawingml/2006/main">
              <a:ext uri="{FF2B5EF4-FFF2-40B4-BE49-F238E27FC236}">
                <a16:creationId xmlns:a16="http://schemas.microsoft.com/office/drawing/2014/main" id="{ABCC0D9A-2185-4AD7-9851-DD82741FF5A9}"/>
              </a:ext>
            </a:extLst>
          </p:cNvPr>
          <p:cNvSpPr>
            <a:spLocks xmlns:a="http://schemas.openxmlformats.org/drawingml/2006/main" noGrp="1"/>
          </p:cNvSpPr>
          <p:nvPr/>
        </p:nvSpPr>
        <p:spPr>
          <a:xfrm xmlns:a="http://schemas.openxmlformats.org/drawingml/2006/main">
            <a:off x="866775" y="2876550"/>
            <a:ext cx="77343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182D43"/>
                </a:solidFill>
                <a:latin typeface="Noto Sans JP"/>
                <a:ea typeface="Noto Sans JP"/>
                <a:cs typeface="Noto Sans JP"/>
              </a:defRPr>
            </a:defPPr>
          </a:lstStyle>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見積・工程検討・制御設計のたたき台をAIが作り、熟</a:t>
            </a:r>
          </a:p>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練者がゼロから考える負担を減らす。</a:t>
            </a:r>
          </a:p>
        </p:txBody>
      </p:sp>
      <p:sp>
        <p:nvSpPr>
          <p:cNvPr id="17" name="need">
            <a:extLst xmlns:a="http://schemas.openxmlformats.org/drawingml/2006/main">
              <a:ext uri="{FF2B5EF4-FFF2-40B4-BE49-F238E27FC236}">
                <a16:creationId xmlns:a16="http://schemas.microsoft.com/office/drawing/2014/main" id="{B3FA761F-43FA-4198-B962-42E596AA0DF3}"/>
              </a:ext>
            </a:extLst>
          </p:cNvPr>
          <p:cNvSpPr>
            <a:spLocks xmlns:a="http://schemas.openxmlformats.org/drawingml/2006/main" noGrp="1"/>
          </p:cNvSpPr>
          <p:nvPr/>
        </p:nvSpPr>
        <p:spPr>
          <a:xfrm xmlns:a="http://schemas.openxmlformats.org/drawingml/2006/main">
            <a:off x="866775" y="4038600"/>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現場の困りごと：図面の読取りや過去案件の探索、加工順序・工</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具経路・制御コードの作成に、時間と経験が必要になる。</a:t>
            </a:r>
          </a:p>
        </p:txBody>
      </p:sp>
      <p:sp>
        <p:nvSpPr>
          <p:cNvPr id="18" name="tech">
            <a:extLst xmlns:a="http://schemas.openxmlformats.org/drawingml/2006/main">
              <a:ext uri="{FF2B5EF4-FFF2-40B4-BE49-F238E27FC236}">
                <a16:creationId xmlns:a16="http://schemas.microsoft.com/office/drawing/2014/main" id="{1620BF00-D624-4421-9C44-0539BEFC4FDE}"/>
              </a:ext>
            </a:extLst>
          </p:cNvPr>
          <p:cNvSpPr>
            <a:spLocks xmlns:a="http://schemas.openxmlformats.org/drawingml/2006/main" noGrp="1"/>
          </p:cNvSpPr>
          <p:nvPr/>
        </p:nvSpPr>
        <p:spPr>
          <a:xfrm xmlns:a="http://schemas.openxmlformats.org/drawingml/2006/main">
            <a:off x="866775" y="5076825"/>
            <a:ext cx="7734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225B92"/>
                </a:solidFill>
                <a:latin typeface="Noto Sans JP"/>
                <a:ea typeface="Noto Sans JP"/>
                <a:cs typeface="Noto Sans JP"/>
              </a:defRPr>
            </a:defPPr>
          </a:lstStyle>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使う技術：図面認識、類似検索、加工履歴からの工程予測、条件</a:t>
            </a:r>
          </a:p>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を指定した経路・コード生成。</a:t>
            </a:r>
          </a:p>
        </p:txBody>
      </p:sp>
      <p:sp>
        <p:nvSpPr>
          <p:cNvPr id="19" name="past-label">
            <a:extLst xmlns:a="http://schemas.openxmlformats.org/drawingml/2006/main">
              <a:ext uri="{FF2B5EF4-FFF2-40B4-BE49-F238E27FC236}">
                <a16:creationId xmlns:a16="http://schemas.microsoft.com/office/drawing/2014/main" id="{566B3F4C-F913-4C00-AC13-B703CBBBE307}"/>
              </a:ext>
            </a:extLst>
          </p:cNvPr>
          <p:cNvSpPr>
            <a:spLocks xmlns:a="http://schemas.openxmlformats.org/drawingml/2006/main" noGrp="1"/>
          </p:cNvSpPr>
          <p:nvPr/>
        </p:nvSpPr>
        <p:spPr>
          <a:xfrm xmlns:a="http://schemas.openxmlformats.org/drawingml/2006/main">
            <a:off x="9648825" y="28765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37286"/>
                </a:solidFill>
                <a:latin typeface="Noto Sans JP"/>
                <a:ea typeface="Noto Sans JP"/>
                <a:cs typeface="Noto Sans JP"/>
              </a:defRPr>
            </a:defPPr>
          </a:lstStyle>
          <a:p xmlns:a="http://schemas.openxmlformats.org/drawingml/2006/main">
            <a:pPr>
              <a:defRPr sz="1500" b="1">
                <a:solidFill>
                  <a:srgbClr val="637286"/>
                </a:solidFill>
                <a:latin typeface="Noto Sans JP"/>
                <a:ea typeface="Noto Sans JP"/>
                <a:cs typeface="Noto Sans JP"/>
              </a:defRPr>
            </a:pPr>
            <a:r>
              <a:rPr sz="1500" b="1">
                <a:solidFill>
                  <a:srgbClr val="637286"/>
                </a:solidFill>
                <a:latin typeface="Noto Sans JP"/>
                <a:ea typeface="Noto Sans JP"/>
                <a:cs typeface="Noto Sans JP"/>
              </a:rPr>
              <a:t>2024年以前にもあったこと</a:t>
            </a:r>
          </a:p>
        </p:txBody>
      </p:sp>
      <p:sp>
        <p:nvSpPr>
          <p:cNvPr id="20" name="past">
            <a:extLst xmlns:a="http://schemas.openxmlformats.org/drawingml/2006/main">
              <a:ext uri="{FF2B5EF4-FFF2-40B4-BE49-F238E27FC236}">
                <a16:creationId xmlns:a16="http://schemas.microsoft.com/office/drawing/2014/main" id="{CA3BC5CA-A8DC-4CCF-9A2F-CF8CC26753F9}"/>
              </a:ext>
            </a:extLst>
          </p:cNvPr>
          <p:cNvSpPr>
            <a:spLocks xmlns:a="http://schemas.openxmlformats.org/drawingml/2006/main" noGrp="1"/>
          </p:cNvSpPr>
          <p:nvPr/>
        </p:nvSpPr>
        <p:spPr>
          <a:xfrm xmlns:a="http://schemas.openxmlformats.org/drawingml/2006/main">
            <a:off x="9648825" y="3228975"/>
            <a:ext cx="773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AIによるPLCコード支援やCAMの作成支援は2024以前にも存在。</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自動プログラム作成が2026に初めて生まれたわけではない。</a:t>
            </a:r>
          </a:p>
        </p:txBody>
      </p:sp>
      <p:sp>
        <p:nvSpPr>
          <p:cNvPr id="21" name="now-label">
            <a:extLst xmlns:a="http://schemas.openxmlformats.org/drawingml/2006/main">
              <a:ext uri="{FF2B5EF4-FFF2-40B4-BE49-F238E27FC236}">
                <a16:creationId xmlns:a16="http://schemas.microsoft.com/office/drawing/2014/main" id="{76A385AB-662C-4B35-87A9-BD7EE6953393}"/>
              </a:ext>
            </a:extLst>
          </p:cNvPr>
          <p:cNvSpPr>
            <a:spLocks xmlns:a="http://schemas.openxmlformats.org/drawingml/2006/main" noGrp="1"/>
          </p:cNvSpPr>
          <p:nvPr/>
        </p:nvSpPr>
        <p:spPr>
          <a:xfrm xmlns:a="http://schemas.openxmlformats.org/drawingml/2006/main">
            <a:off x="9648825" y="43243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225B92"/>
                </a:solidFill>
                <a:latin typeface="Noto Sans JP"/>
                <a:ea typeface="Noto Sans JP"/>
                <a:cs typeface="Noto Sans JP"/>
              </a:defRPr>
            </a:defPPr>
          </a:lstStyle>
          <a:p xmlns:a="http://schemas.openxmlformats.org/drawingml/2006/main">
            <a:pPr>
              <a:defRPr sz="1500" b="1">
                <a:solidFill>
                  <a:srgbClr val="225B92"/>
                </a:solidFill>
                <a:latin typeface="Noto Sans JP"/>
                <a:ea typeface="Noto Sans JP"/>
                <a:cs typeface="Noto Sans JP"/>
              </a:defRPr>
            </a:pPr>
            <a:r>
              <a:rPr sz="1500" b="1">
                <a:solidFill>
                  <a:srgbClr val="225B92"/>
                </a:solidFill>
                <a:latin typeface="Noto Sans JP"/>
                <a:ea typeface="Noto Sans JP"/>
                <a:cs typeface="Noto Sans JP"/>
              </a:rPr>
              <a:t>2025–2026年に具体化したこと</a:t>
            </a:r>
          </a:p>
        </p:txBody>
      </p:sp>
      <p:sp>
        <p:nvSpPr>
          <p:cNvPr id="22" name="now">
            <a:extLst xmlns:a="http://schemas.openxmlformats.org/drawingml/2006/main">
              <a:ext uri="{FF2B5EF4-FFF2-40B4-BE49-F238E27FC236}">
                <a16:creationId xmlns:a16="http://schemas.microsoft.com/office/drawing/2014/main" id="{805A3366-43E4-4B36-BBEC-78D3B1004781}"/>
              </a:ext>
            </a:extLst>
          </p:cNvPr>
          <p:cNvSpPr>
            <a:spLocks xmlns:a="http://schemas.openxmlformats.org/drawingml/2006/main" noGrp="1"/>
          </p:cNvSpPr>
          <p:nvPr/>
        </p:nvSpPr>
        <p:spPr>
          <a:xfrm xmlns:a="http://schemas.openxmlformats.org/drawingml/2006/main">
            <a:off x="9648825" y="4686300"/>
            <a:ext cx="77343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2025–2026の資料では、見積の一連の作業や工程案、PLC以外の</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I/O設定・HMIなど、支援する仕事と設計環境への組込みが具体</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化している。</a:t>
            </a:r>
          </a:p>
        </p:txBody>
      </p:sp>
      <p:sp>
        <p:nvSpPr>
          <p:cNvPr id="23" name="future">
            <a:extLst xmlns:a="http://schemas.openxmlformats.org/drawingml/2006/main">
              <a:ext uri="{FF2B5EF4-FFF2-40B4-BE49-F238E27FC236}">
                <a16:creationId xmlns:a16="http://schemas.microsoft.com/office/drawing/2014/main" id="{2C9B98E5-F8F0-4A95-856F-C58BEBB8148E}"/>
              </a:ext>
            </a:extLst>
          </p:cNvPr>
          <p:cNvSpPr>
            <a:spLocks xmlns:a="http://schemas.openxmlformats.org/drawingml/2006/main" noGrp="1"/>
          </p:cNvSpPr>
          <p:nvPr/>
        </p:nvSpPr>
        <p:spPr>
          <a:xfrm xmlns:a="http://schemas.openxmlformats.org/drawingml/2006/main">
            <a:off x="866775" y="7000875"/>
            <a:ext cx="7734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2D43"/>
                </a:solidFill>
                <a:latin typeface="Noto Sans JP"/>
                <a:ea typeface="Noto Sans JP"/>
                <a:cs typeface="Noto Sans JP"/>
              </a:defRPr>
            </a:defPPr>
          </a:lstStyle>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図面・工具・機械・加工履歴を結び、案の生成後も担当者の</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修正を次の準備に生かす方向が考えられる。</a:t>
            </a:r>
          </a:p>
        </p:txBody>
      </p:sp>
      <p:sp>
        <p:nvSpPr>
          <p:cNvPr id="24" name="limit">
            <a:extLst xmlns:a="http://schemas.openxmlformats.org/drawingml/2006/main">
              <a:ext uri="{FF2B5EF4-FFF2-40B4-BE49-F238E27FC236}">
                <a16:creationId xmlns:a16="http://schemas.microsoft.com/office/drawing/2014/main" id="{F1EE1C19-5058-40B8-A13D-BB70AF41818C}"/>
              </a:ext>
            </a:extLst>
          </p:cNvPr>
          <p:cNvSpPr>
            <a:spLocks xmlns:a="http://schemas.openxmlformats.org/drawingml/2006/main" noGrp="1"/>
          </p:cNvSpPr>
          <p:nvPr/>
        </p:nvSpPr>
        <p:spPr>
          <a:xfrm xmlns:a="http://schemas.openxmlformats.org/drawingml/2006/main">
            <a:off x="866775" y="8467725"/>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比較の限界：共通部品・工程での対応範囲や実際の工数削減は未検証。複数</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の製品が一つにつながって自動運用できるとは確認していない。</a:t>
            </a:r>
          </a:p>
        </p:txBody>
      </p:sp>
      <p:sp>
        <p:nvSpPr>
          <p:cNvPr id="25" name="proposal">
            <a:extLst xmlns:a="http://schemas.openxmlformats.org/drawingml/2006/main">
              <a:ext uri="{FF2B5EF4-FFF2-40B4-BE49-F238E27FC236}">
                <a16:creationId xmlns:a16="http://schemas.microsoft.com/office/drawing/2014/main" id="{8BDA45C2-7577-448D-A775-DB6BE4EFA9CF}"/>
              </a:ext>
            </a:extLst>
          </p:cNvPr>
          <p:cNvSpPr>
            <a:spLocks xmlns:a="http://schemas.openxmlformats.org/drawingml/2006/main" noGrp="1"/>
          </p:cNvSpPr>
          <p:nvPr/>
        </p:nvSpPr>
        <p:spPr>
          <a:xfrm xmlns:a="http://schemas.openxmlformats.org/drawingml/2006/main">
            <a:off x="9648825" y="7000875"/>
            <a:ext cx="77343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加工知識を扱う生産準備AIを重点候補とし、特定の部品群</a:t>
            </a:r>
          </a:p>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で工程案とNC検証までをつなぐ。</a:t>
            </a:r>
          </a:p>
        </p:txBody>
      </p:sp>
      <p:sp>
        <p:nvSpPr>
          <p:cNvPr id="26" name="research">
            <a:extLst xmlns:a="http://schemas.openxmlformats.org/drawingml/2006/main">
              <a:ext uri="{FF2B5EF4-FFF2-40B4-BE49-F238E27FC236}">
                <a16:creationId xmlns:a16="http://schemas.microsoft.com/office/drawing/2014/main" id="{5E0BECF8-213F-4D75-BA69-68A8D8CE0469}"/>
              </a:ext>
            </a:extLst>
          </p:cNvPr>
          <p:cNvSpPr>
            <a:spLocks xmlns:a="http://schemas.openxmlformats.org/drawingml/2006/main" noGrp="1"/>
          </p:cNvSpPr>
          <p:nvPr/>
        </p:nvSpPr>
        <p:spPr>
          <a:xfrm xmlns:a="http://schemas.openxmlformats.org/drawingml/2006/main">
            <a:off x="9648825" y="8601075"/>
            <a:ext cx="7734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根拠となる技術：図面検索・見積作成、工程・CAMプログラムの作成、PLC・HMI</a:t>
            </a:r>
          </a:p>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・電気設計の支援</a:t>
            </a:r>
          </a:p>
        </p:txBody>
      </p:sp>
      <p:sp>
        <p:nvSpPr>
          <p:cNvPr id="27" name="foot">
            <a:extLst xmlns:a="http://schemas.openxmlformats.org/drawingml/2006/main">
              <a:ext uri="{FF2B5EF4-FFF2-40B4-BE49-F238E27FC236}">
                <a16:creationId xmlns:a16="http://schemas.microsoft.com/office/drawing/2014/main" id="{EEFC959E-F4D5-4C17-90BB-4984960C3683}"/>
              </a:ext>
            </a:extLst>
          </p:cNvPr>
          <p:cNvSpPr>
            <a:spLocks xmlns:a="http://schemas.openxmlformats.org/drawingml/2006/main" noGrp="1"/>
          </p:cNvSpPr>
          <p:nvPr/>
        </p:nvSpPr>
        <p:spPr>
          <a:xfrm xmlns:a="http://schemas.openxmlformats.org/drawingml/2006/main">
            <a:off x="628650" y="9810750"/>
            <a:ext cx="1590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637286"/>
                </a:solidFill>
                <a:latin typeface="Noto Sans JP"/>
                <a:ea typeface="Noto Sans JP"/>
                <a:cs typeface="Noto Sans JP"/>
              </a:defRPr>
            </a:defPPr>
          </a:lstStyle>
          <a:p xmlns:a="http://schemas.openxmlformats.org/drawingml/2006/main">
            <a:pPr>
              <a:defRPr sz="1500" b="0">
                <a:solidFill>
                  <a:srgbClr val="637286"/>
                </a:solidFill>
                <a:latin typeface="Noto Sans JP"/>
                <a:ea typeface="Noto Sans JP"/>
                <a:cs typeface="Noto Sans JP"/>
              </a:defRPr>
            </a:pPr>
            <a:r>
              <a:rPr sz="1500" b="0">
                <a:solidFill>
                  <a:srgbClr val="637286"/>
                </a:solidFill>
                <a:latin typeface="Noto Sans JP"/>
                <a:ea typeface="Noto Sans JP"/>
                <a:cs typeface="Noto Sans JP"/>
              </a:rPr>
              <a:t>企業事例・公式URLは後続ページとHTMLへ。主張 D1-S / D1-T / D1-F / D1-R</a:t>
            </a:r>
          </a:p>
        </p:txBody>
      </p:sp>
    </p:spTree>
    <p:extLst>
      <p:ext uri="{BB962C8B-B14F-4D97-AF65-F5344CB8AC3E}">
        <p14:creationId xmlns:p14="http://schemas.microsoft.com/office/powerpoint/2010/main" val="286641612"/>
      </p:ext>
    </p:extLst>
  </p:cSld>
</p:sld>
</file>

<file path=ppt/slides/slide3.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8" name="title">
            <a:extLst xmlns:a="http://schemas.openxmlformats.org/drawingml/2006/main">
              <a:ext uri="{FF2B5EF4-FFF2-40B4-BE49-F238E27FC236}">
                <a16:creationId xmlns:a16="http://schemas.microsoft.com/office/drawing/2014/main" id="{4E22EAA2-F8B2-4615-A909-F636884DB275}"/>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加工を安定させる自動調整</a:t>
            </a:r>
          </a:p>
        </p:txBody>
      </p:sp>
      <p:sp>
        <p:nvSpPr>
          <p:cNvPr id="2" name="sub">
            <a:extLst xmlns:a="http://schemas.openxmlformats.org/drawingml/2006/main">
              <a:ext uri="{FF2B5EF4-FFF2-40B4-BE49-F238E27FC236}">
                <a16:creationId xmlns:a16="http://schemas.microsoft.com/office/drawing/2014/main" id="{BDFF836F-047B-4D06-A3BB-3C94768758C4}"/>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自動化・自律化・加工AI。困りごとと使う技術を起点に、2024年以前と2025–2026年の公式説明を比較。</a:t>
            </a:r>
          </a:p>
        </p:txBody>
      </p:sp>
      <p:sp>
        <p:nvSpPr>
          <p:cNvPr id="3" name="page">
            <a:extLst xmlns:a="http://schemas.openxmlformats.org/drawingml/2006/main">
              <a:ext uri="{FF2B5EF4-FFF2-40B4-BE49-F238E27FC236}">
                <a16:creationId xmlns:a16="http://schemas.microsoft.com/office/drawing/2014/main" id="{6AAA61F6-5CCC-43BC-8156-29E42780CD24}"/>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03</a:t>
            </a:r>
          </a:p>
        </p:txBody>
      </p:sp>
      <p:sp>
        <p:nvSpPr>
          <p:cNvPr id="4" name="section-1">
            <a:extLst xmlns:a="http://schemas.openxmlformats.org/drawingml/2006/main">
              <a:ext uri="{FF2B5EF4-FFF2-40B4-BE49-F238E27FC236}">
                <a16:creationId xmlns:a16="http://schemas.microsoft.com/office/drawing/2014/main" id="{A8E266A5-1796-4655-984B-04080FB8C7B7}"/>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5" name="heading-1">
            <a:extLst xmlns:a="http://schemas.openxmlformats.org/drawingml/2006/main">
              <a:ext uri="{FF2B5EF4-FFF2-40B4-BE49-F238E27FC236}">
                <a16:creationId xmlns:a16="http://schemas.microsoft.com/office/drawing/2014/main" id="{FCEE9464-88F6-4F42-9F63-9243907039BA}"/>
              </a:ext>
            </a:extLst>
          </p:cNvPr>
          <p:cNvSpPr>
            <a:spLocks xmlns:a="http://schemas.openxmlformats.org/drawingml/2006/main" noGrp="1"/>
          </p:cNvSpPr>
          <p:nvPr/>
        </p:nvSpPr>
        <p:spPr>
          <a:xfrm xmlns:a="http://schemas.openxmlformats.org/drawingml/2006/main">
            <a:off x="84772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1　結果サマリ</a:t>
            </a:r>
          </a:p>
        </p:txBody>
      </p:sp>
      <p:sp>
        <p:nvSpPr>
          <p:cNvPr id="6" name="type-1">
            <a:extLst xmlns:a="http://schemas.openxmlformats.org/drawingml/2006/main">
              <a:ext uri="{FF2B5EF4-FFF2-40B4-BE49-F238E27FC236}">
                <a16:creationId xmlns:a16="http://schemas.microsoft.com/office/drawing/2014/main" id="{44552F07-78BE-4618-AA8E-F752BB7C574B}"/>
              </a:ext>
            </a:extLst>
          </p:cNvPr>
          <p:cNvSpPr>
            <a:spLocks xmlns:a="http://schemas.openxmlformats.org/drawingml/2006/main" noGrp="1"/>
          </p:cNvSpPr>
          <p:nvPr/>
        </p:nvSpPr>
        <p:spPr>
          <a:xfrm xmlns:a="http://schemas.openxmlformats.org/drawingml/2006/main">
            <a:off x="608647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ニーズ・技術の分析</a:t>
            </a:r>
          </a:p>
        </p:txBody>
      </p:sp>
      <p:sp>
        <p:nvSpPr>
          <p:cNvPr id="7" name="section-2">
            <a:extLst xmlns:a="http://schemas.openxmlformats.org/drawingml/2006/main">
              <a:ext uri="{FF2B5EF4-FFF2-40B4-BE49-F238E27FC236}">
                <a16:creationId xmlns:a16="http://schemas.microsoft.com/office/drawing/2014/main" id="{68DCB582-B809-4D9B-8DE3-2B175FFA14D6}"/>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8" name="heading-2">
            <a:extLst xmlns:a="http://schemas.openxmlformats.org/drawingml/2006/main">
              <a:ext uri="{FF2B5EF4-FFF2-40B4-BE49-F238E27FC236}">
                <a16:creationId xmlns:a16="http://schemas.microsoft.com/office/drawing/2014/main" id="{3FD3D6B1-AC6B-4A25-B053-273A66EE7252}"/>
              </a:ext>
            </a:extLst>
          </p:cNvPr>
          <p:cNvSpPr>
            <a:spLocks xmlns:a="http://schemas.openxmlformats.org/drawingml/2006/main" noGrp="1"/>
          </p:cNvSpPr>
          <p:nvPr/>
        </p:nvSpPr>
        <p:spPr>
          <a:xfrm xmlns:a="http://schemas.openxmlformats.org/drawingml/2006/main">
            <a:off x="962977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2　技術動向</a:t>
            </a:r>
          </a:p>
        </p:txBody>
      </p:sp>
      <p:sp>
        <p:nvSpPr>
          <p:cNvPr id="9" name="type-2">
            <a:extLst xmlns:a="http://schemas.openxmlformats.org/drawingml/2006/main">
              <a:ext uri="{FF2B5EF4-FFF2-40B4-BE49-F238E27FC236}">
                <a16:creationId xmlns:a16="http://schemas.microsoft.com/office/drawing/2014/main" id="{F899D038-066D-472D-AC36-48F1E13609AA}"/>
              </a:ext>
            </a:extLst>
          </p:cNvPr>
          <p:cNvSpPr>
            <a:spLocks xmlns:a="http://schemas.openxmlformats.org/drawingml/2006/main" noGrp="1"/>
          </p:cNvSpPr>
          <p:nvPr/>
        </p:nvSpPr>
        <p:spPr>
          <a:xfrm xmlns:a="http://schemas.openxmlformats.org/drawingml/2006/main">
            <a:off x="1486852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公式説明の比較</a:t>
            </a:r>
          </a:p>
        </p:txBody>
      </p:sp>
      <p:sp>
        <p:nvSpPr>
          <p:cNvPr id="10" name="section-3">
            <a:extLst xmlns:a="http://schemas.openxmlformats.org/drawingml/2006/main">
              <a:ext uri="{FF2B5EF4-FFF2-40B4-BE49-F238E27FC236}">
                <a16:creationId xmlns:a16="http://schemas.microsoft.com/office/drawing/2014/main" id="{0E65133E-1269-4015-B9AE-7F9F41698D41}"/>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eading-3">
            <a:extLst xmlns:a="http://schemas.openxmlformats.org/drawingml/2006/main">
              <a:ext uri="{FF2B5EF4-FFF2-40B4-BE49-F238E27FC236}">
                <a16:creationId xmlns:a16="http://schemas.microsoft.com/office/drawing/2014/main" id="{4B2C7F73-625D-4FC8-B275-A5349F2031A6}"/>
              </a:ext>
            </a:extLst>
          </p:cNvPr>
          <p:cNvSpPr>
            <a:spLocks xmlns:a="http://schemas.openxmlformats.org/drawingml/2006/main" noGrp="1"/>
          </p:cNvSpPr>
          <p:nvPr/>
        </p:nvSpPr>
        <p:spPr>
          <a:xfrm xmlns:a="http://schemas.openxmlformats.org/drawingml/2006/main">
            <a:off x="84772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3　今後の方向性</a:t>
            </a:r>
          </a:p>
        </p:txBody>
      </p:sp>
      <p:sp>
        <p:nvSpPr>
          <p:cNvPr id="12" name="type-3">
            <a:extLst xmlns:a="http://schemas.openxmlformats.org/drawingml/2006/main">
              <a:ext uri="{FF2B5EF4-FFF2-40B4-BE49-F238E27FC236}">
                <a16:creationId xmlns:a16="http://schemas.microsoft.com/office/drawing/2014/main" id="{A6DA62B6-8077-44F7-A89E-13444CB2DCD4}"/>
              </a:ext>
            </a:extLst>
          </p:cNvPr>
          <p:cNvSpPr>
            <a:spLocks xmlns:a="http://schemas.openxmlformats.org/drawingml/2006/main" noGrp="1"/>
          </p:cNvSpPr>
          <p:nvPr/>
        </p:nvSpPr>
        <p:spPr>
          <a:xfrm xmlns:a="http://schemas.openxmlformats.org/drawingml/2006/main">
            <a:off x="608647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将来方向の仮説</a:t>
            </a:r>
          </a:p>
        </p:txBody>
      </p:sp>
      <p:sp>
        <p:nvSpPr>
          <p:cNvPr id="13" name="section-4">
            <a:extLst xmlns:a="http://schemas.openxmlformats.org/drawingml/2006/main">
              <a:ext uri="{FF2B5EF4-FFF2-40B4-BE49-F238E27FC236}">
                <a16:creationId xmlns:a16="http://schemas.microsoft.com/office/drawing/2014/main" id="{5CDFC83A-5AA1-478F-95B0-E8A3EAE3ABCC}"/>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4" name="heading-4">
            <a:extLst xmlns:a="http://schemas.openxmlformats.org/drawingml/2006/main">
              <a:ext uri="{FF2B5EF4-FFF2-40B4-BE49-F238E27FC236}">
                <a16:creationId xmlns:a16="http://schemas.microsoft.com/office/drawing/2014/main" id="{B0970E04-5218-401A-AE9B-A80409F34D04}"/>
              </a:ext>
            </a:extLst>
          </p:cNvPr>
          <p:cNvSpPr>
            <a:spLocks xmlns:a="http://schemas.openxmlformats.org/drawingml/2006/main" noGrp="1"/>
          </p:cNvSpPr>
          <p:nvPr/>
        </p:nvSpPr>
        <p:spPr>
          <a:xfrm xmlns:a="http://schemas.openxmlformats.org/drawingml/2006/main">
            <a:off x="962977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4　調査結果の提言</a:t>
            </a:r>
          </a:p>
        </p:txBody>
      </p:sp>
      <p:sp>
        <p:nvSpPr>
          <p:cNvPr id="15" name="type-4">
            <a:extLst xmlns:a="http://schemas.openxmlformats.org/drawingml/2006/main">
              <a:ext uri="{FF2B5EF4-FFF2-40B4-BE49-F238E27FC236}">
                <a16:creationId xmlns:a16="http://schemas.microsoft.com/office/drawing/2014/main" id="{7499FDC2-BBF9-4C35-8FE6-22D16C2D4D34}"/>
              </a:ext>
            </a:extLst>
          </p:cNvPr>
          <p:cNvSpPr>
            <a:spLocks xmlns:a="http://schemas.openxmlformats.org/drawingml/2006/main" noGrp="1"/>
          </p:cNvSpPr>
          <p:nvPr/>
        </p:nvSpPr>
        <p:spPr>
          <a:xfrm xmlns:a="http://schemas.openxmlformats.org/drawingml/2006/main">
            <a:off x="1486852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開発候補の仮説</a:t>
            </a:r>
          </a:p>
        </p:txBody>
      </p:sp>
      <p:sp>
        <p:nvSpPr>
          <p:cNvPr id="16" name="result">
            <a:extLst xmlns:a="http://schemas.openxmlformats.org/drawingml/2006/main">
              <a:ext uri="{FF2B5EF4-FFF2-40B4-BE49-F238E27FC236}">
                <a16:creationId xmlns:a16="http://schemas.microsoft.com/office/drawing/2014/main" id="{D5AFD1E7-1A9E-43C4-BE26-3575360364A0}"/>
              </a:ext>
            </a:extLst>
          </p:cNvPr>
          <p:cNvSpPr>
            <a:spLocks xmlns:a="http://schemas.openxmlformats.org/drawingml/2006/main" noGrp="1"/>
          </p:cNvSpPr>
          <p:nvPr/>
        </p:nvSpPr>
        <p:spPr>
          <a:xfrm xmlns:a="http://schemas.openxmlformats.org/drawingml/2006/main">
            <a:off x="866775" y="2876550"/>
            <a:ext cx="77343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182D43"/>
                </a:solidFill>
                <a:latin typeface="Noto Sans JP"/>
                <a:ea typeface="Noto Sans JP"/>
                <a:cs typeface="Noto Sans JP"/>
              </a:defRPr>
            </a:defPPr>
          </a:lstStyle>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加工負荷・温度・寸法の変化を捉えて条件を調整し、加</a:t>
            </a:r>
          </a:p>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工時間と品質のばらつきを抑える。</a:t>
            </a:r>
          </a:p>
        </p:txBody>
      </p:sp>
      <p:sp>
        <p:nvSpPr>
          <p:cNvPr id="17" name="need">
            <a:extLst xmlns:a="http://schemas.openxmlformats.org/drawingml/2006/main">
              <a:ext uri="{FF2B5EF4-FFF2-40B4-BE49-F238E27FC236}">
                <a16:creationId xmlns:a16="http://schemas.microsoft.com/office/drawing/2014/main" id="{AB5C4A58-3C1B-4936-84FB-04417C086A97}"/>
              </a:ext>
            </a:extLst>
          </p:cNvPr>
          <p:cNvSpPr>
            <a:spLocks xmlns:a="http://schemas.openxmlformats.org/drawingml/2006/main" noGrp="1"/>
          </p:cNvSpPr>
          <p:nvPr/>
        </p:nvSpPr>
        <p:spPr>
          <a:xfrm xmlns:a="http://schemas.openxmlformats.org/drawingml/2006/main">
            <a:off x="866775" y="4038600"/>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現場の困りごと：余裕を持たせすぎた加工条件は時間を延ばし、</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過負荷・熱変位・工具状態の変化は品質や停止に影響する。</a:t>
            </a:r>
          </a:p>
        </p:txBody>
      </p:sp>
      <p:sp>
        <p:nvSpPr>
          <p:cNvPr id="18" name="tech">
            <a:extLst xmlns:a="http://schemas.openxmlformats.org/drawingml/2006/main">
              <a:ext uri="{FF2B5EF4-FFF2-40B4-BE49-F238E27FC236}">
                <a16:creationId xmlns:a16="http://schemas.microsoft.com/office/drawing/2014/main" id="{90EA6215-5E91-4E99-89B7-BA6094EBED5E}"/>
              </a:ext>
            </a:extLst>
          </p:cNvPr>
          <p:cNvSpPr>
            <a:spLocks xmlns:a="http://schemas.openxmlformats.org/drawingml/2006/main" noGrp="1"/>
          </p:cNvSpPr>
          <p:nvPr/>
        </p:nvSpPr>
        <p:spPr>
          <a:xfrm xmlns:a="http://schemas.openxmlformats.org/drawingml/2006/main">
            <a:off x="866775" y="5076825"/>
            <a:ext cx="7734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225B92"/>
                </a:solidFill>
                <a:latin typeface="Noto Sans JP"/>
                <a:ea typeface="Noto Sans JP"/>
                <a:cs typeface="Noto Sans JP"/>
              </a:defRPr>
            </a:defPPr>
          </a:lstStyle>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使う技術：切削の物理モデルによる事前最適化、センサーによる</a:t>
            </a:r>
          </a:p>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加工中の適応制御、計測結果を戻す補正。</a:t>
            </a:r>
          </a:p>
        </p:txBody>
      </p:sp>
      <p:sp>
        <p:nvSpPr>
          <p:cNvPr id="19" name="past-label">
            <a:extLst xmlns:a="http://schemas.openxmlformats.org/drawingml/2006/main">
              <a:ext uri="{FF2B5EF4-FFF2-40B4-BE49-F238E27FC236}">
                <a16:creationId xmlns:a16="http://schemas.microsoft.com/office/drawing/2014/main" id="{76FEFAB8-5B23-4A06-9194-50FA52DD655E}"/>
              </a:ext>
            </a:extLst>
          </p:cNvPr>
          <p:cNvSpPr>
            <a:spLocks xmlns:a="http://schemas.openxmlformats.org/drawingml/2006/main" noGrp="1"/>
          </p:cNvSpPr>
          <p:nvPr/>
        </p:nvSpPr>
        <p:spPr>
          <a:xfrm xmlns:a="http://schemas.openxmlformats.org/drawingml/2006/main">
            <a:off x="9648825" y="28765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37286"/>
                </a:solidFill>
                <a:latin typeface="Noto Sans JP"/>
                <a:ea typeface="Noto Sans JP"/>
                <a:cs typeface="Noto Sans JP"/>
              </a:defRPr>
            </a:defPPr>
          </a:lstStyle>
          <a:p xmlns:a="http://schemas.openxmlformats.org/drawingml/2006/main">
            <a:pPr>
              <a:defRPr sz="1500" b="1">
                <a:solidFill>
                  <a:srgbClr val="637286"/>
                </a:solidFill>
                <a:latin typeface="Noto Sans JP"/>
                <a:ea typeface="Noto Sans JP"/>
                <a:cs typeface="Noto Sans JP"/>
              </a:defRPr>
            </a:pPr>
            <a:r>
              <a:rPr sz="1500" b="1">
                <a:solidFill>
                  <a:srgbClr val="637286"/>
                </a:solidFill>
                <a:latin typeface="Noto Sans JP"/>
                <a:ea typeface="Noto Sans JP"/>
                <a:cs typeface="Noto Sans JP"/>
              </a:rPr>
              <a:t>2024年以前にもあったこと</a:t>
            </a:r>
          </a:p>
        </p:txBody>
      </p:sp>
      <p:sp>
        <p:nvSpPr>
          <p:cNvPr id="20" name="past">
            <a:extLst xmlns:a="http://schemas.openxmlformats.org/drawingml/2006/main">
              <a:ext uri="{FF2B5EF4-FFF2-40B4-BE49-F238E27FC236}">
                <a16:creationId xmlns:a16="http://schemas.microsoft.com/office/drawing/2014/main" id="{ADA8DB42-5F77-4EBD-A325-7C430E3360B8}"/>
              </a:ext>
            </a:extLst>
          </p:cNvPr>
          <p:cNvSpPr>
            <a:spLocks xmlns:a="http://schemas.openxmlformats.org/drawingml/2006/main" noGrp="1"/>
          </p:cNvSpPr>
          <p:nvPr/>
        </p:nvSpPr>
        <p:spPr>
          <a:xfrm xmlns:a="http://schemas.openxmlformats.org/drawingml/2006/main">
            <a:off x="9648825" y="3228975"/>
            <a:ext cx="773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負荷に応じた送り制御、NCの事前最適化、測定結果による工具</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補正は2024にも掲載されている。</a:t>
            </a:r>
          </a:p>
        </p:txBody>
      </p:sp>
      <p:sp>
        <p:nvSpPr>
          <p:cNvPr id="21" name="now-label">
            <a:extLst xmlns:a="http://schemas.openxmlformats.org/drawingml/2006/main">
              <a:ext uri="{FF2B5EF4-FFF2-40B4-BE49-F238E27FC236}">
                <a16:creationId xmlns:a16="http://schemas.microsoft.com/office/drawing/2014/main" id="{F4ED339B-66CB-4C3B-BF84-6AB7268CB4A6}"/>
              </a:ext>
            </a:extLst>
          </p:cNvPr>
          <p:cNvSpPr>
            <a:spLocks xmlns:a="http://schemas.openxmlformats.org/drawingml/2006/main" noGrp="1"/>
          </p:cNvSpPr>
          <p:nvPr/>
        </p:nvSpPr>
        <p:spPr>
          <a:xfrm xmlns:a="http://schemas.openxmlformats.org/drawingml/2006/main">
            <a:off x="9648825" y="43243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225B92"/>
                </a:solidFill>
                <a:latin typeface="Noto Sans JP"/>
                <a:ea typeface="Noto Sans JP"/>
                <a:cs typeface="Noto Sans JP"/>
              </a:defRPr>
            </a:defPPr>
          </a:lstStyle>
          <a:p xmlns:a="http://schemas.openxmlformats.org/drawingml/2006/main">
            <a:pPr>
              <a:defRPr sz="1500" b="1">
                <a:solidFill>
                  <a:srgbClr val="225B92"/>
                </a:solidFill>
                <a:latin typeface="Noto Sans JP"/>
                <a:ea typeface="Noto Sans JP"/>
                <a:cs typeface="Noto Sans JP"/>
              </a:defRPr>
            </a:pPr>
            <a:r>
              <a:rPr sz="1500" b="1">
                <a:solidFill>
                  <a:srgbClr val="225B92"/>
                </a:solidFill>
                <a:latin typeface="Noto Sans JP"/>
                <a:ea typeface="Noto Sans JP"/>
                <a:cs typeface="Noto Sans JP"/>
              </a:rPr>
              <a:t>2025–2026年に具体化したこと</a:t>
            </a:r>
          </a:p>
        </p:txBody>
      </p:sp>
      <p:sp>
        <p:nvSpPr>
          <p:cNvPr id="22" name="now">
            <a:extLst xmlns:a="http://schemas.openxmlformats.org/drawingml/2006/main">
              <a:ext uri="{FF2B5EF4-FFF2-40B4-BE49-F238E27FC236}">
                <a16:creationId xmlns:a16="http://schemas.microsoft.com/office/drawing/2014/main" id="{5EA4517B-074F-4432-8605-04933CDFFD0F}"/>
              </a:ext>
            </a:extLst>
          </p:cNvPr>
          <p:cNvSpPr>
            <a:spLocks xmlns:a="http://schemas.openxmlformats.org/drawingml/2006/main" noGrp="1"/>
          </p:cNvSpPr>
          <p:nvPr/>
        </p:nvSpPr>
        <p:spPr>
          <a:xfrm xmlns:a="http://schemas.openxmlformats.org/drawingml/2006/main">
            <a:off x="9648825" y="4686300"/>
            <a:ext cx="77343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2026は、工具の3D計測と補正加工の一体化や、加工前のワーク</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情報を条件調整へ使う提案が見られる。後者には開発中の機能も</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含む。</a:t>
            </a:r>
          </a:p>
        </p:txBody>
      </p:sp>
      <p:sp>
        <p:nvSpPr>
          <p:cNvPr id="23" name="future">
            <a:extLst xmlns:a="http://schemas.openxmlformats.org/drawingml/2006/main">
              <a:ext uri="{FF2B5EF4-FFF2-40B4-BE49-F238E27FC236}">
                <a16:creationId xmlns:a16="http://schemas.microsoft.com/office/drawing/2014/main" id="{EEFB8C24-0EE1-465D-81E0-5124B10C3A37}"/>
              </a:ext>
            </a:extLst>
          </p:cNvPr>
          <p:cNvSpPr>
            <a:spLocks xmlns:a="http://schemas.openxmlformats.org/drawingml/2006/main" noGrp="1"/>
          </p:cNvSpPr>
          <p:nvPr/>
        </p:nvSpPr>
        <p:spPr>
          <a:xfrm xmlns:a="http://schemas.openxmlformats.org/drawingml/2006/main">
            <a:off x="866775" y="7000875"/>
            <a:ext cx="7734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2D43"/>
                </a:solidFill>
                <a:latin typeface="Noto Sans JP"/>
                <a:ea typeface="Noto Sans JP"/>
                <a:cs typeface="Noto Sans JP"/>
              </a:defRPr>
            </a:defPPr>
          </a:lstStyle>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事前の加工予測と加工中・加工後の実測を組み合わせ、条件</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が変わっても狙いの品質へ近づける加工が開発の方向になる。</a:t>
            </a:r>
          </a:p>
        </p:txBody>
      </p:sp>
      <p:sp>
        <p:nvSpPr>
          <p:cNvPr id="24" name="limit">
            <a:extLst xmlns:a="http://schemas.openxmlformats.org/drawingml/2006/main">
              <a:ext uri="{FF2B5EF4-FFF2-40B4-BE49-F238E27FC236}">
                <a16:creationId xmlns:a16="http://schemas.microsoft.com/office/drawing/2014/main" id="{F0B21D51-F85F-4EC0-BBA4-C2C640A32DBE}"/>
              </a:ext>
            </a:extLst>
          </p:cNvPr>
          <p:cNvSpPr>
            <a:spLocks xmlns:a="http://schemas.openxmlformats.org/drawingml/2006/main" noGrp="1"/>
          </p:cNvSpPr>
          <p:nvPr/>
        </p:nvSpPr>
        <p:spPr>
          <a:xfrm xmlns:a="http://schemas.openxmlformats.org/drawingml/2006/main">
            <a:off x="866775" y="8467725"/>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比較の限界：測定と補正の連携自体は既存。各社の性能向上や、材料・工具</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が変わった際の適応範囲は資料だけでは比較できない。</a:t>
            </a:r>
          </a:p>
        </p:txBody>
      </p:sp>
      <p:sp>
        <p:nvSpPr>
          <p:cNvPr id="25" name="proposal">
            <a:extLst xmlns:a="http://schemas.openxmlformats.org/drawingml/2006/main">
              <a:ext uri="{FF2B5EF4-FFF2-40B4-BE49-F238E27FC236}">
                <a16:creationId xmlns:a16="http://schemas.microsoft.com/office/drawing/2014/main" id="{96F3AB25-4C14-4FA2-A223-65023BF816B4}"/>
              </a:ext>
            </a:extLst>
          </p:cNvPr>
          <p:cNvSpPr>
            <a:spLocks xmlns:a="http://schemas.openxmlformats.org/drawingml/2006/main" noGrp="1"/>
          </p:cNvSpPr>
          <p:nvPr/>
        </p:nvSpPr>
        <p:spPr>
          <a:xfrm xmlns:a="http://schemas.openxmlformats.org/drawingml/2006/main">
            <a:off x="9648825" y="7000875"/>
            <a:ext cx="77343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物理モデルと工程内計測を使う適応加工を候補とし、加工条</a:t>
            </a:r>
          </a:p>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件と工具・寸法補正を一つの対象工程で扱う。</a:t>
            </a:r>
          </a:p>
        </p:txBody>
      </p:sp>
      <p:sp>
        <p:nvSpPr>
          <p:cNvPr id="26" name="research">
            <a:extLst xmlns:a="http://schemas.openxmlformats.org/drawingml/2006/main">
              <a:ext uri="{FF2B5EF4-FFF2-40B4-BE49-F238E27FC236}">
                <a16:creationId xmlns:a16="http://schemas.microsoft.com/office/drawing/2014/main" id="{4647FCB6-3C34-4861-B225-639DAEC74606}"/>
              </a:ext>
            </a:extLst>
          </p:cNvPr>
          <p:cNvSpPr>
            <a:spLocks xmlns:a="http://schemas.openxmlformats.org/drawingml/2006/main" noGrp="1"/>
          </p:cNvSpPr>
          <p:nvPr/>
        </p:nvSpPr>
        <p:spPr>
          <a:xfrm xmlns:a="http://schemas.openxmlformats.org/drawingml/2006/main">
            <a:off x="9648825" y="8601075"/>
            <a:ext cx="7734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根拠となる技術：NC送り最適化・加工中の適応制御、熱変位補正・びびり抑制、</a:t>
            </a:r>
          </a:p>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計測から加工へのフィードバック</a:t>
            </a:r>
          </a:p>
        </p:txBody>
      </p:sp>
      <p:sp>
        <p:nvSpPr>
          <p:cNvPr id="27" name="foot">
            <a:extLst xmlns:a="http://schemas.openxmlformats.org/drawingml/2006/main">
              <a:ext uri="{FF2B5EF4-FFF2-40B4-BE49-F238E27FC236}">
                <a16:creationId xmlns:a16="http://schemas.microsoft.com/office/drawing/2014/main" id="{37B4CC57-A81E-4A0B-A4F0-E5DF3B8D7662}"/>
              </a:ext>
            </a:extLst>
          </p:cNvPr>
          <p:cNvSpPr>
            <a:spLocks xmlns:a="http://schemas.openxmlformats.org/drawingml/2006/main" noGrp="1"/>
          </p:cNvSpPr>
          <p:nvPr/>
        </p:nvSpPr>
        <p:spPr>
          <a:xfrm xmlns:a="http://schemas.openxmlformats.org/drawingml/2006/main">
            <a:off x="628650" y="9810750"/>
            <a:ext cx="1590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637286"/>
                </a:solidFill>
                <a:latin typeface="Noto Sans JP"/>
                <a:ea typeface="Noto Sans JP"/>
                <a:cs typeface="Noto Sans JP"/>
              </a:defRPr>
            </a:defPPr>
          </a:lstStyle>
          <a:p xmlns:a="http://schemas.openxmlformats.org/drawingml/2006/main">
            <a:pPr>
              <a:defRPr sz="1500" b="0">
                <a:solidFill>
                  <a:srgbClr val="637286"/>
                </a:solidFill>
                <a:latin typeface="Noto Sans JP"/>
                <a:ea typeface="Noto Sans JP"/>
                <a:cs typeface="Noto Sans JP"/>
              </a:defRPr>
            </a:pPr>
            <a:r>
              <a:rPr sz="1500" b="0">
                <a:solidFill>
                  <a:srgbClr val="637286"/>
                </a:solidFill>
                <a:latin typeface="Noto Sans JP"/>
                <a:ea typeface="Noto Sans JP"/>
                <a:cs typeface="Noto Sans JP"/>
              </a:rPr>
              <a:t>企業事例・公式URLは後続ページとHTMLへ。主張 D2-S / D2-T / D2-F / D2-R</a:t>
            </a:r>
          </a:p>
        </p:txBody>
      </p:sp>
    </p:spTree>
    <p:extLst>
      <p:ext uri="{BB962C8B-B14F-4D97-AF65-F5344CB8AC3E}">
        <p14:creationId xmlns:p14="http://schemas.microsoft.com/office/powerpoint/2010/main" val="1551062400"/>
      </p:ext>
    </p:extLst>
  </p:cSld>
</p:sld>
</file>

<file path=ppt/slides/slide4.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8" name="title">
            <a:extLst xmlns:a="http://schemas.openxmlformats.org/drawingml/2006/main">
              <a:ext uri="{FF2B5EF4-FFF2-40B4-BE49-F238E27FC236}">
                <a16:creationId xmlns:a16="http://schemas.microsoft.com/office/drawing/2014/main" id="{61FC0FC5-B46E-4707-A485-58A5D236F10C}"/>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品質・工具・設備を見極めるAI</a:t>
            </a:r>
          </a:p>
        </p:txBody>
      </p:sp>
      <p:sp>
        <p:nvSpPr>
          <p:cNvPr id="2" name="sub">
            <a:extLst xmlns:a="http://schemas.openxmlformats.org/drawingml/2006/main">
              <a:ext uri="{FF2B5EF4-FFF2-40B4-BE49-F238E27FC236}">
                <a16:creationId xmlns:a16="http://schemas.microsoft.com/office/drawing/2014/main" id="{86D762F3-7E4E-4305-8666-4FEDF219FEA2}"/>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AX・画像AI・状態診断。困りごとと使う技術を起点に、2024年以前と2025–2026年の公式説明を比較。</a:t>
            </a:r>
          </a:p>
        </p:txBody>
      </p:sp>
      <p:sp>
        <p:nvSpPr>
          <p:cNvPr id="3" name="page">
            <a:extLst xmlns:a="http://schemas.openxmlformats.org/drawingml/2006/main">
              <a:ext uri="{FF2B5EF4-FFF2-40B4-BE49-F238E27FC236}">
                <a16:creationId xmlns:a16="http://schemas.microsoft.com/office/drawing/2014/main" id="{CF08D170-74E7-48D3-99FA-51E88DFBEB1E}"/>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04</a:t>
            </a:r>
          </a:p>
        </p:txBody>
      </p:sp>
      <p:sp>
        <p:nvSpPr>
          <p:cNvPr id="4" name="section-1">
            <a:extLst xmlns:a="http://schemas.openxmlformats.org/drawingml/2006/main">
              <a:ext uri="{FF2B5EF4-FFF2-40B4-BE49-F238E27FC236}">
                <a16:creationId xmlns:a16="http://schemas.microsoft.com/office/drawing/2014/main" id="{277A622E-342D-4FCB-AD38-CC332C07A775}"/>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5" name="heading-1">
            <a:extLst xmlns:a="http://schemas.openxmlformats.org/drawingml/2006/main">
              <a:ext uri="{FF2B5EF4-FFF2-40B4-BE49-F238E27FC236}">
                <a16:creationId xmlns:a16="http://schemas.microsoft.com/office/drawing/2014/main" id="{CA8F4009-4207-4641-805F-82C0E96F3215}"/>
              </a:ext>
            </a:extLst>
          </p:cNvPr>
          <p:cNvSpPr>
            <a:spLocks xmlns:a="http://schemas.openxmlformats.org/drawingml/2006/main" noGrp="1"/>
          </p:cNvSpPr>
          <p:nvPr/>
        </p:nvSpPr>
        <p:spPr>
          <a:xfrm xmlns:a="http://schemas.openxmlformats.org/drawingml/2006/main">
            <a:off x="84772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1　結果サマリ</a:t>
            </a:r>
          </a:p>
        </p:txBody>
      </p:sp>
      <p:sp>
        <p:nvSpPr>
          <p:cNvPr id="6" name="type-1">
            <a:extLst xmlns:a="http://schemas.openxmlformats.org/drawingml/2006/main">
              <a:ext uri="{FF2B5EF4-FFF2-40B4-BE49-F238E27FC236}">
                <a16:creationId xmlns:a16="http://schemas.microsoft.com/office/drawing/2014/main" id="{01E7F2F5-1A5E-44F9-AC85-1471F1465657}"/>
              </a:ext>
            </a:extLst>
          </p:cNvPr>
          <p:cNvSpPr>
            <a:spLocks xmlns:a="http://schemas.openxmlformats.org/drawingml/2006/main" noGrp="1"/>
          </p:cNvSpPr>
          <p:nvPr/>
        </p:nvSpPr>
        <p:spPr>
          <a:xfrm xmlns:a="http://schemas.openxmlformats.org/drawingml/2006/main">
            <a:off x="608647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ニーズ・技術の分析</a:t>
            </a:r>
          </a:p>
        </p:txBody>
      </p:sp>
      <p:sp>
        <p:nvSpPr>
          <p:cNvPr id="7" name="section-2">
            <a:extLst xmlns:a="http://schemas.openxmlformats.org/drawingml/2006/main">
              <a:ext uri="{FF2B5EF4-FFF2-40B4-BE49-F238E27FC236}">
                <a16:creationId xmlns:a16="http://schemas.microsoft.com/office/drawing/2014/main" id="{861BC068-D51D-4515-9EBA-813ED1FE25AB}"/>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8" name="heading-2">
            <a:extLst xmlns:a="http://schemas.openxmlformats.org/drawingml/2006/main">
              <a:ext uri="{FF2B5EF4-FFF2-40B4-BE49-F238E27FC236}">
                <a16:creationId xmlns:a16="http://schemas.microsoft.com/office/drawing/2014/main" id="{B344D868-CCFB-4A2C-AFFF-08386DFCA28D}"/>
              </a:ext>
            </a:extLst>
          </p:cNvPr>
          <p:cNvSpPr>
            <a:spLocks xmlns:a="http://schemas.openxmlformats.org/drawingml/2006/main" noGrp="1"/>
          </p:cNvSpPr>
          <p:nvPr/>
        </p:nvSpPr>
        <p:spPr>
          <a:xfrm xmlns:a="http://schemas.openxmlformats.org/drawingml/2006/main">
            <a:off x="962977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2　技術動向</a:t>
            </a:r>
          </a:p>
        </p:txBody>
      </p:sp>
      <p:sp>
        <p:nvSpPr>
          <p:cNvPr id="9" name="type-2">
            <a:extLst xmlns:a="http://schemas.openxmlformats.org/drawingml/2006/main">
              <a:ext uri="{FF2B5EF4-FFF2-40B4-BE49-F238E27FC236}">
                <a16:creationId xmlns:a16="http://schemas.microsoft.com/office/drawing/2014/main" id="{0FC3DD78-0182-4F02-A3C8-E8C051E1FC4C}"/>
              </a:ext>
            </a:extLst>
          </p:cNvPr>
          <p:cNvSpPr>
            <a:spLocks xmlns:a="http://schemas.openxmlformats.org/drawingml/2006/main" noGrp="1"/>
          </p:cNvSpPr>
          <p:nvPr/>
        </p:nvSpPr>
        <p:spPr>
          <a:xfrm xmlns:a="http://schemas.openxmlformats.org/drawingml/2006/main">
            <a:off x="1486852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公式説明の比較</a:t>
            </a:r>
          </a:p>
        </p:txBody>
      </p:sp>
      <p:sp>
        <p:nvSpPr>
          <p:cNvPr id="10" name="section-3">
            <a:extLst xmlns:a="http://schemas.openxmlformats.org/drawingml/2006/main">
              <a:ext uri="{FF2B5EF4-FFF2-40B4-BE49-F238E27FC236}">
                <a16:creationId xmlns:a16="http://schemas.microsoft.com/office/drawing/2014/main" id="{D50B150D-C67C-40E7-A130-8CB5E0566852}"/>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eading-3">
            <a:extLst xmlns:a="http://schemas.openxmlformats.org/drawingml/2006/main">
              <a:ext uri="{FF2B5EF4-FFF2-40B4-BE49-F238E27FC236}">
                <a16:creationId xmlns:a16="http://schemas.microsoft.com/office/drawing/2014/main" id="{31E8EA68-339D-4BCB-B1A7-D4267107A549}"/>
              </a:ext>
            </a:extLst>
          </p:cNvPr>
          <p:cNvSpPr>
            <a:spLocks xmlns:a="http://schemas.openxmlformats.org/drawingml/2006/main" noGrp="1"/>
          </p:cNvSpPr>
          <p:nvPr/>
        </p:nvSpPr>
        <p:spPr>
          <a:xfrm xmlns:a="http://schemas.openxmlformats.org/drawingml/2006/main">
            <a:off x="84772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3　今後の方向性</a:t>
            </a:r>
          </a:p>
        </p:txBody>
      </p:sp>
      <p:sp>
        <p:nvSpPr>
          <p:cNvPr id="12" name="type-3">
            <a:extLst xmlns:a="http://schemas.openxmlformats.org/drawingml/2006/main">
              <a:ext uri="{FF2B5EF4-FFF2-40B4-BE49-F238E27FC236}">
                <a16:creationId xmlns:a16="http://schemas.microsoft.com/office/drawing/2014/main" id="{2D54EE5C-2B2E-44BA-86D8-EF47B48C76E3}"/>
              </a:ext>
            </a:extLst>
          </p:cNvPr>
          <p:cNvSpPr>
            <a:spLocks xmlns:a="http://schemas.openxmlformats.org/drawingml/2006/main" noGrp="1"/>
          </p:cNvSpPr>
          <p:nvPr/>
        </p:nvSpPr>
        <p:spPr>
          <a:xfrm xmlns:a="http://schemas.openxmlformats.org/drawingml/2006/main">
            <a:off x="608647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将来方向の仮説</a:t>
            </a:r>
          </a:p>
        </p:txBody>
      </p:sp>
      <p:sp>
        <p:nvSpPr>
          <p:cNvPr id="13" name="section-4">
            <a:extLst xmlns:a="http://schemas.openxmlformats.org/drawingml/2006/main">
              <a:ext uri="{FF2B5EF4-FFF2-40B4-BE49-F238E27FC236}">
                <a16:creationId xmlns:a16="http://schemas.microsoft.com/office/drawing/2014/main" id="{6C3A4671-7A80-4668-BBB0-AD89E089916A}"/>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4" name="heading-4">
            <a:extLst xmlns:a="http://schemas.openxmlformats.org/drawingml/2006/main">
              <a:ext uri="{FF2B5EF4-FFF2-40B4-BE49-F238E27FC236}">
                <a16:creationId xmlns:a16="http://schemas.microsoft.com/office/drawing/2014/main" id="{4098DDB3-0970-419B-83BB-5E3FFDA56D69}"/>
              </a:ext>
            </a:extLst>
          </p:cNvPr>
          <p:cNvSpPr>
            <a:spLocks xmlns:a="http://schemas.openxmlformats.org/drawingml/2006/main" noGrp="1"/>
          </p:cNvSpPr>
          <p:nvPr/>
        </p:nvSpPr>
        <p:spPr>
          <a:xfrm xmlns:a="http://schemas.openxmlformats.org/drawingml/2006/main">
            <a:off x="962977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4　調査結果の提言</a:t>
            </a:r>
          </a:p>
        </p:txBody>
      </p:sp>
      <p:sp>
        <p:nvSpPr>
          <p:cNvPr id="15" name="type-4">
            <a:extLst xmlns:a="http://schemas.openxmlformats.org/drawingml/2006/main">
              <a:ext uri="{FF2B5EF4-FFF2-40B4-BE49-F238E27FC236}">
                <a16:creationId xmlns:a16="http://schemas.microsoft.com/office/drawing/2014/main" id="{61F3A611-9A6E-4908-AE92-4599BD145062}"/>
              </a:ext>
            </a:extLst>
          </p:cNvPr>
          <p:cNvSpPr>
            <a:spLocks xmlns:a="http://schemas.openxmlformats.org/drawingml/2006/main" noGrp="1"/>
          </p:cNvSpPr>
          <p:nvPr/>
        </p:nvSpPr>
        <p:spPr>
          <a:xfrm xmlns:a="http://schemas.openxmlformats.org/drawingml/2006/main">
            <a:off x="1486852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開発候補の仮説</a:t>
            </a:r>
          </a:p>
        </p:txBody>
      </p:sp>
      <p:sp>
        <p:nvSpPr>
          <p:cNvPr id="16" name="result">
            <a:extLst xmlns:a="http://schemas.openxmlformats.org/drawingml/2006/main">
              <a:ext uri="{FF2B5EF4-FFF2-40B4-BE49-F238E27FC236}">
                <a16:creationId xmlns:a16="http://schemas.microsoft.com/office/drawing/2014/main" id="{E2F9D183-5C5A-4B0F-ADEE-BA5524EC941F}"/>
              </a:ext>
            </a:extLst>
          </p:cNvPr>
          <p:cNvSpPr>
            <a:spLocks xmlns:a="http://schemas.openxmlformats.org/drawingml/2006/main" noGrp="1"/>
          </p:cNvSpPr>
          <p:nvPr/>
        </p:nvSpPr>
        <p:spPr>
          <a:xfrm xmlns:a="http://schemas.openxmlformats.org/drawingml/2006/main">
            <a:off x="866775" y="2876550"/>
            <a:ext cx="77343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182D43"/>
                </a:solidFill>
                <a:latin typeface="Noto Sans JP"/>
                <a:ea typeface="Noto Sans JP"/>
                <a:cs typeface="Noto Sans JP"/>
              </a:defRPr>
            </a:defPPr>
          </a:lstStyle>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人が目や経験で行う外観・摩耗・設備状態の判断を、画</a:t>
            </a:r>
          </a:p>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像や稼働データで支援する。</a:t>
            </a:r>
          </a:p>
        </p:txBody>
      </p:sp>
      <p:sp>
        <p:nvSpPr>
          <p:cNvPr id="17" name="need">
            <a:extLst xmlns:a="http://schemas.openxmlformats.org/drawingml/2006/main">
              <a:ext uri="{FF2B5EF4-FFF2-40B4-BE49-F238E27FC236}">
                <a16:creationId xmlns:a16="http://schemas.microsoft.com/office/drawing/2014/main" id="{9A938E15-02EC-4977-AD75-609232D10C6E}"/>
              </a:ext>
            </a:extLst>
          </p:cNvPr>
          <p:cNvSpPr>
            <a:spLocks xmlns:a="http://schemas.openxmlformats.org/drawingml/2006/main" noGrp="1"/>
          </p:cNvSpPr>
          <p:nvPr/>
        </p:nvSpPr>
        <p:spPr>
          <a:xfrm xmlns:a="http://schemas.openxmlformats.org/drawingml/2006/main">
            <a:off x="866775" y="4038600"/>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現場の困りごと：検査や工具交換の判断が人によって揺れ、不良</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の見逃し、工具の早すぎる交換、突発停止につながる。</a:t>
            </a:r>
          </a:p>
        </p:txBody>
      </p:sp>
      <p:sp>
        <p:nvSpPr>
          <p:cNvPr id="18" name="tech">
            <a:extLst xmlns:a="http://schemas.openxmlformats.org/drawingml/2006/main">
              <a:ext uri="{FF2B5EF4-FFF2-40B4-BE49-F238E27FC236}">
                <a16:creationId xmlns:a16="http://schemas.microsoft.com/office/drawing/2014/main" id="{F578283D-FFDA-4BF4-B878-95142DAEB1E8}"/>
              </a:ext>
            </a:extLst>
          </p:cNvPr>
          <p:cNvSpPr>
            <a:spLocks xmlns:a="http://schemas.openxmlformats.org/drawingml/2006/main" noGrp="1"/>
          </p:cNvSpPr>
          <p:nvPr/>
        </p:nvSpPr>
        <p:spPr>
          <a:xfrm xmlns:a="http://schemas.openxmlformats.org/drawingml/2006/main">
            <a:off x="866775" y="5076825"/>
            <a:ext cx="7734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225B92"/>
                </a:solidFill>
                <a:latin typeface="Noto Sans JP"/>
                <a:ea typeface="Noto Sans JP"/>
                <a:cs typeface="Noto Sans JP"/>
              </a:defRPr>
            </a:defPPr>
          </a:lstStyle>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使う技術：良品との差を捉える画像学習、刃先の画像診断、電流</a:t>
            </a:r>
          </a:p>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・振動の状態比較、摩耗データからの寿命予測。</a:t>
            </a:r>
          </a:p>
        </p:txBody>
      </p:sp>
      <p:sp>
        <p:nvSpPr>
          <p:cNvPr id="19" name="past-label">
            <a:extLst xmlns:a="http://schemas.openxmlformats.org/drawingml/2006/main">
              <a:ext uri="{FF2B5EF4-FFF2-40B4-BE49-F238E27FC236}">
                <a16:creationId xmlns:a16="http://schemas.microsoft.com/office/drawing/2014/main" id="{1FA9A5D5-DB51-4D98-9643-0D37D193B998}"/>
              </a:ext>
            </a:extLst>
          </p:cNvPr>
          <p:cNvSpPr>
            <a:spLocks xmlns:a="http://schemas.openxmlformats.org/drawingml/2006/main" noGrp="1"/>
          </p:cNvSpPr>
          <p:nvPr/>
        </p:nvSpPr>
        <p:spPr>
          <a:xfrm xmlns:a="http://schemas.openxmlformats.org/drawingml/2006/main">
            <a:off x="9648825" y="28765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37286"/>
                </a:solidFill>
                <a:latin typeface="Noto Sans JP"/>
                <a:ea typeface="Noto Sans JP"/>
                <a:cs typeface="Noto Sans JP"/>
              </a:defRPr>
            </a:defPPr>
          </a:lstStyle>
          <a:p xmlns:a="http://schemas.openxmlformats.org/drawingml/2006/main">
            <a:pPr>
              <a:defRPr sz="1500" b="1">
                <a:solidFill>
                  <a:srgbClr val="637286"/>
                </a:solidFill>
                <a:latin typeface="Noto Sans JP"/>
                <a:ea typeface="Noto Sans JP"/>
                <a:cs typeface="Noto Sans JP"/>
              </a:defRPr>
            </a:pPr>
            <a:r>
              <a:rPr sz="1500" b="1">
                <a:solidFill>
                  <a:srgbClr val="637286"/>
                </a:solidFill>
                <a:latin typeface="Noto Sans JP"/>
                <a:ea typeface="Noto Sans JP"/>
                <a:cs typeface="Noto Sans JP"/>
              </a:rPr>
              <a:t>2024年以前にもあったこと</a:t>
            </a:r>
          </a:p>
        </p:txBody>
      </p:sp>
      <p:sp>
        <p:nvSpPr>
          <p:cNvPr id="20" name="past">
            <a:extLst xmlns:a="http://schemas.openxmlformats.org/drawingml/2006/main">
              <a:ext uri="{FF2B5EF4-FFF2-40B4-BE49-F238E27FC236}">
                <a16:creationId xmlns:a16="http://schemas.microsoft.com/office/drawing/2014/main" id="{BA4B209A-5894-4F54-9B50-1A7D2F5046D4}"/>
              </a:ext>
            </a:extLst>
          </p:cNvPr>
          <p:cNvSpPr>
            <a:spLocks xmlns:a="http://schemas.openxmlformats.org/drawingml/2006/main" noGrp="1"/>
          </p:cNvSpPr>
          <p:nvPr/>
        </p:nvSpPr>
        <p:spPr>
          <a:xfrm xmlns:a="http://schemas.openxmlformats.org/drawingml/2006/main">
            <a:off x="9648825" y="3228975"/>
            <a:ext cx="773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AIによる工具の欠け・摩耗判定、設備のAI診断、工具・工程監</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視は2024にも存在している。</a:t>
            </a:r>
          </a:p>
        </p:txBody>
      </p:sp>
      <p:sp>
        <p:nvSpPr>
          <p:cNvPr id="21" name="now-label">
            <a:extLst xmlns:a="http://schemas.openxmlformats.org/drawingml/2006/main">
              <a:ext uri="{FF2B5EF4-FFF2-40B4-BE49-F238E27FC236}">
                <a16:creationId xmlns:a16="http://schemas.microsoft.com/office/drawing/2014/main" id="{AA6022D7-1081-4052-8640-7C45E69CE3BD}"/>
              </a:ext>
            </a:extLst>
          </p:cNvPr>
          <p:cNvSpPr>
            <a:spLocks xmlns:a="http://schemas.openxmlformats.org/drawingml/2006/main" noGrp="1"/>
          </p:cNvSpPr>
          <p:nvPr/>
        </p:nvSpPr>
        <p:spPr>
          <a:xfrm xmlns:a="http://schemas.openxmlformats.org/drawingml/2006/main">
            <a:off x="9648825" y="43243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225B92"/>
                </a:solidFill>
                <a:latin typeface="Noto Sans JP"/>
                <a:ea typeface="Noto Sans JP"/>
                <a:cs typeface="Noto Sans JP"/>
              </a:defRPr>
            </a:defPPr>
          </a:lstStyle>
          <a:p xmlns:a="http://schemas.openxmlformats.org/drawingml/2006/main">
            <a:pPr>
              <a:defRPr sz="1500" b="1">
                <a:solidFill>
                  <a:srgbClr val="225B92"/>
                </a:solidFill>
                <a:latin typeface="Noto Sans JP"/>
                <a:ea typeface="Noto Sans JP"/>
                <a:cs typeface="Noto Sans JP"/>
              </a:defRPr>
            </a:pPr>
            <a:r>
              <a:rPr sz="1500" b="1">
                <a:solidFill>
                  <a:srgbClr val="225B92"/>
                </a:solidFill>
                <a:latin typeface="Noto Sans JP"/>
                <a:ea typeface="Noto Sans JP"/>
                <a:cs typeface="Noto Sans JP"/>
              </a:rPr>
              <a:t>2025–2026年に具体化したこと</a:t>
            </a:r>
          </a:p>
        </p:txBody>
      </p:sp>
      <p:sp>
        <p:nvSpPr>
          <p:cNvPr id="22" name="now">
            <a:extLst xmlns:a="http://schemas.openxmlformats.org/drawingml/2006/main">
              <a:ext uri="{FF2B5EF4-FFF2-40B4-BE49-F238E27FC236}">
                <a16:creationId xmlns:a16="http://schemas.microsoft.com/office/drawing/2014/main" id="{0D89CD20-46EB-43A4-9695-BDC2FCCBC4D3}"/>
              </a:ext>
            </a:extLst>
          </p:cNvPr>
          <p:cNvSpPr>
            <a:spLocks xmlns:a="http://schemas.openxmlformats.org/drawingml/2006/main" noGrp="1"/>
          </p:cNvSpPr>
          <p:nvPr/>
        </p:nvSpPr>
        <p:spPr>
          <a:xfrm xmlns:a="http://schemas.openxmlformats.org/drawingml/2006/main">
            <a:off x="9648825" y="4686300"/>
            <a:ext cx="77343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2025–2026の資料では、誤判定を追加学習で調整する機能や、</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摩耗の記録を寿命・交換時期の提案へ使う内容が具体化。耐環境</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撮像や工具長測定との組合せも見られる。</a:t>
            </a:r>
          </a:p>
        </p:txBody>
      </p:sp>
      <p:sp>
        <p:nvSpPr>
          <p:cNvPr id="23" name="future">
            <a:extLst xmlns:a="http://schemas.openxmlformats.org/drawingml/2006/main">
              <a:ext uri="{FF2B5EF4-FFF2-40B4-BE49-F238E27FC236}">
                <a16:creationId xmlns:a16="http://schemas.microsoft.com/office/drawing/2014/main" id="{380D6D46-9939-4D58-9F06-9A84ECF175CF}"/>
              </a:ext>
            </a:extLst>
          </p:cNvPr>
          <p:cNvSpPr>
            <a:spLocks xmlns:a="http://schemas.openxmlformats.org/drawingml/2006/main" noGrp="1"/>
          </p:cNvSpPr>
          <p:nvPr/>
        </p:nvSpPr>
        <p:spPr>
          <a:xfrm xmlns:a="http://schemas.openxmlformats.org/drawingml/2006/main">
            <a:off x="866775" y="7000875"/>
            <a:ext cx="7734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2D43"/>
                </a:solidFill>
                <a:latin typeface="Noto Sans JP"/>
                <a:ea typeface="Noto Sans JP"/>
                <a:cs typeface="Noto Sans JP"/>
              </a:defRPr>
            </a:defPPr>
          </a:lstStyle>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単独の合否・診断を、加工履歴や測定・品質情報と結び、加</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工継続・交換・保全を選ぶ判断支援へ発展させる余地がある。</a:t>
            </a:r>
          </a:p>
        </p:txBody>
      </p:sp>
      <p:sp>
        <p:nvSpPr>
          <p:cNvPr id="24" name="limit">
            <a:extLst xmlns:a="http://schemas.openxmlformats.org/drawingml/2006/main">
              <a:ext uri="{FF2B5EF4-FFF2-40B4-BE49-F238E27FC236}">
                <a16:creationId xmlns:a16="http://schemas.microsoft.com/office/drawing/2014/main" id="{356ED8FA-F213-4076-9DF9-E3A082B59F99}"/>
              </a:ext>
            </a:extLst>
          </p:cNvPr>
          <p:cNvSpPr>
            <a:spLocks xmlns:a="http://schemas.openxmlformats.org/drawingml/2006/main" noGrp="1"/>
          </p:cNvSpPr>
          <p:nvPr/>
        </p:nvSpPr>
        <p:spPr>
          <a:xfrm xmlns:a="http://schemas.openxmlformats.org/drawingml/2006/main">
            <a:off x="866775" y="8467725"/>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比較の限界：追加学習は2025に発表済み、寿命予測には以前の研究発表も</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ある。2026初の発明や、全工具での精度向上とは判断しない。</a:t>
            </a:r>
          </a:p>
        </p:txBody>
      </p:sp>
      <p:sp>
        <p:nvSpPr>
          <p:cNvPr id="25" name="proposal">
            <a:extLst xmlns:a="http://schemas.openxmlformats.org/drawingml/2006/main">
              <a:ext uri="{FF2B5EF4-FFF2-40B4-BE49-F238E27FC236}">
                <a16:creationId xmlns:a16="http://schemas.microsoft.com/office/drawing/2014/main" id="{341F207C-3970-4FAC-BDAD-E39847C670CB}"/>
              </a:ext>
            </a:extLst>
          </p:cNvPr>
          <p:cNvSpPr>
            <a:spLocks xmlns:a="http://schemas.openxmlformats.org/drawingml/2006/main" noGrp="1"/>
          </p:cNvSpPr>
          <p:nvPr/>
        </p:nvSpPr>
        <p:spPr>
          <a:xfrm xmlns:a="http://schemas.openxmlformats.org/drawingml/2006/main">
            <a:off x="9648825" y="7000875"/>
            <a:ext cx="77343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工具状態と加工品質を結び、加工を続けるか、条件を変える</a:t>
            </a:r>
          </a:p>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か、交換するかを扱う工程AIを候補にする。</a:t>
            </a:r>
          </a:p>
        </p:txBody>
      </p:sp>
      <p:sp>
        <p:nvSpPr>
          <p:cNvPr id="26" name="research">
            <a:extLst xmlns:a="http://schemas.openxmlformats.org/drawingml/2006/main">
              <a:ext uri="{FF2B5EF4-FFF2-40B4-BE49-F238E27FC236}">
                <a16:creationId xmlns:a16="http://schemas.microsoft.com/office/drawing/2014/main" id="{A9A26215-A26E-46A4-A4B0-6F919E902876}"/>
              </a:ext>
            </a:extLst>
          </p:cNvPr>
          <p:cNvSpPr>
            <a:spLocks xmlns:a="http://schemas.openxmlformats.org/drawingml/2006/main" noGrp="1"/>
          </p:cNvSpPr>
          <p:nvPr/>
        </p:nvSpPr>
        <p:spPr>
          <a:xfrm xmlns:a="http://schemas.openxmlformats.org/drawingml/2006/main">
            <a:off x="9648825" y="8601075"/>
            <a:ext cx="7734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根拠となる技術：外観検査・撮像と追加学習、工具摩耗の判定・交換判断、設備</a:t>
            </a:r>
          </a:p>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・刃具の異常検知と保全</a:t>
            </a:r>
          </a:p>
        </p:txBody>
      </p:sp>
      <p:sp>
        <p:nvSpPr>
          <p:cNvPr id="27" name="foot">
            <a:extLst xmlns:a="http://schemas.openxmlformats.org/drawingml/2006/main">
              <a:ext uri="{FF2B5EF4-FFF2-40B4-BE49-F238E27FC236}">
                <a16:creationId xmlns:a16="http://schemas.microsoft.com/office/drawing/2014/main" id="{9BC2EB87-6622-4D08-A477-B33EFD4A43C8}"/>
              </a:ext>
            </a:extLst>
          </p:cNvPr>
          <p:cNvSpPr>
            <a:spLocks xmlns:a="http://schemas.openxmlformats.org/drawingml/2006/main" noGrp="1"/>
          </p:cNvSpPr>
          <p:nvPr/>
        </p:nvSpPr>
        <p:spPr>
          <a:xfrm xmlns:a="http://schemas.openxmlformats.org/drawingml/2006/main">
            <a:off x="628650" y="9810750"/>
            <a:ext cx="1590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637286"/>
                </a:solidFill>
                <a:latin typeface="Noto Sans JP"/>
                <a:ea typeface="Noto Sans JP"/>
                <a:cs typeface="Noto Sans JP"/>
              </a:defRPr>
            </a:defPPr>
          </a:lstStyle>
          <a:p xmlns:a="http://schemas.openxmlformats.org/drawingml/2006/main">
            <a:pPr>
              <a:defRPr sz="1500" b="0">
                <a:solidFill>
                  <a:srgbClr val="637286"/>
                </a:solidFill>
                <a:latin typeface="Noto Sans JP"/>
                <a:ea typeface="Noto Sans JP"/>
                <a:cs typeface="Noto Sans JP"/>
              </a:defRPr>
            </a:pPr>
            <a:r>
              <a:rPr sz="1500" b="0">
                <a:solidFill>
                  <a:srgbClr val="637286"/>
                </a:solidFill>
                <a:latin typeface="Noto Sans JP"/>
                <a:ea typeface="Noto Sans JP"/>
                <a:cs typeface="Noto Sans JP"/>
              </a:rPr>
              <a:t>企業事例・公式URLは後続ページとHTMLへ。主張 D3-S / D3-T / D3-F / D3-R</a:t>
            </a:r>
          </a:p>
        </p:txBody>
      </p:sp>
    </p:spTree>
    <p:extLst>
      <p:ext uri="{BB962C8B-B14F-4D97-AF65-F5344CB8AC3E}">
        <p14:creationId xmlns:p14="http://schemas.microsoft.com/office/powerpoint/2010/main" val="1303070977"/>
      </p:ext>
    </p:extLst>
  </p:cSld>
</p:sld>
</file>

<file path=ppt/slides/slide5.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8" name="title">
            <a:extLst xmlns:a="http://schemas.openxmlformats.org/drawingml/2006/main">
              <a:ext uri="{FF2B5EF4-FFF2-40B4-BE49-F238E27FC236}">
                <a16:creationId xmlns:a16="http://schemas.microsoft.com/office/drawing/2014/main" id="{9400A46E-2160-4455-B424-226F8433DC6D}"/>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多品種に対応する段取り・ロボット</a:t>
            </a:r>
          </a:p>
        </p:txBody>
      </p:sp>
      <p:sp>
        <p:nvSpPr>
          <p:cNvPr id="2" name="sub">
            <a:extLst xmlns:a="http://schemas.openxmlformats.org/drawingml/2006/main">
              <a:ext uri="{FF2B5EF4-FFF2-40B4-BE49-F238E27FC236}">
                <a16:creationId xmlns:a16="http://schemas.microsoft.com/office/drawing/2014/main" id="{C9D933A4-6092-43BA-8C85-F196C670DE05}"/>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自動化・自律化・フィジカルAI。困りごとと使う技術を起点に、2024年以前と2025–2026年の公式説明を比較。</a:t>
            </a:r>
          </a:p>
        </p:txBody>
      </p:sp>
      <p:sp>
        <p:nvSpPr>
          <p:cNvPr id="3" name="page">
            <a:extLst xmlns:a="http://schemas.openxmlformats.org/drawingml/2006/main">
              <a:ext uri="{FF2B5EF4-FFF2-40B4-BE49-F238E27FC236}">
                <a16:creationId xmlns:a16="http://schemas.microsoft.com/office/drawing/2014/main" id="{5501705D-66C3-4523-96BC-1F093FBAE4D8}"/>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05</a:t>
            </a:r>
          </a:p>
        </p:txBody>
      </p:sp>
      <p:sp>
        <p:nvSpPr>
          <p:cNvPr id="4" name="section-1">
            <a:extLst xmlns:a="http://schemas.openxmlformats.org/drawingml/2006/main">
              <a:ext uri="{FF2B5EF4-FFF2-40B4-BE49-F238E27FC236}">
                <a16:creationId xmlns:a16="http://schemas.microsoft.com/office/drawing/2014/main" id="{31E3FC80-2EF4-4256-BFE1-EFD20500B9E0}"/>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5" name="heading-1">
            <a:extLst xmlns:a="http://schemas.openxmlformats.org/drawingml/2006/main">
              <a:ext uri="{FF2B5EF4-FFF2-40B4-BE49-F238E27FC236}">
                <a16:creationId xmlns:a16="http://schemas.microsoft.com/office/drawing/2014/main" id="{A64B6F38-F5D2-4126-BDB7-D5A4AD4CD136}"/>
              </a:ext>
            </a:extLst>
          </p:cNvPr>
          <p:cNvSpPr>
            <a:spLocks xmlns:a="http://schemas.openxmlformats.org/drawingml/2006/main" noGrp="1"/>
          </p:cNvSpPr>
          <p:nvPr/>
        </p:nvSpPr>
        <p:spPr>
          <a:xfrm xmlns:a="http://schemas.openxmlformats.org/drawingml/2006/main">
            <a:off x="84772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1　結果サマリ</a:t>
            </a:r>
          </a:p>
        </p:txBody>
      </p:sp>
      <p:sp>
        <p:nvSpPr>
          <p:cNvPr id="6" name="type-1">
            <a:extLst xmlns:a="http://schemas.openxmlformats.org/drawingml/2006/main">
              <a:ext uri="{FF2B5EF4-FFF2-40B4-BE49-F238E27FC236}">
                <a16:creationId xmlns:a16="http://schemas.microsoft.com/office/drawing/2014/main" id="{711A8D19-2B68-49C3-94AF-CB0B20B7262B}"/>
              </a:ext>
            </a:extLst>
          </p:cNvPr>
          <p:cNvSpPr>
            <a:spLocks xmlns:a="http://schemas.openxmlformats.org/drawingml/2006/main" noGrp="1"/>
          </p:cNvSpPr>
          <p:nvPr/>
        </p:nvSpPr>
        <p:spPr>
          <a:xfrm xmlns:a="http://schemas.openxmlformats.org/drawingml/2006/main">
            <a:off x="608647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ニーズ・技術の分析</a:t>
            </a:r>
          </a:p>
        </p:txBody>
      </p:sp>
      <p:sp>
        <p:nvSpPr>
          <p:cNvPr id="7" name="section-2">
            <a:extLst xmlns:a="http://schemas.openxmlformats.org/drawingml/2006/main">
              <a:ext uri="{FF2B5EF4-FFF2-40B4-BE49-F238E27FC236}">
                <a16:creationId xmlns:a16="http://schemas.microsoft.com/office/drawing/2014/main" id="{CE2A02AC-D524-4FCF-ABBA-BBF29A175DC0}"/>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8" name="heading-2">
            <a:extLst xmlns:a="http://schemas.openxmlformats.org/drawingml/2006/main">
              <a:ext uri="{FF2B5EF4-FFF2-40B4-BE49-F238E27FC236}">
                <a16:creationId xmlns:a16="http://schemas.microsoft.com/office/drawing/2014/main" id="{CFA3B946-1A20-4240-A17A-FDD7B1258C23}"/>
              </a:ext>
            </a:extLst>
          </p:cNvPr>
          <p:cNvSpPr>
            <a:spLocks xmlns:a="http://schemas.openxmlformats.org/drawingml/2006/main" noGrp="1"/>
          </p:cNvSpPr>
          <p:nvPr/>
        </p:nvSpPr>
        <p:spPr>
          <a:xfrm xmlns:a="http://schemas.openxmlformats.org/drawingml/2006/main">
            <a:off x="962977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2　技術動向</a:t>
            </a:r>
          </a:p>
        </p:txBody>
      </p:sp>
      <p:sp>
        <p:nvSpPr>
          <p:cNvPr id="9" name="type-2">
            <a:extLst xmlns:a="http://schemas.openxmlformats.org/drawingml/2006/main">
              <a:ext uri="{FF2B5EF4-FFF2-40B4-BE49-F238E27FC236}">
                <a16:creationId xmlns:a16="http://schemas.microsoft.com/office/drawing/2014/main" id="{883969D8-6A88-41A6-87A6-B8223512175B}"/>
              </a:ext>
            </a:extLst>
          </p:cNvPr>
          <p:cNvSpPr>
            <a:spLocks xmlns:a="http://schemas.openxmlformats.org/drawingml/2006/main" noGrp="1"/>
          </p:cNvSpPr>
          <p:nvPr/>
        </p:nvSpPr>
        <p:spPr>
          <a:xfrm xmlns:a="http://schemas.openxmlformats.org/drawingml/2006/main">
            <a:off x="1486852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公式説明の比較</a:t>
            </a:r>
          </a:p>
        </p:txBody>
      </p:sp>
      <p:sp>
        <p:nvSpPr>
          <p:cNvPr id="10" name="section-3">
            <a:extLst xmlns:a="http://schemas.openxmlformats.org/drawingml/2006/main">
              <a:ext uri="{FF2B5EF4-FFF2-40B4-BE49-F238E27FC236}">
                <a16:creationId xmlns:a16="http://schemas.microsoft.com/office/drawing/2014/main" id="{D155FF8D-8E16-4A4B-85E3-0F90C8A28C39}"/>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eading-3">
            <a:extLst xmlns:a="http://schemas.openxmlformats.org/drawingml/2006/main">
              <a:ext uri="{FF2B5EF4-FFF2-40B4-BE49-F238E27FC236}">
                <a16:creationId xmlns:a16="http://schemas.microsoft.com/office/drawing/2014/main" id="{FE4CF255-64EA-48C4-8765-A40D13BF0AE7}"/>
              </a:ext>
            </a:extLst>
          </p:cNvPr>
          <p:cNvSpPr>
            <a:spLocks xmlns:a="http://schemas.openxmlformats.org/drawingml/2006/main" noGrp="1"/>
          </p:cNvSpPr>
          <p:nvPr/>
        </p:nvSpPr>
        <p:spPr>
          <a:xfrm xmlns:a="http://schemas.openxmlformats.org/drawingml/2006/main">
            <a:off x="84772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3　今後の方向性</a:t>
            </a:r>
          </a:p>
        </p:txBody>
      </p:sp>
      <p:sp>
        <p:nvSpPr>
          <p:cNvPr id="12" name="type-3">
            <a:extLst xmlns:a="http://schemas.openxmlformats.org/drawingml/2006/main">
              <a:ext uri="{FF2B5EF4-FFF2-40B4-BE49-F238E27FC236}">
                <a16:creationId xmlns:a16="http://schemas.microsoft.com/office/drawing/2014/main" id="{EA509085-17B8-4D33-A9BC-9B8B43C064BA}"/>
              </a:ext>
            </a:extLst>
          </p:cNvPr>
          <p:cNvSpPr>
            <a:spLocks xmlns:a="http://schemas.openxmlformats.org/drawingml/2006/main" noGrp="1"/>
          </p:cNvSpPr>
          <p:nvPr/>
        </p:nvSpPr>
        <p:spPr>
          <a:xfrm xmlns:a="http://schemas.openxmlformats.org/drawingml/2006/main">
            <a:off x="608647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将来方向の仮説</a:t>
            </a:r>
          </a:p>
        </p:txBody>
      </p:sp>
      <p:sp>
        <p:nvSpPr>
          <p:cNvPr id="13" name="section-4">
            <a:extLst xmlns:a="http://schemas.openxmlformats.org/drawingml/2006/main">
              <a:ext uri="{FF2B5EF4-FFF2-40B4-BE49-F238E27FC236}">
                <a16:creationId xmlns:a16="http://schemas.microsoft.com/office/drawing/2014/main" id="{9E11F684-7048-439F-A232-FB350E560A96}"/>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4" name="heading-4">
            <a:extLst xmlns:a="http://schemas.openxmlformats.org/drawingml/2006/main">
              <a:ext uri="{FF2B5EF4-FFF2-40B4-BE49-F238E27FC236}">
                <a16:creationId xmlns:a16="http://schemas.microsoft.com/office/drawing/2014/main" id="{CA084BED-973F-410B-B4FA-E0A4349B1B85}"/>
              </a:ext>
            </a:extLst>
          </p:cNvPr>
          <p:cNvSpPr>
            <a:spLocks xmlns:a="http://schemas.openxmlformats.org/drawingml/2006/main" noGrp="1"/>
          </p:cNvSpPr>
          <p:nvPr/>
        </p:nvSpPr>
        <p:spPr>
          <a:xfrm xmlns:a="http://schemas.openxmlformats.org/drawingml/2006/main">
            <a:off x="962977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4　調査結果の提言</a:t>
            </a:r>
          </a:p>
        </p:txBody>
      </p:sp>
      <p:sp>
        <p:nvSpPr>
          <p:cNvPr id="15" name="type-4">
            <a:extLst xmlns:a="http://schemas.openxmlformats.org/drawingml/2006/main">
              <a:ext uri="{FF2B5EF4-FFF2-40B4-BE49-F238E27FC236}">
                <a16:creationId xmlns:a16="http://schemas.microsoft.com/office/drawing/2014/main" id="{F42CBC8B-C9C5-4373-BB3C-B26695729D0A}"/>
              </a:ext>
            </a:extLst>
          </p:cNvPr>
          <p:cNvSpPr>
            <a:spLocks xmlns:a="http://schemas.openxmlformats.org/drawingml/2006/main" noGrp="1"/>
          </p:cNvSpPr>
          <p:nvPr/>
        </p:nvSpPr>
        <p:spPr>
          <a:xfrm xmlns:a="http://schemas.openxmlformats.org/drawingml/2006/main">
            <a:off x="1486852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開発候補の仮説</a:t>
            </a:r>
          </a:p>
        </p:txBody>
      </p:sp>
      <p:sp>
        <p:nvSpPr>
          <p:cNvPr id="16" name="result">
            <a:extLst xmlns:a="http://schemas.openxmlformats.org/drawingml/2006/main">
              <a:ext uri="{FF2B5EF4-FFF2-40B4-BE49-F238E27FC236}">
                <a16:creationId xmlns:a16="http://schemas.microsoft.com/office/drawing/2014/main" id="{70CBFCF4-0144-4C71-B1BC-CC21E2222618}"/>
              </a:ext>
            </a:extLst>
          </p:cNvPr>
          <p:cNvSpPr>
            <a:spLocks xmlns:a="http://schemas.openxmlformats.org/drawingml/2006/main" noGrp="1"/>
          </p:cNvSpPr>
          <p:nvPr/>
        </p:nvSpPr>
        <p:spPr>
          <a:xfrm xmlns:a="http://schemas.openxmlformats.org/drawingml/2006/main">
            <a:off x="866775" y="2876550"/>
            <a:ext cx="77343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182D43"/>
                </a:solidFill>
                <a:latin typeface="Noto Sans JP"/>
                <a:ea typeface="Noto Sans JP"/>
                <a:cs typeface="Noto Sans JP"/>
              </a:defRPr>
            </a:defPPr>
          </a:lstStyle>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爪・工具の交換、ワーク供給、切粉除去を自動化し、品</a:t>
            </a:r>
          </a:p>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種が変わるたびに残る人手を減らす。</a:t>
            </a:r>
          </a:p>
        </p:txBody>
      </p:sp>
      <p:sp>
        <p:nvSpPr>
          <p:cNvPr id="17" name="need">
            <a:extLst xmlns:a="http://schemas.openxmlformats.org/drawingml/2006/main">
              <a:ext uri="{FF2B5EF4-FFF2-40B4-BE49-F238E27FC236}">
                <a16:creationId xmlns:a16="http://schemas.microsoft.com/office/drawing/2014/main" id="{BE0AC361-28F5-4DC8-BFA7-FD970A0F9006}"/>
              </a:ext>
            </a:extLst>
          </p:cNvPr>
          <p:cNvSpPr>
            <a:spLocks xmlns:a="http://schemas.openxmlformats.org/drawingml/2006/main" noGrp="1"/>
          </p:cNvSpPr>
          <p:nvPr/>
        </p:nvSpPr>
        <p:spPr>
          <a:xfrm xmlns:a="http://schemas.openxmlformats.org/drawingml/2006/main">
            <a:off x="866775" y="4038600"/>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現場の困りごと：搬送だけを自動化しても、治具交換・再教示・</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切粉処理などの付帯作業に人が必要だと連続運転が続きにくい。</a:t>
            </a:r>
          </a:p>
        </p:txBody>
      </p:sp>
      <p:sp>
        <p:nvSpPr>
          <p:cNvPr id="18" name="tech">
            <a:extLst xmlns:a="http://schemas.openxmlformats.org/drawingml/2006/main">
              <a:ext uri="{FF2B5EF4-FFF2-40B4-BE49-F238E27FC236}">
                <a16:creationId xmlns:a16="http://schemas.microsoft.com/office/drawing/2014/main" id="{70F61688-688B-4325-BBC8-DB28171F19CC}"/>
              </a:ext>
            </a:extLst>
          </p:cNvPr>
          <p:cNvSpPr>
            <a:spLocks xmlns:a="http://schemas.openxmlformats.org/drawingml/2006/main" noGrp="1"/>
          </p:cNvSpPr>
          <p:nvPr/>
        </p:nvSpPr>
        <p:spPr>
          <a:xfrm xmlns:a="http://schemas.openxmlformats.org/drawingml/2006/main">
            <a:off x="866775" y="5076825"/>
            <a:ext cx="7734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225B92"/>
                </a:solidFill>
                <a:latin typeface="Noto Sans JP"/>
                <a:ea typeface="Noto Sans JP"/>
                <a:cs typeface="Noto Sans JP"/>
              </a:defRPr>
            </a:defPPr>
          </a:lstStyle>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使う技術：交換しやすい機構、マーカーによる位置補正、3D認</a:t>
            </a:r>
          </a:p>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識からの軌道生成、認識に基づくロボット動作。</a:t>
            </a:r>
          </a:p>
        </p:txBody>
      </p:sp>
      <p:sp>
        <p:nvSpPr>
          <p:cNvPr id="19" name="past-label">
            <a:extLst xmlns:a="http://schemas.openxmlformats.org/drawingml/2006/main">
              <a:ext uri="{FF2B5EF4-FFF2-40B4-BE49-F238E27FC236}">
                <a16:creationId xmlns:a16="http://schemas.microsoft.com/office/drawing/2014/main" id="{B88B71B6-6D50-4446-9E4C-6841BE39C2F8}"/>
              </a:ext>
            </a:extLst>
          </p:cNvPr>
          <p:cNvSpPr>
            <a:spLocks xmlns:a="http://schemas.openxmlformats.org/drawingml/2006/main" noGrp="1"/>
          </p:cNvSpPr>
          <p:nvPr/>
        </p:nvSpPr>
        <p:spPr>
          <a:xfrm xmlns:a="http://schemas.openxmlformats.org/drawingml/2006/main">
            <a:off x="9648825" y="28765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37286"/>
                </a:solidFill>
                <a:latin typeface="Noto Sans JP"/>
                <a:ea typeface="Noto Sans JP"/>
                <a:cs typeface="Noto Sans JP"/>
              </a:defRPr>
            </a:defPPr>
          </a:lstStyle>
          <a:p xmlns:a="http://schemas.openxmlformats.org/drawingml/2006/main">
            <a:pPr>
              <a:defRPr sz="1500" b="1">
                <a:solidFill>
                  <a:srgbClr val="637286"/>
                </a:solidFill>
                <a:latin typeface="Noto Sans JP"/>
                <a:ea typeface="Noto Sans JP"/>
                <a:cs typeface="Noto Sans JP"/>
              </a:defRPr>
            </a:pPr>
            <a:r>
              <a:rPr sz="1500" b="1">
                <a:solidFill>
                  <a:srgbClr val="637286"/>
                </a:solidFill>
                <a:latin typeface="Noto Sans JP"/>
                <a:ea typeface="Noto Sans JP"/>
                <a:cs typeface="Noto Sans JP"/>
              </a:rPr>
              <a:t>2024年以前にもあったこと</a:t>
            </a:r>
          </a:p>
        </p:txBody>
      </p:sp>
      <p:sp>
        <p:nvSpPr>
          <p:cNvPr id="20" name="past">
            <a:extLst xmlns:a="http://schemas.openxmlformats.org/drawingml/2006/main">
              <a:ext uri="{FF2B5EF4-FFF2-40B4-BE49-F238E27FC236}">
                <a16:creationId xmlns:a16="http://schemas.microsoft.com/office/drawing/2014/main" id="{275069DB-18C4-4D99-AA87-562CD899B486}"/>
              </a:ext>
            </a:extLst>
          </p:cNvPr>
          <p:cNvSpPr>
            <a:spLocks xmlns:a="http://schemas.openxmlformats.org/drawingml/2006/main" noGrp="1"/>
          </p:cNvSpPr>
          <p:nvPr/>
        </p:nvSpPr>
        <p:spPr>
          <a:xfrm xmlns:a="http://schemas.openxmlformats.org/drawingml/2006/main">
            <a:off x="9648825" y="3228975"/>
            <a:ext cx="773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爪・工具の交換、ロボット搬入出、カメラを使う小部品ピックは</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2024にも展示・紹介されている。</a:t>
            </a:r>
          </a:p>
        </p:txBody>
      </p:sp>
      <p:sp>
        <p:nvSpPr>
          <p:cNvPr id="21" name="now-label">
            <a:extLst xmlns:a="http://schemas.openxmlformats.org/drawingml/2006/main">
              <a:ext uri="{FF2B5EF4-FFF2-40B4-BE49-F238E27FC236}">
                <a16:creationId xmlns:a16="http://schemas.microsoft.com/office/drawing/2014/main" id="{C84C13CA-7B82-4B73-A572-B24F4663A014}"/>
              </a:ext>
            </a:extLst>
          </p:cNvPr>
          <p:cNvSpPr>
            <a:spLocks xmlns:a="http://schemas.openxmlformats.org/drawingml/2006/main" noGrp="1"/>
          </p:cNvSpPr>
          <p:nvPr/>
        </p:nvSpPr>
        <p:spPr>
          <a:xfrm xmlns:a="http://schemas.openxmlformats.org/drawingml/2006/main">
            <a:off x="9648825" y="43243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225B92"/>
                </a:solidFill>
                <a:latin typeface="Noto Sans JP"/>
                <a:ea typeface="Noto Sans JP"/>
                <a:cs typeface="Noto Sans JP"/>
              </a:defRPr>
            </a:defPPr>
          </a:lstStyle>
          <a:p xmlns:a="http://schemas.openxmlformats.org/drawingml/2006/main">
            <a:pPr>
              <a:defRPr sz="1500" b="1">
                <a:solidFill>
                  <a:srgbClr val="225B92"/>
                </a:solidFill>
                <a:latin typeface="Noto Sans JP"/>
                <a:ea typeface="Noto Sans JP"/>
                <a:cs typeface="Noto Sans JP"/>
              </a:defRPr>
            </a:pPr>
            <a:r>
              <a:rPr sz="1500" b="1">
                <a:solidFill>
                  <a:srgbClr val="225B92"/>
                </a:solidFill>
                <a:latin typeface="Noto Sans JP"/>
                <a:ea typeface="Noto Sans JP"/>
                <a:cs typeface="Noto Sans JP"/>
              </a:rPr>
              <a:t>2025–2026年に具体化したこと</a:t>
            </a:r>
          </a:p>
        </p:txBody>
      </p:sp>
      <p:sp>
        <p:nvSpPr>
          <p:cNvPr id="22" name="now">
            <a:extLst xmlns:a="http://schemas.openxmlformats.org/drawingml/2006/main">
              <a:ext uri="{FF2B5EF4-FFF2-40B4-BE49-F238E27FC236}">
                <a16:creationId xmlns:a16="http://schemas.microsoft.com/office/drawing/2014/main" id="{ADF13924-8C7C-4E8B-AC20-B3C8345BEA3A}"/>
              </a:ext>
            </a:extLst>
          </p:cNvPr>
          <p:cNvSpPr>
            <a:spLocks xmlns:a="http://schemas.openxmlformats.org/drawingml/2006/main" noGrp="1"/>
          </p:cNvSpPr>
          <p:nvPr/>
        </p:nvSpPr>
        <p:spPr>
          <a:xfrm xmlns:a="http://schemas.openxmlformats.org/drawingml/2006/main">
            <a:off x="9648825" y="4686300"/>
            <a:ext cx="77343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2026には切粉の状態を判断して除去する参考出品、不定形ワー</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クの面取り軌道生成、既設機への後付けや移設後の復旧を具体化</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した展示が見られる。</a:t>
            </a:r>
          </a:p>
        </p:txBody>
      </p:sp>
      <p:sp>
        <p:nvSpPr>
          <p:cNvPr id="23" name="future">
            <a:extLst xmlns:a="http://schemas.openxmlformats.org/drawingml/2006/main">
              <a:ext uri="{FF2B5EF4-FFF2-40B4-BE49-F238E27FC236}">
                <a16:creationId xmlns:a16="http://schemas.microsoft.com/office/drawing/2014/main" id="{469DA197-2E1B-4238-831A-BB461D25D06E}"/>
              </a:ext>
            </a:extLst>
          </p:cNvPr>
          <p:cNvSpPr>
            <a:spLocks xmlns:a="http://schemas.openxmlformats.org/drawingml/2006/main" noGrp="1"/>
          </p:cNvSpPr>
          <p:nvPr/>
        </p:nvSpPr>
        <p:spPr>
          <a:xfrm xmlns:a="http://schemas.openxmlformats.org/drawingml/2006/main">
            <a:off x="866775" y="7000875"/>
            <a:ext cx="7734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2D43"/>
                </a:solidFill>
                <a:latin typeface="Noto Sans JP"/>
                <a:ea typeface="Noto Sans JP"/>
                <a:cs typeface="Noto Sans JP"/>
              </a:defRPr>
            </a:defPPr>
          </a:lstStyle>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機械・工具・周辺機構と認識を組み合わせ、対象作業を限定</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したまま品種変化への再教示を減らす方向が現実的な開発候</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補になる。</a:t>
            </a:r>
          </a:p>
        </p:txBody>
      </p:sp>
      <p:sp>
        <p:nvSpPr>
          <p:cNvPr id="24" name="limit">
            <a:extLst xmlns:a="http://schemas.openxmlformats.org/drawingml/2006/main">
              <a:ext uri="{FF2B5EF4-FFF2-40B4-BE49-F238E27FC236}">
                <a16:creationId xmlns:a16="http://schemas.microsoft.com/office/drawing/2014/main" id="{E8FCEFBB-AF2C-42D8-8B25-0B2BC65167EF}"/>
              </a:ext>
            </a:extLst>
          </p:cNvPr>
          <p:cNvSpPr>
            <a:spLocks xmlns:a="http://schemas.openxmlformats.org/drawingml/2006/main" noGrp="1"/>
          </p:cNvSpPr>
          <p:nvPr/>
        </p:nvSpPr>
        <p:spPr>
          <a:xfrm xmlns:a="http://schemas.openxmlformats.org/drawingml/2006/main">
            <a:off x="866775" y="8467725"/>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比較の限界：人型ロボットでも遠隔操作・教示の参考展示がある。フィジカ</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ルAIの呼称だけで汎用作業や無人復帰が可能とは扱わない。</a:t>
            </a:r>
          </a:p>
        </p:txBody>
      </p:sp>
      <p:sp>
        <p:nvSpPr>
          <p:cNvPr id="25" name="proposal">
            <a:extLst xmlns:a="http://schemas.openxmlformats.org/drawingml/2006/main">
              <a:ext uri="{FF2B5EF4-FFF2-40B4-BE49-F238E27FC236}">
                <a16:creationId xmlns:a16="http://schemas.microsoft.com/office/drawing/2014/main" id="{6F4DB723-DEB5-4606-9523-7AE75DDAB3D5}"/>
              </a:ext>
            </a:extLst>
          </p:cNvPr>
          <p:cNvSpPr>
            <a:spLocks xmlns:a="http://schemas.openxmlformats.org/drawingml/2006/main" noGrp="1"/>
          </p:cNvSpPr>
          <p:nvPr/>
        </p:nvSpPr>
        <p:spPr>
          <a:xfrm xmlns:a="http://schemas.openxmlformats.org/drawingml/2006/main">
            <a:off x="9648825" y="7000875"/>
            <a:ext cx="77343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切粉処理やバリ取り等に絞った作業特化フィジカルAIを候</a:t>
            </a:r>
          </a:p>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補とし、認識・加工動作・完了判断までを一つの仕事として</a:t>
            </a:r>
          </a:p>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開発する。</a:t>
            </a:r>
          </a:p>
        </p:txBody>
      </p:sp>
      <p:sp>
        <p:nvSpPr>
          <p:cNvPr id="26" name="research">
            <a:extLst xmlns:a="http://schemas.openxmlformats.org/drawingml/2006/main">
              <a:ext uri="{FF2B5EF4-FFF2-40B4-BE49-F238E27FC236}">
                <a16:creationId xmlns:a16="http://schemas.microsoft.com/office/drawing/2014/main" id="{A48D65DB-D7C3-44A9-9D19-77AAE5E96D4C}"/>
              </a:ext>
            </a:extLst>
          </p:cNvPr>
          <p:cNvSpPr>
            <a:spLocks xmlns:a="http://schemas.openxmlformats.org/drawingml/2006/main" noGrp="1"/>
          </p:cNvSpPr>
          <p:nvPr/>
        </p:nvSpPr>
        <p:spPr>
          <a:xfrm xmlns:a="http://schemas.openxmlformats.org/drawingml/2006/main">
            <a:off x="9648825" y="8601075"/>
            <a:ext cx="7734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根拠となる技術：爪・治具・ハンドと位置の段取り、ワーク・パレット・切粉の</a:t>
            </a:r>
          </a:p>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搬送、認識を伴うピック・付帯加工・除去、展示段階と自律化の境界</a:t>
            </a:r>
          </a:p>
        </p:txBody>
      </p:sp>
      <p:sp>
        <p:nvSpPr>
          <p:cNvPr id="27" name="foot">
            <a:extLst xmlns:a="http://schemas.openxmlformats.org/drawingml/2006/main">
              <a:ext uri="{FF2B5EF4-FFF2-40B4-BE49-F238E27FC236}">
                <a16:creationId xmlns:a16="http://schemas.microsoft.com/office/drawing/2014/main" id="{6C2854E5-C64D-4733-A757-FEA7D34459D2}"/>
              </a:ext>
            </a:extLst>
          </p:cNvPr>
          <p:cNvSpPr>
            <a:spLocks xmlns:a="http://schemas.openxmlformats.org/drawingml/2006/main" noGrp="1"/>
          </p:cNvSpPr>
          <p:nvPr/>
        </p:nvSpPr>
        <p:spPr>
          <a:xfrm xmlns:a="http://schemas.openxmlformats.org/drawingml/2006/main">
            <a:off x="628650" y="9810750"/>
            <a:ext cx="1590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637286"/>
                </a:solidFill>
                <a:latin typeface="Noto Sans JP"/>
                <a:ea typeface="Noto Sans JP"/>
                <a:cs typeface="Noto Sans JP"/>
              </a:defRPr>
            </a:defPPr>
          </a:lstStyle>
          <a:p xmlns:a="http://schemas.openxmlformats.org/drawingml/2006/main">
            <a:pPr>
              <a:defRPr sz="1500" b="0">
                <a:solidFill>
                  <a:srgbClr val="637286"/>
                </a:solidFill>
                <a:latin typeface="Noto Sans JP"/>
                <a:ea typeface="Noto Sans JP"/>
                <a:cs typeface="Noto Sans JP"/>
              </a:defRPr>
            </a:pPr>
            <a:r>
              <a:rPr sz="1500" b="0">
                <a:solidFill>
                  <a:srgbClr val="637286"/>
                </a:solidFill>
                <a:latin typeface="Noto Sans JP"/>
                <a:ea typeface="Noto Sans JP"/>
                <a:cs typeface="Noto Sans JP"/>
              </a:rPr>
              <a:t>企業事例・公式URLは後続ページとHTMLへ。主張 D4-S / D4-T / D4-F / D4-R</a:t>
            </a:r>
          </a:p>
        </p:txBody>
      </p:sp>
    </p:spTree>
    <p:extLst>
      <p:ext uri="{BB962C8B-B14F-4D97-AF65-F5344CB8AC3E}">
        <p14:creationId xmlns:p14="http://schemas.microsoft.com/office/powerpoint/2010/main" val="1485487505"/>
      </p:ext>
    </p:extLst>
  </p:cSld>
</p:sld>
</file>

<file path=ppt/slides/slide6.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8" name="title">
            <a:extLst xmlns:a="http://schemas.openxmlformats.org/drawingml/2006/main">
              <a:ext uri="{FF2B5EF4-FFF2-40B4-BE49-F238E27FC236}">
                <a16:creationId xmlns:a16="http://schemas.microsoft.com/office/drawing/2014/main" id="{154AA18B-C983-4161-9917-228FD6F0D872}"/>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現場情報を使って運用を支えるAI</a:t>
            </a:r>
          </a:p>
        </p:txBody>
      </p:sp>
      <p:sp>
        <p:nvSpPr>
          <p:cNvPr id="2" name="sub">
            <a:extLst xmlns:a="http://schemas.openxmlformats.org/drawingml/2006/main">
              <a:ext uri="{FF2B5EF4-FFF2-40B4-BE49-F238E27FC236}">
                <a16:creationId xmlns:a16="http://schemas.microsoft.com/office/drawing/2014/main" id="{0B56F508-7BA7-44D0-BD98-9153A715FE68}"/>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DX・AX・AIエージェント。困りごとと使う技術を起点に、2024年以前と2025–2026年の公式説明を比較。</a:t>
            </a:r>
          </a:p>
        </p:txBody>
      </p:sp>
      <p:sp>
        <p:nvSpPr>
          <p:cNvPr id="3" name="page">
            <a:extLst xmlns:a="http://schemas.openxmlformats.org/drawingml/2006/main">
              <a:ext uri="{FF2B5EF4-FFF2-40B4-BE49-F238E27FC236}">
                <a16:creationId xmlns:a16="http://schemas.microsoft.com/office/drawing/2014/main" id="{2595B62A-ED5E-439B-972C-3DF58B82A004}"/>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06</a:t>
            </a:r>
          </a:p>
        </p:txBody>
      </p:sp>
      <p:sp>
        <p:nvSpPr>
          <p:cNvPr id="4" name="section-1">
            <a:extLst xmlns:a="http://schemas.openxmlformats.org/drawingml/2006/main">
              <a:ext uri="{FF2B5EF4-FFF2-40B4-BE49-F238E27FC236}">
                <a16:creationId xmlns:a16="http://schemas.microsoft.com/office/drawing/2014/main" id="{94BC0974-93CC-47D2-9B7F-EFE4C8259C0F}"/>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5" name="heading-1">
            <a:extLst xmlns:a="http://schemas.openxmlformats.org/drawingml/2006/main">
              <a:ext uri="{FF2B5EF4-FFF2-40B4-BE49-F238E27FC236}">
                <a16:creationId xmlns:a16="http://schemas.microsoft.com/office/drawing/2014/main" id="{295BE2F6-A515-4B3B-9BFE-89C48A04B127}"/>
              </a:ext>
            </a:extLst>
          </p:cNvPr>
          <p:cNvSpPr>
            <a:spLocks xmlns:a="http://schemas.openxmlformats.org/drawingml/2006/main" noGrp="1"/>
          </p:cNvSpPr>
          <p:nvPr/>
        </p:nvSpPr>
        <p:spPr>
          <a:xfrm xmlns:a="http://schemas.openxmlformats.org/drawingml/2006/main">
            <a:off x="84772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1　結果サマリ</a:t>
            </a:r>
          </a:p>
        </p:txBody>
      </p:sp>
      <p:sp>
        <p:nvSpPr>
          <p:cNvPr id="6" name="type-1">
            <a:extLst xmlns:a="http://schemas.openxmlformats.org/drawingml/2006/main">
              <a:ext uri="{FF2B5EF4-FFF2-40B4-BE49-F238E27FC236}">
                <a16:creationId xmlns:a16="http://schemas.microsoft.com/office/drawing/2014/main" id="{B1306826-A759-46A9-8878-A54A4793B178}"/>
              </a:ext>
            </a:extLst>
          </p:cNvPr>
          <p:cNvSpPr>
            <a:spLocks xmlns:a="http://schemas.openxmlformats.org/drawingml/2006/main" noGrp="1"/>
          </p:cNvSpPr>
          <p:nvPr/>
        </p:nvSpPr>
        <p:spPr>
          <a:xfrm xmlns:a="http://schemas.openxmlformats.org/drawingml/2006/main">
            <a:off x="608647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ニーズ・技術の分析</a:t>
            </a:r>
          </a:p>
        </p:txBody>
      </p:sp>
      <p:sp>
        <p:nvSpPr>
          <p:cNvPr id="7" name="section-2">
            <a:extLst xmlns:a="http://schemas.openxmlformats.org/drawingml/2006/main">
              <a:ext uri="{FF2B5EF4-FFF2-40B4-BE49-F238E27FC236}">
                <a16:creationId xmlns:a16="http://schemas.microsoft.com/office/drawing/2014/main" id="{D6163967-8245-4827-A5F8-2F4AB912E1CC}"/>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8" name="heading-2">
            <a:extLst xmlns:a="http://schemas.openxmlformats.org/drawingml/2006/main">
              <a:ext uri="{FF2B5EF4-FFF2-40B4-BE49-F238E27FC236}">
                <a16:creationId xmlns:a16="http://schemas.microsoft.com/office/drawing/2014/main" id="{70E8099C-3248-4F52-A412-3132FCACCBBA}"/>
              </a:ext>
            </a:extLst>
          </p:cNvPr>
          <p:cNvSpPr>
            <a:spLocks xmlns:a="http://schemas.openxmlformats.org/drawingml/2006/main" noGrp="1"/>
          </p:cNvSpPr>
          <p:nvPr/>
        </p:nvSpPr>
        <p:spPr>
          <a:xfrm xmlns:a="http://schemas.openxmlformats.org/drawingml/2006/main">
            <a:off x="962977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2　技術動向</a:t>
            </a:r>
          </a:p>
        </p:txBody>
      </p:sp>
      <p:sp>
        <p:nvSpPr>
          <p:cNvPr id="9" name="type-2">
            <a:extLst xmlns:a="http://schemas.openxmlformats.org/drawingml/2006/main">
              <a:ext uri="{FF2B5EF4-FFF2-40B4-BE49-F238E27FC236}">
                <a16:creationId xmlns:a16="http://schemas.microsoft.com/office/drawing/2014/main" id="{90635A9A-F6FC-422B-BF3A-9634CA422DF4}"/>
              </a:ext>
            </a:extLst>
          </p:cNvPr>
          <p:cNvSpPr>
            <a:spLocks xmlns:a="http://schemas.openxmlformats.org/drawingml/2006/main" noGrp="1"/>
          </p:cNvSpPr>
          <p:nvPr/>
        </p:nvSpPr>
        <p:spPr>
          <a:xfrm xmlns:a="http://schemas.openxmlformats.org/drawingml/2006/main">
            <a:off x="1486852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公式説明の比較</a:t>
            </a:r>
          </a:p>
        </p:txBody>
      </p:sp>
      <p:sp>
        <p:nvSpPr>
          <p:cNvPr id="10" name="section-3">
            <a:extLst xmlns:a="http://schemas.openxmlformats.org/drawingml/2006/main">
              <a:ext uri="{FF2B5EF4-FFF2-40B4-BE49-F238E27FC236}">
                <a16:creationId xmlns:a16="http://schemas.microsoft.com/office/drawing/2014/main" id="{6C2F29DF-1D6F-4208-9B20-FFF1CFA32BCF}"/>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eading-3">
            <a:extLst xmlns:a="http://schemas.openxmlformats.org/drawingml/2006/main">
              <a:ext uri="{FF2B5EF4-FFF2-40B4-BE49-F238E27FC236}">
                <a16:creationId xmlns:a16="http://schemas.microsoft.com/office/drawing/2014/main" id="{16FA877E-2DF3-4D9E-BF93-3B93D11310BE}"/>
              </a:ext>
            </a:extLst>
          </p:cNvPr>
          <p:cNvSpPr>
            <a:spLocks xmlns:a="http://schemas.openxmlformats.org/drawingml/2006/main" noGrp="1"/>
          </p:cNvSpPr>
          <p:nvPr/>
        </p:nvSpPr>
        <p:spPr>
          <a:xfrm xmlns:a="http://schemas.openxmlformats.org/drawingml/2006/main">
            <a:off x="84772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3　今後の方向性</a:t>
            </a:r>
          </a:p>
        </p:txBody>
      </p:sp>
      <p:sp>
        <p:nvSpPr>
          <p:cNvPr id="12" name="type-3">
            <a:extLst xmlns:a="http://schemas.openxmlformats.org/drawingml/2006/main">
              <a:ext uri="{FF2B5EF4-FFF2-40B4-BE49-F238E27FC236}">
                <a16:creationId xmlns:a16="http://schemas.microsoft.com/office/drawing/2014/main" id="{9DE3F41D-9260-415B-9E5F-D295B6F5566E}"/>
              </a:ext>
            </a:extLst>
          </p:cNvPr>
          <p:cNvSpPr>
            <a:spLocks xmlns:a="http://schemas.openxmlformats.org/drawingml/2006/main" noGrp="1"/>
          </p:cNvSpPr>
          <p:nvPr/>
        </p:nvSpPr>
        <p:spPr>
          <a:xfrm xmlns:a="http://schemas.openxmlformats.org/drawingml/2006/main">
            <a:off x="608647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将来方向の仮説</a:t>
            </a:r>
          </a:p>
        </p:txBody>
      </p:sp>
      <p:sp>
        <p:nvSpPr>
          <p:cNvPr id="13" name="section-4">
            <a:extLst xmlns:a="http://schemas.openxmlformats.org/drawingml/2006/main">
              <a:ext uri="{FF2B5EF4-FFF2-40B4-BE49-F238E27FC236}">
                <a16:creationId xmlns:a16="http://schemas.microsoft.com/office/drawing/2014/main" id="{453464A0-4052-455E-B117-1A86079A3F20}"/>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4" name="heading-4">
            <a:extLst xmlns:a="http://schemas.openxmlformats.org/drawingml/2006/main">
              <a:ext uri="{FF2B5EF4-FFF2-40B4-BE49-F238E27FC236}">
                <a16:creationId xmlns:a16="http://schemas.microsoft.com/office/drawing/2014/main" id="{4F681E20-8FC6-4E3B-AC7D-30852E38121E}"/>
              </a:ext>
            </a:extLst>
          </p:cNvPr>
          <p:cNvSpPr>
            <a:spLocks xmlns:a="http://schemas.openxmlformats.org/drawingml/2006/main" noGrp="1"/>
          </p:cNvSpPr>
          <p:nvPr/>
        </p:nvSpPr>
        <p:spPr>
          <a:xfrm xmlns:a="http://schemas.openxmlformats.org/drawingml/2006/main">
            <a:off x="962977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4　調査結果の提言</a:t>
            </a:r>
          </a:p>
        </p:txBody>
      </p:sp>
      <p:sp>
        <p:nvSpPr>
          <p:cNvPr id="15" name="type-4">
            <a:extLst xmlns:a="http://schemas.openxmlformats.org/drawingml/2006/main">
              <a:ext uri="{FF2B5EF4-FFF2-40B4-BE49-F238E27FC236}">
                <a16:creationId xmlns:a16="http://schemas.microsoft.com/office/drawing/2014/main" id="{A4E96C4F-BCCB-4DD3-995E-44A2579F8AC0}"/>
              </a:ext>
            </a:extLst>
          </p:cNvPr>
          <p:cNvSpPr>
            <a:spLocks xmlns:a="http://schemas.openxmlformats.org/drawingml/2006/main" noGrp="1"/>
          </p:cNvSpPr>
          <p:nvPr/>
        </p:nvSpPr>
        <p:spPr>
          <a:xfrm xmlns:a="http://schemas.openxmlformats.org/drawingml/2006/main">
            <a:off x="1486852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開発候補の仮説</a:t>
            </a:r>
          </a:p>
        </p:txBody>
      </p:sp>
      <p:sp>
        <p:nvSpPr>
          <p:cNvPr id="16" name="result">
            <a:extLst xmlns:a="http://schemas.openxmlformats.org/drawingml/2006/main">
              <a:ext uri="{FF2B5EF4-FFF2-40B4-BE49-F238E27FC236}">
                <a16:creationId xmlns:a16="http://schemas.microsoft.com/office/drawing/2014/main" id="{E21CFBBE-7EDA-4E67-8D92-38E3B8779661}"/>
              </a:ext>
            </a:extLst>
          </p:cNvPr>
          <p:cNvSpPr>
            <a:spLocks xmlns:a="http://schemas.openxmlformats.org/drawingml/2006/main" noGrp="1"/>
          </p:cNvSpPr>
          <p:nvPr/>
        </p:nvSpPr>
        <p:spPr>
          <a:xfrm xmlns:a="http://schemas.openxmlformats.org/drawingml/2006/main">
            <a:off x="866775" y="2876550"/>
            <a:ext cx="77343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182D43"/>
                </a:solidFill>
                <a:latin typeface="Noto Sans JP"/>
                <a:ea typeface="Noto Sans JP"/>
                <a:cs typeface="Noto Sans JP"/>
              </a:defRPr>
            </a:defPPr>
          </a:lstStyle>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設備・工具・進捗情報を集め、予定変更やトラブル時に</a:t>
            </a:r>
          </a:p>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人が調べて判断する負担を減らす。</a:t>
            </a:r>
          </a:p>
        </p:txBody>
      </p:sp>
      <p:sp>
        <p:nvSpPr>
          <p:cNvPr id="17" name="need">
            <a:extLst xmlns:a="http://schemas.openxmlformats.org/drawingml/2006/main">
              <a:ext uri="{FF2B5EF4-FFF2-40B4-BE49-F238E27FC236}">
                <a16:creationId xmlns:a16="http://schemas.microsoft.com/office/drawing/2014/main" id="{26EC5A59-77E4-4FE8-950B-46064247B88A}"/>
              </a:ext>
            </a:extLst>
          </p:cNvPr>
          <p:cNvSpPr>
            <a:spLocks xmlns:a="http://schemas.openxmlformats.org/drawingml/2006/main" noGrp="1"/>
          </p:cNvSpPr>
          <p:nvPr/>
        </p:nvSpPr>
        <p:spPr>
          <a:xfrm xmlns:a="http://schemas.openxmlformats.org/drawingml/2006/main">
            <a:off x="866775" y="4038600"/>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現場の困りごと：機械・生産管理・工具管理の情報が分かれ、遅</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れや停止のたびに人が状況を集め直す必要がある。</a:t>
            </a:r>
          </a:p>
        </p:txBody>
      </p:sp>
      <p:sp>
        <p:nvSpPr>
          <p:cNvPr id="18" name="tech">
            <a:extLst xmlns:a="http://schemas.openxmlformats.org/drawingml/2006/main">
              <a:ext uri="{FF2B5EF4-FFF2-40B4-BE49-F238E27FC236}">
                <a16:creationId xmlns:a16="http://schemas.microsoft.com/office/drawing/2014/main" id="{7CE5DEE4-0006-4C1E-9F97-AA8605C9476F}"/>
              </a:ext>
            </a:extLst>
          </p:cNvPr>
          <p:cNvSpPr>
            <a:spLocks xmlns:a="http://schemas.openxmlformats.org/drawingml/2006/main" noGrp="1"/>
          </p:cNvSpPr>
          <p:nvPr/>
        </p:nvSpPr>
        <p:spPr>
          <a:xfrm xmlns:a="http://schemas.openxmlformats.org/drawingml/2006/main">
            <a:off x="866775" y="5076825"/>
            <a:ext cx="7734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225B92"/>
                </a:solidFill>
                <a:latin typeface="Noto Sans JP"/>
                <a:ea typeface="Noto Sans JP"/>
                <a:cs typeface="Noto Sans JP"/>
              </a:defRPr>
            </a:defPPr>
          </a:lstStyle>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使う技術：設備接続と履歴の管理、制約を扱う計画、機械データ</a:t>
            </a:r>
          </a:p>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と保守文書を使うAI対話、指示と実行結果の連携。</a:t>
            </a:r>
          </a:p>
        </p:txBody>
      </p:sp>
      <p:sp>
        <p:nvSpPr>
          <p:cNvPr id="19" name="past-label">
            <a:extLst xmlns:a="http://schemas.openxmlformats.org/drawingml/2006/main">
              <a:ext uri="{FF2B5EF4-FFF2-40B4-BE49-F238E27FC236}">
                <a16:creationId xmlns:a16="http://schemas.microsoft.com/office/drawing/2014/main" id="{BE37A439-D585-4825-8FEA-685BCE51E981}"/>
              </a:ext>
            </a:extLst>
          </p:cNvPr>
          <p:cNvSpPr>
            <a:spLocks xmlns:a="http://schemas.openxmlformats.org/drawingml/2006/main" noGrp="1"/>
          </p:cNvSpPr>
          <p:nvPr/>
        </p:nvSpPr>
        <p:spPr>
          <a:xfrm xmlns:a="http://schemas.openxmlformats.org/drawingml/2006/main">
            <a:off x="9648825" y="28765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37286"/>
                </a:solidFill>
                <a:latin typeface="Noto Sans JP"/>
                <a:ea typeface="Noto Sans JP"/>
                <a:cs typeface="Noto Sans JP"/>
              </a:defRPr>
            </a:defPPr>
          </a:lstStyle>
          <a:p xmlns:a="http://schemas.openxmlformats.org/drawingml/2006/main">
            <a:pPr>
              <a:defRPr sz="1500" b="1">
                <a:solidFill>
                  <a:srgbClr val="637286"/>
                </a:solidFill>
                <a:latin typeface="Noto Sans JP"/>
                <a:ea typeface="Noto Sans JP"/>
                <a:cs typeface="Noto Sans JP"/>
              </a:defRPr>
            </a:pPr>
            <a:r>
              <a:rPr sz="1500" b="1">
                <a:solidFill>
                  <a:srgbClr val="637286"/>
                </a:solidFill>
                <a:latin typeface="Noto Sans JP"/>
                <a:ea typeface="Noto Sans JP"/>
                <a:cs typeface="Noto Sans JP"/>
              </a:rPr>
              <a:t>2024年以前にもあったこと</a:t>
            </a:r>
          </a:p>
        </p:txBody>
      </p:sp>
      <p:sp>
        <p:nvSpPr>
          <p:cNvPr id="20" name="past">
            <a:extLst xmlns:a="http://schemas.openxmlformats.org/drawingml/2006/main">
              <a:ext uri="{FF2B5EF4-FFF2-40B4-BE49-F238E27FC236}">
                <a16:creationId xmlns:a16="http://schemas.microsoft.com/office/drawing/2014/main" id="{67310B68-A651-4A43-854C-3BC37D99EAC8}"/>
              </a:ext>
            </a:extLst>
          </p:cNvPr>
          <p:cNvSpPr>
            <a:spLocks xmlns:a="http://schemas.openxmlformats.org/drawingml/2006/main" noGrp="1"/>
          </p:cNvSpPr>
          <p:nvPr/>
        </p:nvSpPr>
        <p:spPr>
          <a:xfrm xmlns:a="http://schemas.openxmlformats.org/drawingml/2006/main">
            <a:off x="9648825" y="3228975"/>
            <a:ext cx="773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工具・CAM・在庫の連携、設備データの収集・対話AIなどは2024</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にも説明されている。</a:t>
            </a:r>
          </a:p>
        </p:txBody>
      </p:sp>
      <p:sp>
        <p:nvSpPr>
          <p:cNvPr id="21" name="now-label">
            <a:extLst xmlns:a="http://schemas.openxmlformats.org/drawingml/2006/main">
              <a:ext uri="{FF2B5EF4-FFF2-40B4-BE49-F238E27FC236}">
                <a16:creationId xmlns:a16="http://schemas.microsoft.com/office/drawing/2014/main" id="{A03AE5C5-8BA8-4E1D-8D46-9D8AA656DF0E}"/>
              </a:ext>
            </a:extLst>
          </p:cNvPr>
          <p:cNvSpPr>
            <a:spLocks xmlns:a="http://schemas.openxmlformats.org/drawingml/2006/main" noGrp="1"/>
          </p:cNvSpPr>
          <p:nvPr/>
        </p:nvSpPr>
        <p:spPr>
          <a:xfrm xmlns:a="http://schemas.openxmlformats.org/drawingml/2006/main">
            <a:off x="9648825" y="43243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225B92"/>
                </a:solidFill>
                <a:latin typeface="Noto Sans JP"/>
                <a:ea typeface="Noto Sans JP"/>
                <a:cs typeface="Noto Sans JP"/>
              </a:defRPr>
            </a:defPPr>
          </a:lstStyle>
          <a:p xmlns:a="http://schemas.openxmlformats.org/drawingml/2006/main">
            <a:pPr>
              <a:defRPr sz="1500" b="1">
                <a:solidFill>
                  <a:srgbClr val="225B92"/>
                </a:solidFill>
                <a:latin typeface="Noto Sans JP"/>
                <a:ea typeface="Noto Sans JP"/>
                <a:cs typeface="Noto Sans JP"/>
              </a:defRPr>
            </a:pPr>
            <a:r>
              <a:rPr sz="1500" b="1">
                <a:solidFill>
                  <a:srgbClr val="225B92"/>
                </a:solidFill>
                <a:latin typeface="Noto Sans JP"/>
                <a:ea typeface="Noto Sans JP"/>
                <a:cs typeface="Noto Sans JP"/>
              </a:rPr>
              <a:t>2025–2026年に具体化したこと</a:t>
            </a:r>
          </a:p>
        </p:txBody>
      </p:sp>
      <p:sp>
        <p:nvSpPr>
          <p:cNvPr id="22" name="now">
            <a:extLst xmlns:a="http://schemas.openxmlformats.org/drawingml/2006/main">
              <a:ext uri="{FF2B5EF4-FFF2-40B4-BE49-F238E27FC236}">
                <a16:creationId xmlns:a16="http://schemas.microsoft.com/office/drawing/2014/main" id="{CB95FFEF-E352-4AF2-91ED-46CC0BD9D54D}"/>
              </a:ext>
            </a:extLst>
          </p:cNvPr>
          <p:cNvSpPr>
            <a:spLocks xmlns:a="http://schemas.openxmlformats.org/drawingml/2006/main" noGrp="1"/>
          </p:cNvSpPr>
          <p:nvPr/>
        </p:nvSpPr>
        <p:spPr>
          <a:xfrm xmlns:a="http://schemas.openxmlformats.org/drawingml/2006/main">
            <a:off x="9648825" y="4686300"/>
            <a:ext cx="77343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2026には、機械データを参照する保守エージェントや、予測・</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設備・搬送を組み合わせた展示が具体化。人が遠隔で例外へ対処</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する運用も見られる。</a:t>
            </a:r>
          </a:p>
        </p:txBody>
      </p:sp>
      <p:sp>
        <p:nvSpPr>
          <p:cNvPr id="23" name="future">
            <a:extLst xmlns:a="http://schemas.openxmlformats.org/drawingml/2006/main">
              <a:ext uri="{FF2B5EF4-FFF2-40B4-BE49-F238E27FC236}">
                <a16:creationId xmlns:a16="http://schemas.microsoft.com/office/drawing/2014/main" id="{1834FCFD-7C48-4562-9C9F-C65248083997}"/>
              </a:ext>
            </a:extLst>
          </p:cNvPr>
          <p:cNvSpPr>
            <a:spLocks xmlns:a="http://schemas.openxmlformats.org/drawingml/2006/main" noGrp="1"/>
          </p:cNvSpPr>
          <p:nvPr/>
        </p:nvSpPr>
        <p:spPr>
          <a:xfrm xmlns:a="http://schemas.openxmlformats.org/drawingml/2006/main">
            <a:off x="866775" y="7000875"/>
            <a:ext cx="7734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2D43"/>
                </a:solidFill>
                <a:latin typeface="Noto Sans JP"/>
                <a:ea typeface="Noto Sans JP"/>
                <a:cs typeface="Noto Sans JP"/>
              </a:defRPr>
            </a:defPPr>
          </a:lstStyle>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工程の遅れ・工具不足・設備停止を同じ状況として捉え、代</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替案と担当作業を提示する工場運用支援へ広げる余地がある。</a:t>
            </a:r>
          </a:p>
        </p:txBody>
      </p:sp>
      <p:sp>
        <p:nvSpPr>
          <p:cNvPr id="24" name="limit">
            <a:extLst xmlns:a="http://schemas.openxmlformats.org/drawingml/2006/main">
              <a:ext uri="{FF2B5EF4-FFF2-40B4-BE49-F238E27FC236}">
                <a16:creationId xmlns:a16="http://schemas.microsoft.com/office/drawing/2014/main" id="{F25217AE-966E-44AB-BAE1-86B6BA93F6D5}"/>
              </a:ext>
            </a:extLst>
          </p:cNvPr>
          <p:cNvSpPr>
            <a:spLocks xmlns:a="http://schemas.openxmlformats.org/drawingml/2006/main" noGrp="1"/>
          </p:cNvSpPr>
          <p:nvPr/>
        </p:nvSpPr>
        <p:spPr>
          <a:xfrm xmlns:a="http://schemas.openxmlformats.org/drawingml/2006/main">
            <a:off x="866775" y="8467725"/>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比較の限界：予測から生産計画や設備指令への自動接続は未確認の例がある。</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製品発表段階のエージェントも含み、完全自律工場の実績ではない。</a:t>
            </a:r>
          </a:p>
        </p:txBody>
      </p:sp>
      <p:sp>
        <p:nvSpPr>
          <p:cNvPr id="25" name="proposal">
            <a:extLst xmlns:a="http://schemas.openxmlformats.org/drawingml/2006/main">
              <a:ext uri="{FF2B5EF4-FFF2-40B4-BE49-F238E27FC236}">
                <a16:creationId xmlns:a16="http://schemas.microsoft.com/office/drawing/2014/main" id="{79D8F746-337D-4AC3-88AA-434EE1C1BDBD}"/>
              </a:ext>
            </a:extLst>
          </p:cNvPr>
          <p:cNvSpPr>
            <a:spLocks xmlns:a="http://schemas.openxmlformats.org/drawingml/2006/main" noGrp="1"/>
          </p:cNvSpPr>
          <p:nvPr/>
        </p:nvSpPr>
        <p:spPr>
          <a:xfrm xmlns:a="http://schemas.openxmlformats.org/drawingml/2006/main">
            <a:off x="9648825" y="7000875"/>
            <a:ext cx="77343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まず工具不足や設備停止など一つの業務を選び、状態把握か</a:t>
            </a:r>
          </a:p>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ら代替案・作業指示までをつなぐ現場エージェントを候補と</a:t>
            </a:r>
          </a:p>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する。</a:t>
            </a:r>
          </a:p>
        </p:txBody>
      </p:sp>
      <p:sp>
        <p:nvSpPr>
          <p:cNvPr id="26" name="research">
            <a:extLst xmlns:a="http://schemas.openxmlformats.org/drawingml/2006/main">
              <a:ext uri="{FF2B5EF4-FFF2-40B4-BE49-F238E27FC236}">
                <a16:creationId xmlns:a16="http://schemas.microsoft.com/office/drawing/2014/main" id="{D4351218-AC02-4A2F-8840-C6C2656FAB48}"/>
              </a:ext>
            </a:extLst>
          </p:cNvPr>
          <p:cNvSpPr>
            <a:spLocks xmlns:a="http://schemas.openxmlformats.org/drawingml/2006/main" noGrp="1"/>
          </p:cNvSpPr>
          <p:nvPr/>
        </p:nvSpPr>
        <p:spPr>
          <a:xfrm xmlns:a="http://schemas.openxmlformats.org/drawingml/2006/main">
            <a:off x="9648825" y="8601075"/>
            <a:ext cx="7734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根拠となる技術：現場エージェント・遠隔介入、工場データ・計画・資源の連携</a:t>
            </a:r>
          </a:p>
        </p:txBody>
      </p:sp>
      <p:sp>
        <p:nvSpPr>
          <p:cNvPr id="27" name="foot">
            <a:extLst xmlns:a="http://schemas.openxmlformats.org/drawingml/2006/main">
              <a:ext uri="{FF2B5EF4-FFF2-40B4-BE49-F238E27FC236}">
                <a16:creationId xmlns:a16="http://schemas.microsoft.com/office/drawing/2014/main" id="{26120FF8-2086-407A-BE62-9B0451DAAFBF}"/>
              </a:ext>
            </a:extLst>
          </p:cNvPr>
          <p:cNvSpPr>
            <a:spLocks xmlns:a="http://schemas.openxmlformats.org/drawingml/2006/main" noGrp="1"/>
          </p:cNvSpPr>
          <p:nvPr/>
        </p:nvSpPr>
        <p:spPr>
          <a:xfrm xmlns:a="http://schemas.openxmlformats.org/drawingml/2006/main">
            <a:off x="628650" y="9810750"/>
            <a:ext cx="1590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637286"/>
                </a:solidFill>
                <a:latin typeface="Noto Sans JP"/>
                <a:ea typeface="Noto Sans JP"/>
                <a:cs typeface="Noto Sans JP"/>
              </a:defRPr>
            </a:defPPr>
          </a:lstStyle>
          <a:p xmlns:a="http://schemas.openxmlformats.org/drawingml/2006/main">
            <a:pPr>
              <a:defRPr sz="1500" b="0">
                <a:solidFill>
                  <a:srgbClr val="637286"/>
                </a:solidFill>
                <a:latin typeface="Noto Sans JP"/>
                <a:ea typeface="Noto Sans JP"/>
                <a:cs typeface="Noto Sans JP"/>
              </a:defRPr>
            </a:pPr>
            <a:r>
              <a:rPr sz="1500" b="0">
                <a:solidFill>
                  <a:srgbClr val="637286"/>
                </a:solidFill>
                <a:latin typeface="Noto Sans JP"/>
                <a:ea typeface="Noto Sans JP"/>
                <a:cs typeface="Noto Sans JP"/>
              </a:rPr>
              <a:t>企業事例・公式URLは後続ページとHTMLへ。主張 D5-S / D5-T / D5-F / D5-R</a:t>
            </a:r>
          </a:p>
        </p:txBody>
      </p:sp>
    </p:spTree>
    <p:extLst>
      <p:ext uri="{BB962C8B-B14F-4D97-AF65-F5344CB8AC3E}">
        <p14:creationId xmlns:p14="http://schemas.microsoft.com/office/powerpoint/2010/main" val="2019791577"/>
      </p:ext>
    </p:extLst>
  </p:cSld>
</p:sld>
</file>

<file path=ppt/slides/slide7.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8" name="title">
            <a:extLst xmlns:a="http://schemas.openxmlformats.org/drawingml/2006/main">
              <a:ext uri="{FF2B5EF4-FFF2-40B4-BE49-F238E27FC236}">
                <a16:creationId xmlns:a16="http://schemas.microsoft.com/office/drawing/2014/main" id="{3A5F318B-4E0D-45FD-A47A-07326AC68FFA}"/>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現場AIを支えるデータと仮想環境</a:t>
            </a:r>
          </a:p>
        </p:txBody>
      </p:sp>
      <p:sp>
        <p:nvSpPr>
          <p:cNvPr id="2" name="sub">
            <a:extLst xmlns:a="http://schemas.openxmlformats.org/drawingml/2006/main">
              <a:ext uri="{FF2B5EF4-FFF2-40B4-BE49-F238E27FC236}">
                <a16:creationId xmlns:a16="http://schemas.microsoft.com/office/drawing/2014/main" id="{AAF04236-78C5-4375-B72A-F4822D8E8643}"/>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DX・デジタルツイン・AI実装基盤。困りごとと使う技術を起点に、2024年以前と2025–2026年の公式説明を比較。</a:t>
            </a:r>
          </a:p>
        </p:txBody>
      </p:sp>
      <p:sp>
        <p:nvSpPr>
          <p:cNvPr id="3" name="page">
            <a:extLst xmlns:a="http://schemas.openxmlformats.org/drawingml/2006/main">
              <a:ext uri="{FF2B5EF4-FFF2-40B4-BE49-F238E27FC236}">
                <a16:creationId xmlns:a16="http://schemas.microsoft.com/office/drawing/2014/main" id="{5B740246-E4D6-4217-A818-D2261C0165A9}"/>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07</a:t>
            </a:r>
          </a:p>
        </p:txBody>
      </p:sp>
      <p:sp>
        <p:nvSpPr>
          <p:cNvPr id="4" name="section-1">
            <a:extLst xmlns:a="http://schemas.openxmlformats.org/drawingml/2006/main">
              <a:ext uri="{FF2B5EF4-FFF2-40B4-BE49-F238E27FC236}">
                <a16:creationId xmlns:a16="http://schemas.microsoft.com/office/drawing/2014/main" id="{A0291296-2D61-4FDB-97DD-B596993E5E04}"/>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5" name="heading-1">
            <a:extLst xmlns:a="http://schemas.openxmlformats.org/drawingml/2006/main">
              <a:ext uri="{FF2B5EF4-FFF2-40B4-BE49-F238E27FC236}">
                <a16:creationId xmlns:a16="http://schemas.microsoft.com/office/drawing/2014/main" id="{F807FCA4-57B8-4E89-A09C-DB09DFC9733C}"/>
              </a:ext>
            </a:extLst>
          </p:cNvPr>
          <p:cNvSpPr>
            <a:spLocks xmlns:a="http://schemas.openxmlformats.org/drawingml/2006/main" noGrp="1"/>
          </p:cNvSpPr>
          <p:nvPr/>
        </p:nvSpPr>
        <p:spPr>
          <a:xfrm xmlns:a="http://schemas.openxmlformats.org/drawingml/2006/main">
            <a:off x="84772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1　結果サマリ</a:t>
            </a:r>
          </a:p>
        </p:txBody>
      </p:sp>
      <p:sp>
        <p:nvSpPr>
          <p:cNvPr id="6" name="type-1">
            <a:extLst xmlns:a="http://schemas.openxmlformats.org/drawingml/2006/main">
              <a:ext uri="{FF2B5EF4-FFF2-40B4-BE49-F238E27FC236}">
                <a16:creationId xmlns:a16="http://schemas.microsoft.com/office/drawing/2014/main" id="{AE72414C-E863-4BDF-9029-6894D56F342B}"/>
              </a:ext>
            </a:extLst>
          </p:cNvPr>
          <p:cNvSpPr>
            <a:spLocks xmlns:a="http://schemas.openxmlformats.org/drawingml/2006/main" noGrp="1"/>
          </p:cNvSpPr>
          <p:nvPr/>
        </p:nvSpPr>
        <p:spPr>
          <a:xfrm xmlns:a="http://schemas.openxmlformats.org/drawingml/2006/main">
            <a:off x="608647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ニーズ・技術の分析</a:t>
            </a:r>
          </a:p>
        </p:txBody>
      </p:sp>
      <p:sp>
        <p:nvSpPr>
          <p:cNvPr id="7" name="section-2">
            <a:extLst xmlns:a="http://schemas.openxmlformats.org/drawingml/2006/main">
              <a:ext uri="{FF2B5EF4-FFF2-40B4-BE49-F238E27FC236}">
                <a16:creationId xmlns:a16="http://schemas.microsoft.com/office/drawing/2014/main" id="{1A6FB77E-931D-4603-B0B9-8DB267EB275E}"/>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8" name="heading-2">
            <a:extLst xmlns:a="http://schemas.openxmlformats.org/drawingml/2006/main">
              <a:ext uri="{FF2B5EF4-FFF2-40B4-BE49-F238E27FC236}">
                <a16:creationId xmlns:a16="http://schemas.microsoft.com/office/drawing/2014/main" id="{EBDEE3D3-B120-4BEC-9B6B-AFF3C0EEE1D8}"/>
              </a:ext>
            </a:extLst>
          </p:cNvPr>
          <p:cNvSpPr>
            <a:spLocks xmlns:a="http://schemas.openxmlformats.org/drawingml/2006/main" noGrp="1"/>
          </p:cNvSpPr>
          <p:nvPr/>
        </p:nvSpPr>
        <p:spPr>
          <a:xfrm xmlns:a="http://schemas.openxmlformats.org/drawingml/2006/main">
            <a:off x="9629775" y="2333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2　技術動向</a:t>
            </a:r>
          </a:p>
        </p:txBody>
      </p:sp>
      <p:sp>
        <p:nvSpPr>
          <p:cNvPr id="9" name="type-2">
            <a:extLst xmlns:a="http://schemas.openxmlformats.org/drawingml/2006/main">
              <a:ext uri="{FF2B5EF4-FFF2-40B4-BE49-F238E27FC236}">
                <a16:creationId xmlns:a16="http://schemas.microsoft.com/office/drawing/2014/main" id="{3D392D99-28FA-4B24-8BB9-70D156A8005F}"/>
              </a:ext>
            </a:extLst>
          </p:cNvPr>
          <p:cNvSpPr>
            <a:spLocks xmlns:a="http://schemas.openxmlformats.org/drawingml/2006/main" noGrp="1"/>
          </p:cNvSpPr>
          <p:nvPr/>
        </p:nvSpPr>
        <p:spPr>
          <a:xfrm xmlns:a="http://schemas.openxmlformats.org/drawingml/2006/main">
            <a:off x="14868525" y="23907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公式説明の比較</a:t>
            </a:r>
          </a:p>
        </p:txBody>
      </p:sp>
      <p:sp>
        <p:nvSpPr>
          <p:cNvPr id="10" name="section-3">
            <a:extLst xmlns:a="http://schemas.openxmlformats.org/drawingml/2006/main">
              <a:ext uri="{FF2B5EF4-FFF2-40B4-BE49-F238E27FC236}">
                <a16:creationId xmlns:a16="http://schemas.microsoft.com/office/drawing/2014/main" id="{372BA9DD-8A2A-4217-9506-4BB453A33B73}"/>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eading-3">
            <a:extLst xmlns:a="http://schemas.openxmlformats.org/drawingml/2006/main">
              <a:ext uri="{FF2B5EF4-FFF2-40B4-BE49-F238E27FC236}">
                <a16:creationId xmlns:a16="http://schemas.microsoft.com/office/drawing/2014/main" id="{C53DEA68-BAE4-44AC-BF9D-30A48AAE0EE0}"/>
              </a:ext>
            </a:extLst>
          </p:cNvPr>
          <p:cNvSpPr>
            <a:spLocks xmlns:a="http://schemas.openxmlformats.org/drawingml/2006/main" noGrp="1"/>
          </p:cNvSpPr>
          <p:nvPr/>
        </p:nvSpPr>
        <p:spPr>
          <a:xfrm xmlns:a="http://schemas.openxmlformats.org/drawingml/2006/main">
            <a:off x="84772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3　今後の方向性</a:t>
            </a:r>
          </a:p>
        </p:txBody>
      </p:sp>
      <p:sp>
        <p:nvSpPr>
          <p:cNvPr id="12" name="type-3">
            <a:extLst xmlns:a="http://schemas.openxmlformats.org/drawingml/2006/main">
              <a:ext uri="{FF2B5EF4-FFF2-40B4-BE49-F238E27FC236}">
                <a16:creationId xmlns:a16="http://schemas.microsoft.com/office/drawing/2014/main" id="{BFF7E8D7-E97B-49EC-B305-F41D58A89CF1}"/>
              </a:ext>
            </a:extLst>
          </p:cNvPr>
          <p:cNvSpPr>
            <a:spLocks xmlns:a="http://schemas.openxmlformats.org/drawingml/2006/main" noGrp="1"/>
          </p:cNvSpPr>
          <p:nvPr/>
        </p:nvSpPr>
        <p:spPr>
          <a:xfrm xmlns:a="http://schemas.openxmlformats.org/drawingml/2006/main">
            <a:off x="608647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将来方向の仮説</a:t>
            </a:r>
          </a:p>
        </p:txBody>
      </p:sp>
      <p:sp>
        <p:nvSpPr>
          <p:cNvPr id="13" name="section-4">
            <a:extLst xmlns:a="http://schemas.openxmlformats.org/drawingml/2006/main">
              <a:ext uri="{FF2B5EF4-FFF2-40B4-BE49-F238E27FC236}">
                <a16:creationId xmlns:a16="http://schemas.microsoft.com/office/drawing/2014/main" id="{42AEC522-2A6C-4B1C-B363-90B264C5BA1D}"/>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4" name="heading-4">
            <a:extLst xmlns:a="http://schemas.openxmlformats.org/drawingml/2006/main">
              <a:ext uri="{FF2B5EF4-FFF2-40B4-BE49-F238E27FC236}">
                <a16:creationId xmlns:a16="http://schemas.microsoft.com/office/drawing/2014/main" id="{CDE6242C-E518-4BA6-A642-0EA3C303C798}"/>
              </a:ext>
            </a:extLst>
          </p:cNvPr>
          <p:cNvSpPr>
            <a:spLocks xmlns:a="http://schemas.openxmlformats.org/drawingml/2006/main" noGrp="1"/>
          </p:cNvSpPr>
          <p:nvPr/>
        </p:nvSpPr>
        <p:spPr>
          <a:xfrm xmlns:a="http://schemas.openxmlformats.org/drawingml/2006/main">
            <a:off x="9629775" y="64293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4　調査結果の提言</a:t>
            </a:r>
          </a:p>
        </p:txBody>
      </p:sp>
      <p:sp>
        <p:nvSpPr>
          <p:cNvPr id="15" name="type-4">
            <a:extLst xmlns:a="http://schemas.openxmlformats.org/drawingml/2006/main">
              <a:ext uri="{FF2B5EF4-FFF2-40B4-BE49-F238E27FC236}">
                <a16:creationId xmlns:a16="http://schemas.microsoft.com/office/drawing/2014/main" id="{2DE66689-4DE8-4F1D-82E6-AD86D739A0A5}"/>
              </a:ext>
            </a:extLst>
          </p:cNvPr>
          <p:cNvSpPr>
            <a:spLocks xmlns:a="http://schemas.openxmlformats.org/drawingml/2006/main" noGrp="1"/>
          </p:cNvSpPr>
          <p:nvPr/>
        </p:nvSpPr>
        <p:spPr>
          <a:xfrm xmlns:a="http://schemas.openxmlformats.org/drawingml/2006/main">
            <a:off x="14868525" y="6486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開発候補の仮説</a:t>
            </a:r>
          </a:p>
        </p:txBody>
      </p:sp>
      <p:sp>
        <p:nvSpPr>
          <p:cNvPr id="16" name="result">
            <a:extLst xmlns:a="http://schemas.openxmlformats.org/drawingml/2006/main">
              <a:ext uri="{FF2B5EF4-FFF2-40B4-BE49-F238E27FC236}">
                <a16:creationId xmlns:a16="http://schemas.microsoft.com/office/drawing/2014/main" id="{94960DA0-F3DE-4A7A-97C8-A3C5FF1F4628}"/>
              </a:ext>
            </a:extLst>
          </p:cNvPr>
          <p:cNvSpPr>
            <a:spLocks xmlns:a="http://schemas.openxmlformats.org/drawingml/2006/main" noGrp="1"/>
          </p:cNvSpPr>
          <p:nvPr/>
        </p:nvSpPr>
        <p:spPr>
          <a:xfrm xmlns:a="http://schemas.openxmlformats.org/drawingml/2006/main">
            <a:off x="866775" y="2876550"/>
            <a:ext cx="77343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182D43"/>
                </a:solidFill>
                <a:latin typeface="Noto Sans JP"/>
                <a:ea typeface="Noto Sans JP"/>
                <a:cs typeface="Noto Sans JP"/>
              </a:defRPr>
            </a:defPPr>
          </a:lstStyle>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学習データと設備情報、仮想モデルを整え、AIを作る</a:t>
            </a:r>
          </a:p>
          <a:p xmlns:a="http://schemas.openxmlformats.org/drawingml/2006/main">
            <a:pPr>
              <a:defRPr sz="2325" b="1">
                <a:solidFill>
                  <a:srgbClr val="182D43"/>
                </a:solidFill>
                <a:latin typeface="Noto Sans JP"/>
                <a:ea typeface="Noto Sans JP"/>
                <a:cs typeface="Noto Sans JP"/>
              </a:defRPr>
            </a:pPr>
            <a:r>
              <a:rPr sz="2325" b="1">
                <a:solidFill>
                  <a:srgbClr val="182D43"/>
                </a:solidFill>
                <a:latin typeface="Noto Sans JP"/>
                <a:ea typeface="Noto Sans JP"/>
                <a:cs typeface="Noto Sans JP"/>
              </a:rPr>
              <a:t>・つなぐ・試す準備を減らす。</a:t>
            </a:r>
          </a:p>
        </p:txBody>
      </p:sp>
      <p:sp>
        <p:nvSpPr>
          <p:cNvPr id="17" name="need">
            <a:extLst xmlns:a="http://schemas.openxmlformats.org/drawingml/2006/main">
              <a:ext uri="{FF2B5EF4-FFF2-40B4-BE49-F238E27FC236}">
                <a16:creationId xmlns:a16="http://schemas.microsoft.com/office/drawing/2014/main" id="{9FBB3220-1CD3-4630-A37F-6B83CC9DA736}"/>
              </a:ext>
            </a:extLst>
          </p:cNvPr>
          <p:cNvSpPr>
            <a:spLocks xmlns:a="http://schemas.openxmlformats.org/drawingml/2006/main" noGrp="1"/>
          </p:cNvSpPr>
          <p:nvPr/>
        </p:nvSpPr>
        <p:spPr>
          <a:xfrm xmlns:a="http://schemas.openxmlformats.org/drawingml/2006/main">
            <a:off x="866775" y="4038600"/>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現場の困りごと：AIが使うデータの意味や形式が揃わず、学習</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・機器接続・実機での試行に個別の作業が必要になる。</a:t>
            </a:r>
          </a:p>
        </p:txBody>
      </p:sp>
      <p:sp>
        <p:nvSpPr>
          <p:cNvPr id="18" name="tech">
            <a:extLst xmlns:a="http://schemas.openxmlformats.org/drawingml/2006/main">
              <a:ext uri="{FF2B5EF4-FFF2-40B4-BE49-F238E27FC236}">
                <a16:creationId xmlns:a16="http://schemas.microsoft.com/office/drawing/2014/main" id="{DE896DA2-D923-4522-929B-F721ACBDA79C}"/>
              </a:ext>
            </a:extLst>
          </p:cNvPr>
          <p:cNvSpPr>
            <a:spLocks xmlns:a="http://schemas.openxmlformats.org/drawingml/2006/main" noGrp="1"/>
          </p:cNvSpPr>
          <p:nvPr/>
        </p:nvSpPr>
        <p:spPr>
          <a:xfrm xmlns:a="http://schemas.openxmlformats.org/drawingml/2006/main">
            <a:off x="866775" y="5076825"/>
            <a:ext cx="7734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225B92"/>
                </a:solidFill>
                <a:latin typeface="Noto Sans JP"/>
                <a:ea typeface="Noto Sans JP"/>
                <a:cs typeface="Noto Sans JP"/>
              </a:defRPr>
            </a:defPPr>
          </a:lstStyle>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使う技術：学習モデルの自動作成、設備の共通情報モデル、加工</a:t>
            </a:r>
          </a:p>
          <a:p xmlns:a="http://schemas.openxmlformats.org/drawingml/2006/main">
            <a:pPr>
              <a:defRPr sz="1950" b="0">
                <a:solidFill>
                  <a:srgbClr val="225B92"/>
                </a:solidFill>
                <a:latin typeface="Noto Sans JP"/>
                <a:ea typeface="Noto Sans JP"/>
                <a:cs typeface="Noto Sans JP"/>
              </a:defRPr>
            </a:pPr>
            <a:r>
              <a:rPr sz="1950" b="0">
                <a:solidFill>
                  <a:srgbClr val="225B92"/>
                </a:solidFill>
                <a:latin typeface="Noto Sans JP"/>
                <a:ea typeface="Noto Sans JP"/>
                <a:cs typeface="Noto Sans JP"/>
              </a:rPr>
              <a:t>の仮想検証、物理シミュレーション用データの生成。</a:t>
            </a:r>
          </a:p>
        </p:txBody>
      </p:sp>
      <p:sp>
        <p:nvSpPr>
          <p:cNvPr id="19" name="past-label">
            <a:extLst xmlns:a="http://schemas.openxmlformats.org/drawingml/2006/main">
              <a:ext uri="{FF2B5EF4-FFF2-40B4-BE49-F238E27FC236}">
                <a16:creationId xmlns:a16="http://schemas.microsoft.com/office/drawing/2014/main" id="{7755B551-EAE3-46C5-A3CA-E696C54CB999}"/>
              </a:ext>
            </a:extLst>
          </p:cNvPr>
          <p:cNvSpPr>
            <a:spLocks xmlns:a="http://schemas.openxmlformats.org/drawingml/2006/main" noGrp="1"/>
          </p:cNvSpPr>
          <p:nvPr/>
        </p:nvSpPr>
        <p:spPr>
          <a:xfrm xmlns:a="http://schemas.openxmlformats.org/drawingml/2006/main">
            <a:off x="9648825" y="28765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37286"/>
                </a:solidFill>
                <a:latin typeface="Noto Sans JP"/>
                <a:ea typeface="Noto Sans JP"/>
                <a:cs typeface="Noto Sans JP"/>
              </a:defRPr>
            </a:defPPr>
          </a:lstStyle>
          <a:p xmlns:a="http://schemas.openxmlformats.org/drawingml/2006/main">
            <a:pPr>
              <a:defRPr sz="1500" b="1">
                <a:solidFill>
                  <a:srgbClr val="637286"/>
                </a:solidFill>
                <a:latin typeface="Noto Sans JP"/>
                <a:ea typeface="Noto Sans JP"/>
                <a:cs typeface="Noto Sans JP"/>
              </a:defRPr>
            </a:pPr>
            <a:r>
              <a:rPr sz="1500" b="1">
                <a:solidFill>
                  <a:srgbClr val="637286"/>
                </a:solidFill>
                <a:latin typeface="Noto Sans JP"/>
                <a:ea typeface="Noto Sans JP"/>
                <a:cs typeface="Noto Sans JP"/>
              </a:rPr>
              <a:t>2024年以前にもあったこと</a:t>
            </a:r>
          </a:p>
        </p:txBody>
      </p:sp>
      <p:sp>
        <p:nvSpPr>
          <p:cNvPr id="20" name="past">
            <a:extLst xmlns:a="http://schemas.openxmlformats.org/drawingml/2006/main">
              <a:ext uri="{FF2B5EF4-FFF2-40B4-BE49-F238E27FC236}">
                <a16:creationId xmlns:a16="http://schemas.microsoft.com/office/drawing/2014/main" id="{6E449E51-2276-4024-B288-EF7351DE9D97}"/>
              </a:ext>
            </a:extLst>
          </p:cNvPr>
          <p:cNvSpPr>
            <a:spLocks xmlns:a="http://schemas.openxmlformats.org/drawingml/2006/main" noGrp="1"/>
          </p:cNvSpPr>
          <p:nvPr/>
        </p:nvSpPr>
        <p:spPr>
          <a:xfrm xmlns:a="http://schemas.openxmlformats.org/drawingml/2006/main">
            <a:off x="9648825" y="3228975"/>
            <a:ext cx="773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学習支援・モデル出力、機器接続、加工デジタルツインは2024</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以前にも存在する。</a:t>
            </a:r>
          </a:p>
        </p:txBody>
      </p:sp>
      <p:sp>
        <p:nvSpPr>
          <p:cNvPr id="21" name="now-label">
            <a:extLst xmlns:a="http://schemas.openxmlformats.org/drawingml/2006/main">
              <a:ext uri="{FF2B5EF4-FFF2-40B4-BE49-F238E27FC236}">
                <a16:creationId xmlns:a16="http://schemas.microsoft.com/office/drawing/2014/main" id="{D5F213ED-CEF5-42EA-83A7-C0F2BA32FBCB}"/>
              </a:ext>
            </a:extLst>
          </p:cNvPr>
          <p:cNvSpPr>
            <a:spLocks xmlns:a="http://schemas.openxmlformats.org/drawingml/2006/main" noGrp="1"/>
          </p:cNvSpPr>
          <p:nvPr/>
        </p:nvSpPr>
        <p:spPr>
          <a:xfrm xmlns:a="http://schemas.openxmlformats.org/drawingml/2006/main">
            <a:off x="9648825" y="4324350"/>
            <a:ext cx="7734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225B92"/>
                </a:solidFill>
                <a:latin typeface="Noto Sans JP"/>
                <a:ea typeface="Noto Sans JP"/>
                <a:cs typeface="Noto Sans JP"/>
              </a:defRPr>
            </a:defPPr>
          </a:lstStyle>
          <a:p xmlns:a="http://schemas.openxmlformats.org/drawingml/2006/main">
            <a:pPr>
              <a:defRPr sz="1500" b="1">
                <a:solidFill>
                  <a:srgbClr val="225B92"/>
                </a:solidFill>
                <a:latin typeface="Noto Sans JP"/>
                <a:ea typeface="Noto Sans JP"/>
                <a:cs typeface="Noto Sans JP"/>
              </a:defRPr>
            </a:pPr>
            <a:r>
              <a:rPr sz="1500" b="1">
                <a:solidFill>
                  <a:srgbClr val="225B92"/>
                </a:solidFill>
                <a:latin typeface="Noto Sans JP"/>
                <a:ea typeface="Noto Sans JP"/>
                <a:cs typeface="Noto Sans JP"/>
              </a:rPr>
              <a:t>2025–2026年に具体化したこと</a:t>
            </a:r>
          </a:p>
        </p:txBody>
      </p:sp>
      <p:sp>
        <p:nvSpPr>
          <p:cNvPr id="22" name="now">
            <a:extLst xmlns:a="http://schemas.openxmlformats.org/drawingml/2006/main">
              <a:ext uri="{FF2B5EF4-FFF2-40B4-BE49-F238E27FC236}">
                <a16:creationId xmlns:a16="http://schemas.microsoft.com/office/drawing/2014/main" id="{78BE6640-49C6-4EE0-B49F-38AFDB53D292}"/>
              </a:ext>
            </a:extLst>
          </p:cNvPr>
          <p:cNvSpPr>
            <a:spLocks xmlns:a="http://schemas.openxmlformats.org/drawingml/2006/main" noGrp="1"/>
          </p:cNvSpPr>
          <p:nvPr/>
        </p:nvSpPr>
        <p:spPr>
          <a:xfrm xmlns:a="http://schemas.openxmlformats.org/drawingml/2006/main">
            <a:off x="9648825" y="4686300"/>
            <a:ext cx="77343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182D43"/>
                </a:solidFill>
                <a:latin typeface="Noto Sans JP"/>
                <a:ea typeface="Noto Sans JP"/>
                <a:cs typeface="Noto Sans JP"/>
              </a:defRPr>
            </a:defPPr>
          </a:lstStyle>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2026は、機器情報をエージェントへ渡す用途や、CADに物理属性</a:t>
            </a:r>
          </a:p>
          <a:p xmlns:a="http://schemas.openxmlformats.org/drawingml/2006/main">
            <a:pPr>
              <a:defRPr sz="1950" b="0">
                <a:solidFill>
                  <a:srgbClr val="182D43"/>
                </a:solidFill>
                <a:latin typeface="Noto Sans JP"/>
                <a:ea typeface="Noto Sans JP"/>
                <a:cs typeface="Noto Sans JP"/>
              </a:defRPr>
            </a:pPr>
            <a:r>
              <a:rPr sz="1950" b="0">
                <a:solidFill>
                  <a:srgbClr val="182D43"/>
                </a:solidFill>
                <a:latin typeface="Noto Sans JP"/>
                <a:ea typeface="Noto Sans JP"/>
                <a:cs typeface="Noto Sans JP"/>
              </a:rPr>
              <a:t>を加えてロボット学習・検証へ使う用途が具体化している。</a:t>
            </a:r>
          </a:p>
        </p:txBody>
      </p:sp>
      <p:sp>
        <p:nvSpPr>
          <p:cNvPr id="23" name="future">
            <a:extLst xmlns:a="http://schemas.openxmlformats.org/drawingml/2006/main">
              <a:ext uri="{FF2B5EF4-FFF2-40B4-BE49-F238E27FC236}">
                <a16:creationId xmlns:a16="http://schemas.microsoft.com/office/drawing/2014/main" id="{3A3C26E3-2A63-44AB-9A64-7F35E3597EC3}"/>
              </a:ext>
            </a:extLst>
          </p:cNvPr>
          <p:cNvSpPr>
            <a:spLocks xmlns:a="http://schemas.openxmlformats.org/drawingml/2006/main" noGrp="1"/>
          </p:cNvSpPr>
          <p:nvPr/>
        </p:nvSpPr>
        <p:spPr>
          <a:xfrm xmlns:a="http://schemas.openxmlformats.org/drawingml/2006/main">
            <a:off x="866775" y="7000875"/>
            <a:ext cx="7734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2D43"/>
                </a:solidFill>
                <a:latin typeface="Noto Sans JP"/>
                <a:ea typeface="Noto Sans JP"/>
                <a:cs typeface="Noto Sans JP"/>
              </a:defRPr>
            </a:defPPr>
          </a:lstStyle>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データ基盤は独立した汎用システムの開発より、生産準備・</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加工・ロボット等の用途に結び付けて必要性を判断する。</a:t>
            </a:r>
          </a:p>
        </p:txBody>
      </p:sp>
      <p:sp>
        <p:nvSpPr>
          <p:cNvPr id="24" name="limit">
            <a:extLst xmlns:a="http://schemas.openxmlformats.org/drawingml/2006/main">
              <a:ext uri="{FF2B5EF4-FFF2-40B4-BE49-F238E27FC236}">
                <a16:creationId xmlns:a16="http://schemas.microsoft.com/office/drawing/2014/main" id="{D20C16FE-6192-4DE1-96B8-82701B45A1C3}"/>
              </a:ext>
            </a:extLst>
          </p:cNvPr>
          <p:cNvSpPr>
            <a:spLocks xmlns:a="http://schemas.openxmlformats.org/drawingml/2006/main" noGrp="1"/>
          </p:cNvSpPr>
          <p:nvPr/>
        </p:nvSpPr>
        <p:spPr>
          <a:xfrm xmlns:a="http://schemas.openxmlformats.org/drawingml/2006/main">
            <a:off x="866775" y="8467725"/>
            <a:ext cx="7734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比較の限界：CADから推定した物理属性と実測の一致、自己修正の収束、仮</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想結果と実機性能の差は未確認。ツインがそのままAI制御を意味するわけ</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ではない。</a:t>
            </a:r>
          </a:p>
        </p:txBody>
      </p:sp>
      <p:sp>
        <p:nvSpPr>
          <p:cNvPr id="25" name="proposal">
            <a:extLst xmlns:a="http://schemas.openxmlformats.org/drawingml/2006/main">
              <a:ext uri="{FF2B5EF4-FFF2-40B4-BE49-F238E27FC236}">
                <a16:creationId xmlns:a16="http://schemas.microsoft.com/office/drawing/2014/main" id="{F30A39DB-3F90-4515-B79B-D78C93EB50DB}"/>
              </a:ext>
            </a:extLst>
          </p:cNvPr>
          <p:cNvSpPr>
            <a:spLocks xmlns:a="http://schemas.openxmlformats.org/drawingml/2006/main" noGrp="1"/>
          </p:cNvSpPr>
          <p:nvPr/>
        </p:nvSpPr>
        <p:spPr>
          <a:xfrm xmlns:a="http://schemas.openxmlformats.org/drawingml/2006/main">
            <a:off x="9648825" y="7000875"/>
            <a:ext cx="77343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データ接続や仮想検証は各開発テーマに共通する基盤として</a:t>
            </a:r>
          </a:p>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取り込み、実機での効果に結び付く範囲を先に整える。</a:t>
            </a:r>
          </a:p>
        </p:txBody>
      </p:sp>
      <p:sp>
        <p:nvSpPr>
          <p:cNvPr id="26" name="research">
            <a:extLst xmlns:a="http://schemas.openxmlformats.org/drawingml/2006/main">
              <a:ext uri="{FF2B5EF4-FFF2-40B4-BE49-F238E27FC236}">
                <a16:creationId xmlns:a16="http://schemas.microsoft.com/office/drawing/2014/main" id="{BB5CC1B9-5D6D-4623-A0BA-166E77B7923B}"/>
              </a:ext>
            </a:extLst>
          </p:cNvPr>
          <p:cNvSpPr>
            <a:spLocks xmlns:a="http://schemas.openxmlformats.org/drawingml/2006/main" noGrp="1"/>
          </p:cNvSpPr>
          <p:nvPr/>
        </p:nvSpPr>
        <p:spPr>
          <a:xfrm xmlns:a="http://schemas.openxmlformats.org/drawingml/2006/main">
            <a:off x="9648825" y="8601075"/>
            <a:ext cx="7734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根拠となる技術：AIモデル作成・機器接続の基盤、デジタルツイン・物理学習</a:t>
            </a:r>
          </a:p>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用データ</a:t>
            </a:r>
          </a:p>
        </p:txBody>
      </p:sp>
      <p:sp>
        <p:nvSpPr>
          <p:cNvPr id="27" name="foot">
            <a:extLst xmlns:a="http://schemas.openxmlformats.org/drawingml/2006/main">
              <a:ext uri="{FF2B5EF4-FFF2-40B4-BE49-F238E27FC236}">
                <a16:creationId xmlns:a16="http://schemas.microsoft.com/office/drawing/2014/main" id="{585578CD-7599-45D7-81A4-ECC44F0307C0}"/>
              </a:ext>
            </a:extLst>
          </p:cNvPr>
          <p:cNvSpPr>
            <a:spLocks xmlns:a="http://schemas.openxmlformats.org/drawingml/2006/main" noGrp="1"/>
          </p:cNvSpPr>
          <p:nvPr/>
        </p:nvSpPr>
        <p:spPr>
          <a:xfrm xmlns:a="http://schemas.openxmlformats.org/drawingml/2006/main">
            <a:off x="628650" y="9810750"/>
            <a:ext cx="1590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637286"/>
                </a:solidFill>
                <a:latin typeface="Noto Sans JP"/>
                <a:ea typeface="Noto Sans JP"/>
                <a:cs typeface="Noto Sans JP"/>
              </a:defRPr>
            </a:defPPr>
          </a:lstStyle>
          <a:p xmlns:a="http://schemas.openxmlformats.org/drawingml/2006/main">
            <a:pPr>
              <a:defRPr sz="1500" b="0">
                <a:solidFill>
                  <a:srgbClr val="637286"/>
                </a:solidFill>
                <a:latin typeface="Noto Sans JP"/>
                <a:ea typeface="Noto Sans JP"/>
                <a:cs typeface="Noto Sans JP"/>
              </a:defRPr>
            </a:pPr>
            <a:r>
              <a:rPr sz="1500" b="0">
                <a:solidFill>
                  <a:srgbClr val="637286"/>
                </a:solidFill>
                <a:latin typeface="Noto Sans JP"/>
                <a:ea typeface="Noto Sans JP"/>
                <a:cs typeface="Noto Sans JP"/>
              </a:rPr>
              <a:t>企業事例・公式URLは後続ページとHTMLへ。主張 D6-S / D6-T / D6-F / D6-R</a:t>
            </a:r>
          </a:p>
        </p:txBody>
      </p:sp>
    </p:spTree>
    <p:extLst>
      <p:ext uri="{BB962C8B-B14F-4D97-AF65-F5344CB8AC3E}">
        <p14:creationId xmlns:p14="http://schemas.microsoft.com/office/powerpoint/2010/main" val="1506320625"/>
      </p:ext>
    </p:extLst>
  </p:cSld>
</p:sld>
</file>

<file path=ppt/slides/slide8.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7BDF4FB-6FBB-47A2-85DE-FDAA1691BD76}"/>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2024年から何が変わったか　1/2</a:t>
            </a:r>
          </a:p>
        </p:txBody>
      </p:sp>
      <p:sp>
        <p:nvSpPr>
          <p:cNvPr id="2" name="sub">
            <a:extLst xmlns:a="http://schemas.openxmlformats.org/drawingml/2006/main">
              <a:ext uri="{FF2B5EF4-FFF2-40B4-BE49-F238E27FC236}">
                <a16:creationId xmlns:a16="http://schemas.microsoft.com/office/drawing/2014/main" id="{2CF2EA70-E9C2-4667-A69A-FB980DADE9FA}"/>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個別製品の記載を、対象の仕事ごとに束ねた比較。新登場と、既存技術の継続・適用拡張を分ける。</a:t>
            </a:r>
          </a:p>
        </p:txBody>
      </p:sp>
      <p:sp>
        <p:nvSpPr>
          <p:cNvPr id="3" name="page">
            <a:extLst xmlns:a="http://schemas.openxmlformats.org/drawingml/2006/main">
              <a:ext uri="{FF2B5EF4-FFF2-40B4-BE49-F238E27FC236}">
                <a16:creationId xmlns:a16="http://schemas.microsoft.com/office/drawing/2014/main" id="{47F4D736-7647-464C-849A-655CD767283B}"/>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08</a:t>
            </a:r>
          </a:p>
        </p:txBody>
      </p:sp>
      <p:graphicFrame>
        <p:nvGraphicFramePr>
          <p:cNvPr id="4" name="">
            <a:extLst xmlns:a="http://schemas.openxmlformats.org/drawingml/2006/main">
              <a:ext uri="{FF2B5EF4-FFF2-40B4-BE49-F238E27FC236}">
                <a16:creationId xmlns:a16="http://schemas.microsoft.com/office/drawing/2014/main" id="{7D6DEC71-143A-49B5-8539-1BF53AEFBE06}"/>
              </a:ext>
            </a:extLst>
          </p:cNvPr>
          <p:cNvGraphicFramePr/>
          <p:nvPr/>
        </p:nvGraphicFramePr>
        <p:xfrm>
          <a:off xmlns:a="http://schemas.openxmlformats.org/drawingml/2006/main" x="609600" y="2143125"/>
          <a:ext xmlns:a="http://schemas.openxmlformats.org/drawingml/2006/main" cx="17068800" cy="7458075"/>
        </p:xfrm>
        <a:graphic xmlns:a="http://schemas.openxmlformats.org/drawingml/2006/main">
          <a:graphicData uri="http://schemas.openxmlformats.org/drawingml/2006/table">
            <a:tbl>
              <a:tblPr/>
              <a:tblGrid>
                <a:gridCol w="2762250"/>
                <a:gridCol w="4667250"/>
                <a:gridCol w="5048250"/>
                <a:gridCol w="4591050"/>
              </a:tblGrid>
              <a:tr h="628650">
                <a:tc>
                  <a:txBody>
                    <a:bodyPr wrap="square" lIns="123825" tIns="123825" rIns="123825" bIns="123825">
                      <a:noAutofit/>
                    </a:bodyPr>
                    <a:lstStyle/>
                    <a:p>
                      <a:r>
                        <a:rPr sz="1950" b="1">
                          <a:solidFill>
                            <a:srgbClr val="FFFFFF"/>
                          </a:solidFill>
                          <a:latin typeface="Noto Sans JP"/>
                          <a:ea typeface="Noto Sans JP"/>
                          <a:cs typeface="Noto Sans JP"/>
                        </a:rPr>
                        <a:t>対象の仕事・技術</a:t>
                      </a:r>
                    </a:p>
                  </a:txBody>
                  <a:tcPr marL="91440" marR="91440" marT="45720" marB="45720" anchor="t">
                    <a:lnL w="9525">
                      <a:solidFill>
                        <a:srgbClr val="D5DFEA"/>
                      </a:solidFill>
                      <a:prstDash val="solid"/>
                    </a:lnL>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2024年以前にもあったこと</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2025–2026年に具体化したこと</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変化の読み方〈分析〉</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生産準備の技能を補うAI</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AIによるPLCコード支援やCAMの作成支援は2024以前にも存在。自動プログラム作成が2026に初めて生まれたわけではない。</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2025–2026の資料では、見積の一連の作業や工程案、PLC以外のI/O設定・HMIなど、支援する仕事と設計環境への組込みが具体化している。</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コード作成等の既存支援に加え、見積の一連の作業や工程案など、業務の文脈を扱う仕事への展開が具体化している。開始年と提供範囲は製品ごとに異なる。</a:t>
                      </a:r>
                    </a:p>
                  </a:txBody>
                  <a:tcPr marL="91440" marR="91440" marT="45720" marB="45720" anchor="t">
                    <a:lnR w="9525">
                      <a:solidFill>
                        <a:srgbClr val="D5DFEA"/>
                      </a:solidFill>
                      <a:prstDash val="solid"/>
                    </a:lnR>
                    <a:lnB w="9525">
                      <a:solidFill>
                        <a:srgbClr val="D5DFEA"/>
                      </a:solidFill>
                      <a:prstDash val="solid"/>
                    </a:lnB>
                    <a:solidFill>
                      <a:srgbClr val="EDF3FA"/>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加工を安定させる自動調整</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負荷に応じた送り制御、NCの事前最適化、測定結果による工具補正は2024にも掲載されている。</a:t>
                      </a:r>
                    </a:p>
                  </a:txBody>
                  <a:tcPr marL="91440" marR="91440" marT="45720" marB="45720" anchor="t">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2026は、工具の3D計測と補正加工の一体化や、加工前のワーク情報を条件調整へ使う提案が見られる。後者には開発中の機能も含む。</a:t>
                      </a:r>
                    </a:p>
                  </a:txBody>
                  <a:tcPr marL="91440" marR="91440" marT="45720" marB="45720" anchor="t">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計測・補正は以前から存在する。今回は刃先の3D計測と加工の一体化や、加工前のワーク情報の活用など、適用対象と構成の拡張に注目する。</a:t>
                      </a:r>
                    </a:p>
                  </a:txBody>
                  <a:tcPr marL="91440" marR="91440" marT="45720" marB="45720" anchor="t">
                    <a:lnR w="9525">
                      <a:solidFill>
                        <a:srgbClr val="D5DFEA"/>
                      </a:solidFill>
                      <a:prstDash val="solid"/>
                    </a:lnR>
                    <a:lnB w="9525">
                      <a:solidFill>
                        <a:srgbClr val="D5DFEA"/>
                      </a:solidFill>
                      <a:prstDash val="solid"/>
                    </a:lnB>
                    <a:solidFill>
                      <a:srgbClr val="FFFFFF"/>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品質・工具・設備を見極めるAI</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AIによる工具の欠け・摩耗判定、設備のAI診断、工具・工程監視は2024にも存在している。</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2025–2026の資料では、誤判定を追加学習で調整する機能や、摩耗の記録を寿命・交換時期の提案へ使う内容が具体化。耐環境撮像や工具長測定との組合せも見られる。</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「異常かどうか」の判定に加え、継続使用・交換・保全という次の判断を助ける方向に広がる。ただし交換の自動実行まで同じ範囲ではない。</a:t>
                      </a:r>
                    </a:p>
                  </a:txBody>
                  <a:tcPr marL="91440" marR="91440" marT="45720" marB="45720" anchor="t">
                    <a:lnR w="9525">
                      <a:solidFill>
                        <a:srgbClr val="D5DFEA"/>
                      </a:solidFill>
                      <a:prstDash val="solid"/>
                    </a:lnR>
                    <a:lnB w="9525">
                      <a:solidFill>
                        <a:srgbClr val="D5DFEA"/>
                      </a:solidFill>
                      <a:prstDash val="solid"/>
                    </a:lnB>
                    <a:solidFill>
                      <a:srgbClr val="EDF3FA"/>
                    </a:solidFill>
                  </a:tcPr>
                </a:tc>
              </a:tr>
            </a:tbl>
          </a:graphicData>
        </a:graphic>
      </p:graphicFrame>
      <p:sp>
        <p:nvSpPr>
          <p:cNvPr id="5" name="foot">
            <a:extLst xmlns:a="http://schemas.openxmlformats.org/drawingml/2006/main">
              <a:ext uri="{FF2B5EF4-FFF2-40B4-BE49-F238E27FC236}">
                <a16:creationId xmlns:a16="http://schemas.microsoft.com/office/drawing/2014/main" id="{979E4E5D-DFF4-46C1-A15B-6D9777F07E04}"/>
              </a:ext>
            </a:extLst>
          </p:cNvPr>
          <p:cNvSpPr>
            <a:spLocks xmlns:a="http://schemas.openxmlformats.org/drawingml/2006/main" noGrp="1"/>
          </p:cNvSpPr>
          <p:nvPr/>
        </p:nvSpPr>
        <p:spPr>
          <a:xfrm xmlns:a="http://schemas.openxmlformats.org/drawingml/2006/main">
            <a:off x="628650" y="9810750"/>
            <a:ext cx="1571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個別事例の詳細不足は比較不能。展示記述の変化だけで市場全体の移行や性能向上を断定しない。</a:t>
            </a:r>
          </a:p>
        </p:txBody>
      </p:sp>
    </p:spTree>
    <p:extLst>
      <p:ext uri="{BB962C8B-B14F-4D97-AF65-F5344CB8AC3E}">
        <p14:creationId xmlns:p14="http://schemas.microsoft.com/office/powerpoint/2010/main" val="810237731"/>
      </p:ext>
    </p:extLst>
  </p:cSld>
</p:sld>
</file>

<file path=ppt/slides/slide9.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CDBDBA0-B42B-4D33-A57C-F516B5F5CE50}"/>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2024年から何が変わったか　2/2</a:t>
            </a:r>
          </a:p>
        </p:txBody>
      </p:sp>
      <p:sp>
        <p:nvSpPr>
          <p:cNvPr id="2" name="sub">
            <a:extLst xmlns:a="http://schemas.openxmlformats.org/drawingml/2006/main">
              <a:ext uri="{FF2B5EF4-FFF2-40B4-BE49-F238E27FC236}">
                <a16:creationId xmlns:a16="http://schemas.microsoft.com/office/drawing/2014/main" id="{F5391D7D-EB7B-4AF1-B5D2-4B10D0C7D3FF}"/>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個別製品の記載を、対象の仕事ごとに束ねた比較。新登場と、既存技術の継続・適用拡張を分ける。</a:t>
            </a:r>
          </a:p>
        </p:txBody>
      </p:sp>
      <p:sp>
        <p:nvSpPr>
          <p:cNvPr id="3" name="page">
            <a:extLst xmlns:a="http://schemas.openxmlformats.org/drawingml/2006/main">
              <a:ext uri="{FF2B5EF4-FFF2-40B4-BE49-F238E27FC236}">
                <a16:creationId xmlns:a16="http://schemas.microsoft.com/office/drawing/2014/main" id="{A2FC474B-489F-4860-92CC-566676888C61}"/>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09</a:t>
            </a:r>
          </a:p>
        </p:txBody>
      </p:sp>
      <p:graphicFrame>
        <p:nvGraphicFramePr>
          <p:cNvPr id="4" name="">
            <a:extLst xmlns:a="http://schemas.openxmlformats.org/drawingml/2006/main">
              <a:ext uri="{FF2B5EF4-FFF2-40B4-BE49-F238E27FC236}">
                <a16:creationId xmlns:a16="http://schemas.microsoft.com/office/drawing/2014/main" id="{3D9AF22D-0195-433F-A294-2284C7D607E9}"/>
              </a:ext>
            </a:extLst>
          </p:cNvPr>
          <p:cNvGraphicFramePr/>
          <p:nvPr/>
        </p:nvGraphicFramePr>
        <p:xfrm>
          <a:off xmlns:a="http://schemas.openxmlformats.org/drawingml/2006/main" x="609600" y="2143125"/>
          <a:ext xmlns:a="http://schemas.openxmlformats.org/drawingml/2006/main" cx="17068800" cy="7458075"/>
        </p:xfrm>
        <a:graphic xmlns:a="http://schemas.openxmlformats.org/drawingml/2006/main">
          <a:graphicData uri="http://schemas.openxmlformats.org/drawingml/2006/table">
            <a:tbl>
              <a:tblPr/>
              <a:tblGrid>
                <a:gridCol w="2762250"/>
                <a:gridCol w="4667250"/>
                <a:gridCol w="5048250"/>
                <a:gridCol w="4591050"/>
              </a:tblGrid>
              <a:tr h="628650">
                <a:tc>
                  <a:txBody>
                    <a:bodyPr wrap="square" lIns="123825" tIns="123825" rIns="123825" bIns="123825">
                      <a:noAutofit/>
                    </a:bodyPr>
                    <a:lstStyle/>
                    <a:p>
                      <a:r>
                        <a:rPr sz="1950" b="1">
                          <a:solidFill>
                            <a:srgbClr val="FFFFFF"/>
                          </a:solidFill>
                          <a:latin typeface="Noto Sans JP"/>
                          <a:ea typeface="Noto Sans JP"/>
                          <a:cs typeface="Noto Sans JP"/>
                        </a:rPr>
                        <a:t>対象の仕事・技術</a:t>
                      </a:r>
                    </a:p>
                  </a:txBody>
                  <a:tcPr marL="91440" marR="91440" marT="45720" marB="45720" anchor="t">
                    <a:lnL w="9525">
                      <a:solidFill>
                        <a:srgbClr val="D5DFEA"/>
                      </a:solidFill>
                      <a:prstDash val="solid"/>
                    </a:lnL>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2024年以前にもあったこと</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2025–2026年に具体化したこと</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変化の読み方〈分析〉</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多品種に対応する段取り・ロボット</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爪・工具の交換、ロボット搬入出、カメラを使う小部品ピックは2024にも展示・紹介されている。</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2026には切粉の状態を判断して除去する参考出品、不定形ワークの面取り軌道生成、既設機への後付けや移設後の復旧を具体化した展示が見られる。</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自動化の対象がワークを運ぶ仕事から、段取り替えや変動する付帯作業にも広がっている。機構による解決と認識・AIによる解決が並存する。</a:t>
                      </a:r>
                    </a:p>
                  </a:txBody>
                  <a:tcPr marL="91440" marR="91440" marT="45720" marB="45720" anchor="t">
                    <a:lnR w="9525">
                      <a:solidFill>
                        <a:srgbClr val="D5DFEA"/>
                      </a:solidFill>
                      <a:prstDash val="solid"/>
                    </a:lnR>
                    <a:lnB w="9525">
                      <a:solidFill>
                        <a:srgbClr val="D5DFEA"/>
                      </a:solidFill>
                      <a:prstDash val="solid"/>
                    </a:lnB>
                    <a:solidFill>
                      <a:srgbClr val="EDF3FA"/>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現場情報を使って運用を支えるAI</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工具・CAM・在庫の連携、設備データの収集・対話AIなどは2024にも説明されている。</a:t>
                      </a:r>
                    </a:p>
                  </a:txBody>
                  <a:tcPr marL="91440" marR="91440" marT="45720" marB="45720" anchor="t">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2026には、機械データを参照する保守エージェントや、予測・設備・搬送を組み合わせた展示が具体化。人が遠隔で例外へ対処する運用も見られる。</a:t>
                      </a:r>
                    </a:p>
                  </a:txBody>
                  <a:tcPr marL="91440" marR="91440" marT="45720" marB="45720" anchor="t">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見える化・記録に加え、集めた情報から何をするかを提案し、担当者や設備の作業へつなごうとする方向が読み取れる。</a:t>
                      </a:r>
                    </a:p>
                  </a:txBody>
                  <a:tcPr marL="91440" marR="91440" marT="45720" marB="45720" anchor="t">
                    <a:lnR w="9525">
                      <a:solidFill>
                        <a:srgbClr val="D5DFEA"/>
                      </a:solidFill>
                      <a:prstDash val="solid"/>
                    </a:lnR>
                    <a:lnB w="9525">
                      <a:solidFill>
                        <a:srgbClr val="D5DFEA"/>
                      </a:solidFill>
                      <a:prstDash val="solid"/>
                    </a:lnB>
                    <a:solidFill>
                      <a:srgbClr val="FFFFFF"/>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現場AIを支えるデータと仮想環境</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学習支援・モデル出力、機器接続、加工デジタルツインは2024以前にも存在する。</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2026は、機器情報をエージェントへ渡す用途や、CADに物理属性を加えてロボット学習・検証へ使う用途が具体化している。</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データを保管・可視化するだけでなく、AIの判断・物理動作の学習へ使うための意味とモデルを整える役割が明確になっている。</a:t>
                      </a:r>
                    </a:p>
                  </a:txBody>
                  <a:tcPr marL="91440" marR="91440" marT="45720" marB="45720" anchor="t">
                    <a:lnR w="9525">
                      <a:solidFill>
                        <a:srgbClr val="D5DFEA"/>
                      </a:solidFill>
                      <a:prstDash val="solid"/>
                    </a:lnR>
                    <a:lnB w="9525">
                      <a:solidFill>
                        <a:srgbClr val="D5DFEA"/>
                      </a:solidFill>
                      <a:prstDash val="solid"/>
                    </a:lnB>
                    <a:solidFill>
                      <a:srgbClr val="EDF3FA"/>
                    </a:solidFill>
                  </a:tcPr>
                </a:tc>
              </a:tr>
            </a:tbl>
          </a:graphicData>
        </a:graphic>
      </p:graphicFrame>
      <p:sp>
        <p:nvSpPr>
          <p:cNvPr id="5" name="foot">
            <a:extLst xmlns:a="http://schemas.openxmlformats.org/drawingml/2006/main">
              <a:ext uri="{FF2B5EF4-FFF2-40B4-BE49-F238E27FC236}">
                <a16:creationId xmlns:a16="http://schemas.microsoft.com/office/drawing/2014/main" id="{BD909978-3DC8-4827-975E-BF4C09F5A772}"/>
              </a:ext>
            </a:extLst>
          </p:cNvPr>
          <p:cNvSpPr>
            <a:spLocks xmlns:a="http://schemas.openxmlformats.org/drawingml/2006/main" noGrp="1"/>
          </p:cNvSpPr>
          <p:nvPr/>
        </p:nvSpPr>
        <p:spPr>
          <a:xfrm xmlns:a="http://schemas.openxmlformats.org/drawingml/2006/main">
            <a:off x="628650" y="9810750"/>
            <a:ext cx="1571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個別事例の詳細不足は比較不能。展示記述の変化だけで市場全体の移行や性能向上を断定しない。</a:t>
            </a:r>
          </a:p>
        </p:txBody>
      </p:sp>
    </p:spTree>
    <p:extLst>
      <p:ext uri="{BB962C8B-B14F-4D97-AF65-F5344CB8AC3E}">
        <p14:creationId xmlns:p14="http://schemas.microsoft.com/office/powerpoint/2010/main" val="286624241"/>
      </p:ext>
    </p:extLst>
  </p:cSld>
</p:sld>
</file>

<file path=ppt/slides/slide10.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E972671D-D932-4D85-8A9C-25EB14A0F2EF}"/>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加工知識を扱う生産準備AI</a:t>
            </a:r>
          </a:p>
        </p:txBody>
      </p:sp>
      <p:sp>
        <p:nvSpPr>
          <p:cNvPr id="2" name="sub">
            <a:extLst xmlns:a="http://schemas.openxmlformats.org/drawingml/2006/main">
              <a:ext uri="{FF2B5EF4-FFF2-40B4-BE49-F238E27FC236}">
                <a16:creationId xmlns:a16="http://schemas.microsoft.com/office/drawing/2014/main" id="{F9BE4293-30FA-4D90-B47C-2ABDF5AF7A41}"/>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技術動向から考える開発候補。立ち位置と開発余地は分析・仮説で、市場の空白や優位性の証明ではない。</a:t>
            </a:r>
          </a:p>
        </p:txBody>
      </p:sp>
      <p:sp>
        <p:nvSpPr>
          <p:cNvPr id="3" name="page">
            <a:extLst xmlns:a="http://schemas.openxmlformats.org/drawingml/2006/main">
              <a:ext uri="{FF2B5EF4-FFF2-40B4-BE49-F238E27FC236}">
                <a16:creationId xmlns:a16="http://schemas.microsoft.com/office/drawing/2014/main" id="{BEEEA573-0409-41B0-B515-CF19038EE699}"/>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10</a:t>
            </a:r>
          </a:p>
        </p:txBody>
      </p:sp>
      <p:sp>
        <p:nvSpPr>
          <p:cNvPr id="4" name="block-0">
            <a:extLst xmlns:a="http://schemas.openxmlformats.org/drawingml/2006/main">
              <a:ext uri="{FF2B5EF4-FFF2-40B4-BE49-F238E27FC236}">
                <a16:creationId xmlns:a16="http://schemas.microsoft.com/office/drawing/2014/main" id="{A9C853E5-662D-4098-81EF-FC73B8774096}"/>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h-0">
            <a:extLst xmlns:a="http://schemas.openxmlformats.org/drawingml/2006/main">
              <a:ext uri="{FF2B5EF4-FFF2-40B4-BE49-F238E27FC236}">
                <a16:creationId xmlns:a16="http://schemas.microsoft.com/office/drawing/2014/main" id="{C54ED9F2-3DB4-4009-91BD-E0FF3BEAC72B}"/>
              </a:ext>
            </a:extLst>
          </p:cNvPr>
          <p:cNvSpPr>
            <a:spLocks xmlns:a="http://schemas.openxmlformats.org/drawingml/2006/main" noGrp="1"/>
          </p:cNvSpPr>
          <p:nvPr/>
        </p:nvSpPr>
        <p:spPr>
          <a:xfrm xmlns:a="http://schemas.openxmlformats.org/drawingml/2006/main">
            <a:off x="847725" y="237172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なぜ、この分野を候補にするか</a:t>
            </a:r>
          </a:p>
        </p:txBody>
      </p:sp>
      <p:sp>
        <p:nvSpPr>
          <p:cNvPr id="6" name="block-1">
            <a:extLst xmlns:a="http://schemas.openxmlformats.org/drawingml/2006/main">
              <a:ext uri="{FF2B5EF4-FFF2-40B4-BE49-F238E27FC236}">
                <a16:creationId xmlns:a16="http://schemas.microsoft.com/office/drawing/2014/main" id="{1F2A07B8-FCD0-4D66-B8C9-91CC41A58509}"/>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7" name="h-1">
            <a:extLst xmlns:a="http://schemas.openxmlformats.org/drawingml/2006/main">
              <a:ext uri="{FF2B5EF4-FFF2-40B4-BE49-F238E27FC236}">
                <a16:creationId xmlns:a16="http://schemas.microsoft.com/office/drawing/2014/main" id="{58DE3625-D5E0-473D-8A90-CEE35A13338B}"/>
              </a:ext>
            </a:extLst>
          </p:cNvPr>
          <p:cNvSpPr>
            <a:spLocks xmlns:a="http://schemas.openxmlformats.org/drawingml/2006/main" noGrp="1"/>
          </p:cNvSpPr>
          <p:nvPr/>
        </p:nvSpPr>
        <p:spPr>
          <a:xfrm xmlns:a="http://schemas.openxmlformats.org/drawingml/2006/main">
            <a:off x="9629775" y="237172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何を、どの技術で開発するか</a:t>
            </a:r>
          </a:p>
        </p:txBody>
      </p:sp>
      <p:sp>
        <p:nvSpPr>
          <p:cNvPr id="8" name="block-2">
            <a:extLst xmlns:a="http://schemas.openxmlformats.org/drawingml/2006/main">
              <a:ext uri="{FF2B5EF4-FFF2-40B4-BE49-F238E27FC236}">
                <a16:creationId xmlns:a16="http://schemas.microsoft.com/office/drawing/2014/main" id="{633FDE6B-88AC-4D2D-B4B0-8346133C366E}"/>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9" name="h-2">
            <a:extLst xmlns:a="http://schemas.openxmlformats.org/drawingml/2006/main">
              <a:ext uri="{FF2B5EF4-FFF2-40B4-BE49-F238E27FC236}">
                <a16:creationId xmlns:a16="http://schemas.microsoft.com/office/drawing/2014/main" id="{9D2A4A7A-D7DF-436F-AF87-0D15BF64DCCE}"/>
              </a:ext>
            </a:extLst>
          </p:cNvPr>
          <p:cNvSpPr>
            <a:spLocks xmlns:a="http://schemas.openxmlformats.org/drawingml/2006/main" noGrp="1"/>
          </p:cNvSpPr>
          <p:nvPr/>
        </p:nvSpPr>
        <p:spPr>
          <a:xfrm xmlns:a="http://schemas.openxmlformats.org/drawingml/2006/main">
            <a:off x="847725" y="646747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既存技術と、狙う立ち位置</a:t>
            </a:r>
          </a:p>
        </p:txBody>
      </p:sp>
      <p:sp>
        <p:nvSpPr>
          <p:cNvPr id="10" name="block-3">
            <a:extLst xmlns:a="http://schemas.openxmlformats.org/drawingml/2006/main">
              <a:ext uri="{FF2B5EF4-FFF2-40B4-BE49-F238E27FC236}">
                <a16:creationId xmlns:a16="http://schemas.microsoft.com/office/drawing/2014/main" id="{F771E2FE-2F8E-409E-B05B-8E2E178EF1C3}"/>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3">
            <a:extLst xmlns:a="http://schemas.openxmlformats.org/drawingml/2006/main">
              <a:ext uri="{FF2B5EF4-FFF2-40B4-BE49-F238E27FC236}">
                <a16:creationId xmlns:a16="http://schemas.microsoft.com/office/drawing/2014/main" id="{8FEF823F-8405-4A69-90CD-D00E096AE8D1}"/>
              </a:ext>
            </a:extLst>
          </p:cNvPr>
          <p:cNvSpPr>
            <a:spLocks xmlns:a="http://schemas.openxmlformats.org/drawingml/2006/main" noGrp="1"/>
          </p:cNvSpPr>
          <p:nvPr/>
        </p:nvSpPr>
        <p:spPr>
          <a:xfrm xmlns:a="http://schemas.openxmlformats.org/drawingml/2006/main">
            <a:off x="9629775" y="646747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開発余地と着手の考え方</a:t>
            </a:r>
          </a:p>
        </p:txBody>
      </p:sp>
      <p:sp>
        <p:nvSpPr>
          <p:cNvPr id="12" name="need">
            <a:extLst xmlns:a="http://schemas.openxmlformats.org/drawingml/2006/main">
              <a:ext uri="{FF2B5EF4-FFF2-40B4-BE49-F238E27FC236}">
                <a16:creationId xmlns:a16="http://schemas.microsoft.com/office/drawing/2014/main" id="{501E6751-E4EE-4207-A2B5-B515A4C76435}"/>
              </a:ext>
            </a:extLst>
          </p:cNvPr>
          <p:cNvSpPr>
            <a:spLocks xmlns:a="http://schemas.openxmlformats.org/drawingml/2006/main" noGrp="1"/>
          </p:cNvSpPr>
          <p:nvPr/>
        </p:nvSpPr>
        <p:spPr>
          <a:xfrm xmlns:a="http://schemas.openxmlformats.org/drawingml/2006/main">
            <a:off x="866775" y="2905125"/>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82D43"/>
                </a:solidFill>
                <a:latin typeface="Noto Sans JP"/>
                <a:ea typeface="Noto Sans JP"/>
                <a:cs typeface="Noto Sans JP"/>
              </a:defRPr>
            </a:defPPr>
          </a:lstStyle>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多品種の見積・工程検討に毎回熟練者が必要となり、受注か</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ら加工開始までの準備が重い。</a:t>
            </a:r>
          </a:p>
        </p:txBody>
      </p:sp>
      <p:sp>
        <p:nvSpPr>
          <p:cNvPr id="13" name="signal">
            <a:extLst xmlns:a="http://schemas.openxmlformats.org/drawingml/2006/main">
              <a:ext uri="{FF2B5EF4-FFF2-40B4-BE49-F238E27FC236}">
                <a16:creationId xmlns:a16="http://schemas.microsoft.com/office/drawing/2014/main" id="{E96AAAF7-66C0-47D6-AA61-3C9E540BE516}"/>
              </a:ext>
            </a:extLst>
          </p:cNvPr>
          <p:cNvSpPr>
            <a:spLocks xmlns:a="http://schemas.openxmlformats.org/drawingml/2006/main" noGrp="1"/>
          </p:cNvSpPr>
          <p:nvPr/>
        </p:nvSpPr>
        <p:spPr>
          <a:xfrm xmlns:a="http://schemas.openxmlformats.org/drawingml/2006/main">
            <a:off x="866775" y="4333875"/>
            <a:ext cx="77343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展示・開発の広がり：図面検索・見積、加工工程の予測、経路生成、</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制御設計に複数社のAI提案が見られる。</a:t>
            </a:r>
          </a:p>
        </p:txBody>
      </p:sp>
      <p:sp>
        <p:nvSpPr>
          <p:cNvPr id="14" name="approach">
            <a:extLst xmlns:a="http://schemas.openxmlformats.org/drawingml/2006/main">
              <a:ext uri="{FF2B5EF4-FFF2-40B4-BE49-F238E27FC236}">
                <a16:creationId xmlns:a16="http://schemas.microsoft.com/office/drawing/2014/main" id="{2EE8B267-78E8-4762-B072-97AE8F2F2C18}"/>
              </a:ext>
            </a:extLst>
          </p:cNvPr>
          <p:cNvSpPr>
            <a:spLocks xmlns:a="http://schemas.openxmlformats.org/drawingml/2006/main" noGrp="1"/>
          </p:cNvSpPr>
          <p:nvPr/>
        </p:nvSpPr>
        <p:spPr>
          <a:xfrm xmlns:a="http://schemas.openxmlformats.org/drawingml/2006/main">
            <a:off x="9648825" y="2905125"/>
            <a:ext cx="773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82D43"/>
                </a:solidFill>
                <a:latin typeface="Noto Sans JP"/>
                <a:ea typeface="Noto Sans JP"/>
                <a:cs typeface="Noto Sans JP"/>
              </a:defRPr>
            </a:defPPr>
          </a:lstStyle>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図面の意図と類似工程を検索し、設備・工具・保持の制約</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下で工程案を作成。既存CAMと加工検証へ渡し、人の修正</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を次回へ反映する。</a:t>
            </a:r>
          </a:p>
        </p:txBody>
      </p:sp>
      <p:sp>
        <p:nvSpPr>
          <p:cNvPr id="15" name="metric">
            <a:extLst xmlns:a="http://schemas.openxmlformats.org/drawingml/2006/main">
              <a:ext uri="{FF2B5EF4-FFF2-40B4-BE49-F238E27FC236}">
                <a16:creationId xmlns:a16="http://schemas.microsoft.com/office/drawing/2014/main" id="{5BD0D0A4-6BE2-4163-BC12-C7E028F4B8DC}"/>
              </a:ext>
            </a:extLst>
          </p:cNvPr>
          <p:cNvSpPr>
            <a:spLocks xmlns:a="http://schemas.openxmlformats.org/drawingml/2006/main" noGrp="1"/>
          </p:cNvSpPr>
          <p:nvPr/>
        </p:nvSpPr>
        <p:spPr>
          <a:xfrm xmlns:a="http://schemas.openxmlformats.org/drawingml/2006/main">
            <a:off x="9648825" y="5257800"/>
            <a:ext cx="7734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225B92"/>
                </a:solidFill>
                <a:latin typeface="Noto Sans JP"/>
                <a:ea typeface="Noto Sans JP"/>
                <a:cs typeface="Noto Sans JP"/>
              </a:defRPr>
            </a:defPPr>
          </a:lstStyle>
          <a:p xmlns:a="http://schemas.openxmlformats.org/drawingml/2006/main">
            <a:pPr>
              <a:defRPr sz="1800" b="0">
                <a:solidFill>
                  <a:srgbClr val="225B92"/>
                </a:solidFill>
                <a:latin typeface="Noto Sans JP"/>
                <a:ea typeface="Noto Sans JP"/>
                <a:cs typeface="Noto Sans JP"/>
              </a:defRPr>
            </a:pPr>
            <a:r>
              <a:rPr sz="1800" b="0">
                <a:solidFill>
                  <a:srgbClr val="225B92"/>
                </a:solidFill>
                <a:latin typeface="Noto Sans JP"/>
                <a:ea typeface="Noto Sans JP"/>
                <a:cs typeface="Noto Sans JP"/>
              </a:rPr>
              <a:t>評価：準備時間、専門家による修正量、初品の手戻り</a:t>
            </a:r>
          </a:p>
        </p:txBody>
      </p:sp>
      <p:sp>
        <p:nvSpPr>
          <p:cNvPr id="16" name="position">
            <a:extLst xmlns:a="http://schemas.openxmlformats.org/drawingml/2006/main">
              <a:ext uri="{FF2B5EF4-FFF2-40B4-BE49-F238E27FC236}">
                <a16:creationId xmlns:a16="http://schemas.microsoft.com/office/drawing/2014/main" id="{ABB202FE-F1BB-4830-8640-40B5907664E4}"/>
              </a:ext>
            </a:extLst>
          </p:cNvPr>
          <p:cNvSpPr>
            <a:spLocks xmlns:a="http://schemas.openxmlformats.org/drawingml/2006/main" noGrp="1"/>
          </p:cNvSpPr>
          <p:nvPr/>
        </p:nvSpPr>
        <p:spPr>
          <a:xfrm xmlns:a="http://schemas.openxmlformats.org/drawingml/2006/main">
            <a:off x="866775" y="6991350"/>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82D43"/>
                </a:solidFill>
                <a:latin typeface="Noto Sans JP"/>
                <a:ea typeface="Noto Sans JP"/>
                <a:cs typeface="Noto Sans JP"/>
              </a:defRPr>
            </a:defPPr>
          </a:lstStyle>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生成AI・検索・CAM連携を使う開発への追随を候補にする。汎用モ</a:t>
            </a:r>
          </a:p>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デルそのものの開発を前提にしない。</a:t>
            </a:r>
          </a:p>
        </p:txBody>
      </p:sp>
      <p:sp>
        <p:nvSpPr>
          <p:cNvPr id="17" name="existing">
            <a:extLst xmlns:a="http://schemas.openxmlformats.org/drawingml/2006/main">
              <a:ext uri="{FF2B5EF4-FFF2-40B4-BE49-F238E27FC236}">
                <a16:creationId xmlns:a16="http://schemas.microsoft.com/office/drawing/2014/main" id="{A06BF401-B788-4EEB-B134-C0C121A1D97C}"/>
              </a:ext>
            </a:extLst>
          </p:cNvPr>
          <p:cNvSpPr>
            <a:spLocks xmlns:a="http://schemas.openxmlformats.org/drawingml/2006/main" noGrp="1"/>
          </p:cNvSpPr>
          <p:nvPr/>
        </p:nvSpPr>
        <p:spPr>
          <a:xfrm xmlns:a="http://schemas.openxmlformats.org/drawingml/2006/main">
            <a:off x="866775" y="8334375"/>
            <a:ext cx="7734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AI CAMには生成案の編集・加工性評価がある。機種・工具の整合確認も既</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存製品の範囲を調べる。</a:t>
            </a:r>
          </a:p>
        </p:txBody>
      </p:sp>
      <p:sp>
        <p:nvSpPr>
          <p:cNvPr id="18" name="hypothesis">
            <a:extLst xmlns:a="http://schemas.openxmlformats.org/drawingml/2006/main">
              <a:ext uri="{FF2B5EF4-FFF2-40B4-BE49-F238E27FC236}">
                <a16:creationId xmlns:a16="http://schemas.microsoft.com/office/drawing/2014/main" id="{FD4CAE06-2D28-4455-93CD-6CA1A096BE99}"/>
              </a:ext>
            </a:extLst>
          </p:cNvPr>
          <p:cNvSpPr>
            <a:spLocks xmlns:a="http://schemas.openxmlformats.org/drawingml/2006/main" noGrp="1"/>
          </p:cNvSpPr>
          <p:nvPr/>
        </p:nvSpPr>
        <p:spPr>
          <a:xfrm xmlns:a="http://schemas.openxmlformats.org/drawingml/2006/main">
            <a:off x="9648825" y="6991350"/>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82D43"/>
                </a:solidFill>
                <a:latin typeface="Noto Sans JP"/>
                <a:ea typeface="Noto Sans JP"/>
                <a:cs typeface="Noto Sans JP"/>
              </a:defRPr>
            </a:defPPr>
          </a:lstStyle>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図面・工具・保持・加工履歴を関連づけ、特定の加工工程に使える</a:t>
            </a:r>
          </a:p>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案へ落とす部分に差別化の余地がある可能性。</a:t>
            </a:r>
          </a:p>
        </p:txBody>
      </p:sp>
      <p:sp>
        <p:nvSpPr>
          <p:cNvPr id="19" name="decision">
            <a:extLst xmlns:a="http://schemas.openxmlformats.org/drawingml/2006/main">
              <a:ext uri="{FF2B5EF4-FFF2-40B4-BE49-F238E27FC236}">
                <a16:creationId xmlns:a16="http://schemas.microsoft.com/office/drawing/2014/main" id="{718F676A-1B08-419E-86C9-45156FE47D02}"/>
              </a:ext>
            </a:extLst>
          </p:cNvPr>
          <p:cNvSpPr>
            <a:spLocks xmlns:a="http://schemas.openxmlformats.org/drawingml/2006/main" noGrp="1"/>
          </p:cNvSpPr>
          <p:nvPr/>
        </p:nvSpPr>
        <p:spPr>
          <a:xfrm xmlns:a="http://schemas.openxmlformats.org/drawingml/2006/main">
            <a:off x="9648825" y="8334375"/>
            <a:ext cx="7734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182D43"/>
                </a:solidFill>
                <a:latin typeface="Noto Sans JP"/>
                <a:ea typeface="Noto Sans JP"/>
                <a:cs typeface="Noto Sans JP"/>
              </a:defRPr>
            </a:defPPr>
          </a:lstStyle>
          <a:p xmlns:a="http://schemas.openxmlformats.org/drawingml/2006/main">
            <a:pPr>
              <a:defRPr sz="1725" b="0">
                <a:solidFill>
                  <a:srgbClr val="182D43"/>
                </a:solidFill>
                <a:latin typeface="Noto Sans JP"/>
                <a:ea typeface="Noto Sans JP"/>
                <a:cs typeface="Noto Sans JP"/>
              </a:defRPr>
            </a:pPr>
            <a:r>
              <a:rPr sz="1725" b="0">
                <a:solidFill>
                  <a:srgbClr val="182D43"/>
                </a:solidFill>
                <a:latin typeface="Noto Sans JP"/>
                <a:ea typeface="Noto Sans JP"/>
                <a:cs typeface="Noto Sans JP"/>
              </a:rPr>
              <a:t>対象部品群と利用可能な履歴を絞り、既存製品だけの運用と総準備時間・</a:t>
            </a:r>
          </a:p>
          <a:p xmlns:a="http://schemas.openxmlformats.org/drawingml/2006/main">
            <a:pPr>
              <a:defRPr sz="1725" b="0">
                <a:solidFill>
                  <a:srgbClr val="182D43"/>
                </a:solidFill>
                <a:latin typeface="Noto Sans JP"/>
                <a:ea typeface="Noto Sans JP"/>
                <a:cs typeface="Noto Sans JP"/>
              </a:defRPr>
            </a:pPr>
            <a:r>
              <a:rPr sz="1725" b="0">
                <a:solidFill>
                  <a:srgbClr val="182D43"/>
                </a:solidFill>
                <a:latin typeface="Noto Sans JP"/>
                <a:ea typeface="Noto Sans JP"/>
                <a:cs typeface="Noto Sans JP"/>
              </a:rPr>
              <a:t>修正量で比較する。市場の空白は未確認。</a:t>
            </a:r>
          </a:p>
        </p:txBody>
      </p:sp>
      <p:sp>
        <p:nvSpPr>
          <p:cNvPr id="20" name="foot">
            <a:extLst xmlns:a="http://schemas.openxmlformats.org/drawingml/2006/main">
              <a:ext uri="{FF2B5EF4-FFF2-40B4-BE49-F238E27FC236}">
                <a16:creationId xmlns:a16="http://schemas.microsoft.com/office/drawing/2014/main" id="{56FAF5B9-C5E9-425C-8199-D4951C5E8D39}"/>
              </a:ext>
            </a:extLst>
          </p:cNvPr>
          <p:cNvSpPr>
            <a:spLocks xmlns:a="http://schemas.openxmlformats.org/drawingml/2006/main" noGrp="1"/>
          </p:cNvSpPr>
          <p:nvPr/>
        </p:nvSpPr>
        <p:spPr>
          <a:xfrm xmlns:a="http://schemas.openxmlformats.org/drawingml/2006/main">
            <a:off x="628650" y="9810750"/>
            <a:ext cx="1571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637286"/>
                </a:solidFill>
                <a:latin typeface="Noto Sans JP"/>
                <a:ea typeface="Noto Sans JP"/>
                <a:cs typeface="Noto Sans JP"/>
              </a:defRPr>
            </a:defPPr>
          </a:lstStyle>
          <a:p xmlns:a="http://schemas.openxmlformats.org/drawingml/2006/main">
            <a:pPr>
              <a:defRPr sz="1350" b="0">
                <a:solidFill>
                  <a:srgbClr val="637286"/>
                </a:solidFill>
                <a:latin typeface="Noto Sans JP"/>
                <a:ea typeface="Noto Sans JP"/>
                <a:cs typeface="Noto Sans JP"/>
              </a:defRPr>
            </a:pPr>
            <a:r>
              <a:rPr sz="1350" b="0">
                <a:solidFill>
                  <a:srgbClr val="637286"/>
                </a:solidFill>
                <a:latin typeface="Noto Sans JP"/>
                <a:ea typeface="Noto Sans JP"/>
                <a:cs typeface="Noto Sans JP"/>
              </a:rPr>
              <a:t>根拠となる仕事：図面検索・見積作成、工程・CAMプログラムの作成、PLC・HMI・電気設計の支援、AIモデル作成・機器接続の基盤</a:t>
            </a:r>
          </a:p>
        </p:txBody>
      </p:sp>
    </p:spTree>
    <p:extLst>
      <p:ext uri="{BB962C8B-B14F-4D97-AF65-F5344CB8AC3E}">
        <p14:creationId xmlns:p14="http://schemas.microsoft.com/office/powerpoint/2010/main" val="791885340"/>
      </p:ext>
    </p:extLst>
  </p:cSld>
</p:sld>
</file>

<file path=ppt/slides/slide11.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E2CD039F-CA37-4790-9C2B-08DC2CF74F38}"/>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品質と工具状態を見ながら調整する自律加工</a:t>
            </a:r>
          </a:p>
        </p:txBody>
      </p:sp>
      <p:sp>
        <p:nvSpPr>
          <p:cNvPr id="2" name="sub">
            <a:extLst xmlns:a="http://schemas.openxmlformats.org/drawingml/2006/main">
              <a:ext uri="{FF2B5EF4-FFF2-40B4-BE49-F238E27FC236}">
                <a16:creationId xmlns:a16="http://schemas.microsoft.com/office/drawing/2014/main" id="{2F9D64AD-444E-4F58-B314-6DAA3900F191}"/>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技術動向から考える開発候補。立ち位置と開発余地は分析・仮説で、市場の空白や優位性の証明ではない。</a:t>
            </a:r>
          </a:p>
        </p:txBody>
      </p:sp>
      <p:sp>
        <p:nvSpPr>
          <p:cNvPr id="3" name="page">
            <a:extLst xmlns:a="http://schemas.openxmlformats.org/drawingml/2006/main">
              <a:ext uri="{FF2B5EF4-FFF2-40B4-BE49-F238E27FC236}">
                <a16:creationId xmlns:a16="http://schemas.microsoft.com/office/drawing/2014/main" id="{58B6F920-9228-4C0A-9DBE-207DCD38D093}"/>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11</a:t>
            </a:r>
          </a:p>
        </p:txBody>
      </p:sp>
      <p:sp>
        <p:nvSpPr>
          <p:cNvPr id="4" name="block-0">
            <a:extLst xmlns:a="http://schemas.openxmlformats.org/drawingml/2006/main">
              <a:ext uri="{FF2B5EF4-FFF2-40B4-BE49-F238E27FC236}">
                <a16:creationId xmlns:a16="http://schemas.microsoft.com/office/drawing/2014/main" id="{589F2CFE-E69D-4FC2-AFFF-1A9A6D801E18}"/>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h-0">
            <a:extLst xmlns:a="http://schemas.openxmlformats.org/drawingml/2006/main">
              <a:ext uri="{FF2B5EF4-FFF2-40B4-BE49-F238E27FC236}">
                <a16:creationId xmlns:a16="http://schemas.microsoft.com/office/drawing/2014/main" id="{D692ED27-2FBE-4307-8D66-126F61BE6106}"/>
              </a:ext>
            </a:extLst>
          </p:cNvPr>
          <p:cNvSpPr>
            <a:spLocks xmlns:a="http://schemas.openxmlformats.org/drawingml/2006/main" noGrp="1"/>
          </p:cNvSpPr>
          <p:nvPr/>
        </p:nvSpPr>
        <p:spPr>
          <a:xfrm xmlns:a="http://schemas.openxmlformats.org/drawingml/2006/main">
            <a:off x="847725" y="237172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なぜ、この分野を候補にするか</a:t>
            </a:r>
          </a:p>
        </p:txBody>
      </p:sp>
      <p:sp>
        <p:nvSpPr>
          <p:cNvPr id="6" name="block-1">
            <a:extLst xmlns:a="http://schemas.openxmlformats.org/drawingml/2006/main">
              <a:ext uri="{FF2B5EF4-FFF2-40B4-BE49-F238E27FC236}">
                <a16:creationId xmlns:a16="http://schemas.microsoft.com/office/drawing/2014/main" id="{35A59504-AC52-42BB-BD55-075A4614D622}"/>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7" name="h-1">
            <a:extLst xmlns:a="http://schemas.openxmlformats.org/drawingml/2006/main">
              <a:ext uri="{FF2B5EF4-FFF2-40B4-BE49-F238E27FC236}">
                <a16:creationId xmlns:a16="http://schemas.microsoft.com/office/drawing/2014/main" id="{84051F8D-0BB0-4D97-B4FD-C6875E6A5636}"/>
              </a:ext>
            </a:extLst>
          </p:cNvPr>
          <p:cNvSpPr>
            <a:spLocks xmlns:a="http://schemas.openxmlformats.org/drawingml/2006/main" noGrp="1"/>
          </p:cNvSpPr>
          <p:nvPr/>
        </p:nvSpPr>
        <p:spPr>
          <a:xfrm xmlns:a="http://schemas.openxmlformats.org/drawingml/2006/main">
            <a:off x="9629775" y="237172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何を、どの技術で開発するか</a:t>
            </a:r>
          </a:p>
        </p:txBody>
      </p:sp>
      <p:sp>
        <p:nvSpPr>
          <p:cNvPr id="8" name="block-2">
            <a:extLst xmlns:a="http://schemas.openxmlformats.org/drawingml/2006/main">
              <a:ext uri="{FF2B5EF4-FFF2-40B4-BE49-F238E27FC236}">
                <a16:creationId xmlns:a16="http://schemas.microsoft.com/office/drawing/2014/main" id="{19B0E68E-1DF6-4B5C-9065-13C34033DEB3}"/>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9" name="h-2">
            <a:extLst xmlns:a="http://schemas.openxmlformats.org/drawingml/2006/main">
              <a:ext uri="{FF2B5EF4-FFF2-40B4-BE49-F238E27FC236}">
                <a16:creationId xmlns:a16="http://schemas.microsoft.com/office/drawing/2014/main" id="{3F91287D-2122-40A2-9651-766F49A855ED}"/>
              </a:ext>
            </a:extLst>
          </p:cNvPr>
          <p:cNvSpPr>
            <a:spLocks xmlns:a="http://schemas.openxmlformats.org/drawingml/2006/main" noGrp="1"/>
          </p:cNvSpPr>
          <p:nvPr/>
        </p:nvSpPr>
        <p:spPr>
          <a:xfrm xmlns:a="http://schemas.openxmlformats.org/drawingml/2006/main">
            <a:off x="847725" y="646747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既存技術と、狙う立ち位置</a:t>
            </a:r>
          </a:p>
        </p:txBody>
      </p:sp>
      <p:sp>
        <p:nvSpPr>
          <p:cNvPr id="10" name="block-3">
            <a:extLst xmlns:a="http://schemas.openxmlformats.org/drawingml/2006/main">
              <a:ext uri="{FF2B5EF4-FFF2-40B4-BE49-F238E27FC236}">
                <a16:creationId xmlns:a16="http://schemas.microsoft.com/office/drawing/2014/main" id="{03A649CD-E8AA-4BC2-BF98-3CD762DAFE98}"/>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3">
            <a:extLst xmlns:a="http://schemas.openxmlformats.org/drawingml/2006/main">
              <a:ext uri="{FF2B5EF4-FFF2-40B4-BE49-F238E27FC236}">
                <a16:creationId xmlns:a16="http://schemas.microsoft.com/office/drawing/2014/main" id="{1152F4AD-8E58-41E1-9BA1-C4D6D7C46630}"/>
              </a:ext>
            </a:extLst>
          </p:cNvPr>
          <p:cNvSpPr>
            <a:spLocks xmlns:a="http://schemas.openxmlformats.org/drawingml/2006/main" noGrp="1"/>
          </p:cNvSpPr>
          <p:nvPr/>
        </p:nvSpPr>
        <p:spPr>
          <a:xfrm xmlns:a="http://schemas.openxmlformats.org/drawingml/2006/main">
            <a:off x="9629775" y="646747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開発余地と着手の考え方</a:t>
            </a:r>
          </a:p>
        </p:txBody>
      </p:sp>
      <p:sp>
        <p:nvSpPr>
          <p:cNvPr id="12" name="need">
            <a:extLst xmlns:a="http://schemas.openxmlformats.org/drawingml/2006/main">
              <a:ext uri="{FF2B5EF4-FFF2-40B4-BE49-F238E27FC236}">
                <a16:creationId xmlns:a16="http://schemas.microsoft.com/office/drawing/2014/main" id="{0C2EC455-B6F2-4C54-96D5-FE22D3DEA0DA}"/>
              </a:ext>
            </a:extLst>
          </p:cNvPr>
          <p:cNvSpPr>
            <a:spLocks xmlns:a="http://schemas.openxmlformats.org/drawingml/2006/main" noGrp="1"/>
          </p:cNvSpPr>
          <p:nvPr/>
        </p:nvSpPr>
        <p:spPr>
          <a:xfrm xmlns:a="http://schemas.openxmlformats.org/drawingml/2006/main">
            <a:off x="866775" y="2905125"/>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82D43"/>
                </a:solidFill>
                <a:latin typeface="Noto Sans JP"/>
                <a:ea typeface="Noto Sans JP"/>
                <a:cs typeface="Noto Sans JP"/>
              </a:defRPr>
            </a:defPPr>
          </a:lstStyle>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加工条件の追込み、工具交換、品質確認が別作業で、人が経</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験から結び付けている。</a:t>
            </a:r>
          </a:p>
        </p:txBody>
      </p:sp>
      <p:sp>
        <p:nvSpPr>
          <p:cNvPr id="13" name="signal">
            <a:extLst xmlns:a="http://schemas.openxmlformats.org/drawingml/2006/main">
              <a:ext uri="{FF2B5EF4-FFF2-40B4-BE49-F238E27FC236}">
                <a16:creationId xmlns:a16="http://schemas.microsoft.com/office/drawing/2014/main" id="{9FB27D4D-D469-49DA-9529-BCC8797DE695}"/>
              </a:ext>
            </a:extLst>
          </p:cNvPr>
          <p:cNvSpPr>
            <a:spLocks xmlns:a="http://schemas.openxmlformats.org/drawingml/2006/main" noGrp="1"/>
          </p:cNvSpPr>
          <p:nvPr/>
        </p:nvSpPr>
        <p:spPr>
          <a:xfrm xmlns:a="http://schemas.openxmlformats.org/drawingml/2006/main">
            <a:off x="866775" y="4333875"/>
            <a:ext cx="77343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展示・開発の広がり：負荷適応、機上計測、補正、摩耗診断、寿命</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提案が並存する。計測と補正加工を組み合わせる展示も見られる。</a:t>
            </a:r>
          </a:p>
        </p:txBody>
      </p:sp>
      <p:sp>
        <p:nvSpPr>
          <p:cNvPr id="14" name="approach">
            <a:extLst xmlns:a="http://schemas.openxmlformats.org/drawingml/2006/main">
              <a:ext uri="{FF2B5EF4-FFF2-40B4-BE49-F238E27FC236}">
                <a16:creationId xmlns:a16="http://schemas.microsoft.com/office/drawing/2014/main" id="{F347D83C-2C58-412E-A1FC-3CB63ABAB477}"/>
              </a:ext>
            </a:extLst>
          </p:cNvPr>
          <p:cNvSpPr>
            <a:spLocks xmlns:a="http://schemas.openxmlformats.org/drawingml/2006/main" noGrp="1"/>
          </p:cNvSpPr>
          <p:nvPr/>
        </p:nvSpPr>
        <p:spPr>
          <a:xfrm xmlns:a="http://schemas.openxmlformats.org/drawingml/2006/main">
            <a:off x="9648825" y="2905125"/>
            <a:ext cx="773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82D43"/>
                </a:solidFill>
                <a:latin typeface="Noto Sans JP"/>
                <a:ea typeface="Noto Sans JP"/>
                <a:cs typeface="Noto Sans JP"/>
              </a:defRPr>
            </a:defPPr>
          </a:lstStyle>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切削予測と加工中の信号、工具画像・寸法計測を照合し、</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送り・補正量・交換の候補を決める。まず一つの加工法に</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限定する。</a:t>
            </a:r>
          </a:p>
        </p:txBody>
      </p:sp>
      <p:sp>
        <p:nvSpPr>
          <p:cNvPr id="15" name="metric">
            <a:extLst xmlns:a="http://schemas.openxmlformats.org/drawingml/2006/main">
              <a:ext uri="{FF2B5EF4-FFF2-40B4-BE49-F238E27FC236}">
                <a16:creationId xmlns:a16="http://schemas.microsoft.com/office/drawing/2014/main" id="{6BB27F4D-4742-45EF-88E4-A826475B2916}"/>
              </a:ext>
            </a:extLst>
          </p:cNvPr>
          <p:cNvSpPr>
            <a:spLocks xmlns:a="http://schemas.openxmlformats.org/drawingml/2006/main" noGrp="1"/>
          </p:cNvSpPr>
          <p:nvPr/>
        </p:nvSpPr>
        <p:spPr>
          <a:xfrm xmlns:a="http://schemas.openxmlformats.org/drawingml/2006/main">
            <a:off x="9648825" y="5257800"/>
            <a:ext cx="7734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225B92"/>
                </a:solidFill>
                <a:latin typeface="Noto Sans JP"/>
                <a:ea typeface="Noto Sans JP"/>
                <a:cs typeface="Noto Sans JP"/>
              </a:defRPr>
            </a:defPPr>
          </a:lstStyle>
          <a:p xmlns:a="http://schemas.openxmlformats.org/drawingml/2006/main">
            <a:pPr>
              <a:defRPr sz="1800" b="0">
                <a:solidFill>
                  <a:srgbClr val="225B92"/>
                </a:solidFill>
                <a:latin typeface="Noto Sans JP"/>
                <a:ea typeface="Noto Sans JP"/>
                <a:cs typeface="Noto Sans JP"/>
              </a:defRPr>
            </a:pPr>
            <a:r>
              <a:rPr sz="1800" b="0">
                <a:solidFill>
                  <a:srgbClr val="225B92"/>
                </a:solidFill>
                <a:latin typeface="Noto Sans JP"/>
                <a:ea typeface="Noto Sans JP"/>
                <a:cs typeface="Noto Sans JP"/>
              </a:rPr>
              <a:t>評価：初品・継続加工の品質、工具利用量、加工時間、条件変更時の</a:t>
            </a:r>
          </a:p>
          <a:p xmlns:a="http://schemas.openxmlformats.org/drawingml/2006/main">
            <a:pPr>
              <a:defRPr sz="1800" b="0">
                <a:solidFill>
                  <a:srgbClr val="225B92"/>
                </a:solidFill>
                <a:latin typeface="Noto Sans JP"/>
                <a:ea typeface="Noto Sans JP"/>
                <a:cs typeface="Noto Sans JP"/>
              </a:defRPr>
            </a:pPr>
            <a:r>
              <a:rPr sz="1800" b="0">
                <a:solidFill>
                  <a:srgbClr val="225B92"/>
                </a:solidFill>
                <a:latin typeface="Noto Sans JP"/>
                <a:ea typeface="Noto Sans JP"/>
                <a:cs typeface="Noto Sans JP"/>
              </a:rPr>
              <a:t>再調整工数</a:t>
            </a:r>
          </a:p>
        </p:txBody>
      </p:sp>
      <p:sp>
        <p:nvSpPr>
          <p:cNvPr id="16" name="position">
            <a:extLst xmlns:a="http://schemas.openxmlformats.org/drawingml/2006/main">
              <a:ext uri="{FF2B5EF4-FFF2-40B4-BE49-F238E27FC236}">
                <a16:creationId xmlns:a16="http://schemas.microsoft.com/office/drawing/2014/main" id="{10250182-6C7F-4CFA-B316-6AF639DD6955}"/>
              </a:ext>
            </a:extLst>
          </p:cNvPr>
          <p:cNvSpPr>
            <a:spLocks xmlns:a="http://schemas.openxmlformats.org/drawingml/2006/main" noGrp="1"/>
          </p:cNvSpPr>
          <p:nvPr/>
        </p:nvSpPr>
        <p:spPr>
          <a:xfrm xmlns:a="http://schemas.openxmlformats.org/drawingml/2006/main">
            <a:off x="866775" y="6991350"/>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82D43"/>
                </a:solidFill>
                <a:latin typeface="Noto Sans JP"/>
                <a:ea typeface="Noto Sans JP"/>
                <a:cs typeface="Noto Sans JP"/>
              </a:defRPr>
            </a:defPPr>
          </a:lstStyle>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物理モデル・計測・状態推定を組み合わせる工程AIを候補にする。</a:t>
            </a:r>
          </a:p>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精度と工具費・加工時間を同時に扱う立ち位置を検討する。</a:t>
            </a:r>
          </a:p>
        </p:txBody>
      </p:sp>
      <p:sp>
        <p:nvSpPr>
          <p:cNvPr id="17" name="existing">
            <a:extLst xmlns:a="http://schemas.openxmlformats.org/drawingml/2006/main">
              <a:ext uri="{FF2B5EF4-FFF2-40B4-BE49-F238E27FC236}">
                <a16:creationId xmlns:a16="http://schemas.microsoft.com/office/drawing/2014/main" id="{63DC5B6A-9918-4661-AF85-CA90C81E50BA}"/>
              </a:ext>
            </a:extLst>
          </p:cNvPr>
          <p:cNvSpPr>
            <a:spLocks xmlns:a="http://schemas.openxmlformats.org/drawingml/2006/main" noGrp="1"/>
          </p:cNvSpPr>
          <p:nvPr/>
        </p:nvSpPr>
        <p:spPr>
          <a:xfrm xmlns:a="http://schemas.openxmlformats.org/drawingml/2006/main">
            <a:off x="866775" y="8334375"/>
            <a:ext cx="7734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適応制御、熱補正、IPC、摩耗判定は既存技術。統合済みの製品・サービス</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との重複は未確認。</a:t>
            </a:r>
          </a:p>
        </p:txBody>
      </p:sp>
      <p:sp>
        <p:nvSpPr>
          <p:cNvPr id="18" name="hypothesis">
            <a:extLst xmlns:a="http://schemas.openxmlformats.org/drawingml/2006/main">
              <a:ext uri="{FF2B5EF4-FFF2-40B4-BE49-F238E27FC236}">
                <a16:creationId xmlns:a16="http://schemas.microsoft.com/office/drawing/2014/main" id="{0793523C-A01F-4ED2-9AB7-2B52BDCC704C}"/>
              </a:ext>
            </a:extLst>
          </p:cNvPr>
          <p:cNvSpPr>
            <a:spLocks xmlns:a="http://schemas.openxmlformats.org/drawingml/2006/main" noGrp="1"/>
          </p:cNvSpPr>
          <p:nvPr/>
        </p:nvSpPr>
        <p:spPr>
          <a:xfrm xmlns:a="http://schemas.openxmlformats.org/drawingml/2006/main">
            <a:off x="9648825" y="6991350"/>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82D43"/>
                </a:solidFill>
                <a:latin typeface="Noto Sans JP"/>
                <a:ea typeface="Noto Sans JP"/>
                <a:cs typeface="Noto Sans JP"/>
              </a:defRPr>
            </a:defPPr>
          </a:lstStyle>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条件や工具が変わる多品種加工で、加工継続・条件変更・交換を一</a:t>
            </a:r>
          </a:p>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つの工程判断にする部分に開発余地がある可能性。</a:t>
            </a:r>
          </a:p>
        </p:txBody>
      </p:sp>
      <p:sp>
        <p:nvSpPr>
          <p:cNvPr id="19" name="decision">
            <a:extLst xmlns:a="http://schemas.openxmlformats.org/drawingml/2006/main">
              <a:ext uri="{FF2B5EF4-FFF2-40B4-BE49-F238E27FC236}">
                <a16:creationId xmlns:a16="http://schemas.microsoft.com/office/drawing/2014/main" id="{8318183E-1BFE-4AB4-9C4E-5402F1F8C108}"/>
              </a:ext>
            </a:extLst>
          </p:cNvPr>
          <p:cNvSpPr>
            <a:spLocks xmlns:a="http://schemas.openxmlformats.org/drawingml/2006/main" noGrp="1"/>
          </p:cNvSpPr>
          <p:nvPr/>
        </p:nvSpPr>
        <p:spPr>
          <a:xfrm xmlns:a="http://schemas.openxmlformats.org/drawingml/2006/main">
            <a:off x="9648825" y="8334375"/>
            <a:ext cx="7734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182D43"/>
                </a:solidFill>
                <a:latin typeface="Noto Sans JP"/>
                <a:ea typeface="Noto Sans JP"/>
                <a:cs typeface="Noto Sans JP"/>
              </a:defRPr>
            </a:defPPr>
          </a:lstStyle>
          <a:p xmlns:a="http://schemas.openxmlformats.org/drawingml/2006/main">
            <a:pPr>
              <a:defRPr sz="1725" b="0">
                <a:solidFill>
                  <a:srgbClr val="182D43"/>
                </a:solidFill>
                <a:latin typeface="Noto Sans JP"/>
                <a:ea typeface="Noto Sans JP"/>
                <a:cs typeface="Noto Sans JP"/>
              </a:defRPr>
            </a:pPr>
            <a:r>
              <a:rPr sz="1725" b="0">
                <a:solidFill>
                  <a:srgbClr val="182D43"/>
                </a:solidFill>
                <a:latin typeface="Noto Sans JP"/>
                <a:ea typeface="Noto Sans JP"/>
                <a:cs typeface="Noto Sans JP"/>
              </a:rPr>
              <a:t>同じ品質条件で、個別機能の適用と連携方式を比較。材料・工具変更時の</a:t>
            </a:r>
          </a:p>
          <a:p xmlns:a="http://schemas.openxmlformats.org/drawingml/2006/main">
            <a:pPr>
              <a:defRPr sz="1725" b="0">
                <a:solidFill>
                  <a:srgbClr val="182D43"/>
                </a:solidFill>
                <a:latin typeface="Noto Sans JP"/>
                <a:ea typeface="Noto Sans JP"/>
                <a:cs typeface="Noto Sans JP"/>
              </a:defRPr>
            </a:pPr>
            <a:r>
              <a:rPr sz="1725" b="0">
                <a:solidFill>
                  <a:srgbClr val="182D43"/>
                </a:solidFill>
                <a:latin typeface="Noto Sans JP"/>
                <a:ea typeface="Noto Sans JP"/>
                <a:cs typeface="Noto Sans JP"/>
              </a:rPr>
              <a:t>手間と初品品質を確認し、必要な連携範囲を決める。</a:t>
            </a:r>
          </a:p>
        </p:txBody>
      </p:sp>
      <p:sp>
        <p:nvSpPr>
          <p:cNvPr id="20" name="foot">
            <a:extLst xmlns:a="http://schemas.openxmlformats.org/drawingml/2006/main">
              <a:ext uri="{FF2B5EF4-FFF2-40B4-BE49-F238E27FC236}">
                <a16:creationId xmlns:a16="http://schemas.microsoft.com/office/drawing/2014/main" id="{E390BE82-5F1F-4F43-B368-0C28E7EEE0C3}"/>
              </a:ext>
            </a:extLst>
          </p:cNvPr>
          <p:cNvSpPr>
            <a:spLocks xmlns:a="http://schemas.openxmlformats.org/drawingml/2006/main" noGrp="1"/>
          </p:cNvSpPr>
          <p:nvPr/>
        </p:nvSpPr>
        <p:spPr>
          <a:xfrm xmlns:a="http://schemas.openxmlformats.org/drawingml/2006/main">
            <a:off x="628650" y="9810750"/>
            <a:ext cx="1571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637286"/>
                </a:solidFill>
                <a:latin typeface="Noto Sans JP"/>
                <a:ea typeface="Noto Sans JP"/>
                <a:cs typeface="Noto Sans JP"/>
              </a:defRPr>
            </a:defPPr>
          </a:lstStyle>
          <a:p xmlns:a="http://schemas.openxmlformats.org/drawingml/2006/main">
            <a:pPr>
              <a:defRPr sz="1350" b="0">
                <a:solidFill>
                  <a:srgbClr val="637286"/>
                </a:solidFill>
                <a:latin typeface="Noto Sans JP"/>
                <a:ea typeface="Noto Sans JP"/>
                <a:cs typeface="Noto Sans JP"/>
              </a:defRPr>
            </a:pPr>
            <a:r>
              <a:rPr sz="1350" b="0">
                <a:solidFill>
                  <a:srgbClr val="637286"/>
                </a:solidFill>
                <a:latin typeface="Noto Sans JP"/>
                <a:ea typeface="Noto Sans JP"/>
                <a:cs typeface="Noto Sans JP"/>
              </a:rPr>
              <a:t>根拠となる仕事：NC送り最適化・加工中の適応制御、熱変位補正・びびり抑制、計測から加工へのフィードバック、外観検査・撮像と追加学習、工具摩耗の判定・交換判断、設備・刃具の異常検知と保全</a:t>
            </a:r>
          </a:p>
        </p:txBody>
      </p:sp>
    </p:spTree>
    <p:extLst>
      <p:ext uri="{BB962C8B-B14F-4D97-AF65-F5344CB8AC3E}">
        <p14:creationId xmlns:p14="http://schemas.microsoft.com/office/powerpoint/2010/main" val="1275079139"/>
      </p:ext>
    </p:extLst>
  </p:cSld>
</p:sld>
</file>

<file path=ppt/slides/slide12.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24D7B5CC-C70A-4329-A568-F919FDF09BC8}"/>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多品種の付帯作業を担うフィジカルAI</a:t>
            </a:r>
          </a:p>
        </p:txBody>
      </p:sp>
      <p:sp>
        <p:nvSpPr>
          <p:cNvPr id="2" name="sub">
            <a:extLst xmlns:a="http://schemas.openxmlformats.org/drawingml/2006/main">
              <a:ext uri="{FF2B5EF4-FFF2-40B4-BE49-F238E27FC236}">
                <a16:creationId xmlns:a16="http://schemas.microsoft.com/office/drawing/2014/main" id="{6C5B520B-FC85-42C0-921B-1F13BAE61ADD}"/>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技術動向から考える開発候補。立ち位置と開発余地は分析・仮説で、市場の空白や優位性の証明ではない。</a:t>
            </a:r>
          </a:p>
        </p:txBody>
      </p:sp>
      <p:sp>
        <p:nvSpPr>
          <p:cNvPr id="3" name="page">
            <a:extLst xmlns:a="http://schemas.openxmlformats.org/drawingml/2006/main">
              <a:ext uri="{FF2B5EF4-FFF2-40B4-BE49-F238E27FC236}">
                <a16:creationId xmlns:a16="http://schemas.microsoft.com/office/drawing/2014/main" id="{C9E82061-1961-455D-8D7C-1FDF06DD6DE3}"/>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12</a:t>
            </a:r>
          </a:p>
        </p:txBody>
      </p:sp>
      <p:sp>
        <p:nvSpPr>
          <p:cNvPr id="4" name="block-0">
            <a:extLst xmlns:a="http://schemas.openxmlformats.org/drawingml/2006/main">
              <a:ext uri="{FF2B5EF4-FFF2-40B4-BE49-F238E27FC236}">
                <a16:creationId xmlns:a16="http://schemas.microsoft.com/office/drawing/2014/main" id="{C4F87E9A-39DE-460F-9B3D-B27E08FAD7C6}"/>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h-0">
            <a:extLst xmlns:a="http://schemas.openxmlformats.org/drawingml/2006/main">
              <a:ext uri="{FF2B5EF4-FFF2-40B4-BE49-F238E27FC236}">
                <a16:creationId xmlns:a16="http://schemas.microsoft.com/office/drawing/2014/main" id="{5C579072-505A-40BD-98F4-7FED3394242B}"/>
              </a:ext>
            </a:extLst>
          </p:cNvPr>
          <p:cNvSpPr>
            <a:spLocks xmlns:a="http://schemas.openxmlformats.org/drawingml/2006/main" noGrp="1"/>
          </p:cNvSpPr>
          <p:nvPr/>
        </p:nvSpPr>
        <p:spPr>
          <a:xfrm xmlns:a="http://schemas.openxmlformats.org/drawingml/2006/main">
            <a:off x="847725" y="237172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なぜ、この分野を候補にするか</a:t>
            </a:r>
          </a:p>
        </p:txBody>
      </p:sp>
      <p:sp>
        <p:nvSpPr>
          <p:cNvPr id="6" name="block-1">
            <a:extLst xmlns:a="http://schemas.openxmlformats.org/drawingml/2006/main">
              <a:ext uri="{FF2B5EF4-FFF2-40B4-BE49-F238E27FC236}">
                <a16:creationId xmlns:a16="http://schemas.microsoft.com/office/drawing/2014/main" id="{A7C8C2AB-3273-4420-A00C-60C9F2FEDD82}"/>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7" name="h-1">
            <a:extLst xmlns:a="http://schemas.openxmlformats.org/drawingml/2006/main">
              <a:ext uri="{FF2B5EF4-FFF2-40B4-BE49-F238E27FC236}">
                <a16:creationId xmlns:a16="http://schemas.microsoft.com/office/drawing/2014/main" id="{C313D85E-E7E6-4955-ACCB-75E88688A9CF}"/>
              </a:ext>
            </a:extLst>
          </p:cNvPr>
          <p:cNvSpPr>
            <a:spLocks xmlns:a="http://schemas.openxmlformats.org/drawingml/2006/main" noGrp="1"/>
          </p:cNvSpPr>
          <p:nvPr/>
        </p:nvSpPr>
        <p:spPr>
          <a:xfrm xmlns:a="http://schemas.openxmlformats.org/drawingml/2006/main">
            <a:off x="9629775" y="237172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何を、どの技術で開発するか</a:t>
            </a:r>
          </a:p>
        </p:txBody>
      </p:sp>
      <p:sp>
        <p:nvSpPr>
          <p:cNvPr id="8" name="block-2">
            <a:extLst xmlns:a="http://schemas.openxmlformats.org/drawingml/2006/main">
              <a:ext uri="{FF2B5EF4-FFF2-40B4-BE49-F238E27FC236}">
                <a16:creationId xmlns:a16="http://schemas.microsoft.com/office/drawing/2014/main" id="{9277E138-60E0-4ADD-A3CE-43ACA4CE683E}"/>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9" name="h-2">
            <a:extLst xmlns:a="http://schemas.openxmlformats.org/drawingml/2006/main">
              <a:ext uri="{FF2B5EF4-FFF2-40B4-BE49-F238E27FC236}">
                <a16:creationId xmlns:a16="http://schemas.microsoft.com/office/drawing/2014/main" id="{0553382E-2955-41FF-BFFC-E8951F9FDBA3}"/>
              </a:ext>
            </a:extLst>
          </p:cNvPr>
          <p:cNvSpPr>
            <a:spLocks xmlns:a="http://schemas.openxmlformats.org/drawingml/2006/main" noGrp="1"/>
          </p:cNvSpPr>
          <p:nvPr/>
        </p:nvSpPr>
        <p:spPr>
          <a:xfrm xmlns:a="http://schemas.openxmlformats.org/drawingml/2006/main">
            <a:off x="847725" y="646747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既存技術と、狙う立ち位置</a:t>
            </a:r>
          </a:p>
        </p:txBody>
      </p:sp>
      <p:sp>
        <p:nvSpPr>
          <p:cNvPr id="10" name="block-3">
            <a:extLst xmlns:a="http://schemas.openxmlformats.org/drawingml/2006/main">
              <a:ext uri="{FF2B5EF4-FFF2-40B4-BE49-F238E27FC236}">
                <a16:creationId xmlns:a16="http://schemas.microsoft.com/office/drawing/2014/main" id="{4B8E484D-7545-4D91-9C39-40379E5D71BC}"/>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3">
            <a:extLst xmlns:a="http://schemas.openxmlformats.org/drawingml/2006/main">
              <a:ext uri="{FF2B5EF4-FFF2-40B4-BE49-F238E27FC236}">
                <a16:creationId xmlns:a16="http://schemas.microsoft.com/office/drawing/2014/main" id="{D825C051-EAFA-4D29-8975-C55EAED5B818}"/>
              </a:ext>
            </a:extLst>
          </p:cNvPr>
          <p:cNvSpPr>
            <a:spLocks xmlns:a="http://schemas.openxmlformats.org/drawingml/2006/main" noGrp="1"/>
          </p:cNvSpPr>
          <p:nvPr/>
        </p:nvSpPr>
        <p:spPr>
          <a:xfrm xmlns:a="http://schemas.openxmlformats.org/drawingml/2006/main">
            <a:off x="9629775" y="646747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開発余地と着手の考え方</a:t>
            </a:r>
          </a:p>
        </p:txBody>
      </p:sp>
      <p:sp>
        <p:nvSpPr>
          <p:cNvPr id="12" name="need">
            <a:extLst xmlns:a="http://schemas.openxmlformats.org/drawingml/2006/main">
              <a:ext uri="{FF2B5EF4-FFF2-40B4-BE49-F238E27FC236}">
                <a16:creationId xmlns:a16="http://schemas.microsoft.com/office/drawing/2014/main" id="{4C3C7D15-FAEE-4254-B5C2-60C57BCC2AFB}"/>
              </a:ext>
            </a:extLst>
          </p:cNvPr>
          <p:cNvSpPr>
            <a:spLocks xmlns:a="http://schemas.openxmlformats.org/drawingml/2006/main" noGrp="1"/>
          </p:cNvSpPr>
          <p:nvPr/>
        </p:nvSpPr>
        <p:spPr>
          <a:xfrm xmlns:a="http://schemas.openxmlformats.org/drawingml/2006/main">
            <a:off x="866775" y="2905125"/>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82D43"/>
                </a:solidFill>
                <a:latin typeface="Noto Sans JP"/>
                <a:ea typeface="Noto Sans JP"/>
                <a:cs typeface="Noto Sans JP"/>
              </a:defRPr>
            </a:defPPr>
          </a:lstStyle>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搬入出を自動化しても、切粉除去・バリ取り・段取り替えに</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人手が残り、品種変更で再教示が必要になる。</a:t>
            </a:r>
          </a:p>
        </p:txBody>
      </p:sp>
      <p:sp>
        <p:nvSpPr>
          <p:cNvPr id="13" name="signal">
            <a:extLst xmlns:a="http://schemas.openxmlformats.org/drawingml/2006/main">
              <a:ext uri="{FF2B5EF4-FFF2-40B4-BE49-F238E27FC236}">
                <a16:creationId xmlns:a16="http://schemas.microsoft.com/office/drawing/2014/main" id="{F875067C-552D-4979-9E37-B7A7A8C46987}"/>
              </a:ext>
            </a:extLst>
          </p:cNvPr>
          <p:cNvSpPr>
            <a:spLocks xmlns:a="http://schemas.openxmlformats.org/drawingml/2006/main" noGrp="1"/>
          </p:cNvSpPr>
          <p:nvPr/>
        </p:nvSpPr>
        <p:spPr>
          <a:xfrm xmlns:a="http://schemas.openxmlformats.org/drawingml/2006/main">
            <a:off x="866775" y="4333875"/>
            <a:ext cx="77343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展示・開発の広がり：切粉判断・除去、不定形形状からの加工軌道</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生成、交換機構や位置復旧の提案が見られる。参考出品も含む。</a:t>
            </a:r>
          </a:p>
        </p:txBody>
      </p:sp>
      <p:sp>
        <p:nvSpPr>
          <p:cNvPr id="14" name="approach">
            <a:extLst xmlns:a="http://schemas.openxmlformats.org/drawingml/2006/main">
              <a:ext uri="{FF2B5EF4-FFF2-40B4-BE49-F238E27FC236}">
                <a16:creationId xmlns:a16="http://schemas.microsoft.com/office/drawing/2014/main" id="{7C5A3902-16E6-4082-9471-9F5E3AF80E18}"/>
              </a:ext>
            </a:extLst>
          </p:cNvPr>
          <p:cNvSpPr>
            <a:spLocks xmlns:a="http://schemas.openxmlformats.org/drawingml/2006/main" noGrp="1"/>
          </p:cNvSpPr>
          <p:nvPr/>
        </p:nvSpPr>
        <p:spPr>
          <a:xfrm xmlns:a="http://schemas.openxmlformats.org/drawingml/2006/main">
            <a:off x="9648825" y="2905125"/>
            <a:ext cx="773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82D43"/>
                </a:solidFill>
                <a:latin typeface="Noto Sans JP"/>
                <a:ea typeface="Noto Sans JP"/>
                <a:cs typeface="Noto Sans JP"/>
              </a:defRPr>
            </a:defPPr>
          </a:lstStyle>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3D/画像認識と必要に応じた力・接触情報から作業位置・</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軌道を作り、交換可能な工具で実行。結果を見て再動作か</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人の介入を選ぶ。</a:t>
            </a:r>
          </a:p>
        </p:txBody>
      </p:sp>
      <p:sp>
        <p:nvSpPr>
          <p:cNvPr id="15" name="metric">
            <a:extLst xmlns:a="http://schemas.openxmlformats.org/drawingml/2006/main">
              <a:ext uri="{FF2B5EF4-FFF2-40B4-BE49-F238E27FC236}">
                <a16:creationId xmlns:a16="http://schemas.microsoft.com/office/drawing/2014/main" id="{F830991F-3307-4BB6-91DB-BC9D75F57B00}"/>
              </a:ext>
            </a:extLst>
          </p:cNvPr>
          <p:cNvSpPr>
            <a:spLocks xmlns:a="http://schemas.openxmlformats.org/drawingml/2006/main" noGrp="1"/>
          </p:cNvSpPr>
          <p:nvPr/>
        </p:nvSpPr>
        <p:spPr>
          <a:xfrm xmlns:a="http://schemas.openxmlformats.org/drawingml/2006/main">
            <a:off x="9648825" y="5257800"/>
            <a:ext cx="7734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225B92"/>
                </a:solidFill>
                <a:latin typeface="Noto Sans JP"/>
                <a:ea typeface="Noto Sans JP"/>
                <a:cs typeface="Noto Sans JP"/>
              </a:defRPr>
            </a:defPPr>
          </a:lstStyle>
          <a:p xmlns:a="http://schemas.openxmlformats.org/drawingml/2006/main">
            <a:pPr>
              <a:defRPr sz="1800" b="0">
                <a:solidFill>
                  <a:srgbClr val="225B92"/>
                </a:solidFill>
                <a:latin typeface="Noto Sans JP"/>
                <a:ea typeface="Noto Sans JP"/>
                <a:cs typeface="Noto Sans JP"/>
              </a:defRPr>
            </a:pPr>
            <a:r>
              <a:rPr sz="1800" b="0">
                <a:solidFill>
                  <a:srgbClr val="225B92"/>
                </a:solidFill>
                <a:latin typeface="Noto Sans JP"/>
                <a:ea typeface="Noto Sans JP"/>
                <a:cs typeface="Noto Sans JP"/>
              </a:rPr>
              <a:t>評価：作業完了率、品種変更時の教示時間、人の介入、タクト</a:t>
            </a:r>
          </a:p>
        </p:txBody>
      </p:sp>
      <p:sp>
        <p:nvSpPr>
          <p:cNvPr id="16" name="position">
            <a:extLst xmlns:a="http://schemas.openxmlformats.org/drawingml/2006/main">
              <a:ext uri="{FF2B5EF4-FFF2-40B4-BE49-F238E27FC236}">
                <a16:creationId xmlns:a16="http://schemas.microsoft.com/office/drawing/2014/main" id="{4B9EE5D1-489F-4CAC-9F6F-4D02B345CBBF}"/>
              </a:ext>
            </a:extLst>
          </p:cNvPr>
          <p:cNvSpPr>
            <a:spLocks xmlns:a="http://schemas.openxmlformats.org/drawingml/2006/main" noGrp="1"/>
          </p:cNvSpPr>
          <p:nvPr/>
        </p:nvSpPr>
        <p:spPr>
          <a:xfrm xmlns:a="http://schemas.openxmlformats.org/drawingml/2006/main">
            <a:off x="866775" y="6991350"/>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82D43"/>
                </a:solidFill>
                <a:latin typeface="Noto Sans JP"/>
                <a:ea typeface="Noto Sans JP"/>
                <a:cs typeface="Noto Sans JP"/>
              </a:defRPr>
            </a:defPPr>
          </a:lstStyle>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汎用人型ロボットへの追随に先立ち、作業を絞った認識・動作・工</a:t>
            </a:r>
          </a:p>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具機構の統合を候補にする。</a:t>
            </a:r>
          </a:p>
        </p:txBody>
      </p:sp>
      <p:sp>
        <p:nvSpPr>
          <p:cNvPr id="17" name="existing">
            <a:extLst xmlns:a="http://schemas.openxmlformats.org/drawingml/2006/main">
              <a:ext uri="{FF2B5EF4-FFF2-40B4-BE49-F238E27FC236}">
                <a16:creationId xmlns:a16="http://schemas.microsoft.com/office/drawing/2014/main" id="{20FBE553-E335-4E33-BA1E-41F19B2B5B79}"/>
              </a:ext>
            </a:extLst>
          </p:cNvPr>
          <p:cNvSpPr>
            <a:spLocks xmlns:a="http://schemas.openxmlformats.org/drawingml/2006/main" noGrp="1"/>
          </p:cNvSpPr>
          <p:nvPr/>
        </p:nvSpPr>
        <p:spPr>
          <a:xfrm xmlns:a="http://schemas.openxmlformats.org/drawingml/2006/main">
            <a:off x="866775" y="8334375"/>
            <a:ext cx="7734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3D認識、自動交換、バリ取り、位置復旧は既存。教示不要や対応形状の限</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界、提供段階を比較する。</a:t>
            </a:r>
          </a:p>
        </p:txBody>
      </p:sp>
      <p:sp>
        <p:nvSpPr>
          <p:cNvPr id="18" name="hypothesis">
            <a:extLst xmlns:a="http://schemas.openxmlformats.org/drawingml/2006/main">
              <a:ext uri="{FF2B5EF4-FFF2-40B4-BE49-F238E27FC236}">
                <a16:creationId xmlns:a16="http://schemas.microsoft.com/office/drawing/2014/main" id="{2CC39AC8-E686-43BE-8FF3-269435D4F44B}"/>
              </a:ext>
            </a:extLst>
          </p:cNvPr>
          <p:cNvSpPr>
            <a:spLocks xmlns:a="http://schemas.openxmlformats.org/drawingml/2006/main" noGrp="1"/>
          </p:cNvSpPr>
          <p:nvPr/>
        </p:nvSpPr>
        <p:spPr>
          <a:xfrm xmlns:a="http://schemas.openxmlformats.org/drawingml/2006/main">
            <a:off x="9648825" y="6991350"/>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82D43"/>
                </a:solidFill>
                <a:latin typeface="Noto Sans JP"/>
                <a:ea typeface="Noto Sans JP"/>
                <a:cs typeface="Noto Sans JP"/>
              </a:defRPr>
            </a:defPPr>
          </a:lstStyle>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形状や状態が変わる一方で、設備・工具・対象材を限定できる付帯</a:t>
            </a:r>
          </a:p>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作業に、実用化を狙う余地がある可能性。</a:t>
            </a:r>
          </a:p>
        </p:txBody>
      </p:sp>
      <p:sp>
        <p:nvSpPr>
          <p:cNvPr id="19" name="decision">
            <a:extLst xmlns:a="http://schemas.openxmlformats.org/drawingml/2006/main">
              <a:ext uri="{FF2B5EF4-FFF2-40B4-BE49-F238E27FC236}">
                <a16:creationId xmlns:a16="http://schemas.microsoft.com/office/drawing/2014/main" id="{C19EA2CC-72CB-4F22-BFFC-2065BC7B96AB}"/>
              </a:ext>
            </a:extLst>
          </p:cNvPr>
          <p:cNvSpPr>
            <a:spLocks xmlns:a="http://schemas.openxmlformats.org/drawingml/2006/main" noGrp="1"/>
          </p:cNvSpPr>
          <p:nvPr/>
        </p:nvSpPr>
        <p:spPr>
          <a:xfrm xmlns:a="http://schemas.openxmlformats.org/drawingml/2006/main">
            <a:off x="9648825" y="8334375"/>
            <a:ext cx="7734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182D43"/>
                </a:solidFill>
                <a:latin typeface="Noto Sans JP"/>
                <a:ea typeface="Noto Sans JP"/>
                <a:cs typeface="Noto Sans JP"/>
              </a:defRPr>
            </a:defPPr>
          </a:lstStyle>
          <a:p xmlns:a="http://schemas.openxmlformats.org/drawingml/2006/main">
            <a:pPr>
              <a:defRPr sz="1725" b="0">
                <a:solidFill>
                  <a:srgbClr val="182D43"/>
                </a:solidFill>
                <a:latin typeface="Noto Sans JP"/>
                <a:ea typeface="Noto Sans JP"/>
                <a:cs typeface="Noto Sans JP"/>
              </a:defRPr>
            </a:pPr>
            <a:r>
              <a:rPr sz="1725" b="0">
                <a:solidFill>
                  <a:srgbClr val="182D43"/>
                </a:solidFill>
                <a:latin typeface="Noto Sans JP"/>
                <a:ea typeface="Noto Sans JP"/>
                <a:cs typeface="Noto Sans JP"/>
              </a:rPr>
              <a:t>切粉処理かバリ取り等の一作業で、固定手順・現行認識方式と比較。異な</a:t>
            </a:r>
          </a:p>
          <a:p xmlns:a="http://schemas.openxmlformats.org/drawingml/2006/main">
            <a:pPr>
              <a:defRPr sz="1725" b="0">
                <a:solidFill>
                  <a:srgbClr val="182D43"/>
                </a:solidFill>
                <a:latin typeface="Noto Sans JP"/>
                <a:ea typeface="Noto Sans JP"/>
                <a:cs typeface="Noto Sans JP"/>
              </a:defRPr>
            </a:pPr>
            <a:r>
              <a:rPr sz="1725" b="0">
                <a:solidFill>
                  <a:srgbClr val="182D43"/>
                </a:solidFill>
                <a:latin typeface="Noto Sans JP"/>
                <a:ea typeface="Noto Sans JP"/>
                <a:cs typeface="Noto Sans JP"/>
              </a:rPr>
              <a:t>るワークで再設定がどれだけ減るかを見る。</a:t>
            </a:r>
          </a:p>
        </p:txBody>
      </p:sp>
      <p:sp>
        <p:nvSpPr>
          <p:cNvPr id="20" name="foot">
            <a:extLst xmlns:a="http://schemas.openxmlformats.org/drawingml/2006/main">
              <a:ext uri="{FF2B5EF4-FFF2-40B4-BE49-F238E27FC236}">
                <a16:creationId xmlns:a16="http://schemas.microsoft.com/office/drawing/2014/main" id="{BC2D6ED1-33A7-4668-ACB2-71C5A12399E5}"/>
              </a:ext>
            </a:extLst>
          </p:cNvPr>
          <p:cNvSpPr>
            <a:spLocks xmlns:a="http://schemas.openxmlformats.org/drawingml/2006/main" noGrp="1"/>
          </p:cNvSpPr>
          <p:nvPr/>
        </p:nvSpPr>
        <p:spPr>
          <a:xfrm xmlns:a="http://schemas.openxmlformats.org/drawingml/2006/main">
            <a:off x="628650" y="9810750"/>
            <a:ext cx="1571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637286"/>
                </a:solidFill>
                <a:latin typeface="Noto Sans JP"/>
                <a:ea typeface="Noto Sans JP"/>
                <a:cs typeface="Noto Sans JP"/>
              </a:defRPr>
            </a:defPPr>
          </a:lstStyle>
          <a:p xmlns:a="http://schemas.openxmlformats.org/drawingml/2006/main">
            <a:pPr>
              <a:defRPr sz="1350" b="0">
                <a:solidFill>
                  <a:srgbClr val="637286"/>
                </a:solidFill>
                <a:latin typeface="Noto Sans JP"/>
                <a:ea typeface="Noto Sans JP"/>
                <a:cs typeface="Noto Sans JP"/>
              </a:defRPr>
            </a:pPr>
            <a:r>
              <a:rPr sz="1350" b="0">
                <a:solidFill>
                  <a:srgbClr val="637286"/>
                </a:solidFill>
                <a:latin typeface="Noto Sans JP"/>
                <a:ea typeface="Noto Sans JP"/>
                <a:cs typeface="Noto Sans JP"/>
              </a:rPr>
              <a:t>根拠となる仕事：爪・治具・ハンドと位置の段取り、ワーク・パレット・切粉の搬送、認識を伴うピック・付帯加工・除去、展示段階と自律化の境界、デジタルツイン・物理学習用データ</a:t>
            </a:r>
          </a:p>
        </p:txBody>
      </p:sp>
    </p:spTree>
    <p:extLst>
      <p:ext uri="{BB962C8B-B14F-4D97-AF65-F5344CB8AC3E}">
        <p14:creationId xmlns:p14="http://schemas.microsoft.com/office/powerpoint/2010/main" val="1045737146"/>
      </p:ext>
    </p:extLst>
  </p:cSld>
</p:sld>
</file>

<file path=ppt/slides/slide13.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40D1A380-9BAD-414C-BF2C-7FECB703ACFC}"/>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現場の変化に対応する工場運用AI</a:t>
            </a:r>
          </a:p>
        </p:txBody>
      </p:sp>
      <p:sp>
        <p:nvSpPr>
          <p:cNvPr id="2" name="sub">
            <a:extLst xmlns:a="http://schemas.openxmlformats.org/drawingml/2006/main">
              <a:ext uri="{FF2B5EF4-FFF2-40B4-BE49-F238E27FC236}">
                <a16:creationId xmlns:a16="http://schemas.microsoft.com/office/drawing/2014/main" id="{6B6F6800-87D3-4CBA-A117-7ED630CA3D87}"/>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技術動向から考える開発候補。立ち位置と開発余地は分析・仮説で、市場の空白や優位性の証明ではない。</a:t>
            </a:r>
          </a:p>
        </p:txBody>
      </p:sp>
      <p:sp>
        <p:nvSpPr>
          <p:cNvPr id="3" name="page">
            <a:extLst xmlns:a="http://schemas.openxmlformats.org/drawingml/2006/main">
              <a:ext uri="{FF2B5EF4-FFF2-40B4-BE49-F238E27FC236}">
                <a16:creationId xmlns:a16="http://schemas.microsoft.com/office/drawing/2014/main" id="{494A42A4-98E5-489E-875B-BA841481D01A}"/>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13</a:t>
            </a:r>
          </a:p>
        </p:txBody>
      </p:sp>
      <p:sp>
        <p:nvSpPr>
          <p:cNvPr id="4" name="block-0">
            <a:extLst xmlns:a="http://schemas.openxmlformats.org/drawingml/2006/main">
              <a:ext uri="{FF2B5EF4-FFF2-40B4-BE49-F238E27FC236}">
                <a16:creationId xmlns:a16="http://schemas.microsoft.com/office/drawing/2014/main" id="{8E3AF930-5B01-495D-A258-90F35CB9FB9E}"/>
              </a:ext>
            </a:extLst>
          </p:cNvPr>
          <p:cNvSpPr>
            <a:spLocks xmlns:a="http://schemas.openxmlformats.org/drawingml/2006/main" noGrp="1"/>
          </p:cNvSpPr>
          <p:nvPr/>
        </p:nvSpPr>
        <p:spPr>
          <a:xfrm xmlns:a="http://schemas.openxmlformats.org/drawingml/2006/main">
            <a:off x="609600" y="2143125"/>
            <a:ext cx="828675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h-0">
            <a:extLst xmlns:a="http://schemas.openxmlformats.org/drawingml/2006/main">
              <a:ext uri="{FF2B5EF4-FFF2-40B4-BE49-F238E27FC236}">
                <a16:creationId xmlns:a16="http://schemas.microsoft.com/office/drawing/2014/main" id="{6E05F51B-2B8A-444C-BD8D-171D2B595FC7}"/>
              </a:ext>
            </a:extLst>
          </p:cNvPr>
          <p:cNvSpPr>
            <a:spLocks xmlns:a="http://schemas.openxmlformats.org/drawingml/2006/main" noGrp="1"/>
          </p:cNvSpPr>
          <p:nvPr/>
        </p:nvSpPr>
        <p:spPr>
          <a:xfrm xmlns:a="http://schemas.openxmlformats.org/drawingml/2006/main">
            <a:off x="847725" y="237172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なぜ、この分野を候補にするか</a:t>
            </a:r>
          </a:p>
        </p:txBody>
      </p:sp>
      <p:sp>
        <p:nvSpPr>
          <p:cNvPr id="6" name="block-1">
            <a:extLst xmlns:a="http://schemas.openxmlformats.org/drawingml/2006/main">
              <a:ext uri="{FF2B5EF4-FFF2-40B4-BE49-F238E27FC236}">
                <a16:creationId xmlns:a16="http://schemas.microsoft.com/office/drawing/2014/main" id="{64658B49-57A9-4B48-8A0B-EF592D583FAE}"/>
              </a:ext>
            </a:extLst>
          </p:cNvPr>
          <p:cNvSpPr>
            <a:spLocks xmlns:a="http://schemas.openxmlformats.org/drawingml/2006/main" noGrp="1"/>
          </p:cNvSpPr>
          <p:nvPr/>
        </p:nvSpPr>
        <p:spPr>
          <a:xfrm xmlns:a="http://schemas.openxmlformats.org/drawingml/2006/main">
            <a:off x="9391650" y="2143125"/>
            <a:ext cx="8286750" cy="381000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7" name="h-1">
            <a:extLst xmlns:a="http://schemas.openxmlformats.org/drawingml/2006/main">
              <a:ext uri="{FF2B5EF4-FFF2-40B4-BE49-F238E27FC236}">
                <a16:creationId xmlns:a16="http://schemas.microsoft.com/office/drawing/2014/main" id="{782D7A64-E560-4160-80EF-40E3A6492864}"/>
              </a:ext>
            </a:extLst>
          </p:cNvPr>
          <p:cNvSpPr>
            <a:spLocks xmlns:a="http://schemas.openxmlformats.org/drawingml/2006/main" noGrp="1"/>
          </p:cNvSpPr>
          <p:nvPr/>
        </p:nvSpPr>
        <p:spPr>
          <a:xfrm xmlns:a="http://schemas.openxmlformats.org/drawingml/2006/main">
            <a:off x="9629775" y="237172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何を、どの技術で開発するか</a:t>
            </a:r>
          </a:p>
        </p:txBody>
      </p:sp>
      <p:sp>
        <p:nvSpPr>
          <p:cNvPr id="8" name="block-2">
            <a:extLst xmlns:a="http://schemas.openxmlformats.org/drawingml/2006/main">
              <a:ext uri="{FF2B5EF4-FFF2-40B4-BE49-F238E27FC236}">
                <a16:creationId xmlns:a16="http://schemas.microsoft.com/office/drawing/2014/main" id="{00AADF0C-9519-4C3C-9166-810173D95677}"/>
              </a:ext>
            </a:extLst>
          </p:cNvPr>
          <p:cNvSpPr>
            <a:spLocks xmlns:a="http://schemas.openxmlformats.org/drawingml/2006/main" noGrp="1"/>
          </p:cNvSpPr>
          <p:nvPr/>
        </p:nvSpPr>
        <p:spPr>
          <a:xfrm xmlns:a="http://schemas.openxmlformats.org/drawingml/2006/main">
            <a:off x="60960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9" name="h-2">
            <a:extLst xmlns:a="http://schemas.openxmlformats.org/drawingml/2006/main">
              <a:ext uri="{FF2B5EF4-FFF2-40B4-BE49-F238E27FC236}">
                <a16:creationId xmlns:a16="http://schemas.microsoft.com/office/drawing/2014/main" id="{7357A098-DB0C-4E2A-A953-C32E0A8C23A8}"/>
              </a:ext>
            </a:extLst>
          </p:cNvPr>
          <p:cNvSpPr>
            <a:spLocks xmlns:a="http://schemas.openxmlformats.org/drawingml/2006/main" noGrp="1"/>
          </p:cNvSpPr>
          <p:nvPr/>
        </p:nvSpPr>
        <p:spPr>
          <a:xfrm xmlns:a="http://schemas.openxmlformats.org/drawingml/2006/main">
            <a:off x="847725" y="646747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既存技術と、狙う立ち位置</a:t>
            </a:r>
          </a:p>
        </p:txBody>
      </p:sp>
      <p:sp>
        <p:nvSpPr>
          <p:cNvPr id="10" name="block-3">
            <a:extLst xmlns:a="http://schemas.openxmlformats.org/drawingml/2006/main">
              <a:ext uri="{FF2B5EF4-FFF2-40B4-BE49-F238E27FC236}">
                <a16:creationId xmlns:a16="http://schemas.microsoft.com/office/drawing/2014/main" id="{138364F9-E15D-4B34-848E-B18B2C2A5FF9}"/>
              </a:ext>
            </a:extLst>
          </p:cNvPr>
          <p:cNvSpPr>
            <a:spLocks xmlns:a="http://schemas.openxmlformats.org/drawingml/2006/main" noGrp="1"/>
          </p:cNvSpPr>
          <p:nvPr/>
        </p:nvSpPr>
        <p:spPr>
          <a:xfrm xmlns:a="http://schemas.openxmlformats.org/drawingml/2006/main">
            <a:off x="9391650" y="6238875"/>
            <a:ext cx="828675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1" name="h-3">
            <a:extLst xmlns:a="http://schemas.openxmlformats.org/drawingml/2006/main">
              <a:ext uri="{FF2B5EF4-FFF2-40B4-BE49-F238E27FC236}">
                <a16:creationId xmlns:a16="http://schemas.microsoft.com/office/drawing/2014/main" id="{617E9C65-700A-4C69-A6DA-579773865701}"/>
              </a:ext>
            </a:extLst>
          </p:cNvPr>
          <p:cNvSpPr>
            <a:spLocks xmlns:a="http://schemas.openxmlformats.org/drawingml/2006/main" noGrp="1"/>
          </p:cNvSpPr>
          <p:nvPr/>
        </p:nvSpPr>
        <p:spPr>
          <a:xfrm xmlns:a="http://schemas.openxmlformats.org/drawingml/2006/main">
            <a:off x="9629775" y="6467475"/>
            <a:ext cx="773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225B92"/>
                </a:solidFill>
                <a:latin typeface="Noto Sans JP"/>
                <a:ea typeface="Noto Sans JP"/>
                <a:cs typeface="Noto Sans JP"/>
              </a:defRPr>
            </a:defPPr>
          </a:lstStyle>
          <a:p xmlns:a="http://schemas.openxmlformats.org/drawingml/2006/main">
            <a:pPr>
              <a:defRPr sz="2100" b="1">
                <a:solidFill>
                  <a:srgbClr val="225B92"/>
                </a:solidFill>
                <a:latin typeface="Noto Sans JP"/>
                <a:ea typeface="Noto Sans JP"/>
                <a:cs typeface="Noto Sans JP"/>
              </a:defRPr>
            </a:pPr>
            <a:r>
              <a:rPr sz="2100" b="1">
                <a:solidFill>
                  <a:srgbClr val="225B92"/>
                </a:solidFill>
                <a:latin typeface="Noto Sans JP"/>
                <a:ea typeface="Noto Sans JP"/>
                <a:cs typeface="Noto Sans JP"/>
              </a:rPr>
              <a:t>開発余地と着手の考え方</a:t>
            </a:r>
          </a:p>
        </p:txBody>
      </p:sp>
      <p:sp>
        <p:nvSpPr>
          <p:cNvPr id="12" name="need">
            <a:extLst xmlns:a="http://schemas.openxmlformats.org/drawingml/2006/main">
              <a:ext uri="{FF2B5EF4-FFF2-40B4-BE49-F238E27FC236}">
                <a16:creationId xmlns:a16="http://schemas.microsoft.com/office/drawing/2014/main" id="{E8AF5D90-3458-433E-BCD1-B5F7BD3EC183}"/>
              </a:ext>
            </a:extLst>
          </p:cNvPr>
          <p:cNvSpPr>
            <a:spLocks xmlns:a="http://schemas.openxmlformats.org/drawingml/2006/main" noGrp="1"/>
          </p:cNvSpPr>
          <p:nvPr/>
        </p:nvSpPr>
        <p:spPr>
          <a:xfrm xmlns:a="http://schemas.openxmlformats.org/drawingml/2006/main">
            <a:off x="866775" y="2905125"/>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82D43"/>
                </a:solidFill>
                <a:latin typeface="Noto Sans JP"/>
                <a:ea typeface="Noto Sans JP"/>
                <a:cs typeface="Noto Sans JP"/>
              </a:defRPr>
            </a:defPPr>
          </a:lstStyle>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予定変更や停止のたびに、人が設備・工具・工程の情報を集</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め、代替案と作業指示を組み直している。</a:t>
            </a:r>
          </a:p>
        </p:txBody>
      </p:sp>
      <p:sp>
        <p:nvSpPr>
          <p:cNvPr id="13" name="signal">
            <a:extLst xmlns:a="http://schemas.openxmlformats.org/drawingml/2006/main">
              <a:ext uri="{FF2B5EF4-FFF2-40B4-BE49-F238E27FC236}">
                <a16:creationId xmlns:a16="http://schemas.microsoft.com/office/drawing/2014/main" id="{A18E8449-F705-4639-B139-BA3C4B0089EF}"/>
              </a:ext>
            </a:extLst>
          </p:cNvPr>
          <p:cNvSpPr>
            <a:spLocks xmlns:a="http://schemas.openxmlformats.org/drawingml/2006/main" noGrp="1"/>
          </p:cNvSpPr>
          <p:nvPr/>
        </p:nvSpPr>
        <p:spPr>
          <a:xfrm xmlns:a="http://schemas.openxmlformats.org/drawingml/2006/main">
            <a:off x="866775" y="4333875"/>
            <a:ext cx="77343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展示・開発の広がり：保守エージェント、設備情報の意味づけ、計</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画・工具情報の連携が見られ、データ活用の対象が運用判断へ広が</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る。</a:t>
            </a:r>
          </a:p>
        </p:txBody>
      </p:sp>
      <p:sp>
        <p:nvSpPr>
          <p:cNvPr id="14" name="approach">
            <a:extLst xmlns:a="http://schemas.openxmlformats.org/drawingml/2006/main">
              <a:ext uri="{FF2B5EF4-FFF2-40B4-BE49-F238E27FC236}">
                <a16:creationId xmlns:a16="http://schemas.microsoft.com/office/drawing/2014/main" id="{B12CC73F-BBB1-4CF7-866C-3571F36CE606}"/>
              </a:ext>
            </a:extLst>
          </p:cNvPr>
          <p:cNvSpPr>
            <a:spLocks xmlns:a="http://schemas.openxmlformats.org/drawingml/2006/main" noGrp="1"/>
          </p:cNvSpPr>
          <p:nvPr/>
        </p:nvSpPr>
        <p:spPr>
          <a:xfrm xmlns:a="http://schemas.openxmlformats.org/drawingml/2006/main">
            <a:off x="9648825" y="2905125"/>
            <a:ext cx="773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182D43"/>
                </a:solidFill>
                <a:latin typeface="Noto Sans JP"/>
                <a:ea typeface="Noto Sans JP"/>
                <a:cs typeface="Noto Sans JP"/>
              </a:defRPr>
            </a:defPPr>
          </a:lstStyle>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設備・工具・進捗を共通の状態として整理し、過去の対処</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と制約付き計画を使って選択肢と担当作業を提示。承認後</a:t>
            </a:r>
          </a:p>
          <a:p xmlns:a="http://schemas.openxmlformats.org/drawingml/2006/main">
            <a:pPr>
              <a:defRPr sz="2250" b="1">
                <a:solidFill>
                  <a:srgbClr val="182D43"/>
                </a:solidFill>
                <a:latin typeface="Noto Sans JP"/>
                <a:ea typeface="Noto Sans JP"/>
                <a:cs typeface="Noto Sans JP"/>
              </a:defRPr>
            </a:pPr>
            <a:r>
              <a:rPr sz="2250" b="1">
                <a:solidFill>
                  <a:srgbClr val="182D43"/>
                </a:solidFill>
                <a:latin typeface="Noto Sans JP"/>
                <a:ea typeface="Noto Sans JP"/>
                <a:cs typeface="Noto Sans JP"/>
              </a:rPr>
              <a:t>の結果を追跡する。</a:t>
            </a:r>
          </a:p>
        </p:txBody>
      </p:sp>
      <p:sp>
        <p:nvSpPr>
          <p:cNvPr id="15" name="metric">
            <a:extLst xmlns:a="http://schemas.openxmlformats.org/drawingml/2006/main">
              <a:ext uri="{FF2B5EF4-FFF2-40B4-BE49-F238E27FC236}">
                <a16:creationId xmlns:a16="http://schemas.microsoft.com/office/drawing/2014/main" id="{7E505A9F-2064-475F-844C-9AB07AB1C3D9}"/>
              </a:ext>
            </a:extLst>
          </p:cNvPr>
          <p:cNvSpPr>
            <a:spLocks xmlns:a="http://schemas.openxmlformats.org/drawingml/2006/main" noGrp="1"/>
          </p:cNvSpPr>
          <p:nvPr/>
        </p:nvSpPr>
        <p:spPr>
          <a:xfrm xmlns:a="http://schemas.openxmlformats.org/drawingml/2006/main">
            <a:off x="9648825" y="5257800"/>
            <a:ext cx="7734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225B92"/>
                </a:solidFill>
                <a:latin typeface="Noto Sans JP"/>
                <a:ea typeface="Noto Sans JP"/>
                <a:cs typeface="Noto Sans JP"/>
              </a:defRPr>
            </a:defPPr>
          </a:lstStyle>
          <a:p xmlns:a="http://schemas.openxmlformats.org/drawingml/2006/main">
            <a:pPr>
              <a:defRPr sz="1800" b="0">
                <a:solidFill>
                  <a:srgbClr val="225B92"/>
                </a:solidFill>
                <a:latin typeface="Noto Sans JP"/>
                <a:ea typeface="Noto Sans JP"/>
                <a:cs typeface="Noto Sans JP"/>
              </a:defRPr>
            </a:pPr>
            <a:r>
              <a:rPr sz="1800" b="0">
                <a:solidFill>
                  <a:srgbClr val="225B92"/>
                </a:solidFill>
                <a:latin typeface="Noto Sans JP"/>
                <a:ea typeface="Noto Sans JP"/>
                <a:cs typeface="Noto Sans JP"/>
              </a:rPr>
              <a:t>評価：状況確認と再計画の時間、実行できた提案の割合、停止時間、</a:t>
            </a:r>
          </a:p>
          <a:p xmlns:a="http://schemas.openxmlformats.org/drawingml/2006/main">
            <a:pPr>
              <a:defRPr sz="1800" b="0">
                <a:solidFill>
                  <a:srgbClr val="225B92"/>
                </a:solidFill>
                <a:latin typeface="Noto Sans JP"/>
                <a:ea typeface="Noto Sans JP"/>
                <a:cs typeface="Noto Sans JP"/>
              </a:defRPr>
            </a:pPr>
            <a:r>
              <a:rPr sz="1800" b="0">
                <a:solidFill>
                  <a:srgbClr val="225B92"/>
                </a:solidFill>
                <a:latin typeface="Noto Sans JP"/>
                <a:ea typeface="Noto Sans JP"/>
                <a:cs typeface="Noto Sans JP"/>
              </a:rPr>
              <a:t>入力負担</a:t>
            </a:r>
          </a:p>
        </p:txBody>
      </p:sp>
      <p:sp>
        <p:nvSpPr>
          <p:cNvPr id="16" name="position">
            <a:extLst xmlns:a="http://schemas.openxmlformats.org/drawingml/2006/main">
              <a:ext uri="{FF2B5EF4-FFF2-40B4-BE49-F238E27FC236}">
                <a16:creationId xmlns:a16="http://schemas.microsoft.com/office/drawing/2014/main" id="{FB40F458-2BC9-4B1C-8AD0-1C15088A7BAC}"/>
              </a:ext>
            </a:extLst>
          </p:cNvPr>
          <p:cNvSpPr>
            <a:spLocks xmlns:a="http://schemas.openxmlformats.org/drawingml/2006/main" noGrp="1"/>
          </p:cNvSpPr>
          <p:nvPr/>
        </p:nvSpPr>
        <p:spPr>
          <a:xfrm xmlns:a="http://schemas.openxmlformats.org/drawingml/2006/main">
            <a:off x="866775" y="6991350"/>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82D43"/>
                </a:solidFill>
                <a:latin typeface="Noto Sans JP"/>
                <a:ea typeface="Noto Sans JP"/>
                <a:cs typeface="Noto Sans JP"/>
              </a:defRPr>
            </a:defPPr>
          </a:lstStyle>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生産管理を丸ごと置き換えず、工具不足・停止復帰など一つの例外</a:t>
            </a:r>
          </a:p>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業務で、既存システムをまたぐ支援を候補にする。</a:t>
            </a:r>
          </a:p>
        </p:txBody>
      </p:sp>
      <p:sp>
        <p:nvSpPr>
          <p:cNvPr id="17" name="existing">
            <a:extLst xmlns:a="http://schemas.openxmlformats.org/drawingml/2006/main">
              <a:ext uri="{FF2B5EF4-FFF2-40B4-BE49-F238E27FC236}">
                <a16:creationId xmlns:a16="http://schemas.microsoft.com/office/drawing/2014/main" id="{9DB2B00C-2FA9-421F-A027-3B8966F1D48F}"/>
              </a:ext>
            </a:extLst>
          </p:cNvPr>
          <p:cNvSpPr>
            <a:spLocks xmlns:a="http://schemas.openxmlformats.org/drawingml/2006/main" noGrp="1"/>
          </p:cNvSpPr>
          <p:nvPr/>
        </p:nvSpPr>
        <p:spPr>
          <a:xfrm xmlns:a="http://schemas.openxmlformats.org/drawingml/2006/main">
            <a:off x="866775" y="8334375"/>
            <a:ext cx="7734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637286"/>
                </a:solidFill>
                <a:latin typeface="Noto Sans JP"/>
                <a:ea typeface="Noto Sans JP"/>
                <a:cs typeface="Noto Sans JP"/>
              </a:defRPr>
            </a:defPPr>
          </a:lstStyle>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MES、工具管理、承認ワークフロー、遠隔支援は既存。既存エージェントと</a:t>
            </a:r>
          </a:p>
          <a:p xmlns:a="http://schemas.openxmlformats.org/drawingml/2006/main">
            <a:pPr>
              <a:defRPr sz="1650" b="0">
                <a:solidFill>
                  <a:srgbClr val="637286"/>
                </a:solidFill>
                <a:latin typeface="Noto Sans JP"/>
                <a:ea typeface="Noto Sans JP"/>
                <a:cs typeface="Noto Sans JP"/>
              </a:defRPr>
            </a:pPr>
            <a:r>
              <a:rPr sz="1650" b="0">
                <a:solidFill>
                  <a:srgbClr val="637286"/>
                </a:solidFill>
                <a:latin typeface="Noto Sans JP"/>
                <a:ea typeface="Noto Sans JP"/>
                <a:cs typeface="Noto Sans JP"/>
              </a:rPr>
              <a:t>の重複と利用可能APIは未確認。</a:t>
            </a:r>
          </a:p>
        </p:txBody>
      </p:sp>
      <p:sp>
        <p:nvSpPr>
          <p:cNvPr id="18" name="hypothesis">
            <a:extLst xmlns:a="http://schemas.openxmlformats.org/drawingml/2006/main">
              <a:ext uri="{FF2B5EF4-FFF2-40B4-BE49-F238E27FC236}">
                <a16:creationId xmlns:a16="http://schemas.microsoft.com/office/drawing/2014/main" id="{2AF986A5-AA4F-4FEB-8A68-8195F00D7BD4}"/>
              </a:ext>
            </a:extLst>
          </p:cNvPr>
          <p:cNvSpPr>
            <a:spLocks xmlns:a="http://schemas.openxmlformats.org/drawingml/2006/main" noGrp="1"/>
          </p:cNvSpPr>
          <p:nvPr/>
        </p:nvSpPr>
        <p:spPr>
          <a:xfrm xmlns:a="http://schemas.openxmlformats.org/drawingml/2006/main">
            <a:off x="9648825" y="6991350"/>
            <a:ext cx="7734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182D43"/>
                </a:solidFill>
                <a:latin typeface="Noto Sans JP"/>
                <a:ea typeface="Noto Sans JP"/>
                <a:cs typeface="Noto Sans JP"/>
              </a:defRPr>
            </a:defPPr>
          </a:lstStyle>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工場固有の制約と今の設備状態を踏まえ、実行できる代替案を担当</a:t>
            </a:r>
          </a:p>
          <a:p xmlns:a="http://schemas.openxmlformats.org/drawingml/2006/main">
            <a:pPr>
              <a:defRPr sz="1950" b="1">
                <a:solidFill>
                  <a:srgbClr val="182D43"/>
                </a:solidFill>
                <a:latin typeface="Noto Sans JP"/>
                <a:ea typeface="Noto Sans JP"/>
                <a:cs typeface="Noto Sans JP"/>
              </a:defRPr>
            </a:pPr>
            <a:r>
              <a:rPr sz="1950" b="1">
                <a:solidFill>
                  <a:srgbClr val="182D43"/>
                </a:solidFill>
                <a:latin typeface="Noto Sans JP"/>
                <a:ea typeface="Noto Sans JP"/>
                <a:cs typeface="Noto Sans JP"/>
              </a:rPr>
              <a:t>者へ渡す部分に開発余地がある可能性。</a:t>
            </a:r>
          </a:p>
        </p:txBody>
      </p:sp>
      <p:sp>
        <p:nvSpPr>
          <p:cNvPr id="19" name="decision">
            <a:extLst xmlns:a="http://schemas.openxmlformats.org/drawingml/2006/main">
              <a:ext uri="{FF2B5EF4-FFF2-40B4-BE49-F238E27FC236}">
                <a16:creationId xmlns:a16="http://schemas.microsoft.com/office/drawing/2014/main" id="{9E4EA1F3-03F2-479A-A839-C4CEBEE6575A}"/>
              </a:ext>
            </a:extLst>
          </p:cNvPr>
          <p:cNvSpPr>
            <a:spLocks xmlns:a="http://schemas.openxmlformats.org/drawingml/2006/main" noGrp="1"/>
          </p:cNvSpPr>
          <p:nvPr/>
        </p:nvSpPr>
        <p:spPr>
          <a:xfrm xmlns:a="http://schemas.openxmlformats.org/drawingml/2006/main">
            <a:off x="9648825" y="8334375"/>
            <a:ext cx="7734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182D43"/>
                </a:solidFill>
                <a:latin typeface="Noto Sans JP"/>
                <a:ea typeface="Noto Sans JP"/>
                <a:cs typeface="Noto Sans JP"/>
              </a:defRPr>
            </a:defPPr>
          </a:lstStyle>
          <a:p xmlns:a="http://schemas.openxmlformats.org/drawingml/2006/main">
            <a:pPr>
              <a:defRPr sz="1725" b="0">
                <a:solidFill>
                  <a:srgbClr val="182D43"/>
                </a:solidFill>
                <a:latin typeface="Noto Sans JP"/>
                <a:ea typeface="Noto Sans JP"/>
                <a:cs typeface="Noto Sans JP"/>
              </a:defRPr>
            </a:pPr>
            <a:r>
              <a:rPr sz="1725" b="0">
                <a:solidFill>
                  <a:srgbClr val="182D43"/>
                </a:solidFill>
                <a:latin typeface="Noto Sans JP"/>
                <a:ea typeface="Noto Sans JP"/>
                <a:cs typeface="Noto Sans JP"/>
              </a:rPr>
              <a:t>一つの例外業務で既存運用と比較し、状態取得・操作API・権限が得られ</a:t>
            </a:r>
          </a:p>
          <a:p xmlns:a="http://schemas.openxmlformats.org/drawingml/2006/main">
            <a:pPr>
              <a:defRPr sz="1725" b="0">
                <a:solidFill>
                  <a:srgbClr val="182D43"/>
                </a:solidFill>
                <a:latin typeface="Noto Sans JP"/>
                <a:ea typeface="Noto Sans JP"/>
                <a:cs typeface="Noto Sans JP"/>
              </a:defRPr>
            </a:pPr>
            <a:r>
              <a:rPr sz="1725" b="0">
                <a:solidFill>
                  <a:srgbClr val="182D43"/>
                </a:solidFill>
                <a:latin typeface="Noto Sans JP"/>
                <a:ea typeface="Noto Sans JP"/>
                <a:cs typeface="Noto Sans JP"/>
              </a:rPr>
              <a:t>る範囲から適用する。</a:t>
            </a:r>
          </a:p>
        </p:txBody>
      </p:sp>
      <p:sp>
        <p:nvSpPr>
          <p:cNvPr id="20" name="foot">
            <a:extLst xmlns:a="http://schemas.openxmlformats.org/drawingml/2006/main">
              <a:ext uri="{FF2B5EF4-FFF2-40B4-BE49-F238E27FC236}">
                <a16:creationId xmlns:a16="http://schemas.microsoft.com/office/drawing/2014/main" id="{F508FD88-8FE8-4F90-9426-9704833628B0}"/>
              </a:ext>
            </a:extLst>
          </p:cNvPr>
          <p:cNvSpPr>
            <a:spLocks xmlns:a="http://schemas.openxmlformats.org/drawingml/2006/main" noGrp="1"/>
          </p:cNvSpPr>
          <p:nvPr/>
        </p:nvSpPr>
        <p:spPr>
          <a:xfrm xmlns:a="http://schemas.openxmlformats.org/drawingml/2006/main">
            <a:off x="628650" y="9810750"/>
            <a:ext cx="1571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637286"/>
                </a:solidFill>
                <a:latin typeface="Noto Sans JP"/>
                <a:ea typeface="Noto Sans JP"/>
                <a:cs typeface="Noto Sans JP"/>
              </a:defRPr>
            </a:defPPr>
          </a:lstStyle>
          <a:p xmlns:a="http://schemas.openxmlformats.org/drawingml/2006/main">
            <a:pPr>
              <a:defRPr sz="1350" b="0">
                <a:solidFill>
                  <a:srgbClr val="637286"/>
                </a:solidFill>
                <a:latin typeface="Noto Sans JP"/>
                <a:ea typeface="Noto Sans JP"/>
                <a:cs typeface="Noto Sans JP"/>
              </a:defRPr>
            </a:pPr>
            <a:r>
              <a:rPr sz="1350" b="0">
                <a:solidFill>
                  <a:srgbClr val="637286"/>
                </a:solidFill>
                <a:latin typeface="Noto Sans JP"/>
                <a:ea typeface="Noto Sans JP"/>
                <a:cs typeface="Noto Sans JP"/>
              </a:rPr>
              <a:t>根拠となる仕事：現場エージェント・遠隔介入、工場データ・計画・資源の連携、AIモデル作成・機器接続の基盤</a:t>
            </a:r>
          </a:p>
        </p:txBody>
      </p:sp>
    </p:spTree>
    <p:extLst>
      <p:ext uri="{BB962C8B-B14F-4D97-AF65-F5344CB8AC3E}">
        <p14:creationId xmlns:p14="http://schemas.microsoft.com/office/powerpoint/2010/main" val="564698279"/>
      </p:ext>
    </p:extLst>
  </p:cSld>
</p:sld>
</file>

<file path=ppt/slides/slide14.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8649588F-A902-48C1-AFC2-627B572E00C8}"/>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図面検索・見積作成</a:t>
            </a:r>
          </a:p>
        </p:txBody>
      </p:sp>
      <p:sp>
        <p:nvSpPr>
          <p:cNvPr id="2" name="sub">
            <a:extLst xmlns:a="http://schemas.openxmlformats.org/drawingml/2006/main">
              <a:ext uri="{FF2B5EF4-FFF2-40B4-BE49-F238E27FC236}">
                <a16:creationId xmlns:a16="http://schemas.microsoft.com/office/drawing/2014/main" id="{14537D02-2B66-4663-9639-E9A334CA42E2}"/>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困りごと〈分析〉：過去図面と原価を探し、案件ごとに見積を組み立てる負担。</a:t>
            </a:r>
          </a:p>
        </p:txBody>
      </p:sp>
      <p:sp>
        <p:nvSpPr>
          <p:cNvPr id="3" name="page">
            <a:extLst xmlns:a="http://schemas.openxmlformats.org/drawingml/2006/main">
              <a:ext uri="{FF2B5EF4-FFF2-40B4-BE49-F238E27FC236}">
                <a16:creationId xmlns:a16="http://schemas.microsoft.com/office/drawing/2014/main" id="{216BDFA6-CEF4-400C-896B-FC9B076B39D9}"/>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14</a:t>
            </a:r>
          </a:p>
        </p:txBody>
      </p:sp>
      <p:sp>
        <p:nvSpPr>
          <p:cNvPr id="4" name="case-0">
            <a:extLst xmlns:a="http://schemas.openxmlformats.org/drawingml/2006/main">
              <a:ext uri="{FF2B5EF4-FFF2-40B4-BE49-F238E27FC236}">
                <a16:creationId xmlns:a16="http://schemas.microsoft.com/office/drawing/2014/main" id="{C9AC0063-6805-42A9-8784-774476D18D00}"/>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FB503B99-380A-4F49-BA2B-F921C95C4C3E}"/>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B4BA9D91-2252-44BA-BF98-ED6E2A45E43F}"/>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Fact Base</a:t>
            </a:r>
          </a:p>
        </p:txBody>
      </p:sp>
      <p:sp>
        <p:nvSpPr>
          <p:cNvPr id="7" name="product-0">
            <a:extLst xmlns:a="http://schemas.openxmlformats.org/drawingml/2006/main">
              <a:ext uri="{FF2B5EF4-FFF2-40B4-BE49-F238E27FC236}">
                <a16:creationId xmlns:a16="http://schemas.microsoft.com/office/drawing/2014/main" id="{A95B2B3C-11B5-4195-AF3C-24B0FE65A35C}"/>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ズメーン</a:t>
            </a:r>
          </a:p>
        </p:txBody>
      </p:sp>
      <p:sp>
        <p:nvSpPr>
          <p:cNvPr id="8" name="target-0">
            <a:extLst xmlns:a="http://schemas.openxmlformats.org/drawingml/2006/main">
              <a:ext uri="{FF2B5EF4-FFF2-40B4-BE49-F238E27FC236}">
                <a16:creationId xmlns:a16="http://schemas.microsoft.com/office/drawing/2014/main" id="{737D1CCA-E835-42EF-8EC9-A6E4A7195D07}"/>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図面を登録・検索し関連文書と結ぶ</a:t>
            </a:r>
          </a:p>
        </p:txBody>
      </p:sp>
      <p:sp>
        <p:nvSpPr>
          <p:cNvPr id="9" name="tech-label-0">
            <a:extLst xmlns:a="http://schemas.openxmlformats.org/drawingml/2006/main">
              <a:ext uri="{FF2B5EF4-FFF2-40B4-BE49-F238E27FC236}">
                <a16:creationId xmlns:a16="http://schemas.microsoft.com/office/drawing/2014/main" id="{9614C23E-78D4-4A2B-A50F-C76631C838C6}"/>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4877639E-5871-4B34-B2F0-C607A3C89AE4}"/>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図面のOCR登録と関連文書管理。顧客事例で</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は読取り結果を人が修正。</a:t>
            </a:r>
          </a:p>
        </p:txBody>
      </p:sp>
      <p:sp>
        <p:nvSpPr>
          <p:cNvPr id="11" name="human-label-0">
            <a:extLst xmlns:a="http://schemas.openxmlformats.org/drawingml/2006/main">
              <a:ext uri="{FF2B5EF4-FFF2-40B4-BE49-F238E27FC236}">
                <a16:creationId xmlns:a16="http://schemas.microsoft.com/office/drawing/2014/main" id="{D4B692F5-F89F-4EE1-AECC-280DEEF514D8}"/>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C0B30DE1-4F82-4C13-A398-AB751AD353E1}"/>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登録・読取り確認は人。図面の誤関連や改訂の検出</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は未確認。</a:t>
            </a:r>
          </a:p>
        </p:txBody>
      </p:sp>
      <p:sp>
        <p:nvSpPr>
          <p:cNvPr id="13" name="year-label-0">
            <a:extLst xmlns:a="http://schemas.openxmlformats.org/drawingml/2006/main">
              <a:ext uri="{FF2B5EF4-FFF2-40B4-BE49-F238E27FC236}">
                <a16:creationId xmlns:a16="http://schemas.microsoft.com/office/drawing/2014/main" id="{1E61DBF0-C2A0-488C-9AB2-B18D961C306F}"/>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476EB3A1-7F5E-4A2B-A50A-0FBDBCE5F0FD}"/>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2024の同名詳細なし。2026初登場とは断定しない。</a:t>
            </a:r>
          </a:p>
        </p:txBody>
      </p:sp>
      <p:sp>
        <p:nvSpPr>
          <p:cNvPr id="15" name="source-0">
            <a:extLst xmlns:a="http://schemas.openxmlformats.org/drawingml/2006/main">
              <a:ext uri="{FF2B5EF4-FFF2-40B4-BE49-F238E27FC236}">
                <a16:creationId xmlns:a16="http://schemas.microsoft.com/office/drawing/2014/main" id="{4BF74DEA-F124-4FD4-9156-23DCC4905D87}"/>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b198da5f7948449e"/>
              </a:rPr>
              <a:t>公式原典を開く　ブース S3017</a:t>
            </a:r>
          </a:p>
        </p:txBody>
      </p:sp>
      <p:sp>
        <p:nvSpPr>
          <p:cNvPr id="16" name="case-1">
            <a:extLst xmlns:a="http://schemas.openxmlformats.org/drawingml/2006/main">
              <a:ext uri="{FF2B5EF4-FFF2-40B4-BE49-F238E27FC236}">
                <a16:creationId xmlns:a16="http://schemas.microsoft.com/office/drawing/2014/main" id="{8B7A9642-D98D-4640-B16A-2A2557B2F158}"/>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FE37C52B-AF81-42A8-A8EA-7BA8A1F71694}"/>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FDB37278-87D5-4E06-9FBD-861B93F97E0A}"/>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匠技研工業</a:t>
            </a:r>
          </a:p>
        </p:txBody>
      </p:sp>
      <p:sp>
        <p:nvSpPr>
          <p:cNvPr id="19" name="product-1">
            <a:extLst xmlns:a="http://schemas.openxmlformats.org/drawingml/2006/main">
              <a:ext uri="{FF2B5EF4-FFF2-40B4-BE49-F238E27FC236}">
                <a16:creationId xmlns:a16="http://schemas.microsoft.com/office/drawing/2014/main" id="{0B117095-F41B-4F11-9FB6-24A7D496CCBF}"/>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匠フォース</a:t>
            </a:r>
          </a:p>
        </p:txBody>
      </p:sp>
      <p:sp>
        <p:nvSpPr>
          <p:cNvPr id="20" name="target-1">
            <a:extLst xmlns:a="http://schemas.openxmlformats.org/drawingml/2006/main">
              <a:ext uri="{FF2B5EF4-FFF2-40B4-BE49-F238E27FC236}">
                <a16:creationId xmlns:a16="http://schemas.microsoft.com/office/drawing/2014/main" id="{D6ACEF58-AF38-4443-AC0B-6DBF4D42E524}"/>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図面と原価情報から見積書案を作る</a:t>
            </a:r>
          </a:p>
        </p:txBody>
      </p:sp>
      <p:sp>
        <p:nvSpPr>
          <p:cNvPr id="21" name="tech-label-1">
            <a:extLst xmlns:a="http://schemas.openxmlformats.org/drawingml/2006/main">
              <a:ext uri="{FF2B5EF4-FFF2-40B4-BE49-F238E27FC236}">
                <a16:creationId xmlns:a16="http://schemas.microsoft.com/office/drawing/2014/main" id="{A032FB13-26DD-40E9-A39B-6AEEDE1D5BC3}"/>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FA00D5DA-8E94-4486-891B-860561257CE5}"/>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図面認識・類似案件参照・原価計算から見積</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書案を作る。</a:t>
            </a:r>
          </a:p>
        </p:txBody>
      </p:sp>
      <p:sp>
        <p:nvSpPr>
          <p:cNvPr id="23" name="human-label-1">
            <a:extLst xmlns:a="http://schemas.openxmlformats.org/drawingml/2006/main">
              <a:ext uri="{FF2B5EF4-FFF2-40B4-BE49-F238E27FC236}">
                <a16:creationId xmlns:a16="http://schemas.microsoft.com/office/drawing/2014/main" id="{6DDE9F2A-1337-40B7-B231-046DAB061CFD}"/>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3EBD3DF2-61FA-41C4-BEA9-68AD54F2108D}"/>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担当者が根拠を確認・修正・承認。社外自動送信は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未確認。</a:t>
            </a:r>
          </a:p>
        </p:txBody>
      </p:sp>
      <p:sp>
        <p:nvSpPr>
          <p:cNvPr id="25" name="year-label-1">
            <a:extLst xmlns:a="http://schemas.openxmlformats.org/drawingml/2006/main">
              <a:ext uri="{FF2B5EF4-FFF2-40B4-BE49-F238E27FC236}">
                <a16:creationId xmlns:a16="http://schemas.microsoft.com/office/drawing/2014/main" id="{DA8437CE-E1B9-4838-99BC-2744AD9B86EA}"/>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37FF622F-4A11-4AC7-84FC-48378548870B}"/>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2024比較不能。2026/7の企業発表で一連の処理を</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具体化。</a:t>
            </a:r>
          </a:p>
        </p:txBody>
      </p:sp>
      <p:sp>
        <p:nvSpPr>
          <p:cNvPr id="27" name="source-1">
            <a:extLst xmlns:a="http://schemas.openxmlformats.org/drawingml/2006/main">
              <a:ext uri="{FF2B5EF4-FFF2-40B4-BE49-F238E27FC236}">
                <a16:creationId xmlns:a16="http://schemas.microsoft.com/office/drawing/2014/main" id="{EB1DC4C7-1FF6-4185-8993-DFDC8B880922}"/>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cc70b328d6324ea6"/>
              </a:rPr>
              <a:t>公式原典を開く　ブース S3011</a:t>
            </a:r>
          </a:p>
        </p:txBody>
      </p:sp>
      <p:sp>
        <p:nvSpPr>
          <p:cNvPr id="28" name="case-2">
            <a:extLst xmlns:a="http://schemas.openxmlformats.org/drawingml/2006/main">
              <a:ext uri="{FF2B5EF4-FFF2-40B4-BE49-F238E27FC236}">
                <a16:creationId xmlns:a16="http://schemas.microsoft.com/office/drawing/2014/main" id="{DA6D3686-40E3-4357-AF25-553A7BCC07D8}"/>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BD6067CB-9355-4098-AC01-E381E39B896D}"/>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80D5228A-E5A6-4DBC-82CD-B6B9E29C3CAE}"/>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ものレボ</a:t>
            </a:r>
          </a:p>
        </p:txBody>
      </p:sp>
      <p:sp>
        <p:nvSpPr>
          <p:cNvPr id="31" name="product-2">
            <a:extLst xmlns:a="http://schemas.openxmlformats.org/drawingml/2006/main">
              <a:ext uri="{FF2B5EF4-FFF2-40B4-BE49-F238E27FC236}">
                <a16:creationId xmlns:a16="http://schemas.microsoft.com/office/drawing/2014/main" id="{6247961B-E15F-49A5-BBA4-B67E746DF827}"/>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MonoRevo</a:t>
            </a:r>
          </a:p>
        </p:txBody>
      </p:sp>
      <p:sp>
        <p:nvSpPr>
          <p:cNvPr id="32" name="target-2">
            <a:extLst xmlns:a="http://schemas.openxmlformats.org/drawingml/2006/main">
              <a:ext uri="{FF2B5EF4-FFF2-40B4-BE49-F238E27FC236}">
                <a16:creationId xmlns:a16="http://schemas.microsoft.com/office/drawing/2014/main" id="{D3E6D377-8443-41AE-84BE-7E87B9FA6AD2}"/>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過去図面を探し見積を作る</a:t>
            </a:r>
          </a:p>
        </p:txBody>
      </p:sp>
      <p:sp>
        <p:nvSpPr>
          <p:cNvPr id="33" name="tech-label-2">
            <a:extLst xmlns:a="http://schemas.openxmlformats.org/drawingml/2006/main">
              <a:ext uri="{FF2B5EF4-FFF2-40B4-BE49-F238E27FC236}">
                <a16:creationId xmlns:a16="http://schemas.microsoft.com/office/drawing/2014/main" id="{BE2A2A61-F7F2-44EA-B835-A1C1B50B295C}"/>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820A0264-2AA1-4E3D-8E78-F185AF55C512}"/>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類似図面検索と自動見積を説明。</a:t>
            </a:r>
          </a:p>
        </p:txBody>
      </p:sp>
      <p:sp>
        <p:nvSpPr>
          <p:cNvPr id="35" name="human-label-2">
            <a:extLst xmlns:a="http://schemas.openxmlformats.org/drawingml/2006/main">
              <a:ext uri="{FF2B5EF4-FFF2-40B4-BE49-F238E27FC236}">
                <a16:creationId xmlns:a16="http://schemas.microsoft.com/office/drawing/2014/main" id="{C4839A74-AF43-4114-A4CF-ECC579F5492E}"/>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82B1B405-1FE9-4461-BF5E-0791234FB7C6}"/>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見積前提の設定・確定者、計算ロジックは未確認。</a:t>
            </a:r>
          </a:p>
        </p:txBody>
      </p:sp>
      <p:sp>
        <p:nvSpPr>
          <p:cNvPr id="37" name="year-label-2">
            <a:extLst xmlns:a="http://schemas.openxmlformats.org/drawingml/2006/main">
              <a:ext uri="{FF2B5EF4-FFF2-40B4-BE49-F238E27FC236}">
                <a16:creationId xmlns:a16="http://schemas.microsoft.com/office/drawing/2014/main" id="{AD3C5BBF-3F67-4848-BC78-3009259F0719}"/>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5E080B7C-4A8B-4163-A642-1B1F602C71CB}"/>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2024個別比較不能。</a:t>
            </a:r>
          </a:p>
        </p:txBody>
      </p:sp>
      <p:sp>
        <p:nvSpPr>
          <p:cNvPr id="39" name="source-2">
            <a:extLst xmlns:a="http://schemas.openxmlformats.org/drawingml/2006/main">
              <a:ext uri="{FF2B5EF4-FFF2-40B4-BE49-F238E27FC236}">
                <a16:creationId xmlns:a16="http://schemas.microsoft.com/office/drawing/2014/main" id="{195B9162-7816-4BE0-ADA5-CB840AE70BD3}"/>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2af7956581c44a52"/>
              </a:rPr>
              <a:t>公式原典を開く　ブース W3042</a:t>
            </a:r>
          </a:p>
        </p:txBody>
      </p:sp>
    </p:spTree>
    <p:extLst>
      <p:ext uri="{BB962C8B-B14F-4D97-AF65-F5344CB8AC3E}">
        <p14:creationId xmlns:p14="http://schemas.microsoft.com/office/powerpoint/2010/main" val="1114609338"/>
      </p:ext>
    </p:extLst>
  </p:cSld>
</p:sld>
</file>

<file path=ppt/slides/slide15.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EB1364D9-0742-4C54-9C73-171F11738C9E}"/>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工程・CAMプログラムの作成</a:t>
            </a:r>
          </a:p>
        </p:txBody>
      </p:sp>
      <p:sp>
        <p:nvSpPr>
          <p:cNvPr id="2" name="sub">
            <a:extLst xmlns:a="http://schemas.openxmlformats.org/drawingml/2006/main">
              <a:ext uri="{FF2B5EF4-FFF2-40B4-BE49-F238E27FC236}">
                <a16:creationId xmlns:a16="http://schemas.microsoft.com/office/drawing/2014/main" id="{E954D71F-CA7D-44C4-B975-6D3FA0E6CAA6}"/>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困りごと〈分析〉：工具・機械・段取り制約を織り込む工程作成の技能依存。</a:t>
            </a:r>
          </a:p>
        </p:txBody>
      </p:sp>
      <p:sp>
        <p:nvSpPr>
          <p:cNvPr id="3" name="page">
            <a:extLst xmlns:a="http://schemas.openxmlformats.org/drawingml/2006/main">
              <a:ext uri="{FF2B5EF4-FFF2-40B4-BE49-F238E27FC236}">
                <a16:creationId xmlns:a16="http://schemas.microsoft.com/office/drawing/2014/main" id="{2C2F301A-EE60-43FD-9E0F-77749BFCA6EF}"/>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15</a:t>
            </a:r>
          </a:p>
        </p:txBody>
      </p:sp>
      <p:sp>
        <p:nvSpPr>
          <p:cNvPr id="4" name="case-0">
            <a:extLst xmlns:a="http://schemas.openxmlformats.org/drawingml/2006/main">
              <a:ext uri="{FF2B5EF4-FFF2-40B4-BE49-F238E27FC236}">
                <a16:creationId xmlns:a16="http://schemas.microsoft.com/office/drawing/2014/main" id="{36E0ADB5-9B1D-4B66-8D4D-7F1571BD1D8B}"/>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34843102-741D-45BD-BD5A-D0A9E6C6D3FA}"/>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C48DC369-E251-4697-8409-1BB974DC4C2D}"/>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Hexagon Manufacturing Intelligence</a:t>
            </a:r>
          </a:p>
        </p:txBody>
      </p:sp>
      <p:sp>
        <p:nvSpPr>
          <p:cNvPr id="7" name="product-0">
            <a:extLst xmlns:a="http://schemas.openxmlformats.org/drawingml/2006/main">
              <a:ext uri="{FF2B5EF4-FFF2-40B4-BE49-F238E27FC236}">
                <a16:creationId xmlns:a16="http://schemas.microsoft.com/office/drawing/2014/main" id="{0C220A29-7D03-434A-9905-EC4CD0D987F0}"/>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ESPRIT EDGE ProPlanAI</a:t>
            </a:r>
          </a:p>
        </p:txBody>
      </p:sp>
      <p:sp>
        <p:nvSpPr>
          <p:cNvPr id="8" name="target-0">
            <a:extLst xmlns:a="http://schemas.openxmlformats.org/drawingml/2006/main">
              <a:ext uri="{FF2B5EF4-FFF2-40B4-BE49-F238E27FC236}">
                <a16:creationId xmlns:a16="http://schemas.microsoft.com/office/drawing/2014/main" id="{25C239E6-B82D-43FE-8FDE-DDEDCA0037B1}"/>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新しい部品の加工工程を考える</a:t>
            </a:r>
          </a:p>
        </p:txBody>
      </p:sp>
      <p:sp>
        <p:nvSpPr>
          <p:cNvPr id="9" name="tech-label-0">
            <a:extLst xmlns:a="http://schemas.openxmlformats.org/drawingml/2006/main">
              <a:ext uri="{FF2B5EF4-FFF2-40B4-BE49-F238E27FC236}">
                <a16:creationId xmlns:a16="http://schemas.microsoft.com/office/drawing/2014/main" id="{F318DE54-B81F-46AF-B959-E17A00F6CD82}"/>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9B66F0A1-92AE-432B-920B-9DDB7D008370}"/>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過去ジョブと形状特徴から工程を予測するP</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roPlanAI。</a:t>
            </a:r>
          </a:p>
        </p:txBody>
      </p:sp>
      <p:sp>
        <p:nvSpPr>
          <p:cNvPr id="11" name="human-label-0">
            <a:extLst xmlns:a="http://schemas.openxmlformats.org/drawingml/2006/main">
              <a:ext uri="{FF2B5EF4-FFF2-40B4-BE49-F238E27FC236}">
                <a16:creationId xmlns:a16="http://schemas.microsoft.com/office/drawing/2014/main" id="{A46491CA-780D-4E6A-B43C-6E3C82685F1E}"/>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ACA9D217-A580-4F06-90F8-E730942A32D6}"/>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過去データを準備。確認画面はあるが最終NC採用</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権限は未公表。</a:t>
            </a:r>
          </a:p>
        </p:txBody>
      </p:sp>
      <p:sp>
        <p:nvSpPr>
          <p:cNvPr id="13" name="year-label-0">
            <a:extLst xmlns:a="http://schemas.openxmlformats.org/drawingml/2006/main">
              <a:ext uri="{FF2B5EF4-FFF2-40B4-BE49-F238E27FC236}">
                <a16:creationId xmlns:a16="http://schemas.microsoft.com/office/drawing/2014/main" id="{2FBACB9A-E203-452B-AE8B-6442A551FF61}"/>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E3DBCE3F-4229-43C8-926F-ECCBB22F0709}"/>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2024比較不能。2025の旋削betaから2026の商用範</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囲拡張を確認。</a:t>
            </a:r>
          </a:p>
        </p:txBody>
      </p:sp>
      <p:sp>
        <p:nvSpPr>
          <p:cNvPr id="15" name="source-0">
            <a:extLst xmlns:a="http://schemas.openxmlformats.org/drawingml/2006/main">
              <a:ext uri="{FF2B5EF4-FFF2-40B4-BE49-F238E27FC236}">
                <a16:creationId xmlns:a16="http://schemas.microsoft.com/office/drawing/2014/main" id="{8329DF93-5755-4FC2-AEE0-A71A2E6EE878}"/>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94e18f0c191c4318"/>
              </a:rPr>
              <a:t>公式原典を開く　ブース E2013</a:t>
            </a:r>
          </a:p>
        </p:txBody>
      </p:sp>
      <p:sp>
        <p:nvSpPr>
          <p:cNvPr id="16" name="case-1">
            <a:extLst xmlns:a="http://schemas.openxmlformats.org/drawingml/2006/main">
              <a:ext uri="{FF2B5EF4-FFF2-40B4-BE49-F238E27FC236}">
                <a16:creationId xmlns:a16="http://schemas.microsoft.com/office/drawing/2014/main" id="{0EC8DC57-7FAE-4A70-8002-3B1521E344C0}"/>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B99DDA5C-2DDA-47B7-9E97-D2BD46D22F51}"/>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E2EA6C88-0B38-4AA2-B0C1-111A56B311DE}"/>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ジェービーエムエンジニアリング</a:t>
            </a:r>
          </a:p>
        </p:txBody>
      </p:sp>
      <p:sp>
        <p:nvSpPr>
          <p:cNvPr id="19" name="product-1">
            <a:extLst xmlns:a="http://schemas.openxmlformats.org/drawingml/2006/main">
              <a:ext uri="{FF2B5EF4-FFF2-40B4-BE49-F238E27FC236}">
                <a16:creationId xmlns:a16="http://schemas.microsoft.com/office/drawing/2014/main" id="{EFE6575C-9182-4DFB-80DE-DAF59365B9DC}"/>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Mastercam＋CAMAssist</a:t>
            </a:r>
          </a:p>
        </p:txBody>
      </p:sp>
      <p:sp>
        <p:nvSpPr>
          <p:cNvPr id="20" name="target-1">
            <a:extLst xmlns:a="http://schemas.openxmlformats.org/drawingml/2006/main">
              <a:ext uri="{FF2B5EF4-FFF2-40B4-BE49-F238E27FC236}">
                <a16:creationId xmlns:a16="http://schemas.microsoft.com/office/drawing/2014/main" id="{749274D2-2964-4DB9-BBF7-D21950F787F8}"/>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部品形状から加工方法・工具経路を作る</a:t>
            </a:r>
          </a:p>
        </p:txBody>
      </p:sp>
      <p:sp>
        <p:nvSpPr>
          <p:cNvPr id="21" name="tech-label-1">
            <a:extLst xmlns:a="http://schemas.openxmlformats.org/drawingml/2006/main">
              <a:ext uri="{FF2B5EF4-FFF2-40B4-BE49-F238E27FC236}">
                <a16:creationId xmlns:a16="http://schemas.microsoft.com/office/drawing/2014/main" id="{76CA40E0-6E7A-46B3-83A0-D4CF2470F49A}"/>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50C9486D-AF27-42D0-AC75-BF7898C974B0}"/>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工具・材料・機械等の条件から加工戦略・経</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路・条件案を生成。</a:t>
            </a:r>
          </a:p>
        </p:txBody>
      </p:sp>
      <p:sp>
        <p:nvSpPr>
          <p:cNvPr id="23" name="human-label-1">
            <a:extLst xmlns:a="http://schemas.openxmlformats.org/drawingml/2006/main">
              <a:ext uri="{FF2B5EF4-FFF2-40B4-BE49-F238E27FC236}">
                <a16:creationId xmlns:a16="http://schemas.microsoft.com/office/drawing/2014/main" id="{D7EA9694-6560-442F-BBE9-D9393FA27600}"/>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AC8A87DE-173F-43DA-9257-FB755D08AB9D}"/>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人が前提を設定し、戦略案を確認・調整してCAMへ</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送る。</a:t>
            </a:r>
          </a:p>
        </p:txBody>
      </p:sp>
      <p:sp>
        <p:nvSpPr>
          <p:cNvPr id="25" name="year-label-1">
            <a:extLst xmlns:a="http://schemas.openxmlformats.org/drawingml/2006/main">
              <a:ext uri="{FF2B5EF4-FFF2-40B4-BE49-F238E27FC236}">
                <a16:creationId xmlns:a16="http://schemas.microsoft.com/office/drawing/2014/main" id="{3CB9B233-17E4-43C3-A4B6-E165B7E7841A}"/>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79B172E7-3207-4F31-B6B9-D272A85234A8}"/>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Mastercam対応は2024/7に発表済み。2026の出展記</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述が具体化。</a:t>
            </a:r>
          </a:p>
        </p:txBody>
      </p:sp>
      <p:sp>
        <p:nvSpPr>
          <p:cNvPr id="27" name="source-1">
            <a:extLst xmlns:a="http://schemas.openxmlformats.org/drawingml/2006/main">
              <a:ext uri="{FF2B5EF4-FFF2-40B4-BE49-F238E27FC236}">
                <a16:creationId xmlns:a16="http://schemas.microsoft.com/office/drawing/2014/main" id="{B4D88E2A-C25C-4C59-BCF4-D27B70247CC5}"/>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145d2a311bd6408c"/>
              </a:rPr>
              <a:t>公式原典を開く　ブース E2002</a:t>
            </a:r>
          </a:p>
        </p:txBody>
      </p:sp>
      <p:sp>
        <p:nvSpPr>
          <p:cNvPr id="28" name="case-2">
            <a:extLst xmlns:a="http://schemas.openxmlformats.org/drawingml/2006/main">
              <a:ext uri="{FF2B5EF4-FFF2-40B4-BE49-F238E27FC236}">
                <a16:creationId xmlns:a16="http://schemas.microsoft.com/office/drawing/2014/main" id="{1E17C205-DBD5-406D-9FF1-68B28DA8FB73}"/>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31F6764F-655A-4515-87C7-659A58AF7BEE}"/>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0E2D5812-30AF-4E38-A55C-B0ED56F26E54}"/>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タクテックス</a:t>
            </a:r>
          </a:p>
        </p:txBody>
      </p:sp>
      <p:sp>
        <p:nvSpPr>
          <p:cNvPr id="31" name="product-2">
            <a:extLst xmlns:a="http://schemas.openxmlformats.org/drawingml/2006/main">
              <a:ext uri="{FF2B5EF4-FFF2-40B4-BE49-F238E27FC236}">
                <a16:creationId xmlns:a16="http://schemas.microsoft.com/office/drawing/2014/main" id="{8E458176-91D7-44A9-A842-2DFA15B3A7B9}"/>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CAM Assist for SolidCAM／SolidShop</a:t>
            </a:r>
          </a:p>
        </p:txBody>
      </p:sp>
      <p:sp>
        <p:nvSpPr>
          <p:cNvPr id="32" name="target-2">
            <a:extLst xmlns:a="http://schemas.openxmlformats.org/drawingml/2006/main">
              <a:ext uri="{FF2B5EF4-FFF2-40B4-BE49-F238E27FC236}">
                <a16:creationId xmlns:a16="http://schemas.microsoft.com/office/drawing/2014/main" id="{5355A364-0D03-4DDA-8938-285161035CA1}"/>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3軸・3+2軸の加工経路を作る</a:t>
            </a:r>
          </a:p>
        </p:txBody>
      </p:sp>
      <p:sp>
        <p:nvSpPr>
          <p:cNvPr id="33" name="tech-label-2">
            <a:extLst xmlns:a="http://schemas.openxmlformats.org/drawingml/2006/main">
              <a:ext uri="{FF2B5EF4-FFF2-40B4-BE49-F238E27FC236}">
                <a16:creationId xmlns:a16="http://schemas.microsoft.com/office/drawing/2014/main" id="{8743B771-CD72-4705-9250-5627904B6AAA}"/>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206EC5B5-930A-4B27-B6AC-92B395184BD7}"/>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SolidCAM向けに3軸・3+2軸の戦略と経路案</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を生成。</a:t>
            </a:r>
          </a:p>
        </p:txBody>
      </p:sp>
      <p:sp>
        <p:nvSpPr>
          <p:cNvPr id="35" name="human-label-2">
            <a:extLst xmlns:a="http://schemas.openxmlformats.org/drawingml/2006/main">
              <a:ext uri="{FF2B5EF4-FFF2-40B4-BE49-F238E27FC236}">
                <a16:creationId xmlns:a16="http://schemas.microsoft.com/office/drawing/2014/main" id="{439CD6AB-EB9F-492C-B1FA-DB86291524E8}"/>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63954FE8-D947-488F-8A36-6573A261B6D6}"/>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工具・保持等を設定し、生成案を編集・採用。最終</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制御権は人。</a:t>
            </a:r>
          </a:p>
        </p:txBody>
      </p:sp>
      <p:sp>
        <p:nvSpPr>
          <p:cNvPr id="37" name="year-label-2">
            <a:extLst xmlns:a="http://schemas.openxmlformats.org/drawingml/2006/main">
              <a:ext uri="{FF2B5EF4-FFF2-40B4-BE49-F238E27FC236}">
                <a16:creationId xmlns:a16="http://schemas.microsoft.com/office/drawing/2014/main" id="{B0B9969F-9998-42ED-A65D-68BDDE496391}"/>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ABC36C3E-5018-4C83-B2C6-9C6CBF1B34A9}"/>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2024はSolidCAM等。2026はAI支援を追加記載。</a:t>
            </a:r>
          </a:p>
        </p:txBody>
      </p:sp>
      <p:sp>
        <p:nvSpPr>
          <p:cNvPr id="39" name="source-2">
            <a:extLst xmlns:a="http://schemas.openxmlformats.org/drawingml/2006/main">
              <a:ext uri="{FF2B5EF4-FFF2-40B4-BE49-F238E27FC236}">
                <a16:creationId xmlns:a16="http://schemas.microsoft.com/office/drawing/2014/main" id="{C4CF0D73-902F-4AA0-8676-1BBC9A3CC41A}"/>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ad8588613ef044c1"/>
              </a:rPr>
              <a:t>公式原典を開く　ブース S1016</a:t>
            </a:r>
          </a:p>
        </p:txBody>
      </p:sp>
    </p:spTree>
    <p:extLst>
      <p:ext uri="{BB962C8B-B14F-4D97-AF65-F5344CB8AC3E}">
        <p14:creationId xmlns:p14="http://schemas.microsoft.com/office/powerpoint/2010/main" val="1121172289"/>
      </p:ext>
    </p:extLst>
  </p:cSld>
</p:sld>
</file>

<file path=ppt/slides/slide16.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B38D90BA-6076-4F55-9ADF-1CE029B447D8}"/>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NC送り最適化・加工中の適応制御</a:t>
            </a:r>
          </a:p>
        </p:txBody>
      </p:sp>
      <p:sp>
        <p:nvSpPr>
          <p:cNvPr id="2" name="sub">
            <a:extLst xmlns:a="http://schemas.openxmlformats.org/drawingml/2006/main">
              <a:ext uri="{FF2B5EF4-FFF2-40B4-BE49-F238E27FC236}">
                <a16:creationId xmlns:a16="http://schemas.microsoft.com/office/drawing/2014/main" id="{7902FF7B-82A9-4FF8-B926-CDD268CB2275}"/>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困りごと〈分析〉：負荷変動による過負荷と、余裕のある区間の加工時間。</a:t>
            </a:r>
          </a:p>
        </p:txBody>
      </p:sp>
      <p:sp>
        <p:nvSpPr>
          <p:cNvPr id="3" name="page">
            <a:extLst xmlns:a="http://schemas.openxmlformats.org/drawingml/2006/main">
              <a:ext uri="{FF2B5EF4-FFF2-40B4-BE49-F238E27FC236}">
                <a16:creationId xmlns:a16="http://schemas.microsoft.com/office/drawing/2014/main" id="{B1E59247-5071-4805-8737-5F1A41512922}"/>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16</a:t>
            </a:r>
          </a:p>
        </p:txBody>
      </p:sp>
      <p:sp>
        <p:nvSpPr>
          <p:cNvPr id="4" name="case-0">
            <a:extLst xmlns:a="http://schemas.openxmlformats.org/drawingml/2006/main">
              <a:ext uri="{FF2B5EF4-FFF2-40B4-BE49-F238E27FC236}">
                <a16:creationId xmlns:a16="http://schemas.microsoft.com/office/drawing/2014/main" id="{AD5CC023-ADB1-411B-97B3-ECBBCD2D8A24}"/>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1E0C7184-DE8D-4C18-9D9A-B90E611FF3DC}"/>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A6BFFF5E-8D55-4DEA-8CB9-2660A1E2C69A}"/>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CGTech</a:t>
            </a:r>
          </a:p>
        </p:txBody>
      </p:sp>
      <p:sp>
        <p:nvSpPr>
          <p:cNvPr id="7" name="product-0">
            <a:extLst xmlns:a="http://schemas.openxmlformats.org/drawingml/2006/main">
              <a:ext uri="{FF2B5EF4-FFF2-40B4-BE49-F238E27FC236}">
                <a16:creationId xmlns:a16="http://schemas.microsoft.com/office/drawing/2014/main" id="{D224A541-4D25-412A-9DC3-E5B213DA2B6D}"/>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Vericut Force／Optimizer</a:t>
            </a:r>
          </a:p>
        </p:txBody>
      </p:sp>
      <p:sp>
        <p:nvSpPr>
          <p:cNvPr id="8" name="target-0">
            <a:extLst xmlns:a="http://schemas.openxmlformats.org/drawingml/2006/main">
              <a:ext uri="{FF2B5EF4-FFF2-40B4-BE49-F238E27FC236}">
                <a16:creationId xmlns:a16="http://schemas.microsoft.com/office/drawing/2014/main" id="{BF478AF6-03A1-424F-97A4-6AAD9958DE40}"/>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加工前にNCの送り速度を調整する</a:t>
            </a:r>
          </a:p>
        </p:txBody>
      </p:sp>
      <p:sp>
        <p:nvSpPr>
          <p:cNvPr id="9" name="tech-label-0">
            <a:extLst xmlns:a="http://schemas.openxmlformats.org/drawingml/2006/main">
              <a:ext uri="{FF2B5EF4-FFF2-40B4-BE49-F238E27FC236}">
                <a16:creationId xmlns:a16="http://schemas.microsoft.com/office/drawing/2014/main" id="{7E1D480F-F313-474C-8167-4DAF55FDB760}"/>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E58A00F5-FC35-427A-BEED-DAC1E9C02F04}"/>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Forceは切削物理と力・動力制約を使い加工</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前に送りを最適化。</a:t>
            </a:r>
          </a:p>
        </p:txBody>
      </p:sp>
      <p:sp>
        <p:nvSpPr>
          <p:cNvPr id="11" name="human-label-0">
            <a:extLst xmlns:a="http://schemas.openxmlformats.org/drawingml/2006/main">
              <a:ext uri="{FF2B5EF4-FFF2-40B4-BE49-F238E27FC236}">
                <a16:creationId xmlns:a16="http://schemas.microsoft.com/office/drawing/2014/main" id="{CFEAE134-9FFB-4DF6-92A5-F83A01131FB7}"/>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4C884C53-19DF-4D57-855E-ECB159881DEC}"/>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材料・工具・限界条件とNC採用が必要〈分析〉。</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運用詳細は未確認。</a:t>
            </a:r>
          </a:p>
        </p:txBody>
      </p:sp>
      <p:sp>
        <p:nvSpPr>
          <p:cNvPr id="13" name="year-label-0">
            <a:extLst xmlns:a="http://schemas.openxmlformats.org/drawingml/2006/main">
              <a:ext uri="{FF2B5EF4-FFF2-40B4-BE49-F238E27FC236}">
                <a16:creationId xmlns:a16="http://schemas.microsoft.com/office/drawing/2014/main" id="{E6A9A38F-9E8E-46B0-8F10-95A1A56C7DB9}"/>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52B02B9C-E186-416F-AA83-6748FAA9FE56}"/>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Forceは2024掲載済み。2026のAI訴求とOptimizer</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の方式差は未確認。</a:t>
            </a:r>
          </a:p>
        </p:txBody>
      </p:sp>
      <p:sp>
        <p:nvSpPr>
          <p:cNvPr id="15" name="source-0">
            <a:extLst xmlns:a="http://schemas.openxmlformats.org/drawingml/2006/main">
              <a:ext uri="{FF2B5EF4-FFF2-40B4-BE49-F238E27FC236}">
                <a16:creationId xmlns:a16="http://schemas.microsoft.com/office/drawing/2014/main" id="{B9BC0883-0F9B-4924-A595-798BBF82D22F}"/>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79fc62bec82b491a"/>
              </a:rPr>
              <a:t>公式原典を開く　ブース S3014</a:t>
            </a:r>
          </a:p>
        </p:txBody>
      </p:sp>
      <p:sp>
        <p:nvSpPr>
          <p:cNvPr id="16" name="case-1">
            <a:extLst xmlns:a="http://schemas.openxmlformats.org/drawingml/2006/main">
              <a:ext uri="{FF2B5EF4-FFF2-40B4-BE49-F238E27FC236}">
                <a16:creationId xmlns:a16="http://schemas.microsoft.com/office/drawing/2014/main" id="{C3968E54-5D55-450C-A6D9-9F5FDBAA724B}"/>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FA03B59F-A0C3-4079-A73B-CD07B0498DC0}"/>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06E73A2D-5063-48AF-8A02-850D3D0ED3AA}"/>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Third Wave Systems Japan</a:t>
            </a:r>
          </a:p>
        </p:txBody>
      </p:sp>
      <p:sp>
        <p:nvSpPr>
          <p:cNvPr id="19" name="product-1">
            <a:extLst xmlns:a="http://schemas.openxmlformats.org/drawingml/2006/main">
              <a:ext uri="{FF2B5EF4-FFF2-40B4-BE49-F238E27FC236}">
                <a16:creationId xmlns:a16="http://schemas.microsoft.com/office/drawing/2014/main" id="{39308B67-A9DA-4B0F-A4BD-711CD6C229F6}"/>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Production Module／AdvantEdge</a:t>
            </a:r>
          </a:p>
        </p:txBody>
      </p:sp>
      <p:sp>
        <p:nvSpPr>
          <p:cNvPr id="20" name="target-1">
            <a:extLst xmlns:a="http://schemas.openxmlformats.org/drawingml/2006/main">
              <a:ext uri="{FF2B5EF4-FFF2-40B4-BE49-F238E27FC236}">
                <a16:creationId xmlns:a16="http://schemas.microsoft.com/office/drawing/2014/main" id="{F9E5E06F-CE74-4A59-B1E9-FC8A98007D4B}"/>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加工負荷を予測しNC送りを最適化する</a:t>
            </a:r>
          </a:p>
        </p:txBody>
      </p:sp>
      <p:sp>
        <p:nvSpPr>
          <p:cNvPr id="21" name="tech-label-1">
            <a:extLst xmlns:a="http://schemas.openxmlformats.org/drawingml/2006/main">
              <a:ext uri="{FF2B5EF4-FFF2-40B4-BE49-F238E27FC236}">
                <a16:creationId xmlns:a16="http://schemas.microsoft.com/office/drawing/2014/main" id="{04CBAE38-6EF4-468D-A188-4724A3DB2192}"/>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2A22C216-9FFC-48AB-8E88-A65DE0A29817}"/>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Production ModuleはNCレベルの負荷解析。</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刃先FEMのAdvantEdgeとは別。</a:t>
            </a:r>
          </a:p>
        </p:txBody>
      </p:sp>
      <p:sp>
        <p:nvSpPr>
          <p:cNvPr id="23" name="human-label-1">
            <a:extLst xmlns:a="http://schemas.openxmlformats.org/drawingml/2006/main">
              <a:ext uri="{FF2B5EF4-FFF2-40B4-BE49-F238E27FC236}">
                <a16:creationId xmlns:a16="http://schemas.microsoft.com/office/drawing/2014/main" id="{98D5FBFC-B620-4A35-AB22-C25F92B07767}"/>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9C4023B6-7B9C-426D-BA98-A297F57CB751}"/>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モデル・材料・工具の設定と採用判断が必要〈分析〉。</a:t>
            </a:r>
          </a:p>
        </p:txBody>
      </p:sp>
      <p:sp>
        <p:nvSpPr>
          <p:cNvPr id="25" name="year-label-1">
            <a:extLst xmlns:a="http://schemas.openxmlformats.org/drawingml/2006/main">
              <a:ext uri="{FF2B5EF4-FFF2-40B4-BE49-F238E27FC236}">
                <a16:creationId xmlns:a16="http://schemas.microsoft.com/office/drawing/2014/main" id="{46D80744-7898-4942-AE58-BCA77A5592D4}"/>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0B12BE16-6194-4EB8-994B-0FAC03455FA3}"/>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2024展示比較不能。工具たわみ等は2019年にも公</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式説明。</a:t>
            </a:r>
          </a:p>
        </p:txBody>
      </p:sp>
      <p:sp>
        <p:nvSpPr>
          <p:cNvPr id="27" name="source-1">
            <a:extLst xmlns:a="http://schemas.openxmlformats.org/drawingml/2006/main">
              <a:ext uri="{FF2B5EF4-FFF2-40B4-BE49-F238E27FC236}">
                <a16:creationId xmlns:a16="http://schemas.microsoft.com/office/drawing/2014/main" id="{46DBEFBF-C910-42BA-A5A4-B7AD52F81CBC}"/>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aa3a68171cfa44b6"/>
              </a:rPr>
              <a:t>公式原典を開く　ブース E1064</a:t>
            </a:r>
          </a:p>
        </p:txBody>
      </p:sp>
      <p:sp>
        <p:nvSpPr>
          <p:cNvPr id="28" name="case-2">
            <a:extLst xmlns:a="http://schemas.openxmlformats.org/drawingml/2006/main">
              <a:ext uri="{FF2B5EF4-FFF2-40B4-BE49-F238E27FC236}">
                <a16:creationId xmlns:a16="http://schemas.microsoft.com/office/drawing/2014/main" id="{F9C655AF-D4A4-4AB8-B85E-A56FF3E06190}"/>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0ED9DD49-F113-40B0-B86B-C14B35903B98}"/>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EA32C79F-56D4-48AB-86A7-C2DE26548DC0}"/>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西部商工</a:t>
            </a:r>
          </a:p>
        </p:txBody>
      </p:sp>
      <p:sp>
        <p:nvSpPr>
          <p:cNvPr id="31" name="product-2">
            <a:extLst xmlns:a="http://schemas.openxmlformats.org/drawingml/2006/main">
              <a:ext uri="{FF2B5EF4-FFF2-40B4-BE49-F238E27FC236}">
                <a16:creationId xmlns:a16="http://schemas.microsoft.com/office/drawing/2014/main" id="{C1753930-16FC-4A9D-BB5B-BD50FD3FC428}"/>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ACM</a:t>
            </a:r>
          </a:p>
        </p:txBody>
      </p:sp>
      <p:sp>
        <p:nvSpPr>
          <p:cNvPr id="32" name="target-2">
            <a:extLst xmlns:a="http://schemas.openxmlformats.org/drawingml/2006/main">
              <a:ext uri="{FF2B5EF4-FFF2-40B4-BE49-F238E27FC236}">
                <a16:creationId xmlns:a16="http://schemas.microsoft.com/office/drawing/2014/main" id="{DDB37620-D743-459B-9058-B5BE5B00EE57}"/>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加工中の負荷に応じ送りを自動調整する</a:t>
            </a:r>
          </a:p>
        </p:txBody>
      </p:sp>
      <p:sp>
        <p:nvSpPr>
          <p:cNvPr id="33" name="tech-label-2">
            <a:extLst xmlns:a="http://schemas.openxmlformats.org/drawingml/2006/main">
              <a:ext uri="{FF2B5EF4-FFF2-40B4-BE49-F238E27FC236}">
                <a16:creationId xmlns:a16="http://schemas.microsoft.com/office/drawing/2014/main" id="{8B86F212-B976-4864-A42F-88E8FA9AE377}"/>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927FE298-CD44-4214-8B97-5BED40DEA547}"/>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ACMは実測主軸負荷を使い加工中の送りを自</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動調整。</a:t>
            </a:r>
          </a:p>
        </p:txBody>
      </p:sp>
      <p:sp>
        <p:nvSpPr>
          <p:cNvPr id="35" name="human-label-2">
            <a:extLst xmlns:a="http://schemas.openxmlformats.org/drawingml/2006/main">
              <a:ext uri="{FF2B5EF4-FFF2-40B4-BE49-F238E27FC236}">
                <a16:creationId xmlns:a16="http://schemas.microsoft.com/office/drawing/2014/main" id="{D5AAB9CD-6B11-4DE0-9772-9AD74B099022}"/>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32CBD622-0390-490D-859E-6495F333FE89}"/>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負荷限界の設定者・停止復帰の手順は未確認。</a:t>
            </a:r>
          </a:p>
        </p:txBody>
      </p:sp>
      <p:sp>
        <p:nvSpPr>
          <p:cNvPr id="37" name="year-label-2">
            <a:extLst xmlns:a="http://schemas.openxmlformats.org/drawingml/2006/main">
              <a:ext uri="{FF2B5EF4-FFF2-40B4-BE49-F238E27FC236}">
                <a16:creationId xmlns:a16="http://schemas.microsoft.com/office/drawing/2014/main" id="{43596C13-0753-4A8F-9285-86B4C9E03325}"/>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7EF27892-DAAD-44FE-BF6B-8F74198214AB}"/>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2024も負荷監視と送り制御を記載。基本方式は継</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続。</a:t>
            </a:r>
          </a:p>
        </p:txBody>
      </p:sp>
      <p:sp>
        <p:nvSpPr>
          <p:cNvPr id="39" name="source-2">
            <a:extLst xmlns:a="http://schemas.openxmlformats.org/drawingml/2006/main">
              <a:ext uri="{FF2B5EF4-FFF2-40B4-BE49-F238E27FC236}">
                <a16:creationId xmlns:a16="http://schemas.microsoft.com/office/drawing/2014/main" id="{DAAD8063-77F2-478B-9DA4-162DB0658A19}"/>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d8c5939362424c6c"/>
              </a:rPr>
              <a:t>公式原典を開く　ブース S3020</a:t>
            </a:r>
          </a:p>
        </p:txBody>
      </p:sp>
    </p:spTree>
    <p:extLst>
      <p:ext uri="{BB962C8B-B14F-4D97-AF65-F5344CB8AC3E}">
        <p14:creationId xmlns:p14="http://schemas.microsoft.com/office/powerpoint/2010/main" val="86053811"/>
      </p:ext>
    </p:extLst>
  </p:cSld>
</p:sld>
</file>

<file path=ppt/slides/slide17.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59E2DE9C-A1C1-4D2E-A5CC-6F5DADF9E84D}"/>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PLC・HMI・電気設計の支援</a:t>
            </a:r>
          </a:p>
        </p:txBody>
      </p:sp>
      <p:sp>
        <p:nvSpPr>
          <p:cNvPr id="2" name="sub">
            <a:extLst xmlns:a="http://schemas.openxmlformats.org/drawingml/2006/main">
              <a:ext uri="{FF2B5EF4-FFF2-40B4-BE49-F238E27FC236}">
                <a16:creationId xmlns:a16="http://schemas.microsoft.com/office/drawing/2014/main" id="{FF0D9778-BC68-4593-863B-CB15CE1890E1}"/>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困りごと〈分析〉：要求から制御コード・画面・設計情報へ落とす手間。</a:t>
            </a:r>
          </a:p>
        </p:txBody>
      </p:sp>
      <p:sp>
        <p:nvSpPr>
          <p:cNvPr id="3" name="page">
            <a:extLst xmlns:a="http://schemas.openxmlformats.org/drawingml/2006/main">
              <a:ext uri="{FF2B5EF4-FFF2-40B4-BE49-F238E27FC236}">
                <a16:creationId xmlns:a16="http://schemas.microsoft.com/office/drawing/2014/main" id="{255489E6-7FA1-47EF-BC0C-E85E6B07DB47}"/>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17</a:t>
            </a:r>
          </a:p>
        </p:txBody>
      </p:sp>
      <p:sp>
        <p:nvSpPr>
          <p:cNvPr id="4" name="case-0">
            <a:extLst xmlns:a="http://schemas.openxmlformats.org/drawingml/2006/main">
              <a:ext uri="{FF2B5EF4-FFF2-40B4-BE49-F238E27FC236}">
                <a16:creationId xmlns:a16="http://schemas.microsoft.com/office/drawing/2014/main" id="{C4ACD62D-B421-4FC5-B5C2-D0A8D600064A}"/>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894B8056-833F-43D1-A6AC-2CC49AAC5345}"/>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0BB62629-5351-47DC-B52F-4937A71B7102}"/>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ベッコフオートメーション</a:t>
            </a:r>
          </a:p>
        </p:txBody>
      </p:sp>
      <p:sp>
        <p:nvSpPr>
          <p:cNvPr id="7" name="product-0">
            <a:extLst xmlns:a="http://schemas.openxmlformats.org/drawingml/2006/main">
              <a:ext uri="{FF2B5EF4-FFF2-40B4-BE49-F238E27FC236}">
                <a16:creationId xmlns:a16="http://schemas.microsoft.com/office/drawing/2014/main" id="{5DE27578-F539-49DC-8EC7-40F49FC60347}"/>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CoAgent for Engineering：PLC</a:t>
            </a:r>
          </a:p>
        </p:txBody>
      </p:sp>
      <p:sp>
        <p:nvSpPr>
          <p:cNvPr id="8" name="target-0">
            <a:extLst xmlns:a="http://schemas.openxmlformats.org/drawingml/2006/main">
              <a:ext uri="{FF2B5EF4-FFF2-40B4-BE49-F238E27FC236}">
                <a16:creationId xmlns:a16="http://schemas.microsoft.com/office/drawing/2014/main" id="{12132FA9-BD44-450E-91D3-0B251C20DAA4}"/>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設備のPLC制御プログラムを作る</a:t>
            </a:r>
          </a:p>
        </p:txBody>
      </p:sp>
      <p:sp>
        <p:nvSpPr>
          <p:cNvPr id="9" name="tech-label-0">
            <a:extLst xmlns:a="http://schemas.openxmlformats.org/drawingml/2006/main">
              <a:ext uri="{FF2B5EF4-FFF2-40B4-BE49-F238E27FC236}">
                <a16:creationId xmlns:a16="http://schemas.microsoft.com/office/drawing/2014/main" id="{70BABD0B-3366-4EFA-9C15-2140BBEA5E1B}"/>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FC69C0F6-C0E7-42D0-A3E1-85D5EBCC8A48}"/>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要求とプロジェクト文脈からPLCコード案を</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提案。</a:t>
            </a:r>
          </a:p>
        </p:txBody>
      </p:sp>
      <p:sp>
        <p:nvSpPr>
          <p:cNvPr id="11" name="human-label-0">
            <a:extLst xmlns:a="http://schemas.openxmlformats.org/drawingml/2006/main">
              <a:ext uri="{FF2B5EF4-FFF2-40B4-BE49-F238E27FC236}">
                <a16:creationId xmlns:a16="http://schemas.microsoft.com/office/drawing/2014/main" id="{0BD97C92-41D7-4096-B889-D752E75EBB3A}"/>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B0846357-3CD3-4120-9E81-3410217AAD84}"/>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専門家が確認・確定・実行承認。書込みや起動の個</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別権限は未確認。</a:t>
            </a:r>
          </a:p>
        </p:txBody>
      </p:sp>
      <p:sp>
        <p:nvSpPr>
          <p:cNvPr id="13" name="year-label-0">
            <a:extLst xmlns:a="http://schemas.openxmlformats.org/drawingml/2006/main">
              <a:ext uri="{FF2B5EF4-FFF2-40B4-BE49-F238E27FC236}">
                <a16:creationId xmlns:a16="http://schemas.microsoft.com/office/drawing/2014/main" id="{C3BC2E51-CC49-42E3-95EA-D4A9D5A02489}"/>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0D30C0DA-07E9-4E7A-A8CA-182CED1BD814}"/>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PLCコード支援は2023発表済み。2026初の方式では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ない。</a:t>
            </a:r>
          </a:p>
        </p:txBody>
      </p:sp>
      <p:sp>
        <p:nvSpPr>
          <p:cNvPr id="15" name="source-0">
            <a:extLst xmlns:a="http://schemas.openxmlformats.org/drawingml/2006/main">
              <a:ext uri="{FF2B5EF4-FFF2-40B4-BE49-F238E27FC236}">
                <a16:creationId xmlns:a16="http://schemas.microsoft.com/office/drawing/2014/main" id="{928757C5-AE4F-4F32-A02E-47F04A691E34}"/>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e59288ebdecb44de"/>
              </a:rPr>
              <a:t>公式原典を開く　ブース E2028</a:t>
            </a:r>
          </a:p>
        </p:txBody>
      </p:sp>
      <p:sp>
        <p:nvSpPr>
          <p:cNvPr id="16" name="case-1">
            <a:extLst xmlns:a="http://schemas.openxmlformats.org/drawingml/2006/main">
              <a:ext uri="{FF2B5EF4-FFF2-40B4-BE49-F238E27FC236}">
                <a16:creationId xmlns:a16="http://schemas.microsoft.com/office/drawing/2014/main" id="{B49A979B-27FF-458B-834F-AF1FA466D81A}"/>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33FB2E61-88BB-4547-A741-D50CC27B270B}"/>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E4607DB7-E673-4BD4-B85E-283246B4C56B}"/>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ベッコフオートメーション</a:t>
            </a:r>
          </a:p>
        </p:txBody>
      </p:sp>
      <p:sp>
        <p:nvSpPr>
          <p:cNvPr id="19" name="product-1">
            <a:extLst xmlns:a="http://schemas.openxmlformats.org/drawingml/2006/main">
              <a:ext uri="{FF2B5EF4-FFF2-40B4-BE49-F238E27FC236}">
                <a16:creationId xmlns:a16="http://schemas.microsoft.com/office/drawing/2014/main" id="{E2FA0D1C-B364-4FFF-8814-0D3F4433DFB9}"/>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CoAgent for Engineering：I/O・HMI</a:t>
            </a:r>
          </a:p>
        </p:txBody>
      </p:sp>
      <p:sp>
        <p:nvSpPr>
          <p:cNvPr id="20" name="target-1">
            <a:extLst xmlns:a="http://schemas.openxmlformats.org/drawingml/2006/main">
              <a:ext uri="{FF2B5EF4-FFF2-40B4-BE49-F238E27FC236}">
                <a16:creationId xmlns:a16="http://schemas.microsoft.com/office/drawing/2014/main" id="{D667A9C0-4653-4E61-BD1A-94CD65BE85E8}"/>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設備の入出力設定と操作画面を作る</a:t>
            </a:r>
          </a:p>
        </p:txBody>
      </p:sp>
      <p:sp>
        <p:nvSpPr>
          <p:cNvPr id="21" name="tech-label-1">
            <a:extLst xmlns:a="http://schemas.openxmlformats.org/drawingml/2006/main">
              <a:ext uri="{FF2B5EF4-FFF2-40B4-BE49-F238E27FC236}">
                <a16:creationId xmlns:a16="http://schemas.microsoft.com/office/drawing/2014/main" id="{122A9B44-5CEB-473A-B7F5-8DC78A8D8EEC}"/>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48C11485-EE86-40E9-9C46-120A3A481BD6}"/>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I/O構成とHMI生成・操作を支援するEnginee</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ring機能。</a:t>
            </a:r>
          </a:p>
        </p:txBody>
      </p:sp>
      <p:sp>
        <p:nvSpPr>
          <p:cNvPr id="23" name="human-label-1">
            <a:extLst xmlns:a="http://schemas.openxmlformats.org/drawingml/2006/main">
              <a:ext uri="{FF2B5EF4-FFF2-40B4-BE49-F238E27FC236}">
                <a16:creationId xmlns:a16="http://schemas.microsoft.com/office/drawing/2014/main" id="{9D20B15A-0222-47D2-A559-E25F9D0B771B}"/>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8061A031-C94B-4AF5-8646-936512B8008F}"/>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専門家のレビュー方針。構成誤りの検証・差戻しは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未確認。</a:t>
            </a:r>
          </a:p>
        </p:txBody>
      </p:sp>
      <p:sp>
        <p:nvSpPr>
          <p:cNvPr id="25" name="year-label-1">
            <a:extLst xmlns:a="http://schemas.openxmlformats.org/drawingml/2006/main">
              <a:ext uri="{FF2B5EF4-FFF2-40B4-BE49-F238E27FC236}">
                <a16:creationId xmlns:a16="http://schemas.microsoft.com/office/drawing/2014/main" id="{59BD54D7-6BD4-4C78-846E-774BCF912912}"/>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75B5D6B5-9022-43A9-8D3B-8CBD5C5E32D6}"/>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I/O・HMI支援は2025/6にも公式説明。</a:t>
            </a:r>
          </a:p>
        </p:txBody>
      </p:sp>
      <p:sp>
        <p:nvSpPr>
          <p:cNvPr id="27" name="source-1">
            <a:extLst xmlns:a="http://schemas.openxmlformats.org/drawingml/2006/main">
              <a:ext uri="{FF2B5EF4-FFF2-40B4-BE49-F238E27FC236}">
                <a16:creationId xmlns:a16="http://schemas.microsoft.com/office/drawing/2014/main" id="{78135B9D-5D36-4B96-A446-AA92516929CF}"/>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73056da312ed4967"/>
              </a:rPr>
              <a:t>公式原典を開く　ブース E2028</a:t>
            </a:r>
          </a:p>
        </p:txBody>
      </p:sp>
      <p:sp>
        <p:nvSpPr>
          <p:cNvPr id="28" name="case-2">
            <a:extLst xmlns:a="http://schemas.openxmlformats.org/drawingml/2006/main">
              <a:ext uri="{FF2B5EF4-FFF2-40B4-BE49-F238E27FC236}">
                <a16:creationId xmlns:a16="http://schemas.microsoft.com/office/drawing/2014/main" id="{951888B5-8F6E-4197-8C20-2F6D8A28554E}"/>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D580DE64-3385-4562-B76E-A1DF5D1D19AB}"/>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BEB2A67F-B5EF-4165-9FDD-81C487718D8E}"/>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EPLAN</a:t>
            </a:r>
          </a:p>
        </p:txBody>
      </p:sp>
      <p:sp>
        <p:nvSpPr>
          <p:cNvPr id="31" name="product-2">
            <a:extLst xmlns:a="http://schemas.openxmlformats.org/drawingml/2006/main">
              <a:ext uri="{FF2B5EF4-FFF2-40B4-BE49-F238E27FC236}">
                <a16:creationId xmlns:a16="http://schemas.microsoft.com/office/drawing/2014/main" id="{408E6891-E2E2-43A2-A2EE-CEB5E2149FFC}"/>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Eplan Copilot</a:t>
            </a:r>
          </a:p>
        </p:txBody>
      </p:sp>
      <p:sp>
        <p:nvSpPr>
          <p:cNvPr id="32" name="target-2">
            <a:extLst xmlns:a="http://schemas.openxmlformats.org/drawingml/2006/main">
              <a:ext uri="{FF2B5EF4-FFF2-40B4-BE49-F238E27FC236}">
                <a16:creationId xmlns:a16="http://schemas.microsoft.com/office/drawing/2014/main" id="{F739CB9C-13F5-4D7D-BDA3-EE4163D979D6}"/>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電気設計の情報・操作手順を調べる</a:t>
            </a:r>
          </a:p>
        </p:txBody>
      </p:sp>
      <p:sp>
        <p:nvSpPr>
          <p:cNvPr id="33" name="tech-label-2">
            <a:extLst xmlns:a="http://schemas.openxmlformats.org/drawingml/2006/main">
              <a:ext uri="{FF2B5EF4-FFF2-40B4-BE49-F238E27FC236}">
                <a16:creationId xmlns:a16="http://schemas.microsoft.com/office/drawing/2014/main" id="{C81DCE6B-7C9A-4920-A38F-D259D70CEBB4}"/>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CFEE99F4-6FAF-497D-A965-CF7857438A82}"/>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Eplan Copilotが文脈に応じた回答・推奨・</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手順を生成。</a:t>
            </a:r>
          </a:p>
        </p:txBody>
      </p:sp>
      <p:sp>
        <p:nvSpPr>
          <p:cNvPr id="35" name="human-label-2">
            <a:extLst xmlns:a="http://schemas.openxmlformats.org/drawingml/2006/main">
              <a:ext uri="{FF2B5EF4-FFF2-40B4-BE49-F238E27FC236}">
                <a16:creationId xmlns:a16="http://schemas.microsoft.com/office/drawing/2014/main" id="{0DF56111-7DBA-4E38-9859-6A5807BFE0EC}"/>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85A5AD60-BAC5-4DEA-BCB4-3FF8C097B755}"/>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意思決定は人。設計変更の自動採用は現機能と確認</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できない。</a:t>
            </a:r>
          </a:p>
        </p:txBody>
      </p:sp>
      <p:sp>
        <p:nvSpPr>
          <p:cNvPr id="37" name="year-label-2">
            <a:extLst xmlns:a="http://schemas.openxmlformats.org/drawingml/2006/main">
              <a:ext uri="{FF2B5EF4-FFF2-40B4-BE49-F238E27FC236}">
                <a16:creationId xmlns:a16="http://schemas.microsoft.com/office/drawing/2014/main" id="{3BA5D715-3AED-4ABC-81B8-B14A458F16BD}"/>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5B7364D4-C888-4D89-9025-A56518411CC0}"/>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2024の盤設計・データ連携に対し、2026はCopilot</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を記載。</a:t>
            </a:r>
          </a:p>
        </p:txBody>
      </p:sp>
      <p:sp>
        <p:nvSpPr>
          <p:cNvPr id="39" name="source-2">
            <a:extLst xmlns:a="http://schemas.openxmlformats.org/drawingml/2006/main">
              <a:ext uri="{FF2B5EF4-FFF2-40B4-BE49-F238E27FC236}">
                <a16:creationId xmlns:a16="http://schemas.microsoft.com/office/drawing/2014/main" id="{93EDAD5C-AB7F-44BD-822E-E336D5C1A036}"/>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b74d79add4f24ad9"/>
              </a:rPr>
              <a:t>公式原典を開く　ブース S1067</a:t>
            </a:r>
          </a:p>
        </p:txBody>
      </p:sp>
    </p:spTree>
    <p:extLst>
      <p:ext uri="{BB962C8B-B14F-4D97-AF65-F5344CB8AC3E}">
        <p14:creationId xmlns:p14="http://schemas.microsoft.com/office/powerpoint/2010/main" val="1080690017"/>
      </p:ext>
    </p:extLst>
  </p:cSld>
</p:sld>
</file>

<file path=ppt/slides/slide18.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D1BE62E2-835A-435C-B0BE-1FC1FB724F12}"/>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熱変位補正・びびり抑制</a:t>
            </a:r>
          </a:p>
        </p:txBody>
      </p:sp>
      <p:sp>
        <p:nvSpPr>
          <p:cNvPr id="2" name="sub">
            <a:extLst xmlns:a="http://schemas.openxmlformats.org/drawingml/2006/main">
              <a:ext uri="{FF2B5EF4-FFF2-40B4-BE49-F238E27FC236}">
                <a16:creationId xmlns:a16="http://schemas.microsoft.com/office/drawing/2014/main" id="{1D2350E8-7209-4F80-8CD8-B436C3BBC609}"/>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困りごと〈分析〉：温度変化や振動に伴う精度・面品位のばらつき。</a:t>
            </a:r>
          </a:p>
        </p:txBody>
      </p:sp>
      <p:sp>
        <p:nvSpPr>
          <p:cNvPr id="3" name="page">
            <a:extLst xmlns:a="http://schemas.openxmlformats.org/drawingml/2006/main">
              <a:ext uri="{FF2B5EF4-FFF2-40B4-BE49-F238E27FC236}">
                <a16:creationId xmlns:a16="http://schemas.microsoft.com/office/drawing/2014/main" id="{44F9C837-EA70-45E2-B1BC-D71B3762A687}"/>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18</a:t>
            </a:r>
          </a:p>
        </p:txBody>
      </p:sp>
      <p:sp>
        <p:nvSpPr>
          <p:cNvPr id="4" name="case-0">
            <a:extLst xmlns:a="http://schemas.openxmlformats.org/drawingml/2006/main">
              <a:ext uri="{FF2B5EF4-FFF2-40B4-BE49-F238E27FC236}">
                <a16:creationId xmlns:a16="http://schemas.microsoft.com/office/drawing/2014/main" id="{768AF2C3-5E70-40E8-85A7-DED93BE3CE3F}"/>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AF1BFCB0-BEB7-40FA-A7B2-5A86EED42501}"/>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3C16A610-90E4-453A-9F75-FA3FF7961155}"/>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オークマ</a:t>
            </a:r>
          </a:p>
        </p:txBody>
      </p:sp>
      <p:sp>
        <p:nvSpPr>
          <p:cNvPr id="7" name="product-0">
            <a:extLst xmlns:a="http://schemas.openxmlformats.org/drawingml/2006/main">
              <a:ext uri="{FF2B5EF4-FFF2-40B4-BE49-F238E27FC236}">
                <a16:creationId xmlns:a16="http://schemas.microsoft.com/office/drawing/2014/main" id="{7FD948CB-EF3F-41B7-92EA-386FFA5492DF}"/>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熱変位制御・AI知能化</a:t>
            </a:r>
          </a:p>
        </p:txBody>
      </p:sp>
      <p:sp>
        <p:nvSpPr>
          <p:cNvPr id="8" name="target-0">
            <a:extLst xmlns:a="http://schemas.openxmlformats.org/drawingml/2006/main">
              <a:ext uri="{FF2B5EF4-FFF2-40B4-BE49-F238E27FC236}">
                <a16:creationId xmlns:a16="http://schemas.microsoft.com/office/drawing/2014/main" id="{11AE21B0-F767-4181-80D8-3B6FA31CEC95}"/>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温度変化による加工位置のずれを抑える</a:t>
            </a:r>
          </a:p>
        </p:txBody>
      </p:sp>
      <p:sp>
        <p:nvSpPr>
          <p:cNvPr id="9" name="tech-label-0">
            <a:extLst xmlns:a="http://schemas.openxmlformats.org/drawingml/2006/main">
              <a:ext uri="{FF2B5EF4-FFF2-40B4-BE49-F238E27FC236}">
                <a16:creationId xmlns:a16="http://schemas.microsoft.com/office/drawing/2014/main" id="{41862293-D209-472B-A285-1DEC63D004DE}"/>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5B25095C-02B1-41B6-9D40-8CA2B4EDF46B}"/>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熱を単純化する構造と熱変位制御を組み合わ</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せる。</a:t>
            </a:r>
          </a:p>
        </p:txBody>
      </p:sp>
      <p:sp>
        <p:nvSpPr>
          <p:cNvPr id="11" name="human-label-0">
            <a:extLst xmlns:a="http://schemas.openxmlformats.org/drawingml/2006/main">
              <a:ext uri="{FF2B5EF4-FFF2-40B4-BE49-F238E27FC236}">
                <a16:creationId xmlns:a16="http://schemas.microsoft.com/office/drawing/2014/main" id="{4FC7C6DF-0544-4F33-885C-03C7C0ABDE68}"/>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83851551-289B-4B55-8EA0-012FA2451EE3}"/>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校正・補正限界・条件変化時の人の関与は未確認。</a:t>
            </a:r>
          </a:p>
        </p:txBody>
      </p:sp>
      <p:sp>
        <p:nvSpPr>
          <p:cNvPr id="13" name="year-label-0">
            <a:extLst xmlns:a="http://schemas.openxmlformats.org/drawingml/2006/main">
              <a:ext uri="{FF2B5EF4-FFF2-40B4-BE49-F238E27FC236}">
                <a16:creationId xmlns:a16="http://schemas.microsoft.com/office/drawing/2014/main" id="{314A71FF-D252-488B-A63B-C47D85245CCA}"/>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FC8386A9-0EF9-4331-BDA0-170867F23686}"/>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熱安定化は既存技術。2026のAI訴求だけで補正全</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体をAIとしない。</a:t>
            </a:r>
          </a:p>
        </p:txBody>
      </p:sp>
      <p:sp>
        <p:nvSpPr>
          <p:cNvPr id="15" name="source-0">
            <a:extLst xmlns:a="http://schemas.openxmlformats.org/drawingml/2006/main">
              <a:ext uri="{FF2B5EF4-FFF2-40B4-BE49-F238E27FC236}">
                <a16:creationId xmlns:a16="http://schemas.microsoft.com/office/drawing/2014/main" id="{F6C47168-F291-4EE8-9E61-CAAFDCEFCCAC}"/>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f21f7d388a3b4a2b"/>
              </a:rPr>
              <a:t>公式原典を開く　ブース E3028</a:t>
            </a:r>
          </a:p>
        </p:txBody>
      </p:sp>
      <p:sp>
        <p:nvSpPr>
          <p:cNvPr id="16" name="case-1">
            <a:extLst xmlns:a="http://schemas.openxmlformats.org/drawingml/2006/main">
              <a:ext uri="{FF2B5EF4-FFF2-40B4-BE49-F238E27FC236}">
                <a16:creationId xmlns:a16="http://schemas.microsoft.com/office/drawing/2014/main" id="{1EA2AB7B-6118-4EEE-974E-4DC481A30136}"/>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EFED485B-EB13-4F3D-9F42-9289E9283B4E}"/>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72304394-6E00-49B5-8861-631972C16B19}"/>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ヤマザキマザック</a:t>
            </a:r>
          </a:p>
        </p:txBody>
      </p:sp>
      <p:sp>
        <p:nvSpPr>
          <p:cNvPr id="19" name="product-1">
            <a:extLst xmlns:a="http://schemas.openxmlformats.org/drawingml/2006/main">
              <a:ext uri="{FF2B5EF4-FFF2-40B4-BE49-F238E27FC236}">
                <a16:creationId xmlns:a16="http://schemas.microsoft.com/office/drawing/2014/main" id="{1C40255E-9646-46CC-888B-42A3B18EEEC8}"/>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Ai Thermal Shield（製品資料で比較）</a:t>
            </a:r>
          </a:p>
        </p:txBody>
      </p:sp>
      <p:sp>
        <p:nvSpPr>
          <p:cNvPr id="20" name="target-1">
            <a:extLst xmlns:a="http://schemas.openxmlformats.org/drawingml/2006/main">
              <a:ext uri="{FF2B5EF4-FFF2-40B4-BE49-F238E27FC236}">
                <a16:creationId xmlns:a16="http://schemas.microsoft.com/office/drawing/2014/main" id="{3E9001F6-82A1-49C5-81D1-8B0F7C23325A}"/>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加工後測定も使い熱変位補正を調整する</a:t>
            </a:r>
          </a:p>
        </p:txBody>
      </p:sp>
      <p:sp>
        <p:nvSpPr>
          <p:cNvPr id="21" name="tech-label-1">
            <a:extLst xmlns:a="http://schemas.openxmlformats.org/drawingml/2006/main">
              <a:ext uri="{FF2B5EF4-FFF2-40B4-BE49-F238E27FC236}">
                <a16:creationId xmlns:a16="http://schemas.microsoft.com/office/drawing/2014/main" id="{354CC878-F961-41F7-91B8-336E600D3BF0}"/>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0F0A4A81-1C7D-45ED-90D5-1244FAA262FC}"/>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温度・回転等を考慮。加工後測定の学習で熱</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変位補正を最適化。</a:t>
            </a:r>
          </a:p>
        </p:txBody>
      </p:sp>
      <p:sp>
        <p:nvSpPr>
          <p:cNvPr id="23" name="human-label-1">
            <a:extLst xmlns:a="http://schemas.openxmlformats.org/drawingml/2006/main">
              <a:ext uri="{FF2B5EF4-FFF2-40B4-BE49-F238E27FC236}">
                <a16:creationId xmlns:a16="http://schemas.microsoft.com/office/drawing/2014/main" id="{928A9D59-EEDE-4CFB-ACED-EEC1C603AECD}"/>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3B93B011-7DC6-443B-AC3F-5165EE6A5D32}"/>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測定準備・更新採否・補正限界の設定者は未確認。</a:t>
            </a:r>
          </a:p>
        </p:txBody>
      </p:sp>
      <p:sp>
        <p:nvSpPr>
          <p:cNvPr id="25" name="year-label-1">
            <a:extLst xmlns:a="http://schemas.openxmlformats.org/drawingml/2006/main">
              <a:ext uri="{FF2B5EF4-FFF2-40B4-BE49-F238E27FC236}">
                <a16:creationId xmlns:a16="http://schemas.microsoft.com/office/drawing/2014/main" id="{F29274CE-F6AD-48B2-B159-FCBD2EBD2967}"/>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FB6D9C2D-E1B0-4611-B10B-8C2D6B6A32B3}"/>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製品資料の比較例。同機能の2026展示搭載・年度</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差は未確認。</a:t>
            </a:r>
          </a:p>
        </p:txBody>
      </p:sp>
      <p:sp>
        <p:nvSpPr>
          <p:cNvPr id="27" name="source-1">
            <a:extLst xmlns:a="http://schemas.openxmlformats.org/drawingml/2006/main">
              <a:ext uri="{FF2B5EF4-FFF2-40B4-BE49-F238E27FC236}">
                <a16:creationId xmlns:a16="http://schemas.microsoft.com/office/drawing/2014/main" id="{4BF6D120-DFC7-4B24-B998-DF061F6C41A4}"/>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90b16b11a0ef4704"/>
              </a:rPr>
              <a:t>公式原典を開く　ブース E1001</a:t>
            </a:r>
          </a:p>
        </p:txBody>
      </p:sp>
      <p:sp>
        <p:nvSpPr>
          <p:cNvPr id="28" name="case-2">
            <a:extLst xmlns:a="http://schemas.openxmlformats.org/drawingml/2006/main">
              <a:ext uri="{FF2B5EF4-FFF2-40B4-BE49-F238E27FC236}">
                <a16:creationId xmlns:a16="http://schemas.microsoft.com/office/drawing/2014/main" id="{A006D3D6-5496-46B0-BB62-142966EE5401}"/>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D73F05E0-A83B-445D-86A9-6BC4A3CEBF99}"/>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869367BA-DF43-4B1E-BA4A-AAFC6AF1E76D}"/>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オークマ</a:t>
            </a:r>
          </a:p>
        </p:txBody>
      </p:sp>
      <p:sp>
        <p:nvSpPr>
          <p:cNvPr id="31" name="product-2">
            <a:extLst xmlns:a="http://schemas.openxmlformats.org/drawingml/2006/main">
              <a:ext uri="{FF2B5EF4-FFF2-40B4-BE49-F238E27FC236}">
                <a16:creationId xmlns:a16="http://schemas.microsoft.com/office/drawing/2014/main" id="{DAED511F-2A3F-455E-82C2-6C12FE0E0EA3}"/>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加工ナビ M-i／M-gⅡ（製品資料で比較）</a:t>
            </a:r>
          </a:p>
        </p:txBody>
      </p:sp>
      <p:sp>
        <p:nvSpPr>
          <p:cNvPr id="32" name="target-2">
            <a:extLst xmlns:a="http://schemas.openxmlformats.org/drawingml/2006/main">
              <a:ext uri="{FF2B5EF4-FFF2-40B4-BE49-F238E27FC236}">
                <a16:creationId xmlns:a16="http://schemas.microsoft.com/office/drawing/2014/main" id="{EE3F972A-655D-44BF-9BAE-B3101D1C76D8}"/>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びびり振動に応じ主軸回転数を調整する</a:t>
            </a:r>
          </a:p>
        </p:txBody>
      </p:sp>
      <p:sp>
        <p:nvSpPr>
          <p:cNvPr id="33" name="tech-label-2">
            <a:extLst xmlns:a="http://schemas.openxmlformats.org/drawingml/2006/main">
              <a:ext uri="{FF2B5EF4-FFF2-40B4-BE49-F238E27FC236}">
                <a16:creationId xmlns:a16="http://schemas.microsoft.com/office/drawing/2014/main" id="{94D8AF41-E378-42B3-9A2D-29A96BBA5BA2}"/>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17466BDE-9FB9-41D1-96BE-EEDE63FEE79B}"/>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M-iは振動計測から主軸速度を自動変更。M-</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gⅡは速度候補を提示。</a:t>
            </a:r>
          </a:p>
        </p:txBody>
      </p:sp>
      <p:sp>
        <p:nvSpPr>
          <p:cNvPr id="35" name="human-label-2">
            <a:extLst xmlns:a="http://schemas.openxmlformats.org/drawingml/2006/main">
              <a:ext uri="{FF2B5EF4-FFF2-40B4-BE49-F238E27FC236}">
                <a16:creationId xmlns:a16="http://schemas.microsoft.com/office/drawing/2014/main" id="{C06E1655-DCDD-48C9-B98D-8BF599287E3E}"/>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552F9772-3A3F-45D4-8A47-66DDB176CAEF}"/>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M-iは設定後に自動制御。M-gⅡは人が候補を選ぶ。</a:t>
            </a:r>
          </a:p>
        </p:txBody>
      </p:sp>
      <p:sp>
        <p:nvSpPr>
          <p:cNvPr id="37" name="year-label-2">
            <a:extLst xmlns:a="http://schemas.openxmlformats.org/drawingml/2006/main">
              <a:ext uri="{FF2B5EF4-FFF2-40B4-BE49-F238E27FC236}">
                <a16:creationId xmlns:a16="http://schemas.microsoft.com/office/drawing/2014/main" id="{A6F0779E-A036-4C89-9BD1-606F73EB3269}"/>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27BD1DAA-651B-4806-8C87-5185E7E3715C}"/>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既存製品技術の比較例。2024/2026の機能増分は未</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確認。</a:t>
            </a:r>
          </a:p>
        </p:txBody>
      </p:sp>
      <p:sp>
        <p:nvSpPr>
          <p:cNvPr id="39" name="source-2">
            <a:extLst xmlns:a="http://schemas.openxmlformats.org/drawingml/2006/main">
              <a:ext uri="{FF2B5EF4-FFF2-40B4-BE49-F238E27FC236}">
                <a16:creationId xmlns:a16="http://schemas.microsoft.com/office/drawing/2014/main" id="{655EA5AD-2B9F-4AC2-92C5-17272EFA3F90}"/>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94122dcbd4834f33"/>
              </a:rPr>
              <a:t>公式原典を開く　ブース E3028</a:t>
            </a:r>
          </a:p>
        </p:txBody>
      </p:sp>
    </p:spTree>
    <p:extLst>
      <p:ext uri="{BB962C8B-B14F-4D97-AF65-F5344CB8AC3E}">
        <p14:creationId xmlns:p14="http://schemas.microsoft.com/office/powerpoint/2010/main" val="1528759611"/>
      </p:ext>
    </p:extLst>
  </p:cSld>
</p:sld>
</file>

<file path=ppt/slides/slide19.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D40A4DCE-9BB4-4D7C-9BEA-31EE6831629F}"/>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計測から加工へのフィードバック</a:t>
            </a:r>
          </a:p>
        </p:txBody>
      </p:sp>
      <p:sp>
        <p:nvSpPr>
          <p:cNvPr id="2" name="sub">
            <a:extLst xmlns:a="http://schemas.openxmlformats.org/drawingml/2006/main">
              <a:ext uri="{FF2B5EF4-FFF2-40B4-BE49-F238E27FC236}">
                <a16:creationId xmlns:a16="http://schemas.microsoft.com/office/drawing/2014/main" id="{73B1F47E-BD6D-4CE6-B1B4-0F1257258D57}"/>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困りごと〈分析〉：検査結果を次の加工に戻す待ち時間と補正のばらつき。</a:t>
            </a:r>
          </a:p>
        </p:txBody>
      </p:sp>
      <p:sp>
        <p:nvSpPr>
          <p:cNvPr id="3" name="page">
            <a:extLst xmlns:a="http://schemas.openxmlformats.org/drawingml/2006/main">
              <a:ext uri="{FF2B5EF4-FFF2-40B4-BE49-F238E27FC236}">
                <a16:creationId xmlns:a16="http://schemas.microsoft.com/office/drawing/2014/main" id="{4442DA7F-E3EB-493B-9BFD-B7A4CA7485A3}"/>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19</a:t>
            </a:r>
          </a:p>
        </p:txBody>
      </p:sp>
      <p:sp>
        <p:nvSpPr>
          <p:cNvPr id="4" name="case-0">
            <a:extLst xmlns:a="http://schemas.openxmlformats.org/drawingml/2006/main">
              <a:ext uri="{FF2B5EF4-FFF2-40B4-BE49-F238E27FC236}">
                <a16:creationId xmlns:a16="http://schemas.microsoft.com/office/drawing/2014/main" id="{F506EEF1-B7AA-455C-A99C-C269116983E1}"/>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367D0772-FCF8-4263-A271-485E36BD7E92}"/>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346E03FC-8CD4-4790-B681-2572A11A6BEF}"/>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レニショー</a:t>
            </a:r>
          </a:p>
        </p:txBody>
      </p:sp>
      <p:sp>
        <p:nvSpPr>
          <p:cNvPr id="7" name="product-0">
            <a:extLst xmlns:a="http://schemas.openxmlformats.org/drawingml/2006/main">
              <a:ext uri="{FF2B5EF4-FFF2-40B4-BE49-F238E27FC236}">
                <a16:creationId xmlns:a16="http://schemas.microsoft.com/office/drawing/2014/main" id="{ADFC5F2C-5EE1-48C4-9E64-D968A515AEFA}"/>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Renishaw Central＋IPC</a:t>
            </a:r>
          </a:p>
        </p:txBody>
      </p:sp>
      <p:sp>
        <p:nvSpPr>
          <p:cNvPr id="8" name="target-0">
            <a:extLst xmlns:a="http://schemas.openxmlformats.org/drawingml/2006/main">
              <a:ext uri="{FF2B5EF4-FFF2-40B4-BE49-F238E27FC236}">
                <a16:creationId xmlns:a16="http://schemas.microsoft.com/office/drawing/2014/main" id="{41869EF8-39A2-4251-9B44-ED5B070F3D6D}"/>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測定した寸法を加工補正へ戻す</a:t>
            </a:r>
          </a:p>
        </p:txBody>
      </p:sp>
      <p:sp>
        <p:nvSpPr>
          <p:cNvPr id="9" name="tech-label-0">
            <a:extLst xmlns:a="http://schemas.openxmlformats.org/drawingml/2006/main">
              <a:ext uri="{FF2B5EF4-FFF2-40B4-BE49-F238E27FC236}">
                <a16:creationId xmlns:a16="http://schemas.microsoft.com/office/drawing/2014/main" id="{BD6444A7-3C15-431E-9B3C-EC4E960EA610}"/>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AD1AB040-FA48-48CA-87E6-2E5095A680FA}"/>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Renishaw Central＋IPCで工具オフセットや</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機械変数を更新。</a:t>
            </a:r>
          </a:p>
        </p:txBody>
      </p:sp>
      <p:sp>
        <p:nvSpPr>
          <p:cNvPr id="11" name="human-label-0">
            <a:extLst xmlns:a="http://schemas.openxmlformats.org/drawingml/2006/main">
              <a:ext uri="{FF2B5EF4-FFF2-40B4-BE49-F238E27FC236}">
                <a16:creationId xmlns:a16="http://schemas.microsoft.com/office/drawing/2014/main" id="{E652718D-C839-4014-9F16-C6AB540A2CCC}"/>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7F6B08EC-B976-49DF-9A72-04CFEE64B15B}"/>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計測不確かさ、補正上限、異常値の抑止条件は未確</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認。</a:t>
            </a:r>
          </a:p>
        </p:txBody>
      </p:sp>
      <p:sp>
        <p:nvSpPr>
          <p:cNvPr id="13" name="year-label-0">
            <a:extLst xmlns:a="http://schemas.openxmlformats.org/drawingml/2006/main">
              <a:ext uri="{FF2B5EF4-FFF2-40B4-BE49-F238E27FC236}">
                <a16:creationId xmlns:a16="http://schemas.microsoft.com/office/drawing/2014/main" id="{CB62E375-1378-4213-A101-6F5CF69FAB41}"/>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5C4C7703-77B4-4598-A686-4EE2B74628C9}"/>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Centralは2024掲載済み。2026も継続。</a:t>
            </a:r>
          </a:p>
        </p:txBody>
      </p:sp>
      <p:sp>
        <p:nvSpPr>
          <p:cNvPr id="15" name="source-0">
            <a:extLst xmlns:a="http://schemas.openxmlformats.org/drawingml/2006/main">
              <a:ext uri="{FF2B5EF4-FFF2-40B4-BE49-F238E27FC236}">
                <a16:creationId xmlns:a16="http://schemas.microsoft.com/office/drawing/2014/main" id="{4C4AC913-191F-4164-BB83-1667C9CF3536}"/>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c22d7ec850fc4beb"/>
              </a:rPr>
              <a:t>公式原典を開く　ブース E7089</a:t>
            </a:r>
          </a:p>
        </p:txBody>
      </p:sp>
      <p:sp>
        <p:nvSpPr>
          <p:cNvPr id="16" name="case-1">
            <a:extLst xmlns:a="http://schemas.openxmlformats.org/drawingml/2006/main">
              <a:ext uri="{FF2B5EF4-FFF2-40B4-BE49-F238E27FC236}">
                <a16:creationId xmlns:a16="http://schemas.microsoft.com/office/drawing/2014/main" id="{316071BD-BB19-42DF-9625-21DEC5219FA8}"/>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5B35CD73-0032-437D-8588-524A34C26BFE}"/>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15571D70-043B-4748-9418-B092CE6FD47A}"/>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Wintech Automation</a:t>
            </a:r>
          </a:p>
        </p:txBody>
      </p:sp>
      <p:sp>
        <p:nvSpPr>
          <p:cNvPr id="19" name="product-1">
            <a:extLst xmlns:a="http://schemas.openxmlformats.org/drawingml/2006/main">
              <a:ext uri="{FF2B5EF4-FFF2-40B4-BE49-F238E27FC236}">
                <a16:creationId xmlns:a16="http://schemas.microsoft.com/office/drawing/2014/main" id="{70EEFBE3-3342-4F1B-B1EF-EF030A730B5F}"/>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HGM-DX</a:t>
            </a:r>
          </a:p>
        </p:txBody>
      </p:sp>
      <p:sp>
        <p:nvSpPr>
          <p:cNvPr id="20" name="target-1">
            <a:extLst xmlns:a="http://schemas.openxmlformats.org/drawingml/2006/main">
              <a:ext uri="{FF2B5EF4-FFF2-40B4-BE49-F238E27FC236}">
                <a16:creationId xmlns:a16="http://schemas.microsoft.com/office/drawing/2014/main" id="{3E76D4C5-7747-42DA-938F-AD08B946F817}"/>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測定値を研削加工の補正へ戻す</a:t>
            </a:r>
          </a:p>
        </p:txBody>
      </p:sp>
      <p:sp>
        <p:nvSpPr>
          <p:cNvPr id="21" name="tech-label-1">
            <a:extLst xmlns:a="http://schemas.openxmlformats.org/drawingml/2006/main">
              <a:ext uri="{FF2B5EF4-FFF2-40B4-BE49-F238E27FC236}">
                <a16:creationId xmlns:a16="http://schemas.microsoft.com/office/drawing/2014/main" id="{AB66A8EA-8032-463A-97B6-3B426A620DB0}"/>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26D1EC9D-5447-4FC7-91A2-0A8C78F9B3DF}"/>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HGM-DXは測定値を研削機へ返し加工公差を</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自動補正。</a:t>
            </a:r>
          </a:p>
        </p:txBody>
      </p:sp>
      <p:sp>
        <p:nvSpPr>
          <p:cNvPr id="23" name="human-label-1">
            <a:extLst xmlns:a="http://schemas.openxmlformats.org/drawingml/2006/main">
              <a:ext uri="{FF2B5EF4-FFF2-40B4-BE49-F238E27FC236}">
                <a16:creationId xmlns:a16="http://schemas.microsoft.com/office/drawing/2014/main" id="{796E9E5D-E45F-444E-A4A5-A9306B6BF19F}"/>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36724158-AAA3-40C7-AF84-B22FFD1D3A52}"/>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補正上限と誤計測時の対応は未確認。</a:t>
            </a:r>
          </a:p>
        </p:txBody>
      </p:sp>
      <p:sp>
        <p:nvSpPr>
          <p:cNvPr id="25" name="year-label-1">
            <a:extLst xmlns:a="http://schemas.openxmlformats.org/drawingml/2006/main">
              <a:ext uri="{FF2B5EF4-FFF2-40B4-BE49-F238E27FC236}">
                <a16:creationId xmlns:a16="http://schemas.microsoft.com/office/drawing/2014/main" id="{40008EA4-9685-4F32-BF23-FBE98A7BA143}"/>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D4F20482-F5D2-4C7C-BE9B-8BDF2AFC552F}"/>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2024は製造・検査自動化。2026は測定→研削を具</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体記載。</a:t>
            </a:r>
          </a:p>
        </p:txBody>
      </p:sp>
      <p:sp>
        <p:nvSpPr>
          <p:cNvPr id="27" name="source-1">
            <a:extLst xmlns:a="http://schemas.openxmlformats.org/drawingml/2006/main">
              <a:ext uri="{FF2B5EF4-FFF2-40B4-BE49-F238E27FC236}">
                <a16:creationId xmlns:a16="http://schemas.microsoft.com/office/drawing/2014/main" id="{F585742A-11BB-43D5-8AC3-D9BBCCFF12FD}"/>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e4d99229beff475d"/>
              </a:rPr>
              <a:t>公式原典を開く　ブース W3051</a:t>
            </a:r>
          </a:p>
        </p:txBody>
      </p:sp>
      <p:sp>
        <p:nvSpPr>
          <p:cNvPr id="28" name="case-2">
            <a:extLst xmlns:a="http://schemas.openxmlformats.org/drawingml/2006/main">
              <a:ext uri="{FF2B5EF4-FFF2-40B4-BE49-F238E27FC236}">
                <a16:creationId xmlns:a16="http://schemas.microsoft.com/office/drawing/2014/main" id="{2CDAF677-0D8E-4E43-AEA6-8D3CE4C58CC0}"/>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D7BDBEF0-B5A4-4AD1-B2EA-1A138BABD7E9}"/>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469C4916-E347-4BD8-A9C6-C2CA11470BF9}"/>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サイバーRC</a:t>
            </a:r>
          </a:p>
        </p:txBody>
      </p:sp>
      <p:sp>
        <p:nvSpPr>
          <p:cNvPr id="31" name="product-2">
            <a:extLst xmlns:a="http://schemas.openxmlformats.org/drawingml/2006/main">
              <a:ext uri="{FF2B5EF4-FFF2-40B4-BE49-F238E27FC236}">
                <a16:creationId xmlns:a16="http://schemas.microsoft.com/office/drawing/2014/main" id="{3760BF46-9DA7-4CDF-8336-4354EE8CB02C}"/>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GH5</a:t>
            </a:r>
          </a:p>
        </p:txBody>
      </p:sp>
      <p:sp>
        <p:nvSpPr>
          <p:cNvPr id="32" name="target-2">
            <a:extLst xmlns:a="http://schemas.openxmlformats.org/drawingml/2006/main">
              <a:ext uri="{FF2B5EF4-FFF2-40B4-BE49-F238E27FC236}">
                <a16:creationId xmlns:a16="http://schemas.microsoft.com/office/drawing/2014/main" id="{766A41CC-7500-4D95-BC0B-461C25920E15}"/>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工具刃先の幅・角度を狙い値へ加工する</a:t>
            </a:r>
          </a:p>
        </p:txBody>
      </p:sp>
      <p:sp>
        <p:nvSpPr>
          <p:cNvPr id="33" name="tech-label-2">
            <a:extLst xmlns:a="http://schemas.openxmlformats.org/drawingml/2006/main">
              <a:ext uri="{FF2B5EF4-FFF2-40B4-BE49-F238E27FC236}">
                <a16:creationId xmlns:a16="http://schemas.microsoft.com/office/drawing/2014/main" id="{B66C0F1D-0321-4ED8-9A57-A63404C1575C}"/>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02FDB91E-84EB-4993-98C7-95CE39556B8B}"/>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GH5は機内3D画像で刃先を測り、幅・角度の</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目標へAI補正。</a:t>
            </a:r>
          </a:p>
        </p:txBody>
      </p:sp>
      <p:sp>
        <p:nvSpPr>
          <p:cNvPr id="35" name="human-label-2">
            <a:extLst xmlns:a="http://schemas.openxmlformats.org/drawingml/2006/main">
              <a:ext uri="{FF2B5EF4-FFF2-40B4-BE49-F238E27FC236}">
                <a16:creationId xmlns:a16="http://schemas.microsoft.com/office/drawing/2014/main" id="{328A1603-92F0-4F53-AE15-AE26444E9890}"/>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23E5D368-2B7F-477D-9D38-99A594A9447E}"/>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目標値は人が設定。過研磨・測定不能時の停止復帰</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は未確認。</a:t>
            </a:r>
          </a:p>
        </p:txBody>
      </p:sp>
      <p:sp>
        <p:nvSpPr>
          <p:cNvPr id="37" name="year-label-2">
            <a:extLst xmlns:a="http://schemas.openxmlformats.org/drawingml/2006/main">
              <a:ext uri="{FF2B5EF4-FFF2-40B4-BE49-F238E27FC236}">
                <a16:creationId xmlns:a16="http://schemas.microsoft.com/office/drawing/2014/main" id="{9B60E9AB-AC2E-4C38-9BDC-00E60CF2AEC7}"/>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17C3C1AD-970B-4E17-BC58-FBD227EA6416}"/>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2024のGM5等から、2026はGH5の測定・加工一体化</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を記載。</a:t>
            </a:r>
          </a:p>
        </p:txBody>
      </p:sp>
      <p:sp>
        <p:nvSpPr>
          <p:cNvPr id="39" name="source-2">
            <a:extLst xmlns:a="http://schemas.openxmlformats.org/drawingml/2006/main">
              <a:ext uri="{FF2B5EF4-FFF2-40B4-BE49-F238E27FC236}">
                <a16:creationId xmlns:a16="http://schemas.microsoft.com/office/drawing/2014/main" id="{6E4799F8-95A7-43CD-86C7-8D809D6AF5B7}"/>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8174793116bf487d"/>
              </a:rPr>
              <a:t>公式原典を開く　ブース E7074</a:t>
            </a:r>
          </a:p>
        </p:txBody>
      </p:sp>
    </p:spTree>
    <p:extLst>
      <p:ext uri="{BB962C8B-B14F-4D97-AF65-F5344CB8AC3E}">
        <p14:creationId xmlns:p14="http://schemas.microsoft.com/office/powerpoint/2010/main" val="453050880"/>
      </p:ext>
    </p:extLst>
  </p:cSld>
</p:sld>
</file>

<file path=ppt/slides/slide20.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5D2FDE71-ED06-4950-A84C-BF1B7BFEAEAD}"/>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外観検査・撮像と追加学習</a:t>
            </a:r>
          </a:p>
        </p:txBody>
      </p:sp>
      <p:sp>
        <p:nvSpPr>
          <p:cNvPr id="2" name="sub">
            <a:extLst xmlns:a="http://schemas.openxmlformats.org/drawingml/2006/main">
              <a:ext uri="{FF2B5EF4-FFF2-40B4-BE49-F238E27FC236}">
                <a16:creationId xmlns:a16="http://schemas.microsoft.com/office/drawing/2014/main" id="{02D0D3BB-BBFD-4AA4-965F-47667F6182F8}"/>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困りごと〈分析〉：少量不良データ、撮像ばらつき、見逃しと過検出。</a:t>
            </a:r>
          </a:p>
        </p:txBody>
      </p:sp>
      <p:sp>
        <p:nvSpPr>
          <p:cNvPr id="3" name="page">
            <a:extLst xmlns:a="http://schemas.openxmlformats.org/drawingml/2006/main">
              <a:ext uri="{FF2B5EF4-FFF2-40B4-BE49-F238E27FC236}">
                <a16:creationId xmlns:a16="http://schemas.microsoft.com/office/drawing/2014/main" id="{ECCA9292-E0AB-4AA4-8726-E6AF194451B6}"/>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20</a:t>
            </a:r>
          </a:p>
        </p:txBody>
      </p:sp>
      <p:sp>
        <p:nvSpPr>
          <p:cNvPr id="4" name="case-0">
            <a:extLst xmlns:a="http://schemas.openxmlformats.org/drawingml/2006/main">
              <a:ext uri="{FF2B5EF4-FFF2-40B4-BE49-F238E27FC236}">
                <a16:creationId xmlns:a16="http://schemas.microsoft.com/office/drawing/2014/main" id="{A5FFC055-B983-4721-8C96-5BEFC0CFD7F6}"/>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F2C7EA39-430C-4955-A389-10308BED8CAB}"/>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4350CB79-1C81-4B53-B420-655716CB7B0E}"/>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HACARUS</a:t>
            </a:r>
          </a:p>
        </p:txBody>
      </p:sp>
      <p:sp>
        <p:nvSpPr>
          <p:cNvPr id="7" name="product-0">
            <a:extLst xmlns:a="http://schemas.openxmlformats.org/drawingml/2006/main">
              <a:ext uri="{FF2B5EF4-FFF2-40B4-BE49-F238E27FC236}">
                <a16:creationId xmlns:a16="http://schemas.microsoft.com/office/drawing/2014/main" id="{7B0347FD-C2FC-42DB-B0A5-38481AB6EC46}"/>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HACARUS Check ZERO</a:t>
            </a:r>
          </a:p>
        </p:txBody>
      </p:sp>
      <p:sp>
        <p:nvSpPr>
          <p:cNvPr id="8" name="target-0">
            <a:extLst xmlns:a="http://schemas.openxmlformats.org/drawingml/2006/main">
              <a:ext uri="{FF2B5EF4-FFF2-40B4-BE49-F238E27FC236}">
                <a16:creationId xmlns:a16="http://schemas.microsoft.com/office/drawing/2014/main" id="{E162B0C1-FCD8-43A9-9D83-003D27EC38F2}"/>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製品表面の傷・欠け等を判定する</a:t>
            </a:r>
          </a:p>
        </p:txBody>
      </p:sp>
      <p:sp>
        <p:nvSpPr>
          <p:cNvPr id="9" name="tech-label-0">
            <a:extLst xmlns:a="http://schemas.openxmlformats.org/drawingml/2006/main">
              <a:ext uri="{FF2B5EF4-FFF2-40B4-BE49-F238E27FC236}">
                <a16:creationId xmlns:a16="http://schemas.microsoft.com/office/drawing/2014/main" id="{1C70FA86-37CB-4002-A95F-A701AB1DFB80}"/>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F491E2ED-3E8C-4AD1-B492-44753AF5C6C5}"/>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ZEROは良品との差で異常を検出し、人の良</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否注釈で追加調整。</a:t>
            </a:r>
          </a:p>
        </p:txBody>
      </p:sp>
      <p:sp>
        <p:nvSpPr>
          <p:cNvPr id="11" name="human-label-0">
            <a:extLst xmlns:a="http://schemas.openxmlformats.org/drawingml/2006/main">
              <a:ext uri="{FF2B5EF4-FFF2-40B4-BE49-F238E27FC236}">
                <a16:creationId xmlns:a16="http://schemas.microsoft.com/office/drawing/2014/main" id="{D6C18BCE-3179-44F9-B45C-204B26C5ADA3}"/>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60070D53-67C6-4CD2-B037-8CA990753690}"/>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人が画像・注釈を準備。更新モデル採用と出荷判定</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の権限は未確認。</a:t>
            </a:r>
          </a:p>
        </p:txBody>
      </p:sp>
      <p:sp>
        <p:nvSpPr>
          <p:cNvPr id="13" name="year-label-0">
            <a:extLst xmlns:a="http://schemas.openxmlformats.org/drawingml/2006/main">
              <a:ext uri="{FF2B5EF4-FFF2-40B4-BE49-F238E27FC236}">
                <a16:creationId xmlns:a16="http://schemas.microsoft.com/office/drawing/2014/main" id="{0AA91C09-4213-4BA3-8B4E-BED249A2F343}"/>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F9FBBCFB-3CFB-4F76-801D-47F3AF5307AC}"/>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追加学習は2025/7発表済み。2026だけの新機能と</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しない。</a:t>
            </a:r>
          </a:p>
        </p:txBody>
      </p:sp>
      <p:sp>
        <p:nvSpPr>
          <p:cNvPr id="15" name="source-0">
            <a:extLst xmlns:a="http://schemas.openxmlformats.org/drawingml/2006/main">
              <a:ext uri="{FF2B5EF4-FFF2-40B4-BE49-F238E27FC236}">
                <a16:creationId xmlns:a16="http://schemas.microsoft.com/office/drawing/2014/main" id="{1A555C59-AEC3-4F77-9BCB-AAE8FC0C5C08}"/>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4fe12505c2ac4118"/>
              </a:rPr>
              <a:t>公式原典を開く　ブース S1031</a:t>
            </a:r>
          </a:p>
        </p:txBody>
      </p:sp>
      <p:sp>
        <p:nvSpPr>
          <p:cNvPr id="16" name="case-1">
            <a:extLst xmlns:a="http://schemas.openxmlformats.org/drawingml/2006/main">
              <a:ext uri="{FF2B5EF4-FFF2-40B4-BE49-F238E27FC236}">
                <a16:creationId xmlns:a16="http://schemas.microsoft.com/office/drawing/2014/main" id="{BB7B75F2-6BE1-4C17-9CDE-9ACA470F8431}"/>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9907B59F-C00E-413D-BE7C-B8940A57F3E1}"/>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B20148A0-6B46-4491-A774-FEC4CA50D6A9}"/>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日東商事</a:t>
            </a:r>
          </a:p>
        </p:txBody>
      </p:sp>
      <p:sp>
        <p:nvSpPr>
          <p:cNvPr id="19" name="product-1">
            <a:extLst xmlns:a="http://schemas.openxmlformats.org/drawingml/2006/main">
              <a:ext uri="{FF2B5EF4-FFF2-40B4-BE49-F238E27FC236}">
                <a16:creationId xmlns:a16="http://schemas.microsoft.com/office/drawing/2014/main" id="{96711C29-C3F1-40F0-B51F-0E1A33A70EC1}"/>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HACARUS Check</a:t>
            </a:r>
          </a:p>
        </p:txBody>
      </p:sp>
      <p:sp>
        <p:nvSpPr>
          <p:cNvPr id="20" name="target-1">
            <a:extLst xmlns:a="http://schemas.openxmlformats.org/drawingml/2006/main">
              <a:ext uri="{FF2B5EF4-FFF2-40B4-BE49-F238E27FC236}">
                <a16:creationId xmlns:a16="http://schemas.microsoft.com/office/drawing/2014/main" id="{4E485AB0-5936-495C-8695-84E672EF249D}"/>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ワークを多方向から撮り外観を検査する</a:t>
            </a:r>
          </a:p>
        </p:txBody>
      </p:sp>
      <p:sp>
        <p:nvSpPr>
          <p:cNvPr id="21" name="tech-label-1">
            <a:extLst xmlns:a="http://schemas.openxmlformats.org/drawingml/2006/main">
              <a:ext uri="{FF2B5EF4-FFF2-40B4-BE49-F238E27FC236}">
                <a16:creationId xmlns:a16="http://schemas.microsoft.com/office/drawing/2014/main" id="{72AA66BD-CB64-4872-8B48-3271333CA0AD}"/>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C62BBF90-3DFE-45FD-ADD6-0A15A7EF6596}"/>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協働ロボットで多角度撮像し、AIで傷・欠</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けを判定。</a:t>
            </a:r>
          </a:p>
        </p:txBody>
      </p:sp>
      <p:sp>
        <p:nvSpPr>
          <p:cNvPr id="23" name="human-label-1">
            <a:extLst xmlns:a="http://schemas.openxmlformats.org/drawingml/2006/main">
              <a:ext uri="{FF2B5EF4-FFF2-40B4-BE49-F238E27FC236}">
                <a16:creationId xmlns:a16="http://schemas.microsoft.com/office/drawing/2014/main" id="{D0FC4F53-A5EC-4756-A08A-DBF45DDA8A3D}"/>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E54F3523-D9AB-40BA-9BBB-69C767EA1A7F}"/>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姿勢教示・再撮像・不良排出の権限は未確認。</a:t>
            </a:r>
          </a:p>
        </p:txBody>
      </p:sp>
      <p:sp>
        <p:nvSpPr>
          <p:cNvPr id="25" name="year-label-1">
            <a:extLst xmlns:a="http://schemas.openxmlformats.org/drawingml/2006/main">
              <a:ext uri="{FF2B5EF4-FFF2-40B4-BE49-F238E27FC236}">
                <a16:creationId xmlns:a16="http://schemas.microsoft.com/office/drawing/2014/main" id="{6900CD56-DBDB-4E01-A868-663215A8D481}"/>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5CA56FD5-DDA9-4F36-A522-04ACA40AFD1B}"/>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日東商事2024の放電加工機展示から、AI検査を追</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加記載。</a:t>
            </a:r>
          </a:p>
        </p:txBody>
      </p:sp>
      <p:sp>
        <p:nvSpPr>
          <p:cNvPr id="27" name="source-1">
            <a:extLst xmlns:a="http://schemas.openxmlformats.org/drawingml/2006/main">
              <a:ext uri="{FF2B5EF4-FFF2-40B4-BE49-F238E27FC236}">
                <a16:creationId xmlns:a16="http://schemas.microsoft.com/office/drawing/2014/main" id="{87FB797A-B4A2-4171-8711-ADC41F87D022}"/>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1e28a160fef544f2"/>
              </a:rPr>
              <a:t>公式原典を開く　ブース S1031</a:t>
            </a:r>
          </a:p>
        </p:txBody>
      </p:sp>
      <p:sp>
        <p:nvSpPr>
          <p:cNvPr id="28" name="case-2">
            <a:extLst xmlns:a="http://schemas.openxmlformats.org/drawingml/2006/main">
              <a:ext uri="{FF2B5EF4-FFF2-40B4-BE49-F238E27FC236}">
                <a16:creationId xmlns:a16="http://schemas.microsoft.com/office/drawing/2014/main" id="{EA60690F-54C8-4A27-AE12-73A7CB081809}"/>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AB8999AA-9789-48DB-8448-831C289E7638}"/>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CB299566-3348-4CB6-9CF5-7ACC8B33FF0D}"/>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ブルーム-ノボテスト</a:t>
            </a:r>
          </a:p>
        </p:txBody>
      </p:sp>
      <p:sp>
        <p:nvSpPr>
          <p:cNvPr id="31" name="product-2">
            <a:extLst xmlns:a="http://schemas.openxmlformats.org/drawingml/2006/main">
              <a:ext uri="{FF2B5EF4-FFF2-40B4-BE49-F238E27FC236}">
                <a16:creationId xmlns:a16="http://schemas.microsoft.com/office/drawing/2014/main" id="{EEACFC38-DE5E-43F5-B567-E90702FA3B81}"/>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FormControl X／DIGILOG</a:t>
            </a:r>
          </a:p>
        </p:txBody>
      </p:sp>
      <p:sp>
        <p:nvSpPr>
          <p:cNvPr id="32" name="target-2">
            <a:extLst xmlns:a="http://schemas.openxmlformats.org/drawingml/2006/main">
              <a:ext uri="{FF2B5EF4-FFF2-40B4-BE49-F238E27FC236}">
                <a16:creationId xmlns:a16="http://schemas.microsoft.com/office/drawing/2014/main" id="{763F3A82-7CB2-48BD-BF3C-CB78400F30E9}"/>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機上のワーク形状と工具を測る</a:t>
            </a:r>
          </a:p>
        </p:txBody>
      </p:sp>
      <p:sp>
        <p:nvSpPr>
          <p:cNvPr id="33" name="tech-label-2">
            <a:extLst xmlns:a="http://schemas.openxmlformats.org/drawingml/2006/main">
              <a:ext uri="{FF2B5EF4-FFF2-40B4-BE49-F238E27FC236}">
                <a16:creationId xmlns:a16="http://schemas.microsoft.com/office/drawing/2014/main" id="{6C2C128F-7FE0-4068-B242-7AE505A01AD7}"/>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FED4A224-B017-4AD2-B4E8-764950519776}"/>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機上3D測定と工具計測・欠け検知・補正を</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組み合わせる。</a:t>
            </a:r>
          </a:p>
        </p:txBody>
      </p:sp>
      <p:sp>
        <p:nvSpPr>
          <p:cNvPr id="35" name="human-label-2">
            <a:extLst xmlns:a="http://schemas.openxmlformats.org/drawingml/2006/main">
              <a:ext uri="{FF2B5EF4-FFF2-40B4-BE49-F238E27FC236}">
                <a16:creationId xmlns:a16="http://schemas.microsoft.com/office/drawing/2014/main" id="{D241D724-649F-4F76-B596-548803F0CACD}"/>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780847F1-28DA-484B-A803-48422487BF35}"/>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校正・熱状態・機種適合の条件は未確認。</a:t>
            </a:r>
          </a:p>
        </p:txBody>
      </p:sp>
      <p:sp>
        <p:nvSpPr>
          <p:cNvPr id="37" name="year-label-2">
            <a:extLst xmlns:a="http://schemas.openxmlformats.org/drawingml/2006/main">
              <a:ext uri="{FF2B5EF4-FFF2-40B4-BE49-F238E27FC236}">
                <a16:creationId xmlns:a16="http://schemas.microsoft.com/office/drawing/2014/main" id="{8FEDE773-66B7-42A6-95C4-A00C78245254}"/>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183ABA27-811C-4A26-80B8-4F7610654483}"/>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2024のFormControl X等を継続し、2026はLC54等を</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追加。</a:t>
            </a:r>
          </a:p>
        </p:txBody>
      </p:sp>
      <p:sp>
        <p:nvSpPr>
          <p:cNvPr id="39" name="source-2">
            <a:extLst xmlns:a="http://schemas.openxmlformats.org/drawingml/2006/main">
              <a:ext uri="{FF2B5EF4-FFF2-40B4-BE49-F238E27FC236}">
                <a16:creationId xmlns:a16="http://schemas.microsoft.com/office/drawing/2014/main" id="{3ACBE002-445E-41A1-A7D0-409AF0CB6FDA}"/>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025b451bf3954e7a"/>
              </a:rPr>
              <a:t>公式原典を開く　ブース E7084</a:t>
            </a:r>
          </a:p>
        </p:txBody>
      </p:sp>
    </p:spTree>
    <p:extLst>
      <p:ext uri="{BB962C8B-B14F-4D97-AF65-F5344CB8AC3E}">
        <p14:creationId xmlns:p14="http://schemas.microsoft.com/office/powerpoint/2010/main" val="501585083"/>
      </p:ext>
    </p:extLst>
  </p:cSld>
</p:sld>
</file>

<file path=ppt/slides/slide21.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B3EBD19E-9261-47A6-BF2D-00F4A37F4EC3}"/>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工具摩耗の判定・交換判断　1/3</a:t>
            </a:r>
          </a:p>
        </p:txBody>
      </p:sp>
      <p:sp>
        <p:nvSpPr>
          <p:cNvPr id="2" name="sub">
            <a:extLst xmlns:a="http://schemas.openxmlformats.org/drawingml/2006/main">
              <a:ext uri="{FF2B5EF4-FFF2-40B4-BE49-F238E27FC236}">
                <a16:creationId xmlns:a16="http://schemas.microsoft.com/office/drawing/2014/main" id="{1A106925-68D3-435B-BEAC-40FCB9ECB7D9}"/>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困りごと〈分析〉：工具を早く捨てすぎず、欠損や品質悪化を避ける判断。</a:t>
            </a:r>
          </a:p>
        </p:txBody>
      </p:sp>
      <p:sp>
        <p:nvSpPr>
          <p:cNvPr id="3" name="page">
            <a:extLst xmlns:a="http://schemas.openxmlformats.org/drawingml/2006/main">
              <a:ext uri="{FF2B5EF4-FFF2-40B4-BE49-F238E27FC236}">
                <a16:creationId xmlns:a16="http://schemas.microsoft.com/office/drawing/2014/main" id="{F6FC08E6-56DC-48C3-8E30-8A1687705C73}"/>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21</a:t>
            </a:r>
          </a:p>
        </p:txBody>
      </p:sp>
      <p:sp>
        <p:nvSpPr>
          <p:cNvPr id="4" name="case-0">
            <a:extLst xmlns:a="http://schemas.openxmlformats.org/drawingml/2006/main">
              <a:ext uri="{FF2B5EF4-FFF2-40B4-BE49-F238E27FC236}">
                <a16:creationId xmlns:a16="http://schemas.microsoft.com/office/drawing/2014/main" id="{7AD090E1-E53C-4760-9ACA-07F51D370FBF}"/>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8AAF2D5A-B24A-4279-A5AA-345EFF18E9ED}"/>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6223854E-CB6E-4238-882E-EBA6EFEB400C}"/>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モリマシナリー</a:t>
            </a:r>
          </a:p>
        </p:txBody>
      </p:sp>
      <p:sp>
        <p:nvSpPr>
          <p:cNvPr id="7" name="product-0">
            <a:extLst xmlns:a="http://schemas.openxmlformats.org/drawingml/2006/main">
              <a:ext uri="{FF2B5EF4-FFF2-40B4-BE49-F238E27FC236}">
                <a16:creationId xmlns:a16="http://schemas.microsoft.com/office/drawing/2014/main" id="{47AF0687-639C-46C5-9F2F-4A664DB859D7}"/>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ツールコラージュ</a:t>
            </a:r>
          </a:p>
        </p:txBody>
      </p:sp>
      <p:sp>
        <p:nvSpPr>
          <p:cNvPr id="8" name="target-0">
            <a:extLst xmlns:a="http://schemas.openxmlformats.org/drawingml/2006/main">
              <a:ext uri="{FF2B5EF4-FFF2-40B4-BE49-F238E27FC236}">
                <a16:creationId xmlns:a16="http://schemas.microsoft.com/office/drawing/2014/main" id="{FF8679D0-522C-4F81-959B-8AA4D08E0609}"/>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刃先の欠け・摩耗を判定し記録する</a:t>
            </a:r>
          </a:p>
        </p:txBody>
      </p:sp>
      <p:sp>
        <p:nvSpPr>
          <p:cNvPr id="9" name="tech-label-0">
            <a:extLst xmlns:a="http://schemas.openxmlformats.org/drawingml/2006/main">
              <a:ext uri="{FF2B5EF4-FFF2-40B4-BE49-F238E27FC236}">
                <a16:creationId xmlns:a16="http://schemas.microsoft.com/office/drawing/2014/main" id="{DEB7763F-51D6-43BD-8648-8223A6E82B11}"/>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7A7A6C82-00C4-4E9A-9563-DA00F550D58C}"/>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刃先の診断箇所を認知し、欠け・摩耗をAI</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判定・記録。</a:t>
            </a:r>
          </a:p>
        </p:txBody>
      </p:sp>
      <p:sp>
        <p:nvSpPr>
          <p:cNvPr id="11" name="human-label-0">
            <a:extLst xmlns:a="http://schemas.openxmlformats.org/drawingml/2006/main">
              <a:ext uri="{FF2B5EF4-FFF2-40B4-BE49-F238E27FC236}">
                <a16:creationId xmlns:a16="http://schemas.microsoft.com/office/drawing/2014/main" id="{A09989E5-4E8C-4A16-BD06-FBC852578F48}"/>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C8BA21E0-06A1-4085-B904-A98AE9E93E40}"/>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対象工具と撮像条件を準備。継続使用の最終決定者</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は未確認。</a:t>
            </a:r>
          </a:p>
        </p:txBody>
      </p:sp>
      <p:sp>
        <p:nvSpPr>
          <p:cNvPr id="13" name="year-label-0">
            <a:extLst xmlns:a="http://schemas.openxmlformats.org/drawingml/2006/main">
              <a:ext uri="{FF2B5EF4-FFF2-40B4-BE49-F238E27FC236}">
                <a16:creationId xmlns:a16="http://schemas.microsoft.com/office/drawing/2014/main" id="{1620A266-A048-49DA-87A4-970D575B31FC}"/>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CA744587-BB38-4F79-B52F-8B80DF5F6EA7}"/>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AI摩耗判定は2024にも説明済み。2026は継続。</a:t>
            </a:r>
          </a:p>
        </p:txBody>
      </p:sp>
      <p:sp>
        <p:nvSpPr>
          <p:cNvPr id="15" name="source-0">
            <a:extLst xmlns:a="http://schemas.openxmlformats.org/drawingml/2006/main">
              <a:ext uri="{FF2B5EF4-FFF2-40B4-BE49-F238E27FC236}">
                <a16:creationId xmlns:a16="http://schemas.microsoft.com/office/drawing/2014/main" id="{7923A9E0-F286-443C-854D-9C7CCDF321BF}"/>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f182bc8f427c4158"/>
              </a:rPr>
              <a:t>公式原典を開く　ブース S3048</a:t>
            </a:r>
          </a:p>
        </p:txBody>
      </p:sp>
      <p:sp>
        <p:nvSpPr>
          <p:cNvPr id="16" name="case-1">
            <a:extLst xmlns:a="http://schemas.openxmlformats.org/drawingml/2006/main">
              <a:ext uri="{FF2B5EF4-FFF2-40B4-BE49-F238E27FC236}">
                <a16:creationId xmlns:a16="http://schemas.microsoft.com/office/drawing/2014/main" id="{A48F7DCF-DFDC-4A9E-AFD5-E316B7E43643}"/>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B664AB4F-89E4-4B55-BBAD-DC75768C3EB9}"/>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5C1BC9C4-B1C6-470C-BAAA-503370F6F93C}"/>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ハイデンハイン</a:t>
            </a:r>
          </a:p>
        </p:txBody>
      </p:sp>
      <p:sp>
        <p:nvSpPr>
          <p:cNvPr id="19" name="product-1">
            <a:extLst xmlns:a="http://schemas.openxmlformats.org/drawingml/2006/main">
              <a:ext uri="{FF2B5EF4-FFF2-40B4-BE49-F238E27FC236}">
                <a16:creationId xmlns:a16="http://schemas.microsoft.com/office/drawing/2014/main" id="{1492C0C1-5DA3-46DA-815C-73E94706DDCD}"/>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VT122＋VTC 6.0</a:t>
            </a:r>
          </a:p>
        </p:txBody>
      </p:sp>
      <p:sp>
        <p:nvSpPr>
          <p:cNvPr id="20" name="target-1">
            <a:extLst xmlns:a="http://schemas.openxmlformats.org/drawingml/2006/main">
              <a:ext uri="{FF2B5EF4-FFF2-40B4-BE49-F238E27FC236}">
                <a16:creationId xmlns:a16="http://schemas.microsoft.com/office/drawing/2014/main" id="{347CA997-80E4-4D38-BC43-0EA622BAEEDF}"/>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工具画像から摩耗状態を診断する</a:t>
            </a:r>
          </a:p>
        </p:txBody>
      </p:sp>
      <p:sp>
        <p:nvSpPr>
          <p:cNvPr id="21" name="tech-label-1">
            <a:extLst xmlns:a="http://schemas.openxmlformats.org/drawingml/2006/main">
              <a:ext uri="{FF2B5EF4-FFF2-40B4-BE49-F238E27FC236}">
                <a16:creationId xmlns:a16="http://schemas.microsoft.com/office/drawing/2014/main" id="{FB78AE77-E9AE-427F-B2C8-46818F4E8738}"/>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CF03E114-FE9B-472A-B40F-96FB284C9E5F}"/>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VT122にVTC 6.0のAI摩耗診断・工具長機能</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を記載。</a:t>
            </a:r>
          </a:p>
        </p:txBody>
      </p:sp>
      <p:sp>
        <p:nvSpPr>
          <p:cNvPr id="23" name="human-label-1">
            <a:extLst xmlns:a="http://schemas.openxmlformats.org/drawingml/2006/main">
              <a:ext uri="{FF2B5EF4-FFF2-40B4-BE49-F238E27FC236}">
                <a16:creationId xmlns:a16="http://schemas.microsoft.com/office/drawing/2014/main" id="{BC0D5991-BD33-4302-A7CF-63DA187DF4C3}"/>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6BEEC363-2A9E-488B-B33E-E5B8CC55BF8C}"/>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判定閾値と自動交換への接続は未確認。</a:t>
            </a:r>
          </a:p>
        </p:txBody>
      </p:sp>
      <p:sp>
        <p:nvSpPr>
          <p:cNvPr id="25" name="year-label-1">
            <a:extLst xmlns:a="http://schemas.openxmlformats.org/drawingml/2006/main">
              <a:ext uri="{FF2B5EF4-FFF2-40B4-BE49-F238E27FC236}">
                <a16:creationId xmlns:a16="http://schemas.microsoft.com/office/drawing/2014/main" id="{3E94DDD2-46BA-4E8C-A9DD-B1F25EDBC107}"/>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46CAC277-0AA6-4840-BBB4-A6052681208B}"/>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2024はVT122検査。2026はAI摩耗診断を追加記載。</a:t>
            </a:r>
          </a:p>
        </p:txBody>
      </p:sp>
      <p:sp>
        <p:nvSpPr>
          <p:cNvPr id="27" name="source-1">
            <a:extLst xmlns:a="http://schemas.openxmlformats.org/drawingml/2006/main">
              <a:ext uri="{FF2B5EF4-FFF2-40B4-BE49-F238E27FC236}">
                <a16:creationId xmlns:a16="http://schemas.microsoft.com/office/drawing/2014/main" id="{F84FCF7C-53CD-4140-A6F4-B1586E7FC63A}"/>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dbdf12ec5f884e5c"/>
              </a:rPr>
              <a:t>公式原典を開く　ブース E7043</a:t>
            </a:r>
          </a:p>
        </p:txBody>
      </p:sp>
      <p:sp>
        <p:nvSpPr>
          <p:cNvPr id="28" name="case-2">
            <a:extLst xmlns:a="http://schemas.openxmlformats.org/drawingml/2006/main">
              <a:ext uri="{FF2B5EF4-FFF2-40B4-BE49-F238E27FC236}">
                <a16:creationId xmlns:a16="http://schemas.microsoft.com/office/drawing/2014/main" id="{4E7125FE-12CA-46CF-A92A-37D4CD51F174}"/>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6708C4AB-54A1-42BC-A22F-58A06190F91F}"/>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D02C3986-0B9A-4E63-841A-D1BD721B89E2}"/>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三菱電機</a:t>
            </a:r>
          </a:p>
        </p:txBody>
      </p:sp>
      <p:sp>
        <p:nvSpPr>
          <p:cNvPr id="31" name="product-2">
            <a:extLst xmlns:a="http://schemas.openxmlformats.org/drawingml/2006/main">
              <a:ext uri="{FF2B5EF4-FFF2-40B4-BE49-F238E27FC236}">
                <a16:creationId xmlns:a16="http://schemas.microsoft.com/office/drawing/2014/main" id="{615A92C4-A18E-44B9-A537-1F03926AB4AF}"/>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NC MachiningAID（2024）／2026 CNC省人化</a:t>
            </a:r>
          </a:p>
        </p:txBody>
      </p:sp>
      <p:sp>
        <p:nvSpPr>
          <p:cNvPr id="32" name="target-2">
            <a:extLst xmlns:a="http://schemas.openxmlformats.org/drawingml/2006/main">
              <a:ext uri="{FF2B5EF4-FFF2-40B4-BE49-F238E27FC236}">
                <a16:creationId xmlns:a16="http://schemas.microsoft.com/office/drawing/2014/main" id="{E3C96CE0-3FC9-42C7-B115-03963E60A6F7}"/>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加工異常・工具摩耗・作業ミスを検知す</a:t>
            </a:r>
          </a:p>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る</a:t>
            </a:r>
          </a:p>
        </p:txBody>
      </p:sp>
      <p:sp>
        <p:nvSpPr>
          <p:cNvPr id="33" name="tech-label-2">
            <a:extLst xmlns:a="http://schemas.openxmlformats.org/drawingml/2006/main">
              <a:ext uri="{FF2B5EF4-FFF2-40B4-BE49-F238E27FC236}">
                <a16:creationId xmlns:a16="http://schemas.microsoft.com/office/drawing/2014/main" id="{BAB79687-9671-4B8C-B274-5EB69040D2F4}"/>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E92A867A-EAFF-44EB-B91C-EDBB8D8F0F2D}"/>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2024のMachiningAIDは加工異常・工具摩耗</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・作業ミスをAI検知。</a:t>
            </a:r>
          </a:p>
        </p:txBody>
      </p:sp>
      <p:sp>
        <p:nvSpPr>
          <p:cNvPr id="35" name="human-label-2">
            <a:extLst xmlns:a="http://schemas.openxmlformats.org/drawingml/2006/main">
              <a:ext uri="{FF2B5EF4-FFF2-40B4-BE49-F238E27FC236}">
                <a16:creationId xmlns:a16="http://schemas.microsoft.com/office/drawing/2014/main" id="{3EDFC50B-2403-44B7-B8B7-F02A78E7199F}"/>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6092D29D-541C-4044-9DDC-83C661A75001}"/>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2026の継承機能と自動停止・交換権限は未確認。</a:t>
            </a:r>
          </a:p>
        </p:txBody>
      </p:sp>
      <p:sp>
        <p:nvSpPr>
          <p:cNvPr id="37" name="year-label-2">
            <a:extLst xmlns:a="http://schemas.openxmlformats.org/drawingml/2006/main">
              <a:ext uri="{FF2B5EF4-FFF2-40B4-BE49-F238E27FC236}">
                <a16:creationId xmlns:a16="http://schemas.microsoft.com/office/drawing/2014/main" id="{45B276BE-26B2-47F6-80DD-65D4156F968F}"/>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90B62093-41EF-40E5-9E3D-AC8287719449}"/>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2026はAI省人化の総論。個別機能の進化は比較不</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能。</a:t>
            </a:r>
          </a:p>
        </p:txBody>
      </p:sp>
      <p:sp>
        <p:nvSpPr>
          <p:cNvPr id="39" name="source-2">
            <a:extLst xmlns:a="http://schemas.openxmlformats.org/drawingml/2006/main">
              <a:ext uri="{FF2B5EF4-FFF2-40B4-BE49-F238E27FC236}">
                <a16:creationId xmlns:a16="http://schemas.microsoft.com/office/drawing/2014/main" id="{A0A2A04C-A474-4AAD-A64F-2819BB9F1B32}"/>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221d657a78c741ec"/>
              </a:rPr>
              <a:t>公式原典を開く　ブース S2003</a:t>
            </a:r>
          </a:p>
        </p:txBody>
      </p:sp>
    </p:spTree>
    <p:extLst>
      <p:ext uri="{BB962C8B-B14F-4D97-AF65-F5344CB8AC3E}">
        <p14:creationId xmlns:p14="http://schemas.microsoft.com/office/powerpoint/2010/main" val="1344981164"/>
      </p:ext>
    </p:extLst>
  </p:cSld>
</p:sld>
</file>

<file path=ppt/slides/slide22.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69E38E38-87D3-46DD-826D-792E943D7709}"/>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工具摩耗の判定・交換判断　2/3</a:t>
            </a:r>
          </a:p>
        </p:txBody>
      </p:sp>
      <p:sp>
        <p:nvSpPr>
          <p:cNvPr id="2" name="sub">
            <a:extLst xmlns:a="http://schemas.openxmlformats.org/drawingml/2006/main">
              <a:ext uri="{FF2B5EF4-FFF2-40B4-BE49-F238E27FC236}">
                <a16:creationId xmlns:a16="http://schemas.microsoft.com/office/drawing/2014/main" id="{52E9C92E-4577-46D3-B68B-27699552F0B8}"/>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困りごと〈分析〉：工具を早く捨てすぎず、欠損や品質悪化を避ける判断。</a:t>
            </a:r>
          </a:p>
        </p:txBody>
      </p:sp>
      <p:sp>
        <p:nvSpPr>
          <p:cNvPr id="3" name="page">
            <a:extLst xmlns:a="http://schemas.openxmlformats.org/drawingml/2006/main">
              <a:ext uri="{FF2B5EF4-FFF2-40B4-BE49-F238E27FC236}">
                <a16:creationId xmlns:a16="http://schemas.microsoft.com/office/drawing/2014/main" id="{E06C7B94-EF25-4E39-9580-00265F149D15}"/>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22</a:t>
            </a:r>
          </a:p>
        </p:txBody>
      </p:sp>
      <p:sp>
        <p:nvSpPr>
          <p:cNvPr id="4" name="case-0">
            <a:extLst xmlns:a="http://schemas.openxmlformats.org/drawingml/2006/main">
              <a:ext uri="{FF2B5EF4-FFF2-40B4-BE49-F238E27FC236}">
                <a16:creationId xmlns:a16="http://schemas.microsoft.com/office/drawing/2014/main" id="{E0E15F8C-2F8C-44DB-9EA2-B039FDCC3D63}"/>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3C0CD12A-AEA4-4A0F-B4EE-A96D333C6DB8}"/>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E9875074-727D-4288-9920-C4690F026C57}"/>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モリマシナリー</a:t>
            </a:r>
          </a:p>
        </p:txBody>
      </p:sp>
      <p:sp>
        <p:nvSpPr>
          <p:cNvPr id="7" name="product-0">
            <a:extLst xmlns:a="http://schemas.openxmlformats.org/drawingml/2006/main">
              <a:ext uri="{FF2B5EF4-FFF2-40B4-BE49-F238E27FC236}">
                <a16:creationId xmlns:a16="http://schemas.microsoft.com/office/drawing/2014/main" id="{F1FA68AA-511D-4939-B6BE-BF315EC8C3A1}"/>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ツールコラージュアナライザー</a:t>
            </a:r>
          </a:p>
        </p:txBody>
      </p:sp>
      <p:sp>
        <p:nvSpPr>
          <p:cNvPr id="8" name="target-0">
            <a:extLst xmlns:a="http://schemas.openxmlformats.org/drawingml/2006/main">
              <a:ext uri="{FF2B5EF4-FFF2-40B4-BE49-F238E27FC236}">
                <a16:creationId xmlns:a16="http://schemas.microsoft.com/office/drawing/2014/main" id="{7DF6D9FB-718F-49FB-8BA0-C8176E7308E4}"/>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切削工具をいつ交換するか</a:t>
            </a:r>
          </a:p>
        </p:txBody>
      </p:sp>
      <p:sp>
        <p:nvSpPr>
          <p:cNvPr id="9" name="tech-label-0">
            <a:extLst xmlns:a="http://schemas.openxmlformats.org/drawingml/2006/main">
              <a:ext uri="{FF2B5EF4-FFF2-40B4-BE49-F238E27FC236}">
                <a16:creationId xmlns:a16="http://schemas.microsoft.com/office/drawing/2014/main" id="{82521AC8-E9E7-4815-9598-3CEE08546B22}"/>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BE6CB5EA-BE25-4B01-BA45-81507BD7E62A}"/>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摩耗幅のデータを蓄積・学習し、工具寿命と</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交換時期を提案する。</a:t>
            </a:r>
          </a:p>
        </p:txBody>
      </p:sp>
      <p:sp>
        <p:nvSpPr>
          <p:cNvPr id="11" name="human-label-0">
            <a:extLst xmlns:a="http://schemas.openxmlformats.org/drawingml/2006/main">
              <a:ext uri="{FF2B5EF4-FFF2-40B4-BE49-F238E27FC236}">
                <a16:creationId xmlns:a16="http://schemas.microsoft.com/office/drawing/2014/main" id="{AB9FC0E1-61DA-43F4-A1D9-164AEACEC592}"/>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598977A5-0D70-4701-971B-4FF88587B203}"/>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人が工具・加工条件と提案の適用を確認する運用は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要確認。</a:t>
            </a:r>
          </a:p>
        </p:txBody>
      </p:sp>
      <p:sp>
        <p:nvSpPr>
          <p:cNvPr id="13" name="year-label-0">
            <a:extLst xmlns:a="http://schemas.openxmlformats.org/drawingml/2006/main">
              <a:ext uri="{FF2B5EF4-FFF2-40B4-BE49-F238E27FC236}">
                <a16:creationId xmlns:a16="http://schemas.microsoft.com/office/drawing/2014/main" id="{97B79CB1-650B-43D0-B00D-2D6638BB9916}"/>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F23D1EEE-25DD-4F25-9B62-F218860E164E}"/>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2026は寿命予測と交換提案を具体掲載。ただし研</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究発表は2023にもあり、新方式の誕生とは扱わな</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い。</a:t>
            </a:r>
          </a:p>
        </p:txBody>
      </p:sp>
      <p:sp>
        <p:nvSpPr>
          <p:cNvPr id="15" name="source-0">
            <a:extLst xmlns:a="http://schemas.openxmlformats.org/drawingml/2006/main">
              <a:ext uri="{FF2B5EF4-FFF2-40B4-BE49-F238E27FC236}">
                <a16:creationId xmlns:a16="http://schemas.microsoft.com/office/drawing/2014/main" id="{8104BDF4-1938-4605-8DBD-D4ABB4887882}"/>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09a6100d991f451b"/>
              </a:rPr>
              <a:t>公式原典を開く　ブース S3048</a:t>
            </a:r>
          </a:p>
        </p:txBody>
      </p:sp>
      <p:sp>
        <p:nvSpPr>
          <p:cNvPr id="16" name="case-1">
            <a:extLst xmlns:a="http://schemas.openxmlformats.org/drawingml/2006/main">
              <a:ext uri="{FF2B5EF4-FFF2-40B4-BE49-F238E27FC236}">
                <a16:creationId xmlns:a16="http://schemas.microsoft.com/office/drawing/2014/main" id="{7BBE23EF-6AF1-4097-883D-9BCF94C7CAAB}"/>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929D0341-81D1-48C9-9CED-C9B5C76A6E88}"/>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FD014476-27AF-4BEE-A306-B5E11C04B7E6}"/>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興和オプトロニクス</a:t>
            </a:r>
          </a:p>
        </p:txBody>
      </p:sp>
      <p:sp>
        <p:nvSpPr>
          <p:cNvPr id="19" name="product-1">
            <a:extLst xmlns:a="http://schemas.openxmlformats.org/drawingml/2006/main">
              <a:ext uri="{FF2B5EF4-FFF2-40B4-BE49-F238E27FC236}">
                <a16:creationId xmlns:a16="http://schemas.microsoft.com/office/drawing/2014/main" id="{6B3575BA-42A8-45B2-8315-E04B72F1AB22}"/>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RW耐環境ビジョンユニット</a:t>
            </a:r>
          </a:p>
        </p:txBody>
      </p:sp>
      <p:sp>
        <p:nvSpPr>
          <p:cNvPr id="20" name="target-1">
            <a:extLst xmlns:a="http://schemas.openxmlformats.org/drawingml/2006/main">
              <a:ext uri="{FF2B5EF4-FFF2-40B4-BE49-F238E27FC236}">
                <a16:creationId xmlns:a16="http://schemas.microsoft.com/office/drawing/2014/main" id="{F9273988-2965-48AF-9C46-98D3A09508AF}"/>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加工機内の工具折損・摩耗を見つける</a:t>
            </a:r>
          </a:p>
        </p:txBody>
      </p:sp>
      <p:sp>
        <p:nvSpPr>
          <p:cNvPr id="21" name="tech-label-1">
            <a:extLst xmlns:a="http://schemas.openxmlformats.org/drawingml/2006/main">
              <a:ext uri="{FF2B5EF4-FFF2-40B4-BE49-F238E27FC236}">
                <a16:creationId xmlns:a16="http://schemas.microsoft.com/office/drawing/2014/main" id="{00C572D4-D70D-437B-8AD9-0FFAD5834958}"/>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50423364-3E13-4F39-9EA5-0D750BDE3136}"/>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水・油・ミスト環境で撮像し、AIで工具折</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損・摩耗や切粉の異常蓄積を検知するとの説</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明。</a:t>
            </a:r>
          </a:p>
        </p:txBody>
      </p:sp>
      <p:sp>
        <p:nvSpPr>
          <p:cNvPr id="23" name="human-label-1">
            <a:extLst xmlns:a="http://schemas.openxmlformats.org/drawingml/2006/main">
              <a:ext uri="{FF2B5EF4-FFF2-40B4-BE49-F238E27FC236}">
                <a16:creationId xmlns:a16="http://schemas.microsoft.com/office/drawing/2014/main" id="{10C97AB5-F515-4DAF-A38F-52A8B64A9C22}"/>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B381D362-9095-4E98-B110-24721AB18AC8}"/>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対象工具、判定の閾値、検知後の停止・交換の分担</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は未確認。</a:t>
            </a:r>
          </a:p>
        </p:txBody>
      </p:sp>
      <p:sp>
        <p:nvSpPr>
          <p:cNvPr id="25" name="year-label-1">
            <a:extLst xmlns:a="http://schemas.openxmlformats.org/drawingml/2006/main">
              <a:ext uri="{FF2B5EF4-FFF2-40B4-BE49-F238E27FC236}">
                <a16:creationId xmlns:a16="http://schemas.microsoft.com/office/drawing/2014/main" id="{43B87A9D-8E07-4202-8106-E903D77BE88C}"/>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C9A3CF76-E57F-4D0B-AC06-D1F82FED3802}"/>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2024同名原典なし。2026の耐環境撮像とAI検知は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確認、登場時期は比較不能。</a:t>
            </a:r>
          </a:p>
        </p:txBody>
      </p:sp>
      <p:sp>
        <p:nvSpPr>
          <p:cNvPr id="27" name="source-1">
            <a:extLst xmlns:a="http://schemas.openxmlformats.org/drawingml/2006/main">
              <a:ext uri="{FF2B5EF4-FFF2-40B4-BE49-F238E27FC236}">
                <a16:creationId xmlns:a16="http://schemas.microsoft.com/office/drawing/2014/main" id="{DA5B99B0-900F-4283-97ED-327008EFEA15}"/>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ff5d466ba8114ebf"/>
              </a:rPr>
              <a:t>公式原典を開く　ブース S3104</a:t>
            </a:r>
          </a:p>
        </p:txBody>
      </p:sp>
      <p:sp>
        <p:nvSpPr>
          <p:cNvPr id="28" name="case-2">
            <a:extLst xmlns:a="http://schemas.openxmlformats.org/drawingml/2006/main">
              <a:ext uri="{FF2B5EF4-FFF2-40B4-BE49-F238E27FC236}">
                <a16:creationId xmlns:a16="http://schemas.microsoft.com/office/drawing/2014/main" id="{E924A81D-56D5-4E9B-9625-C19720C1020E}"/>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A6ADB6DD-0D76-4EF7-9660-79BF4DBFC1BE}"/>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FE312E5D-7540-47CA-978D-259F0504E139}"/>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マーポス</a:t>
            </a:r>
          </a:p>
        </p:txBody>
      </p:sp>
      <p:sp>
        <p:nvSpPr>
          <p:cNvPr id="31" name="product-2">
            <a:extLst xmlns:a="http://schemas.openxmlformats.org/drawingml/2006/main">
              <a:ext uri="{FF2B5EF4-FFF2-40B4-BE49-F238E27FC236}">
                <a16:creationId xmlns:a16="http://schemas.microsoft.com/office/drawing/2014/main" id="{5E337468-E6F3-42D4-BC7A-02E5FFB8197A}"/>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ARTIS／BLU／VTS</a:t>
            </a:r>
          </a:p>
        </p:txBody>
      </p:sp>
      <p:sp>
        <p:nvSpPr>
          <p:cNvPr id="32" name="target-2">
            <a:extLst xmlns:a="http://schemas.openxmlformats.org/drawingml/2006/main">
              <a:ext uri="{FF2B5EF4-FFF2-40B4-BE49-F238E27FC236}">
                <a16:creationId xmlns:a16="http://schemas.microsoft.com/office/drawing/2014/main" id="{2C29BE00-254F-4E1A-82BA-9C0FBC19E4C4}"/>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工具寸法と加工状態を測り・監視する</a:t>
            </a:r>
          </a:p>
        </p:txBody>
      </p:sp>
      <p:sp>
        <p:nvSpPr>
          <p:cNvPr id="33" name="tech-label-2">
            <a:extLst xmlns:a="http://schemas.openxmlformats.org/drawingml/2006/main">
              <a:ext uri="{FF2B5EF4-FFF2-40B4-BE49-F238E27FC236}">
                <a16:creationId xmlns:a16="http://schemas.microsoft.com/office/drawing/2014/main" id="{78BA28D7-AB7D-4C2F-9E70-19648436FEAD}"/>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F1AE7632-B965-4A29-89C7-B67450E23D21}"/>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カメラ・レーザーの工具測定と、工具・機械</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・加工プロセスの監視を展示。</a:t>
            </a:r>
          </a:p>
        </p:txBody>
      </p:sp>
      <p:sp>
        <p:nvSpPr>
          <p:cNvPr id="35" name="human-label-2">
            <a:extLst xmlns:a="http://schemas.openxmlformats.org/drawingml/2006/main">
              <a:ext uri="{FF2B5EF4-FFF2-40B4-BE49-F238E27FC236}">
                <a16:creationId xmlns:a16="http://schemas.microsoft.com/office/drawing/2014/main" id="{0F3B5F28-1B94-4A88-B148-A05E51028C9F}"/>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A9CB0127-8C18-4FC8-8ECF-DDE2D97406B6}"/>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交換・停止を決める基準と、各機能のAI使用は未</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確認。</a:t>
            </a:r>
          </a:p>
        </p:txBody>
      </p:sp>
      <p:sp>
        <p:nvSpPr>
          <p:cNvPr id="37" name="year-label-2">
            <a:extLst xmlns:a="http://schemas.openxmlformats.org/drawingml/2006/main">
              <a:ext uri="{FF2B5EF4-FFF2-40B4-BE49-F238E27FC236}">
                <a16:creationId xmlns:a16="http://schemas.microsoft.com/office/drawing/2014/main" id="{7FA23B00-7DEA-4FD8-88B0-35EEA7CC64EB}"/>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4AAF172C-5876-4715-9BCA-C914B8B221AE}"/>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ARTIS・VTS等は2024にも掲載。2026の展示名だけ</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では機能の増分を断定できない。</a:t>
            </a:r>
          </a:p>
        </p:txBody>
      </p:sp>
      <p:sp>
        <p:nvSpPr>
          <p:cNvPr id="39" name="source-2">
            <a:extLst xmlns:a="http://schemas.openxmlformats.org/drawingml/2006/main">
              <a:ext uri="{FF2B5EF4-FFF2-40B4-BE49-F238E27FC236}">
                <a16:creationId xmlns:a16="http://schemas.microsoft.com/office/drawing/2014/main" id="{F53C0E65-F07F-42C3-88FE-51D393D2D684}"/>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7f07c3de9ad14de3"/>
              </a:rPr>
              <a:t>公式原典を開く　ブース E7087</a:t>
            </a:r>
          </a:p>
        </p:txBody>
      </p:sp>
    </p:spTree>
    <p:extLst>
      <p:ext uri="{BB962C8B-B14F-4D97-AF65-F5344CB8AC3E}">
        <p14:creationId xmlns:p14="http://schemas.microsoft.com/office/powerpoint/2010/main" val="2022790249"/>
      </p:ext>
    </p:extLst>
  </p:cSld>
</p:sld>
</file>

<file path=ppt/slides/slide23.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917693EB-2A5D-45E6-94E6-FF468BC28798}"/>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工具摩耗の判定・交換判断　3/3</a:t>
            </a:r>
          </a:p>
        </p:txBody>
      </p:sp>
      <p:sp>
        <p:nvSpPr>
          <p:cNvPr id="2" name="sub">
            <a:extLst xmlns:a="http://schemas.openxmlformats.org/drawingml/2006/main">
              <a:ext uri="{FF2B5EF4-FFF2-40B4-BE49-F238E27FC236}">
                <a16:creationId xmlns:a16="http://schemas.microsoft.com/office/drawing/2014/main" id="{870E918A-CC04-4A75-A1A2-6E1948D3B067}"/>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困りごと〈分析〉：工具を早く捨てすぎず、欠損や品質悪化を避ける判断。</a:t>
            </a:r>
          </a:p>
        </p:txBody>
      </p:sp>
      <p:sp>
        <p:nvSpPr>
          <p:cNvPr id="3" name="page">
            <a:extLst xmlns:a="http://schemas.openxmlformats.org/drawingml/2006/main">
              <a:ext uri="{FF2B5EF4-FFF2-40B4-BE49-F238E27FC236}">
                <a16:creationId xmlns:a16="http://schemas.microsoft.com/office/drawing/2014/main" id="{3BBD1F99-465E-4B33-BAB7-94ED815E6A12}"/>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23</a:t>
            </a:r>
          </a:p>
        </p:txBody>
      </p:sp>
      <p:sp>
        <p:nvSpPr>
          <p:cNvPr id="4" name="case-0">
            <a:extLst xmlns:a="http://schemas.openxmlformats.org/drawingml/2006/main">
              <a:ext uri="{FF2B5EF4-FFF2-40B4-BE49-F238E27FC236}">
                <a16:creationId xmlns:a16="http://schemas.microsoft.com/office/drawing/2014/main" id="{5CAAFDF8-2317-4E03-BCF3-10E713E440CB}"/>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51DEE117-7A23-4108-ACE6-5233185C23E0}"/>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C7FE5879-4807-48C8-AB48-88E2D789B445}"/>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Masterlink</a:t>
            </a:r>
          </a:p>
        </p:txBody>
      </p:sp>
      <p:sp>
        <p:nvSpPr>
          <p:cNvPr id="7" name="product-0">
            <a:extLst xmlns:a="http://schemas.openxmlformats.org/drawingml/2006/main">
              <a:ext uri="{FF2B5EF4-FFF2-40B4-BE49-F238E27FC236}">
                <a16:creationId xmlns:a16="http://schemas.microsoft.com/office/drawing/2014/main" id="{32AFB7DD-BEE5-4458-8177-57BF3E9A68CE}"/>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工作機械センシングの知能化による生産性向上</a:t>
            </a:r>
          </a:p>
        </p:txBody>
      </p:sp>
      <p:sp>
        <p:nvSpPr>
          <p:cNvPr id="8" name="target-0">
            <a:extLst xmlns:a="http://schemas.openxmlformats.org/drawingml/2006/main">
              <a:ext uri="{FF2B5EF4-FFF2-40B4-BE49-F238E27FC236}">
                <a16:creationId xmlns:a16="http://schemas.microsoft.com/office/drawing/2014/main" id="{66C28E34-34B6-4D1F-AD48-8F3D8C123A0B}"/>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工具の異常を監視する（方式要確認）</a:t>
            </a:r>
          </a:p>
        </p:txBody>
      </p:sp>
      <p:sp>
        <p:nvSpPr>
          <p:cNvPr id="9" name="tech-label-0">
            <a:extLst xmlns:a="http://schemas.openxmlformats.org/drawingml/2006/main">
              <a:ext uri="{FF2B5EF4-FFF2-40B4-BE49-F238E27FC236}">
                <a16:creationId xmlns:a16="http://schemas.microsoft.com/office/drawing/2014/main" id="{BFC43D3F-DD77-4895-B209-391D9B5D2A42}"/>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DCC244D9-94F1-4769-8CA4-7AD2BE581AD2}"/>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工具監視、適応加工、予知保全を出展項目と</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して掲載。入力信号と判定方式は未記載。</a:t>
            </a:r>
          </a:p>
        </p:txBody>
      </p:sp>
      <p:sp>
        <p:nvSpPr>
          <p:cNvPr id="11" name="human-label-0">
            <a:extLst xmlns:a="http://schemas.openxmlformats.org/drawingml/2006/main">
              <a:ext uri="{FF2B5EF4-FFF2-40B4-BE49-F238E27FC236}">
                <a16:creationId xmlns:a16="http://schemas.microsoft.com/office/drawing/2014/main" id="{777C3892-2A67-46FE-A5EE-AE19788A1421}"/>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3C426CF6-3223-4CFA-B420-84C3F383347E}"/>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監視結果から停止・交換へ移す手順、担当者は未確</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認。</a:t>
            </a:r>
          </a:p>
        </p:txBody>
      </p:sp>
      <p:sp>
        <p:nvSpPr>
          <p:cNvPr id="13" name="year-label-0">
            <a:extLst xmlns:a="http://schemas.openxmlformats.org/drawingml/2006/main">
              <a:ext uri="{FF2B5EF4-FFF2-40B4-BE49-F238E27FC236}">
                <a16:creationId xmlns:a16="http://schemas.microsoft.com/office/drawing/2014/main" id="{3AC13C0A-6666-417C-9C6B-82F5A564A10A}"/>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03A7714F-66D2-4B29-9E2E-3A34625DD0FF}"/>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2024はセンシング・現場管理の総論。2026は工具</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監視等を列挙。性能差は不明。</a:t>
            </a:r>
          </a:p>
        </p:txBody>
      </p:sp>
      <p:sp>
        <p:nvSpPr>
          <p:cNvPr id="15" name="source-0">
            <a:extLst xmlns:a="http://schemas.openxmlformats.org/drawingml/2006/main">
              <a:ext uri="{FF2B5EF4-FFF2-40B4-BE49-F238E27FC236}">
                <a16:creationId xmlns:a16="http://schemas.microsoft.com/office/drawing/2014/main" id="{AC5E258D-EC36-4DBE-9D71-593C53B490D2}"/>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d409c8d4a2414b7d"/>
              </a:rPr>
              <a:t>公式原典を開く　ブース E1050</a:t>
            </a:r>
          </a:p>
        </p:txBody>
      </p:sp>
    </p:spTree>
    <p:extLst>
      <p:ext uri="{BB962C8B-B14F-4D97-AF65-F5344CB8AC3E}">
        <p14:creationId xmlns:p14="http://schemas.microsoft.com/office/powerpoint/2010/main" val="1107701972"/>
      </p:ext>
    </p:extLst>
  </p:cSld>
</p:sld>
</file>

<file path=ppt/slides/slide24.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FD5B1DAA-42F5-4364-BB1F-DDDC76E57DE8}"/>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設備・刃具の異常検知と保全</a:t>
            </a:r>
          </a:p>
        </p:txBody>
      </p:sp>
      <p:sp>
        <p:nvSpPr>
          <p:cNvPr id="2" name="sub">
            <a:extLst xmlns:a="http://schemas.openxmlformats.org/drawingml/2006/main">
              <a:ext uri="{FF2B5EF4-FFF2-40B4-BE49-F238E27FC236}">
                <a16:creationId xmlns:a16="http://schemas.microsoft.com/office/drawing/2014/main" id="{2DC99E9A-97C0-47E7-A692-EBB9E1D5940B}"/>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困りごと〈分析〉：故障や工具破損の兆候を捉え、点検・交換につなぐ負担。</a:t>
            </a:r>
          </a:p>
        </p:txBody>
      </p:sp>
      <p:sp>
        <p:nvSpPr>
          <p:cNvPr id="3" name="page">
            <a:extLst xmlns:a="http://schemas.openxmlformats.org/drawingml/2006/main">
              <a:ext uri="{FF2B5EF4-FFF2-40B4-BE49-F238E27FC236}">
                <a16:creationId xmlns:a16="http://schemas.microsoft.com/office/drawing/2014/main" id="{D28EBA33-DEC2-49FD-9782-A223808AF6F1}"/>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24</a:t>
            </a:r>
          </a:p>
        </p:txBody>
      </p:sp>
      <p:sp>
        <p:nvSpPr>
          <p:cNvPr id="4" name="case-0">
            <a:extLst xmlns:a="http://schemas.openxmlformats.org/drawingml/2006/main">
              <a:ext uri="{FF2B5EF4-FFF2-40B4-BE49-F238E27FC236}">
                <a16:creationId xmlns:a16="http://schemas.microsoft.com/office/drawing/2014/main" id="{8791F3ED-1C19-4868-A08C-A08E23D6240B}"/>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E0BD7C0A-8E85-4166-B51D-FF6047B26A65}"/>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9EE29665-046B-4474-AF7F-821B207E89D2}"/>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ムラテックＣＣＳ</a:t>
            </a:r>
          </a:p>
        </p:txBody>
      </p:sp>
      <p:sp>
        <p:nvSpPr>
          <p:cNvPr id="7" name="product-0">
            <a:extLst xmlns:a="http://schemas.openxmlformats.org/drawingml/2006/main">
              <a:ext uri="{FF2B5EF4-FFF2-40B4-BE49-F238E27FC236}">
                <a16:creationId xmlns:a16="http://schemas.microsoft.com/office/drawing/2014/main" id="{54394BB1-86C2-4EBF-AF64-BB36BFB69452}"/>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プライマリドクタサービス</a:t>
            </a:r>
          </a:p>
        </p:txBody>
      </p:sp>
      <p:sp>
        <p:nvSpPr>
          <p:cNvPr id="8" name="target-0">
            <a:extLst xmlns:a="http://schemas.openxmlformats.org/drawingml/2006/main">
              <a:ext uri="{FF2B5EF4-FFF2-40B4-BE49-F238E27FC236}">
                <a16:creationId xmlns:a16="http://schemas.microsoft.com/office/drawing/2014/main" id="{BB7EE425-E32A-4050-8585-4F4BCB876DAF}"/>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設備の電流・振動から劣化を診断する</a:t>
            </a:r>
          </a:p>
        </p:txBody>
      </p:sp>
      <p:sp>
        <p:nvSpPr>
          <p:cNvPr id="9" name="tech-label-0">
            <a:extLst xmlns:a="http://schemas.openxmlformats.org/drawingml/2006/main">
              <a:ext uri="{FF2B5EF4-FFF2-40B4-BE49-F238E27FC236}">
                <a16:creationId xmlns:a16="http://schemas.microsoft.com/office/drawing/2014/main" id="{B0B42AFA-743F-4C60-9D1B-C91BE1B13A66}"/>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31E71A9D-87EE-4B96-9178-896F567DA437}"/>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稼働中の電流・振動等を新品状態と比較し劣</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化・異常を診断。</a:t>
            </a:r>
          </a:p>
        </p:txBody>
      </p:sp>
      <p:sp>
        <p:nvSpPr>
          <p:cNvPr id="11" name="human-label-0">
            <a:extLst xmlns:a="http://schemas.openxmlformats.org/drawingml/2006/main">
              <a:ext uri="{FF2B5EF4-FFF2-40B4-BE49-F238E27FC236}">
                <a16:creationId xmlns:a16="http://schemas.microsoft.com/office/drawing/2014/main" id="{F12C9072-2A4A-48D7-8783-203553795032}"/>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753CF4DE-BDDC-4129-A151-E75E5174B01B}"/>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計測後の点検・交換の最終決定者、誤警報時の扱い</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は未確認。</a:t>
            </a:r>
          </a:p>
        </p:txBody>
      </p:sp>
      <p:sp>
        <p:nvSpPr>
          <p:cNvPr id="13" name="year-label-0">
            <a:extLst xmlns:a="http://schemas.openxmlformats.org/drawingml/2006/main">
              <a:ext uri="{FF2B5EF4-FFF2-40B4-BE49-F238E27FC236}">
                <a16:creationId xmlns:a16="http://schemas.microsoft.com/office/drawing/2014/main" id="{189C19AC-F789-4182-8B6F-1063E182522F}"/>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EC9FB5BD-E15B-45FC-A699-8F545524F872}"/>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プライマリドクタのAI診断は2024から継続。</a:t>
            </a:r>
          </a:p>
        </p:txBody>
      </p:sp>
      <p:sp>
        <p:nvSpPr>
          <p:cNvPr id="15" name="source-0">
            <a:extLst xmlns:a="http://schemas.openxmlformats.org/drawingml/2006/main">
              <a:ext uri="{FF2B5EF4-FFF2-40B4-BE49-F238E27FC236}">
                <a16:creationId xmlns:a16="http://schemas.microsoft.com/office/drawing/2014/main" id="{F46897E0-68D8-40A4-B577-B9B3565C1F25}"/>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7001286c1d864af2"/>
              </a:rPr>
              <a:t>公式原典を開く　ブース E3031</a:t>
            </a:r>
          </a:p>
        </p:txBody>
      </p:sp>
      <p:sp>
        <p:nvSpPr>
          <p:cNvPr id="16" name="case-1">
            <a:extLst xmlns:a="http://schemas.openxmlformats.org/drawingml/2006/main">
              <a:ext uri="{FF2B5EF4-FFF2-40B4-BE49-F238E27FC236}">
                <a16:creationId xmlns:a16="http://schemas.microsoft.com/office/drawing/2014/main" id="{6CAA58E4-2897-4D7B-9CFA-05D26181BF5C}"/>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45CB8264-393C-435C-B5BC-0A975C6DAA20}"/>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69628128-C23A-4EBC-A743-9C794717AF50}"/>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アズビル（TACO共同出展）</a:t>
            </a:r>
          </a:p>
        </p:txBody>
      </p:sp>
      <p:sp>
        <p:nvSpPr>
          <p:cNvPr id="19" name="product-1">
            <a:extLst xmlns:a="http://schemas.openxmlformats.org/drawingml/2006/main">
              <a:ext uri="{FF2B5EF4-FFF2-40B4-BE49-F238E27FC236}">
                <a16:creationId xmlns:a16="http://schemas.microsoft.com/office/drawing/2014/main" id="{D21DF046-35B5-49A2-A4B6-433F056DD9B2}"/>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U4DM01 NC旋盤予兆検知</a:t>
            </a:r>
          </a:p>
        </p:txBody>
      </p:sp>
      <p:sp>
        <p:nvSpPr>
          <p:cNvPr id="20" name="target-1">
            <a:extLst xmlns:a="http://schemas.openxmlformats.org/drawingml/2006/main">
              <a:ext uri="{FF2B5EF4-FFF2-40B4-BE49-F238E27FC236}">
                <a16:creationId xmlns:a16="http://schemas.microsoft.com/office/drawing/2014/main" id="{51CF1F58-1AC4-4269-8C05-3C54A0613079}"/>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NC旋盤の刃具破損を検知する</a:t>
            </a:r>
          </a:p>
        </p:txBody>
      </p:sp>
      <p:sp>
        <p:nvSpPr>
          <p:cNvPr id="21" name="tech-label-1">
            <a:extLst xmlns:a="http://schemas.openxmlformats.org/drawingml/2006/main">
              <a:ext uri="{FF2B5EF4-FFF2-40B4-BE49-F238E27FC236}">
                <a16:creationId xmlns:a16="http://schemas.microsoft.com/office/drawing/2014/main" id="{29DF28AB-FF7E-47DD-9F55-94BAC4F0EA65}"/>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EAFDF13D-076B-417C-B886-D5617BE6BF0E}"/>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U4DM01はNC旋盤の刃具破損検知と後付け適</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用を説明。</a:t>
            </a:r>
          </a:p>
        </p:txBody>
      </p:sp>
      <p:sp>
        <p:nvSpPr>
          <p:cNvPr id="23" name="human-label-1">
            <a:extLst xmlns:a="http://schemas.openxmlformats.org/drawingml/2006/main">
              <a:ext uri="{FF2B5EF4-FFF2-40B4-BE49-F238E27FC236}">
                <a16:creationId xmlns:a16="http://schemas.microsoft.com/office/drawing/2014/main" id="{D79CA38D-C0FB-4352-96DD-FEE1F771FF58}"/>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A78CD36A-23ED-4785-961E-65FDAE47120A}"/>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2024は設定・学習開始操作あり。停止や交換権限</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は未確認。</a:t>
            </a:r>
          </a:p>
        </p:txBody>
      </p:sp>
      <p:sp>
        <p:nvSpPr>
          <p:cNvPr id="25" name="year-label-1">
            <a:extLst xmlns:a="http://schemas.openxmlformats.org/drawingml/2006/main">
              <a:ext uri="{FF2B5EF4-FFF2-40B4-BE49-F238E27FC236}">
                <a16:creationId xmlns:a16="http://schemas.microsoft.com/office/drawing/2014/main" id="{F7EA8ADC-3763-41EA-8124-E58DB2B38F16}"/>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04FD508A-2EC7-49F0-BD39-CE54221F2C8A}"/>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2024参考U4Dから2026 Coming soon表記。性能差は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不明。</a:t>
            </a:r>
          </a:p>
        </p:txBody>
      </p:sp>
      <p:sp>
        <p:nvSpPr>
          <p:cNvPr id="27" name="source-1">
            <a:extLst xmlns:a="http://schemas.openxmlformats.org/drawingml/2006/main">
              <a:ext uri="{FF2B5EF4-FFF2-40B4-BE49-F238E27FC236}">
                <a16:creationId xmlns:a16="http://schemas.microsoft.com/office/drawing/2014/main" id="{00C8B123-2C2B-4DFB-ABB2-BB72CAEA9601}"/>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b22940f7a57040ae"/>
              </a:rPr>
              <a:t>公式原典を開く　ブース W4070</a:t>
            </a:r>
          </a:p>
        </p:txBody>
      </p:sp>
      <p:sp>
        <p:nvSpPr>
          <p:cNvPr id="28" name="case-2">
            <a:extLst xmlns:a="http://schemas.openxmlformats.org/drawingml/2006/main">
              <a:ext uri="{FF2B5EF4-FFF2-40B4-BE49-F238E27FC236}">
                <a16:creationId xmlns:a16="http://schemas.microsoft.com/office/drawing/2014/main" id="{9AEBC9DB-2756-4ADB-89CC-CA28F737C680}"/>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46411570-6E90-4141-A089-ECB04CCDF20F}"/>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50A955E5-C744-4F76-8829-CE3F897EB5F2}"/>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日本精工</a:t>
            </a:r>
          </a:p>
        </p:txBody>
      </p:sp>
      <p:sp>
        <p:nvSpPr>
          <p:cNvPr id="31" name="product-2">
            <a:extLst xmlns:a="http://schemas.openxmlformats.org/drawingml/2006/main">
              <a:ext uri="{FF2B5EF4-FFF2-40B4-BE49-F238E27FC236}">
                <a16:creationId xmlns:a16="http://schemas.microsoft.com/office/drawing/2014/main" id="{0CE2B95C-2F18-4E40-90E9-B8DDF36C8929}"/>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振動診断AI・遠隔監視</a:t>
            </a:r>
          </a:p>
        </p:txBody>
      </p:sp>
      <p:sp>
        <p:nvSpPr>
          <p:cNvPr id="32" name="target-2">
            <a:extLst xmlns:a="http://schemas.openxmlformats.org/drawingml/2006/main">
              <a:ext uri="{FF2B5EF4-FFF2-40B4-BE49-F238E27FC236}">
                <a16:creationId xmlns:a16="http://schemas.microsoft.com/office/drawing/2014/main" id="{A7F32707-57AA-49DC-A32C-64CD8C7DEDA4}"/>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振動から設備状態を診断する</a:t>
            </a:r>
          </a:p>
        </p:txBody>
      </p:sp>
      <p:sp>
        <p:nvSpPr>
          <p:cNvPr id="33" name="tech-label-2">
            <a:extLst xmlns:a="http://schemas.openxmlformats.org/drawingml/2006/main">
              <a:ext uri="{FF2B5EF4-FFF2-40B4-BE49-F238E27FC236}">
                <a16:creationId xmlns:a16="http://schemas.microsoft.com/office/drawing/2014/main" id="{D3D734B3-B307-4BA2-82C6-59B0351FE2D6}"/>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1ABC913A-CCE5-44EF-859F-187C20DF36F7}"/>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2024はAI振動診断と遠隔監視を紹介。</a:t>
            </a:r>
          </a:p>
        </p:txBody>
      </p:sp>
      <p:sp>
        <p:nvSpPr>
          <p:cNvPr id="35" name="human-label-2">
            <a:extLst xmlns:a="http://schemas.openxmlformats.org/drawingml/2006/main">
              <a:ext uri="{FF2B5EF4-FFF2-40B4-BE49-F238E27FC236}">
                <a16:creationId xmlns:a16="http://schemas.microsoft.com/office/drawing/2014/main" id="{7C61C734-3226-402E-84AE-B608F7B18E55}"/>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0E947144-B7EC-41E5-B227-20CD8EF5F738}"/>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2026の個別機能、保全判断への接続は資料不足。</a:t>
            </a:r>
          </a:p>
        </p:txBody>
      </p:sp>
      <p:sp>
        <p:nvSpPr>
          <p:cNvPr id="37" name="year-label-2">
            <a:extLst xmlns:a="http://schemas.openxmlformats.org/drawingml/2006/main">
              <a:ext uri="{FF2B5EF4-FFF2-40B4-BE49-F238E27FC236}">
                <a16:creationId xmlns:a16="http://schemas.microsoft.com/office/drawing/2014/main" id="{4B73EA02-E95B-4925-AD5D-E1A76B87C7D1}"/>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057A6A40-9C40-4217-8F73-057B868CA890}"/>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2026の総論だけでは2024比の増分を判定できない。</a:t>
            </a:r>
          </a:p>
        </p:txBody>
      </p:sp>
      <p:sp>
        <p:nvSpPr>
          <p:cNvPr id="39" name="source-2">
            <a:extLst xmlns:a="http://schemas.openxmlformats.org/drawingml/2006/main">
              <a:ext uri="{FF2B5EF4-FFF2-40B4-BE49-F238E27FC236}">
                <a16:creationId xmlns:a16="http://schemas.microsoft.com/office/drawing/2014/main" id="{EEAABF89-633D-4F2B-860E-179B7FEADC15}"/>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8020e18a36bb48c7"/>
              </a:rPr>
              <a:t>公式原典を開く　ブース W2048</a:t>
            </a:r>
          </a:p>
        </p:txBody>
      </p:sp>
    </p:spTree>
    <p:extLst>
      <p:ext uri="{BB962C8B-B14F-4D97-AF65-F5344CB8AC3E}">
        <p14:creationId xmlns:p14="http://schemas.microsoft.com/office/powerpoint/2010/main" val="899313693"/>
      </p:ext>
    </p:extLst>
  </p:cSld>
</p:sld>
</file>

<file path=ppt/slides/slide25.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1211B90D-BAB4-4731-8748-7E2C1B098493}"/>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爪・治具・ハンドと位置の段取り　1/2</a:t>
            </a:r>
          </a:p>
        </p:txBody>
      </p:sp>
      <p:sp>
        <p:nvSpPr>
          <p:cNvPr id="2" name="sub">
            <a:extLst xmlns:a="http://schemas.openxmlformats.org/drawingml/2006/main">
              <a:ext uri="{FF2B5EF4-FFF2-40B4-BE49-F238E27FC236}">
                <a16:creationId xmlns:a16="http://schemas.microsoft.com/office/drawing/2014/main" id="{5BBA371B-7EE4-4409-AE6F-C18987F32983}"/>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困りごと〈分析〉：多品種で繰り返す機械的交換と再教示の負担。</a:t>
            </a:r>
          </a:p>
        </p:txBody>
      </p:sp>
      <p:sp>
        <p:nvSpPr>
          <p:cNvPr id="3" name="page">
            <a:extLst xmlns:a="http://schemas.openxmlformats.org/drawingml/2006/main">
              <a:ext uri="{FF2B5EF4-FFF2-40B4-BE49-F238E27FC236}">
                <a16:creationId xmlns:a16="http://schemas.microsoft.com/office/drawing/2014/main" id="{2E533B93-BCB1-4964-B23F-2E6E9215B1F0}"/>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25</a:t>
            </a:r>
          </a:p>
        </p:txBody>
      </p:sp>
      <p:sp>
        <p:nvSpPr>
          <p:cNvPr id="4" name="case-0">
            <a:extLst xmlns:a="http://schemas.openxmlformats.org/drawingml/2006/main">
              <a:ext uri="{FF2B5EF4-FFF2-40B4-BE49-F238E27FC236}">
                <a16:creationId xmlns:a16="http://schemas.microsoft.com/office/drawing/2014/main" id="{7B06A80D-E98A-4BEF-B397-15ED90795804}"/>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78085782-EEF9-4958-A476-3A0C8273AD55}"/>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217C7CD1-04C5-4BBB-8BD9-55A860D3AE7E}"/>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松本機械工業</a:t>
            </a:r>
          </a:p>
        </p:txBody>
      </p:sp>
      <p:sp>
        <p:nvSpPr>
          <p:cNvPr id="7" name="product-0">
            <a:extLst xmlns:a="http://schemas.openxmlformats.org/drawingml/2006/main">
              <a:ext uri="{FF2B5EF4-FFF2-40B4-BE49-F238E27FC236}">
                <a16:creationId xmlns:a16="http://schemas.microsoft.com/office/drawing/2014/main" id="{36C6B756-4B85-408A-9C58-34B7F8A755ED}"/>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Smart Terrace Adv／爪・CAPTO工具の交換</a:t>
            </a:r>
          </a:p>
        </p:txBody>
      </p:sp>
      <p:sp>
        <p:nvSpPr>
          <p:cNvPr id="8" name="target-0">
            <a:extLst xmlns:a="http://schemas.openxmlformats.org/drawingml/2006/main">
              <a:ext uri="{FF2B5EF4-FFF2-40B4-BE49-F238E27FC236}">
                <a16:creationId xmlns:a16="http://schemas.microsoft.com/office/drawing/2014/main" id="{74F5918E-E084-4C4D-8518-C51940781C0A}"/>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爪・工具等を交換して段取りを変える</a:t>
            </a:r>
          </a:p>
        </p:txBody>
      </p:sp>
      <p:sp>
        <p:nvSpPr>
          <p:cNvPr id="9" name="tech-label-0">
            <a:extLst xmlns:a="http://schemas.openxmlformats.org/drawingml/2006/main">
              <a:ext uri="{FF2B5EF4-FFF2-40B4-BE49-F238E27FC236}">
                <a16:creationId xmlns:a16="http://schemas.microsoft.com/office/drawing/2014/main" id="{8934C34A-A1FF-4C70-9167-2975FD5376A5}"/>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CBB7FFFC-CE06-495E-B2E4-145F4347A59B}"/>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Smart Terrace Advは爪等の交換。寸法入力</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から動作を設定。</a:t>
            </a:r>
          </a:p>
        </p:txBody>
      </p:sp>
      <p:sp>
        <p:nvSpPr>
          <p:cNvPr id="11" name="human-label-0">
            <a:extLst xmlns:a="http://schemas.openxmlformats.org/drawingml/2006/main">
              <a:ext uri="{FF2B5EF4-FFF2-40B4-BE49-F238E27FC236}">
                <a16:creationId xmlns:a16="http://schemas.microsoft.com/office/drawing/2014/main" id="{C92D6BCF-41D5-49A8-9028-8353960A9667}"/>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1B7FDC80-6092-4033-BEDE-EEEA9F7C9845}"/>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人が寸法入力。初期プログラムはメーカーが組込み。</a:t>
            </a:r>
          </a:p>
        </p:txBody>
      </p:sp>
      <p:sp>
        <p:nvSpPr>
          <p:cNvPr id="13" name="year-label-0">
            <a:extLst xmlns:a="http://schemas.openxmlformats.org/drawingml/2006/main">
              <a:ext uri="{FF2B5EF4-FFF2-40B4-BE49-F238E27FC236}">
                <a16:creationId xmlns:a16="http://schemas.microsoft.com/office/drawing/2014/main" id="{D8BE0712-A8F7-4244-8EE6-5477D4878195}"/>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717DC32D-6C46-4971-A966-D8AC61252049}"/>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CAPTO等の交換は2024初披露済み。2026はAdv構成</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等に注目。</a:t>
            </a:r>
          </a:p>
        </p:txBody>
      </p:sp>
      <p:sp>
        <p:nvSpPr>
          <p:cNvPr id="15" name="source-0">
            <a:extLst xmlns:a="http://schemas.openxmlformats.org/drawingml/2006/main">
              <a:ext uri="{FF2B5EF4-FFF2-40B4-BE49-F238E27FC236}">
                <a16:creationId xmlns:a16="http://schemas.microsoft.com/office/drawing/2014/main" id="{9DBCDDC5-4FB4-4AEA-8BE7-C2A63617D185}"/>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06e487d245634ba7"/>
              </a:rPr>
              <a:t>公式原典を開く　ブース W2070</a:t>
            </a:r>
          </a:p>
        </p:txBody>
      </p:sp>
      <p:sp>
        <p:nvSpPr>
          <p:cNvPr id="16" name="case-1">
            <a:extLst xmlns:a="http://schemas.openxmlformats.org/drawingml/2006/main">
              <a:ext uri="{FF2B5EF4-FFF2-40B4-BE49-F238E27FC236}">
                <a16:creationId xmlns:a16="http://schemas.microsoft.com/office/drawing/2014/main" id="{D0936CC4-86D7-4F97-BDA4-3737CB34FB71}"/>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9013944F-15EC-4E2C-B7CA-4F892D60024D}"/>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7E74B211-C151-41D9-A296-CBC3BB3D0A32}"/>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イマオコーポレーション</a:t>
            </a:r>
          </a:p>
        </p:txBody>
      </p:sp>
      <p:sp>
        <p:nvSpPr>
          <p:cNvPr id="19" name="product-1">
            <a:extLst xmlns:a="http://schemas.openxmlformats.org/drawingml/2006/main">
              <a:ext uri="{FF2B5EF4-FFF2-40B4-BE49-F238E27FC236}">
                <a16:creationId xmlns:a16="http://schemas.microsoft.com/office/drawing/2014/main" id="{1A638678-B840-4650-974D-0369693BADA3}"/>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ナットランナー治具</a:t>
            </a:r>
          </a:p>
        </p:txBody>
      </p:sp>
      <p:sp>
        <p:nvSpPr>
          <p:cNvPr id="20" name="target-1">
            <a:extLst xmlns:a="http://schemas.openxmlformats.org/drawingml/2006/main">
              <a:ext uri="{FF2B5EF4-FFF2-40B4-BE49-F238E27FC236}">
                <a16:creationId xmlns:a16="http://schemas.microsoft.com/office/drawing/2014/main" id="{967A5E2F-84BE-4BD5-994C-39173947810F}"/>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加工前にワークを治具へ固定する</a:t>
            </a:r>
          </a:p>
        </p:txBody>
      </p:sp>
      <p:sp>
        <p:nvSpPr>
          <p:cNvPr id="21" name="tech-label-1">
            <a:extLst xmlns:a="http://schemas.openxmlformats.org/drawingml/2006/main">
              <a:ext uri="{FF2B5EF4-FFF2-40B4-BE49-F238E27FC236}">
                <a16:creationId xmlns:a16="http://schemas.microsoft.com/office/drawing/2014/main" id="{D2E97076-0201-4F6A-874A-AFC72D595AA3}"/>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A9497C1F-CC5E-4DDD-A42B-0D49B312DB23}"/>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ナットランナーとメカ機構でワークを締結す</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る治具。</a:t>
            </a:r>
          </a:p>
        </p:txBody>
      </p:sp>
      <p:sp>
        <p:nvSpPr>
          <p:cNvPr id="23" name="human-label-1">
            <a:extLst xmlns:a="http://schemas.openxmlformats.org/drawingml/2006/main">
              <a:ext uri="{FF2B5EF4-FFF2-40B4-BE49-F238E27FC236}">
                <a16:creationId xmlns:a16="http://schemas.microsoft.com/office/drawing/2014/main" id="{95B3FBE6-BBA8-4B47-B8D1-A0167D99CAAB}"/>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A9836341-7198-4C7F-BD7F-D3064D0FA695}"/>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人が治具・フック等を設計選定。着座・締結異常の</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扱いは未確認。</a:t>
            </a:r>
          </a:p>
        </p:txBody>
      </p:sp>
      <p:sp>
        <p:nvSpPr>
          <p:cNvPr id="25" name="year-label-1">
            <a:extLst xmlns:a="http://schemas.openxmlformats.org/drawingml/2006/main">
              <a:ext uri="{FF2B5EF4-FFF2-40B4-BE49-F238E27FC236}">
                <a16:creationId xmlns:a16="http://schemas.microsoft.com/office/drawing/2014/main" id="{3997921D-DB4A-4480-BAE6-98B77FADA78F}"/>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5D41406B-7AB2-47EA-BC3B-42B5542E6C02}"/>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2024も具体治具あり。2026は種類追加を記載。</a:t>
            </a:r>
          </a:p>
        </p:txBody>
      </p:sp>
      <p:sp>
        <p:nvSpPr>
          <p:cNvPr id="27" name="source-1">
            <a:extLst xmlns:a="http://schemas.openxmlformats.org/drawingml/2006/main">
              <a:ext uri="{FF2B5EF4-FFF2-40B4-BE49-F238E27FC236}">
                <a16:creationId xmlns:a16="http://schemas.microsoft.com/office/drawing/2014/main" id="{69FCAC05-CF13-4950-B049-60343E8F2952}"/>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2b8c368da1a7423f"/>
              </a:rPr>
              <a:t>公式原典を開く　ブース W2001</a:t>
            </a:r>
          </a:p>
        </p:txBody>
      </p:sp>
      <p:sp>
        <p:nvSpPr>
          <p:cNvPr id="28" name="case-2">
            <a:extLst xmlns:a="http://schemas.openxmlformats.org/drawingml/2006/main">
              <a:ext uri="{FF2B5EF4-FFF2-40B4-BE49-F238E27FC236}">
                <a16:creationId xmlns:a16="http://schemas.microsoft.com/office/drawing/2014/main" id="{8C6DF34D-6A49-4A05-ABCC-CDE209AC4AFD}"/>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E0220C05-AAF5-4DDD-80EE-E9DEE0776AA5}"/>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1041378C-E348-4C6B-9AAA-EEFB7F5625E5}"/>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中村留精密工業</a:t>
            </a:r>
          </a:p>
        </p:txBody>
      </p:sp>
      <p:sp>
        <p:nvSpPr>
          <p:cNvPr id="31" name="product-2">
            <a:extLst xmlns:a="http://schemas.openxmlformats.org/drawingml/2006/main">
              <a:ext uri="{FF2B5EF4-FFF2-40B4-BE49-F238E27FC236}">
                <a16:creationId xmlns:a16="http://schemas.microsoft.com/office/drawing/2014/main" id="{DABCDFAE-9CBA-4BAE-AB9D-2573E7153BC8}"/>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RoboSync</a:t>
            </a:r>
          </a:p>
        </p:txBody>
      </p:sp>
      <p:sp>
        <p:nvSpPr>
          <p:cNvPr id="32" name="target-2">
            <a:extLst xmlns:a="http://schemas.openxmlformats.org/drawingml/2006/main">
              <a:ext uri="{FF2B5EF4-FFF2-40B4-BE49-F238E27FC236}">
                <a16:creationId xmlns:a16="http://schemas.microsoft.com/office/drawing/2014/main" id="{221DD1BC-2579-4B73-90B8-7580FC9BE905}"/>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移設したロボットの位置を復旧する</a:t>
            </a:r>
          </a:p>
        </p:txBody>
      </p:sp>
      <p:sp>
        <p:nvSpPr>
          <p:cNvPr id="33" name="tech-label-2">
            <a:extLst xmlns:a="http://schemas.openxmlformats.org/drawingml/2006/main">
              <a:ext uri="{FF2B5EF4-FFF2-40B4-BE49-F238E27FC236}">
                <a16:creationId xmlns:a16="http://schemas.microsoft.com/office/drawing/2014/main" id="{975400C3-A35F-4A90-85E9-A22AD5BF3437}"/>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66D1D6AA-E236-471F-86FA-E92C00AAE6C7}"/>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RoboSyncは移設後にマーカーを読み相対位</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置を補正。</a:t>
            </a:r>
          </a:p>
        </p:txBody>
      </p:sp>
      <p:sp>
        <p:nvSpPr>
          <p:cNvPr id="35" name="human-label-2">
            <a:extLst xmlns:a="http://schemas.openxmlformats.org/drawingml/2006/main">
              <a:ext uri="{FF2B5EF4-FFF2-40B4-BE49-F238E27FC236}">
                <a16:creationId xmlns:a16="http://schemas.microsoft.com/office/drawing/2014/main" id="{0A82915C-15E4-44F3-9EC8-A3997209292D}"/>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C863F98E-43BF-4349-A63C-34DACCE4AF35}"/>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人の移設・復旧操作を含む。未知トラブルの自律復</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帰とは別。</a:t>
            </a:r>
          </a:p>
        </p:txBody>
      </p:sp>
      <p:sp>
        <p:nvSpPr>
          <p:cNvPr id="37" name="year-label-2">
            <a:extLst xmlns:a="http://schemas.openxmlformats.org/drawingml/2006/main">
              <a:ext uri="{FF2B5EF4-FFF2-40B4-BE49-F238E27FC236}">
                <a16:creationId xmlns:a16="http://schemas.microsoft.com/office/drawing/2014/main" id="{EDD65556-B6F6-40CC-BFE9-9E89C01D13D3}"/>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671DE7E1-0084-49CE-AAD3-98DDB2A199A8}"/>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2026は位置復旧を具体説明。同一機能の2024版は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未確認。</a:t>
            </a:r>
          </a:p>
        </p:txBody>
      </p:sp>
      <p:sp>
        <p:nvSpPr>
          <p:cNvPr id="39" name="source-2">
            <a:extLst xmlns:a="http://schemas.openxmlformats.org/drawingml/2006/main">
              <a:ext uri="{FF2B5EF4-FFF2-40B4-BE49-F238E27FC236}">
                <a16:creationId xmlns:a16="http://schemas.microsoft.com/office/drawing/2014/main" id="{5F226F40-0A2C-4F9C-8438-EE2413BFD675}"/>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a621df61a4124b25"/>
              </a:rPr>
              <a:t>公式原典を開く　ブース E2027</a:t>
            </a:r>
          </a:p>
        </p:txBody>
      </p:sp>
    </p:spTree>
    <p:extLst>
      <p:ext uri="{BB962C8B-B14F-4D97-AF65-F5344CB8AC3E}">
        <p14:creationId xmlns:p14="http://schemas.microsoft.com/office/powerpoint/2010/main" val="545416877"/>
      </p:ext>
    </p:extLst>
  </p:cSld>
</p:sld>
</file>

<file path=ppt/slides/slide26.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E27A9D6D-AEE0-4F76-A26B-0C48282304D3}"/>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爪・治具・ハンドと位置の段取り　2/2</a:t>
            </a:r>
          </a:p>
        </p:txBody>
      </p:sp>
      <p:sp>
        <p:nvSpPr>
          <p:cNvPr id="2" name="sub">
            <a:extLst xmlns:a="http://schemas.openxmlformats.org/drawingml/2006/main">
              <a:ext uri="{FF2B5EF4-FFF2-40B4-BE49-F238E27FC236}">
                <a16:creationId xmlns:a16="http://schemas.microsoft.com/office/drawing/2014/main" id="{DD3BD890-5F1B-4B86-BC67-BD23BA9FAB41}"/>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困りごと〈分析〉：多品種で繰り返す機械的交換と再教示の負担。</a:t>
            </a:r>
          </a:p>
        </p:txBody>
      </p:sp>
      <p:sp>
        <p:nvSpPr>
          <p:cNvPr id="3" name="page">
            <a:extLst xmlns:a="http://schemas.openxmlformats.org/drawingml/2006/main">
              <a:ext uri="{FF2B5EF4-FFF2-40B4-BE49-F238E27FC236}">
                <a16:creationId xmlns:a16="http://schemas.microsoft.com/office/drawing/2014/main" id="{EE97707D-24F2-4374-B32A-256BC9C4D5CE}"/>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26</a:t>
            </a:r>
          </a:p>
        </p:txBody>
      </p:sp>
      <p:sp>
        <p:nvSpPr>
          <p:cNvPr id="4" name="case-0">
            <a:extLst xmlns:a="http://schemas.openxmlformats.org/drawingml/2006/main">
              <a:ext uri="{FF2B5EF4-FFF2-40B4-BE49-F238E27FC236}">
                <a16:creationId xmlns:a16="http://schemas.microsoft.com/office/drawing/2014/main" id="{FCB8BEF6-F084-4E01-A010-891841B4966C}"/>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6B5B860D-D9F4-456E-B8EA-A4F7D1BE47C7}"/>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E3EE1B6A-2247-4286-A70C-665F80B1B7EA}"/>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共立精機</a:t>
            </a:r>
          </a:p>
        </p:txBody>
      </p:sp>
      <p:sp>
        <p:nvSpPr>
          <p:cNvPr id="7" name="product-0">
            <a:extLst xmlns:a="http://schemas.openxmlformats.org/drawingml/2006/main">
              <a:ext uri="{FF2B5EF4-FFF2-40B4-BE49-F238E27FC236}">
                <a16:creationId xmlns:a16="http://schemas.microsoft.com/office/drawing/2014/main" id="{83D06BE2-B135-4E13-A512-FFFE021B2D0D}"/>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全自動計測システム　HP-6040V-FA</a:t>
            </a:r>
          </a:p>
        </p:txBody>
      </p:sp>
      <p:sp>
        <p:nvSpPr>
          <p:cNvPr id="8" name="target-0">
            <a:extLst xmlns:a="http://schemas.openxmlformats.org/drawingml/2006/main">
              <a:ext uri="{FF2B5EF4-FFF2-40B4-BE49-F238E27FC236}">
                <a16:creationId xmlns:a16="http://schemas.microsoft.com/office/drawing/2014/main" id="{8EFA822D-6E63-484A-B791-8EBD48EAF599}"/>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工具を測定・調整し、交換する段取り</a:t>
            </a:r>
          </a:p>
        </p:txBody>
      </p:sp>
      <p:sp>
        <p:nvSpPr>
          <p:cNvPr id="9" name="tech-label-0">
            <a:extLst xmlns:a="http://schemas.openxmlformats.org/drawingml/2006/main">
              <a:ext uri="{FF2B5EF4-FFF2-40B4-BE49-F238E27FC236}">
                <a16:creationId xmlns:a16="http://schemas.microsoft.com/office/drawing/2014/main" id="{CC78E61D-D7E1-4E1A-9FF0-E3ED68F5B488}"/>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8870E773-162C-4F8A-A7F4-20B7616B6116}"/>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工具の交換、突き出し量調整、刃先測定を連</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続自動化し、インサート交換装置も展示。</a:t>
            </a:r>
          </a:p>
        </p:txBody>
      </p:sp>
      <p:sp>
        <p:nvSpPr>
          <p:cNvPr id="11" name="human-label-0">
            <a:extLst xmlns:a="http://schemas.openxmlformats.org/drawingml/2006/main">
              <a:ext uri="{FF2B5EF4-FFF2-40B4-BE49-F238E27FC236}">
                <a16:creationId xmlns:a16="http://schemas.microsoft.com/office/drawing/2014/main" id="{8A58A69B-9010-408F-BCBE-E39F8DE61D6D}"/>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03A1B33D-14CD-4F4C-AB55-69ACB87D7C24}"/>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工具・チップの補給や品種設定、不良時の復旧は要</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確認。</a:t>
            </a:r>
          </a:p>
        </p:txBody>
      </p:sp>
      <p:sp>
        <p:nvSpPr>
          <p:cNvPr id="13" name="year-label-0">
            <a:extLst xmlns:a="http://schemas.openxmlformats.org/drawingml/2006/main">
              <a:ext uri="{FF2B5EF4-FFF2-40B4-BE49-F238E27FC236}">
                <a16:creationId xmlns:a16="http://schemas.microsoft.com/office/drawing/2014/main" id="{1F758A2F-0997-4009-A2A1-FAB3AB70EF89}"/>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171886B4-8D6E-4BD2-90C7-7395A4BFB2F1}"/>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HP-6040V-FAによる工具段取り自動化は2024にも記</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載。2026は交換工程等を具体説明。</a:t>
            </a:r>
          </a:p>
        </p:txBody>
      </p:sp>
      <p:sp>
        <p:nvSpPr>
          <p:cNvPr id="15" name="source-0">
            <a:extLst xmlns:a="http://schemas.openxmlformats.org/drawingml/2006/main">
              <a:ext uri="{FF2B5EF4-FFF2-40B4-BE49-F238E27FC236}">
                <a16:creationId xmlns:a16="http://schemas.microsoft.com/office/drawing/2014/main" id="{696D5C9D-88FA-4056-A859-0A59F86CDA15}"/>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032da07926364ef9"/>
              </a:rPr>
              <a:t>公式原典を開く　ブース W2025</a:t>
            </a:r>
          </a:p>
        </p:txBody>
      </p:sp>
    </p:spTree>
    <p:extLst>
      <p:ext uri="{BB962C8B-B14F-4D97-AF65-F5344CB8AC3E}">
        <p14:creationId xmlns:p14="http://schemas.microsoft.com/office/powerpoint/2010/main" val="1251600830"/>
      </p:ext>
    </p:extLst>
  </p:cSld>
</p:sld>
</file>

<file path=ppt/slides/slide27.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605E93EA-3B1B-4193-BBF4-D3AF3C5C1C65}"/>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ワーク・パレット・切粉の搬送</a:t>
            </a:r>
          </a:p>
        </p:txBody>
      </p:sp>
      <p:sp>
        <p:nvSpPr>
          <p:cNvPr id="2" name="sub">
            <a:extLst xmlns:a="http://schemas.openxmlformats.org/drawingml/2006/main">
              <a:ext uri="{FF2B5EF4-FFF2-40B4-BE49-F238E27FC236}">
                <a16:creationId xmlns:a16="http://schemas.microsoft.com/office/drawing/2014/main" id="{9CBC862C-6A2E-4F18-8F3B-F22ED2A381E6}"/>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困りごと〈分析〉：品種・量の変化に合わせて人の供給往復を減らす。</a:t>
            </a:r>
          </a:p>
        </p:txBody>
      </p:sp>
      <p:sp>
        <p:nvSpPr>
          <p:cNvPr id="3" name="page">
            <a:extLst xmlns:a="http://schemas.openxmlformats.org/drawingml/2006/main">
              <a:ext uri="{FF2B5EF4-FFF2-40B4-BE49-F238E27FC236}">
                <a16:creationId xmlns:a16="http://schemas.microsoft.com/office/drawing/2014/main" id="{258E6A11-98AC-47F1-BC9F-356F923D6BDD}"/>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27</a:t>
            </a:r>
          </a:p>
        </p:txBody>
      </p:sp>
      <p:sp>
        <p:nvSpPr>
          <p:cNvPr id="4" name="case-0">
            <a:extLst xmlns:a="http://schemas.openxmlformats.org/drawingml/2006/main">
              <a:ext uri="{FF2B5EF4-FFF2-40B4-BE49-F238E27FC236}">
                <a16:creationId xmlns:a16="http://schemas.microsoft.com/office/drawing/2014/main" id="{91FCE802-DDBB-41C2-98EC-869B583EE807}"/>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6CF78964-6077-4B6D-A33E-444467453832}"/>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765B3CFF-5435-49DA-8646-119424163E2B}"/>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DMG森精機</a:t>
            </a:r>
          </a:p>
        </p:txBody>
      </p:sp>
      <p:sp>
        <p:nvSpPr>
          <p:cNvPr id="7" name="product-0">
            <a:extLst xmlns:a="http://schemas.openxmlformats.org/drawingml/2006/main">
              <a:ext uri="{FF2B5EF4-FFF2-40B4-BE49-F238E27FC236}">
                <a16:creationId xmlns:a16="http://schemas.microsoft.com/office/drawing/2014/main" id="{6A6205B8-0848-48D1-97A4-FE36F341B86F}"/>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MATRIS WPH 210</a:t>
            </a:r>
          </a:p>
        </p:txBody>
      </p:sp>
      <p:sp>
        <p:nvSpPr>
          <p:cNvPr id="8" name="target-0">
            <a:extLst xmlns:a="http://schemas.openxmlformats.org/drawingml/2006/main">
              <a:ext uri="{FF2B5EF4-FFF2-40B4-BE49-F238E27FC236}">
                <a16:creationId xmlns:a16="http://schemas.microsoft.com/office/drawing/2014/main" id="{E44CBA69-2FAE-4CE7-9C6E-4C8F65665082}"/>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ワークとパレットを加工機へ供給する</a:t>
            </a:r>
          </a:p>
        </p:txBody>
      </p:sp>
      <p:sp>
        <p:nvSpPr>
          <p:cNvPr id="9" name="tech-label-0">
            <a:extLst xmlns:a="http://schemas.openxmlformats.org/drawingml/2006/main">
              <a:ext uri="{FF2B5EF4-FFF2-40B4-BE49-F238E27FC236}">
                <a16:creationId xmlns:a16="http://schemas.microsoft.com/office/drawing/2014/main" id="{9C181934-2E2C-499B-AB4D-67BEC26F1497}"/>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210ADC12-EE10-4FC9-A20F-86CED2074E83}"/>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MATRIS WPH 210がワークとパレット両方を</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供給。</a:t>
            </a:r>
          </a:p>
        </p:txBody>
      </p:sp>
      <p:sp>
        <p:nvSpPr>
          <p:cNvPr id="11" name="human-label-0">
            <a:extLst xmlns:a="http://schemas.openxmlformats.org/drawingml/2006/main">
              <a:ext uri="{FF2B5EF4-FFF2-40B4-BE49-F238E27FC236}">
                <a16:creationId xmlns:a16="http://schemas.microsoft.com/office/drawing/2014/main" id="{D7B972EC-6492-47EC-8870-6F49E5310435}"/>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BF686E1B-CD0F-4B0C-9A7C-DD3285DF20BE}"/>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把持・治具・品種切替の事前準備と異常対応は未確</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認。</a:t>
            </a:r>
          </a:p>
        </p:txBody>
      </p:sp>
      <p:sp>
        <p:nvSpPr>
          <p:cNvPr id="13" name="year-label-0">
            <a:extLst xmlns:a="http://schemas.openxmlformats.org/drawingml/2006/main">
              <a:ext uri="{FF2B5EF4-FFF2-40B4-BE49-F238E27FC236}">
                <a16:creationId xmlns:a16="http://schemas.microsoft.com/office/drawing/2014/main" id="{68E561EA-CBCF-4095-9022-E4B0F25C3F44}"/>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88C136D2-862F-4583-8F34-D2E8A49F3A93}"/>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2024のPH Cell等に対しWPH 210を日本初公開と記</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載。</a:t>
            </a:r>
          </a:p>
        </p:txBody>
      </p:sp>
      <p:sp>
        <p:nvSpPr>
          <p:cNvPr id="15" name="source-0">
            <a:extLst xmlns:a="http://schemas.openxmlformats.org/drawingml/2006/main">
              <a:ext uri="{FF2B5EF4-FFF2-40B4-BE49-F238E27FC236}">
                <a16:creationId xmlns:a16="http://schemas.microsoft.com/office/drawing/2014/main" id="{0CF444A3-1BA1-42AF-8A7D-BA66CCBDF0A0}"/>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68859b9cc0e1446a"/>
              </a:rPr>
              <a:t>公式原典を開く　ブース E8005</a:t>
            </a:r>
          </a:p>
        </p:txBody>
      </p:sp>
      <p:sp>
        <p:nvSpPr>
          <p:cNvPr id="16" name="case-1">
            <a:extLst xmlns:a="http://schemas.openxmlformats.org/drawingml/2006/main">
              <a:ext uri="{FF2B5EF4-FFF2-40B4-BE49-F238E27FC236}">
                <a16:creationId xmlns:a16="http://schemas.microsoft.com/office/drawing/2014/main" id="{84FE700D-19DA-4108-8E4F-FB9F1AC92340}"/>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63B15A54-A342-4C3E-A57B-6AC0015A0285}"/>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49378857-2ED4-4511-B1B1-CA11AC9DF20F}"/>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オークマ</a:t>
            </a:r>
          </a:p>
        </p:txBody>
      </p:sp>
      <p:sp>
        <p:nvSpPr>
          <p:cNvPr id="19" name="product-1">
            <a:extLst xmlns:a="http://schemas.openxmlformats.org/drawingml/2006/main">
              <a:ext uri="{FF2B5EF4-FFF2-40B4-BE49-F238E27FC236}">
                <a16:creationId xmlns:a16="http://schemas.microsoft.com/office/drawing/2014/main" id="{762B9983-881C-4490-8BB7-7D7AB3C53A06}"/>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ARMROID／OMR20</a:t>
            </a:r>
          </a:p>
        </p:txBody>
      </p:sp>
      <p:sp>
        <p:nvSpPr>
          <p:cNvPr id="20" name="target-1">
            <a:extLst xmlns:a="http://schemas.openxmlformats.org/drawingml/2006/main">
              <a:ext uri="{FF2B5EF4-FFF2-40B4-BE49-F238E27FC236}">
                <a16:creationId xmlns:a16="http://schemas.microsoft.com/office/drawing/2014/main" id="{389DF1FB-1F83-4A64-B5B5-13F37EA8B844}"/>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加工機へのワーク搬入出を自動化する</a:t>
            </a:r>
          </a:p>
        </p:txBody>
      </p:sp>
      <p:sp>
        <p:nvSpPr>
          <p:cNvPr id="21" name="tech-label-1">
            <a:extLst xmlns:a="http://schemas.openxmlformats.org/drawingml/2006/main">
              <a:ext uri="{FF2B5EF4-FFF2-40B4-BE49-F238E27FC236}">
                <a16:creationId xmlns:a16="http://schemas.microsoft.com/office/drawing/2014/main" id="{472BDE5B-5386-4A6F-8CD7-E65C6AC14998}"/>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B5563093-BE69-4DC4-A156-46CB9704BFF0}"/>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ARMROID機内ロボット、OMR20等で工作機械</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の自動化を構成。</a:t>
            </a:r>
          </a:p>
        </p:txBody>
      </p:sp>
      <p:sp>
        <p:nvSpPr>
          <p:cNvPr id="23" name="human-label-1">
            <a:extLst xmlns:a="http://schemas.openxmlformats.org/drawingml/2006/main">
              <a:ext uri="{FF2B5EF4-FFF2-40B4-BE49-F238E27FC236}">
                <a16:creationId xmlns:a16="http://schemas.microsoft.com/office/drawing/2014/main" id="{867DF30C-77FC-4A92-A800-91DEDC49DBB9}"/>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ACA9FC7D-7F2F-4124-91CE-F31568C0E99D}"/>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手動との切替と品種変更の介入範囲は未確認。</a:t>
            </a:r>
          </a:p>
        </p:txBody>
      </p:sp>
      <p:sp>
        <p:nvSpPr>
          <p:cNvPr id="25" name="year-label-1">
            <a:extLst xmlns:a="http://schemas.openxmlformats.org/drawingml/2006/main">
              <a:ext uri="{FF2B5EF4-FFF2-40B4-BE49-F238E27FC236}">
                <a16:creationId xmlns:a16="http://schemas.microsoft.com/office/drawing/2014/main" id="{A3493445-FB5B-4CA2-BED6-B8B111792F1F}"/>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71D9F26F-C06E-44E6-A4B9-F95F8D1CA626}"/>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ARMROID・OMR20は2024にも掲載。2026も継続。</a:t>
            </a:r>
          </a:p>
        </p:txBody>
      </p:sp>
      <p:sp>
        <p:nvSpPr>
          <p:cNvPr id="27" name="source-1">
            <a:extLst xmlns:a="http://schemas.openxmlformats.org/drawingml/2006/main">
              <a:ext uri="{FF2B5EF4-FFF2-40B4-BE49-F238E27FC236}">
                <a16:creationId xmlns:a16="http://schemas.microsoft.com/office/drawing/2014/main" id="{03C58342-352A-4341-AA9D-C987323AFDBD}"/>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ec8ad30d91cb4654"/>
              </a:rPr>
              <a:t>公式原典を開く　ブース E3028</a:t>
            </a:r>
          </a:p>
        </p:txBody>
      </p:sp>
      <p:sp>
        <p:nvSpPr>
          <p:cNvPr id="28" name="case-2">
            <a:extLst xmlns:a="http://schemas.openxmlformats.org/drawingml/2006/main">
              <a:ext uri="{FF2B5EF4-FFF2-40B4-BE49-F238E27FC236}">
                <a16:creationId xmlns:a16="http://schemas.microsoft.com/office/drawing/2014/main" id="{993892B0-B240-488E-B817-BC0B365DA413}"/>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F4CB7BD0-A2FC-46FF-A747-6B9165F4882E}"/>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EA2059D2-0E3C-47D1-8DDC-A5AB41E18C9F}"/>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白山機工</a:t>
            </a:r>
          </a:p>
        </p:txBody>
      </p:sp>
      <p:sp>
        <p:nvSpPr>
          <p:cNvPr id="31" name="product-2">
            <a:extLst xmlns:a="http://schemas.openxmlformats.org/drawingml/2006/main">
              <a:ext uri="{FF2B5EF4-FFF2-40B4-BE49-F238E27FC236}">
                <a16:creationId xmlns:a16="http://schemas.microsoft.com/office/drawing/2014/main" id="{BB2E0666-8682-4FFF-9BB8-1CFB6BC2908B}"/>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AMRによる切り屑自動回収</a:t>
            </a:r>
          </a:p>
        </p:txBody>
      </p:sp>
      <p:sp>
        <p:nvSpPr>
          <p:cNvPr id="32" name="target-2">
            <a:extLst xmlns:a="http://schemas.openxmlformats.org/drawingml/2006/main">
              <a:ext uri="{FF2B5EF4-FFF2-40B4-BE49-F238E27FC236}">
                <a16:creationId xmlns:a16="http://schemas.microsoft.com/office/drawing/2014/main" id="{01E2C99F-BAA6-47AB-B9F8-74F5C8E54122}"/>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加工機から出る切粉容器を回収する</a:t>
            </a:r>
          </a:p>
        </p:txBody>
      </p:sp>
      <p:sp>
        <p:nvSpPr>
          <p:cNvPr id="33" name="tech-label-2">
            <a:extLst xmlns:a="http://schemas.openxmlformats.org/drawingml/2006/main">
              <a:ext uri="{FF2B5EF4-FFF2-40B4-BE49-F238E27FC236}">
                <a16:creationId xmlns:a16="http://schemas.microsoft.com/office/drawing/2014/main" id="{15703701-0F82-4856-A560-FE84DDA006AD}"/>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96E1685D-D7C3-480B-A8C0-E548EE58BA05}"/>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AMRで切粉容器を回収。実演と模型を併記。</a:t>
            </a:r>
          </a:p>
        </p:txBody>
      </p:sp>
      <p:sp>
        <p:nvSpPr>
          <p:cNvPr id="35" name="human-label-2">
            <a:extLst xmlns:a="http://schemas.openxmlformats.org/drawingml/2006/main">
              <a:ext uri="{FF2B5EF4-FFF2-40B4-BE49-F238E27FC236}">
                <a16:creationId xmlns:a16="http://schemas.microsoft.com/office/drawing/2014/main" id="{D0329E7B-520C-4B44-BFD9-3440826892F1}"/>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CB70A2AA-EFDB-4EEA-9A7B-E25C23DD8E10}"/>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満杯・こぼれ・ドッキング失敗・容器交換の対応は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未確認。</a:t>
            </a:r>
          </a:p>
        </p:txBody>
      </p:sp>
      <p:sp>
        <p:nvSpPr>
          <p:cNvPr id="37" name="year-label-2">
            <a:extLst xmlns:a="http://schemas.openxmlformats.org/drawingml/2006/main">
              <a:ext uri="{FF2B5EF4-FFF2-40B4-BE49-F238E27FC236}">
                <a16:creationId xmlns:a16="http://schemas.microsoft.com/office/drawing/2014/main" id="{332088BA-F16B-41AA-B6D2-FCB3AB2BEDFE}"/>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C87AB76B-53CC-4349-A682-CB20B092B728}"/>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2024のろ過・集中処理から、2026はAMR回収を追加</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記載。</a:t>
            </a:r>
          </a:p>
        </p:txBody>
      </p:sp>
      <p:sp>
        <p:nvSpPr>
          <p:cNvPr id="39" name="source-2">
            <a:extLst xmlns:a="http://schemas.openxmlformats.org/drawingml/2006/main">
              <a:ext uri="{FF2B5EF4-FFF2-40B4-BE49-F238E27FC236}">
                <a16:creationId xmlns:a16="http://schemas.microsoft.com/office/drawing/2014/main" id="{9DFA64C7-7641-450C-9F5F-EDFFE108173F}"/>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fba7d559e10c4c8b"/>
              </a:rPr>
              <a:t>公式原典を開く　ブース E2007</a:t>
            </a:r>
          </a:p>
        </p:txBody>
      </p:sp>
    </p:spTree>
    <p:extLst>
      <p:ext uri="{BB962C8B-B14F-4D97-AF65-F5344CB8AC3E}">
        <p14:creationId xmlns:p14="http://schemas.microsoft.com/office/powerpoint/2010/main" val="685436037"/>
      </p:ext>
    </p:extLst>
  </p:cSld>
</p:sld>
</file>

<file path=ppt/slides/slide28.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DD182BDB-3D85-40FB-991C-5801ED262735}"/>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認識を伴うピック・付帯加工・除去　1/2</a:t>
            </a:r>
          </a:p>
        </p:txBody>
      </p:sp>
      <p:sp>
        <p:nvSpPr>
          <p:cNvPr id="2" name="sub">
            <a:extLst xmlns:a="http://schemas.openxmlformats.org/drawingml/2006/main">
              <a:ext uri="{FF2B5EF4-FFF2-40B4-BE49-F238E27FC236}">
                <a16:creationId xmlns:a16="http://schemas.microsoft.com/office/drawing/2014/main" id="{C32F9596-61E1-4936-B984-AE72825CDCF8}"/>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困りごと〈分析〉：形状や絡まりが変わる物理作業に固定手順で対応しにくい。</a:t>
            </a:r>
          </a:p>
        </p:txBody>
      </p:sp>
      <p:sp>
        <p:nvSpPr>
          <p:cNvPr id="3" name="page">
            <a:extLst xmlns:a="http://schemas.openxmlformats.org/drawingml/2006/main">
              <a:ext uri="{FF2B5EF4-FFF2-40B4-BE49-F238E27FC236}">
                <a16:creationId xmlns:a16="http://schemas.microsoft.com/office/drawing/2014/main" id="{618DE9D1-D795-41DA-B69A-62548775042C}"/>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28</a:t>
            </a:r>
          </a:p>
        </p:txBody>
      </p:sp>
      <p:sp>
        <p:nvSpPr>
          <p:cNvPr id="4" name="case-0">
            <a:extLst xmlns:a="http://schemas.openxmlformats.org/drawingml/2006/main">
              <a:ext uri="{FF2B5EF4-FFF2-40B4-BE49-F238E27FC236}">
                <a16:creationId xmlns:a16="http://schemas.microsoft.com/office/drawing/2014/main" id="{5FF600A6-CCFF-4305-AAB3-DA70A4AEC8E6}"/>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AF7F3495-7B92-4874-81BE-92B61A7E0480}"/>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B2EFEE17-7D0E-4BB5-9D1E-2BE8D130044B}"/>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TAKISAWA</a:t>
            </a:r>
          </a:p>
        </p:txBody>
      </p:sp>
      <p:sp>
        <p:nvSpPr>
          <p:cNvPr id="7" name="product-0">
            <a:extLst xmlns:a="http://schemas.openxmlformats.org/drawingml/2006/main">
              <a:ext uri="{FF2B5EF4-FFF2-40B4-BE49-F238E27FC236}">
                <a16:creationId xmlns:a16="http://schemas.microsoft.com/office/drawing/2014/main" id="{97A730B8-C9DF-4CD2-941A-24CA8A1FAA19}"/>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TR-20W</a:t>
            </a:r>
          </a:p>
        </p:txBody>
      </p:sp>
      <p:sp>
        <p:nvSpPr>
          <p:cNvPr id="8" name="target-0">
            <a:extLst xmlns:a="http://schemas.openxmlformats.org/drawingml/2006/main">
              <a:ext uri="{FF2B5EF4-FFF2-40B4-BE49-F238E27FC236}">
                <a16:creationId xmlns:a16="http://schemas.microsoft.com/office/drawing/2014/main" id="{5CC46425-719F-4F24-B404-C706843C0BAA}"/>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主軸に絡まった切粉を取り除く</a:t>
            </a:r>
          </a:p>
        </p:txBody>
      </p:sp>
      <p:sp>
        <p:nvSpPr>
          <p:cNvPr id="9" name="tech-label-0">
            <a:extLst xmlns:a="http://schemas.openxmlformats.org/drawingml/2006/main">
              <a:ext uri="{FF2B5EF4-FFF2-40B4-BE49-F238E27FC236}">
                <a16:creationId xmlns:a16="http://schemas.microsoft.com/office/drawing/2014/main" id="{FF8C7AC6-FA10-4B12-87D9-747B85CE5E0A}"/>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66AB0547-F8CA-4019-BA73-30E8181497B2}"/>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TAKISAWAは切粉の絡まりを判断し主軸の切</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粉を除去する参考出品。</a:t>
            </a:r>
          </a:p>
        </p:txBody>
      </p:sp>
      <p:sp>
        <p:nvSpPr>
          <p:cNvPr id="11" name="human-label-0">
            <a:extLst xmlns:a="http://schemas.openxmlformats.org/drawingml/2006/main">
              <a:ext uri="{FF2B5EF4-FFF2-40B4-BE49-F238E27FC236}">
                <a16:creationId xmlns:a16="http://schemas.microsoft.com/office/drawing/2014/main" id="{CEB27AF5-FAAF-443E-975D-0C0DE2048D9C}"/>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A6AAB77A-AE42-42C7-B290-8A649D2045A8}"/>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許可動作、除去失敗の検出・再試行・人への引継ぎ</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は未確認。</a:t>
            </a:r>
          </a:p>
        </p:txBody>
      </p:sp>
      <p:sp>
        <p:nvSpPr>
          <p:cNvPr id="13" name="year-label-0">
            <a:extLst xmlns:a="http://schemas.openxmlformats.org/drawingml/2006/main">
              <a:ext uri="{FF2B5EF4-FFF2-40B4-BE49-F238E27FC236}">
                <a16:creationId xmlns:a16="http://schemas.microsoft.com/office/drawing/2014/main" id="{41E90835-65CB-45A7-B69C-5E87C5AFA0BE}"/>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5D05A8C5-22DE-42DC-A4A6-79320CB88FB7}"/>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 TR-20Wは搬入出。2026は切粉除去を追加記載。</a:t>
            </a:r>
          </a:p>
        </p:txBody>
      </p:sp>
      <p:sp>
        <p:nvSpPr>
          <p:cNvPr id="15" name="source-0">
            <a:extLst xmlns:a="http://schemas.openxmlformats.org/drawingml/2006/main">
              <a:ext uri="{FF2B5EF4-FFF2-40B4-BE49-F238E27FC236}">
                <a16:creationId xmlns:a16="http://schemas.microsoft.com/office/drawing/2014/main" id="{9565CAE4-A61A-49B3-A2F7-30C56F77F92D}"/>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5203d57aa1d945d3"/>
              </a:rPr>
              <a:t>公式原典を開く　ブース E3013</a:t>
            </a:r>
          </a:p>
        </p:txBody>
      </p:sp>
      <p:sp>
        <p:nvSpPr>
          <p:cNvPr id="16" name="case-1">
            <a:extLst xmlns:a="http://schemas.openxmlformats.org/drawingml/2006/main">
              <a:ext uri="{FF2B5EF4-FFF2-40B4-BE49-F238E27FC236}">
                <a16:creationId xmlns:a16="http://schemas.microsoft.com/office/drawing/2014/main" id="{03F8066E-9B3F-4BBE-9003-1FD5BF2271CA}"/>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466E6741-526F-4D4A-B407-9355FC948EDA}"/>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8AE83725-2B36-4CF0-AA7D-6C830B352B2A}"/>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カネテック</a:t>
            </a:r>
          </a:p>
        </p:txBody>
      </p:sp>
      <p:sp>
        <p:nvSpPr>
          <p:cNvPr id="19" name="product-1">
            <a:extLst xmlns:a="http://schemas.openxmlformats.org/drawingml/2006/main">
              <a:ext uri="{FF2B5EF4-FFF2-40B4-BE49-F238E27FC236}">
                <a16:creationId xmlns:a16="http://schemas.microsoft.com/office/drawing/2014/main" id="{A707A13D-F54B-4875-BB5D-2B75755BC8EE}"/>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マグネットピンセット</a:t>
            </a:r>
          </a:p>
        </p:txBody>
      </p:sp>
      <p:sp>
        <p:nvSpPr>
          <p:cNvPr id="20" name="target-1">
            <a:extLst xmlns:a="http://schemas.openxmlformats.org/drawingml/2006/main">
              <a:ext uri="{FF2B5EF4-FFF2-40B4-BE49-F238E27FC236}">
                <a16:creationId xmlns:a16="http://schemas.microsoft.com/office/drawing/2014/main" id="{A2AD86EB-E4B8-46D6-A407-D9D2EECF8E81}"/>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ばら積みの小径ねじ・小部品を拾う</a:t>
            </a:r>
          </a:p>
        </p:txBody>
      </p:sp>
      <p:sp>
        <p:nvSpPr>
          <p:cNvPr id="21" name="tech-label-1">
            <a:extLst xmlns:a="http://schemas.openxmlformats.org/drawingml/2006/main">
              <a:ext uri="{FF2B5EF4-FFF2-40B4-BE49-F238E27FC236}">
                <a16:creationId xmlns:a16="http://schemas.microsoft.com/office/drawing/2014/main" id="{64128973-C97D-4B46-8A1E-EED688F5AF5E}"/>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997D8AB9-D7EB-4E09-9119-24DEA3AC964A}"/>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カメラ・協働ロボット・磁気ピンセットで小</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径ねじ等をピック。</a:t>
            </a:r>
          </a:p>
        </p:txBody>
      </p:sp>
      <p:sp>
        <p:nvSpPr>
          <p:cNvPr id="23" name="human-label-1">
            <a:extLst xmlns:a="http://schemas.openxmlformats.org/drawingml/2006/main">
              <a:ext uri="{FF2B5EF4-FFF2-40B4-BE49-F238E27FC236}">
                <a16:creationId xmlns:a16="http://schemas.microsoft.com/office/drawing/2014/main" id="{5549ECC4-4B94-4D42-951A-A040091ED630}"/>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A38108F2-602A-4D7D-9475-0C59811970AD}"/>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複数個吸着・空振り等の処理、AI担当の詳細は未</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公開。</a:t>
            </a:r>
          </a:p>
        </p:txBody>
      </p:sp>
      <p:sp>
        <p:nvSpPr>
          <p:cNvPr id="25" name="year-label-1">
            <a:extLst xmlns:a="http://schemas.openxmlformats.org/drawingml/2006/main">
              <a:ext uri="{FF2B5EF4-FFF2-40B4-BE49-F238E27FC236}">
                <a16:creationId xmlns:a16="http://schemas.microsoft.com/office/drawing/2014/main" id="{084552DB-D64A-44CB-8987-AD3F3634CADC}"/>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184319DA-09FD-4386-8025-FCC5186B89F6}"/>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同種構成は2024あり。2026はAIを明記、性能増分</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は不明。</a:t>
            </a:r>
          </a:p>
        </p:txBody>
      </p:sp>
      <p:sp>
        <p:nvSpPr>
          <p:cNvPr id="27" name="source-1">
            <a:extLst xmlns:a="http://schemas.openxmlformats.org/drawingml/2006/main">
              <a:ext uri="{FF2B5EF4-FFF2-40B4-BE49-F238E27FC236}">
                <a16:creationId xmlns:a16="http://schemas.microsoft.com/office/drawing/2014/main" id="{8E511BB4-7C64-4275-8741-452A4776E344}"/>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0caf9807f16e4fee"/>
              </a:rPr>
              <a:t>公式原典を開く　ブース W2013</a:t>
            </a:r>
          </a:p>
        </p:txBody>
      </p:sp>
      <p:sp>
        <p:nvSpPr>
          <p:cNvPr id="28" name="case-2">
            <a:extLst xmlns:a="http://schemas.openxmlformats.org/drawingml/2006/main">
              <a:ext uri="{FF2B5EF4-FFF2-40B4-BE49-F238E27FC236}">
                <a16:creationId xmlns:a16="http://schemas.microsoft.com/office/drawing/2014/main" id="{E51E63EC-BE4E-4770-9789-D3A0C964160D}"/>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BC8F2366-C3F1-4FB8-952A-DF4CB3AF798C}"/>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A4EA2BFE-1303-44AA-AA74-F223AA854324}"/>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東京エレクトロンデバイス</a:t>
            </a:r>
          </a:p>
        </p:txBody>
      </p:sp>
      <p:sp>
        <p:nvSpPr>
          <p:cNvPr id="31" name="product-2">
            <a:extLst xmlns:a="http://schemas.openxmlformats.org/drawingml/2006/main">
              <a:ext uri="{FF2B5EF4-FFF2-40B4-BE49-F238E27FC236}">
                <a16:creationId xmlns:a16="http://schemas.microsoft.com/office/drawing/2014/main" id="{6DFDEBC8-88B9-404A-B58C-30EB3FA5789C}"/>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3D形状認識・教示不要の面取り／皿もみ</a:t>
            </a:r>
          </a:p>
        </p:txBody>
      </p:sp>
      <p:sp>
        <p:nvSpPr>
          <p:cNvPr id="32" name="target-2">
            <a:extLst xmlns:a="http://schemas.openxmlformats.org/drawingml/2006/main">
              <a:ext uri="{FF2B5EF4-FFF2-40B4-BE49-F238E27FC236}">
                <a16:creationId xmlns:a16="http://schemas.microsoft.com/office/drawing/2014/main" id="{547E04C8-6DB2-40E9-A5B5-1E4C57FA9ECB}"/>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不定形ワークの面取り・皿もみを行う</a:t>
            </a:r>
          </a:p>
        </p:txBody>
      </p:sp>
      <p:sp>
        <p:nvSpPr>
          <p:cNvPr id="33" name="tech-label-2">
            <a:extLst xmlns:a="http://schemas.openxmlformats.org/drawingml/2006/main">
              <a:ext uri="{FF2B5EF4-FFF2-40B4-BE49-F238E27FC236}">
                <a16:creationId xmlns:a16="http://schemas.microsoft.com/office/drawing/2014/main" id="{0452A7CB-DC49-45AD-9939-E76C0A1585E5}"/>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149FBFD5-F241-4AB5-8A58-A47E7B9DB515}"/>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3Dスキャンから不定形ワークを認識し面取</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り等の軌道を生成。</a:t>
            </a:r>
          </a:p>
        </p:txBody>
      </p:sp>
      <p:sp>
        <p:nvSpPr>
          <p:cNvPr id="35" name="human-label-2">
            <a:extLst xmlns:a="http://schemas.openxmlformats.org/drawingml/2006/main">
              <a:ext uri="{FF2B5EF4-FFF2-40B4-BE49-F238E27FC236}">
                <a16:creationId xmlns:a16="http://schemas.microsoft.com/office/drawing/2014/main" id="{5B7173D2-F361-47B6-9D97-D8C4A0FFE08F}"/>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6D569B23-A6D4-4BF0-82CF-01E0BA3D7D20}"/>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加工条件設定、干渉確認、誤認識時の停止・品質承</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認は未公開。</a:t>
            </a:r>
          </a:p>
        </p:txBody>
      </p:sp>
      <p:sp>
        <p:nvSpPr>
          <p:cNvPr id="37" name="year-label-2">
            <a:extLst xmlns:a="http://schemas.openxmlformats.org/drawingml/2006/main">
              <a:ext uri="{FF2B5EF4-FFF2-40B4-BE49-F238E27FC236}">
                <a16:creationId xmlns:a16="http://schemas.microsoft.com/office/drawing/2014/main" id="{9B901700-82AD-4EC0-918C-43898A9FAA5C}"/>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3868463C-D767-4E0D-B21F-88CEA9D1BA06}"/>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2024同名比較不能。2026の具体タスクは確認。</a:t>
            </a:r>
          </a:p>
        </p:txBody>
      </p:sp>
      <p:sp>
        <p:nvSpPr>
          <p:cNvPr id="39" name="source-2">
            <a:extLst xmlns:a="http://schemas.openxmlformats.org/drawingml/2006/main">
              <a:ext uri="{FF2B5EF4-FFF2-40B4-BE49-F238E27FC236}">
                <a16:creationId xmlns:a16="http://schemas.microsoft.com/office/drawing/2014/main" id="{83F9BEB2-139A-492E-9594-62D70B115AA9}"/>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5b82c0ff782d4705"/>
              </a:rPr>
              <a:t>公式原典を開く　ブース E7073</a:t>
            </a:r>
          </a:p>
        </p:txBody>
      </p:sp>
    </p:spTree>
    <p:extLst>
      <p:ext uri="{BB962C8B-B14F-4D97-AF65-F5344CB8AC3E}">
        <p14:creationId xmlns:p14="http://schemas.microsoft.com/office/powerpoint/2010/main" val="123072202"/>
      </p:ext>
    </p:extLst>
  </p:cSld>
</p:sld>
</file>

<file path=ppt/slides/slide29.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CFE5A3AF-7DFF-4ADC-BE6A-B564E5AF0126}"/>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認識を伴うピック・付帯加工・除去　2/2</a:t>
            </a:r>
          </a:p>
        </p:txBody>
      </p:sp>
      <p:sp>
        <p:nvSpPr>
          <p:cNvPr id="2" name="sub">
            <a:extLst xmlns:a="http://schemas.openxmlformats.org/drawingml/2006/main">
              <a:ext uri="{FF2B5EF4-FFF2-40B4-BE49-F238E27FC236}">
                <a16:creationId xmlns:a16="http://schemas.microsoft.com/office/drawing/2014/main" id="{95A7015E-A2AD-4CD5-8800-6FCDFCBF4687}"/>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困りごと〈分析〉：形状や絡まりが変わる物理作業に固定手順で対応しにくい。</a:t>
            </a:r>
          </a:p>
        </p:txBody>
      </p:sp>
      <p:sp>
        <p:nvSpPr>
          <p:cNvPr id="3" name="page">
            <a:extLst xmlns:a="http://schemas.openxmlformats.org/drawingml/2006/main">
              <a:ext uri="{FF2B5EF4-FFF2-40B4-BE49-F238E27FC236}">
                <a16:creationId xmlns:a16="http://schemas.microsoft.com/office/drawing/2014/main" id="{6EA98567-098E-4305-A908-3826698BC399}"/>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29</a:t>
            </a:r>
          </a:p>
        </p:txBody>
      </p:sp>
      <p:sp>
        <p:nvSpPr>
          <p:cNvPr id="4" name="case-0">
            <a:extLst xmlns:a="http://schemas.openxmlformats.org/drawingml/2006/main">
              <a:ext uri="{FF2B5EF4-FFF2-40B4-BE49-F238E27FC236}">
                <a16:creationId xmlns:a16="http://schemas.microsoft.com/office/drawing/2014/main" id="{92C9B61E-102D-4AC1-ADC8-F871DA944DFD}"/>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9EF66369-F0AF-4634-849A-57857DAA7C95}"/>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2233F52F-AB66-4CAC-B261-BFE5545D1E0C}"/>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ジーベックテクノロジー</a:t>
            </a:r>
          </a:p>
        </p:txBody>
      </p:sp>
      <p:sp>
        <p:nvSpPr>
          <p:cNvPr id="7" name="product-0">
            <a:extLst xmlns:a="http://schemas.openxmlformats.org/drawingml/2006/main">
              <a:ext uri="{FF2B5EF4-FFF2-40B4-BE49-F238E27FC236}">
                <a16:creationId xmlns:a16="http://schemas.microsoft.com/office/drawing/2014/main" id="{122B9E30-3F69-458A-9FA4-68E46876A578}"/>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XEBEC CPS オートホルダー</a:t>
            </a:r>
          </a:p>
        </p:txBody>
      </p:sp>
      <p:sp>
        <p:nvSpPr>
          <p:cNvPr id="8" name="target-0">
            <a:extLst xmlns:a="http://schemas.openxmlformats.org/drawingml/2006/main">
              <a:ext uri="{FF2B5EF4-FFF2-40B4-BE49-F238E27FC236}">
                <a16:creationId xmlns:a16="http://schemas.microsoft.com/office/drawing/2014/main" id="{20DE86D1-75A0-45C2-9146-1B4C6D9C599B}"/>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バリ取り中のブラシ摩耗を補う</a:t>
            </a:r>
          </a:p>
        </p:txBody>
      </p:sp>
      <p:sp>
        <p:nvSpPr>
          <p:cNvPr id="9" name="tech-label-0">
            <a:extLst xmlns:a="http://schemas.openxmlformats.org/drawingml/2006/main">
              <a:ext uri="{FF2B5EF4-FFF2-40B4-BE49-F238E27FC236}">
                <a16:creationId xmlns:a16="http://schemas.microsoft.com/office/drawing/2014/main" id="{48E5DF2C-9C23-4960-9F40-F3B1330E5D16}"/>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34CF6167-8F16-4E65-8A45-82B2EE9F4FC7}"/>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ブラシ摩耗に応じて突出し量を自動調整する</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ホルダーを、ロボットのギヤバリ取りに組み</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合わせる。</a:t>
            </a:r>
          </a:p>
        </p:txBody>
      </p:sp>
      <p:sp>
        <p:nvSpPr>
          <p:cNvPr id="11" name="human-label-0">
            <a:extLst xmlns:a="http://schemas.openxmlformats.org/drawingml/2006/main">
              <a:ext uri="{FF2B5EF4-FFF2-40B4-BE49-F238E27FC236}">
                <a16:creationId xmlns:a16="http://schemas.microsoft.com/office/drawing/2014/main" id="{7F75D815-D2B9-4856-B2BA-19B65863E4D2}"/>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DBCD9D9F-6A56-4639-A254-973A7C7E4D9C}"/>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加工条件・ブラシ選定と、不良時の調整は要確認。</a:t>
            </a:r>
          </a:p>
        </p:txBody>
      </p:sp>
      <p:sp>
        <p:nvSpPr>
          <p:cNvPr id="13" name="year-label-0">
            <a:extLst xmlns:a="http://schemas.openxmlformats.org/drawingml/2006/main">
              <a:ext uri="{FF2B5EF4-FFF2-40B4-BE49-F238E27FC236}">
                <a16:creationId xmlns:a16="http://schemas.microsoft.com/office/drawing/2014/main" id="{96081F72-737C-4B7E-813E-991FD5036176}"/>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BB25C9FE-90AF-42AE-9458-E734627D4565}"/>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2024はバリ取り自動化工具を紹介。2026は摩耗に</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伴う人の調整を減らす構成を具体記載。</a:t>
            </a:r>
          </a:p>
        </p:txBody>
      </p:sp>
      <p:sp>
        <p:nvSpPr>
          <p:cNvPr id="15" name="source-0">
            <a:extLst xmlns:a="http://schemas.openxmlformats.org/drawingml/2006/main">
              <a:ext uri="{FF2B5EF4-FFF2-40B4-BE49-F238E27FC236}">
                <a16:creationId xmlns:a16="http://schemas.microsoft.com/office/drawing/2014/main" id="{BF0B5D51-7757-49A4-A611-70454023BBAD}"/>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c4aa5915cb164106"/>
              </a:rPr>
              <a:t>公式原典を開く　ブース WA006</a:t>
            </a:r>
          </a:p>
        </p:txBody>
      </p:sp>
    </p:spTree>
    <p:extLst>
      <p:ext uri="{BB962C8B-B14F-4D97-AF65-F5344CB8AC3E}">
        <p14:creationId xmlns:p14="http://schemas.microsoft.com/office/powerpoint/2010/main" val="295847548"/>
      </p:ext>
    </p:extLst>
  </p:cSld>
</p:sld>
</file>

<file path=ppt/slides/slide30.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A7D8542A-12FB-48EE-9367-ABFBB705B953}"/>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現場エージェント・遠隔介入</a:t>
            </a:r>
          </a:p>
        </p:txBody>
      </p:sp>
      <p:sp>
        <p:nvSpPr>
          <p:cNvPr id="2" name="sub">
            <a:extLst xmlns:a="http://schemas.openxmlformats.org/drawingml/2006/main">
              <a:ext uri="{FF2B5EF4-FFF2-40B4-BE49-F238E27FC236}">
                <a16:creationId xmlns:a16="http://schemas.microsoft.com/office/drawing/2014/main" id="{A460453C-F531-4CB7-A789-8950144FF77D}"/>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困りごと〈分析〉：停止や例外発生時、情報を集めて対処を判断する負担。</a:t>
            </a:r>
          </a:p>
        </p:txBody>
      </p:sp>
      <p:sp>
        <p:nvSpPr>
          <p:cNvPr id="3" name="page">
            <a:extLst xmlns:a="http://schemas.openxmlformats.org/drawingml/2006/main">
              <a:ext uri="{FF2B5EF4-FFF2-40B4-BE49-F238E27FC236}">
                <a16:creationId xmlns:a16="http://schemas.microsoft.com/office/drawing/2014/main" id="{C9B17C90-FDE9-44BC-A009-98EBB02F2952}"/>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30</a:t>
            </a:r>
          </a:p>
        </p:txBody>
      </p:sp>
      <p:sp>
        <p:nvSpPr>
          <p:cNvPr id="4" name="case-0">
            <a:extLst xmlns:a="http://schemas.openxmlformats.org/drawingml/2006/main">
              <a:ext uri="{FF2B5EF4-FFF2-40B4-BE49-F238E27FC236}">
                <a16:creationId xmlns:a16="http://schemas.microsoft.com/office/drawing/2014/main" id="{AAE1E83C-0C71-4D46-970E-0242F003FE55}"/>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61BE9A46-6A00-44A7-A2FF-85D5FCD0E681}"/>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DBD7A87F-B9B2-417D-B22F-1FD0C73620A2}"/>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ベッコフオートメーション</a:t>
            </a:r>
          </a:p>
        </p:txBody>
      </p:sp>
      <p:sp>
        <p:nvSpPr>
          <p:cNvPr id="7" name="product-0">
            <a:extLst xmlns:a="http://schemas.openxmlformats.org/drawingml/2006/main">
              <a:ext uri="{FF2B5EF4-FFF2-40B4-BE49-F238E27FC236}">
                <a16:creationId xmlns:a16="http://schemas.microsoft.com/office/drawing/2014/main" id="{FDE9CF0E-5E58-4F2E-8209-560DA19013B8}"/>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TwinCAT CoAgent for Operations</a:t>
            </a:r>
          </a:p>
        </p:txBody>
      </p:sp>
      <p:sp>
        <p:nvSpPr>
          <p:cNvPr id="8" name="target-0">
            <a:extLst xmlns:a="http://schemas.openxmlformats.org/drawingml/2006/main">
              <a:ext uri="{FF2B5EF4-FFF2-40B4-BE49-F238E27FC236}">
                <a16:creationId xmlns:a16="http://schemas.microsoft.com/office/drawing/2014/main" id="{7E627298-717F-470B-961E-20ADDAD36072}"/>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機械のアラーム原因と対処方法を調べる</a:t>
            </a:r>
          </a:p>
        </p:txBody>
      </p:sp>
      <p:sp>
        <p:nvSpPr>
          <p:cNvPr id="9" name="tech-label-0">
            <a:extLst xmlns:a="http://schemas.openxmlformats.org/drawingml/2006/main">
              <a:ext uri="{FF2B5EF4-FFF2-40B4-BE49-F238E27FC236}">
                <a16:creationId xmlns:a16="http://schemas.microsoft.com/office/drawing/2014/main" id="{AC68619A-F91A-4C1C-BC71-550712C0DE30}"/>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39DA0CF7-B3CE-4FE2-8A56-7EF169786D7C}"/>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Operationsは機械データと文書から原因仮</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説・対処案を作る。</a:t>
            </a:r>
          </a:p>
        </p:txBody>
      </p:sp>
      <p:sp>
        <p:nvSpPr>
          <p:cNvPr id="11" name="human-label-0">
            <a:extLst xmlns:a="http://schemas.openxmlformats.org/drawingml/2006/main">
              <a:ext uri="{FF2B5EF4-FFF2-40B4-BE49-F238E27FC236}">
                <a16:creationId xmlns:a16="http://schemas.microsoft.com/office/drawing/2014/main" id="{FFBB1519-0B9D-4930-B3AE-7E6655E4D5A0}"/>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B1876823-5F82-43A1-B882-21A27BF3A6CA}"/>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専門家が制御権保持。毎回承認・書込権限・失敗復</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帰は未公開。</a:t>
            </a:r>
          </a:p>
        </p:txBody>
      </p:sp>
      <p:sp>
        <p:nvSpPr>
          <p:cNvPr id="13" name="year-label-0">
            <a:extLst xmlns:a="http://schemas.openxmlformats.org/drawingml/2006/main">
              <a:ext uri="{FF2B5EF4-FFF2-40B4-BE49-F238E27FC236}">
                <a16:creationId xmlns:a16="http://schemas.microsoft.com/office/drawing/2014/main" id="{E02643B9-B653-4521-AEC5-27791BBC181E}"/>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F44871D3-B9EF-4EE7-A93F-A8F40F079C59}"/>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2024比較不能。製品発表・投入時期要問合せ。</a:t>
            </a:r>
          </a:p>
        </p:txBody>
      </p:sp>
      <p:sp>
        <p:nvSpPr>
          <p:cNvPr id="15" name="source-0">
            <a:extLst xmlns:a="http://schemas.openxmlformats.org/drawingml/2006/main">
              <a:ext uri="{FF2B5EF4-FFF2-40B4-BE49-F238E27FC236}">
                <a16:creationId xmlns:a16="http://schemas.microsoft.com/office/drawing/2014/main" id="{A992DC12-6709-449A-9D77-FF31B1FDA9D8}"/>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a1acf44e926244e3"/>
              </a:rPr>
              <a:t>公式原典を開く　ブース E2028</a:t>
            </a:r>
          </a:p>
        </p:txBody>
      </p:sp>
      <p:sp>
        <p:nvSpPr>
          <p:cNvPr id="16" name="case-1">
            <a:extLst xmlns:a="http://schemas.openxmlformats.org/drawingml/2006/main">
              <a:ext uri="{FF2B5EF4-FFF2-40B4-BE49-F238E27FC236}">
                <a16:creationId xmlns:a16="http://schemas.microsoft.com/office/drawing/2014/main" id="{3FA1A020-793B-4286-B2B7-E3F71DF6A210}"/>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2A817220-9925-4AD2-8A58-7F9B545854A6}"/>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80F69971-472A-430B-B64A-F5EF769040F6}"/>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ソフィックス</a:t>
            </a:r>
          </a:p>
        </p:txBody>
      </p:sp>
      <p:sp>
        <p:nvSpPr>
          <p:cNvPr id="19" name="product-1">
            <a:extLst xmlns:a="http://schemas.openxmlformats.org/drawingml/2006/main">
              <a:ext uri="{FF2B5EF4-FFF2-40B4-BE49-F238E27FC236}">
                <a16:creationId xmlns:a16="http://schemas.microsoft.com/office/drawing/2014/main" id="{C6CAB944-8DA3-4E77-920F-ECD26B528088}"/>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SOFIXCAN Fleeter＋AI Forecast</a:t>
            </a:r>
          </a:p>
        </p:txBody>
      </p:sp>
      <p:sp>
        <p:nvSpPr>
          <p:cNvPr id="20" name="target-1">
            <a:extLst xmlns:a="http://schemas.openxmlformats.org/drawingml/2006/main">
              <a:ext uri="{FF2B5EF4-FFF2-40B4-BE49-F238E27FC236}">
                <a16:creationId xmlns:a16="http://schemas.microsoft.com/office/drawing/2014/main" id="{2B89C751-7883-4FCF-A3D7-E5E8D20763F5}"/>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設備・搬送を連携し予測を活用する</a:t>
            </a:r>
          </a:p>
        </p:txBody>
      </p:sp>
      <p:sp>
        <p:nvSpPr>
          <p:cNvPr id="21" name="tech-label-1">
            <a:extLst xmlns:a="http://schemas.openxmlformats.org/drawingml/2006/main">
              <a:ext uri="{FF2B5EF4-FFF2-40B4-BE49-F238E27FC236}">
                <a16:creationId xmlns:a16="http://schemas.microsoft.com/office/drawing/2014/main" id="{7FBB329B-60B5-43EF-960A-7162169D953B}"/>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B522F6D3-5648-4605-B599-8F8BBE7FB01F}"/>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AI Forecastの予測とFleeterの機器連携を</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ミニ工場で紹介。</a:t>
            </a:r>
          </a:p>
        </p:txBody>
      </p:sp>
      <p:sp>
        <p:nvSpPr>
          <p:cNvPr id="23" name="human-label-1">
            <a:extLst xmlns:a="http://schemas.openxmlformats.org/drawingml/2006/main">
              <a:ext uri="{FF2B5EF4-FFF2-40B4-BE49-F238E27FC236}">
                <a16:creationId xmlns:a16="http://schemas.microsoft.com/office/drawing/2014/main" id="{F0B9BB81-17E3-44D3-AFA3-7B8095FE7DA5}"/>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1AE28827-ABF9-4B9E-B8DB-B5EB70F11FA3}"/>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予測から指令への権限、通信・搬送失敗時の復帰は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未公開。</a:t>
            </a:r>
          </a:p>
        </p:txBody>
      </p:sp>
      <p:sp>
        <p:nvSpPr>
          <p:cNvPr id="25" name="year-label-1">
            <a:extLst xmlns:a="http://schemas.openxmlformats.org/drawingml/2006/main">
              <a:ext uri="{FF2B5EF4-FFF2-40B4-BE49-F238E27FC236}">
                <a16:creationId xmlns:a16="http://schemas.microsoft.com/office/drawing/2014/main" id="{2BEBEB6E-4C0C-4797-97CF-FE89045CC9E0}"/>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8660B2F8-F46F-424A-8509-25CE7A1E8AFD}"/>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Fleeterミニ工場は2025にも予告済み。2026初とは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しない。</a:t>
            </a:r>
          </a:p>
        </p:txBody>
      </p:sp>
      <p:sp>
        <p:nvSpPr>
          <p:cNvPr id="27" name="source-1">
            <a:extLst xmlns:a="http://schemas.openxmlformats.org/drawingml/2006/main">
              <a:ext uri="{FF2B5EF4-FFF2-40B4-BE49-F238E27FC236}">
                <a16:creationId xmlns:a16="http://schemas.microsoft.com/office/drawing/2014/main" id="{A60B4E6F-6C36-4A6D-9B00-8244613A29E4}"/>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fc1b89e031484e03"/>
              </a:rPr>
              <a:t>公式原典を開く　ブース E1067</a:t>
            </a:r>
          </a:p>
        </p:txBody>
      </p:sp>
      <p:sp>
        <p:nvSpPr>
          <p:cNvPr id="28" name="case-2">
            <a:extLst xmlns:a="http://schemas.openxmlformats.org/drawingml/2006/main">
              <a:ext uri="{FF2B5EF4-FFF2-40B4-BE49-F238E27FC236}">
                <a16:creationId xmlns:a16="http://schemas.microsoft.com/office/drawing/2014/main" id="{9C031EF2-5550-4472-A516-095E870340E1}"/>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67944B8D-BA32-4F41-883A-46B15BD5C089}"/>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B6D7CA51-1ABB-48F4-B3B3-3839E6F74D22}"/>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パナソニックプロダクションエンジニア</a:t>
            </a:r>
          </a:p>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リング</a:t>
            </a:r>
          </a:p>
        </p:txBody>
      </p:sp>
      <p:sp>
        <p:nvSpPr>
          <p:cNvPr id="31" name="product-2">
            <a:extLst xmlns:a="http://schemas.openxmlformats.org/drawingml/2006/main">
              <a:ext uri="{FF2B5EF4-FFF2-40B4-BE49-F238E27FC236}">
                <a16:creationId xmlns:a16="http://schemas.microsoft.com/office/drawing/2014/main" id="{B7EAF2AA-8331-4801-8773-4D571AB962CA}"/>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X-Area Remote</a:t>
            </a:r>
          </a:p>
        </p:txBody>
      </p:sp>
      <p:sp>
        <p:nvSpPr>
          <p:cNvPr id="32" name="target-2">
            <a:extLst xmlns:a="http://schemas.openxmlformats.org/drawingml/2006/main">
              <a:ext uri="{FF2B5EF4-FFF2-40B4-BE49-F238E27FC236}">
                <a16:creationId xmlns:a16="http://schemas.microsoft.com/office/drawing/2014/main" id="{D06FF1B6-D1A9-40CA-A5EC-52729DB9EC6B}"/>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停止した搬送車を人が遠隔で復帰させる</a:t>
            </a:r>
          </a:p>
        </p:txBody>
      </p:sp>
      <p:sp>
        <p:nvSpPr>
          <p:cNvPr id="33" name="tech-label-2">
            <a:extLst xmlns:a="http://schemas.openxmlformats.org/drawingml/2006/main">
              <a:ext uri="{FF2B5EF4-FFF2-40B4-BE49-F238E27FC236}">
                <a16:creationId xmlns:a16="http://schemas.microsoft.com/office/drawing/2014/main" id="{D0644380-0091-477A-B850-4CB99C18A076}"/>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D3F4B6BB-08FF-4B94-858B-C2447551FDAB}"/>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X-Area Remote実証では停止車両を人が遠隔</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操作して回避。</a:t>
            </a:r>
          </a:p>
        </p:txBody>
      </p:sp>
      <p:sp>
        <p:nvSpPr>
          <p:cNvPr id="35" name="human-label-2">
            <a:extLst xmlns:a="http://schemas.openxmlformats.org/drawingml/2006/main">
              <a:ext uri="{FF2B5EF4-FFF2-40B4-BE49-F238E27FC236}">
                <a16:creationId xmlns:a16="http://schemas.microsoft.com/office/drawing/2014/main" id="{A372FA02-75D1-4EE4-B4FF-CFA2DFC2331E}"/>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099491DB-338E-4350-B937-BC9819755CC8}"/>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運行担当者が介入。実証はセーフティドライバー搭</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乗。</a:t>
            </a:r>
          </a:p>
        </p:txBody>
      </p:sp>
      <p:sp>
        <p:nvSpPr>
          <p:cNvPr id="37" name="year-label-2">
            <a:extLst xmlns:a="http://schemas.openxmlformats.org/drawingml/2006/main">
              <a:ext uri="{FF2B5EF4-FFF2-40B4-BE49-F238E27FC236}">
                <a16:creationId xmlns:a16="http://schemas.microsoft.com/office/drawing/2014/main" id="{5949B905-0818-4F74-9062-395F8DC6DB4A}"/>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ABBF8286-3D6E-4612-B921-F535A7AEF050}"/>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2026/7実証で人の担当を具体確認。2024個別比較</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不能。</a:t>
            </a:r>
          </a:p>
        </p:txBody>
      </p:sp>
      <p:sp>
        <p:nvSpPr>
          <p:cNvPr id="39" name="source-2">
            <a:extLst xmlns:a="http://schemas.openxmlformats.org/drawingml/2006/main">
              <a:ext uri="{FF2B5EF4-FFF2-40B4-BE49-F238E27FC236}">
                <a16:creationId xmlns:a16="http://schemas.microsoft.com/office/drawing/2014/main" id="{88CA0F41-BF8A-40A5-86C5-B0825D79F237}"/>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626baee9c7f949f2"/>
              </a:rPr>
              <a:t>公式原典を開く　ブース W3086</a:t>
            </a:r>
          </a:p>
        </p:txBody>
      </p:sp>
    </p:spTree>
    <p:extLst>
      <p:ext uri="{BB962C8B-B14F-4D97-AF65-F5344CB8AC3E}">
        <p14:creationId xmlns:p14="http://schemas.microsoft.com/office/powerpoint/2010/main" val="994898011"/>
      </p:ext>
    </p:extLst>
  </p:cSld>
</p:sld>
</file>

<file path=ppt/slides/slide31.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505D5A32-0F8B-4FA7-BBC1-85573E9CE712}"/>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工場データ・計画・資源の連携</a:t>
            </a:r>
          </a:p>
        </p:txBody>
      </p:sp>
      <p:sp>
        <p:nvSpPr>
          <p:cNvPr id="2" name="sub">
            <a:extLst xmlns:a="http://schemas.openxmlformats.org/drawingml/2006/main">
              <a:ext uri="{FF2B5EF4-FFF2-40B4-BE49-F238E27FC236}">
                <a16:creationId xmlns:a16="http://schemas.microsoft.com/office/drawing/2014/main" id="{54E844FB-125B-47CC-B33B-A30A9C9ACE52}"/>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困りごと〈分析〉：現物・工具マスター・進捗が分断し変更に追従しにくい。</a:t>
            </a:r>
          </a:p>
        </p:txBody>
      </p:sp>
      <p:sp>
        <p:nvSpPr>
          <p:cNvPr id="3" name="page">
            <a:extLst xmlns:a="http://schemas.openxmlformats.org/drawingml/2006/main">
              <a:ext uri="{FF2B5EF4-FFF2-40B4-BE49-F238E27FC236}">
                <a16:creationId xmlns:a16="http://schemas.microsoft.com/office/drawing/2014/main" id="{3D9B2592-F80E-48C9-A922-B3B283D11959}"/>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31</a:t>
            </a:r>
          </a:p>
        </p:txBody>
      </p:sp>
      <p:sp>
        <p:nvSpPr>
          <p:cNvPr id="4" name="case-0">
            <a:extLst xmlns:a="http://schemas.openxmlformats.org/drawingml/2006/main">
              <a:ext uri="{FF2B5EF4-FFF2-40B4-BE49-F238E27FC236}">
                <a16:creationId xmlns:a16="http://schemas.microsoft.com/office/drawing/2014/main" id="{247F57DA-1798-4C99-807F-E7B031984048}"/>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BE8DA9F1-C563-4319-AE46-5780BDA5A384}"/>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B35E5286-8953-4A9B-8E8E-3FC4A1BFBC11}"/>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WinTool AG</a:t>
            </a:r>
          </a:p>
        </p:txBody>
      </p:sp>
      <p:sp>
        <p:nvSpPr>
          <p:cNvPr id="7" name="product-0">
            <a:extLst xmlns:a="http://schemas.openxmlformats.org/drawingml/2006/main">
              <a:ext uri="{FF2B5EF4-FFF2-40B4-BE49-F238E27FC236}">
                <a16:creationId xmlns:a16="http://schemas.microsoft.com/office/drawing/2014/main" id="{232B29A5-76A7-438D-B235-41FE406088D9}"/>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WinTool</a:t>
            </a:r>
          </a:p>
        </p:txBody>
      </p:sp>
      <p:sp>
        <p:nvSpPr>
          <p:cNvPr id="8" name="target-0">
            <a:extLst xmlns:a="http://schemas.openxmlformats.org/drawingml/2006/main">
              <a:ext uri="{FF2B5EF4-FFF2-40B4-BE49-F238E27FC236}">
                <a16:creationId xmlns:a16="http://schemas.microsoft.com/office/drawing/2014/main" id="{4B49E2E7-772E-4CBD-A6B1-23094531EBD0}"/>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工具情報・所在・在庫を工程と結ぶ</a:t>
            </a:r>
          </a:p>
        </p:txBody>
      </p:sp>
      <p:sp>
        <p:nvSpPr>
          <p:cNvPr id="9" name="tech-label-0">
            <a:extLst xmlns:a="http://schemas.openxmlformats.org/drawingml/2006/main">
              <a:ext uri="{FF2B5EF4-FFF2-40B4-BE49-F238E27FC236}">
                <a16:creationId xmlns:a16="http://schemas.microsoft.com/office/drawing/2014/main" id="{AC8E59F6-9D30-4126-AACD-CA87F658BFF8}"/>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B818B795-0B33-4B21-88BB-A3800E51DA74}"/>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WinToolは工具情報と工程資源を連携。在庫</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ルールで購買要求。</a:t>
            </a:r>
          </a:p>
        </p:txBody>
      </p:sp>
      <p:sp>
        <p:nvSpPr>
          <p:cNvPr id="11" name="human-label-0">
            <a:extLst xmlns:a="http://schemas.openxmlformats.org/drawingml/2006/main">
              <a:ext uri="{FF2B5EF4-FFF2-40B4-BE49-F238E27FC236}">
                <a16:creationId xmlns:a16="http://schemas.microsoft.com/office/drawing/2014/main" id="{43F4A29A-5353-437D-9047-61186B623AE3}"/>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0A01F509-9044-43F6-9EC1-57D0FECC64B0}"/>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管理者承認後ERPへ送信。AIによる自律発注とは記</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載なし。</a:t>
            </a:r>
          </a:p>
        </p:txBody>
      </p:sp>
      <p:sp>
        <p:nvSpPr>
          <p:cNvPr id="13" name="year-label-0">
            <a:extLst xmlns:a="http://schemas.openxmlformats.org/drawingml/2006/main">
              <a:ext uri="{FF2B5EF4-FFF2-40B4-BE49-F238E27FC236}">
                <a16:creationId xmlns:a16="http://schemas.microsoft.com/office/drawing/2014/main" id="{8D8C31EB-A1BC-47FF-8275-A0033064BDB3}"/>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F7283F6D-B837-46E0-AB75-A2F06EC8C20B}"/>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工具・CAM・在庫連携は2024から継続。2026は資源</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の一貫性を強調。</a:t>
            </a:r>
          </a:p>
        </p:txBody>
      </p:sp>
      <p:sp>
        <p:nvSpPr>
          <p:cNvPr id="15" name="source-0">
            <a:extLst xmlns:a="http://schemas.openxmlformats.org/drawingml/2006/main">
              <a:ext uri="{FF2B5EF4-FFF2-40B4-BE49-F238E27FC236}">
                <a16:creationId xmlns:a16="http://schemas.microsoft.com/office/drawing/2014/main" id="{16912023-E0F1-4F55-8FFA-22553ECD3F5C}"/>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7d78d09ba2d5474e"/>
              </a:rPr>
              <a:t>公式原典を開く　ブース E1049</a:t>
            </a:r>
          </a:p>
        </p:txBody>
      </p:sp>
      <p:sp>
        <p:nvSpPr>
          <p:cNvPr id="16" name="case-1">
            <a:extLst xmlns:a="http://schemas.openxmlformats.org/drawingml/2006/main">
              <a:ext uri="{FF2B5EF4-FFF2-40B4-BE49-F238E27FC236}">
                <a16:creationId xmlns:a16="http://schemas.microsoft.com/office/drawing/2014/main" id="{3D32B0A9-3070-41B7-92A7-5D837D64D2FC}"/>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F4A4F097-904B-490C-9E6B-ED890E813486}"/>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ED317F00-0FAE-46CB-9DC9-67D7E6424BB3}"/>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Smart Craft</a:t>
            </a:r>
          </a:p>
        </p:txBody>
      </p:sp>
      <p:sp>
        <p:nvSpPr>
          <p:cNvPr id="19" name="product-1">
            <a:extLst xmlns:a="http://schemas.openxmlformats.org/drawingml/2006/main">
              <a:ext uri="{FF2B5EF4-FFF2-40B4-BE49-F238E27FC236}">
                <a16:creationId xmlns:a16="http://schemas.microsoft.com/office/drawing/2014/main" id="{8A164BDF-82B0-44AB-A6DF-0B9029016678}"/>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Smart Craft MES</a:t>
            </a:r>
          </a:p>
        </p:txBody>
      </p:sp>
      <p:sp>
        <p:nvSpPr>
          <p:cNvPr id="20" name="target-1">
            <a:extLst xmlns:a="http://schemas.openxmlformats.org/drawingml/2006/main">
              <a:ext uri="{FF2B5EF4-FFF2-40B4-BE49-F238E27FC236}">
                <a16:creationId xmlns:a16="http://schemas.microsoft.com/office/drawing/2014/main" id="{4302A173-6782-457A-AA3F-83FE4659C998}"/>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作業記録・指示・製造履歴を管理する</a:t>
            </a:r>
          </a:p>
        </p:txBody>
      </p:sp>
      <p:sp>
        <p:nvSpPr>
          <p:cNvPr id="21" name="tech-label-1">
            <a:extLst xmlns:a="http://schemas.openxmlformats.org/drawingml/2006/main">
              <a:ext uri="{FF2B5EF4-FFF2-40B4-BE49-F238E27FC236}">
                <a16:creationId xmlns:a16="http://schemas.microsoft.com/office/drawing/2014/main" id="{D7814266-C017-4DEA-8F5F-741A0E6E4A7B}"/>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041782B3-8487-481F-BD78-87315D843A70}"/>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Smart Craft MESは記録・指示・履歴を一元</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管理しAPI連携。</a:t>
            </a:r>
          </a:p>
        </p:txBody>
      </p:sp>
      <p:sp>
        <p:nvSpPr>
          <p:cNvPr id="23" name="human-label-1">
            <a:extLst xmlns:a="http://schemas.openxmlformats.org/drawingml/2006/main">
              <a:ext uri="{FF2B5EF4-FFF2-40B4-BE49-F238E27FC236}">
                <a16:creationId xmlns:a16="http://schemas.microsoft.com/office/drawing/2014/main" id="{9191742A-E73A-49C2-9513-5F7A432044B1}"/>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745944EE-684C-4111-BE81-239C01683614}"/>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AI分析の内容や判断権限、入力作業の残りは未確</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認。</a:t>
            </a:r>
          </a:p>
        </p:txBody>
      </p:sp>
      <p:sp>
        <p:nvSpPr>
          <p:cNvPr id="25" name="year-label-1">
            <a:extLst xmlns:a="http://schemas.openxmlformats.org/drawingml/2006/main">
              <a:ext uri="{FF2B5EF4-FFF2-40B4-BE49-F238E27FC236}">
                <a16:creationId xmlns:a16="http://schemas.microsoft.com/office/drawing/2014/main" id="{44B3427C-498A-4CB3-A5BD-7068AFC0315F}"/>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4389DB89-BEC2-4495-8F29-F0786F377D3E}"/>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2024個別比較不能。</a:t>
            </a:r>
          </a:p>
        </p:txBody>
      </p:sp>
      <p:sp>
        <p:nvSpPr>
          <p:cNvPr id="27" name="source-1">
            <a:extLst xmlns:a="http://schemas.openxmlformats.org/drawingml/2006/main">
              <a:ext uri="{FF2B5EF4-FFF2-40B4-BE49-F238E27FC236}">
                <a16:creationId xmlns:a16="http://schemas.microsoft.com/office/drawing/2014/main" id="{B5026630-BB94-4329-BC46-D06B2570A5B2}"/>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d16dbe57dbbd40f9"/>
              </a:rPr>
              <a:t>公式原典を開く　ブース S3002</a:t>
            </a:r>
          </a:p>
        </p:txBody>
      </p:sp>
      <p:sp>
        <p:nvSpPr>
          <p:cNvPr id="28" name="case-2">
            <a:extLst xmlns:a="http://schemas.openxmlformats.org/drawingml/2006/main">
              <a:ext uri="{FF2B5EF4-FFF2-40B4-BE49-F238E27FC236}">
                <a16:creationId xmlns:a16="http://schemas.microsoft.com/office/drawing/2014/main" id="{7A994243-4174-449F-A8BB-682B9D52DB49}"/>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51C43A5F-9244-4959-AE89-C7AC95CDD45D}"/>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96969B9D-3865-43E0-B848-3A7650107881}"/>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ものレボ</a:t>
            </a:r>
          </a:p>
        </p:txBody>
      </p:sp>
      <p:sp>
        <p:nvSpPr>
          <p:cNvPr id="31" name="product-2">
            <a:extLst xmlns:a="http://schemas.openxmlformats.org/drawingml/2006/main">
              <a:ext uri="{FF2B5EF4-FFF2-40B4-BE49-F238E27FC236}">
                <a16:creationId xmlns:a16="http://schemas.microsoft.com/office/drawing/2014/main" id="{E6BA103A-2639-4BA8-B857-78D973757583}"/>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MonoRevo</a:t>
            </a:r>
          </a:p>
        </p:txBody>
      </p:sp>
      <p:sp>
        <p:nvSpPr>
          <p:cNvPr id="32" name="target-2">
            <a:extLst xmlns:a="http://schemas.openxmlformats.org/drawingml/2006/main">
              <a:ext uri="{FF2B5EF4-FFF2-40B4-BE49-F238E27FC236}">
                <a16:creationId xmlns:a16="http://schemas.microsoft.com/office/drawing/2014/main" id="{A119E7D4-37A8-422C-AA33-DA09A1DEAD30}"/>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工程の順番と生産予定を組む</a:t>
            </a:r>
          </a:p>
        </p:txBody>
      </p:sp>
      <p:sp>
        <p:nvSpPr>
          <p:cNvPr id="33" name="tech-label-2">
            <a:extLst xmlns:a="http://schemas.openxmlformats.org/drawingml/2006/main">
              <a:ext uri="{FF2B5EF4-FFF2-40B4-BE49-F238E27FC236}">
                <a16:creationId xmlns:a16="http://schemas.microsoft.com/office/drawing/2014/main" id="{96C00E2D-8ED3-4BB2-86B7-E4310E50EE21}"/>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8FFD7A53-DE33-4CAF-8BD8-D0438D716FB7}"/>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MonoRevoは工程設計・計画・進捗をまとめ</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自動計画を支援。</a:t>
            </a:r>
          </a:p>
        </p:txBody>
      </p:sp>
      <p:sp>
        <p:nvSpPr>
          <p:cNvPr id="35" name="human-label-2">
            <a:extLst xmlns:a="http://schemas.openxmlformats.org/drawingml/2006/main">
              <a:ext uri="{FF2B5EF4-FFF2-40B4-BE49-F238E27FC236}">
                <a16:creationId xmlns:a16="http://schemas.microsoft.com/office/drawing/2014/main" id="{E9F3B37E-5526-48F7-BBD5-38796D8AB6ED}"/>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BECA72A0-8E8B-4510-8224-8459C6E09341}"/>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計画制約・再計画確定者・例外対応は未確認。</a:t>
            </a:r>
          </a:p>
        </p:txBody>
      </p:sp>
      <p:sp>
        <p:nvSpPr>
          <p:cNvPr id="37" name="year-label-2">
            <a:extLst xmlns:a="http://schemas.openxmlformats.org/drawingml/2006/main">
              <a:ext uri="{FF2B5EF4-FFF2-40B4-BE49-F238E27FC236}">
                <a16:creationId xmlns:a16="http://schemas.microsoft.com/office/drawing/2014/main" id="{185B0E9A-F16B-4FAF-926B-39C82044C262}"/>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75FDE95E-8870-41F7-9CFA-3D5592AC94B7}"/>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2024個別比較不能。2026は自動スケジューリング</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を記載。</a:t>
            </a:r>
          </a:p>
        </p:txBody>
      </p:sp>
      <p:sp>
        <p:nvSpPr>
          <p:cNvPr id="39" name="source-2">
            <a:extLst xmlns:a="http://schemas.openxmlformats.org/drawingml/2006/main">
              <a:ext uri="{FF2B5EF4-FFF2-40B4-BE49-F238E27FC236}">
                <a16:creationId xmlns:a16="http://schemas.microsoft.com/office/drawing/2014/main" id="{C1990EC9-6A2A-4C45-A7EA-7FB8C202FBCA}"/>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291f605ec5434e42"/>
              </a:rPr>
              <a:t>公式原典を開く　ブース W3042</a:t>
            </a:r>
          </a:p>
        </p:txBody>
      </p:sp>
    </p:spTree>
    <p:extLst>
      <p:ext uri="{BB962C8B-B14F-4D97-AF65-F5344CB8AC3E}">
        <p14:creationId xmlns:p14="http://schemas.microsoft.com/office/powerpoint/2010/main" val="1716882072"/>
      </p:ext>
    </p:extLst>
  </p:cSld>
</p:sld>
</file>

<file path=ppt/slides/slide32.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4A6D9110-0EA8-40F4-B790-9497982A9828}"/>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AIモデル作成・機器接続の基盤</a:t>
            </a:r>
          </a:p>
        </p:txBody>
      </p:sp>
      <p:sp>
        <p:nvSpPr>
          <p:cNvPr id="2" name="sub">
            <a:extLst xmlns:a="http://schemas.openxmlformats.org/drawingml/2006/main">
              <a:ext uri="{FF2B5EF4-FFF2-40B4-BE49-F238E27FC236}">
                <a16:creationId xmlns:a16="http://schemas.microsoft.com/office/drawing/2014/main" id="{342911F5-6CEC-48E9-96DE-AD075CAA5940}"/>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困りごと〈分析〉：データの意味づけと、作ったAIを現場へつなぐ負担。</a:t>
            </a:r>
          </a:p>
        </p:txBody>
      </p:sp>
      <p:sp>
        <p:nvSpPr>
          <p:cNvPr id="3" name="page">
            <a:extLst xmlns:a="http://schemas.openxmlformats.org/drawingml/2006/main">
              <a:ext uri="{FF2B5EF4-FFF2-40B4-BE49-F238E27FC236}">
                <a16:creationId xmlns:a16="http://schemas.microsoft.com/office/drawing/2014/main" id="{2A75D37D-6F17-4B93-A043-8BACDE803D2F}"/>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32</a:t>
            </a:r>
          </a:p>
        </p:txBody>
      </p:sp>
      <p:sp>
        <p:nvSpPr>
          <p:cNvPr id="4" name="case-0">
            <a:extLst xmlns:a="http://schemas.openxmlformats.org/drawingml/2006/main">
              <a:ext uri="{FF2B5EF4-FFF2-40B4-BE49-F238E27FC236}">
                <a16:creationId xmlns:a16="http://schemas.microsoft.com/office/drawing/2014/main" id="{E4708AE1-7D5F-401A-8D7E-D64330B21031}"/>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65D7A436-0B2B-4851-935E-0B49D8B4ACDF}"/>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B4DE86FE-3788-49DF-8B87-340668201FCB}"/>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ベッコフオートメーション</a:t>
            </a:r>
          </a:p>
        </p:txBody>
      </p:sp>
      <p:sp>
        <p:nvSpPr>
          <p:cNvPr id="7" name="product-0">
            <a:extLst xmlns:a="http://schemas.openxmlformats.org/drawingml/2006/main">
              <a:ext uri="{FF2B5EF4-FFF2-40B4-BE49-F238E27FC236}">
                <a16:creationId xmlns:a16="http://schemas.microsoft.com/office/drawing/2014/main" id="{61D5E128-3999-4B9F-A974-1A891E660A2A}"/>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TwinCAT Machine Learning Creator</a:t>
            </a:r>
          </a:p>
        </p:txBody>
      </p:sp>
      <p:sp>
        <p:nvSpPr>
          <p:cNvPr id="8" name="target-0">
            <a:extLst xmlns:a="http://schemas.openxmlformats.org/drawingml/2006/main">
              <a:ext uri="{FF2B5EF4-FFF2-40B4-BE49-F238E27FC236}">
                <a16:creationId xmlns:a16="http://schemas.microsoft.com/office/drawing/2014/main" id="{17F5C838-A209-4188-9822-846D687C8872}"/>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現場データから判定モデルを作る</a:t>
            </a:r>
          </a:p>
        </p:txBody>
      </p:sp>
      <p:sp>
        <p:nvSpPr>
          <p:cNvPr id="9" name="tech-label-0">
            <a:extLst xmlns:a="http://schemas.openxmlformats.org/drawingml/2006/main">
              <a:ext uri="{FF2B5EF4-FFF2-40B4-BE49-F238E27FC236}">
                <a16:creationId xmlns:a16="http://schemas.microsoft.com/office/drawing/2014/main" id="{A3E4B75F-1646-4475-AAFB-05CD17130788}"/>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2464762E-C025-44D0-9904-E9226F10AF0D}"/>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ML Creatorは学習・モデル選択を自動化し、</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解析とONNX出力を支援。</a:t>
            </a:r>
          </a:p>
        </p:txBody>
      </p:sp>
      <p:sp>
        <p:nvSpPr>
          <p:cNvPr id="11" name="human-label-0">
            <a:extLst xmlns:a="http://schemas.openxmlformats.org/drawingml/2006/main">
              <a:ext uri="{FF2B5EF4-FFF2-40B4-BE49-F238E27FC236}">
                <a16:creationId xmlns:a16="http://schemas.microsoft.com/office/drawing/2014/main" id="{4E06E4EF-A945-4CB8-8C24-52A2BF722C6D}"/>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74058DCB-99A6-4D49-BEBC-9F7E8BAD5982}"/>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人がデータ・注釈・目的を準備。実機採用基準は要</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確認。</a:t>
            </a:r>
          </a:p>
        </p:txBody>
      </p:sp>
      <p:sp>
        <p:nvSpPr>
          <p:cNvPr id="13" name="year-label-0">
            <a:extLst xmlns:a="http://schemas.openxmlformats.org/drawingml/2006/main">
              <a:ext uri="{FF2B5EF4-FFF2-40B4-BE49-F238E27FC236}">
                <a16:creationId xmlns:a16="http://schemas.microsoft.com/office/drawing/2014/main" id="{7819595E-5258-44B2-BF87-3D3B23EA76CA}"/>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68C2439C-10FC-49E9-BC8C-0E6BB0F16F01}"/>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データ分割・ONNX統合は2024公式資料にも記載。</a:t>
            </a:r>
          </a:p>
        </p:txBody>
      </p:sp>
      <p:sp>
        <p:nvSpPr>
          <p:cNvPr id="15" name="source-0">
            <a:extLst xmlns:a="http://schemas.openxmlformats.org/drawingml/2006/main">
              <a:ext uri="{FF2B5EF4-FFF2-40B4-BE49-F238E27FC236}">
                <a16:creationId xmlns:a16="http://schemas.microsoft.com/office/drawing/2014/main" id="{D8C5D541-4D9A-4838-84B7-A5DF2D83D1CE}"/>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0d0ca8059c1c4a9b"/>
              </a:rPr>
              <a:t>公式原典を開く　ブース E2028</a:t>
            </a:r>
          </a:p>
        </p:txBody>
      </p:sp>
      <p:sp>
        <p:nvSpPr>
          <p:cNvPr id="16" name="case-1">
            <a:extLst xmlns:a="http://schemas.openxmlformats.org/drawingml/2006/main">
              <a:ext uri="{FF2B5EF4-FFF2-40B4-BE49-F238E27FC236}">
                <a16:creationId xmlns:a16="http://schemas.microsoft.com/office/drawing/2014/main" id="{4127C7AE-6FC2-4A57-8C1A-7DB8A994F6B7}"/>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12DE7330-533C-4854-A7CB-F1DD839805CE}"/>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27ED92C5-5F5F-4010-821B-100ABCB0879D}"/>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たけびし</a:t>
            </a:r>
          </a:p>
        </p:txBody>
      </p:sp>
      <p:sp>
        <p:nvSpPr>
          <p:cNvPr id="19" name="product-1">
            <a:extLst xmlns:a="http://schemas.openxmlformats.org/drawingml/2006/main">
              <a:ext uri="{FF2B5EF4-FFF2-40B4-BE49-F238E27FC236}">
                <a16:creationId xmlns:a16="http://schemas.microsoft.com/office/drawing/2014/main" id="{5C5C9A02-89B8-43A8-9B05-DFD8849C3B31}"/>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OPC UA情報モデルとエージェント連携</a:t>
            </a:r>
          </a:p>
        </p:txBody>
      </p:sp>
      <p:sp>
        <p:nvSpPr>
          <p:cNvPr id="20" name="target-1">
            <a:extLst xmlns:a="http://schemas.openxmlformats.org/drawingml/2006/main">
              <a:ext uri="{FF2B5EF4-FFF2-40B4-BE49-F238E27FC236}">
                <a16:creationId xmlns:a16="http://schemas.microsoft.com/office/drawing/2014/main" id="{85670B71-EF46-46C2-9F61-AFE027CFC619}"/>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設備データをAIが扱える形で渡す</a:t>
            </a:r>
          </a:p>
        </p:txBody>
      </p:sp>
      <p:sp>
        <p:nvSpPr>
          <p:cNvPr id="21" name="tech-label-1">
            <a:extLst xmlns:a="http://schemas.openxmlformats.org/drawingml/2006/main">
              <a:ext uri="{FF2B5EF4-FFF2-40B4-BE49-F238E27FC236}">
                <a16:creationId xmlns:a16="http://schemas.microsoft.com/office/drawing/2014/main" id="{94EB08F6-318E-41F9-B062-4DAB75607770}"/>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E3AA26CE-F7A8-451A-86F7-40FC1BBCAFD2}"/>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OPC UA情報モデルで機器情報をエージェン</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トへ連携する構想。</a:t>
            </a:r>
          </a:p>
        </p:txBody>
      </p:sp>
      <p:sp>
        <p:nvSpPr>
          <p:cNvPr id="23" name="human-label-1">
            <a:extLst xmlns:a="http://schemas.openxmlformats.org/drawingml/2006/main">
              <a:ext uri="{FF2B5EF4-FFF2-40B4-BE49-F238E27FC236}">
                <a16:creationId xmlns:a16="http://schemas.microsoft.com/office/drawing/2014/main" id="{07104EED-F995-44AC-A888-7DCA543980A5}"/>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01C8ABD6-9E21-491F-949E-BEF572BCB2C9}"/>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公開するデータ・メソッド、書込権限、承認と復帰</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は未確認。</a:t>
            </a:r>
          </a:p>
        </p:txBody>
      </p:sp>
      <p:sp>
        <p:nvSpPr>
          <p:cNvPr id="25" name="year-label-1">
            <a:extLst xmlns:a="http://schemas.openxmlformats.org/drawingml/2006/main">
              <a:ext uri="{FF2B5EF4-FFF2-40B4-BE49-F238E27FC236}">
                <a16:creationId xmlns:a16="http://schemas.microsoft.com/office/drawing/2014/main" id="{C4D4156F-0AA6-4E07-9A1B-A21A95AF6C70}"/>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607BAACC-EB03-49A2-A1ED-E24F623F4CDF}"/>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2024は多ベンダー接続。2026はAI連携シナリオを</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追加。</a:t>
            </a:r>
          </a:p>
        </p:txBody>
      </p:sp>
      <p:sp>
        <p:nvSpPr>
          <p:cNvPr id="27" name="source-1">
            <a:extLst xmlns:a="http://schemas.openxmlformats.org/drawingml/2006/main">
              <a:ext uri="{FF2B5EF4-FFF2-40B4-BE49-F238E27FC236}">
                <a16:creationId xmlns:a16="http://schemas.microsoft.com/office/drawing/2014/main" id="{9252C6DE-005A-43B7-8039-EB771B389203}"/>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08f4a3b2d29d4ab7"/>
              </a:rPr>
              <a:t>公式原典を開く　ブース S3015</a:t>
            </a:r>
          </a:p>
        </p:txBody>
      </p:sp>
      <p:sp>
        <p:nvSpPr>
          <p:cNvPr id="28" name="case-2">
            <a:extLst xmlns:a="http://schemas.openxmlformats.org/drawingml/2006/main">
              <a:ext uri="{FF2B5EF4-FFF2-40B4-BE49-F238E27FC236}">
                <a16:creationId xmlns:a16="http://schemas.microsoft.com/office/drawing/2014/main" id="{49176716-9AF9-4647-82F5-2575345DAC22}"/>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BA3DB48C-2E4D-45DB-B1E0-F0A2E31F7E8E}"/>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BE9F28BB-D523-43CB-B4E5-8793CD964260}"/>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シーイーシー</a:t>
            </a:r>
          </a:p>
        </p:txBody>
      </p:sp>
      <p:sp>
        <p:nvSpPr>
          <p:cNvPr id="31" name="product-2">
            <a:extLst xmlns:a="http://schemas.openxmlformats.org/drawingml/2006/main">
              <a:ext uri="{FF2B5EF4-FFF2-40B4-BE49-F238E27FC236}">
                <a16:creationId xmlns:a16="http://schemas.microsoft.com/office/drawing/2014/main" id="{CDB5CD58-4F4C-4D2D-9929-61B0A524FC4B}"/>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Facteye／Resolana</a:t>
            </a:r>
          </a:p>
        </p:txBody>
      </p:sp>
      <p:sp>
        <p:nvSpPr>
          <p:cNvPr id="32" name="target-2">
            <a:extLst xmlns:a="http://schemas.openxmlformats.org/drawingml/2006/main">
              <a:ext uri="{FF2B5EF4-FFF2-40B4-BE49-F238E27FC236}">
                <a16:creationId xmlns:a16="http://schemas.microsoft.com/office/drawing/2014/main" id="{08220664-9F75-42E7-91A2-B66650C75582}"/>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既設設備の情報を集め品質と結ぶ</a:t>
            </a:r>
          </a:p>
        </p:txBody>
      </p:sp>
      <p:sp>
        <p:nvSpPr>
          <p:cNvPr id="33" name="tech-label-2">
            <a:extLst xmlns:a="http://schemas.openxmlformats.org/drawingml/2006/main">
              <a:ext uri="{FF2B5EF4-FFF2-40B4-BE49-F238E27FC236}">
                <a16:creationId xmlns:a16="http://schemas.microsoft.com/office/drawing/2014/main" id="{B91DF0FE-4BC2-4F2D-AB80-D5DB1AD480BB}"/>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385A7478-B9EF-4AE6-8368-C7D9E4729350}"/>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既設設備のデータ収集・可視化を品質やAI</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利用へ接続。</a:t>
            </a:r>
          </a:p>
        </p:txBody>
      </p:sp>
      <p:sp>
        <p:nvSpPr>
          <p:cNvPr id="35" name="human-label-2">
            <a:extLst xmlns:a="http://schemas.openxmlformats.org/drawingml/2006/main">
              <a:ext uri="{FF2B5EF4-FFF2-40B4-BE49-F238E27FC236}">
                <a16:creationId xmlns:a16="http://schemas.microsoft.com/office/drawing/2014/main" id="{CBD1A87F-75DC-4CDF-8FCF-0018C5E8631B}"/>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CA380784-ABA9-442D-A8D3-C74036007423}"/>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自動制御や工場全体最適化の実装は未確認。</a:t>
            </a:r>
          </a:p>
        </p:txBody>
      </p:sp>
      <p:sp>
        <p:nvSpPr>
          <p:cNvPr id="37" name="year-label-2">
            <a:extLst xmlns:a="http://schemas.openxmlformats.org/drawingml/2006/main">
              <a:ext uri="{FF2B5EF4-FFF2-40B4-BE49-F238E27FC236}">
                <a16:creationId xmlns:a16="http://schemas.microsoft.com/office/drawing/2014/main" id="{760D7DA9-BD68-410A-942E-59B28174FF6F}"/>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C082A3AF-575B-4105-80E2-3BF062B39CB3}"/>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収集・対話AIは2024にも説明。2026は連携課題を</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具体化。</a:t>
            </a:r>
          </a:p>
        </p:txBody>
      </p:sp>
      <p:sp>
        <p:nvSpPr>
          <p:cNvPr id="39" name="source-2">
            <a:extLst xmlns:a="http://schemas.openxmlformats.org/drawingml/2006/main">
              <a:ext uri="{FF2B5EF4-FFF2-40B4-BE49-F238E27FC236}">
                <a16:creationId xmlns:a16="http://schemas.microsoft.com/office/drawing/2014/main" id="{DB944C78-C463-4738-896B-9F8F1BBFCD8C}"/>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b81be870b3834d67"/>
              </a:rPr>
              <a:t>公式原典を開く　ブース E2006</a:t>
            </a:r>
          </a:p>
        </p:txBody>
      </p:sp>
    </p:spTree>
    <p:extLst>
      <p:ext uri="{BB962C8B-B14F-4D97-AF65-F5344CB8AC3E}">
        <p14:creationId xmlns:p14="http://schemas.microsoft.com/office/powerpoint/2010/main" val="307645086"/>
      </p:ext>
    </p:extLst>
  </p:cSld>
</p:sld>
</file>

<file path=ppt/slides/slide33.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066A2152-23AC-47A0-ACE9-1407874C3026}"/>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デジタルツイン・物理学習用データ</a:t>
            </a:r>
          </a:p>
        </p:txBody>
      </p:sp>
      <p:sp>
        <p:nvSpPr>
          <p:cNvPr id="2" name="sub">
            <a:extLst xmlns:a="http://schemas.openxmlformats.org/drawingml/2006/main">
              <a:ext uri="{FF2B5EF4-FFF2-40B4-BE49-F238E27FC236}">
                <a16:creationId xmlns:a16="http://schemas.microsoft.com/office/drawing/2014/main" id="{B482AE19-DEE4-4ED5-8A30-49C10813A97A}"/>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困りごと〈分析〉：仮想上での確認・学習と実機の結果をつなぐための準備。</a:t>
            </a:r>
          </a:p>
        </p:txBody>
      </p:sp>
      <p:sp>
        <p:nvSpPr>
          <p:cNvPr id="3" name="page">
            <a:extLst xmlns:a="http://schemas.openxmlformats.org/drawingml/2006/main">
              <a:ext uri="{FF2B5EF4-FFF2-40B4-BE49-F238E27FC236}">
                <a16:creationId xmlns:a16="http://schemas.microsoft.com/office/drawing/2014/main" id="{A3739DEF-79A2-4CF1-9E02-0FC1B996813A}"/>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33</a:t>
            </a:r>
          </a:p>
        </p:txBody>
      </p:sp>
      <p:sp>
        <p:nvSpPr>
          <p:cNvPr id="4" name="case-0">
            <a:extLst xmlns:a="http://schemas.openxmlformats.org/drawingml/2006/main">
              <a:ext uri="{FF2B5EF4-FFF2-40B4-BE49-F238E27FC236}">
                <a16:creationId xmlns:a16="http://schemas.microsoft.com/office/drawing/2014/main" id="{7523324A-6E4B-4884-BE7A-B5116CC93799}"/>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A9FBF6A9-DCB5-4724-8401-8FAB9CD48819}"/>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6D8333EC-058C-4D58-AF99-F61FDB02DA8C}"/>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ファナック</a:t>
            </a:r>
          </a:p>
        </p:txBody>
      </p:sp>
      <p:sp>
        <p:nvSpPr>
          <p:cNvPr id="7" name="product-0">
            <a:extLst xmlns:a="http://schemas.openxmlformats.org/drawingml/2006/main">
              <a:ext uri="{FF2B5EF4-FFF2-40B4-BE49-F238E27FC236}">
                <a16:creationId xmlns:a16="http://schemas.microsoft.com/office/drawing/2014/main" id="{73153BDD-0457-4F86-A7AC-8D60B24345D5}"/>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FANUC Smart Digital Twin</a:t>
            </a:r>
          </a:p>
        </p:txBody>
      </p:sp>
      <p:sp>
        <p:nvSpPr>
          <p:cNvPr id="8" name="target-0">
            <a:extLst xmlns:a="http://schemas.openxmlformats.org/drawingml/2006/main">
              <a:ext uri="{FF2B5EF4-FFF2-40B4-BE49-F238E27FC236}">
                <a16:creationId xmlns:a16="http://schemas.microsoft.com/office/drawing/2014/main" id="{265528F0-A19B-4862-9629-8D012A7E9FAF}"/>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加工前に機械の動きを確かめる</a:t>
            </a:r>
          </a:p>
        </p:txBody>
      </p:sp>
      <p:sp>
        <p:nvSpPr>
          <p:cNvPr id="9" name="tech-label-0">
            <a:extLst xmlns:a="http://schemas.openxmlformats.org/drawingml/2006/main">
              <a:ext uri="{FF2B5EF4-FFF2-40B4-BE49-F238E27FC236}">
                <a16:creationId xmlns:a16="http://schemas.microsoft.com/office/drawing/2014/main" id="{5585823C-29C0-4E90-9AB1-0A6EA163C761}"/>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2B72A690-2A32-4CF4-96BC-D4E58217FF2A}"/>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Smart Digital Twinで加工前の挙動確認を</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支援。</a:t>
            </a:r>
          </a:p>
        </p:txBody>
      </p:sp>
      <p:sp>
        <p:nvSpPr>
          <p:cNvPr id="11" name="human-label-0">
            <a:extLst xmlns:a="http://schemas.openxmlformats.org/drawingml/2006/main">
              <a:ext uri="{FF2B5EF4-FFF2-40B4-BE49-F238E27FC236}">
                <a16:creationId xmlns:a16="http://schemas.microsoft.com/office/drawing/2014/main" id="{872E3159-60E3-4BBD-962E-38DAB158C590}"/>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54D3BCFB-06CD-4642-A5BE-ED6E14C65A4B}"/>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モデルと実機の一致や、検証対象外事象の扱いは未</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確認。</a:t>
            </a:r>
          </a:p>
        </p:txBody>
      </p:sp>
      <p:sp>
        <p:nvSpPr>
          <p:cNvPr id="13" name="year-label-0">
            <a:extLst xmlns:a="http://schemas.openxmlformats.org/drawingml/2006/main">
              <a:ext uri="{FF2B5EF4-FFF2-40B4-BE49-F238E27FC236}">
                <a16:creationId xmlns:a16="http://schemas.microsoft.com/office/drawing/2014/main" id="{E2D14E74-9A36-4C60-8BD6-D4FE4774E903}"/>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9008BFD9-CCDB-400E-88F3-D2FC0C083AF7}"/>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同名ツインは2024から継続。</a:t>
            </a:r>
          </a:p>
        </p:txBody>
      </p:sp>
      <p:sp>
        <p:nvSpPr>
          <p:cNvPr id="15" name="source-0">
            <a:extLst xmlns:a="http://schemas.openxmlformats.org/drawingml/2006/main">
              <a:ext uri="{FF2B5EF4-FFF2-40B4-BE49-F238E27FC236}">
                <a16:creationId xmlns:a16="http://schemas.microsoft.com/office/drawing/2014/main" id="{CADEC08E-9A92-4D44-9917-F320496D0D60}"/>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c87d13904ca04100"/>
              </a:rPr>
              <a:t>公式原典を開く　ブース S2001</a:t>
            </a:r>
          </a:p>
        </p:txBody>
      </p:sp>
      <p:sp>
        <p:nvSpPr>
          <p:cNvPr id="16" name="case-1">
            <a:extLst xmlns:a="http://schemas.openxmlformats.org/drawingml/2006/main">
              <a:ext uri="{FF2B5EF4-FFF2-40B4-BE49-F238E27FC236}">
                <a16:creationId xmlns:a16="http://schemas.microsoft.com/office/drawing/2014/main" id="{B08F1100-486C-44E2-8C81-05E7789ED16F}"/>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A450388D-C497-4340-B453-AE1D5CC2557B}"/>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236A2353-E11F-44DB-B583-7070143376A1}"/>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シーメンス</a:t>
            </a:r>
          </a:p>
        </p:txBody>
      </p:sp>
      <p:sp>
        <p:nvSpPr>
          <p:cNvPr id="19" name="product-1">
            <a:extLst xmlns:a="http://schemas.openxmlformats.org/drawingml/2006/main">
              <a:ext uri="{FF2B5EF4-FFF2-40B4-BE49-F238E27FC236}">
                <a16:creationId xmlns:a16="http://schemas.microsoft.com/office/drawing/2014/main" id="{7B71B535-EA00-4A83-A0FA-FCCE63FDD3F8}"/>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Digital Thread</a:t>
            </a:r>
          </a:p>
        </p:txBody>
      </p:sp>
      <p:sp>
        <p:nvSpPr>
          <p:cNvPr id="20" name="target-1">
            <a:extLst xmlns:a="http://schemas.openxmlformats.org/drawingml/2006/main">
              <a:ext uri="{FF2B5EF4-FFF2-40B4-BE49-F238E27FC236}">
                <a16:creationId xmlns:a16="http://schemas.microsoft.com/office/drawing/2014/main" id="{D4C4EDBF-07D3-4268-A233-00D2A96C7A6C}"/>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加工の仮想検証・計測連携を確認する</a:t>
            </a:r>
          </a:p>
        </p:txBody>
      </p:sp>
      <p:sp>
        <p:nvSpPr>
          <p:cNvPr id="21" name="tech-label-1">
            <a:extLst xmlns:a="http://schemas.openxmlformats.org/drawingml/2006/main">
              <a:ext uri="{FF2B5EF4-FFF2-40B4-BE49-F238E27FC236}">
                <a16:creationId xmlns:a16="http://schemas.microsoft.com/office/drawing/2014/main" id="{EAC4A4A2-A76F-4A50-8502-80BC0A2DC924}"/>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F197206D-EBC4-447C-9E40-35464C13DC12}"/>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Tokn工作機械ツイン、Equator品質保証、ヒ</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ューマノイドを別展示。</a:t>
            </a:r>
          </a:p>
        </p:txBody>
      </p:sp>
      <p:sp>
        <p:nvSpPr>
          <p:cNvPr id="23" name="human-label-1">
            <a:extLst xmlns:a="http://schemas.openxmlformats.org/drawingml/2006/main">
              <a:ext uri="{FF2B5EF4-FFF2-40B4-BE49-F238E27FC236}">
                <a16:creationId xmlns:a16="http://schemas.microsoft.com/office/drawing/2014/main" id="{B94E6974-FBC5-4E08-B443-B022F8CF318F}"/>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FAA5E58D-703D-4D07-B0C6-232F698FB7FF}"/>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海外HMND実証とJIMTOFの機体・タスクの同一性は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未確認。</a:t>
            </a:r>
          </a:p>
        </p:txBody>
      </p:sp>
      <p:sp>
        <p:nvSpPr>
          <p:cNvPr id="25" name="year-label-1">
            <a:extLst xmlns:a="http://schemas.openxmlformats.org/drawingml/2006/main">
              <a:ext uri="{FF2B5EF4-FFF2-40B4-BE49-F238E27FC236}">
                <a16:creationId xmlns:a16="http://schemas.microsoft.com/office/drawing/2014/main" id="{45E0559B-B28C-495D-BB4E-B3B834D863EB}"/>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679BD104-04E1-4BFB-86DC-A2D22C082B5E}"/>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Toknの仮想訓練は2024完了の公式事例あり。</a:t>
            </a:r>
          </a:p>
        </p:txBody>
      </p:sp>
      <p:sp>
        <p:nvSpPr>
          <p:cNvPr id="27" name="source-1">
            <a:extLst xmlns:a="http://schemas.openxmlformats.org/drawingml/2006/main">
              <a:ext uri="{FF2B5EF4-FFF2-40B4-BE49-F238E27FC236}">
                <a16:creationId xmlns:a16="http://schemas.microsoft.com/office/drawing/2014/main" id="{CD1DEE49-9E1A-46D0-A4D9-8D3EFFFBD7AC}"/>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9234a1a2851f4450"/>
              </a:rPr>
              <a:t>公式原典を開く　ブース E3006</a:t>
            </a:r>
          </a:p>
        </p:txBody>
      </p:sp>
      <p:sp>
        <p:nvSpPr>
          <p:cNvPr id="28" name="case-2">
            <a:extLst xmlns:a="http://schemas.openxmlformats.org/drawingml/2006/main">
              <a:ext uri="{FF2B5EF4-FFF2-40B4-BE49-F238E27FC236}">
                <a16:creationId xmlns:a16="http://schemas.microsoft.com/office/drawing/2014/main" id="{84ACF9C9-40D1-43A8-BD66-CC13D3FA2FA3}"/>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5FE47E23-E54F-459F-85EF-6CA9831A107D}"/>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C90E8C29-2716-441B-9E05-2589D0365958}"/>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NdotLight</a:t>
            </a:r>
          </a:p>
        </p:txBody>
      </p:sp>
      <p:sp>
        <p:nvSpPr>
          <p:cNvPr id="31" name="product-2">
            <a:extLst xmlns:a="http://schemas.openxmlformats.org/drawingml/2006/main">
              <a:ext uri="{FF2B5EF4-FFF2-40B4-BE49-F238E27FC236}">
                <a16:creationId xmlns:a16="http://schemas.microsoft.com/office/drawing/2014/main" id="{9FCDA715-474F-47B2-83B5-B46E388EF62A}"/>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TRINIX</a:t>
            </a:r>
          </a:p>
        </p:txBody>
      </p:sp>
      <p:sp>
        <p:nvSpPr>
          <p:cNvPr id="32" name="target-2">
            <a:extLst xmlns:a="http://schemas.openxmlformats.org/drawingml/2006/main">
              <a:ext uri="{FF2B5EF4-FFF2-40B4-BE49-F238E27FC236}">
                <a16:creationId xmlns:a16="http://schemas.microsoft.com/office/drawing/2014/main" id="{AE249422-834C-4D04-B94C-6D59E4098260}"/>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物理シミュレーション用の3Dデータを</a:t>
            </a:r>
          </a:p>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作る</a:t>
            </a:r>
          </a:p>
        </p:txBody>
      </p:sp>
      <p:sp>
        <p:nvSpPr>
          <p:cNvPr id="33" name="tech-label-2">
            <a:extLst xmlns:a="http://schemas.openxmlformats.org/drawingml/2006/main">
              <a:ext uri="{FF2B5EF4-FFF2-40B4-BE49-F238E27FC236}">
                <a16:creationId xmlns:a16="http://schemas.microsoft.com/office/drawing/2014/main" id="{85938F6F-8025-4154-A5AE-66DFB6BA2D0D}"/>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E19FA85B-F76D-425E-BCB6-21E28BB48DAB}"/>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TRINIXはCADから形状・物理属性等を生成し</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検証・自己修正を説明。</a:t>
            </a:r>
          </a:p>
        </p:txBody>
      </p:sp>
      <p:sp>
        <p:nvSpPr>
          <p:cNvPr id="35" name="human-label-2">
            <a:extLst xmlns:a="http://schemas.openxmlformats.org/drawingml/2006/main">
              <a:ext uri="{FF2B5EF4-FFF2-40B4-BE49-F238E27FC236}">
                <a16:creationId xmlns:a16="http://schemas.microsoft.com/office/drawing/2014/main" id="{8CE6FC77-AAE3-42DE-9C21-055A04F05C1B}"/>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3CA22F58-D650-4EA2-B27E-58B1539FD979}"/>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実測値と推定値の区別、人の承認、収束しない時の</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対応は未公開。</a:t>
            </a:r>
          </a:p>
        </p:txBody>
      </p:sp>
      <p:sp>
        <p:nvSpPr>
          <p:cNvPr id="37" name="year-label-2">
            <a:extLst xmlns:a="http://schemas.openxmlformats.org/drawingml/2006/main">
              <a:ext uri="{FF2B5EF4-FFF2-40B4-BE49-F238E27FC236}">
                <a16:creationId xmlns:a16="http://schemas.microsoft.com/office/drawing/2014/main" id="{444F45B6-9E33-4BB9-B154-6F3B30DA6C7F}"/>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C4369489-CACE-4A0F-8938-950366929B90}"/>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2024同名比較不能。DexBenchは共同開発告知で完</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成済み標準とはしない。</a:t>
            </a:r>
          </a:p>
        </p:txBody>
      </p:sp>
      <p:sp>
        <p:nvSpPr>
          <p:cNvPr id="39" name="source-2">
            <a:extLst xmlns:a="http://schemas.openxmlformats.org/drawingml/2006/main">
              <a:ext uri="{FF2B5EF4-FFF2-40B4-BE49-F238E27FC236}">
                <a16:creationId xmlns:a16="http://schemas.microsoft.com/office/drawing/2014/main" id="{C3041AF9-A3D3-4476-A689-4D04C32542BA}"/>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25fb074d713c48cf"/>
              </a:rPr>
              <a:t>公式原典を開く　ブース S4004</a:t>
            </a:r>
          </a:p>
        </p:txBody>
      </p:sp>
    </p:spTree>
    <p:extLst>
      <p:ext uri="{BB962C8B-B14F-4D97-AF65-F5344CB8AC3E}">
        <p14:creationId xmlns:p14="http://schemas.microsoft.com/office/powerpoint/2010/main" val="193553662"/>
      </p:ext>
    </p:extLst>
  </p:cSld>
</p:sld>
</file>

<file path=ppt/slides/slide34.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40" name="title">
            <a:extLst xmlns:a="http://schemas.openxmlformats.org/drawingml/2006/main">
              <a:ext uri="{FF2B5EF4-FFF2-40B4-BE49-F238E27FC236}">
                <a16:creationId xmlns:a16="http://schemas.microsoft.com/office/drawing/2014/main" id="{3568A38D-2D11-4F6C-BEC5-7C41AAA26AA7}"/>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展示段階と自律化の境界</a:t>
            </a:r>
          </a:p>
        </p:txBody>
      </p:sp>
      <p:sp>
        <p:nvSpPr>
          <p:cNvPr id="2" name="sub">
            <a:extLst xmlns:a="http://schemas.openxmlformats.org/drawingml/2006/main">
              <a:ext uri="{FF2B5EF4-FFF2-40B4-BE49-F238E27FC236}">
                <a16:creationId xmlns:a16="http://schemas.microsoft.com/office/drawing/2014/main" id="{9AD4D7E9-AE7E-4C3A-A8D7-4DC4D26915B9}"/>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困りごと〈分析〉：人型やAIという名称だけでは任せられる仕事を判断できない。</a:t>
            </a:r>
          </a:p>
        </p:txBody>
      </p:sp>
      <p:sp>
        <p:nvSpPr>
          <p:cNvPr id="3" name="page">
            <a:extLst xmlns:a="http://schemas.openxmlformats.org/drawingml/2006/main">
              <a:ext uri="{FF2B5EF4-FFF2-40B4-BE49-F238E27FC236}">
                <a16:creationId xmlns:a16="http://schemas.microsoft.com/office/drawing/2014/main" id="{577AE925-D583-47B7-AD28-60A3214F1FD2}"/>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34</a:t>
            </a:r>
          </a:p>
        </p:txBody>
      </p:sp>
      <p:sp>
        <p:nvSpPr>
          <p:cNvPr id="4" name="case-0">
            <a:extLst xmlns:a="http://schemas.openxmlformats.org/drawingml/2006/main">
              <a:ext uri="{FF2B5EF4-FFF2-40B4-BE49-F238E27FC236}">
                <a16:creationId xmlns:a16="http://schemas.microsoft.com/office/drawing/2014/main" id="{9BD3C48E-FDB6-4324-8FF0-458A30BBAF2B}"/>
              </a:ext>
            </a:extLst>
          </p:cNvPr>
          <p:cNvSpPr>
            <a:spLocks xmlns:a="http://schemas.openxmlformats.org/drawingml/2006/main" noGrp="1"/>
          </p:cNvSpPr>
          <p:nvPr/>
        </p:nvSpPr>
        <p:spPr>
          <a:xfrm xmlns:a="http://schemas.openxmlformats.org/drawingml/2006/main">
            <a:off x="6096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5" name="company-bg-0">
            <a:extLst xmlns:a="http://schemas.openxmlformats.org/drawingml/2006/main">
              <a:ext uri="{FF2B5EF4-FFF2-40B4-BE49-F238E27FC236}">
                <a16:creationId xmlns:a16="http://schemas.microsoft.com/office/drawing/2014/main" id="{4D47DA66-2E63-4834-B48E-1CC7A5890E74}"/>
              </a:ext>
            </a:extLst>
          </p:cNvPr>
          <p:cNvSpPr>
            <a:spLocks xmlns:a="http://schemas.openxmlformats.org/drawingml/2006/main" noGrp="1"/>
          </p:cNvSpPr>
          <p:nvPr/>
        </p:nvSpPr>
        <p:spPr>
          <a:xfrm xmlns:a="http://schemas.openxmlformats.org/drawingml/2006/main">
            <a:off x="6096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6" name="company-0">
            <a:extLst xmlns:a="http://schemas.openxmlformats.org/drawingml/2006/main">
              <a:ext uri="{FF2B5EF4-FFF2-40B4-BE49-F238E27FC236}">
                <a16:creationId xmlns:a16="http://schemas.microsoft.com/office/drawing/2014/main" id="{3235FE43-8E82-4900-8507-FD4A4F34C3C2}"/>
              </a:ext>
            </a:extLst>
          </p:cNvPr>
          <p:cNvSpPr>
            <a:spLocks xmlns:a="http://schemas.openxmlformats.org/drawingml/2006/main" noGrp="1"/>
          </p:cNvSpPr>
          <p:nvPr/>
        </p:nvSpPr>
        <p:spPr>
          <a:xfrm xmlns:a="http://schemas.openxmlformats.org/drawingml/2006/main">
            <a:off x="8382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ファナック</a:t>
            </a:r>
          </a:p>
        </p:txBody>
      </p:sp>
      <p:sp>
        <p:nvSpPr>
          <p:cNvPr id="7" name="product-0">
            <a:extLst xmlns:a="http://schemas.openxmlformats.org/drawingml/2006/main">
              <a:ext uri="{FF2B5EF4-FFF2-40B4-BE49-F238E27FC236}">
                <a16:creationId xmlns:a16="http://schemas.microsoft.com/office/drawing/2014/main" id="{0CA6F258-15B0-4419-B2E6-5DF010252F4C}"/>
              </a:ext>
            </a:extLst>
          </p:cNvPr>
          <p:cNvSpPr>
            <a:spLocks xmlns:a="http://schemas.openxmlformats.org/drawingml/2006/main" noGrp="1"/>
          </p:cNvSpPr>
          <p:nvPr/>
        </p:nvSpPr>
        <p:spPr>
          <a:xfrm xmlns:a="http://schemas.openxmlformats.org/drawingml/2006/main">
            <a:off x="8382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生成AIによるロボット駆動</a:t>
            </a:r>
          </a:p>
        </p:txBody>
      </p:sp>
      <p:sp>
        <p:nvSpPr>
          <p:cNvPr id="8" name="target-0">
            <a:extLst xmlns:a="http://schemas.openxmlformats.org/drawingml/2006/main">
              <a:ext uri="{FF2B5EF4-FFF2-40B4-BE49-F238E27FC236}">
                <a16:creationId xmlns:a16="http://schemas.microsoft.com/office/drawing/2014/main" id="{1BA5DFDC-B7C7-447D-B7B8-4B244A3E17D9}"/>
              </a:ext>
            </a:extLst>
          </p:cNvPr>
          <p:cNvSpPr>
            <a:spLocks xmlns:a="http://schemas.openxmlformats.org/drawingml/2006/main" noGrp="1"/>
          </p:cNvSpPr>
          <p:nvPr/>
        </p:nvSpPr>
        <p:spPr>
          <a:xfrm xmlns:a="http://schemas.openxmlformats.org/drawingml/2006/main">
            <a:off x="8382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指示からロボットを動かす（具体作業未</a:t>
            </a:r>
          </a:p>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公表）</a:t>
            </a:r>
          </a:p>
        </p:txBody>
      </p:sp>
      <p:sp>
        <p:nvSpPr>
          <p:cNvPr id="9" name="tech-label-0">
            <a:extLst xmlns:a="http://schemas.openxmlformats.org/drawingml/2006/main">
              <a:ext uri="{FF2B5EF4-FFF2-40B4-BE49-F238E27FC236}">
                <a16:creationId xmlns:a16="http://schemas.microsoft.com/office/drawing/2014/main" id="{FA4CDDFE-C52D-4596-BB8B-8249EB2ACD84}"/>
              </a:ext>
            </a:extLst>
          </p:cNvPr>
          <p:cNvSpPr>
            <a:spLocks xmlns:a="http://schemas.openxmlformats.org/drawingml/2006/main" noGrp="1"/>
          </p:cNvSpPr>
          <p:nvPr/>
        </p:nvSpPr>
        <p:spPr>
          <a:xfrm xmlns:a="http://schemas.openxmlformats.org/drawingml/2006/main">
            <a:off x="8382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10" name="tech-0">
            <a:extLst xmlns:a="http://schemas.openxmlformats.org/drawingml/2006/main">
              <a:ext uri="{FF2B5EF4-FFF2-40B4-BE49-F238E27FC236}">
                <a16:creationId xmlns:a16="http://schemas.microsoft.com/office/drawing/2014/main" id="{BFF6564E-537A-439D-AC2F-1F307F3E3DD0}"/>
              </a:ext>
            </a:extLst>
          </p:cNvPr>
          <p:cNvSpPr>
            <a:spLocks xmlns:a="http://schemas.openxmlformats.org/drawingml/2006/main" noGrp="1"/>
          </p:cNvSpPr>
          <p:nvPr/>
        </p:nvSpPr>
        <p:spPr>
          <a:xfrm xmlns:a="http://schemas.openxmlformats.org/drawingml/2006/main">
            <a:off x="8382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ファナックは生成AIによるロボット駆動事</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例を展示予定。</a:t>
            </a:r>
          </a:p>
        </p:txBody>
      </p:sp>
      <p:sp>
        <p:nvSpPr>
          <p:cNvPr id="11" name="human-label-0">
            <a:extLst xmlns:a="http://schemas.openxmlformats.org/drawingml/2006/main">
              <a:ext uri="{FF2B5EF4-FFF2-40B4-BE49-F238E27FC236}">
                <a16:creationId xmlns:a16="http://schemas.microsoft.com/office/drawing/2014/main" id="{F37120C7-435F-4A34-9FAF-ADF8B08EDD36}"/>
              </a:ext>
            </a:extLst>
          </p:cNvPr>
          <p:cNvSpPr>
            <a:spLocks xmlns:a="http://schemas.openxmlformats.org/drawingml/2006/main" noGrp="1"/>
          </p:cNvSpPr>
          <p:nvPr/>
        </p:nvSpPr>
        <p:spPr>
          <a:xfrm xmlns:a="http://schemas.openxmlformats.org/drawingml/2006/main">
            <a:off x="8382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12" name="human-0">
            <a:extLst xmlns:a="http://schemas.openxmlformats.org/drawingml/2006/main">
              <a:ext uri="{FF2B5EF4-FFF2-40B4-BE49-F238E27FC236}">
                <a16:creationId xmlns:a16="http://schemas.microsoft.com/office/drawing/2014/main" id="{46EC6185-D0E7-4B36-8133-A5BECE2D38ED}"/>
              </a:ext>
            </a:extLst>
          </p:cNvPr>
          <p:cNvSpPr>
            <a:spLocks xmlns:a="http://schemas.openxmlformats.org/drawingml/2006/main" noGrp="1"/>
          </p:cNvSpPr>
          <p:nvPr/>
        </p:nvSpPr>
        <p:spPr>
          <a:xfrm xmlns:a="http://schemas.openxmlformats.org/drawingml/2006/main">
            <a:off x="8382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機体・対象タスク・教示・停止・承認の具体範囲は</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未確認。</a:t>
            </a:r>
          </a:p>
        </p:txBody>
      </p:sp>
      <p:sp>
        <p:nvSpPr>
          <p:cNvPr id="13" name="year-label-0">
            <a:extLst xmlns:a="http://schemas.openxmlformats.org/drawingml/2006/main">
              <a:ext uri="{FF2B5EF4-FFF2-40B4-BE49-F238E27FC236}">
                <a16:creationId xmlns:a16="http://schemas.microsoft.com/office/drawing/2014/main" id="{4741F162-C392-45B4-BC04-9FFAF9C931D8}"/>
              </a:ext>
            </a:extLst>
          </p:cNvPr>
          <p:cNvSpPr>
            <a:spLocks xmlns:a="http://schemas.openxmlformats.org/drawingml/2006/main" noGrp="1"/>
          </p:cNvSpPr>
          <p:nvPr/>
        </p:nvSpPr>
        <p:spPr>
          <a:xfrm xmlns:a="http://schemas.openxmlformats.org/drawingml/2006/main">
            <a:off x="8382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14" name="year-0">
            <a:extLst xmlns:a="http://schemas.openxmlformats.org/drawingml/2006/main">
              <a:ext uri="{FF2B5EF4-FFF2-40B4-BE49-F238E27FC236}">
                <a16:creationId xmlns:a16="http://schemas.microsoft.com/office/drawing/2014/main" id="{5BCE4810-1548-4F28-85F1-88A7EB306F0F}"/>
              </a:ext>
            </a:extLst>
          </p:cNvPr>
          <p:cNvSpPr>
            <a:spLocks xmlns:a="http://schemas.openxmlformats.org/drawingml/2006/main" noGrp="1"/>
          </p:cNvSpPr>
          <p:nvPr/>
        </p:nvSpPr>
        <p:spPr>
          <a:xfrm xmlns:a="http://schemas.openxmlformats.org/drawingml/2006/main">
            <a:off x="8382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2024はAIバラ積み等。2026は生成AI駆動を追加記</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載。</a:t>
            </a:r>
          </a:p>
        </p:txBody>
      </p:sp>
      <p:sp>
        <p:nvSpPr>
          <p:cNvPr id="15" name="source-0">
            <a:extLst xmlns:a="http://schemas.openxmlformats.org/drawingml/2006/main">
              <a:ext uri="{FF2B5EF4-FFF2-40B4-BE49-F238E27FC236}">
                <a16:creationId xmlns:a16="http://schemas.microsoft.com/office/drawing/2014/main" id="{3BE564CB-6DE3-4C55-BCD3-EE110A1E2A6B}"/>
              </a:ext>
            </a:extLst>
          </p:cNvPr>
          <p:cNvSpPr>
            <a:spLocks xmlns:a="http://schemas.openxmlformats.org/drawingml/2006/main" noGrp="1"/>
          </p:cNvSpPr>
          <p:nvPr/>
        </p:nvSpPr>
        <p:spPr>
          <a:xfrm xmlns:a="http://schemas.openxmlformats.org/drawingml/2006/main">
            <a:off x="8382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d10d12fd83cf4d7c"/>
              </a:rPr>
              <a:t>公式原典を開く　ブース S2001</a:t>
            </a:r>
          </a:p>
        </p:txBody>
      </p:sp>
      <p:sp>
        <p:nvSpPr>
          <p:cNvPr id="16" name="case-1">
            <a:extLst xmlns:a="http://schemas.openxmlformats.org/drawingml/2006/main">
              <a:ext uri="{FF2B5EF4-FFF2-40B4-BE49-F238E27FC236}">
                <a16:creationId xmlns:a16="http://schemas.microsoft.com/office/drawing/2014/main" id="{C3108D07-21A2-45F5-B47A-E1B1AC5604D2}"/>
              </a:ext>
            </a:extLst>
          </p:cNvPr>
          <p:cNvSpPr>
            <a:spLocks xmlns:a="http://schemas.openxmlformats.org/drawingml/2006/main" noGrp="1"/>
          </p:cNvSpPr>
          <p:nvPr/>
        </p:nvSpPr>
        <p:spPr>
          <a:xfrm xmlns:a="http://schemas.openxmlformats.org/drawingml/2006/main">
            <a:off x="63627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company-bg-1">
            <a:extLst xmlns:a="http://schemas.openxmlformats.org/drawingml/2006/main">
              <a:ext uri="{FF2B5EF4-FFF2-40B4-BE49-F238E27FC236}">
                <a16:creationId xmlns:a16="http://schemas.microsoft.com/office/drawing/2014/main" id="{8C8B318C-FAEA-4EBF-9670-0057C7F6A8CE}"/>
              </a:ext>
            </a:extLst>
          </p:cNvPr>
          <p:cNvSpPr>
            <a:spLocks xmlns:a="http://schemas.openxmlformats.org/drawingml/2006/main" noGrp="1"/>
          </p:cNvSpPr>
          <p:nvPr/>
        </p:nvSpPr>
        <p:spPr>
          <a:xfrm xmlns:a="http://schemas.openxmlformats.org/drawingml/2006/main">
            <a:off x="63627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18" name="company-1">
            <a:extLst xmlns:a="http://schemas.openxmlformats.org/drawingml/2006/main">
              <a:ext uri="{FF2B5EF4-FFF2-40B4-BE49-F238E27FC236}">
                <a16:creationId xmlns:a16="http://schemas.microsoft.com/office/drawing/2014/main" id="{2AC6138F-E15E-4360-9622-0DCCC69FCDF8}"/>
              </a:ext>
            </a:extLst>
          </p:cNvPr>
          <p:cNvSpPr>
            <a:spLocks xmlns:a="http://schemas.openxmlformats.org/drawingml/2006/main" noGrp="1"/>
          </p:cNvSpPr>
          <p:nvPr/>
        </p:nvSpPr>
        <p:spPr>
          <a:xfrm xmlns:a="http://schemas.openxmlformats.org/drawingml/2006/main">
            <a:off x="65913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東京貿易テクノシステム</a:t>
            </a:r>
          </a:p>
        </p:txBody>
      </p:sp>
      <p:sp>
        <p:nvSpPr>
          <p:cNvPr id="19" name="product-1">
            <a:extLst xmlns:a="http://schemas.openxmlformats.org/drawingml/2006/main">
              <a:ext uri="{FF2B5EF4-FFF2-40B4-BE49-F238E27FC236}">
                <a16:creationId xmlns:a16="http://schemas.microsoft.com/office/drawing/2014/main" id="{CA4EEDCF-ED74-4D89-AF1D-22CDD0279B00}"/>
              </a:ext>
            </a:extLst>
          </p:cNvPr>
          <p:cNvSpPr>
            <a:spLocks xmlns:a="http://schemas.openxmlformats.org/drawingml/2006/main" noGrp="1"/>
          </p:cNvSpPr>
          <p:nvPr/>
        </p:nvSpPr>
        <p:spPr>
          <a:xfrm xmlns:a="http://schemas.openxmlformats.org/drawingml/2006/main">
            <a:off x="65913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RBY Series 双腕移動ヒューマノイド</a:t>
            </a:r>
          </a:p>
        </p:txBody>
      </p:sp>
      <p:sp>
        <p:nvSpPr>
          <p:cNvPr id="20" name="target-1">
            <a:extLst xmlns:a="http://schemas.openxmlformats.org/drawingml/2006/main">
              <a:ext uri="{FF2B5EF4-FFF2-40B4-BE49-F238E27FC236}">
                <a16:creationId xmlns:a16="http://schemas.microsoft.com/office/drawing/2014/main" id="{7C435B55-20BB-4AE9-B9BF-6075AB672A9C}"/>
              </a:ext>
            </a:extLst>
          </p:cNvPr>
          <p:cNvSpPr>
            <a:spLocks xmlns:a="http://schemas.openxmlformats.org/drawingml/2006/main" noGrp="1"/>
          </p:cNvSpPr>
          <p:nvPr/>
        </p:nvSpPr>
        <p:spPr>
          <a:xfrm xmlns:a="http://schemas.openxmlformats.org/drawingml/2006/main">
            <a:off x="65913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双腕人型ロボットを遠隔操作・教示する</a:t>
            </a:r>
          </a:p>
        </p:txBody>
      </p:sp>
      <p:sp>
        <p:nvSpPr>
          <p:cNvPr id="21" name="tech-label-1">
            <a:extLst xmlns:a="http://schemas.openxmlformats.org/drawingml/2006/main">
              <a:ext uri="{FF2B5EF4-FFF2-40B4-BE49-F238E27FC236}">
                <a16:creationId xmlns:a16="http://schemas.microsoft.com/office/drawing/2014/main" id="{4BBCB31C-60EB-45CA-BF8F-EBF500227766}"/>
              </a:ext>
            </a:extLst>
          </p:cNvPr>
          <p:cNvSpPr>
            <a:spLocks xmlns:a="http://schemas.openxmlformats.org/drawingml/2006/main" noGrp="1"/>
          </p:cNvSpPr>
          <p:nvPr/>
        </p:nvSpPr>
        <p:spPr>
          <a:xfrm xmlns:a="http://schemas.openxmlformats.org/drawingml/2006/main">
            <a:off x="65913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22" name="tech-1">
            <a:extLst xmlns:a="http://schemas.openxmlformats.org/drawingml/2006/main">
              <a:ext uri="{FF2B5EF4-FFF2-40B4-BE49-F238E27FC236}">
                <a16:creationId xmlns:a16="http://schemas.microsoft.com/office/drawing/2014/main" id="{53F5BA1B-A282-4403-8AB2-DB6D90D8EFD8}"/>
              </a:ext>
            </a:extLst>
          </p:cNvPr>
          <p:cNvSpPr>
            <a:spLocks xmlns:a="http://schemas.openxmlformats.org/drawingml/2006/main" noGrp="1"/>
          </p:cNvSpPr>
          <p:nvPr/>
        </p:nvSpPr>
        <p:spPr>
          <a:xfrm xmlns:a="http://schemas.openxmlformats.org/drawingml/2006/main">
            <a:off x="65913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RBY双腕移動ヒューマノイドはテレオペと作</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業教示の参考出展。</a:t>
            </a:r>
          </a:p>
        </p:txBody>
      </p:sp>
      <p:sp>
        <p:nvSpPr>
          <p:cNvPr id="23" name="human-label-1">
            <a:extLst xmlns:a="http://schemas.openxmlformats.org/drawingml/2006/main">
              <a:ext uri="{FF2B5EF4-FFF2-40B4-BE49-F238E27FC236}">
                <a16:creationId xmlns:a16="http://schemas.microsoft.com/office/drawing/2014/main" id="{7B069549-4BA1-47B8-BF37-92D6E12EDD40}"/>
              </a:ext>
            </a:extLst>
          </p:cNvPr>
          <p:cNvSpPr>
            <a:spLocks xmlns:a="http://schemas.openxmlformats.org/drawingml/2006/main" noGrp="1"/>
          </p:cNvSpPr>
          <p:nvPr/>
        </p:nvSpPr>
        <p:spPr>
          <a:xfrm xmlns:a="http://schemas.openxmlformats.org/drawingml/2006/main">
            <a:off x="65913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24" name="human-1">
            <a:extLst xmlns:a="http://schemas.openxmlformats.org/drawingml/2006/main">
              <a:ext uri="{FF2B5EF4-FFF2-40B4-BE49-F238E27FC236}">
                <a16:creationId xmlns:a16="http://schemas.microsoft.com/office/drawing/2014/main" id="{56F9C71D-4387-4BA2-8264-36494ABA3730}"/>
              </a:ext>
            </a:extLst>
          </p:cNvPr>
          <p:cNvSpPr>
            <a:spLocks xmlns:a="http://schemas.openxmlformats.org/drawingml/2006/main" noGrp="1"/>
          </p:cNvSpPr>
          <p:nvPr/>
        </p:nvSpPr>
        <p:spPr>
          <a:xfrm xmlns:a="http://schemas.openxmlformats.org/drawingml/2006/main">
            <a:off x="65913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人が遠隔操作・教示。自律作業の範囲は未確認。</a:t>
            </a:r>
          </a:p>
        </p:txBody>
      </p:sp>
      <p:sp>
        <p:nvSpPr>
          <p:cNvPr id="25" name="year-label-1">
            <a:extLst xmlns:a="http://schemas.openxmlformats.org/drawingml/2006/main">
              <a:ext uri="{FF2B5EF4-FFF2-40B4-BE49-F238E27FC236}">
                <a16:creationId xmlns:a16="http://schemas.microsoft.com/office/drawing/2014/main" id="{2D179337-0E64-4CBE-9E13-FE7031CF1C50}"/>
              </a:ext>
            </a:extLst>
          </p:cNvPr>
          <p:cNvSpPr>
            <a:spLocks xmlns:a="http://schemas.openxmlformats.org/drawingml/2006/main" noGrp="1"/>
          </p:cNvSpPr>
          <p:nvPr/>
        </p:nvSpPr>
        <p:spPr>
          <a:xfrm xmlns:a="http://schemas.openxmlformats.org/drawingml/2006/main">
            <a:off x="65913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26" name="year-1">
            <a:extLst xmlns:a="http://schemas.openxmlformats.org/drawingml/2006/main">
              <a:ext uri="{FF2B5EF4-FFF2-40B4-BE49-F238E27FC236}">
                <a16:creationId xmlns:a16="http://schemas.microsoft.com/office/drawing/2014/main" id="{91A93106-0A48-495C-9254-D282D7C6AA3B}"/>
              </a:ext>
            </a:extLst>
          </p:cNvPr>
          <p:cNvSpPr>
            <a:spLocks xmlns:a="http://schemas.openxmlformats.org/drawingml/2006/main" noGrp="1"/>
          </p:cNvSpPr>
          <p:nvPr/>
        </p:nvSpPr>
        <p:spPr>
          <a:xfrm xmlns:a="http://schemas.openxmlformats.org/drawingml/2006/main">
            <a:off x="65913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2024の個別差は未照合。</a:t>
            </a:r>
          </a:p>
        </p:txBody>
      </p:sp>
      <p:sp>
        <p:nvSpPr>
          <p:cNvPr id="27" name="source-1">
            <a:extLst xmlns:a="http://schemas.openxmlformats.org/drawingml/2006/main">
              <a:ext uri="{FF2B5EF4-FFF2-40B4-BE49-F238E27FC236}">
                <a16:creationId xmlns:a16="http://schemas.microsoft.com/office/drawing/2014/main" id="{2CE6CEA6-63C7-4C7A-B941-0142F01F38CC}"/>
              </a:ext>
            </a:extLst>
          </p:cNvPr>
          <p:cNvSpPr>
            <a:spLocks xmlns:a="http://schemas.openxmlformats.org/drawingml/2006/main" noGrp="1"/>
          </p:cNvSpPr>
          <p:nvPr/>
        </p:nvSpPr>
        <p:spPr>
          <a:xfrm xmlns:a="http://schemas.openxmlformats.org/drawingml/2006/main">
            <a:off x="65913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dfd03b97da3a45ea"/>
              </a:rPr>
              <a:t>公式原典を開く　ブース E7038</a:t>
            </a:r>
          </a:p>
        </p:txBody>
      </p:sp>
      <p:sp>
        <p:nvSpPr>
          <p:cNvPr id="28" name="case-2">
            <a:extLst xmlns:a="http://schemas.openxmlformats.org/drawingml/2006/main">
              <a:ext uri="{FF2B5EF4-FFF2-40B4-BE49-F238E27FC236}">
                <a16:creationId xmlns:a16="http://schemas.microsoft.com/office/drawing/2014/main" id="{D6FCC040-68C3-4363-A05E-7D901563F65F}"/>
              </a:ext>
            </a:extLst>
          </p:cNvPr>
          <p:cNvSpPr>
            <a:spLocks xmlns:a="http://schemas.openxmlformats.org/drawingml/2006/main" noGrp="1"/>
          </p:cNvSpPr>
          <p:nvPr/>
        </p:nvSpPr>
        <p:spPr>
          <a:xfrm xmlns:a="http://schemas.openxmlformats.org/drawingml/2006/main">
            <a:off x="12115800" y="2143125"/>
            <a:ext cx="5562600" cy="733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29" name="company-bg-2">
            <a:extLst xmlns:a="http://schemas.openxmlformats.org/drawingml/2006/main">
              <a:ext uri="{FF2B5EF4-FFF2-40B4-BE49-F238E27FC236}">
                <a16:creationId xmlns:a16="http://schemas.microsoft.com/office/drawing/2014/main" id="{2A095B4D-1717-4FB6-BA2A-AE3510F8F566}"/>
              </a:ext>
            </a:extLst>
          </p:cNvPr>
          <p:cNvSpPr>
            <a:spLocks xmlns:a="http://schemas.openxmlformats.org/drawingml/2006/main" noGrp="1"/>
          </p:cNvSpPr>
          <p:nvPr/>
        </p:nvSpPr>
        <p:spPr>
          <a:xfrm xmlns:a="http://schemas.openxmlformats.org/drawingml/2006/main">
            <a:off x="12115800" y="2143125"/>
            <a:ext cx="5562600" cy="1495425"/>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30" name="company-2">
            <a:extLst xmlns:a="http://schemas.openxmlformats.org/drawingml/2006/main">
              <a:ext uri="{FF2B5EF4-FFF2-40B4-BE49-F238E27FC236}">
                <a16:creationId xmlns:a16="http://schemas.microsoft.com/office/drawing/2014/main" id="{6AF4DD16-948A-4315-B798-A75839521F0E}"/>
              </a:ext>
            </a:extLst>
          </p:cNvPr>
          <p:cNvSpPr>
            <a:spLocks xmlns:a="http://schemas.openxmlformats.org/drawingml/2006/main" noGrp="1"/>
          </p:cNvSpPr>
          <p:nvPr/>
        </p:nvSpPr>
        <p:spPr>
          <a:xfrm xmlns:a="http://schemas.openxmlformats.org/drawingml/2006/main">
            <a:off x="12344400" y="230505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182D43"/>
                </a:solidFill>
                <a:latin typeface="Noto Sans JP"/>
                <a:ea typeface="Noto Sans JP"/>
                <a:cs typeface="Noto Sans JP"/>
              </a:defRPr>
            </a:defPPr>
          </a:lstStyle>
          <a:p xmlns:a="http://schemas.openxmlformats.org/drawingml/2006/main">
            <a:pPr>
              <a:defRPr sz="2175" b="1">
                <a:solidFill>
                  <a:srgbClr val="182D43"/>
                </a:solidFill>
                <a:latin typeface="Noto Sans JP"/>
                <a:ea typeface="Noto Sans JP"/>
                <a:cs typeface="Noto Sans JP"/>
              </a:defRPr>
            </a:pPr>
            <a:r>
              <a:rPr sz="2175" b="1">
                <a:solidFill>
                  <a:srgbClr val="182D43"/>
                </a:solidFill>
                <a:latin typeface="Noto Sans JP"/>
                <a:ea typeface="Noto Sans JP"/>
                <a:cs typeface="Noto Sans JP"/>
              </a:rPr>
              <a:t>神崎高級工機</a:t>
            </a:r>
          </a:p>
        </p:txBody>
      </p:sp>
      <p:sp>
        <p:nvSpPr>
          <p:cNvPr id="31" name="product-2">
            <a:extLst xmlns:a="http://schemas.openxmlformats.org/drawingml/2006/main">
              <a:ext uri="{FF2B5EF4-FFF2-40B4-BE49-F238E27FC236}">
                <a16:creationId xmlns:a16="http://schemas.microsoft.com/office/drawing/2014/main" id="{10079D0B-B7E4-472D-88B5-413444B8FC51}"/>
              </a:ext>
            </a:extLst>
          </p:cNvPr>
          <p:cNvSpPr>
            <a:spLocks xmlns:a="http://schemas.openxmlformats.org/drawingml/2006/main" noGrp="1"/>
          </p:cNvSpPr>
          <p:nvPr/>
        </p:nvSpPr>
        <p:spPr>
          <a:xfrm xmlns:a="http://schemas.openxmlformats.org/drawingml/2006/main">
            <a:off x="12344400" y="3048000"/>
            <a:ext cx="5105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FD100 ギヤチェッカー</a:t>
            </a:r>
          </a:p>
        </p:txBody>
      </p:sp>
      <p:sp>
        <p:nvSpPr>
          <p:cNvPr id="32" name="target-2">
            <a:extLst xmlns:a="http://schemas.openxmlformats.org/drawingml/2006/main">
              <a:ext uri="{FF2B5EF4-FFF2-40B4-BE49-F238E27FC236}">
                <a16:creationId xmlns:a16="http://schemas.microsoft.com/office/drawing/2014/main" id="{74128539-262E-4E1C-A691-72C26AF179DC}"/>
              </a:ext>
            </a:extLst>
          </p:cNvPr>
          <p:cNvSpPr>
            <a:spLocks xmlns:a="http://schemas.openxmlformats.org/drawingml/2006/main" noGrp="1"/>
          </p:cNvSpPr>
          <p:nvPr/>
        </p:nvSpPr>
        <p:spPr>
          <a:xfrm xmlns:a="http://schemas.openxmlformats.org/drawingml/2006/main">
            <a:off x="12344400" y="3838575"/>
            <a:ext cx="5105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225B92"/>
                </a:solidFill>
                <a:latin typeface="Noto Sans JP"/>
                <a:ea typeface="Noto Sans JP"/>
                <a:cs typeface="Noto Sans JP"/>
              </a:defRPr>
            </a:defPPr>
          </a:lstStyle>
          <a:p xmlns:a="http://schemas.openxmlformats.org/drawingml/2006/main">
            <a:pPr>
              <a:defRPr sz="2175" b="1">
                <a:solidFill>
                  <a:srgbClr val="225B92"/>
                </a:solidFill>
                <a:latin typeface="Noto Sans JP"/>
                <a:ea typeface="Noto Sans JP"/>
                <a:cs typeface="Noto Sans JP"/>
              </a:defRPr>
            </a:pPr>
            <a:r>
              <a:rPr sz="2175" b="1">
                <a:solidFill>
                  <a:srgbClr val="225B92"/>
                </a:solidFill>
                <a:latin typeface="Noto Sans JP"/>
                <a:ea typeface="Noto Sans JP"/>
                <a:cs typeface="Noto Sans JP"/>
              </a:rPr>
              <a:t>歯車の加工前状態を測り段取りを助ける</a:t>
            </a:r>
          </a:p>
        </p:txBody>
      </p:sp>
      <p:sp>
        <p:nvSpPr>
          <p:cNvPr id="33" name="tech-label-2">
            <a:extLst xmlns:a="http://schemas.openxmlformats.org/drawingml/2006/main">
              <a:ext uri="{FF2B5EF4-FFF2-40B4-BE49-F238E27FC236}">
                <a16:creationId xmlns:a16="http://schemas.microsoft.com/office/drawing/2014/main" id="{E1E5859F-C114-4EB4-9557-84A09AF5F5DB}"/>
              </a:ext>
            </a:extLst>
          </p:cNvPr>
          <p:cNvSpPr>
            <a:spLocks xmlns:a="http://schemas.openxmlformats.org/drawingml/2006/main" noGrp="1"/>
          </p:cNvSpPr>
          <p:nvPr/>
        </p:nvSpPr>
        <p:spPr>
          <a:xfrm xmlns:a="http://schemas.openxmlformats.org/drawingml/2006/main">
            <a:off x="12344400" y="4867275"/>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37286"/>
                </a:solidFill>
                <a:latin typeface="Noto Sans JP"/>
                <a:ea typeface="Noto Sans JP"/>
                <a:cs typeface="Noto Sans JP"/>
              </a:defRPr>
            </a:defPPr>
          </a:lstStyle>
          <a:p xmlns:a="http://schemas.openxmlformats.org/drawingml/2006/main">
            <a:pPr>
              <a:defRPr sz="1425" b="1">
                <a:solidFill>
                  <a:srgbClr val="637286"/>
                </a:solidFill>
                <a:latin typeface="Noto Sans JP"/>
                <a:ea typeface="Noto Sans JP"/>
                <a:cs typeface="Noto Sans JP"/>
              </a:defRPr>
            </a:pPr>
            <a:r>
              <a:rPr sz="1425" b="1">
                <a:solidFill>
                  <a:srgbClr val="637286"/>
                </a:solidFill>
                <a:latin typeface="Noto Sans JP"/>
                <a:ea typeface="Noto Sans JP"/>
                <a:cs typeface="Noto Sans JP"/>
              </a:rPr>
              <a:t>使う技術と担当する仕事〈公式説明〉</a:t>
            </a:r>
          </a:p>
        </p:txBody>
      </p:sp>
      <p:sp>
        <p:nvSpPr>
          <p:cNvPr id="34" name="tech-2">
            <a:extLst xmlns:a="http://schemas.openxmlformats.org/drawingml/2006/main">
              <a:ext uri="{FF2B5EF4-FFF2-40B4-BE49-F238E27FC236}">
                <a16:creationId xmlns:a16="http://schemas.microsoft.com/office/drawing/2014/main" id="{B9268689-34BC-43B0-B14D-F649FFFAFF15}"/>
              </a:ext>
            </a:extLst>
          </p:cNvPr>
          <p:cNvSpPr>
            <a:spLocks xmlns:a="http://schemas.openxmlformats.org/drawingml/2006/main" noGrp="1"/>
          </p:cNvSpPr>
          <p:nvPr/>
        </p:nvSpPr>
        <p:spPr>
          <a:xfrm xmlns:a="http://schemas.openxmlformats.org/drawingml/2006/main">
            <a:off x="12344400" y="5210175"/>
            <a:ext cx="5105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2D43"/>
                </a:solidFill>
                <a:latin typeface="Noto Sans JP"/>
                <a:ea typeface="Noto Sans JP"/>
                <a:cs typeface="Noto Sans JP"/>
              </a:defRPr>
            </a:defPPr>
          </a:lstStyle>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FD100に歯合わせ・前加工計測。計測による</a:t>
            </a:r>
          </a:p>
          <a:p xmlns:a="http://schemas.openxmlformats.org/drawingml/2006/main">
            <a:pPr>
              <a:defRPr sz="1875" b="0">
                <a:solidFill>
                  <a:srgbClr val="182D43"/>
                </a:solidFill>
                <a:latin typeface="Noto Sans JP"/>
                <a:ea typeface="Noto Sans JP"/>
                <a:cs typeface="Noto Sans JP"/>
              </a:defRPr>
            </a:pPr>
            <a:r>
              <a:rPr sz="1875" b="0">
                <a:solidFill>
                  <a:srgbClr val="182D43"/>
                </a:solidFill>
                <a:latin typeface="Noto Sans JP"/>
                <a:ea typeface="Noto Sans JP"/>
                <a:cs typeface="Noto Sans JP"/>
              </a:rPr>
              <a:t>条件最適化は開発中。</a:t>
            </a:r>
          </a:p>
        </p:txBody>
      </p:sp>
      <p:sp>
        <p:nvSpPr>
          <p:cNvPr id="35" name="human-label-2">
            <a:extLst xmlns:a="http://schemas.openxmlformats.org/drawingml/2006/main">
              <a:ext uri="{FF2B5EF4-FFF2-40B4-BE49-F238E27FC236}">
                <a16:creationId xmlns:a16="http://schemas.microsoft.com/office/drawing/2014/main" id="{B3915B98-8AE9-4DDA-9594-2C0D9EC1208D}"/>
              </a:ext>
            </a:extLst>
          </p:cNvPr>
          <p:cNvSpPr>
            <a:spLocks xmlns:a="http://schemas.openxmlformats.org/drawingml/2006/main" noGrp="1"/>
          </p:cNvSpPr>
          <p:nvPr/>
        </p:nvSpPr>
        <p:spPr>
          <a:xfrm xmlns:a="http://schemas.openxmlformats.org/drawingml/2006/main">
            <a:off x="12344400" y="64960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人が担う仕事・未確認</a:t>
            </a:r>
          </a:p>
        </p:txBody>
      </p:sp>
      <p:sp>
        <p:nvSpPr>
          <p:cNvPr id="36" name="human-2">
            <a:extLst xmlns:a="http://schemas.openxmlformats.org/drawingml/2006/main">
              <a:ext uri="{FF2B5EF4-FFF2-40B4-BE49-F238E27FC236}">
                <a16:creationId xmlns:a16="http://schemas.microsoft.com/office/drawing/2014/main" id="{9AB83A02-390D-403C-A1EB-EDAB6B8C3980}"/>
              </a:ext>
            </a:extLst>
          </p:cNvPr>
          <p:cNvSpPr>
            <a:spLocks xmlns:a="http://schemas.openxmlformats.org/drawingml/2006/main" noGrp="1"/>
          </p:cNvSpPr>
          <p:nvPr/>
        </p:nvSpPr>
        <p:spPr>
          <a:xfrm xmlns:a="http://schemas.openxmlformats.org/drawingml/2006/main">
            <a:off x="12344400" y="6829425"/>
            <a:ext cx="5105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最適化方式と人の承認、自動反映範囲は未公表。</a:t>
            </a:r>
          </a:p>
        </p:txBody>
      </p:sp>
      <p:sp>
        <p:nvSpPr>
          <p:cNvPr id="37" name="year-label-2">
            <a:extLst xmlns:a="http://schemas.openxmlformats.org/drawingml/2006/main">
              <a:ext uri="{FF2B5EF4-FFF2-40B4-BE49-F238E27FC236}">
                <a16:creationId xmlns:a16="http://schemas.microsoft.com/office/drawing/2014/main" id="{7EA4D87B-65CA-4104-B06F-F813FD5D31C3}"/>
              </a:ext>
            </a:extLst>
          </p:cNvPr>
          <p:cNvSpPr>
            <a:spLocks xmlns:a="http://schemas.openxmlformats.org/drawingml/2006/main" noGrp="1"/>
          </p:cNvSpPr>
          <p:nvPr/>
        </p:nvSpPr>
        <p:spPr>
          <a:xfrm xmlns:a="http://schemas.openxmlformats.org/drawingml/2006/main">
            <a:off x="12344400" y="7867650"/>
            <a:ext cx="5105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1">
                <a:solidFill>
                  <a:srgbClr val="637286"/>
                </a:solidFill>
                <a:latin typeface="Noto Sans JP"/>
                <a:ea typeface="Noto Sans JP"/>
                <a:cs typeface="Noto Sans JP"/>
              </a:defRPr>
            </a:defPPr>
          </a:lstStyle>
          <a:p xmlns:a="http://schemas.openxmlformats.org/drawingml/2006/main">
            <a:pPr>
              <a:defRPr sz="1350" b="1">
                <a:solidFill>
                  <a:srgbClr val="637286"/>
                </a:solidFill>
                <a:latin typeface="Noto Sans JP"/>
                <a:ea typeface="Noto Sans JP"/>
                <a:cs typeface="Noto Sans JP"/>
              </a:defRPr>
            </a:pPr>
            <a:r>
              <a:rPr sz="1350" b="1">
                <a:solidFill>
                  <a:srgbClr val="637286"/>
                </a:solidFill>
                <a:latin typeface="Noto Sans JP"/>
                <a:ea typeface="Noto Sans JP"/>
                <a:cs typeface="Noto Sans JP"/>
              </a:rPr>
              <a:t>2024年と比べて</a:t>
            </a:r>
          </a:p>
        </p:txBody>
      </p:sp>
      <p:sp>
        <p:nvSpPr>
          <p:cNvPr id="38" name="year-2">
            <a:extLst xmlns:a="http://schemas.openxmlformats.org/drawingml/2006/main">
              <a:ext uri="{FF2B5EF4-FFF2-40B4-BE49-F238E27FC236}">
                <a16:creationId xmlns:a16="http://schemas.microsoft.com/office/drawing/2014/main" id="{767017F4-B886-48D9-8BF7-CFCCEFCECD86}"/>
              </a:ext>
            </a:extLst>
          </p:cNvPr>
          <p:cNvSpPr>
            <a:spLocks xmlns:a="http://schemas.openxmlformats.org/drawingml/2006/main" noGrp="1"/>
          </p:cNvSpPr>
          <p:nvPr/>
        </p:nvSpPr>
        <p:spPr>
          <a:xfrm xmlns:a="http://schemas.openxmlformats.org/drawingml/2006/main">
            <a:off x="12344400" y="8181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182D43"/>
                </a:solidFill>
                <a:latin typeface="Noto Sans JP"/>
                <a:ea typeface="Noto Sans JP"/>
                <a:cs typeface="Noto Sans JP"/>
              </a:defRPr>
            </a:defPPr>
          </a:lstStyle>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2024の構造改善等に対し段取りを具体化。開発中</a:t>
            </a:r>
          </a:p>
          <a:p xmlns:a="http://schemas.openxmlformats.org/drawingml/2006/main">
            <a:pPr>
              <a:defRPr sz="1650" b="0">
                <a:solidFill>
                  <a:srgbClr val="182D43"/>
                </a:solidFill>
                <a:latin typeface="Noto Sans JP"/>
                <a:ea typeface="Noto Sans JP"/>
                <a:cs typeface="Noto Sans JP"/>
              </a:defRPr>
            </a:pPr>
            <a:r>
              <a:rPr sz="1650" b="0">
                <a:solidFill>
                  <a:srgbClr val="182D43"/>
                </a:solidFill>
                <a:latin typeface="Noto Sans JP"/>
                <a:ea typeface="Noto Sans JP"/>
                <a:cs typeface="Noto Sans JP"/>
              </a:rPr>
              <a:t>を実用済みとしない。</a:t>
            </a:r>
          </a:p>
        </p:txBody>
      </p:sp>
      <p:sp>
        <p:nvSpPr>
          <p:cNvPr id="39" name="source-2">
            <a:extLst xmlns:a="http://schemas.openxmlformats.org/drawingml/2006/main">
              <a:ext uri="{FF2B5EF4-FFF2-40B4-BE49-F238E27FC236}">
                <a16:creationId xmlns:a16="http://schemas.microsoft.com/office/drawing/2014/main" id="{74955BC6-8A8A-4C3D-AFC0-34B936110C1F}"/>
              </a:ext>
            </a:extLst>
          </p:cNvPr>
          <p:cNvSpPr>
            <a:spLocks xmlns:a="http://schemas.openxmlformats.org/drawingml/2006/main" noGrp="1"/>
          </p:cNvSpPr>
          <p:nvPr/>
        </p:nvSpPr>
        <p:spPr>
          <a:xfrm xmlns:a="http://schemas.openxmlformats.org/drawingml/2006/main">
            <a:off x="12344400" y="9639300"/>
            <a:ext cx="5105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225B92"/>
                </a:solidFill>
                <a:latin typeface="Noto Sans JP"/>
                <a:ea typeface="Noto Sans JP"/>
                <a:cs typeface="Noto Sans JP"/>
              </a:defRPr>
            </a:defPPr>
          </a:lstStyle>
          <a:p xmlns:a="http://schemas.openxmlformats.org/drawingml/2006/main">
            <a:pPr>
              <a:defRPr sz="1500" b="0">
                <a:solidFill>
                  <a:srgbClr val="225B92"/>
                </a:solidFill>
                <a:latin typeface="Noto Sans JP"/>
                <a:ea typeface="Noto Sans JP"/>
                <a:cs typeface="Noto Sans JP"/>
              </a:defRPr>
            </a:pPr>
            <a:r>
              <a:rPr sz="1500" b="0">
                <a:solidFill>
                  <a:srgbClr val="225B92"/>
                </a:solidFill>
                <a:latin typeface="Noto Sans JP"/>
                <a:ea typeface="Noto Sans JP"/>
                <a:cs typeface="Noto Sans JP"/>
                <a:hlinkClick xmlns:r="http://schemas.openxmlformats.org/officeDocument/2006/relationships" r:id="Rd5e5f3934a6a43bd"/>
              </a:rPr>
              <a:t>公式原典を開く　ブース E1071</a:t>
            </a:r>
          </a:p>
        </p:txBody>
      </p:sp>
    </p:spTree>
    <p:extLst>
      <p:ext uri="{BB962C8B-B14F-4D97-AF65-F5344CB8AC3E}">
        <p14:creationId xmlns:p14="http://schemas.microsoft.com/office/powerpoint/2010/main" val="357281048"/>
      </p:ext>
    </p:extLst>
  </p:cSld>
</p:sld>
</file>

<file path=ppt/slides/slide35.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42389FE-C8F5-4268-8A36-4394A3B7C1B5}"/>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補足：以前の研究候補の位置づけ　1/2</a:t>
            </a:r>
          </a:p>
        </p:txBody>
      </p:sp>
      <p:sp>
        <p:nvSpPr>
          <p:cNvPr id="2" name="sub">
            <a:extLst xmlns:a="http://schemas.openxmlformats.org/drawingml/2006/main">
              <a:ext uri="{FF2B5EF4-FFF2-40B4-BE49-F238E27FC236}">
                <a16:creationId xmlns:a16="http://schemas.microsoft.com/office/drawing/2014/main" id="{D20FD8F5-F532-491C-BBE9-FD71FCA15B19}"/>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大テーマの実装・評価を詰める下位課題として保存。大テーマの提案とは粒度を分ける。</a:t>
            </a:r>
          </a:p>
        </p:txBody>
      </p:sp>
      <p:sp>
        <p:nvSpPr>
          <p:cNvPr id="3" name="page">
            <a:extLst xmlns:a="http://schemas.openxmlformats.org/drawingml/2006/main">
              <a:ext uri="{FF2B5EF4-FFF2-40B4-BE49-F238E27FC236}">
                <a16:creationId xmlns:a16="http://schemas.microsoft.com/office/drawing/2014/main" id="{C8B44C81-520E-4DA2-AE59-CEC892D0ACA7}"/>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35</a:t>
            </a:r>
          </a:p>
        </p:txBody>
      </p:sp>
      <p:graphicFrame>
        <p:nvGraphicFramePr>
          <p:cNvPr id="4" name="">
            <a:extLst xmlns:a="http://schemas.openxmlformats.org/drawingml/2006/main">
              <a:ext uri="{FF2B5EF4-FFF2-40B4-BE49-F238E27FC236}">
                <a16:creationId xmlns:a16="http://schemas.microsoft.com/office/drawing/2014/main" id="{6A714B56-779C-4D04-A84D-F8963A6D8CEE}"/>
              </a:ext>
            </a:extLst>
          </p:cNvPr>
          <p:cNvGraphicFramePr/>
          <p:nvPr/>
        </p:nvGraphicFramePr>
        <p:xfrm>
          <a:off xmlns:a="http://schemas.openxmlformats.org/drawingml/2006/main" x="609600" y="2143125"/>
          <a:ext xmlns:a="http://schemas.openxmlformats.org/drawingml/2006/main" cx="17068800" cy="7458075"/>
        </p:xfrm>
        <a:graphic xmlns:a="http://schemas.openxmlformats.org/drawingml/2006/main">
          <a:graphicData uri="http://schemas.openxmlformats.org/drawingml/2006/table">
            <a:tbl>
              <a:tblPr/>
              <a:tblGrid>
                <a:gridCol w="4191000"/>
                <a:gridCol w="4095750"/>
                <a:gridCol w="8782050"/>
              </a:tblGrid>
              <a:tr h="628650">
                <a:tc>
                  <a:txBody>
                    <a:bodyPr wrap="square" lIns="123825" tIns="123825" rIns="123825" bIns="123825">
                      <a:noAutofit/>
                    </a:bodyPr>
                    <a:lstStyle/>
                    <a:p>
                      <a:r>
                        <a:rPr sz="1950" b="1">
                          <a:solidFill>
                            <a:srgbClr val="FFFFFF"/>
                          </a:solidFill>
                          <a:latin typeface="Noto Sans JP"/>
                          <a:ea typeface="Noto Sans JP"/>
                          <a:cs typeface="Noto Sans JP"/>
                        </a:rPr>
                        <a:t>個別課題</a:t>
                      </a:r>
                    </a:p>
                  </a:txBody>
                  <a:tcPr marL="91440" marR="91440" marT="45720" marB="45720" anchor="t">
                    <a:lnL w="9525">
                      <a:solidFill>
                        <a:srgbClr val="D5DFEA"/>
                      </a:solidFill>
                      <a:prstDash val="solid"/>
                    </a:lnL>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関連する開発の大テーマ</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残る仮説・具体的な検討</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生成工程の変更影響と確認の支援</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加工知識を扱う生産準備AI</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既存CAM/NC検証の出力と変更情報を対応づけ、未検証範囲を人へ示す。</a:t>
                      </a:r>
                    </a:p>
                    <a:p>
                      <a:r>
                        <a:rPr sz="1875" b="0">
                          <a:solidFill>
                            <a:srgbClr val="182D43"/>
                          </a:solidFill>
                          <a:latin typeface="Noto Sans JP"/>
                          <a:ea typeface="Noto Sans JP"/>
                          <a:cs typeface="Noto Sans JP"/>
                        </a:rPr>
                        <a:t/>
                      </a:r>
                    </a:p>
                    <a:p>
                      <a:r>
                        <a:rPr sz="1875" b="0">
                          <a:solidFill>
                            <a:srgbClr val="182D43"/>
                          </a:solidFill>
                          <a:latin typeface="Noto Sans JP"/>
                          <a:ea typeface="Noto Sans JP"/>
                          <a:cs typeface="Noto Sans JP"/>
                        </a:rPr>
                        <a:t>最初は既存機能の実演を確認。未対応の変更例とデータが得られなければ見送る。</a:t>
                      </a:r>
                    </a:p>
                  </a:txBody>
                  <a:tcPr marL="91440" marR="91440" marT="45720" marB="45720" anchor="t">
                    <a:lnR w="9525">
                      <a:solidFill>
                        <a:srgbClr val="D5DFEA"/>
                      </a:solidFill>
                      <a:prstDash val="solid"/>
                    </a:lnR>
                    <a:lnB w="9525">
                      <a:solidFill>
                        <a:srgbClr val="D5DFEA"/>
                      </a:solidFill>
                      <a:prstDash val="solid"/>
                    </a:lnB>
                    <a:solidFill>
                      <a:srgbClr val="EDF3FA"/>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条件変化時の補正・判定の保留と引継ぎ</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品質と工具状態を見ながら調整する自律加工</a:t>
                      </a:r>
                    </a:p>
                  </a:txBody>
                  <a:tcPr marL="91440" marR="91440" marT="45720" marB="45720" anchor="t">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既存の補正・検査を比較対象に、条件変化の識別と保留・再計測・人への引継ぎを評価。</a:t>
                      </a:r>
                    </a:p>
                    <a:p>
                      <a:r>
                        <a:rPr sz="1875" b="0">
                          <a:solidFill>
                            <a:srgbClr val="182D43"/>
                          </a:solidFill>
                          <a:latin typeface="Noto Sans JP"/>
                          <a:ea typeface="Noto Sans JP"/>
                          <a:cs typeface="Noto Sans JP"/>
                        </a:rPr>
                        <a:t/>
                      </a:r>
                    </a:p>
                    <a:p>
                      <a:r>
                        <a:rPr sz="1875" b="0">
                          <a:solidFill>
                            <a:srgbClr val="182D43"/>
                          </a:solidFill>
                          <a:latin typeface="Noto Sans JP"/>
                          <a:ea typeface="Noto Sans JP"/>
                          <a:cs typeface="Noto Sans JP"/>
                        </a:rPr>
                        <a:t>誤差と異常データが取れ、標準機能の未対応が確認できた場合のみ着手。</a:t>
                      </a:r>
                    </a:p>
                  </a:txBody>
                  <a:tcPr marL="91440" marR="91440" marT="45720" marB="45720" anchor="t">
                    <a:lnR w="9525">
                      <a:solidFill>
                        <a:srgbClr val="D5DFEA"/>
                      </a:solidFill>
                      <a:prstDash val="solid"/>
                    </a:lnR>
                    <a:lnB w="9525">
                      <a:solidFill>
                        <a:srgbClr val="D5DFEA"/>
                      </a:solidFill>
                      <a:prstDash val="solid"/>
                    </a:lnB>
                    <a:solidFill>
                      <a:srgbClr val="FFFFFF"/>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変動する物理作業の完了確認・失敗引継ぎ</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多品種の付帯作業を担うフィジカルAI</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切粉除去等の1作業で、認識・動作・完了確認と再試行/停止/人の介入を比較する。</a:t>
                      </a:r>
                    </a:p>
                    <a:p>
                      <a:r>
                        <a:rPr sz="1875" b="0">
                          <a:solidFill>
                            <a:srgbClr val="182D43"/>
                          </a:solidFill>
                          <a:latin typeface="Noto Sans JP"/>
                          <a:ea typeface="Noto Sans JP"/>
                          <a:cs typeface="Noto Sans JP"/>
                        </a:rPr>
                        <a:t/>
                      </a:r>
                    </a:p>
                    <a:p>
                      <a:r>
                        <a:rPr sz="1875" b="0">
                          <a:solidFill>
                            <a:srgbClr val="182D43"/>
                          </a:solidFill>
                          <a:latin typeface="Noto Sans JP"/>
                          <a:ea typeface="Noto Sans JP"/>
                          <a:cs typeface="Noto Sans JP"/>
                        </a:rPr>
                        <a:t>許容動作、停止条件、実機・ワークが得られること。既存機能で足りれば研究しない。</a:t>
                      </a:r>
                    </a:p>
                  </a:txBody>
                  <a:tcPr marL="91440" marR="91440" marT="45720" marB="45720" anchor="t">
                    <a:lnR w="9525">
                      <a:solidFill>
                        <a:srgbClr val="D5DFEA"/>
                      </a:solidFill>
                      <a:prstDash val="solid"/>
                    </a:lnR>
                    <a:lnB w="9525">
                      <a:solidFill>
                        <a:srgbClr val="D5DFEA"/>
                      </a:solidFill>
                      <a:prstDash val="solid"/>
                    </a:lnB>
                    <a:solidFill>
                      <a:srgbClr val="EDF3FA"/>
                    </a:solidFill>
                  </a:tcPr>
                </a:tc>
              </a:tr>
            </a:tbl>
          </a:graphicData>
        </a:graphic>
      </p:graphicFrame>
    </p:spTree>
    <p:extLst>
      <p:ext uri="{BB962C8B-B14F-4D97-AF65-F5344CB8AC3E}">
        <p14:creationId xmlns:p14="http://schemas.microsoft.com/office/powerpoint/2010/main" val="2076566217"/>
      </p:ext>
    </p:extLst>
  </p:cSld>
</p:sld>
</file>

<file path=ppt/slides/slide36.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9959FDB-45D1-4932-B5DD-6B207C755929}"/>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補足：以前の研究候補の位置づけ　2/2</a:t>
            </a:r>
          </a:p>
        </p:txBody>
      </p:sp>
      <p:sp>
        <p:nvSpPr>
          <p:cNvPr id="2" name="sub">
            <a:extLst xmlns:a="http://schemas.openxmlformats.org/drawingml/2006/main">
              <a:ext uri="{FF2B5EF4-FFF2-40B4-BE49-F238E27FC236}">
                <a16:creationId xmlns:a16="http://schemas.microsoft.com/office/drawing/2014/main" id="{7218175E-48C2-4E92-A009-315ECBAEC966}"/>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大テーマの実装・評価を詰める下位課題として保存。大テーマの提案とは粒度を分ける。</a:t>
            </a:r>
          </a:p>
        </p:txBody>
      </p:sp>
      <p:sp>
        <p:nvSpPr>
          <p:cNvPr id="3" name="page">
            <a:extLst xmlns:a="http://schemas.openxmlformats.org/drawingml/2006/main">
              <a:ext uri="{FF2B5EF4-FFF2-40B4-BE49-F238E27FC236}">
                <a16:creationId xmlns:a16="http://schemas.microsoft.com/office/drawing/2014/main" id="{7FDD6090-7AF2-4DAF-8714-D720C7313A70}"/>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36</a:t>
            </a:r>
          </a:p>
        </p:txBody>
      </p:sp>
      <p:graphicFrame>
        <p:nvGraphicFramePr>
          <p:cNvPr id="4" name="">
            <a:extLst xmlns:a="http://schemas.openxmlformats.org/drawingml/2006/main">
              <a:ext uri="{FF2B5EF4-FFF2-40B4-BE49-F238E27FC236}">
                <a16:creationId xmlns:a16="http://schemas.microsoft.com/office/drawing/2014/main" id="{6823200B-682D-48CD-A2E7-8AE2938AFB52}"/>
              </a:ext>
            </a:extLst>
          </p:cNvPr>
          <p:cNvGraphicFramePr/>
          <p:nvPr/>
        </p:nvGraphicFramePr>
        <p:xfrm>
          <a:off xmlns:a="http://schemas.openxmlformats.org/drawingml/2006/main" x="609600" y="2143125"/>
          <a:ext xmlns:a="http://schemas.openxmlformats.org/drawingml/2006/main" cx="17068800" cy="5181600"/>
        </p:xfrm>
        <a:graphic xmlns:a="http://schemas.openxmlformats.org/drawingml/2006/main">
          <a:graphicData uri="http://schemas.openxmlformats.org/drawingml/2006/table">
            <a:tbl>
              <a:tblPr/>
              <a:tblGrid>
                <a:gridCol w="4191000"/>
                <a:gridCol w="4095750"/>
                <a:gridCol w="8782050"/>
              </a:tblGrid>
              <a:tr h="628650">
                <a:tc>
                  <a:txBody>
                    <a:bodyPr wrap="square" lIns="123825" tIns="123825" rIns="123825" bIns="123825">
                      <a:noAutofit/>
                    </a:bodyPr>
                    <a:lstStyle/>
                    <a:p>
                      <a:r>
                        <a:rPr sz="1950" b="1">
                          <a:solidFill>
                            <a:srgbClr val="FFFFFF"/>
                          </a:solidFill>
                          <a:latin typeface="Noto Sans JP"/>
                          <a:ea typeface="Noto Sans JP"/>
                          <a:cs typeface="Noto Sans JP"/>
                        </a:rPr>
                        <a:t>個別課題</a:t>
                      </a:r>
                    </a:p>
                  </a:txBody>
                  <a:tcPr marL="91440" marR="91440" marT="45720" marB="45720" anchor="t">
                    <a:lnL w="9525">
                      <a:solidFill>
                        <a:srgbClr val="D5DFEA"/>
                      </a:solidFill>
                      <a:prstDash val="solid"/>
                    </a:lnL>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関連する開発の大テーマ</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c>
                  <a:txBody>
                    <a:bodyPr wrap="square" lIns="123825" tIns="123825" rIns="123825" bIns="123825">
                      <a:noAutofit/>
                    </a:bodyPr>
                    <a:lstStyle/>
                    <a:p>
                      <a:r>
                        <a:rPr sz="1950" b="1">
                          <a:solidFill>
                            <a:srgbClr val="FFFFFF"/>
                          </a:solidFill>
                          <a:latin typeface="Noto Sans JP"/>
                          <a:ea typeface="Noto Sans JP"/>
                          <a:cs typeface="Noto Sans JP"/>
                        </a:rPr>
                        <a:t>残る仮説・具体的な検討</a:t>
                      </a:r>
                    </a:p>
                  </a:txBody>
                  <a:tcPr marL="91440" marR="91440" marT="45720" marB="45720" anchor="t">
                    <a:lnR w="9525">
                      <a:solidFill>
                        <a:srgbClr val="D5DFEA"/>
                      </a:solidFill>
                      <a:prstDash val="solid"/>
                    </a:lnR>
                    <a:lnT w="9525">
                      <a:solidFill>
                        <a:srgbClr val="D5DFEA"/>
                      </a:solidFill>
                      <a:prstDash val="solid"/>
                    </a:lnT>
                    <a:lnB w="9525">
                      <a:solidFill>
                        <a:srgbClr val="D5DFEA"/>
                      </a:solidFill>
                      <a:prstDash val="solid"/>
                    </a:lnB>
                    <a:solidFill>
                      <a:srgbClr val="223E5C"/>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限定されたエージェント指令の実行管理</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現場の変化に対応する工場運用AI</a:t>
                      </a:r>
                    </a:p>
                  </a:txBody>
                  <a:tcPr marL="91440" marR="91440" marT="45720" marB="45720" anchor="t">
                    <a:lnR w="9525">
                      <a:solidFill>
                        <a:srgbClr val="D5DFEA"/>
                      </a:solidFill>
                      <a:prstDash val="solid"/>
                    </a:lnR>
                    <a:lnB w="9525">
                      <a:solidFill>
                        <a:srgbClr val="D5DFEA"/>
                      </a:solidFill>
                      <a:prstDash val="solid"/>
                    </a:lnB>
                    <a:solidFill>
                      <a:srgbClr val="EDF3FA"/>
                    </a:solidFill>
                  </a:tcPr>
                </a:tc>
                <a:tc>
                  <a:txBody>
                    <a:bodyPr wrap="square" lIns="123825" tIns="123825" rIns="123825" bIns="123825">
                      <a:noAutofit/>
                    </a:bodyPr>
                    <a:lstStyle/>
                    <a:p>
                      <a:r>
                        <a:rPr sz="1875" b="0">
                          <a:solidFill>
                            <a:srgbClr val="182D43"/>
                          </a:solidFill>
                          <a:latin typeface="Noto Sans JP"/>
                          <a:ea typeface="Noto Sans JP"/>
                          <a:cs typeface="Noto Sans JP"/>
                        </a:rPr>
                        <a:t>1種類の指令で状態確認・承認・結果照合を扱い、通信断後の再送を含め比較。</a:t>
                      </a:r>
                    </a:p>
                    <a:p>
                      <a:r>
                        <a:rPr sz="1875" b="0">
                          <a:solidFill>
                            <a:srgbClr val="182D43"/>
                          </a:solidFill>
                          <a:latin typeface="Noto Sans JP"/>
                          <a:ea typeface="Noto Sans JP"/>
                          <a:cs typeface="Noto Sans JP"/>
                        </a:rPr>
                        <a:t/>
                      </a:r>
                    </a:p>
                    <a:p>
                      <a:r>
                        <a:rPr sz="1875" b="0">
                          <a:solidFill>
                            <a:srgbClr val="182D43"/>
                          </a:solidFill>
                          <a:latin typeface="Noto Sans JP"/>
                          <a:ea typeface="Noto Sans JP"/>
                          <a:cs typeface="Noto Sans JP"/>
                        </a:rPr>
                        <a:t>API、権限モデル、状態取得が確認できるまで保留。</a:t>
                      </a:r>
                    </a:p>
                  </a:txBody>
                  <a:tcPr marL="91440" marR="91440" marT="45720" marB="45720" anchor="t">
                    <a:lnR w="9525">
                      <a:solidFill>
                        <a:srgbClr val="D5DFEA"/>
                      </a:solidFill>
                      <a:prstDash val="solid"/>
                    </a:lnR>
                    <a:lnB w="9525">
                      <a:solidFill>
                        <a:srgbClr val="D5DFEA"/>
                      </a:solidFill>
                      <a:prstDash val="solid"/>
                    </a:lnB>
                    <a:solidFill>
                      <a:srgbClr val="EDF3FA"/>
                    </a:solidFill>
                  </a:tcPr>
                </a:tc>
              </a:tr>
              <a:tr h="2276475">
                <a:tc>
                  <a:txBody>
                    <a:bodyPr wrap="square" lIns="123825" tIns="123825" rIns="123825" bIns="123825">
                      <a:noAutofit/>
                    </a:bodyPr>
                    <a:lstStyle/>
                    <a:p>
                      <a:r>
                        <a:rPr sz="1875" b="1">
                          <a:solidFill>
                            <a:srgbClr val="182D43"/>
                          </a:solidFill>
                          <a:latin typeface="Noto Sans JP"/>
                          <a:ea typeface="Noto Sans JP"/>
                          <a:cs typeface="Noto Sans JP"/>
                        </a:rPr>
                        <a:t>物理学習用データの実機との差の評価</a:t>
                      </a:r>
                    </a:p>
                  </a:txBody>
                  <a:tcPr marL="91440" marR="91440" marT="45720" marB="45720" anchor="t">
                    <a:lnL w="9525">
                      <a:solidFill>
                        <a:srgbClr val="D5DFEA"/>
                      </a:solidFill>
                      <a:prstDash val="solid"/>
                    </a:lnL>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多品種の付帯作業を担うフィジカルAI</a:t>
                      </a:r>
                    </a:p>
                  </a:txBody>
                  <a:tcPr marL="91440" marR="91440" marT="45720" marB="45720" anchor="t">
                    <a:lnR w="9525">
                      <a:solidFill>
                        <a:srgbClr val="D5DFEA"/>
                      </a:solidFill>
                      <a:prstDash val="solid"/>
                    </a:lnR>
                    <a:lnB w="9525">
                      <a:solidFill>
                        <a:srgbClr val="D5DFEA"/>
                      </a:solidFill>
                      <a:prstDash val="solid"/>
                    </a:lnB>
                    <a:solidFill>
                      <a:srgbClr val="FFFFFF"/>
                    </a:solidFill>
                  </a:tcPr>
                </a:tc>
                <a:tc>
                  <a:txBody>
                    <a:bodyPr wrap="square" lIns="123825" tIns="123825" rIns="123825" bIns="123825">
                      <a:noAutofit/>
                    </a:bodyPr>
                    <a:lstStyle/>
                    <a:p>
                      <a:r>
                        <a:rPr sz="1875" b="0">
                          <a:solidFill>
                            <a:srgbClr val="182D43"/>
                          </a:solidFill>
                          <a:latin typeface="Noto Sans JP"/>
                          <a:ea typeface="Noto Sans JP"/>
                          <a:cs typeface="Noto Sans JP"/>
                        </a:rPr>
                        <a:t>実測属性と生成属性で同一タスクの結果を比較し、誤差に効く項目を特定。</a:t>
                      </a:r>
                    </a:p>
                    <a:p>
                      <a:r>
                        <a:rPr sz="1875" b="0">
                          <a:solidFill>
                            <a:srgbClr val="182D43"/>
                          </a:solidFill>
                          <a:latin typeface="Noto Sans JP"/>
                          <a:ea typeface="Noto Sans JP"/>
                          <a:cs typeface="Noto Sans JP"/>
                        </a:rPr>
                        <a:t/>
                      </a:r>
                    </a:p>
                    <a:p>
                      <a:r>
                        <a:rPr sz="1875" b="0">
                          <a:solidFill>
                            <a:srgbClr val="182D43"/>
                          </a:solidFill>
                          <a:latin typeface="Noto Sans JP"/>
                          <a:ea typeface="Noto Sans JP"/>
                          <a:cs typeface="Noto Sans JP"/>
                        </a:rPr>
                        <a:t>公開済みベンチ・検証機能の範囲を確認。実機データが取れなければ保留。</a:t>
                      </a:r>
                    </a:p>
                  </a:txBody>
                  <a:tcPr marL="91440" marR="91440" marT="45720" marB="45720" anchor="t">
                    <a:lnR w="9525">
                      <a:solidFill>
                        <a:srgbClr val="D5DFEA"/>
                      </a:solidFill>
                      <a:prstDash val="solid"/>
                    </a:lnR>
                    <a:lnB w="9525">
                      <a:solidFill>
                        <a:srgbClr val="D5DFEA"/>
                      </a:solidFill>
                      <a:prstDash val="solid"/>
                    </a:lnB>
                    <a:solidFill>
                      <a:srgbClr val="FFFFFF"/>
                    </a:solidFill>
                  </a:tcPr>
                </a:tc>
              </a:tr>
            </a:tbl>
          </a:graphicData>
        </a:graphic>
      </p:graphicFrame>
    </p:spTree>
    <p:extLst>
      <p:ext uri="{BB962C8B-B14F-4D97-AF65-F5344CB8AC3E}">
        <p14:creationId xmlns:p14="http://schemas.microsoft.com/office/powerpoint/2010/main" val="8891631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2026-10-18T13:18:26.8680000Z</dcterms:created>
  <dcterms:modified xsi:type="dcterms:W3CDTF">2026-10-18T13:18:26.8680000Z</dcterms:modified>
</coreProperties>
</file>