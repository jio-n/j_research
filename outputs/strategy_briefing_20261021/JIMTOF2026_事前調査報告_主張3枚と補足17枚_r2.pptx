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159964659242fb" /><Relationship Type="http://schemas.openxmlformats.org/officeDocument/2006/relationships/extended-properties" Target="/docProps/app.xml" Id="R5896dded3f394f75" /><Relationship Type="http://schemas.openxmlformats.org/officeDocument/2006/relationships/officeDocument" Target="/ppt/presentation.xml" Id="Rba401f5a712d47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52203570764ef5"/>
  </p:sldMasterIdLst>
  <p:notesMasterIdLst>
    <p:notesMasterId xmlns:r="http://schemas.openxmlformats.org/officeDocument/2006/relationships" r:id="R5ccc1f924bf141a0"/>
  </p:notesMasterIdLst>
  <p:sldIdLst>
    <p:sldId xmlns:r="http://schemas.openxmlformats.org/officeDocument/2006/relationships" id="256" r:id="Rd2d506799d0d4396"/>
    <p:sldId xmlns:r="http://schemas.openxmlformats.org/officeDocument/2006/relationships" id="257" r:id="Rb07c347f5ca646f9"/>
    <p:sldId xmlns:r="http://schemas.openxmlformats.org/officeDocument/2006/relationships" id="258" r:id="R1fb9e9deca29414b"/>
    <p:sldId xmlns:r="http://schemas.openxmlformats.org/officeDocument/2006/relationships" id="259" r:id="Ra6b152208de14873"/>
    <p:sldId xmlns:r="http://schemas.openxmlformats.org/officeDocument/2006/relationships" id="260" r:id="R477bac8e43da484f"/>
    <p:sldId xmlns:r="http://schemas.openxmlformats.org/officeDocument/2006/relationships" id="261" r:id="R602f5f576a374d94"/>
    <p:sldId xmlns:r="http://schemas.openxmlformats.org/officeDocument/2006/relationships" id="262" r:id="Rec7fca3c901d4342"/>
    <p:sldId xmlns:r="http://schemas.openxmlformats.org/officeDocument/2006/relationships" id="263" r:id="R68288d6c66f145db"/>
    <p:sldId xmlns:r="http://schemas.openxmlformats.org/officeDocument/2006/relationships" id="264" r:id="R06177ccb85e74972"/>
    <p:sldId xmlns:r="http://schemas.openxmlformats.org/officeDocument/2006/relationships" id="265" r:id="Rec3935109db344a1"/>
    <p:sldId xmlns:r="http://schemas.openxmlformats.org/officeDocument/2006/relationships" id="266" r:id="R70ecf7fda6494698"/>
    <p:sldId xmlns:r="http://schemas.openxmlformats.org/officeDocument/2006/relationships" id="267" r:id="R5dadd798b4cf484f"/>
    <p:sldId xmlns:r="http://schemas.openxmlformats.org/officeDocument/2006/relationships" id="268" r:id="R83deafcb096c4515"/>
    <p:sldId xmlns:r="http://schemas.openxmlformats.org/officeDocument/2006/relationships" id="269" r:id="Reb0958f1a56546c9"/>
    <p:sldId xmlns:r="http://schemas.openxmlformats.org/officeDocument/2006/relationships" id="270" r:id="Rd7ac8fce4c3b49f2"/>
    <p:sldId xmlns:r="http://schemas.openxmlformats.org/officeDocument/2006/relationships" id="271" r:id="Rd3597baba7344ed7"/>
    <p:sldId xmlns:r="http://schemas.openxmlformats.org/officeDocument/2006/relationships" id="272" r:id="R15e4e157f3a84400"/>
    <p:sldId xmlns:r="http://schemas.openxmlformats.org/officeDocument/2006/relationships" id="273" r:id="R3baafcafd6544963"/>
    <p:sldId xmlns:r="http://schemas.openxmlformats.org/officeDocument/2006/relationships" id="274" r:id="R4e06e13dbdb442eb"/>
    <p:sldId xmlns:r="http://schemas.openxmlformats.org/officeDocument/2006/relationships" id="275" r:id="R0b5438fcfcf94048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2ce1949c074f3d" /><Relationship Type="http://schemas.openxmlformats.org/officeDocument/2006/relationships/slideMaster" Target="/ppt/slideMasters/slideMaster1.xml" Id="Rd952203570764ef5" /><Relationship Type="http://schemas.openxmlformats.org/officeDocument/2006/relationships/notesMaster" Target="/ppt/notesMasters/notesMaster1.xml" Id="R5ccc1f924bf141a0" /><Relationship Type="http://schemas.openxmlformats.org/officeDocument/2006/relationships/presProps" Target="/ppt/presProps.xml" Id="R6ac97f88ee86435f" /><Relationship Type="http://schemas.openxmlformats.org/officeDocument/2006/relationships/tableStyles" Target="/ppt/tableStyles.xml" Id="R75c4679b191e4bba" /><Relationship Type="http://schemas.openxmlformats.org/officeDocument/2006/relationships/slide" Target="/ppt/slides/slide1.xml" Id="Rd2d506799d0d4396" /><Relationship Type="http://schemas.openxmlformats.org/officeDocument/2006/relationships/slide" Target="/ppt/slides/slide2.xml" Id="Rb07c347f5ca646f9" /><Relationship Type="http://schemas.openxmlformats.org/officeDocument/2006/relationships/slide" Target="/ppt/slides/slide3.xml" Id="R1fb9e9deca29414b" /><Relationship Type="http://schemas.openxmlformats.org/officeDocument/2006/relationships/slide" Target="/ppt/slides/slide4.xml" Id="Ra6b152208de14873" /><Relationship Type="http://schemas.openxmlformats.org/officeDocument/2006/relationships/slide" Target="/ppt/slides/slide5.xml" Id="R477bac8e43da484f" /><Relationship Type="http://schemas.openxmlformats.org/officeDocument/2006/relationships/slide" Target="/ppt/slides/slide6.xml" Id="R602f5f576a374d94" /><Relationship Type="http://schemas.openxmlformats.org/officeDocument/2006/relationships/slide" Target="/ppt/slides/slide7.xml" Id="Rec7fca3c901d4342" /><Relationship Type="http://schemas.openxmlformats.org/officeDocument/2006/relationships/slide" Target="/ppt/slides/slide8.xml" Id="R68288d6c66f145db" /><Relationship Type="http://schemas.openxmlformats.org/officeDocument/2006/relationships/slide" Target="/ppt/slides/slide9.xml" Id="R06177ccb85e74972" /><Relationship Type="http://schemas.openxmlformats.org/officeDocument/2006/relationships/slide" Target="/ppt/slides/slide10.xml" Id="Rec3935109db344a1" /><Relationship Type="http://schemas.openxmlformats.org/officeDocument/2006/relationships/slide" Target="/ppt/slides/slide11.xml" Id="R70ecf7fda6494698" /><Relationship Type="http://schemas.openxmlformats.org/officeDocument/2006/relationships/slide" Target="/ppt/slides/slide12.xml" Id="R5dadd798b4cf484f" /><Relationship Type="http://schemas.openxmlformats.org/officeDocument/2006/relationships/slide" Target="/ppt/slides/slide13.xml" Id="R83deafcb096c4515" /><Relationship Type="http://schemas.openxmlformats.org/officeDocument/2006/relationships/slide" Target="/ppt/slides/slide14.xml" Id="Reb0958f1a56546c9" /><Relationship Type="http://schemas.openxmlformats.org/officeDocument/2006/relationships/slide" Target="/ppt/slides/slide15.xml" Id="Rd7ac8fce4c3b49f2" /><Relationship Type="http://schemas.openxmlformats.org/officeDocument/2006/relationships/slide" Target="/ppt/slides/slide16.xml" Id="Rd3597baba7344ed7" /><Relationship Type="http://schemas.openxmlformats.org/officeDocument/2006/relationships/slide" Target="/ppt/slides/slide17.xml" Id="R15e4e157f3a84400" /><Relationship Type="http://schemas.openxmlformats.org/officeDocument/2006/relationships/slide" Target="/ppt/slides/slide18.xml" Id="R3baafcafd6544963" /><Relationship Type="http://schemas.openxmlformats.org/officeDocument/2006/relationships/slide" Target="/ppt/slides/slide19.xml" Id="R4e06e13dbdb442eb" /><Relationship Type="http://schemas.openxmlformats.org/officeDocument/2006/relationships/slide" Target="/ppt/slides/slide20.xml" Id="R0b5438fcfcf940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eff32a9a934f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51143e743d401c" /><Relationship Type="http://schemas.openxmlformats.org/officeDocument/2006/relationships/notesMaster" Target="/ppt/notesMasters/notesMaster1.xml" Id="R14f9fad5ea4543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0882591d664914" /><Relationship Type="http://schemas.openxmlformats.org/officeDocument/2006/relationships/notesMaster" Target="/ppt/notesMasters/notesMaster1.xml" Id="R59b6d4b5f63948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cd233410104e43" /><Relationship Type="http://schemas.openxmlformats.org/officeDocument/2006/relationships/notesMaster" Target="/ppt/notesMasters/notesMaster1.xml" Id="Rbfc5b5494d8b45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4cd765d79c4209" /><Relationship Type="http://schemas.openxmlformats.org/officeDocument/2006/relationships/notesMaster" Target="/ppt/notesMasters/notesMaster1.xml" Id="R7e019a1777e74f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2b1eef505543e6" /><Relationship Type="http://schemas.openxmlformats.org/officeDocument/2006/relationships/notesMaster" Target="/ppt/notesMasters/notesMaster1.xml" Id="R8e72485998cf47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52d70652bd45d1" /><Relationship Type="http://schemas.openxmlformats.org/officeDocument/2006/relationships/notesMaster" Target="/ppt/notesMasters/notesMaster1.xml" Id="R4f5b38689d934a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a136d0b2324644" /><Relationship Type="http://schemas.openxmlformats.org/officeDocument/2006/relationships/notesMaster" Target="/ppt/notesMasters/notesMaster1.xml" Id="Ra080cc4057ad4e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7cc3854adb4873" /><Relationship Type="http://schemas.openxmlformats.org/officeDocument/2006/relationships/notesMaster" Target="/ppt/notesMasters/notesMaster1.xml" Id="R127d0706a3f848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ea3305043f481f" /><Relationship Type="http://schemas.openxmlformats.org/officeDocument/2006/relationships/notesMaster" Target="/ppt/notesMasters/notesMaster1.xml" Id="Rae87a1f074f245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378a0baed0401a" /><Relationship Type="http://schemas.openxmlformats.org/officeDocument/2006/relationships/notesMaster" Target="/ppt/notesMasters/notesMaster1.xml" Id="R04fa4ce7a84543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f5c0ab1e6748ef" /><Relationship Type="http://schemas.openxmlformats.org/officeDocument/2006/relationships/notesMaster" Target="/ppt/notesMasters/notesMaster1.xml" Id="R79c6262acad54d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f1f7d188d24395" /><Relationship Type="http://schemas.openxmlformats.org/officeDocument/2006/relationships/notesMaster" Target="/ppt/notesMasters/notesMaster1.xml" Id="R928f06f007da4f9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684ce0788cc4bb6" /><Relationship Type="http://schemas.openxmlformats.org/officeDocument/2006/relationships/notesMaster" Target="/ppt/notesMasters/notesMaster1.xml" Id="Rf6ce0ad2b66045e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39b20f1f6fc4916" /><Relationship Type="http://schemas.openxmlformats.org/officeDocument/2006/relationships/notesMaster" Target="/ppt/notesMasters/notesMaster1.xml" Id="R5a45a3c97a034e2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04deb6e092140bd" /><Relationship Type="http://schemas.openxmlformats.org/officeDocument/2006/relationships/notesMaster" Target="/ppt/notesMasters/notesMaster1.xml" Id="R5ccac2fa780548e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426f30370b044ce" /><Relationship Type="http://schemas.openxmlformats.org/officeDocument/2006/relationships/notesMaster" Target="/ppt/notesMasters/notesMaster1.xml" Id="R84d1defa6136490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59b0f1f953e4185" /><Relationship Type="http://schemas.openxmlformats.org/officeDocument/2006/relationships/notesMaster" Target="/ppt/notesMasters/notesMaster1.xml" Id="Rb4acc3ca855b411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5350aea3e4645b2" /><Relationship Type="http://schemas.openxmlformats.org/officeDocument/2006/relationships/notesMaster" Target="/ppt/notesMasters/notesMaster1.xml" Id="R927e4f645600441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00fe1056dce435b" /><Relationship Type="http://schemas.openxmlformats.org/officeDocument/2006/relationships/notesMaster" Target="/ppt/notesMasters/notesMaster1.xml" Id="Rd6def04b10874f8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49b2d9523a04581" /><Relationship Type="http://schemas.openxmlformats.org/officeDocument/2006/relationships/notesMaster" Target="/ppt/notesMasters/notesMaster1.xml" Id="R139ea617609c43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JIMTOF2026 事前調査 2026年10月21日</a:t>
            </a:r>
          </a:p>
          <a:p xmlns:a="http://schemas.openxmlformats.org/drawingml/2006/main">
            <a:r>
              <a:t>現地調査・顧客実証は未実施。公開発表、展示予定、分析仮説を区別。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S01 産総研</a:t>
            </a:r>
          </a:p>
          <a:p xmlns:a="http://schemas.openxmlformats.org/drawingml/2006/main">
            <a:r>
              <a:t>製造AX拠点を始動</a:t>
            </a:r>
          </a:p>
          <a:p xmlns:a="http://schemas.openxmlformats.org/drawingml/2006/main">
            <a:r>
              <a:t>発表 2026-07-02</a:t>
            </a:r>
          </a:p>
          <a:p xmlns:a="http://schemas.openxmlformats.org/drawingml/2006/main">
            <a:r>
              <a:t>https://www.aist.go.jp/aist_j/news/pr20260702.html</a:t>
            </a:r>
          </a:p>
          <a:p xmlns:a="http://schemas.openxmlformats.org/drawingml/2006/main">
            <a:r>
              <a:t>該当箇所 「産総研を核とした製造AX拠点」「GENIAC事業の活用」</a:t>
            </a:r>
          </a:p>
          <a:p xmlns:a="http://schemas.openxmlformats.org/drawingml/2006/main">
            <a:r>
              <a:t>確認範囲 本文の該当節を確認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S04 ABEJA</a:t>
            </a:r>
          </a:p>
          <a:p xmlns:a="http://schemas.openxmlformats.org/drawingml/2006/main">
            <a:r>
              <a:t>マザックと製造現場のフィジカルAI実装に向けた業務連携</a:t>
            </a:r>
          </a:p>
          <a:p xmlns:a="http://schemas.openxmlformats.org/drawingml/2006/main">
            <a:r>
              <a:t>発表 2026-10-16</a:t>
            </a:r>
          </a:p>
          <a:p xmlns:a="http://schemas.openxmlformats.org/drawingml/2006/main">
            <a:r>
              <a:t>https://www.abejainc.com/news/20261016/2</a:t>
            </a:r>
          </a:p>
          <a:p xmlns:a="http://schemas.openxmlformats.org/drawingml/2006/main">
            <a:r>
              <a:t>該当箇所 共同開発の概要（1）〜（3）・今後の展望</a:t>
            </a:r>
          </a:p>
          <a:p xmlns:a="http://schemas.openxmlformats.org/drawingml/2006/main">
            <a:r>
              <a:t>確認範囲 本文の該当節を確認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S06 ファナック・日立</a:t>
            </a:r>
          </a:p>
          <a:p xmlns:a="http://schemas.openxmlformats.org/drawingml/2006/main">
            <a:r>
              <a:t>フィジカルAI実装の共同事業化に向けた戦略的パートナーシップ</a:t>
            </a:r>
          </a:p>
          <a:p xmlns:a="http://schemas.openxmlformats.org/drawingml/2006/main">
            <a:r>
              <a:t>発表 2026-09-30</a:t>
            </a:r>
          </a:p>
          <a:p xmlns:a="http://schemas.openxmlformats.org/drawingml/2006/main">
            <a:r>
              <a:t>https://www.fanuc.co.jp/ja/profile/pr/newsrelease/2026/news20260930.html</a:t>
            </a:r>
          </a:p>
          <a:p xmlns:a="http://schemas.openxmlformats.org/drawingml/2006/main">
            <a:r>
              <a:t>該当箇所 共同実証の概要・戦略的パートナーシップの背景</a:t>
            </a:r>
          </a:p>
          <a:p xmlns:a="http://schemas.openxmlformats.org/drawingml/2006/main">
            <a:r>
              <a:t>確認範囲 本文の該当節を確認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S11 Siemens</a:t>
            </a:r>
          </a:p>
          <a:p xmlns:a="http://schemas.openxmlformats.org/drawingml/2006/main">
            <a:r>
              <a:t>From agile to autonomous: adaptive production</a:t>
            </a:r>
          </a:p>
          <a:p xmlns:a="http://schemas.openxmlformats.org/drawingml/2006/main">
            <a:r>
              <a:t>発表 2026-07-08</a:t>
            </a:r>
          </a:p>
          <a:p xmlns:a="http://schemas.openxmlformats.org/drawingml/2006/main">
            <a:r>
              <a:t>https://blogs.sw.siemens.com/nx-manufacturing/from-agile-to-autonomous-building-adaptive-production-with-digital-twins-and-industrial-ai/</a:t>
            </a:r>
          </a:p>
          <a:p xmlns:a="http://schemas.openxmlformats.org/drawingml/2006/main">
            <a:r>
              <a:t>該当箇所 data continuity・always-live twin・scaling problem</a:t>
            </a:r>
          </a:p>
          <a:p xmlns:a="http://schemas.openxmlformats.org/drawingml/2006/main">
            <a:r>
              <a:t>確認範囲 本文の該当節を確認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S19 日本工作機械輸入協会</a:t>
            </a:r>
          </a:p>
          <a:p xmlns:a="http://schemas.openxmlformats.org/drawingml/2006/main">
            <a:r>
              <a:t>JMTIA NEWS 223号：2026年年頭所感</a:t>
            </a:r>
          </a:p>
          <a:p xmlns:a="http://schemas.openxmlformats.org/drawingml/2006/main">
            <a:r>
              <a:t>発表 2026</a:t>
            </a:r>
          </a:p>
          <a:p xmlns:a="http://schemas.openxmlformats.org/drawingml/2006/main">
            <a:r>
              <a:t>https://www.jmtia.gr.jp/uploads/photos1/286.pdf</a:t>
            </a:r>
          </a:p>
          <a:p xmlns:a="http://schemas.openxmlformats.org/drawingml/2006/main">
            <a:r>
              <a:t>該当箇所 PDF 3ページ目（印刷ページ2）、年頭所感</a:t>
            </a:r>
          </a:p>
          <a:p xmlns:a="http://schemas.openxmlformats.org/drawingml/2006/main">
            <a:r>
              <a:t>確認範囲 PDFの年頭所感のみ確認・全28ページ精読ではない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留保 個々の加工・固定自動化の高度化も続く。工場全体の自律運用が既に普及したという結論ではない。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JIMTOF2026 事前調査 2026年10月21日</a:t>
            </a:r>
          </a:p>
          <a:p xmlns:a="http://schemas.openxmlformats.org/drawingml/2006/main">
            <a:r>
              <a:t>現地調査・顧客実証は未実施。公開発表、展示予定、分析仮説を区別。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S01 産総研</a:t>
            </a:r>
          </a:p>
          <a:p xmlns:a="http://schemas.openxmlformats.org/drawingml/2006/main">
            <a:r>
              <a:t>製造AX拠点を始動</a:t>
            </a:r>
          </a:p>
          <a:p xmlns:a="http://schemas.openxmlformats.org/drawingml/2006/main">
            <a:r>
              <a:t>発表 2026-07-02</a:t>
            </a:r>
          </a:p>
          <a:p xmlns:a="http://schemas.openxmlformats.org/drawingml/2006/main">
            <a:r>
              <a:t>https://www.aist.go.jp/aist_j/news/pr20260702.html</a:t>
            </a:r>
          </a:p>
          <a:p xmlns:a="http://schemas.openxmlformats.org/drawingml/2006/main">
            <a:r>
              <a:t>該当箇所 「産総研を核とした製造AX拠点」「GENIAC事業の活用」</a:t>
            </a:r>
          </a:p>
          <a:p xmlns:a="http://schemas.openxmlformats.org/drawingml/2006/main">
            <a:r>
              <a:t>確認範囲 本文の該当節を確認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S03 MONOist／WALC・DMG森精機の取材発言</a:t>
            </a:r>
          </a:p>
          <a:p xmlns:a="http://schemas.openxmlformats.org/drawingml/2006/main">
            <a:r>
              <a:t>DMG森精機が挑む工作機械のフィジカルAI</a:t>
            </a:r>
          </a:p>
          <a:p xmlns:a="http://schemas.openxmlformats.org/drawingml/2006/main">
            <a:r>
              <a:t>発表 2026-07-08</a:t>
            </a:r>
          </a:p>
          <a:p xmlns:a="http://schemas.openxmlformats.org/drawingml/2006/main">
            <a:r>
              <a:t>https://monoist.itmedia.co.jp/mn/articles/2607/08/news026.html</a:t>
            </a:r>
          </a:p>
          <a:p xmlns:a="http://schemas.openxmlformats.org/drawingml/2006/main">
            <a:r>
              <a:t>該当箇所 「100社、1000台の設備から最大1kHz」「工作機械におけるフィジカルAIの姿」</a:t>
            </a:r>
          </a:p>
          <a:p xmlns:a="http://schemas.openxmlformats.org/drawingml/2006/main">
            <a:r>
              <a:t>確認範囲 本文の該当節を確認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S31 三菱電機・アーヘン工科大学</a:t>
            </a:r>
          </a:p>
          <a:p xmlns:a="http://schemas.openxmlformats.org/drawingml/2006/main">
            <a:r>
              <a:t>CNC上で加工誤差を補正するエッジデジタルツイン</a:t>
            </a:r>
          </a:p>
          <a:p xmlns:a="http://schemas.openxmlformats.org/drawingml/2006/main">
            <a:r>
              <a:t>発表 2026-03-25</a:t>
            </a:r>
          </a:p>
          <a:p xmlns:a="http://schemas.openxmlformats.org/drawingml/2006/main">
            <a:r>
              <a:t>https://www.mitsubishielectric.co.jp/ja/pr/2026/0325/</a:t>
            </a:r>
          </a:p>
          <a:p xmlns:a="http://schemas.openxmlformats.org/drawingml/2006/main">
            <a:r>
              <a:t>該当箇所 背景・データ選別とコンパクトな物理モデル</a:t>
            </a:r>
          </a:p>
          <a:p xmlns:a="http://schemas.openxmlformats.org/drawingml/2006/main">
            <a:r>
              <a:t>確認範囲 本文の該当節を確認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S35 Beckhoff</a:t>
            </a:r>
          </a:p>
          <a:p xmlns:a="http://schemas.openxmlformats.org/drawingml/2006/main">
            <a:r>
              <a:t>TwinCAT Machine Learning Creator: Workflows for users</a:t>
            </a:r>
          </a:p>
          <a:p xmlns:a="http://schemas.openxmlformats.org/drawingml/2006/main">
            <a:r>
              <a:t>発表 未記載</a:t>
            </a:r>
          </a:p>
          <a:p xmlns:a="http://schemas.openxmlformats.org/drawingml/2006/main">
            <a:r>
              <a:t>https://infosys.beckhoff.com/content/1033/te3850_tc3_machine_learning_creator/21561799691.html</a:t>
            </a:r>
          </a:p>
          <a:p xmlns:a="http://schemas.openxmlformats.org/drawingml/2006/main">
            <a:r>
              <a:t>該当箇所 Create a data set / Validate and analyze the model / Export model</a:t>
            </a:r>
          </a:p>
          <a:p xmlns:a="http://schemas.openxmlformats.org/drawingml/2006/main">
            <a:r>
              <a:t>確認範囲 検索結果の本文抽出を確認。直接オープンは取得失敗。公表日は検索エンジンの不整合な日付を採用せず未記載。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S38 産総研</a:t>
            </a:r>
          </a:p>
          <a:p xmlns:a="http://schemas.openxmlformats.org/drawingml/2006/main">
            <a:r>
              <a:t>少数データから短時間で現場環境に応じた最適加工条件を決定</a:t>
            </a:r>
          </a:p>
          <a:p xmlns:a="http://schemas.openxmlformats.org/drawingml/2006/main">
            <a:r>
              <a:t>発表 2022-01-17</a:t>
            </a:r>
          </a:p>
          <a:p xmlns:a="http://schemas.openxmlformats.org/drawingml/2006/main">
            <a:r>
              <a:t>https://www.aist.go.jp/aist_j/press_release/pr2022/pr20220117/pr20220117.html</a:t>
            </a:r>
          </a:p>
          <a:p xmlns:a="http://schemas.openxmlformats.org/drawingml/2006/main">
            <a:r>
              <a:t>該当箇所 研究の内容・今後の予定</a:t>
            </a:r>
          </a:p>
          <a:p xmlns:a="http://schemas.openxmlformats.org/drawingml/2006/main">
            <a:r>
              <a:t>確認範囲 本文の研究条件と限界を確認。切削や全工場へ一般化しない。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S39 産総研 製造基盤技術研究部門</a:t>
            </a:r>
          </a:p>
          <a:p xmlns:a="http://schemas.openxmlformats.org/drawingml/2006/main">
            <a:r>
              <a:t>Digital Manufacturing デジタルものづくり</a:t>
            </a:r>
          </a:p>
          <a:p xmlns:a="http://schemas.openxmlformats.org/drawingml/2006/main">
            <a:r>
              <a:t>発表 未記載</a:t>
            </a:r>
          </a:p>
          <a:p xmlns:a="http://schemas.openxmlformats.org/drawingml/2006/main">
            <a:r>
              <a:t>https://unit.aist.go.jp/cmt-ri/research-topics/digital-manufacturing.htm</a:t>
            </a:r>
          </a:p>
          <a:p xmlns:a="http://schemas.openxmlformats.org/drawingml/2006/main">
            <a:r>
              <a:t>該当箇所 研究の取り組み・研究の特色・注湯動作の計測とシミュレーション</a:t>
            </a:r>
          </a:p>
          <a:p xmlns:a="http://schemas.openxmlformats.org/drawingml/2006/main">
            <a:r>
              <a:t>確認範囲 本文の該当節を確認。最新の製品提供状況を示す資料ではない。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S40 三菱電機</a:t>
            </a:r>
          </a:p>
          <a:p xmlns:a="http://schemas.openxmlformats.org/drawingml/2006/main">
            <a:r>
              <a:t>少量の学習データで機器の劣化を高精度に推定する物理モデル組み込みAIを開発</a:t>
            </a:r>
          </a:p>
          <a:p xmlns:a="http://schemas.openxmlformats.org/drawingml/2006/main">
            <a:r>
              <a:t>発表 2025-12-10</a:t>
            </a:r>
          </a:p>
          <a:p xmlns:a="http://schemas.openxmlformats.org/drawingml/2006/main">
            <a:r>
              <a:t>https://www.mitsubishielectric.co.jp/ja/pr/2025/pdf/1210.pdf</a:t>
            </a:r>
          </a:p>
          <a:p xmlns:a="http://schemas.openxmlformats.org/drawingml/2006/main">
            <a:r>
              <a:t>該当箇所 PDF 1–3ページ：物理モデルと追加学習・適用対象</a:t>
            </a:r>
          </a:p>
          <a:p xmlns:a="http://schemas.openxmlformats.org/drawingml/2006/main">
            <a:r>
              <a:t>確認範囲 PDF本文の抽出テキストを確認。図の視覚的な確認は未実施。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留保 開発候補は分析仮説。自社能力・顧客の支払意思・既存サービスとの差は未確認。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JIMTOF2026 事前調査 2026年10月21日</a:t>
            </a:r>
          </a:p>
          <a:p xmlns:a="http://schemas.openxmlformats.org/drawingml/2006/main">
            <a:r>
              <a:t>現地調査・顧客実証は未実施。公開発表、展示予定、分析仮説を区別。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S02 DMG森精機</a:t>
            </a:r>
          </a:p>
          <a:p xmlns:a="http://schemas.openxmlformats.org/drawingml/2006/main">
            <a:r>
              <a:t>GENIAC事業に採択：生産設備データエコシステムと製造フィジカルAI基盤</a:t>
            </a:r>
          </a:p>
          <a:p xmlns:a="http://schemas.openxmlformats.org/drawingml/2006/main">
            <a:r>
              <a:t>発表 2026-07-06</a:t>
            </a:r>
          </a:p>
          <a:p xmlns:a="http://schemas.openxmlformats.org/drawingml/2006/main">
            <a:r>
              <a:t>https://www.dmgmori.co.jp/corporate/news/2026/20260706_geniac.html</a:t>
            </a:r>
          </a:p>
          <a:p xmlns:a="http://schemas.openxmlformats.org/drawingml/2006/main">
            <a:r>
              <a:t>該当箇所 協力企業・設備数、データ整備、権利処理の段落</a:t>
            </a:r>
          </a:p>
          <a:p xmlns:a="http://schemas.openxmlformats.org/drawingml/2006/main">
            <a:r>
              <a:t>確認範囲 検索結果の本文抽出を確認・直接オープン未確認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S05 MONOist／マザックの取材発言</a:t>
            </a:r>
          </a:p>
          <a:p xmlns:a="http://schemas.openxmlformats.org/drawingml/2006/main">
            <a:r>
              <a:t>加工の工程設計をAIエージェントで自動化</a:t>
            </a:r>
          </a:p>
          <a:p xmlns:a="http://schemas.openxmlformats.org/drawingml/2006/main">
            <a:r>
              <a:t>発表 2026-10-19</a:t>
            </a:r>
          </a:p>
          <a:p xmlns:a="http://schemas.openxmlformats.org/drawingml/2006/main">
            <a:r>
              <a:t>https://monoist.itmedia.co.jp/mn/articles/2610/19/news039_2.html</a:t>
            </a:r>
          </a:p>
          <a:p xmlns:a="http://schemas.openxmlformats.org/drawingml/2006/main">
            <a:r>
              <a:t>該当箇所 「人の『意図』を学習」「ノウハウを学び固有モデルへ」</a:t>
            </a:r>
          </a:p>
          <a:p xmlns:a="http://schemas.openxmlformats.org/drawingml/2006/main">
            <a:r>
              <a:t>確認範囲 本文の該当節を確認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S16 umati</a:t>
            </a:r>
          </a:p>
          <a:p xmlns:a="http://schemas.openxmlformats.org/drawingml/2006/main">
            <a:r>
              <a:t>About: vision, promise, mission</a:t>
            </a:r>
          </a:p>
          <a:p xmlns:a="http://schemas.openxmlformats.org/drawingml/2006/main">
            <a:r>
              <a:t>発表 </a:t>
            </a:r>
          </a:p>
          <a:p xmlns:a="http://schemas.openxmlformats.org/drawingml/2006/main">
            <a:r>
              <a:t>https://umati.org/about/</a:t>
            </a:r>
          </a:p>
          <a:p xmlns:a="http://schemas.openxmlformats.org/drawingml/2006/main">
            <a:r>
              <a:t>該当箇所 vision・promise・setting the standard</a:t>
            </a:r>
          </a:p>
          <a:p xmlns:a="http://schemas.openxmlformats.org/drawingml/2006/main">
            <a:r>
              <a:t>確認範囲 本文の該当節を確認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S26 DMG森精機</a:t>
            </a:r>
          </a:p>
          <a:p xmlns:a="http://schemas.openxmlformats.org/drawingml/2006/main">
            <a:r>
              <a:t>CELOS ClubにCondition Agentを搭載</a:t>
            </a:r>
          </a:p>
          <a:p xmlns:a="http://schemas.openxmlformats.org/drawingml/2006/main">
            <a:r>
              <a:t>発表 2026-07-06</a:t>
            </a:r>
          </a:p>
          <a:p xmlns:a="http://schemas.openxmlformats.org/drawingml/2006/main">
            <a:r>
              <a:t>https://www.dmgmori.co.jp/corporate/news/2026/20260706_conditionagent.html</a:t>
            </a:r>
          </a:p>
          <a:p xmlns:a="http://schemas.openxmlformats.org/drawingml/2006/main">
            <a:r>
              <a:t>該当箇所 サービスの導入・標準搭載・予兆保全の説明</a:t>
            </a:r>
          </a:p>
          <a:p xmlns:a="http://schemas.openxmlformats.org/drawingml/2006/main">
            <a:r>
              <a:t>確認範囲 検索結果の本文抽出を確認・直接本文未確認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S27 DMG森精機</a:t>
            </a:r>
          </a:p>
          <a:p xmlns:a="http://schemas.openxmlformats.org/drawingml/2006/main">
            <a:r>
              <a:t>2026年度上半期決算リリース</a:t>
            </a:r>
          </a:p>
          <a:p xmlns:a="http://schemas.openxmlformats.org/drawingml/2006/main">
            <a:r>
              <a:t>発表 2026-08-04</a:t>
            </a:r>
          </a:p>
          <a:p xmlns:a="http://schemas.openxmlformats.org/drawingml/2006/main">
            <a:r>
              <a:t>https://www.dmgmori.co.jp/corporate/ir/ir_news/2026/20260804_release.html</a:t>
            </a:r>
          </a:p>
          <a:p xmlns:a="http://schemas.openxmlformats.org/drawingml/2006/main">
            <a:r>
              <a:t>該当箇所 MRO等の利益率寄与・Machining Intelligence・GENIAC</a:t>
            </a:r>
          </a:p>
          <a:p xmlns:a="http://schemas.openxmlformats.org/drawingml/2006/main">
            <a:r>
              <a:t>確認範囲 検索結果の本文抽出を確認・直接本文未確認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S36 Beckhoff</a:t>
            </a:r>
          </a:p>
          <a:p xmlns:a="http://schemas.openxmlformats.org/drawingml/2006/main">
            <a:r>
              <a:t>TwinCAT Machine Learning Creator: Licensing</a:t>
            </a:r>
          </a:p>
          <a:p xmlns:a="http://schemas.openxmlformats.org/drawingml/2006/main">
            <a:r>
              <a:t>発表 未記載</a:t>
            </a:r>
          </a:p>
          <a:p xmlns:a="http://schemas.openxmlformats.org/drawingml/2006/main">
            <a:r>
              <a:t>https://infosys.beckhoff.com/content/1033/te3850_tc3_machine_learning_creator/21561794187.html</a:t>
            </a:r>
          </a:p>
          <a:p xmlns:a="http://schemas.openxmlformats.org/drawingml/2006/main">
            <a:r>
              <a:t>該当箇所 Overview / ライセンス別の外部ONNX出力と計算資源</a:t>
            </a:r>
          </a:p>
          <a:p xmlns:a="http://schemas.openxmlformats.org/drawingml/2006/main">
            <a:r>
              <a:t>確認範囲 検索結果の本文抽出を確認。直接オープンは取得失敗。現行契約への適用は商談で再確認が必要。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留保 AI精度向上から継続課金の収益性向上までの因果は未検証。外部データの利用・参加条件も個別確認が必要。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JIMTOF2026 事前調査 2026年10月21日</a:t>
            </a:r>
          </a:p>
          <a:p xmlns:a="http://schemas.openxmlformats.org/drawingml/2006/main">
            <a:r>
              <a:t>現地調査・顧客実証は未実施。公開発表、展示予定、分析仮説を区別。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入力 data/exhibitors_2024_with_details.csv / data/exhibitors_2026_with_details.csv</a:t>
            </a:r>
          </a:p>
          <a:p xmlns:a="http://schemas.openxmlformats.org/drawingml/2006/main">
            <a:r>
              <a:t>集計 data/research/macro_20261019/census.json</a:t>
            </a:r>
          </a:p>
          <a:p xmlns:a="http://schemas.openxmlformats.org/drawingml/2006/main">
            <a:r>
              <a:t>技術 data/research/report_v0/matrix_classification.json</a:t>
            </a:r>
          </a:p>
          <a:p xmlns:a="http://schemas.openxmlformats.org/drawingml/2006/main">
            <a:r>
              <a:t>最新レビュー data/research/strategy_review_20261021/strategy_review.json</a:t>
            </a:r>
          </a:p>
          <a:p xmlns:a="http://schemas.openxmlformats.org/drawingml/2006/main">
            <a:r>
              <a:t>https://github.com/jio-n/J_research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留保 出典：年度別公式CSV、既存技術台帳、戦略レビュー。集計規則・入力ハッシュと全行監査CSVをGitHubに収録。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JIMTOF2026 事前調査 2026年10月21日</a:t>
            </a:r>
          </a:p>
          <a:p xmlns:a="http://schemas.openxmlformats.org/drawingml/2006/main">
            <a:r>
              <a:t>現地調査・顧客実証は未実施。公開発表、展示予定、分析仮説を区別。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元データ data/research/strategy_review_20261021/macro_wording_signals.csv</a:t>
            </a:r>
          </a:p>
          <a:p xmlns:a="http://schemas.openxmlformats.org/drawingml/2006/main">
            <a:r>
              <a:t>規則 data/research/macro_20261019/census.json</a:t>
            </a:r>
          </a:p>
          <a:p xmlns:a="http://schemas.openxmlformats.org/drawingml/2006/main">
            <a:r>
              <a:t>AI明示: 2024=22, 2026=40</a:t>
            </a:r>
          </a:p>
          <a:p xmlns:a="http://schemas.openxmlformats.org/drawingml/2006/main">
            <a:r>
              <a:t>生成AIとエージェント: 2024=0, 2026=5</a:t>
            </a:r>
          </a:p>
          <a:p xmlns:a="http://schemas.openxmlformats.org/drawingml/2006/main">
            <a:r>
              <a:t>フィジカルAI明示: 2024=0, 2026=7</a:t>
            </a:r>
          </a:p>
          <a:p xmlns:a="http://schemas.openxmlformats.org/drawingml/2006/main">
            <a:r>
              <a:t>自動化と省人化: 2024=172, 2026=193</a:t>
            </a:r>
          </a:p>
          <a:p xmlns:a="http://schemas.openxmlformats.org/drawingml/2006/main">
            <a:r>
              <a:t>設計製造のデジタル化: 2024=43, 2026=39</a:t>
            </a:r>
          </a:p>
          <a:p xmlns:a="http://schemas.openxmlformats.org/drawingml/2006/main">
            <a:r>
              <a:t>工場運用とデータ連携: 2024=59, 2026=57</a:t>
            </a:r>
          </a:p>
          <a:p xmlns:a="http://schemas.openxmlformats.org/drawingml/2006/main">
            <a:r>
              <a:t>状態監視と補正: 2024=31, 2026=26</a:t>
            </a:r>
          </a:p>
          <a:p xmlns:a="http://schemas.openxmlformats.org/drawingml/2006/main">
            <a:r>
              <a:t>自律の明示: 2024=4, 2026=6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留保 単位：名称キーの明示件数。重複分類あり。語の追加・削除には説明量・展示対象の差も含む。採用率ではない。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JIMTOF2026 事前調査 2026年10月21日</a:t>
            </a:r>
          </a:p>
          <a:p xmlns:a="http://schemas.openxmlformats.org/drawingml/2006/main">
            <a:r>
              <a:t>現地調査・顧客実証は未実施。公開発表、展示予定、分析仮説を区別。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S02 DMG森精機</a:t>
            </a:r>
          </a:p>
          <a:p xmlns:a="http://schemas.openxmlformats.org/drawingml/2006/main">
            <a:r>
              <a:t>GENIAC事業に採択：生産設備データエコシステムと製造フィジカルAI基盤</a:t>
            </a:r>
          </a:p>
          <a:p xmlns:a="http://schemas.openxmlformats.org/drawingml/2006/main">
            <a:r>
              <a:t>発表 2026-07-06</a:t>
            </a:r>
          </a:p>
          <a:p xmlns:a="http://schemas.openxmlformats.org/drawingml/2006/main">
            <a:r>
              <a:t>https://www.dmgmori.co.jp/corporate/news/2026/20260706_geniac.html</a:t>
            </a:r>
          </a:p>
          <a:p xmlns:a="http://schemas.openxmlformats.org/drawingml/2006/main">
            <a:r>
              <a:t>該当箇所 協力企業・設備数、データ整備、権利処理の段落</a:t>
            </a:r>
          </a:p>
          <a:p xmlns:a="http://schemas.openxmlformats.org/drawingml/2006/main">
            <a:r>
              <a:t>確認範囲 検索結果の本文抽出を確認・直接オープン未確認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S03 MONOist／WALC・DMG森精機の取材発言</a:t>
            </a:r>
          </a:p>
          <a:p xmlns:a="http://schemas.openxmlformats.org/drawingml/2006/main">
            <a:r>
              <a:t>DMG森精機が挑む工作機械のフィジカルAI</a:t>
            </a:r>
          </a:p>
          <a:p xmlns:a="http://schemas.openxmlformats.org/drawingml/2006/main">
            <a:r>
              <a:t>発表 2026-07-08</a:t>
            </a:r>
          </a:p>
          <a:p xmlns:a="http://schemas.openxmlformats.org/drawingml/2006/main">
            <a:r>
              <a:t>https://monoist.itmedia.co.jp/mn/articles/2607/08/news026.html</a:t>
            </a:r>
          </a:p>
          <a:p xmlns:a="http://schemas.openxmlformats.org/drawingml/2006/main">
            <a:r>
              <a:t>該当箇所 「100社、1000台の設備から最大1kHz」「工作機械におけるフィジカルAIの姿」</a:t>
            </a:r>
          </a:p>
          <a:p xmlns:a="http://schemas.openxmlformats.org/drawingml/2006/main">
            <a:r>
              <a:t>確認範囲 本文の該当節を確認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S04 ABEJA</a:t>
            </a:r>
          </a:p>
          <a:p xmlns:a="http://schemas.openxmlformats.org/drawingml/2006/main">
            <a:r>
              <a:t>マザックと製造現場のフィジカルAI実装に向けた業務連携</a:t>
            </a:r>
          </a:p>
          <a:p xmlns:a="http://schemas.openxmlformats.org/drawingml/2006/main">
            <a:r>
              <a:t>発表 2026-10-16</a:t>
            </a:r>
          </a:p>
          <a:p xmlns:a="http://schemas.openxmlformats.org/drawingml/2006/main">
            <a:r>
              <a:t>https://www.abejainc.com/news/20261016/2</a:t>
            </a:r>
          </a:p>
          <a:p xmlns:a="http://schemas.openxmlformats.org/drawingml/2006/main">
            <a:r>
              <a:t>該当箇所 共同開発の概要（1）〜（3）・今後の展望</a:t>
            </a:r>
          </a:p>
          <a:p xmlns:a="http://schemas.openxmlformats.org/drawingml/2006/main">
            <a:r>
              <a:t>確認範囲 本文の該当節を確認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S05 MONOist／マザックの取材発言</a:t>
            </a:r>
          </a:p>
          <a:p xmlns:a="http://schemas.openxmlformats.org/drawingml/2006/main">
            <a:r>
              <a:t>加工の工程設計をAIエージェントで自動化</a:t>
            </a:r>
          </a:p>
          <a:p xmlns:a="http://schemas.openxmlformats.org/drawingml/2006/main">
            <a:r>
              <a:t>発表 2026-10-19</a:t>
            </a:r>
          </a:p>
          <a:p xmlns:a="http://schemas.openxmlformats.org/drawingml/2006/main">
            <a:r>
              <a:t>https://monoist.itmedia.co.jp/mn/articles/2610/19/news039_2.html</a:t>
            </a:r>
          </a:p>
          <a:p xmlns:a="http://schemas.openxmlformats.org/drawingml/2006/main">
            <a:r>
              <a:t>該当箇所 「人の『意図』を学習」「ノウハウを学び固有モデルへ」</a:t>
            </a:r>
          </a:p>
          <a:p xmlns:a="http://schemas.openxmlformats.org/drawingml/2006/main">
            <a:r>
              <a:t>確認範囲 本文の該当節を確認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S06 ファナック・日立</a:t>
            </a:r>
          </a:p>
          <a:p xmlns:a="http://schemas.openxmlformats.org/drawingml/2006/main">
            <a:r>
              <a:t>フィジカルAI実装の共同事業化に向けた戦略的パートナーシップ</a:t>
            </a:r>
          </a:p>
          <a:p xmlns:a="http://schemas.openxmlformats.org/drawingml/2006/main">
            <a:r>
              <a:t>発表 2026-09-30</a:t>
            </a:r>
          </a:p>
          <a:p xmlns:a="http://schemas.openxmlformats.org/drawingml/2006/main">
            <a:r>
              <a:t>https://www.fanuc.co.jp/ja/profile/pr/newsrelease/2026/news20260930.html</a:t>
            </a:r>
          </a:p>
          <a:p xmlns:a="http://schemas.openxmlformats.org/drawingml/2006/main">
            <a:r>
              <a:t>該当箇所 共同実証の概要・戦略的パートナーシップの背景</a:t>
            </a:r>
          </a:p>
          <a:p xmlns:a="http://schemas.openxmlformats.org/drawingml/2006/main">
            <a:r>
              <a:t>確認範囲 本文の該当節を確認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S07 MONOist／ファナックの取材発言</a:t>
            </a:r>
          </a:p>
          <a:p xmlns:a="http://schemas.openxmlformats.org/drawingml/2006/main">
            <a:r>
              <a:t>ファナックとフィジカルAI、現場主義の開発思想</a:t>
            </a:r>
          </a:p>
          <a:p xmlns:a="http://schemas.openxmlformats.org/drawingml/2006/main">
            <a:r>
              <a:t>発表 2026-07-02</a:t>
            </a:r>
          </a:p>
          <a:p xmlns:a="http://schemas.openxmlformats.org/drawingml/2006/main">
            <a:r>
              <a:t>https://monoist.itmedia.co.jp/mn/articles/2607/02/news043.html</a:t>
            </a:r>
          </a:p>
          <a:p xmlns:a="http://schemas.openxmlformats.org/drawingml/2006/main">
            <a:r>
              <a:t>該当箇所 全3ページ：開発思想、学習の横展開、オープン化、ソフトPLC</a:t>
            </a:r>
          </a:p>
          <a:p xmlns:a="http://schemas.openxmlformats.org/drawingml/2006/main">
            <a:r>
              <a:t>確認範囲 本文の該当節を確認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留保 基盤モデルという表現だけで、モデル構造の独占保有やゼロからの学習を断定しない。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JIMTOF2026 事前調査 2026年10月21日</a:t>
            </a:r>
          </a:p>
          <a:p xmlns:a="http://schemas.openxmlformats.org/drawingml/2006/main">
            <a:r>
              <a:t>現地調査・顧客実証は未実施。公開発表、展示予定、分析仮説を区別。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S01 産総研</a:t>
            </a:r>
          </a:p>
          <a:p xmlns:a="http://schemas.openxmlformats.org/drawingml/2006/main">
            <a:r>
              <a:t>製造AX拠点を始動</a:t>
            </a:r>
          </a:p>
          <a:p xmlns:a="http://schemas.openxmlformats.org/drawingml/2006/main">
            <a:r>
              <a:t>発表 2026-07-02</a:t>
            </a:r>
          </a:p>
          <a:p xmlns:a="http://schemas.openxmlformats.org/drawingml/2006/main">
            <a:r>
              <a:t>https://www.aist.go.jp/aist_j/news/pr20260702.html</a:t>
            </a:r>
          </a:p>
          <a:p xmlns:a="http://schemas.openxmlformats.org/drawingml/2006/main">
            <a:r>
              <a:t>該当箇所 「産総研を核とした製造AX拠点」「GENIAC事業の活用」</a:t>
            </a:r>
          </a:p>
          <a:p xmlns:a="http://schemas.openxmlformats.org/drawingml/2006/main">
            <a:r>
              <a:t>確認範囲 本文の該当節を確認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S10 NEC</a:t>
            </a:r>
          </a:p>
          <a:p xmlns:a="http://schemas.openxmlformats.org/drawingml/2006/main">
            <a:r>
              <a:t>AIネイティブに向けて進化する製造業変革コンセプトMX</a:t>
            </a:r>
          </a:p>
          <a:p xmlns:a="http://schemas.openxmlformats.org/drawingml/2006/main">
            <a:r>
              <a:t>発表 2026-08-19</a:t>
            </a:r>
          </a:p>
          <a:p xmlns:a="http://schemas.openxmlformats.org/drawingml/2006/main">
            <a:r>
              <a:t>https://jpn.nec.com/manufacture/monozukuri/iot_mono/2026-08/02.html</a:t>
            </a:r>
          </a:p>
          <a:p xmlns:a="http://schemas.openxmlformats.org/drawingml/2006/main">
            <a:r>
              <a:t>該当箇所 5つのバリューチェーン・AI-Ready Data・チェーン横断の協創空間</a:t>
            </a:r>
          </a:p>
          <a:p xmlns:a="http://schemas.openxmlformats.org/drawingml/2006/main">
            <a:r>
              <a:t>確認範囲 本文の該当節を確認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S11 Siemens</a:t>
            </a:r>
          </a:p>
          <a:p xmlns:a="http://schemas.openxmlformats.org/drawingml/2006/main">
            <a:r>
              <a:t>From agile to autonomous: adaptive production</a:t>
            </a:r>
          </a:p>
          <a:p xmlns:a="http://schemas.openxmlformats.org/drawingml/2006/main">
            <a:r>
              <a:t>発表 2026-07-08</a:t>
            </a:r>
          </a:p>
          <a:p xmlns:a="http://schemas.openxmlformats.org/drawingml/2006/main">
            <a:r>
              <a:t>https://blogs.sw.siemens.com/nx-manufacturing/from-agile-to-autonomous-building-adaptive-production-with-digital-twins-and-industrial-ai/</a:t>
            </a:r>
          </a:p>
          <a:p xmlns:a="http://schemas.openxmlformats.org/drawingml/2006/main">
            <a:r>
              <a:t>該当箇所 data continuity・always-live twin・scaling problem</a:t>
            </a:r>
          </a:p>
          <a:p xmlns:a="http://schemas.openxmlformats.org/drawingml/2006/main">
            <a:r>
              <a:t>確認範囲 本文の該当節を確認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S12 Siemens</a:t>
            </a:r>
          </a:p>
          <a:p xmlns:a="http://schemas.openxmlformats.org/drawingml/2006/main">
            <a:r>
              <a:t>CES 2026：産業用AI革命を加速するテクノロジー</a:t>
            </a:r>
          </a:p>
          <a:p xmlns:a="http://schemas.openxmlformats.org/drawingml/2006/main">
            <a:r>
              <a:t>発表 2026-01-06</a:t>
            </a:r>
          </a:p>
          <a:p xmlns:a="http://schemas.openxmlformats.org/drawingml/2006/main">
            <a:r>
              <a:t>https://press.siemens.com/jp/ja/pressrelease/pr-20260106-1</a:t>
            </a:r>
          </a:p>
          <a:p xmlns:a="http://schemas.openxmlformats.org/drawingml/2006/main">
            <a:r>
              <a:t>該当箇所 Digital Twin Composer・NVIDIA提携・バリューチェーンのCopilot</a:t>
            </a:r>
          </a:p>
          <a:p xmlns:a="http://schemas.openxmlformats.org/drawingml/2006/main">
            <a:r>
              <a:t>確認範囲 本文の該当節を確認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S22 オークマ</a:t>
            </a:r>
          </a:p>
          <a:p xmlns:a="http://schemas.openxmlformats.org/drawingml/2006/main">
            <a:r>
              <a:t>JIMTOF2026特設サイト</a:t>
            </a:r>
          </a:p>
          <a:p xmlns:a="http://schemas.openxmlformats.org/drawingml/2006/main">
            <a:r>
              <a:t>発表 </a:t>
            </a:r>
          </a:p>
          <a:p xmlns:a="http://schemas.openxmlformats.org/drawingml/2006/main">
            <a:r>
              <a:t>https://www.okuma.co.jp/english/show/jimtof/2026/</a:t>
            </a:r>
          </a:p>
          <a:p xmlns:a="http://schemas.openxmlformats.org/drawingml/2006/main">
            <a:r>
              <a:t>該当箇所 Three Solutions for Enhanced Productivity</a:t>
            </a:r>
          </a:p>
          <a:p xmlns:a="http://schemas.openxmlformats.org/drawingml/2006/main">
            <a:r>
              <a:t>確認範囲 本文の該当節を確認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S33 オムロン</a:t>
            </a:r>
          </a:p>
          <a:p xmlns:a="http://schemas.openxmlformats.org/drawingml/2006/main">
            <a:r>
              <a:t>IT-OT融合が切り拓く製造業のDX</a:t>
            </a:r>
          </a:p>
          <a:p xmlns:a="http://schemas.openxmlformats.org/drawingml/2006/main">
            <a:r>
              <a:t>発表 2026-09-18</a:t>
            </a:r>
          </a:p>
          <a:p xmlns:a="http://schemas.openxmlformats.org/drawingml/2006/main">
            <a:r>
              <a:t>https://www.omron.com/jp/ja/edge-link/news/769.html</a:t>
            </a:r>
          </a:p>
          <a:p xmlns:a="http://schemas.openxmlformats.org/drawingml/2006/main">
            <a:r>
              <a:t>該当箇所 IT-OT融合が進まない理由・共通言語化・i-BELT Hub</a:t>
            </a:r>
          </a:p>
          <a:p xmlns:a="http://schemas.openxmlformats.org/drawingml/2006/main">
            <a:r>
              <a:t>確認範囲 本文の該当節を確認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S39 産総研 製造基盤技術研究部門</a:t>
            </a:r>
          </a:p>
          <a:p xmlns:a="http://schemas.openxmlformats.org/drawingml/2006/main">
            <a:r>
              <a:t>Digital Manufacturing デジタルものづくり</a:t>
            </a:r>
          </a:p>
          <a:p xmlns:a="http://schemas.openxmlformats.org/drawingml/2006/main">
            <a:r>
              <a:t>発表 未記載</a:t>
            </a:r>
          </a:p>
          <a:p xmlns:a="http://schemas.openxmlformats.org/drawingml/2006/main">
            <a:r>
              <a:t>https://unit.aist.go.jp/cmt-ri/research-topics/digital-manufacturing.htm</a:t>
            </a:r>
          </a:p>
          <a:p xmlns:a="http://schemas.openxmlformats.org/drawingml/2006/main">
            <a:r>
              <a:t>該当箇所 研究の取り組み・研究の特色・注湯動作の計測とシミュレーション</a:t>
            </a:r>
          </a:p>
          <a:p xmlns:a="http://schemas.openxmlformats.org/drawingml/2006/main">
            <a:r>
              <a:t>確認範囲 本文の該当節を確認。最新の製品提供状況を示す資料ではない。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FC008 オークマ ARMROID／OMR20</a:t>
            </a:r>
          </a:p>
          <a:p xmlns:a="http://schemas.openxmlformats.org/drawingml/2006/main">
            <a:r>
              <a:t>ブース E3028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手動との切替と品種変更の介入範囲は未確認。</a:t>
            </a:r>
          </a:p>
          <a:p xmlns:a="http://schemas.openxmlformats.org/drawingml/2006/main">
            <a:r>
              <a:t>段階 JIMTOF2026公式カタログ掲載・現地未確認 / 2026展示予定・提供段階未確認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EOV-V003-2024-1 オークマ株式会社</a:t>
            </a:r>
          </a:p>
          <a:p xmlns:a="http://schemas.openxmlformats.org/drawingml/2006/main">
            <a:r>
              <a:t>JIMTOF2024公式カタログ：オークマ株式会社 (E6048)</a:t>
            </a:r>
          </a:p>
          <a:p xmlns:a="http://schemas.openxmlformats.org/drawingml/2006/main">
            <a:r>
              <a:t>https://www.jimtof.org/2024/search/jp/ESdetails?e=iFfGVH0vPS8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EOV-V003-2026-1 オークマ株式会社</a:t>
            </a:r>
          </a:p>
          <a:p xmlns:a="http://schemas.openxmlformats.org/drawingml/2006/main">
            <a:r>
              <a:t>JIMTOF2026公式カタログ：オークマ株式会社 (E3028)</a:t>
            </a:r>
          </a:p>
          <a:p xmlns:a="http://schemas.openxmlformats.org/drawingml/2006/main">
            <a:r>
              <a:t>https://www.jimtof.org/search/jp/ESdetails?e=30li0vWcseI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FC046 牧野フライス製作所 パレット自動化／MAS・ラインエンジニアリング</a:t>
            </a:r>
          </a:p>
          <a:p xmlns:a="http://schemas.openxmlformats.org/drawingml/2006/main">
            <a:r>
              <a:t>ブース E1024</a:t>
            </a:r>
          </a:p>
          <a:p xmlns:a="http://schemas.openxmlformats.org/drawingml/2006/main">
            <a:r>
              <a:t>確認深度 個別タスク整理</a:t>
            </a:r>
          </a:p>
          <a:p xmlns:a="http://schemas.openxmlformats.org/drawingml/2006/main">
            <a:r>
              <a:t>人の残作業 ラインの再計画・例外復帰の自律範囲は未確認</a:t>
            </a:r>
          </a:p>
          <a:p xmlns:a="http://schemas.openxmlformats.org/drawingml/2006/main">
            <a:r>
              <a:t>段階 JIMTOF2026公式カタログ掲載・現地未確認 / 2026展示予定・提供段階未確認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EOV-V027-2024-1 株式会社牧野フライス製作所</a:t>
            </a:r>
          </a:p>
          <a:p xmlns:a="http://schemas.openxmlformats.org/drawingml/2006/main">
            <a:r>
              <a:t>JIMTOF2024公式カタログ：株式会社牧野フライス製作所 (E3034)</a:t>
            </a:r>
          </a:p>
          <a:p xmlns:a="http://schemas.openxmlformats.org/drawingml/2006/main">
            <a:r>
              <a:t>https://www.jimtof.org/2024/search/jp/ESdetails?e=95Yl5dQv2vI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EOV-V027-2026-1 株式会社牧野フライス製作所</a:t>
            </a:r>
          </a:p>
          <a:p xmlns:a="http://schemas.openxmlformats.org/drawingml/2006/main">
            <a:r>
              <a:t>JIMTOF2026公式カタログ：株式会社牧野フライス製作所 (E1024)</a:t>
            </a:r>
          </a:p>
          <a:p xmlns:a="http://schemas.openxmlformats.org/drawingml/2006/main">
            <a:r>
              <a:t>https://www.jimtof.org/search/jp/ESdetails?e=M5OL10ECBTE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留保 戦略・研究構想と個別製品の実装は異なる。固定自動化や工程集約も全体像を支える既存の手段。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JIMTOF2026 事前調査 2026年10月21日</a:t>
            </a:r>
          </a:p>
          <a:p xmlns:a="http://schemas.openxmlformats.org/drawingml/2006/main">
            <a:r>
              <a:t>現地調査・顧客実証は未実施。公開発表、展示予定、分析仮説を区別。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S06 ファナック・日立</a:t>
            </a:r>
          </a:p>
          <a:p xmlns:a="http://schemas.openxmlformats.org/drawingml/2006/main">
            <a:r>
              <a:t>フィジカルAI実装の共同事業化に向けた戦略的パートナーシップ</a:t>
            </a:r>
          </a:p>
          <a:p xmlns:a="http://schemas.openxmlformats.org/drawingml/2006/main">
            <a:r>
              <a:t>発表 2026-09-30</a:t>
            </a:r>
          </a:p>
          <a:p xmlns:a="http://schemas.openxmlformats.org/drawingml/2006/main">
            <a:r>
              <a:t>https://www.fanuc.co.jp/ja/profile/pr/newsrelease/2026/news20260930.html</a:t>
            </a:r>
          </a:p>
          <a:p xmlns:a="http://schemas.openxmlformats.org/drawingml/2006/main">
            <a:r>
              <a:t>該当箇所 共同実証の概要・戦略的パートナーシップの背景</a:t>
            </a:r>
          </a:p>
          <a:p xmlns:a="http://schemas.openxmlformats.org/drawingml/2006/main">
            <a:r>
              <a:t>確認範囲 本文の該当節を確認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S07 MONOist／ファナックの取材発言</a:t>
            </a:r>
          </a:p>
          <a:p xmlns:a="http://schemas.openxmlformats.org/drawingml/2006/main">
            <a:r>
              <a:t>ファナックとフィジカルAI、現場主義の開発思想</a:t>
            </a:r>
          </a:p>
          <a:p xmlns:a="http://schemas.openxmlformats.org/drawingml/2006/main">
            <a:r>
              <a:t>発表 2026-07-02</a:t>
            </a:r>
          </a:p>
          <a:p xmlns:a="http://schemas.openxmlformats.org/drawingml/2006/main">
            <a:r>
              <a:t>https://monoist.itmedia.co.jp/mn/articles/2607/02/news043.html</a:t>
            </a:r>
          </a:p>
          <a:p xmlns:a="http://schemas.openxmlformats.org/drawingml/2006/main">
            <a:r>
              <a:t>該当箇所 全3ページ：開発思想、学習の横展開、オープン化、ソフトPLC</a:t>
            </a:r>
          </a:p>
          <a:p xmlns:a="http://schemas.openxmlformats.org/drawingml/2006/main">
            <a:r>
              <a:t>確認範囲 本文の該当節を確認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S23 安川電機</a:t>
            </a:r>
          </a:p>
          <a:p xmlns:a="http://schemas.openxmlformats.org/drawingml/2006/main">
            <a:r>
              <a:t>決算補足説明資料：AIロボティクス領域拡大</a:t>
            </a:r>
          </a:p>
          <a:p xmlns:a="http://schemas.openxmlformats.org/drawingml/2006/main">
            <a:r>
              <a:t>発表 2026-01-09</a:t>
            </a:r>
          </a:p>
          <a:p xmlns:a="http://schemas.openxmlformats.org/drawingml/2006/main">
            <a:r>
              <a:t>https://www.yaskawa.co.jp/wp-content/uploads/2026/01/20260109_haihu.pdf</a:t>
            </a:r>
          </a:p>
          <a:p xmlns:a="http://schemas.openxmlformats.org/drawingml/2006/main">
            <a:r>
              <a:t>該当箇所 PDF 16ページ目、スライド15</a:t>
            </a:r>
          </a:p>
          <a:p xmlns:a="http://schemas.openxmlformats.org/drawingml/2006/main">
            <a:r>
              <a:t>確認範囲 PDFの関連スライドを確認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FC049 TAKISAWA TR-20W：主軸の切粉除去</a:t>
            </a:r>
          </a:p>
          <a:p xmlns:a="http://schemas.openxmlformats.org/drawingml/2006/main">
            <a:r>
              <a:t>ブース E3013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許可動作、除去失敗の検出・再試行・人への引継ぎは未確認。</a:t>
            </a:r>
          </a:p>
          <a:p xmlns:a="http://schemas.openxmlformats.org/drawingml/2006/main">
            <a:r>
              <a:t>段階 JIMTOF2026公式カタログ掲載・現地未確認 / 参考出品・現地未検証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EOV-V030-2024-1 株式会社TAKISAWA</a:t>
            </a:r>
          </a:p>
          <a:p xmlns:a="http://schemas.openxmlformats.org/drawingml/2006/main">
            <a:r>
              <a:t>JIMTOF2024公式カタログ：株式会社TAKISAWA (E3013)</a:t>
            </a:r>
          </a:p>
          <a:p xmlns:a="http://schemas.openxmlformats.org/drawingml/2006/main">
            <a:r>
              <a:t>https://www.jimtof.org/2024/search/jp/ESdetails?e=K00DRD-BngA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EOV-V030-2026-1 株式会社TAKISAWA</a:t>
            </a:r>
          </a:p>
          <a:p xmlns:a="http://schemas.openxmlformats.org/drawingml/2006/main">
            <a:r>
              <a:t>JIMTOF2026公式カタログ：株式会社TAKISAWA (E3013)</a:t>
            </a:r>
          </a:p>
          <a:p xmlns:a="http://schemas.openxmlformats.org/drawingml/2006/main">
            <a:r>
              <a:t>https://www.jimtof.org/search/jp/ESdetails?e=3dTDRAMwZpM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EAT-N01 ニデック</a:t>
            </a:r>
          </a:p>
          <a:p xmlns:a="http://schemas.openxmlformats.org/drawingml/2006/main">
            <a:r>
              <a:t>JIMTOF2026 TR-20W</a:t>
            </a:r>
          </a:p>
          <a:p xmlns:a="http://schemas.openxmlformats.org/drawingml/2006/main">
            <a:r>
              <a:t>https://www.nidec.com/jp/products/machine-tools/contents/machine-tool-jimtof2026/</a:t>
            </a:r>
          </a:p>
          <a:p xmlns:a="http://schemas.openxmlformats.org/drawingml/2006/main">
            <a:r>
              <a:t>該当箇所 TR-20W：フィジカルAI搭載のロボットシステム（参考出品）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EAT-N02 ニデック</a:t>
            </a:r>
          </a:p>
          <a:p xmlns:a="http://schemas.openxmlformats.org/drawingml/2006/main">
            <a:r>
              <a:t>MGC300開発発表</a:t>
            </a:r>
          </a:p>
          <a:p xmlns:a="http://schemas.openxmlformats.org/drawingml/2006/main">
            <a:r>
              <a:t>https://www.nidec.com/jp/product/news/2024/news1101-03/</a:t>
            </a:r>
          </a:p>
          <a:p xmlns:a="http://schemas.openxmlformats.org/drawingml/2006/main">
            <a:r>
              <a:t>該当箇所 2024年11月1日／MGC300の出展説明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ERF-13 ニデック／TAKISAWA</a:t>
            </a:r>
          </a:p>
          <a:p xmlns:a="http://schemas.openxmlformats.org/drawingml/2006/main">
            <a:r>
              <a:t>JIMTOF2026：TR-20W参考出品</a:t>
            </a:r>
          </a:p>
          <a:p xmlns:a="http://schemas.openxmlformats.org/drawingml/2006/main">
            <a:r>
              <a:t>https://www.nidec.com/jp/products/machine-tools/contents/machine-tool-jimtof2026/</a:t>
            </a:r>
          </a:p>
          <a:p xmlns:a="http://schemas.openxmlformats.org/drawingml/2006/main">
            <a:r>
              <a:t>該当箇所 TAKISAWA／TR-20W、主軸の切粉認識・判断・除去、参考出品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企業／開発元／展示会の公式説明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AC146 東京エレクトロンデバイス株式会社 3D形状認識・教示不要の面取り／皿もみ</a:t>
            </a:r>
          </a:p>
          <a:p xmlns:a="http://schemas.openxmlformats.org/drawingml/2006/main">
            <a:r>
              <a:t>ブース E7073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加工条件設定、干渉確認、誤認識時の停止・品質承認は未公開。</a:t>
            </a:r>
          </a:p>
          <a:p xmlns:a="http://schemas.openxmlformats.org/drawingml/2006/main">
            <a:r>
              <a:t>段階 東京エンジニアリングE7073内で展示予定（企業公式告知で確認） / 2026展示予定。既存製品・参考出展・構想等は原典で個別確認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EEX-EXH-2026-8c08de1ffed47316 東京エレクトロンデバイス株式会社</a:t>
            </a:r>
          </a:p>
          <a:p xmlns:a="http://schemas.openxmlformats.org/drawingml/2006/main">
            <a:r>
              <a:t>JIMTOF2026公式出展説明：東京エレクトロンデバイス株式会社 (E7073)</a:t>
            </a:r>
          </a:p>
          <a:p xmlns:a="http://schemas.openxmlformats.org/drawingml/2006/main">
            <a:r>
              <a:t>https://www.jimtof.org/search/jp/ESdetails?e=c4cChQniAm8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EEX-WTED 東京エレクトロンデバイス株式会社</a:t>
            </a:r>
          </a:p>
          <a:p xmlns:a="http://schemas.openxmlformats.org/drawingml/2006/main">
            <a:r>
              <a:t>企業公式の展示告知</a:t>
            </a:r>
          </a:p>
          <a:p xmlns:a="http://schemas.openxmlformats.org/drawingml/2006/main">
            <a:r>
              <a:t>https://www.inrevium.com/news-event/event/p7331/</a:t>
            </a:r>
          </a:p>
          <a:p xmlns:a="http://schemas.openxmlformats.org/drawingml/2006/main">
            <a:r>
              <a:t>該当箇所 展示会概要・出展製品／2026年5月13日の製品説明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FC048 中村留精密工業 RoboSync：移設後の位置復旧</a:t>
            </a:r>
          </a:p>
          <a:p xmlns:a="http://schemas.openxmlformats.org/drawingml/2006/main">
            <a:r>
              <a:t>ブース E2027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人の移設・復旧操作を含む。未知トラブルの自律復帰とは別。</a:t>
            </a:r>
          </a:p>
          <a:p xmlns:a="http://schemas.openxmlformats.org/drawingml/2006/main">
            <a:r>
              <a:t>段階 JIMTOF2026公式カタログ掲載・現地未確認 / 既存製品方式確認・2026展示予定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EOV-V029-2024-1 中村留精密工業株式会社</a:t>
            </a:r>
          </a:p>
          <a:p xmlns:a="http://schemas.openxmlformats.org/drawingml/2006/main">
            <a:r>
              <a:t>JIMTOF2024公式カタログ：中村留精密工業株式会社 (E5033)</a:t>
            </a:r>
          </a:p>
          <a:p xmlns:a="http://schemas.openxmlformats.org/drawingml/2006/main">
            <a:r>
              <a:t>https://www.jimtof.org/2024/search/jp/ESdetails?e=RYK326OoMn4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EOV-V029-2026-1 中村留精密工業株式会社</a:t>
            </a:r>
          </a:p>
          <a:p xmlns:a="http://schemas.openxmlformats.org/drawingml/2006/main">
            <a:r>
              <a:t>JIMTOF2026公式カタログ：中村留精密工業株式会社 (E2027)</a:t>
            </a:r>
          </a:p>
          <a:p xmlns:a="http://schemas.openxmlformats.org/drawingml/2006/main">
            <a:r>
              <a:t>https://www.jimtof.org/search/jp/ESdetails?e=C7A_2ZTDXNw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EOV-W04 中村留精密工業</a:t>
            </a:r>
          </a:p>
          <a:p xmlns:a="http://schemas.openxmlformats.org/drawingml/2006/main">
            <a:r>
              <a:t>RoboSync</a:t>
            </a:r>
          </a:p>
          <a:p xmlns:a="http://schemas.openxmlformats.org/drawingml/2006/main">
            <a:r>
              <a:t>https://www.nakamura-tome.co.jp/products/automation/robosync/</a:t>
            </a:r>
          </a:p>
          <a:p xmlns:a="http://schemas.openxmlformats.org/drawingml/2006/main">
            <a:r>
              <a:t>該当箇所 製品の特長 &gt; 簡単復旧、簡単操作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企業公式資料・メーカー主張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FC042 イマオコーポレーション ナットランナー治具</a:t>
            </a:r>
          </a:p>
          <a:p xmlns:a="http://schemas.openxmlformats.org/drawingml/2006/main">
            <a:r>
              <a:t>ブース W2001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人が治具・フック等を設計選定。着座・締結異常の扱いは未確認。</a:t>
            </a:r>
          </a:p>
          <a:p xmlns:a="http://schemas.openxmlformats.org/drawingml/2006/main">
            <a:r>
              <a:t>段階 JIMTOF2026公式カタログ掲載・現地未確認 / 2026展示予定・提供段階未確認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EOV-V025-2024-1 株式会社イマオコーポレーション</a:t>
            </a:r>
          </a:p>
          <a:p xmlns:a="http://schemas.openxmlformats.org/drawingml/2006/main">
            <a:r>
              <a:t>JIMTOF2024公式カタログ：株式会社イマオコーポレーション (W2002)</a:t>
            </a:r>
          </a:p>
          <a:p xmlns:a="http://schemas.openxmlformats.org/drawingml/2006/main">
            <a:r>
              <a:t>https://www.jimtof.org/2024/search/jp/ESdetails?e=MTYTZ2Km3zM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EOV-V025-2026-1 株式会社イマオコーポレーション</a:t>
            </a:r>
          </a:p>
          <a:p xmlns:a="http://schemas.openxmlformats.org/drawingml/2006/main">
            <a:r>
              <a:t>JIMTOF2026公式カタログ：株式会社イマオコーポレーション (W2001)</a:t>
            </a:r>
          </a:p>
          <a:p xmlns:a="http://schemas.openxmlformats.org/drawingml/2006/main">
            <a:r>
              <a:t>https://www.jimtof.org/search/jp/ESdetails?e=shuDpJLDn-A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EDP-30 イマオ</a:t>
            </a:r>
          </a:p>
          <a:p xmlns:a="http://schemas.openxmlformats.org/drawingml/2006/main">
            <a:r>
              <a:t>ナットランナー治具</a:t>
            </a:r>
          </a:p>
          <a:p xmlns:a="http://schemas.openxmlformats.org/drawingml/2006/main">
            <a:r>
              <a:t>https://www.imao.co.jp/products/nutrunnerclamp.html</a:t>
            </a:r>
          </a:p>
          <a:p xmlns:a="http://schemas.openxmlformats.org/drawingml/2006/main">
            <a:r>
              <a:t>該当箇所 ロボットのナットランナーでクランプ／配管配線不要／手動も可能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EDP-32 イマオ</a:t>
            </a:r>
          </a:p>
          <a:p xmlns:a="http://schemas.openxmlformats.org/drawingml/2006/main">
            <a:r>
              <a:t>JIMTOF2024出展パンフレット</a:t>
            </a:r>
          </a:p>
          <a:p xmlns:a="http://schemas.openxmlformats.org/drawingml/2006/main">
            <a:r>
              <a:t>https://www.imao.co.jp/event-20241105-1110-jimtof/jimtof.pdf</a:t>
            </a:r>
          </a:p>
          <a:p xmlns:a="http://schemas.openxmlformats.org/drawingml/2006/main">
            <a:r>
              <a:t>該当箇所 ナットランナー治具各型式／人でもロボットでも操作可能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FC043 イマオコーポレーション メカ式フィンガー交換</a:t>
            </a:r>
          </a:p>
          <a:p xmlns:a="http://schemas.openxmlformats.org/drawingml/2006/main">
            <a:r>
              <a:t>ブース W2001</a:t>
            </a:r>
          </a:p>
          <a:p xmlns:a="http://schemas.openxmlformats.org/drawingml/2006/main">
            <a:r>
              <a:t>確認深度 個別タスク整理</a:t>
            </a:r>
          </a:p>
          <a:p xmlns:a="http://schemas.openxmlformats.org/drawingml/2006/main">
            <a:r>
              <a:t>人の残作業 事前準備：公式：ハンドに合う取付板・フィンガー・ピンを設計して配置／承認：未記載：指の種類識別・締結完了の信号確認。認識センサの標準範囲は要確認／例外対応：未記載：ピン未挿入・切粉噛込み・ロック不足の検出と復帰</a:t>
            </a:r>
          </a:p>
          <a:p xmlns:a="http://schemas.openxmlformats.org/drawingml/2006/main">
            <a:r>
              <a:t>段階 JIMTOF2026公式カタログ掲載・現地未確認 / 2026展示予定・提供段階未確認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EDP-31 イマオ</a:t>
            </a:r>
          </a:p>
          <a:p xmlns:a="http://schemas.openxmlformats.org/drawingml/2006/main">
            <a:r>
              <a:t>爪チェンジャー</a:t>
            </a:r>
          </a:p>
          <a:p xmlns:a="http://schemas.openxmlformats.org/drawingml/2006/main">
            <a:r>
              <a:t>https://www.imao.co.jp/products/tsume-changer.html</a:t>
            </a:r>
          </a:p>
          <a:p xmlns:a="http://schemas.openxmlformats.org/drawingml/2006/main">
            <a:r>
              <a:t>該当箇所 ボール・クサビ・ばね／イジェクトピンでロック解除／取付板設計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留保 自律・教示不要という名称だけで汎用性を判断しない。各社の公開説明・展示予定であり、現地未確認。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JIMTOF2026 事前調査 2026年10月21日</a:t>
            </a:r>
          </a:p>
          <a:p xmlns:a="http://schemas.openxmlformats.org/drawingml/2006/main">
            <a:r>
              <a:t>現地調査・顧客実証は未実施。公開発表、展示予定、分析仮説を区別。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S02 DMG森精機</a:t>
            </a:r>
          </a:p>
          <a:p xmlns:a="http://schemas.openxmlformats.org/drawingml/2006/main">
            <a:r>
              <a:t>GENIAC事業に採択：生産設備データエコシステムと製造フィジカルAI基盤</a:t>
            </a:r>
          </a:p>
          <a:p xmlns:a="http://schemas.openxmlformats.org/drawingml/2006/main">
            <a:r>
              <a:t>発表 2026-07-06</a:t>
            </a:r>
          </a:p>
          <a:p xmlns:a="http://schemas.openxmlformats.org/drawingml/2006/main">
            <a:r>
              <a:t>https://www.dmgmori.co.jp/corporate/news/2026/20260706_geniac.html</a:t>
            </a:r>
          </a:p>
          <a:p xmlns:a="http://schemas.openxmlformats.org/drawingml/2006/main">
            <a:r>
              <a:t>該当箇所 協力企業・設備数、データ整備、権利処理の段落</a:t>
            </a:r>
          </a:p>
          <a:p xmlns:a="http://schemas.openxmlformats.org/drawingml/2006/main">
            <a:r>
              <a:t>確認範囲 検索結果の本文抽出を確認・直接オープン未確認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S03 MONOist／WALC・DMG森精機の取材発言</a:t>
            </a:r>
          </a:p>
          <a:p xmlns:a="http://schemas.openxmlformats.org/drawingml/2006/main">
            <a:r>
              <a:t>DMG森精機が挑む工作機械のフィジカルAI</a:t>
            </a:r>
          </a:p>
          <a:p xmlns:a="http://schemas.openxmlformats.org/drawingml/2006/main">
            <a:r>
              <a:t>発表 2026-07-08</a:t>
            </a:r>
          </a:p>
          <a:p xmlns:a="http://schemas.openxmlformats.org/drawingml/2006/main">
            <a:r>
              <a:t>https://monoist.itmedia.co.jp/mn/articles/2607/08/news026.html</a:t>
            </a:r>
          </a:p>
          <a:p xmlns:a="http://schemas.openxmlformats.org/drawingml/2006/main">
            <a:r>
              <a:t>該当箇所 「100社、1000台の設備から最大1kHz」「工作機械におけるフィジカルAIの姿」</a:t>
            </a:r>
          </a:p>
          <a:p xmlns:a="http://schemas.openxmlformats.org/drawingml/2006/main">
            <a:r>
              <a:t>確認範囲 本文の該当節を確認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S31 三菱電機・アーヘン工科大学</a:t>
            </a:r>
          </a:p>
          <a:p xmlns:a="http://schemas.openxmlformats.org/drawingml/2006/main">
            <a:r>
              <a:t>CNC上で加工誤差を補正するエッジデジタルツイン</a:t>
            </a:r>
          </a:p>
          <a:p xmlns:a="http://schemas.openxmlformats.org/drawingml/2006/main">
            <a:r>
              <a:t>発表 2026-03-25</a:t>
            </a:r>
          </a:p>
          <a:p xmlns:a="http://schemas.openxmlformats.org/drawingml/2006/main">
            <a:r>
              <a:t>https://www.mitsubishielectric.co.jp/ja/pr/2026/0325/</a:t>
            </a:r>
          </a:p>
          <a:p xmlns:a="http://schemas.openxmlformats.org/drawingml/2006/main">
            <a:r>
              <a:t>該当箇所 背景・データ選別とコンパクトな物理モデル</a:t>
            </a:r>
          </a:p>
          <a:p xmlns:a="http://schemas.openxmlformats.org/drawingml/2006/main">
            <a:r>
              <a:t>確認範囲 本文の該当節を確認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S38 産総研</a:t>
            </a:r>
          </a:p>
          <a:p xmlns:a="http://schemas.openxmlformats.org/drawingml/2006/main">
            <a:r>
              <a:t>少数データから短時間で現場環境に応じた最適加工条件を決定</a:t>
            </a:r>
          </a:p>
          <a:p xmlns:a="http://schemas.openxmlformats.org/drawingml/2006/main">
            <a:r>
              <a:t>発表 2022-01-17</a:t>
            </a:r>
          </a:p>
          <a:p xmlns:a="http://schemas.openxmlformats.org/drawingml/2006/main">
            <a:r>
              <a:t>https://www.aist.go.jp/aist_j/press_release/pr2022/pr20220117/pr20220117.html</a:t>
            </a:r>
          </a:p>
          <a:p xmlns:a="http://schemas.openxmlformats.org/drawingml/2006/main">
            <a:r>
              <a:t>該当箇所 研究の内容・今後の予定</a:t>
            </a:r>
          </a:p>
          <a:p xmlns:a="http://schemas.openxmlformats.org/drawingml/2006/main">
            <a:r>
              <a:t>確認範囲 本文の研究条件と限界を確認。切削や全工場へ一般化しない。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S39 産総研 製造基盤技術研究部門</a:t>
            </a:r>
          </a:p>
          <a:p xmlns:a="http://schemas.openxmlformats.org/drawingml/2006/main">
            <a:r>
              <a:t>Digital Manufacturing デジタルものづくり</a:t>
            </a:r>
          </a:p>
          <a:p xmlns:a="http://schemas.openxmlformats.org/drawingml/2006/main">
            <a:r>
              <a:t>発表 未記載</a:t>
            </a:r>
          </a:p>
          <a:p xmlns:a="http://schemas.openxmlformats.org/drawingml/2006/main">
            <a:r>
              <a:t>https://unit.aist.go.jp/cmt-ri/research-topics/digital-manufacturing.htm</a:t>
            </a:r>
          </a:p>
          <a:p xmlns:a="http://schemas.openxmlformats.org/drawingml/2006/main">
            <a:r>
              <a:t>該当箇所 研究の取り組み・研究の特色・注湯動作の計測とシミュレーション</a:t>
            </a:r>
          </a:p>
          <a:p xmlns:a="http://schemas.openxmlformats.org/drawingml/2006/main">
            <a:r>
              <a:t>確認範囲 本文の該当節を確認。最新の製品提供状況を示す資料ではない。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S40 三菱電機</a:t>
            </a:r>
          </a:p>
          <a:p xmlns:a="http://schemas.openxmlformats.org/drawingml/2006/main">
            <a:r>
              <a:t>少量の学習データで機器の劣化を高精度に推定する物理モデル組み込みAIを開発</a:t>
            </a:r>
          </a:p>
          <a:p xmlns:a="http://schemas.openxmlformats.org/drawingml/2006/main">
            <a:r>
              <a:t>発表 2025-12-10</a:t>
            </a:r>
          </a:p>
          <a:p xmlns:a="http://schemas.openxmlformats.org/drawingml/2006/main">
            <a:r>
              <a:t>https://www.mitsubishielectric.co.jp/ja/pr/2025/pdf/1210.pdf</a:t>
            </a:r>
          </a:p>
          <a:p xmlns:a="http://schemas.openxmlformats.org/drawingml/2006/main">
            <a:r>
              <a:t>該当箇所 PDF 1–3ページ：物理モデルと追加学習・適用対象</a:t>
            </a:r>
          </a:p>
          <a:p xmlns:a="http://schemas.openxmlformats.org/drawingml/2006/main">
            <a:r>
              <a:t>確認範囲 PDF本文の抽出テキストを確認。図の視覚的な確認は未実施。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留保 共通するのは、目的に合う信号・条件・正解が必要という点。全ての開発に巨大な独自データ基盤を前提としない。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JIMTOF2026 事前調査 2026年10月21日</a:t>
            </a:r>
          </a:p>
          <a:p xmlns:a="http://schemas.openxmlformats.org/drawingml/2006/main">
            <a:r>
              <a:t>現地調査・顧客実証は未実施。公開発表、展示予定、分析仮説を区別。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S05 MONOist／マザックの取材発言</a:t>
            </a:r>
          </a:p>
          <a:p xmlns:a="http://schemas.openxmlformats.org/drawingml/2006/main">
            <a:r>
              <a:t>加工の工程設計をAIエージェントで自動化</a:t>
            </a:r>
          </a:p>
          <a:p xmlns:a="http://schemas.openxmlformats.org/drawingml/2006/main">
            <a:r>
              <a:t>発表 2026-10-19</a:t>
            </a:r>
          </a:p>
          <a:p xmlns:a="http://schemas.openxmlformats.org/drawingml/2006/main">
            <a:r>
              <a:t>https://monoist.itmedia.co.jp/mn/articles/2610/19/news039_2.html</a:t>
            </a:r>
          </a:p>
          <a:p xmlns:a="http://schemas.openxmlformats.org/drawingml/2006/main">
            <a:r>
              <a:t>該当箇所 「人の『意図』を学習」「ノウハウを学び固有モデルへ」</a:t>
            </a:r>
          </a:p>
          <a:p xmlns:a="http://schemas.openxmlformats.org/drawingml/2006/main">
            <a:r>
              <a:t>確認範囲 本文の該当節を確認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S14 Hexagon／製品技術担当者</a:t>
            </a:r>
          </a:p>
          <a:p xmlns:a="http://schemas.openxmlformats.org/drawingml/2006/main">
            <a:r>
              <a:t>The next step in CAM isn’t new. It’s already here.</a:t>
            </a:r>
          </a:p>
          <a:p xmlns:a="http://schemas.openxmlformats.org/drawingml/2006/main">
            <a:r>
              <a:t>発表 2026-04-29</a:t>
            </a:r>
          </a:p>
          <a:p xmlns:a="http://schemas.openxmlformats.org/drawingml/2006/main">
            <a:r>
              <a:t>https://blog.manufacturing.hexagon.com/advanced-manufacturing/cam-software/the-next-step-in-cam-isnt-new-its-already-here/</a:t>
            </a:r>
          </a:p>
          <a:p xmlns:a="http://schemas.openxmlformats.org/drawingml/2006/main">
            <a:r>
              <a:t>該当箇所 Real needs・Where the real friction sits・shared capability</a:t>
            </a:r>
          </a:p>
          <a:p xmlns:a="http://schemas.openxmlformats.org/drawingml/2006/main">
            <a:r>
              <a:t>確認範囲 本文の該当節を確認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S15 Hexagon／製品担当者</a:t>
            </a:r>
          </a:p>
          <a:p xmlns:a="http://schemas.openxmlformats.org/drawingml/2006/main">
            <a:r>
              <a:t>Tailored vs Cloud AI: CAM automation path</a:t>
            </a:r>
          </a:p>
          <a:p xmlns:a="http://schemas.openxmlformats.org/drawingml/2006/main">
            <a:r>
              <a:t>発表 2025-10-01</a:t>
            </a:r>
          </a:p>
          <a:p xmlns:a="http://schemas.openxmlformats.org/drawingml/2006/main">
            <a:r>
              <a:t>https://blog.manufacturing.hexagon.com/advanced-manufacturing/cam-software/tailored-vs-cloud-ai-choosing-the-right-cam-automation-path/</a:t>
            </a:r>
          </a:p>
          <a:p xmlns:a="http://schemas.openxmlformats.org/drawingml/2006/main">
            <a:r>
              <a:t>該当箇所 Tailored solutions・Cloud-based AI・combined solution</a:t>
            </a:r>
          </a:p>
          <a:p xmlns:a="http://schemas.openxmlformats.org/drawingml/2006/main">
            <a:r>
              <a:t>確認範囲 本文の該当節を確認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S21 KPMGコンサルティング</a:t>
            </a:r>
          </a:p>
          <a:p xmlns:a="http://schemas.openxmlformats.org/drawingml/2006/main">
            <a:r>
              <a:t>フィジカルAIで変わるロボティクスの競争条件</a:t>
            </a:r>
          </a:p>
          <a:p xmlns:a="http://schemas.openxmlformats.org/drawingml/2006/main">
            <a:r>
              <a:t>発表 2026-08-18</a:t>
            </a:r>
          </a:p>
          <a:p xmlns:a="http://schemas.openxmlformats.org/drawingml/2006/main">
            <a:r>
              <a:t>https://kpmg.com/jp/ja/insights/2026/08/ai-emergingtech-10.html</a:t>
            </a:r>
          </a:p>
          <a:p xmlns:a="http://schemas.openxmlformats.org/drawingml/2006/main">
            <a:r>
              <a:t>該当箇所 2つのループ・導入後の改善力・投資評価</a:t>
            </a:r>
          </a:p>
          <a:p xmlns:a="http://schemas.openxmlformats.org/drawingml/2006/main">
            <a:r>
              <a:t>確認範囲 本文の該当節を確認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S35 Beckhoff</a:t>
            </a:r>
          </a:p>
          <a:p xmlns:a="http://schemas.openxmlformats.org/drawingml/2006/main">
            <a:r>
              <a:t>TwinCAT Machine Learning Creator: Workflows for users</a:t>
            </a:r>
          </a:p>
          <a:p xmlns:a="http://schemas.openxmlformats.org/drawingml/2006/main">
            <a:r>
              <a:t>発表 未記載</a:t>
            </a:r>
          </a:p>
          <a:p xmlns:a="http://schemas.openxmlformats.org/drawingml/2006/main">
            <a:r>
              <a:t>https://infosys.beckhoff.com/content/1033/te3850_tc3_machine_learning_creator/21561799691.html</a:t>
            </a:r>
          </a:p>
          <a:p xmlns:a="http://schemas.openxmlformats.org/drawingml/2006/main">
            <a:r>
              <a:t>該当箇所 Create a data set / Validate and analyze the model / Export model</a:t>
            </a:r>
          </a:p>
          <a:p xmlns:a="http://schemas.openxmlformats.org/drawingml/2006/main">
            <a:r>
              <a:t>確認範囲 検索結果の本文抽出を確認。直接オープンは取得失敗。公表日は検索エンジンの不整合な日付を採用せず未記載。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FC018 Hexagon Manufacturing Intelligence ESPRIT EDGE ProPlanAI</a:t>
            </a:r>
          </a:p>
          <a:p xmlns:a="http://schemas.openxmlformats.org/drawingml/2006/main">
            <a:r>
              <a:t>ブース E2013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過去データを準備。確認画面はあるが最終NC採用権限は未公表。</a:t>
            </a:r>
          </a:p>
          <a:p xmlns:a="http://schemas.openxmlformats.org/drawingml/2006/main">
            <a:r>
              <a:t>段階 JIMTOF2026公式カタログ掲載・現地未確認 / メーカーが商用提供範囲を説明・顧客実績未確認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EOV-V007-2026-2 Hexagon Manufacturing Intelligence株式会社</a:t>
            </a:r>
          </a:p>
          <a:p xmlns:a="http://schemas.openxmlformats.org/drawingml/2006/main">
            <a:r>
              <a:t>JIMTOF2026公式カタログ：Hexagon Manufacturing Intelligence株式会社 (E2013)</a:t>
            </a:r>
          </a:p>
          <a:p xmlns:a="http://schemas.openxmlformats.org/drawingml/2006/main">
            <a:r>
              <a:t>https://www.jimtof.org/search/jp/ESdetails?e=6l20Qo0pjl4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EOV-W02 Hexagon</a:t>
            </a:r>
          </a:p>
          <a:p xmlns:a="http://schemas.openxmlformats.org/drawingml/2006/main">
            <a:r>
              <a:t>ESPRIT EDGE Release Highlights</a:t>
            </a:r>
          </a:p>
          <a:p xmlns:a="http://schemas.openxmlformats.org/drawingml/2006/main">
            <a:r>
              <a:t>https://hexagon.com/products/esprit-edge/release-highlights</a:t>
            </a:r>
          </a:p>
          <a:p xmlns:a="http://schemas.openxmlformats.org/drawingml/2006/main">
            <a:r>
              <a:t>該当箇所 2025.2 PROPLANAI、2026.1 ProPlanAI for Turning, Mill-Turn &amp; Swiss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企業公式資料・メーカー主張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FC020 ジェービーエムエンジニアリング Mastercam＋CAMAssist</a:t>
            </a:r>
          </a:p>
          <a:p xmlns:a="http://schemas.openxmlformats.org/drawingml/2006/main">
            <a:r>
              <a:t>ブース E2002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人が前提を設定し、戦略案を確認・調整してCAMへ送る。</a:t>
            </a:r>
          </a:p>
          <a:p xmlns:a="http://schemas.openxmlformats.org/drawingml/2006/main">
            <a:r>
              <a:t>段階 JIMTOF2026公式カタログ掲載・現地未確認 / 2026展示予定・提供段階未確認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EOV-V008-2024-1 ジェービーエムエンジニアリング株式会社</a:t>
            </a:r>
          </a:p>
          <a:p xmlns:a="http://schemas.openxmlformats.org/drawingml/2006/main">
            <a:r>
              <a:t>JIMTOF2024公式カタログ：ジェービーエムエンジニアリング株式会社 (E5028)</a:t>
            </a:r>
          </a:p>
          <a:p xmlns:a="http://schemas.openxmlformats.org/drawingml/2006/main">
            <a:r>
              <a:t>https://www.jimtof.org/2024/search/jp/ESdetails?e=G-8gydwhMvE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EOV-V008-2024-2 ジェービーエムエンジニアリング株式会社</a:t>
            </a:r>
          </a:p>
          <a:p xmlns:a="http://schemas.openxmlformats.org/drawingml/2006/main">
            <a:r>
              <a:t>JIMTOF2024公式カタログ：ジェービーエムエンジニアリング株式会社 (AM111)</a:t>
            </a:r>
          </a:p>
          <a:p xmlns:a="http://schemas.openxmlformats.org/drawingml/2006/main">
            <a:r>
              <a:t>https://www.jimtof.org/2024/search/jp/ESdetails?e=ZBxZW2vyjUw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EOV-V008-2026-1 ジェービーエムエンジニアリング株式会社</a:t>
            </a:r>
          </a:p>
          <a:p xmlns:a="http://schemas.openxmlformats.org/drawingml/2006/main">
            <a:r>
              <a:t>JIMTOF2026公式カタログ：ジェービーエムエンジニアリング株式会社 (E2002)</a:t>
            </a:r>
          </a:p>
          <a:p xmlns:a="http://schemas.openxmlformats.org/drawingml/2006/main">
            <a:r>
              <a:t>https://www.jimtof.org/search/jp/ESdetails?e=VrAjMTKmxdw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EDP-09 CloudNC</a:t>
            </a:r>
          </a:p>
          <a:p xmlns:a="http://schemas.openxmlformats.org/drawingml/2006/main">
            <a:r>
              <a:t>Mastercam向けCAM Assist</a:t>
            </a:r>
          </a:p>
          <a:p xmlns:a="http://schemas.openxmlformats.org/drawingml/2006/main">
            <a:r>
              <a:t>https://www.cloudnc.com/ja/mastercam</a:t>
            </a:r>
          </a:p>
          <a:p xmlns:a="http://schemas.openxmlformats.org/drawingml/2006/main">
            <a:r>
              <a:t>該当箇所 仕組みステップ1〜4／FAQの対象加工・顧客データ学習の否定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EDP-10 CloudNC</a:t>
            </a:r>
          </a:p>
          <a:p xmlns:a="http://schemas.openxmlformats.org/drawingml/2006/main">
            <a:r>
              <a:t>Mastercam向けCAM Assist提供開始</a:t>
            </a:r>
          </a:p>
          <a:p xmlns:a="http://schemas.openxmlformats.org/drawingml/2006/main">
            <a:r>
              <a:t>https://www.cloudnc.com/news-room/cam-assist-the-first-ai-plug-in-for-cam-is-now-available-for-mastercam</a:t>
            </a:r>
          </a:p>
          <a:p xmlns:a="http://schemas.openxmlformats.org/drawingml/2006/main">
            <a:r>
              <a:t>該当箇所 July 25, 2024／3軸・3+2軸向け。北米販売開始の説明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ERF-03 CloudNC</a:t>
            </a:r>
          </a:p>
          <a:p xmlns:a="http://schemas.openxmlformats.org/drawingml/2006/main">
            <a:r>
              <a:t>Mastercam CAM Assist：確認・調整と学習方針</a:t>
            </a:r>
          </a:p>
          <a:p xmlns:a="http://schemas.openxmlformats.org/drawingml/2006/main">
            <a:r>
              <a:t>https://www.cloudnc.com/ja/mastercam</a:t>
            </a:r>
          </a:p>
          <a:p xmlns:a="http://schemas.openxmlformats.org/drawingml/2006/main">
            <a:r>
              <a:t>該当箇所 仕組みStep 2–4／FAQ：顧客データで学習しない、加工性評価、編集可能CAM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企業／開発元／展示会の公式説明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FC014 ベッコフオートメーション TwinCAT Machine Learning Creator</a:t>
            </a:r>
          </a:p>
          <a:p xmlns:a="http://schemas.openxmlformats.org/drawingml/2006/main">
            <a:r>
              <a:t>ブース E2028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人がデータ・注釈・目的を準備。実機採用基準は要確認。</a:t>
            </a:r>
          </a:p>
          <a:p xmlns:a="http://schemas.openxmlformats.org/drawingml/2006/main">
            <a:r>
              <a:t>段階 JIMTOF2026公式カタログ掲載・現地未確認 / 既存製品方式確認・2026掲載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EOV-V005-2026-1 ベッコフオートメーション株式会社</a:t>
            </a:r>
          </a:p>
          <a:p xmlns:a="http://schemas.openxmlformats.org/drawingml/2006/main">
            <a:r>
              <a:t>JIMTOF2026公式カタログ：ベッコフオートメーション株式会社 (E2028)</a:t>
            </a:r>
          </a:p>
          <a:p xmlns:a="http://schemas.openxmlformats.org/drawingml/2006/main">
            <a:r>
              <a:t>https://www.jimtof.org/search/jp/ESdetails?e=K7DqahO2h08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EOV-W01 Beckhoff</a:t>
            </a:r>
          </a:p>
          <a:p xmlns:a="http://schemas.openxmlformats.org/drawingml/2006/main">
            <a:r>
              <a:t>TwinCAT 3 Machine Learning Creator</a:t>
            </a:r>
          </a:p>
          <a:p xmlns:a="http://schemas.openxmlformats.org/drawingml/2006/main">
            <a:r>
              <a:t>https://www.beckhoff.com/en-za/products/automation/twincat/texxxx-twincat-3-engineering/te3850.html</a:t>
            </a:r>
          </a:p>
          <a:p xmlns:a="http://schemas.openxmlformats.org/drawingml/2006/main">
            <a:r>
              <a:t>該当箇所 製品説明冒頭、Product status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企業公式資料・メーカー主張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EDP-04 Beckhoff</a:t>
            </a:r>
          </a:p>
          <a:p xmlns:a="http://schemas.openxmlformats.org/drawingml/2006/main">
            <a:r>
              <a:t>PC Control 02/2024：Machine Learning Creator</a:t>
            </a:r>
          </a:p>
          <a:p xmlns:a="http://schemas.openxmlformats.org/drawingml/2006/main">
            <a:r>
              <a:t>https://www.beckhoff.com/media/downloads/information-media/pc-control/pcc_0224_e.pdf</a:t>
            </a:r>
          </a:p>
          <a:p xmlns:a="http://schemas.openxmlformats.org/drawingml/2006/main">
            <a:r>
              <a:t>該当箇所 TE3850／訓練・テストデータ分割、モデル解析、ONNX出力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留保 過去ジョブ学習やモデル評価を市場の空白とみなさない。独自価値は特定工程の成果で確認する。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JIMTOF2026 事前調査 2026年10月21日</a:t>
            </a:r>
          </a:p>
          <a:p xmlns:a="http://schemas.openxmlformats.org/drawingml/2006/main">
            <a:r>
              <a:t>現地調査・顧客実証は未実施。公開発表、展示予定、分析仮説を区別。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元データ data/research/strategy_review_20261021/technology_role_map.csv</a:t>
            </a:r>
          </a:p>
          <a:p xmlns:a="http://schemas.openxmlformats.org/drawingml/2006/main">
            <a:r>
              <a:t>分類 data/research/report_v0/matrix_classification.json</a:t>
            </a:r>
          </a:p>
          <a:p xmlns:a="http://schemas.openxmlformats.org/drawingml/2006/main">
            <a:r>
              <a:t>役割未確定92、工程未確定39。実行には人の操作を含むカードがあり、無人化を意味しない。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留保 市場規模・普及率ではない。未配置は不在を意味しない。学習・接続等の横断基盤は交差表に出ない場合がある。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JIMTOF2026 事前調査 2026年10月21日</a:t>
            </a:r>
          </a:p>
          <a:p xmlns:a="http://schemas.openxmlformats.org/drawingml/2006/main">
            <a:r>
              <a:t>現地調査・顧客実証は未実施。公開発表、展示予定、分析仮説を区別。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FC018 Hexagon Manufacturing Intelligence ESPRIT EDGE ProPlanAI</a:t>
            </a:r>
          </a:p>
          <a:p xmlns:a="http://schemas.openxmlformats.org/drawingml/2006/main">
            <a:r>
              <a:t>ブース E2013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過去データを準備。確認画面はあるが最終NC採用権限は未公表。</a:t>
            </a:r>
          </a:p>
          <a:p xmlns:a="http://schemas.openxmlformats.org/drawingml/2006/main">
            <a:r>
              <a:t>段階 JIMTOF2026公式カタログ掲載・現地未確認 / メーカーが商用提供範囲を説明・顧客実績未確認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EOV-V007-2026-2 Hexagon Manufacturing Intelligence株式会社</a:t>
            </a:r>
          </a:p>
          <a:p xmlns:a="http://schemas.openxmlformats.org/drawingml/2006/main">
            <a:r>
              <a:t>JIMTOF2026公式カタログ：Hexagon Manufacturing Intelligence株式会社 (E2013)</a:t>
            </a:r>
          </a:p>
          <a:p xmlns:a="http://schemas.openxmlformats.org/drawingml/2006/main">
            <a:r>
              <a:t>https://www.jimtof.org/search/jp/ESdetails?e=6l20Qo0pjl4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EOV-W02 Hexagon</a:t>
            </a:r>
          </a:p>
          <a:p xmlns:a="http://schemas.openxmlformats.org/drawingml/2006/main">
            <a:r>
              <a:t>ESPRIT EDGE Release Highlights</a:t>
            </a:r>
          </a:p>
          <a:p xmlns:a="http://schemas.openxmlformats.org/drawingml/2006/main">
            <a:r>
              <a:t>https://hexagon.com/products/esprit-edge/release-highlights</a:t>
            </a:r>
          </a:p>
          <a:p xmlns:a="http://schemas.openxmlformats.org/drawingml/2006/main">
            <a:r>
              <a:t>該当箇所 2025.2 PROPLANAI、2026.1 ProPlanAI for Turning, Mill-Turn &amp; Swiss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企業公式資料・メーカー主張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FC020 ジェービーエムエンジニアリング Mastercam＋CAMAssist</a:t>
            </a:r>
          </a:p>
          <a:p xmlns:a="http://schemas.openxmlformats.org/drawingml/2006/main">
            <a:r>
              <a:t>ブース E2002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人が前提を設定し、戦略案を確認・調整してCAMへ送る。</a:t>
            </a:r>
          </a:p>
          <a:p xmlns:a="http://schemas.openxmlformats.org/drawingml/2006/main">
            <a:r>
              <a:t>段階 JIMTOF2026公式カタログ掲載・現地未確認 / 2026展示予定・提供段階未確認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EOV-V008-2024-1 ジェービーエムエンジニアリング株式会社</a:t>
            </a:r>
          </a:p>
          <a:p xmlns:a="http://schemas.openxmlformats.org/drawingml/2006/main">
            <a:r>
              <a:t>JIMTOF2024公式カタログ：ジェービーエムエンジニアリング株式会社 (E5028)</a:t>
            </a:r>
          </a:p>
          <a:p xmlns:a="http://schemas.openxmlformats.org/drawingml/2006/main">
            <a:r>
              <a:t>https://www.jimtof.org/2024/search/jp/ESdetails?e=G-8gydwhMvE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EOV-V008-2024-2 ジェービーエムエンジニアリング株式会社</a:t>
            </a:r>
          </a:p>
          <a:p xmlns:a="http://schemas.openxmlformats.org/drawingml/2006/main">
            <a:r>
              <a:t>JIMTOF2024公式カタログ：ジェービーエムエンジニアリング株式会社 (AM111)</a:t>
            </a:r>
          </a:p>
          <a:p xmlns:a="http://schemas.openxmlformats.org/drawingml/2006/main">
            <a:r>
              <a:t>https://www.jimtof.org/2024/search/jp/ESdetails?e=ZBxZW2vyjUw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EOV-V008-2026-1 ジェービーエムエンジニアリング株式会社</a:t>
            </a:r>
          </a:p>
          <a:p xmlns:a="http://schemas.openxmlformats.org/drawingml/2006/main">
            <a:r>
              <a:t>JIMTOF2026公式カタログ：ジェービーエムエンジニアリング株式会社 (E2002)</a:t>
            </a:r>
          </a:p>
          <a:p xmlns:a="http://schemas.openxmlformats.org/drawingml/2006/main">
            <a:r>
              <a:t>https://www.jimtof.org/search/jp/ESdetails?e=VrAjMTKmxdw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EDP-09 CloudNC</a:t>
            </a:r>
          </a:p>
          <a:p xmlns:a="http://schemas.openxmlformats.org/drawingml/2006/main">
            <a:r>
              <a:t>Mastercam向けCAM Assist</a:t>
            </a:r>
          </a:p>
          <a:p xmlns:a="http://schemas.openxmlformats.org/drawingml/2006/main">
            <a:r>
              <a:t>https://www.cloudnc.com/ja/mastercam</a:t>
            </a:r>
          </a:p>
          <a:p xmlns:a="http://schemas.openxmlformats.org/drawingml/2006/main">
            <a:r>
              <a:t>該当箇所 仕組みステップ1〜4／FAQの対象加工・顧客データ学習の否定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EDP-10 CloudNC</a:t>
            </a:r>
          </a:p>
          <a:p xmlns:a="http://schemas.openxmlformats.org/drawingml/2006/main">
            <a:r>
              <a:t>Mastercam向けCAM Assist提供開始</a:t>
            </a:r>
          </a:p>
          <a:p xmlns:a="http://schemas.openxmlformats.org/drawingml/2006/main">
            <a:r>
              <a:t>https://www.cloudnc.com/news-room/cam-assist-the-first-ai-plug-in-for-cam-is-now-available-for-mastercam</a:t>
            </a:r>
          </a:p>
          <a:p xmlns:a="http://schemas.openxmlformats.org/drawingml/2006/main">
            <a:r>
              <a:t>該当箇所 July 25, 2024／3軸・3+2軸向け。北米販売開始の説明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ERF-03 CloudNC</a:t>
            </a:r>
          </a:p>
          <a:p xmlns:a="http://schemas.openxmlformats.org/drawingml/2006/main">
            <a:r>
              <a:t>Mastercam CAM Assist：確認・調整と学習方針</a:t>
            </a:r>
          </a:p>
          <a:p xmlns:a="http://schemas.openxmlformats.org/drawingml/2006/main">
            <a:r>
              <a:t>https://www.cloudnc.com/ja/mastercam</a:t>
            </a:r>
          </a:p>
          <a:p xmlns:a="http://schemas.openxmlformats.org/drawingml/2006/main">
            <a:r>
              <a:t>該当箇所 仕組みStep 2–4／FAQ：顧客データで学習しない、加工性評価、編集可能CAM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企業／開発元／展示会の公式説明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FC033 レニショー Renishaw Central＋IPC</a:t>
            </a:r>
          </a:p>
          <a:p xmlns:a="http://schemas.openxmlformats.org/drawingml/2006/main">
            <a:r>
              <a:t>ブース E7089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計測不確かさ、補正上限、異常値の抑止条件は未確認。</a:t>
            </a:r>
          </a:p>
          <a:p xmlns:a="http://schemas.openxmlformats.org/drawingml/2006/main">
            <a:r>
              <a:t>段階 JIMTOF2026公式カタログ掲載・現地未確認 / 既存方式・メーカー自社工場事例あり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EOV-V018-2024-1 レニショー株式会社</a:t>
            </a:r>
          </a:p>
          <a:p xmlns:a="http://schemas.openxmlformats.org/drawingml/2006/main">
            <a:r>
              <a:t>JIMTOF2024公式カタログ：レニショー株式会社 (E7026)</a:t>
            </a:r>
          </a:p>
          <a:p xmlns:a="http://schemas.openxmlformats.org/drawingml/2006/main">
            <a:r>
              <a:t>https://www.jimtof.org/2024/search/jp/ESdetails?e=ekM3exgIAtc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EOV-V018-2026-1 レニショー株式会社</a:t>
            </a:r>
          </a:p>
          <a:p xmlns:a="http://schemas.openxmlformats.org/drawingml/2006/main">
            <a:r>
              <a:t>JIMTOF2026公式カタログ：レニショー株式会社 (E7089)</a:t>
            </a:r>
          </a:p>
          <a:p xmlns:a="http://schemas.openxmlformats.org/drawingml/2006/main">
            <a:r>
              <a:t>https://www.jimtof.org/search/jp/ESdetails?e=pYGmVz5GC1c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EOV-W03 レニショー</a:t>
            </a:r>
          </a:p>
          <a:p xmlns:a="http://schemas.openxmlformats.org/drawingml/2006/main">
            <a:r>
              <a:t>Renishaw Central データプラットフォーム</a:t>
            </a:r>
          </a:p>
          <a:p xmlns:a="http://schemas.openxmlformats.org/drawingml/2006/main">
            <a:r>
              <a:t>https://www.renishaw.com/jp/smart-manufacturing-data-platform-for-industrial-process-control--47853</a:t>
            </a:r>
          </a:p>
          <a:p xmlns:a="http://schemas.openxmlformats.org/drawingml/2006/main">
            <a:r>
              <a:t>該当箇所 メカニズム、現場でのクローズドループ、導入効果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企業公式資料・メーカー主張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FC040 モリマシナリー ツールコラージュアナライザー</a:t>
            </a:r>
          </a:p>
          <a:p xmlns:a="http://schemas.openxmlformats.org/drawingml/2006/main">
            <a:r>
              <a:t>ブース S3048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人が工具・加工条件と提案の適用を確認する運用は要確認。</a:t>
            </a:r>
          </a:p>
          <a:p xmlns:a="http://schemas.openxmlformats.org/drawingml/2006/main">
            <a:r>
              <a:t>段階 JIMTOF2026公式カタログ掲載・現地未確認 / 2026展示予定・寿命推定研究自体は既存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EOV-V024-2024-1 モリマシナリー株式会社</a:t>
            </a:r>
          </a:p>
          <a:p xmlns:a="http://schemas.openxmlformats.org/drawingml/2006/main">
            <a:r>
              <a:t>JIMTOF2024公式カタログ：モリマシナリー株式会社 (S3017)</a:t>
            </a:r>
          </a:p>
          <a:p xmlns:a="http://schemas.openxmlformats.org/drawingml/2006/main">
            <a:r>
              <a:t>https://www.jimtof.org/2024/search/jp/ESdetails?e=yEoPl5sH6Sg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EOV-V024-2026-1 モリマシナリー株式会社</a:t>
            </a:r>
          </a:p>
          <a:p xmlns:a="http://schemas.openxmlformats.org/drawingml/2006/main">
            <a:r>
              <a:t>JIMTOF2026公式カタログ：モリマシナリー株式会社 (S3048)</a:t>
            </a:r>
          </a:p>
          <a:p xmlns:a="http://schemas.openxmlformats.org/drawingml/2006/main">
            <a:r>
              <a:t>https://www.jimtof.org/search/jp/ESdetails?e=ZvT3Lci-hnM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EOV-W08 モリマシナリー</a:t>
            </a:r>
          </a:p>
          <a:p xmlns:a="http://schemas.openxmlformats.org/drawingml/2006/main">
            <a:r>
              <a:t>工具の欠け・摩耗・寿命を推定するAI研究発表</a:t>
            </a:r>
          </a:p>
          <a:p xmlns:a="http://schemas.openxmlformats.org/drawingml/2006/main">
            <a:r>
              <a:t>https://mori-machinery.com/wp-content/uploads/2023/06/%E7%86%9F%E7%B7%B4%E8%80%85%E3%81%AE%E7%B5%8C%E9%A8%93%E7%9F%A5%E3%82%92%E3%82%82%E3%81%A8%E3%81%AB%E5%88%87%E5%89%8A%E5%B7%A5%E5%85%B7%E3%81%AE%E6%AC%A0%E3%81%91%E3%83%BB%E6%91%A9%E8%80%97%E3%83%BB%E5%AF%BF%E5%91%BD%E3%82%92%E6%8E%A8%E5%AE%9A%E3%81%99%E3%82%8BAI%E3%82%92%E9%96%8B%E7%99%BA.pdf</a:t>
            </a:r>
          </a:p>
          <a:p xmlns:a="http://schemas.openxmlformats.org/drawingml/2006/main">
            <a:r>
              <a:t>該当箇所 2023年6月2日、成果と今後の展望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企業公式資料・メーカー主張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FC025 シーイーシー Facteye／Resolana</a:t>
            </a:r>
          </a:p>
          <a:p xmlns:a="http://schemas.openxmlformats.org/drawingml/2006/main">
            <a:r>
              <a:t>ブース E2006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自動制御や工場全体最適化の実装は未確認。</a:t>
            </a:r>
          </a:p>
          <a:p xmlns:a="http://schemas.openxmlformats.org/drawingml/2006/main">
            <a:r>
              <a:t>段階 JIMTOF2026公式カタログ掲載・現地未確認 / 2026展示予定・提供段階未確認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EOV-V012-2024-1 株式会社シーイーシー</a:t>
            </a:r>
          </a:p>
          <a:p xmlns:a="http://schemas.openxmlformats.org/drawingml/2006/main">
            <a:r>
              <a:t>JIMTOF2024公式カタログ：株式会社シーイーシー (E5022)</a:t>
            </a:r>
          </a:p>
          <a:p xmlns:a="http://schemas.openxmlformats.org/drawingml/2006/main">
            <a:r>
              <a:t>https://www.jimtof.org/2024/search/jp/ESdetails?e=WS9ql5D41fQ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EOV-V012-2026-1 株式会社シーイーシー</a:t>
            </a:r>
          </a:p>
          <a:p xmlns:a="http://schemas.openxmlformats.org/drawingml/2006/main">
            <a:r>
              <a:t>JIMTOF2026公式カタログ：株式会社シーイーシー (E2006)</a:t>
            </a:r>
          </a:p>
          <a:p xmlns:a="http://schemas.openxmlformats.org/drawingml/2006/main">
            <a:r>
              <a:t>https://www.jimtof.org/search/jp/ESdetails?e=tW-C9oF94EQ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FC013 ベッコフオートメーション TwinCAT CoAgent for Operations</a:t>
            </a:r>
          </a:p>
          <a:p xmlns:a="http://schemas.openxmlformats.org/drawingml/2006/main">
            <a:r>
              <a:t>ブース E2028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専門家が制御権保持。毎回承認・書込権限・失敗復帰は未公開。</a:t>
            </a:r>
          </a:p>
          <a:p xmlns:a="http://schemas.openxmlformats.org/drawingml/2006/main">
            <a:r>
              <a:t>段階 JIMTOF2026公式カタログ掲載・現地未確認 / 製品発表・投入時期要問い合わせ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EOV-V005-2026-1 ベッコフオートメーション株式会社</a:t>
            </a:r>
          </a:p>
          <a:p xmlns:a="http://schemas.openxmlformats.org/drawingml/2006/main">
            <a:r>
              <a:t>JIMTOF2026公式カタログ：ベッコフオートメーション株式会社 (E2028)</a:t>
            </a:r>
          </a:p>
          <a:p xmlns:a="http://schemas.openxmlformats.org/drawingml/2006/main">
            <a:r>
              <a:t>https://www.jimtof.org/search/jp/ESdetails?e=K7DqahO2h08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EAT-N04 Beckhoff</a:t>
            </a:r>
          </a:p>
          <a:p xmlns:a="http://schemas.openxmlformats.org/drawingml/2006/main">
            <a:r>
              <a:t>CoAgent for Operations TF1700</a:t>
            </a:r>
          </a:p>
          <a:p xmlns:a="http://schemas.openxmlformats.org/drawingml/2006/main">
            <a:r>
              <a:t>https://www.beckhoff.com/ko-kr/products/automation/twincat/tfxxxx-twincat-3-functions/tf1xxx-system/tf1700.html</a:t>
            </a:r>
          </a:p>
          <a:p xmlns:a="http://schemas.openxmlformats.org/drawingml/2006/main">
            <a:r>
              <a:t>該当箇所 Properties／Product status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EAT-N05 Beckhoff</a:t>
            </a:r>
          </a:p>
          <a:p xmlns:a="http://schemas.openxmlformats.org/drawingml/2006/main">
            <a:r>
              <a:t>TwinCAT projects with AI-assisted engineering</a:t>
            </a:r>
          </a:p>
          <a:p xmlns:a="http://schemas.openxmlformats.org/drawingml/2006/main">
            <a:r>
              <a:t>https://www.beckhoff.com/ko-kr/products/automation/twincat-projects-with-ai-supported-engineering/</a:t>
            </a:r>
          </a:p>
          <a:p xmlns:a="http://schemas.openxmlformats.org/drawingml/2006/main">
            <a:r>
              <a:t>該当箇所 CoAgents for development and machine operation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EDP-03 Beckhoff</a:t>
            </a:r>
          </a:p>
          <a:p xmlns:a="http://schemas.openxmlformats.org/drawingml/2006/main">
            <a:r>
              <a:t>TwinCAT Chat発表</a:t>
            </a:r>
          </a:p>
          <a:p xmlns:a="http://schemas.openxmlformats.org/drawingml/2006/main">
            <a:r>
              <a:t>https://www.beckhoff.com/en-en/company/press/twincat-chat-using-innovative-chatbot-technology-in-twincat-engineering-2023-04.html</a:t>
            </a:r>
          </a:p>
          <a:p xmlns:a="http://schemas.openxmlformats.org/drawingml/2006/main">
            <a:r>
              <a:t>該当箇所 TwinCAT XAE／コード作成・追加・最適化・文書化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ERF-02 Beckhoff</a:t>
            </a:r>
          </a:p>
          <a:p xmlns:a="http://schemas.openxmlformats.org/drawingml/2006/main">
            <a:r>
              <a:t>TF1700 CoAgent for Operations</a:t>
            </a:r>
          </a:p>
          <a:p xmlns:a="http://schemas.openxmlformats.org/drawingml/2006/main">
            <a:r>
              <a:t>https://www.beckhoff.com/en-en/products/automation/twincat/tfxxxx-twincat-3-functions/tf1xxx-system/tf1700.html</a:t>
            </a:r>
          </a:p>
          <a:p xmlns:a="http://schemas.openxmlformats.org/drawingml/2006/main">
            <a:r>
              <a:t>該当箇所 Properties／direct system access；Product status／market release on request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企業／開発元／展示会の公式説明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FC027 ものレボ MonoRevo：工程計画・スケジューリング</a:t>
            </a:r>
          </a:p>
          <a:p xmlns:a="http://schemas.openxmlformats.org/drawingml/2006/main">
            <a:r>
              <a:t>ブース W3042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計画制約・再計画確定者・例外対応は未確認。</a:t>
            </a:r>
          </a:p>
          <a:p xmlns:a="http://schemas.openxmlformats.org/drawingml/2006/main">
            <a:r>
              <a:t>段階 JIMTOF2026公式カタログ掲載・現地未確認 / 2026展示予定・提供段階未確認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EOV-V014-2026-1 ものレボ株式会社</a:t>
            </a:r>
          </a:p>
          <a:p xmlns:a="http://schemas.openxmlformats.org/drawingml/2006/main">
            <a:r>
              <a:t>JIMTOF2026公式カタログ：ものレボ株式会社 (W3042)</a:t>
            </a:r>
          </a:p>
          <a:p xmlns:a="http://schemas.openxmlformats.org/drawingml/2006/main">
            <a:r>
              <a:t>https://www.jimtof.org/search/jp/ESdetails?e=sccKfxE4bYo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FC049 TAKISAWA TR-20W：主軸の切粉除去</a:t>
            </a:r>
          </a:p>
          <a:p xmlns:a="http://schemas.openxmlformats.org/drawingml/2006/main">
            <a:r>
              <a:t>ブース E3013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許可動作、除去失敗の検出・再試行・人への引継ぎは未確認。</a:t>
            </a:r>
          </a:p>
          <a:p xmlns:a="http://schemas.openxmlformats.org/drawingml/2006/main">
            <a:r>
              <a:t>段階 JIMTOF2026公式カタログ掲載・現地未確認 / 参考出品・現地未検証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EOV-V030-2024-1 株式会社TAKISAWA</a:t>
            </a:r>
          </a:p>
          <a:p xmlns:a="http://schemas.openxmlformats.org/drawingml/2006/main">
            <a:r>
              <a:t>JIMTOF2024公式カタログ：株式会社TAKISAWA (E3013)</a:t>
            </a:r>
          </a:p>
          <a:p xmlns:a="http://schemas.openxmlformats.org/drawingml/2006/main">
            <a:r>
              <a:t>https://www.jimtof.org/2024/search/jp/ESdetails?e=K00DRD-BngA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EOV-V030-2026-1 株式会社TAKISAWA</a:t>
            </a:r>
          </a:p>
          <a:p xmlns:a="http://schemas.openxmlformats.org/drawingml/2006/main">
            <a:r>
              <a:t>JIMTOF2026公式カタログ：株式会社TAKISAWA (E3013)</a:t>
            </a:r>
          </a:p>
          <a:p xmlns:a="http://schemas.openxmlformats.org/drawingml/2006/main">
            <a:r>
              <a:t>https://www.jimtof.org/search/jp/ESdetails?e=3dTDRAMwZpM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EAT-N01 ニデック</a:t>
            </a:r>
          </a:p>
          <a:p xmlns:a="http://schemas.openxmlformats.org/drawingml/2006/main">
            <a:r>
              <a:t>JIMTOF2026 TR-20W</a:t>
            </a:r>
          </a:p>
          <a:p xmlns:a="http://schemas.openxmlformats.org/drawingml/2006/main">
            <a:r>
              <a:t>https://www.nidec.com/jp/products/machine-tools/contents/machine-tool-jimtof2026/</a:t>
            </a:r>
          </a:p>
          <a:p xmlns:a="http://schemas.openxmlformats.org/drawingml/2006/main">
            <a:r>
              <a:t>該当箇所 TR-20W：フィジカルAI搭載のロボットシステム（参考出品）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EAT-N02 ニデック</a:t>
            </a:r>
          </a:p>
          <a:p xmlns:a="http://schemas.openxmlformats.org/drawingml/2006/main">
            <a:r>
              <a:t>MGC300開発発表</a:t>
            </a:r>
          </a:p>
          <a:p xmlns:a="http://schemas.openxmlformats.org/drawingml/2006/main">
            <a:r>
              <a:t>https://www.nidec.com/jp/product/news/2024/news1101-03/</a:t>
            </a:r>
          </a:p>
          <a:p xmlns:a="http://schemas.openxmlformats.org/drawingml/2006/main">
            <a:r>
              <a:t>該当箇所 2024年11月1日／MGC300の出展説明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ERF-13 ニデック／TAKISAWA</a:t>
            </a:r>
          </a:p>
          <a:p xmlns:a="http://schemas.openxmlformats.org/drawingml/2006/main">
            <a:r>
              <a:t>JIMTOF2026：TR-20W参考出品</a:t>
            </a:r>
          </a:p>
          <a:p xmlns:a="http://schemas.openxmlformats.org/drawingml/2006/main">
            <a:r>
              <a:t>https://www.nidec.com/jp/products/machine-tools/contents/machine-tool-jimtof2026/</a:t>
            </a:r>
          </a:p>
          <a:p xmlns:a="http://schemas.openxmlformats.org/drawingml/2006/main">
            <a:r>
              <a:t>該当箇所 TAKISAWA／TR-20W、主軸の切粉認識・判断・除去、参考出品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企業／開発元／展示会の公式説明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AC146 東京エレクトロンデバイス株式会社 3D形状認識・教示不要の面取り／皿もみ</a:t>
            </a:r>
          </a:p>
          <a:p xmlns:a="http://schemas.openxmlformats.org/drawingml/2006/main">
            <a:r>
              <a:t>ブース E7073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加工条件設定、干渉確認、誤認識時の停止・品質承認は未公開。</a:t>
            </a:r>
          </a:p>
          <a:p xmlns:a="http://schemas.openxmlformats.org/drawingml/2006/main">
            <a:r>
              <a:t>段階 東京エンジニアリングE7073内で展示予定（企業公式告知で確認） / 2026展示予定。既存製品・参考出展・構想等は原典で個別確認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EEX-EXH-2026-8c08de1ffed47316 東京エレクトロンデバイス株式会社</a:t>
            </a:r>
          </a:p>
          <a:p xmlns:a="http://schemas.openxmlformats.org/drawingml/2006/main">
            <a:r>
              <a:t>JIMTOF2026公式出展説明：東京エレクトロンデバイス株式会社 (E7073)</a:t>
            </a:r>
          </a:p>
          <a:p xmlns:a="http://schemas.openxmlformats.org/drawingml/2006/main">
            <a:r>
              <a:t>https://www.jimtof.org/search/jp/ESdetails?e=c4cChQniAm8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EEX-WTED 東京エレクトロンデバイス株式会社</a:t>
            </a:r>
          </a:p>
          <a:p xmlns:a="http://schemas.openxmlformats.org/drawingml/2006/main">
            <a:r>
              <a:t>企業公式の展示告知</a:t>
            </a:r>
          </a:p>
          <a:p xmlns:a="http://schemas.openxmlformats.org/drawingml/2006/main">
            <a:r>
              <a:t>https://www.inrevium.com/news-event/event/p7331/</a:t>
            </a:r>
          </a:p>
          <a:p xmlns:a="http://schemas.openxmlformats.org/drawingml/2006/main">
            <a:r>
              <a:t>該当箇所 展示会概要・出展製品／2026年5月13日の製品説明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留保 接点の整理は分析。開発余地・市場の空白・既存製品の機能不足を実証したものではない。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JIMTOF2026 事前調査 2026年10月21日</a:t>
            </a:r>
          </a:p>
          <a:p xmlns:a="http://schemas.openxmlformats.org/drawingml/2006/main">
            <a:r>
              <a:t>現地調査・顧客実証は未実施。公開発表、展示予定、分析仮説を区別。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FC015 ベッコフオートメーション TwinCAT CNC：切削信号の解析・独自制御</a:t>
            </a:r>
          </a:p>
          <a:p xmlns:a="http://schemas.openxmlformats.org/drawingml/2006/main">
            <a:r>
              <a:t>ブース E2028</a:t>
            </a:r>
          </a:p>
          <a:p xmlns:a="http://schemas.openxmlformats.org/drawingml/2006/main">
            <a:r>
              <a:t>確認深度 個別タスク整理</a:t>
            </a:r>
          </a:p>
          <a:p xmlns:a="http://schemas.openxmlformats.org/drawingml/2006/main">
            <a:r>
              <a:t>人の残作業 制御ロジック設計・安定性確認・機種適合は開発者の範囲。AI使用は必須ではない</a:t>
            </a:r>
          </a:p>
          <a:p xmlns:a="http://schemas.openxmlformats.org/drawingml/2006/main">
            <a:r>
              <a:t>段階 JIMTOF2026公式カタログ掲載・現地未確認 / 2026展示予定・提供段階未確認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EOV-V005-2026-1 ベッコフオートメーション株式会社</a:t>
            </a:r>
          </a:p>
          <a:p xmlns:a="http://schemas.openxmlformats.org/drawingml/2006/main">
            <a:r>
              <a:t>JIMTOF2026公式カタログ：ベッコフオートメーション株式会社 (E2028)</a:t>
            </a:r>
          </a:p>
          <a:p xmlns:a="http://schemas.openxmlformats.org/drawingml/2006/main">
            <a:r>
              <a:t>https://www.jimtof.org/search/jp/ESdetails?e=K7DqahO2h08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AC175 日本キスラー合同会社 【水晶圧電式ワイヤレス回転式動力計9171B】</a:t>
            </a:r>
          </a:p>
          <a:p xmlns:a="http://schemas.openxmlformats.org/drawingml/2006/main">
            <a:r>
              <a:t>ブース S4031</a:t>
            </a:r>
          </a:p>
          <a:p xmlns:a="http://schemas.openxmlformats.org/drawingml/2006/main">
            <a:r>
              <a:t>確認深度 出展説明の一次分類</a:t>
            </a:r>
          </a:p>
          <a:p xmlns:a="http://schemas.openxmlformats.org/drawingml/2006/main">
            <a:r>
              <a:t>人の残作業 承認・例外対応・停止・復帰の境界は未確認</a:t>
            </a:r>
          </a:p>
          <a:p xmlns:a="http://schemas.openxmlformats.org/drawingml/2006/main">
            <a:r>
              <a:t>段階 2026公式カタログ掲載・現地未確認 / 2026展示予定。既存製品・参考出展・構想等は原典で個別確認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EEX-EXH-2026-e0340858cb52d52f 日本キスラー合同会社</a:t>
            </a:r>
          </a:p>
          <a:p xmlns:a="http://schemas.openxmlformats.org/drawingml/2006/main">
            <a:r>
              <a:t>JIMTOF2026公式出展説明：日本キスラー合同会社 (S4031)</a:t>
            </a:r>
          </a:p>
          <a:p xmlns:a="http://schemas.openxmlformats.org/drawingml/2006/main">
            <a:r>
              <a:t>https://www.jimtof.org/search/jp/ESdetails?e=7Gt1ylw_a8s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EEX-EXH-2024-a947d5bb3582cb0e 日本キスラー合同会社</a:t>
            </a:r>
          </a:p>
          <a:p xmlns:a="http://schemas.openxmlformats.org/drawingml/2006/main">
            <a:r>
              <a:t>JIMTOF2024公式出展説明：日本キスラー合同会社 (E7004)</a:t>
            </a:r>
          </a:p>
          <a:p xmlns:a="http://schemas.openxmlformats.org/drawingml/2006/main">
            <a:r>
              <a:t>https://www.jimtof.org/2024/search/jp/ESdetails?e=OdShO16iijA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FC018 Hexagon Manufacturing Intelligence ESPRIT EDGE ProPlanAI</a:t>
            </a:r>
          </a:p>
          <a:p xmlns:a="http://schemas.openxmlformats.org/drawingml/2006/main">
            <a:r>
              <a:t>ブース E2013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過去データを準備。確認画面はあるが最終NC採用権限は未公表。</a:t>
            </a:r>
          </a:p>
          <a:p xmlns:a="http://schemas.openxmlformats.org/drawingml/2006/main">
            <a:r>
              <a:t>段階 JIMTOF2026公式カタログ掲載・現地未確認 / メーカーが商用提供範囲を説明・顧客実績未確認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EOV-V007-2026-2 Hexagon Manufacturing Intelligence株式会社</a:t>
            </a:r>
          </a:p>
          <a:p xmlns:a="http://schemas.openxmlformats.org/drawingml/2006/main">
            <a:r>
              <a:t>JIMTOF2026公式カタログ：Hexagon Manufacturing Intelligence株式会社 (E2013)</a:t>
            </a:r>
          </a:p>
          <a:p xmlns:a="http://schemas.openxmlformats.org/drawingml/2006/main">
            <a:r>
              <a:t>https://www.jimtof.org/search/jp/ESdetails?e=6l20Qo0pjl4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EOV-W02 Hexagon</a:t>
            </a:r>
          </a:p>
          <a:p xmlns:a="http://schemas.openxmlformats.org/drawingml/2006/main">
            <a:r>
              <a:t>ESPRIT EDGE Release Highlights</a:t>
            </a:r>
          </a:p>
          <a:p xmlns:a="http://schemas.openxmlformats.org/drawingml/2006/main">
            <a:r>
              <a:t>https://hexagon.com/products/esprit-edge/release-highlights</a:t>
            </a:r>
          </a:p>
          <a:p xmlns:a="http://schemas.openxmlformats.org/drawingml/2006/main">
            <a:r>
              <a:t>該当箇所 2025.2 PROPLANAI、2026.1 ProPlanAI for Turning, Mill-Turn &amp; Swiss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企業公式資料・メーカー主張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FC014 ベッコフオートメーション TwinCAT Machine Learning Creator</a:t>
            </a:r>
          </a:p>
          <a:p xmlns:a="http://schemas.openxmlformats.org/drawingml/2006/main">
            <a:r>
              <a:t>ブース E2028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人がデータ・注釈・目的を準備。実機採用基準は要確認。</a:t>
            </a:r>
          </a:p>
          <a:p xmlns:a="http://schemas.openxmlformats.org/drawingml/2006/main">
            <a:r>
              <a:t>段階 JIMTOF2026公式カタログ掲載・現地未確認 / 既存製品方式確認・2026掲載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EOV-W01 Beckhoff</a:t>
            </a:r>
          </a:p>
          <a:p xmlns:a="http://schemas.openxmlformats.org/drawingml/2006/main">
            <a:r>
              <a:t>TwinCAT 3 Machine Learning Creator</a:t>
            </a:r>
          </a:p>
          <a:p xmlns:a="http://schemas.openxmlformats.org/drawingml/2006/main">
            <a:r>
              <a:t>https://www.beckhoff.com/en-za/products/automation/twincat/texxxx-twincat-3-engineering/te3850.html</a:t>
            </a:r>
          </a:p>
          <a:p xmlns:a="http://schemas.openxmlformats.org/drawingml/2006/main">
            <a:r>
              <a:t>該当箇所 製品説明冒頭、Product status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企業公式資料・メーカー主張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EDP-04 Beckhoff</a:t>
            </a:r>
          </a:p>
          <a:p xmlns:a="http://schemas.openxmlformats.org/drawingml/2006/main">
            <a:r>
              <a:t>PC Control 02/2024：Machine Learning Creator</a:t>
            </a:r>
          </a:p>
          <a:p xmlns:a="http://schemas.openxmlformats.org/drawingml/2006/main">
            <a:r>
              <a:t>https://www.beckhoff.com/media/downloads/information-media/pc-control/pcc_0224_e.pdf</a:t>
            </a:r>
          </a:p>
          <a:p xmlns:a="http://schemas.openxmlformats.org/drawingml/2006/main">
            <a:r>
              <a:t>該当箇所 TE3850／訓練・テストデータ分割、モデル解析、ONNX出力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FC033 レニショー Renishaw Central＋IPC</a:t>
            </a:r>
          </a:p>
          <a:p xmlns:a="http://schemas.openxmlformats.org/drawingml/2006/main">
            <a:r>
              <a:t>ブース E7089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計測不確かさ、補正上限、異常値の抑止条件は未確認。</a:t>
            </a:r>
          </a:p>
          <a:p xmlns:a="http://schemas.openxmlformats.org/drawingml/2006/main">
            <a:r>
              <a:t>段階 JIMTOF2026公式カタログ掲載・現地未確認 / 既存方式・メーカー自社工場事例あり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EOV-V018-2024-1 レニショー株式会社</a:t>
            </a:r>
          </a:p>
          <a:p xmlns:a="http://schemas.openxmlformats.org/drawingml/2006/main">
            <a:r>
              <a:t>JIMTOF2024公式カタログ：レニショー株式会社 (E7026)</a:t>
            </a:r>
          </a:p>
          <a:p xmlns:a="http://schemas.openxmlformats.org/drawingml/2006/main">
            <a:r>
              <a:t>https://www.jimtof.org/2024/search/jp/ESdetails?e=ekM3exgIAtc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EOV-V018-2026-1 レニショー株式会社</a:t>
            </a:r>
          </a:p>
          <a:p xmlns:a="http://schemas.openxmlformats.org/drawingml/2006/main">
            <a:r>
              <a:t>JIMTOF2026公式カタログ：レニショー株式会社 (E7089)</a:t>
            </a:r>
          </a:p>
          <a:p xmlns:a="http://schemas.openxmlformats.org/drawingml/2006/main">
            <a:r>
              <a:t>https://www.jimtof.org/search/jp/ESdetails?e=pYGmVz5GC1c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EOV-W03 レニショー</a:t>
            </a:r>
          </a:p>
          <a:p xmlns:a="http://schemas.openxmlformats.org/drawingml/2006/main">
            <a:r>
              <a:t>Renishaw Central データプラットフォーム</a:t>
            </a:r>
          </a:p>
          <a:p xmlns:a="http://schemas.openxmlformats.org/drawingml/2006/main">
            <a:r>
              <a:t>https://www.renishaw.com/jp/smart-manufacturing-data-platform-for-industrial-process-control--47853</a:t>
            </a:r>
          </a:p>
          <a:p xmlns:a="http://schemas.openxmlformats.org/drawingml/2006/main">
            <a:r>
              <a:t>該当箇所 メカニズム、現場でのクローズドループ、導入効果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企業公式資料・メーカー主張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FC027 ものレボ MonoRevo：工程計画・スケジューリング</a:t>
            </a:r>
          </a:p>
          <a:p xmlns:a="http://schemas.openxmlformats.org/drawingml/2006/main">
            <a:r>
              <a:t>ブース W3042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計画制約・再計画確定者・例外対応は未確認。</a:t>
            </a:r>
          </a:p>
          <a:p xmlns:a="http://schemas.openxmlformats.org/drawingml/2006/main">
            <a:r>
              <a:t>段階 JIMTOF2026公式カタログ掲載・現地未確認 / 2026展示予定・提供段階未確認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EOV-V014-2026-1 ものレボ株式会社</a:t>
            </a:r>
          </a:p>
          <a:p xmlns:a="http://schemas.openxmlformats.org/drawingml/2006/main">
            <a:r>
              <a:t>JIMTOF2026公式カタログ：ものレボ株式会社 (W3042)</a:t>
            </a:r>
          </a:p>
          <a:p xmlns:a="http://schemas.openxmlformats.org/drawingml/2006/main">
            <a:r>
              <a:t>https://www.jimtof.org/search/jp/ESdetails?e=sccKfxE4bYo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FC049 TAKISAWA TR-20W：主軸の切粉除去</a:t>
            </a:r>
          </a:p>
          <a:p xmlns:a="http://schemas.openxmlformats.org/drawingml/2006/main">
            <a:r>
              <a:t>ブース E3013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許可動作、除去失敗の検出・再試行・人への引継ぎは未確認。</a:t>
            </a:r>
          </a:p>
          <a:p xmlns:a="http://schemas.openxmlformats.org/drawingml/2006/main">
            <a:r>
              <a:t>段階 JIMTOF2026公式カタログ掲載・現地未確認 / 参考出品・現地未検証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EOV-V030-2024-1 株式会社TAKISAWA</a:t>
            </a:r>
          </a:p>
          <a:p xmlns:a="http://schemas.openxmlformats.org/drawingml/2006/main">
            <a:r>
              <a:t>JIMTOF2024公式カタログ：株式会社TAKISAWA (E3013)</a:t>
            </a:r>
          </a:p>
          <a:p xmlns:a="http://schemas.openxmlformats.org/drawingml/2006/main">
            <a:r>
              <a:t>https://www.jimtof.org/2024/search/jp/ESdetails?e=K00DRD-BngA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EOV-V030-2026-1 株式会社TAKISAWA</a:t>
            </a:r>
          </a:p>
          <a:p xmlns:a="http://schemas.openxmlformats.org/drawingml/2006/main">
            <a:r>
              <a:t>JIMTOF2026公式カタログ：株式会社TAKISAWA (E3013)</a:t>
            </a:r>
          </a:p>
          <a:p xmlns:a="http://schemas.openxmlformats.org/drawingml/2006/main">
            <a:r>
              <a:t>https://www.jimtof.org/search/jp/ESdetails?e=3dTDRAMwZpM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EAT-N01 ニデック</a:t>
            </a:r>
          </a:p>
          <a:p xmlns:a="http://schemas.openxmlformats.org/drawingml/2006/main">
            <a:r>
              <a:t>JIMTOF2026 TR-20W</a:t>
            </a:r>
          </a:p>
          <a:p xmlns:a="http://schemas.openxmlformats.org/drawingml/2006/main">
            <a:r>
              <a:t>https://www.nidec.com/jp/products/machine-tools/contents/machine-tool-jimtof2026/</a:t>
            </a:r>
          </a:p>
          <a:p xmlns:a="http://schemas.openxmlformats.org/drawingml/2006/main">
            <a:r>
              <a:t>該当箇所 TR-20W：フィジカルAI搭載のロボットシステム（参考出品）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EAT-N02 ニデック</a:t>
            </a:r>
          </a:p>
          <a:p xmlns:a="http://schemas.openxmlformats.org/drawingml/2006/main">
            <a:r>
              <a:t>MGC300開発発表</a:t>
            </a:r>
          </a:p>
          <a:p xmlns:a="http://schemas.openxmlformats.org/drawingml/2006/main">
            <a:r>
              <a:t>https://www.nidec.com/jp/product/news/2024/news1101-03/</a:t>
            </a:r>
          </a:p>
          <a:p xmlns:a="http://schemas.openxmlformats.org/drawingml/2006/main">
            <a:r>
              <a:t>該当箇所 2024年11月1日／MGC300の出展説明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ERF-13 ニデック／TAKISAWA</a:t>
            </a:r>
          </a:p>
          <a:p xmlns:a="http://schemas.openxmlformats.org/drawingml/2006/main">
            <a:r>
              <a:t>JIMTOF2026：TR-20W参考出品</a:t>
            </a:r>
          </a:p>
          <a:p xmlns:a="http://schemas.openxmlformats.org/drawingml/2006/main">
            <a:r>
              <a:t>https://www.nidec.com/jp/products/machine-tools/contents/machine-tool-jimtof2026/</a:t>
            </a:r>
          </a:p>
          <a:p xmlns:a="http://schemas.openxmlformats.org/drawingml/2006/main">
            <a:r>
              <a:t>該当箇所 TAKISAWA／TR-20W、主軸の切粉認識・判断・除去、参考出品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企業／開発元／展示会の公式説明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留保 D1とD3は加工現象・計測に強みがある場合の優先案。自社能力・需要・支払意思は未確認。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JIMTOF2026 事前調査 2026年10月21日</a:t>
            </a:r>
          </a:p>
          <a:p xmlns:a="http://schemas.openxmlformats.org/drawingml/2006/main">
            <a:r>
              <a:t>現地調査・顧客実証は未実施。公開発表、展示予定、分析仮説を区別。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S01 産総研</a:t>
            </a:r>
          </a:p>
          <a:p xmlns:a="http://schemas.openxmlformats.org/drawingml/2006/main">
            <a:r>
              <a:t>製造AX拠点を始動</a:t>
            </a:r>
          </a:p>
          <a:p xmlns:a="http://schemas.openxmlformats.org/drawingml/2006/main">
            <a:r>
              <a:t>発表 2026-07-02</a:t>
            </a:r>
          </a:p>
          <a:p xmlns:a="http://schemas.openxmlformats.org/drawingml/2006/main">
            <a:r>
              <a:t>https://www.aist.go.jp/aist_j/news/pr20260702.html</a:t>
            </a:r>
          </a:p>
          <a:p xmlns:a="http://schemas.openxmlformats.org/drawingml/2006/main">
            <a:r>
              <a:t>該当箇所 「産総研を核とした製造AX拠点」「GENIAC事業の活用」</a:t>
            </a:r>
          </a:p>
          <a:p xmlns:a="http://schemas.openxmlformats.org/drawingml/2006/main">
            <a:r>
              <a:t>確認範囲 本文の該当節を確認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S02 DMG森精機</a:t>
            </a:r>
          </a:p>
          <a:p xmlns:a="http://schemas.openxmlformats.org/drawingml/2006/main">
            <a:r>
              <a:t>GENIAC事業に採択：生産設備データエコシステムと製造フィジカルAI基盤</a:t>
            </a:r>
          </a:p>
          <a:p xmlns:a="http://schemas.openxmlformats.org/drawingml/2006/main">
            <a:r>
              <a:t>発表 2026-07-06</a:t>
            </a:r>
          </a:p>
          <a:p xmlns:a="http://schemas.openxmlformats.org/drawingml/2006/main">
            <a:r>
              <a:t>https://www.dmgmori.co.jp/corporate/news/2026/20260706_geniac.html</a:t>
            </a:r>
          </a:p>
          <a:p xmlns:a="http://schemas.openxmlformats.org/drawingml/2006/main">
            <a:r>
              <a:t>該当箇所 協力企業・設備数、データ整備、権利処理の段落</a:t>
            </a:r>
          </a:p>
          <a:p xmlns:a="http://schemas.openxmlformats.org/drawingml/2006/main">
            <a:r>
              <a:t>確認範囲 検索結果の本文抽出を確認・直接オープン未確認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S31 三菱電機・アーヘン工科大学</a:t>
            </a:r>
          </a:p>
          <a:p xmlns:a="http://schemas.openxmlformats.org/drawingml/2006/main">
            <a:r>
              <a:t>CNC上で加工誤差を補正するエッジデジタルツイン</a:t>
            </a:r>
          </a:p>
          <a:p xmlns:a="http://schemas.openxmlformats.org/drawingml/2006/main">
            <a:r>
              <a:t>発表 2026-03-25</a:t>
            </a:r>
          </a:p>
          <a:p xmlns:a="http://schemas.openxmlformats.org/drawingml/2006/main">
            <a:r>
              <a:t>https://www.mitsubishielectric.co.jp/ja/pr/2026/0325/</a:t>
            </a:r>
          </a:p>
          <a:p xmlns:a="http://schemas.openxmlformats.org/drawingml/2006/main">
            <a:r>
              <a:t>該当箇所 背景・データ選別とコンパクトな物理モデル</a:t>
            </a:r>
          </a:p>
          <a:p xmlns:a="http://schemas.openxmlformats.org/drawingml/2006/main">
            <a:r>
              <a:t>確認範囲 本文の該当節を確認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S35 Beckhoff</a:t>
            </a:r>
          </a:p>
          <a:p xmlns:a="http://schemas.openxmlformats.org/drawingml/2006/main">
            <a:r>
              <a:t>TwinCAT Machine Learning Creator: Workflows for users</a:t>
            </a:r>
          </a:p>
          <a:p xmlns:a="http://schemas.openxmlformats.org/drawingml/2006/main">
            <a:r>
              <a:t>発表 未記載</a:t>
            </a:r>
          </a:p>
          <a:p xmlns:a="http://schemas.openxmlformats.org/drawingml/2006/main">
            <a:r>
              <a:t>https://infosys.beckhoff.com/content/1033/te3850_tc3_machine_learning_creator/21561799691.html</a:t>
            </a:r>
          </a:p>
          <a:p xmlns:a="http://schemas.openxmlformats.org/drawingml/2006/main">
            <a:r>
              <a:t>該当箇所 Create a data set / Validate and analyze the model / Export model</a:t>
            </a:r>
          </a:p>
          <a:p xmlns:a="http://schemas.openxmlformats.org/drawingml/2006/main">
            <a:r>
              <a:t>確認範囲 検索結果の本文抽出を確認。直接オープンは取得失敗。公表日は検索エンジンの不整合な日付を採用せず未記載。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S37 産総研 MOCO</a:t>
            </a:r>
          </a:p>
          <a:p xmlns:a="http://schemas.openxmlformats.org/drawingml/2006/main">
            <a:r>
              <a:t>ものづくり創造コンソーシアム 入会案内</a:t>
            </a:r>
          </a:p>
          <a:p xmlns:a="http://schemas.openxmlformats.org/drawingml/2006/main">
            <a:r>
              <a:t>発表 未記載（2026年5月版会則へのリンクあり）</a:t>
            </a:r>
          </a:p>
          <a:p xmlns:a="http://schemas.openxmlformats.org/drawingml/2006/main">
            <a:r>
              <a:t>https://unit.aist.go.jp/cmt-ri/moco/ja/join/index.html</a:t>
            </a:r>
          </a:p>
          <a:p xmlns:a="http://schemas.openxmlformats.org/drawingml/2006/main">
            <a:r>
              <a:t>該当箇所 会員種別・入会方法</a:t>
            </a:r>
          </a:p>
          <a:p xmlns:a="http://schemas.openxmlformats.org/drawingml/2006/main">
            <a:r>
              <a:t>確認範囲 本文を確認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S38 産総研</a:t>
            </a:r>
          </a:p>
          <a:p xmlns:a="http://schemas.openxmlformats.org/drawingml/2006/main">
            <a:r>
              <a:t>少数データから短時間で現場環境に応じた最適加工条件を決定</a:t>
            </a:r>
          </a:p>
          <a:p xmlns:a="http://schemas.openxmlformats.org/drawingml/2006/main">
            <a:r>
              <a:t>発表 2022-01-17</a:t>
            </a:r>
          </a:p>
          <a:p xmlns:a="http://schemas.openxmlformats.org/drawingml/2006/main">
            <a:r>
              <a:t>https://www.aist.go.jp/aist_j/press_release/pr2022/pr20220117/pr20220117.html</a:t>
            </a:r>
          </a:p>
          <a:p xmlns:a="http://schemas.openxmlformats.org/drawingml/2006/main">
            <a:r>
              <a:t>該当箇所 研究の内容・今後の予定</a:t>
            </a:r>
          </a:p>
          <a:p xmlns:a="http://schemas.openxmlformats.org/drawingml/2006/main">
            <a:r>
              <a:t>確認範囲 本文の研究条件と限界を確認。切削や全工場へ一般化しない。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S40 三菱電機</a:t>
            </a:r>
          </a:p>
          <a:p xmlns:a="http://schemas.openxmlformats.org/drawingml/2006/main">
            <a:r>
              <a:t>少量の学習データで機器の劣化を高精度に推定する物理モデル組み込みAIを開発</a:t>
            </a:r>
          </a:p>
          <a:p xmlns:a="http://schemas.openxmlformats.org/drawingml/2006/main">
            <a:r>
              <a:t>発表 2025-12-10</a:t>
            </a:r>
          </a:p>
          <a:p xmlns:a="http://schemas.openxmlformats.org/drawingml/2006/main">
            <a:r>
              <a:t>https://www.mitsubishielectric.co.jp/ja/pr/2025/pdf/1210.pdf</a:t>
            </a:r>
          </a:p>
          <a:p xmlns:a="http://schemas.openxmlformats.org/drawingml/2006/main">
            <a:r>
              <a:t>該当箇所 PDF 1–3ページ：物理モデルと追加学習・適用対象</a:t>
            </a:r>
          </a:p>
          <a:p xmlns:a="http://schemas.openxmlformats.org/drawingml/2006/main">
            <a:r>
              <a:t>確認範囲 PDF本文の抽出テキストを確認。図の視覚的な確認は未実施。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留保 MOCOの入会窓口は確認。入会で製造AX・GENIACデータの利用権を得られるとは確認していない。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JIMTOF2026 事前調査 2026年10月21日</a:t>
            </a:r>
          </a:p>
          <a:p xmlns:a="http://schemas.openxmlformats.org/drawingml/2006/main">
            <a:r>
              <a:t>現地調査・顧客実証は未実施。公開発表、展示予定、分析仮説を区別。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S20 日本総研</a:t>
            </a:r>
          </a:p>
          <a:p xmlns:a="http://schemas.openxmlformats.org/drawingml/2006/main">
            <a:r>
              <a:t>フィジカルAIを日本の勝ち筋にするために</a:t>
            </a:r>
          </a:p>
          <a:p xmlns:a="http://schemas.openxmlformats.org/drawingml/2006/main">
            <a:r>
              <a:t>発表 2026-08-14</a:t>
            </a:r>
          </a:p>
          <a:p xmlns:a="http://schemas.openxmlformats.org/drawingml/2006/main">
            <a:r>
              <a:t>https://www.jri.co.jp/page.jsp?id=114749</a:t>
            </a:r>
          </a:p>
          <a:p xmlns:a="http://schemas.openxmlformats.org/drawingml/2006/main">
            <a:r>
              <a:t>該当箇所 公表要旨のフィードバックループ</a:t>
            </a:r>
          </a:p>
          <a:p xmlns:a="http://schemas.openxmlformats.org/drawingml/2006/main">
            <a:r>
              <a:t>確認範囲 HTML公表要旨を確認・PDF本文未確認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S24 MONOist／DMG森精機社長インタビュー</a:t>
            </a:r>
          </a:p>
          <a:p xmlns:a="http://schemas.openxmlformats.org/drawingml/2006/main">
            <a:r>
              <a:t>工作機械のソフトウェアデファインド化とMX</a:t>
            </a:r>
          </a:p>
          <a:p xmlns:a="http://schemas.openxmlformats.org/drawingml/2006/main">
            <a:r>
              <a:t>発表 2025-09-26</a:t>
            </a:r>
          </a:p>
          <a:p xmlns:a="http://schemas.openxmlformats.org/drawingml/2006/main">
            <a:r>
              <a:t>https://monoist.itmedia.co.jp/mn/articles/2509/27/news004.html</a:t>
            </a:r>
          </a:p>
          <a:p xmlns:a="http://schemas.openxmlformats.org/drawingml/2006/main">
            <a:r>
              <a:t>該当箇所 全2ページ：アプリ追加、更新、CAD/CAM・ERP接続、ツイン</a:t>
            </a:r>
          </a:p>
          <a:p xmlns:a="http://schemas.openxmlformats.org/drawingml/2006/main">
            <a:r>
              <a:t>確認範囲 本文の該当節を確認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S25 MONOist／DMG森精機社長インタビュー</a:t>
            </a:r>
          </a:p>
          <a:p xmlns:a="http://schemas.openxmlformats.org/drawingml/2006/main">
            <a:r>
              <a:t>工作機械の各ユーザーにAIエージェントを</a:t>
            </a:r>
          </a:p>
          <a:p xmlns:a="http://schemas.openxmlformats.org/drawingml/2006/main">
            <a:r>
              <a:t>発表 2026-06-15</a:t>
            </a:r>
          </a:p>
          <a:p xmlns:a="http://schemas.openxmlformats.org/drawingml/2006/main">
            <a:r>
              <a:t>https://monoist.itmedia.co.jp/mn/articles/2606/15/news047_2.html</a:t>
            </a:r>
          </a:p>
          <a:p xmlns:a="http://schemas.openxmlformats.org/drawingml/2006/main">
            <a:r>
              <a:t>該当箇所 「工作機械の各ユーザーにAIエージェントを」</a:t>
            </a:r>
          </a:p>
          <a:p xmlns:a="http://schemas.openxmlformats.org/drawingml/2006/main">
            <a:r>
              <a:t>確認範囲 本文の該当節を確認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S26 DMG森精機</a:t>
            </a:r>
          </a:p>
          <a:p xmlns:a="http://schemas.openxmlformats.org/drawingml/2006/main">
            <a:r>
              <a:t>CELOS ClubにCondition Agentを搭載</a:t>
            </a:r>
          </a:p>
          <a:p xmlns:a="http://schemas.openxmlformats.org/drawingml/2006/main">
            <a:r>
              <a:t>発表 2026-07-06</a:t>
            </a:r>
          </a:p>
          <a:p xmlns:a="http://schemas.openxmlformats.org/drawingml/2006/main">
            <a:r>
              <a:t>https://www.dmgmori.co.jp/corporate/news/2026/20260706_conditionagent.html</a:t>
            </a:r>
          </a:p>
          <a:p xmlns:a="http://schemas.openxmlformats.org/drawingml/2006/main">
            <a:r>
              <a:t>該当箇所 サービスの導入・標準搭載・予兆保全の説明</a:t>
            </a:r>
          </a:p>
          <a:p xmlns:a="http://schemas.openxmlformats.org/drawingml/2006/main">
            <a:r>
              <a:t>確認範囲 検索結果の本文抽出を確認・直接本文未確認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S27 DMG森精機</a:t>
            </a:r>
          </a:p>
          <a:p xmlns:a="http://schemas.openxmlformats.org/drawingml/2006/main">
            <a:r>
              <a:t>2026年度上半期決算リリース</a:t>
            </a:r>
          </a:p>
          <a:p xmlns:a="http://schemas.openxmlformats.org/drawingml/2006/main">
            <a:r>
              <a:t>発表 2026-08-04</a:t>
            </a:r>
          </a:p>
          <a:p xmlns:a="http://schemas.openxmlformats.org/drawingml/2006/main">
            <a:r>
              <a:t>https://www.dmgmori.co.jp/corporate/ir/ir_news/2026/20260804_release.html</a:t>
            </a:r>
          </a:p>
          <a:p xmlns:a="http://schemas.openxmlformats.org/drawingml/2006/main">
            <a:r>
              <a:t>該当箇所 MRO等の利益率寄与・Machining Intelligence・GENIAC</a:t>
            </a:r>
          </a:p>
          <a:p xmlns:a="http://schemas.openxmlformats.org/drawingml/2006/main">
            <a:r>
              <a:t>確認範囲 検索結果の本文抽出を確認・直接本文未確認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S28 DMG森精機</a:t>
            </a:r>
          </a:p>
          <a:p xmlns:a="http://schemas.openxmlformats.org/drawingml/2006/main">
            <a:r>
              <a:t>統合報告書2022：サービス・デジタル垂直統合</a:t>
            </a:r>
          </a:p>
          <a:p xmlns:a="http://schemas.openxmlformats.org/drawingml/2006/main">
            <a:r>
              <a:t>発表 </a:t>
            </a:r>
          </a:p>
          <a:p xmlns:a="http://schemas.openxmlformats.org/drawingml/2006/main">
            <a:r>
              <a:t>https://www.dmgmori.co.jp/corporate/ir/ir_library/pdf/2022_ar_j.pdf</a:t>
            </a:r>
          </a:p>
          <a:p xmlns:a="http://schemas.openxmlformats.org/drawingml/2006/main">
            <a:r>
              <a:t>該当箇所 VALUE CHAIN・テクニウムのサービス説明</a:t>
            </a:r>
          </a:p>
          <a:p xmlns:a="http://schemas.openxmlformats.org/drawingml/2006/main">
            <a:r>
              <a:t>確認範囲 検索結果の本文抽出を確認・PDF本体未確認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S29 DMG森精機</a:t>
            </a:r>
          </a:p>
          <a:p xmlns:a="http://schemas.openxmlformats.org/drawingml/2006/main">
            <a:r>
              <a:t>統合報告書2025ダイジェスト：MROと開発の連環</a:t>
            </a:r>
          </a:p>
          <a:p xmlns:a="http://schemas.openxmlformats.org/drawingml/2006/main">
            <a:r>
              <a:t>発表 2026</a:t>
            </a:r>
          </a:p>
          <a:p xmlns:a="http://schemas.openxmlformats.org/drawingml/2006/main">
            <a:r>
              <a:t>https://www.dmgmori.co.jp/corporate/ir/ir_library/pdf/2025_ir_digest_j.pdf</a:t>
            </a:r>
          </a:p>
          <a:p xmlns:a="http://schemas.openxmlformats.org/drawingml/2006/main">
            <a:r>
              <a:t>該当箇所 エンジニアリング商社モデル・MROと開発の連環</a:t>
            </a:r>
          </a:p>
          <a:p xmlns:a="http://schemas.openxmlformats.org/drawingml/2006/main">
            <a:r>
              <a:t>確認範囲 検索結果の本文抽出を確認・PDF本体未確認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S36 Beckhoff</a:t>
            </a:r>
          </a:p>
          <a:p xmlns:a="http://schemas.openxmlformats.org/drawingml/2006/main">
            <a:r>
              <a:t>TwinCAT Machine Learning Creator: Licensing</a:t>
            </a:r>
          </a:p>
          <a:p xmlns:a="http://schemas.openxmlformats.org/drawingml/2006/main">
            <a:r>
              <a:t>発表 未記載</a:t>
            </a:r>
          </a:p>
          <a:p xmlns:a="http://schemas.openxmlformats.org/drawingml/2006/main">
            <a:r>
              <a:t>https://infosys.beckhoff.com/content/1033/te3850_tc3_machine_learning_creator/21561794187.html</a:t>
            </a:r>
          </a:p>
          <a:p xmlns:a="http://schemas.openxmlformats.org/drawingml/2006/main">
            <a:r>
              <a:t>該当箇所 Overview / ライセンス別の外部ONNX出力と計算資源</a:t>
            </a:r>
          </a:p>
          <a:p xmlns:a="http://schemas.openxmlformats.org/drawingml/2006/main">
            <a:r>
              <a:t>確認範囲 検索結果の本文抽出を確認。直接オープンは取得失敗。現行契約への適用は商談で再確認が必要。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留保 売上・利益の予測値は置いていない。自社導入は、顧客向けサービスのデータ取得・運用費検証にも使える。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JIMTOF2026 事前調査 2026年10月21日</a:t>
            </a:r>
          </a:p>
          <a:p xmlns:a="http://schemas.openxmlformats.org/drawingml/2006/main">
            <a:r>
              <a:t>現地調査・顧客実証は未実施。公開発表、展示予定、分析仮説を区別。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S02 DMG森精機</a:t>
            </a:r>
          </a:p>
          <a:p xmlns:a="http://schemas.openxmlformats.org/drawingml/2006/main">
            <a:r>
              <a:t>GENIAC事業に採択：生産設備データエコシステムと製造フィジカルAI基盤</a:t>
            </a:r>
          </a:p>
          <a:p xmlns:a="http://schemas.openxmlformats.org/drawingml/2006/main">
            <a:r>
              <a:t>発表 2026-07-06</a:t>
            </a:r>
          </a:p>
          <a:p xmlns:a="http://schemas.openxmlformats.org/drawingml/2006/main">
            <a:r>
              <a:t>https://www.dmgmori.co.jp/corporate/news/2026/20260706_geniac.html</a:t>
            </a:r>
          </a:p>
          <a:p xmlns:a="http://schemas.openxmlformats.org/drawingml/2006/main">
            <a:r>
              <a:t>該当箇所 協力企業・設備数、データ整備、権利処理の段落</a:t>
            </a:r>
          </a:p>
          <a:p xmlns:a="http://schemas.openxmlformats.org/drawingml/2006/main">
            <a:r>
              <a:t>確認範囲 検索結果の本文抽出を確認・直接オープン未確認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S05 MONOist／マザックの取材発言</a:t>
            </a:r>
          </a:p>
          <a:p xmlns:a="http://schemas.openxmlformats.org/drawingml/2006/main">
            <a:r>
              <a:t>加工の工程設計をAIエージェントで自動化</a:t>
            </a:r>
          </a:p>
          <a:p xmlns:a="http://schemas.openxmlformats.org/drawingml/2006/main">
            <a:r>
              <a:t>発表 2026-10-19</a:t>
            </a:r>
          </a:p>
          <a:p xmlns:a="http://schemas.openxmlformats.org/drawingml/2006/main">
            <a:r>
              <a:t>https://monoist.itmedia.co.jp/mn/articles/2610/19/news039_2.html</a:t>
            </a:r>
          </a:p>
          <a:p xmlns:a="http://schemas.openxmlformats.org/drawingml/2006/main">
            <a:r>
              <a:t>該当箇所 「人の『意図』を学習」「ノウハウを学び固有モデルへ」</a:t>
            </a:r>
          </a:p>
          <a:p xmlns:a="http://schemas.openxmlformats.org/drawingml/2006/main">
            <a:r>
              <a:t>確認範囲 本文の該当節を確認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S06 ファナック・日立</a:t>
            </a:r>
          </a:p>
          <a:p xmlns:a="http://schemas.openxmlformats.org/drawingml/2006/main">
            <a:r>
              <a:t>フィジカルAI実装の共同事業化に向けた戦略的パートナーシップ</a:t>
            </a:r>
          </a:p>
          <a:p xmlns:a="http://schemas.openxmlformats.org/drawingml/2006/main">
            <a:r>
              <a:t>発表 2026-09-30</a:t>
            </a:r>
          </a:p>
          <a:p xmlns:a="http://schemas.openxmlformats.org/drawingml/2006/main">
            <a:r>
              <a:t>https://www.fanuc.co.jp/ja/profile/pr/newsrelease/2026/news20260930.html</a:t>
            </a:r>
          </a:p>
          <a:p xmlns:a="http://schemas.openxmlformats.org/drawingml/2006/main">
            <a:r>
              <a:t>該当箇所 共同実証の概要・戦略的パートナーシップの背景</a:t>
            </a:r>
          </a:p>
          <a:p xmlns:a="http://schemas.openxmlformats.org/drawingml/2006/main">
            <a:r>
              <a:t>確認範囲 本文の該当節を確認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S35 Beckhoff</a:t>
            </a:r>
          </a:p>
          <a:p xmlns:a="http://schemas.openxmlformats.org/drawingml/2006/main">
            <a:r>
              <a:t>TwinCAT Machine Learning Creator: Workflows for users</a:t>
            </a:r>
          </a:p>
          <a:p xmlns:a="http://schemas.openxmlformats.org/drawingml/2006/main">
            <a:r>
              <a:t>発表 未記載</a:t>
            </a:r>
          </a:p>
          <a:p xmlns:a="http://schemas.openxmlformats.org/drawingml/2006/main">
            <a:r>
              <a:t>https://infosys.beckhoff.com/content/1033/te3850_tc3_machine_learning_creator/21561799691.html</a:t>
            </a:r>
          </a:p>
          <a:p xmlns:a="http://schemas.openxmlformats.org/drawingml/2006/main">
            <a:r>
              <a:t>該当箇所 Create a data set / Validate and analyze the model / Export model</a:t>
            </a:r>
          </a:p>
          <a:p xmlns:a="http://schemas.openxmlformats.org/drawingml/2006/main">
            <a:r>
              <a:t>確認範囲 検索結果の本文抽出を確認。直接オープンは取得失敗。公表日は検索エンジンの不整合な日付を採用せず未記載。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FC018 Hexagon Manufacturing Intelligence ESPRIT EDGE ProPlanAI</a:t>
            </a:r>
          </a:p>
          <a:p xmlns:a="http://schemas.openxmlformats.org/drawingml/2006/main">
            <a:r>
              <a:t>ブース E2013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過去データを準備。確認画面はあるが最終NC採用権限は未公表。</a:t>
            </a:r>
          </a:p>
          <a:p xmlns:a="http://schemas.openxmlformats.org/drawingml/2006/main">
            <a:r>
              <a:t>段階 JIMTOF2026公式カタログ掲載・現地未確認 / メーカーが商用提供範囲を説明・顧客実績未確認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EOV-V007-2026-2 Hexagon Manufacturing Intelligence株式会社</a:t>
            </a:r>
          </a:p>
          <a:p xmlns:a="http://schemas.openxmlformats.org/drawingml/2006/main">
            <a:r>
              <a:t>JIMTOF2026公式カタログ：Hexagon Manufacturing Intelligence株式会社 (E2013)</a:t>
            </a:r>
          </a:p>
          <a:p xmlns:a="http://schemas.openxmlformats.org/drawingml/2006/main">
            <a:r>
              <a:t>https://www.jimtof.org/search/jp/ESdetails?e=6l20Qo0pjl4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EOV-W02 Hexagon</a:t>
            </a:r>
          </a:p>
          <a:p xmlns:a="http://schemas.openxmlformats.org/drawingml/2006/main">
            <a:r>
              <a:t>ESPRIT EDGE Release Highlights</a:t>
            </a:r>
          </a:p>
          <a:p xmlns:a="http://schemas.openxmlformats.org/drawingml/2006/main">
            <a:r>
              <a:t>https://hexagon.com/products/esprit-edge/release-highlights</a:t>
            </a:r>
          </a:p>
          <a:p xmlns:a="http://schemas.openxmlformats.org/drawingml/2006/main">
            <a:r>
              <a:t>該当箇所 2025.2 PROPLANAI、2026.1 ProPlanAI for Turning, Mill-Turn &amp; Swiss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企業公式資料・メーカー主張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FC020 ジェービーエムエンジニアリング Mastercam＋CAMAssist</a:t>
            </a:r>
          </a:p>
          <a:p xmlns:a="http://schemas.openxmlformats.org/drawingml/2006/main">
            <a:r>
              <a:t>ブース E2002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人が前提を設定し、戦略案を確認・調整してCAMへ送る。</a:t>
            </a:r>
          </a:p>
          <a:p xmlns:a="http://schemas.openxmlformats.org/drawingml/2006/main">
            <a:r>
              <a:t>段階 JIMTOF2026公式カタログ掲載・現地未確認 / 2026展示予定・提供段階未確認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EOV-V008-2024-1 ジェービーエムエンジニアリング株式会社</a:t>
            </a:r>
          </a:p>
          <a:p xmlns:a="http://schemas.openxmlformats.org/drawingml/2006/main">
            <a:r>
              <a:t>JIMTOF2024公式カタログ：ジェービーエムエンジニアリング株式会社 (E5028)</a:t>
            </a:r>
          </a:p>
          <a:p xmlns:a="http://schemas.openxmlformats.org/drawingml/2006/main">
            <a:r>
              <a:t>https://www.jimtof.org/2024/search/jp/ESdetails?e=G-8gydwhMvE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EOV-V008-2024-2 ジェービーエムエンジニアリング株式会社</a:t>
            </a:r>
          </a:p>
          <a:p xmlns:a="http://schemas.openxmlformats.org/drawingml/2006/main">
            <a:r>
              <a:t>JIMTOF2024公式カタログ：ジェービーエムエンジニアリング株式会社 (AM111)</a:t>
            </a:r>
          </a:p>
          <a:p xmlns:a="http://schemas.openxmlformats.org/drawingml/2006/main">
            <a:r>
              <a:t>https://www.jimtof.org/2024/search/jp/ESdetails?e=ZBxZW2vyjUw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EOV-V008-2026-1 ジェービーエムエンジニアリング株式会社</a:t>
            </a:r>
          </a:p>
          <a:p xmlns:a="http://schemas.openxmlformats.org/drawingml/2006/main">
            <a:r>
              <a:t>JIMTOF2026公式カタログ：ジェービーエムエンジニアリング株式会社 (E2002)</a:t>
            </a:r>
          </a:p>
          <a:p xmlns:a="http://schemas.openxmlformats.org/drawingml/2006/main">
            <a:r>
              <a:t>https://www.jimtof.org/search/jp/ESdetails?e=VrAjMTKmxdw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EDP-09 CloudNC</a:t>
            </a:r>
          </a:p>
          <a:p xmlns:a="http://schemas.openxmlformats.org/drawingml/2006/main">
            <a:r>
              <a:t>Mastercam向けCAM Assist</a:t>
            </a:r>
          </a:p>
          <a:p xmlns:a="http://schemas.openxmlformats.org/drawingml/2006/main">
            <a:r>
              <a:t>https://www.cloudnc.com/ja/mastercam</a:t>
            </a:r>
          </a:p>
          <a:p xmlns:a="http://schemas.openxmlformats.org/drawingml/2006/main">
            <a:r>
              <a:t>該当箇所 仕組みステップ1〜4／FAQの対象加工・顧客データ学習の否定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EDP-10 CloudNC</a:t>
            </a:r>
          </a:p>
          <a:p xmlns:a="http://schemas.openxmlformats.org/drawingml/2006/main">
            <a:r>
              <a:t>Mastercam向けCAM Assist提供開始</a:t>
            </a:r>
          </a:p>
          <a:p xmlns:a="http://schemas.openxmlformats.org/drawingml/2006/main">
            <a:r>
              <a:t>https://www.cloudnc.com/news-room/cam-assist-the-first-ai-plug-in-for-cam-is-now-available-for-mastercam</a:t>
            </a:r>
          </a:p>
          <a:p xmlns:a="http://schemas.openxmlformats.org/drawingml/2006/main">
            <a:r>
              <a:t>該当箇所 July 25, 2024／3軸・3+2軸向け。北米販売開始の説明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ERF-03 CloudNC</a:t>
            </a:r>
          </a:p>
          <a:p xmlns:a="http://schemas.openxmlformats.org/drawingml/2006/main">
            <a:r>
              <a:t>Mastercam CAM Assist：確認・調整と学習方針</a:t>
            </a:r>
          </a:p>
          <a:p xmlns:a="http://schemas.openxmlformats.org/drawingml/2006/main">
            <a:r>
              <a:t>https://www.cloudnc.com/ja/mastercam</a:t>
            </a:r>
          </a:p>
          <a:p xmlns:a="http://schemas.openxmlformats.org/drawingml/2006/main">
            <a:r>
              <a:t>該当箇所 仕組みStep 2–4／FAQ：顧客データで学習しない、加工性評価、編集可能CAM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企業／開発元／展示会の公式説明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FC034 ブルーム-ノボテスト FormControl X／DIGILOG</a:t>
            </a:r>
          </a:p>
          <a:p xmlns:a="http://schemas.openxmlformats.org/drawingml/2006/main">
            <a:r>
              <a:t>ブース E7084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校正・熱状態・機種適合の条件は未確認。</a:t>
            </a:r>
          </a:p>
          <a:p xmlns:a="http://schemas.openxmlformats.org/drawingml/2006/main">
            <a:r>
              <a:t>段階 JIMTOF2026公式カタログ掲載・現地未確認 / 2026展示予定・提供段階未確認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EOV-V019-2024-1 ブルーム-ノボテスト株式会社</a:t>
            </a:r>
          </a:p>
          <a:p xmlns:a="http://schemas.openxmlformats.org/drawingml/2006/main">
            <a:r>
              <a:t>JIMTOF2024公式カタログ：ブルーム-ノボテスト株式会社 (E7132)</a:t>
            </a:r>
          </a:p>
          <a:p xmlns:a="http://schemas.openxmlformats.org/drawingml/2006/main">
            <a:r>
              <a:t>https://www.jimtof.org/2024/search/jp/ESdetails?e=Zz8BlB0Ylio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EOV-V019-2026-1 ブルーム-ノボテスト株式会社</a:t>
            </a:r>
          </a:p>
          <a:p xmlns:a="http://schemas.openxmlformats.org/drawingml/2006/main">
            <a:r>
              <a:t>JIMTOF2026公式カタログ：ブルーム-ノボテスト株式会社 (E7084)</a:t>
            </a:r>
          </a:p>
          <a:p xmlns:a="http://schemas.openxmlformats.org/drawingml/2006/main">
            <a:r>
              <a:t>https://www.jimtof.org/search/jp/ESdetails?e=_njqMb9vBpc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FC040 モリマシナリー ツールコラージュアナライザー</a:t>
            </a:r>
          </a:p>
          <a:p xmlns:a="http://schemas.openxmlformats.org/drawingml/2006/main">
            <a:r>
              <a:t>ブース S3048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人が工具・加工条件と提案の適用を確認する運用は要確認。</a:t>
            </a:r>
          </a:p>
          <a:p xmlns:a="http://schemas.openxmlformats.org/drawingml/2006/main">
            <a:r>
              <a:t>段階 JIMTOF2026公式カタログ掲載・現地未確認 / 2026展示予定・寿命推定研究自体は既存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EOV-V024-2024-1 モリマシナリー株式会社</a:t>
            </a:r>
          </a:p>
          <a:p xmlns:a="http://schemas.openxmlformats.org/drawingml/2006/main">
            <a:r>
              <a:t>JIMTOF2024公式カタログ：モリマシナリー株式会社 (S3017)</a:t>
            </a:r>
          </a:p>
          <a:p xmlns:a="http://schemas.openxmlformats.org/drawingml/2006/main">
            <a:r>
              <a:t>https://www.jimtof.org/2024/search/jp/ESdetails?e=yEoPl5sH6Sg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EOV-V024-2026-1 モリマシナリー株式会社</a:t>
            </a:r>
          </a:p>
          <a:p xmlns:a="http://schemas.openxmlformats.org/drawingml/2006/main">
            <a:r>
              <a:t>JIMTOF2026公式カタログ：モリマシナリー株式会社 (S3048)</a:t>
            </a:r>
          </a:p>
          <a:p xmlns:a="http://schemas.openxmlformats.org/drawingml/2006/main">
            <a:r>
              <a:t>https://www.jimtof.org/search/jp/ESdetails?e=ZvT3Lci-hnM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EOV-W08 モリマシナリー</a:t>
            </a:r>
          </a:p>
          <a:p xmlns:a="http://schemas.openxmlformats.org/drawingml/2006/main">
            <a:r>
              <a:t>工具の欠け・摩耗・寿命を推定するAI研究発表</a:t>
            </a:r>
          </a:p>
          <a:p xmlns:a="http://schemas.openxmlformats.org/drawingml/2006/main">
            <a:r>
              <a:t>https://mori-machinery.com/wp-content/uploads/2023/06/%E7%86%9F%E7%B7%B4%E8%80%85%E3%81%AE%E7%B5%8C%E9%A8%93%E7%9F%A5%E3%82%92%E3%82%82%E3%81%A8%E3%81%AB%E5%88%87%E5%89%8A%E5%B7%A5%E5%85%B7%E3%81%AE%E6%AC%A0%E3%81%91%E3%83%BB%E6%91%A9%E8%80%97%E3%83%BB%E5%AF%BF%E5%91%BD%E3%82%92%E6%8E%A8%E5%AE%9A%E3%81%99%E3%82%8BAI%E3%82%92%E9%96%8B%E7%99%BA.pdf</a:t>
            </a:r>
          </a:p>
          <a:p xmlns:a="http://schemas.openxmlformats.org/drawingml/2006/main">
            <a:r>
              <a:t>該当箇所 2023年6月2日、成果と今後の展望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企業公式資料・メーカー主張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FC027 ものレボ MonoRevo：工程計画・スケジューリング</a:t>
            </a:r>
          </a:p>
          <a:p xmlns:a="http://schemas.openxmlformats.org/drawingml/2006/main">
            <a:r>
              <a:t>ブース W3042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計画制約・再計画確定者・例外対応は未確認。</a:t>
            </a:r>
          </a:p>
          <a:p xmlns:a="http://schemas.openxmlformats.org/drawingml/2006/main">
            <a:r>
              <a:t>段階 JIMTOF2026公式カタログ掲載・現地未確認 / 2026展示予定・提供段階未確認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EOV-V014-2026-1 ものレボ株式会社</a:t>
            </a:r>
          </a:p>
          <a:p xmlns:a="http://schemas.openxmlformats.org/drawingml/2006/main">
            <a:r>
              <a:t>JIMTOF2026公式カタログ：ものレボ株式会社 (W3042)</a:t>
            </a:r>
          </a:p>
          <a:p xmlns:a="http://schemas.openxmlformats.org/drawingml/2006/main">
            <a:r>
              <a:t>https://www.jimtof.org/search/jp/ESdetails?e=sccKfxE4bYo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FC024 たけびし OPC UA情報モデルとエージェント連携</a:t>
            </a:r>
          </a:p>
          <a:p xmlns:a="http://schemas.openxmlformats.org/drawingml/2006/main">
            <a:r>
              <a:t>ブース S3015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公開するデータ・メソッド、書込権限、承認と復帰は未確認。</a:t>
            </a:r>
          </a:p>
          <a:p xmlns:a="http://schemas.openxmlformats.org/drawingml/2006/main">
            <a:r>
              <a:t>段階 JIMTOF2026公式カタログ掲載・現地未確認 / OPC製品は既存。MCP Adapterは2026年6月のメーカー寄稿で提供計画。現在の提供版は要確認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EOV-V011-2024-1 株式会社たけびし</a:t>
            </a:r>
          </a:p>
          <a:p xmlns:a="http://schemas.openxmlformats.org/drawingml/2006/main">
            <a:r>
              <a:t>JIMTOF2024公式カタログ：株式会社たけびし (E7053)</a:t>
            </a:r>
          </a:p>
          <a:p xmlns:a="http://schemas.openxmlformats.org/drawingml/2006/main">
            <a:r>
              <a:t>https://www.jimtof.org/2024/search/jp/ESdetails?e=SiZMI-OH8_k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EOV-V011-2026-1 株式会社たけびし</a:t>
            </a:r>
          </a:p>
          <a:p xmlns:a="http://schemas.openxmlformats.org/drawingml/2006/main">
            <a:r>
              <a:t>JIMTOF2026公式カタログ：株式会社たけびし (S3015)</a:t>
            </a:r>
          </a:p>
          <a:p xmlns:a="http://schemas.openxmlformats.org/drawingml/2006/main">
            <a:r>
              <a:t>https://www.jimtof.org/search/jp/ESdetails?e=Qh27DAtEkbw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EDP-06 たけびし（OPC Foundationへのメーカー寄稿）</a:t>
            </a:r>
          </a:p>
          <a:p xmlns:a="http://schemas.openxmlformats.org/drawingml/2006/main">
            <a:r>
              <a:t>OPC UA情報モデルとAIエージェント</a:t>
            </a:r>
          </a:p>
          <a:p xmlns:a="http://schemas.openxmlformats.org/drawingml/2006/main">
            <a:r>
              <a:t>https://opcconnect.opcfoundation.org/2026/06/toward-realizing-ai-utilization-in-manufacturing-exploring-the-potential-of-integrating-the-opc-ua-information-model-with-ai-agents/</a:t>
            </a:r>
          </a:p>
          <a:p xmlns:a="http://schemas.openxmlformats.org/drawingml/2006/main">
            <a:r>
              <a:t>該当箇所 A New Approach to Connecting AI Agents／MCP Adapterはplanning to provide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FC025 シーイーシー Facteye／Resolana</a:t>
            </a:r>
          </a:p>
          <a:p xmlns:a="http://schemas.openxmlformats.org/drawingml/2006/main">
            <a:r>
              <a:t>ブース E2006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自動制御や工場全体最適化の実装は未確認。</a:t>
            </a:r>
          </a:p>
          <a:p xmlns:a="http://schemas.openxmlformats.org/drawingml/2006/main">
            <a:r>
              <a:t>段階 JIMTOF2026公式カタログ掲載・現地未確認 / 2026展示予定・提供段階未確認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EOV-V012-2024-1 株式会社シーイーシー</a:t>
            </a:r>
          </a:p>
          <a:p xmlns:a="http://schemas.openxmlformats.org/drawingml/2006/main">
            <a:r>
              <a:t>JIMTOF2024公式カタログ：株式会社シーイーシー (E5022)</a:t>
            </a:r>
          </a:p>
          <a:p xmlns:a="http://schemas.openxmlformats.org/drawingml/2006/main">
            <a:r>
              <a:t>https://www.jimtof.org/2024/search/jp/ESdetails?e=WS9ql5D41fQ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EOV-V012-2026-1 株式会社シーイーシー</a:t>
            </a:r>
          </a:p>
          <a:p xmlns:a="http://schemas.openxmlformats.org/drawingml/2006/main">
            <a:r>
              <a:t>JIMTOF2026公式カタログ：株式会社シーイーシー (E2006)</a:t>
            </a:r>
          </a:p>
          <a:p xmlns:a="http://schemas.openxmlformats.org/drawingml/2006/main">
            <a:r>
              <a:t>https://www.jimtof.org/search/jp/ESdetails?e=tW-C9oF94EQ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AC039 FNS株式会社 TM-2800：AMR・ロボット・加工機の統合</a:t>
            </a:r>
          </a:p>
          <a:p xmlns:a="http://schemas.openxmlformats.org/drawingml/2006/main">
            <a:r>
              <a:t>ブース E2034</a:t>
            </a:r>
          </a:p>
          <a:p xmlns:a="http://schemas.openxmlformats.org/drawingml/2006/main">
            <a:r>
              <a:t>確認深度 出展説明の一次分類</a:t>
            </a:r>
          </a:p>
          <a:p xmlns:a="http://schemas.openxmlformats.org/drawingml/2006/main">
            <a:r>
              <a:t>人の残作業 事前準備：公式出展説明：人が投入・スケジューリング。企業製品ページは旧RK510等の構成まで／承認：未記載：統合指示・計画変更の承認、機器間の権限／例外対応：未記載：AMR遅延・加工機停止・仕掛品欠品での再計画と復帰</a:t>
            </a:r>
          </a:p>
          <a:p xmlns:a="http://schemas.openxmlformats.org/drawingml/2006/main">
            <a:r>
              <a:t>段階 2026公式カタログ掲載・現地未確認 / 2026展示予定。既存製品・参考出展・構想等は原典で個別確認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EEX-EXH-2026-9022dcaec2b02dde FNS株式会社</a:t>
            </a:r>
          </a:p>
          <a:p xmlns:a="http://schemas.openxmlformats.org/drawingml/2006/main">
            <a:r>
              <a:t>JIMTOF2026公式出展説明：FNS株式会社 (E2034)</a:t>
            </a:r>
          </a:p>
          <a:p xmlns:a="http://schemas.openxmlformats.org/drawingml/2006/main">
            <a:r>
              <a:t>https://www.jimtof.org/search/jp/ESdetails?e=_q_YetP8_og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EEX-EXH-2024-caa95a5ce916176b FNS株式会社</a:t>
            </a:r>
          </a:p>
          <a:p xmlns:a="http://schemas.openxmlformats.org/drawingml/2006/main">
            <a:r>
              <a:t>JIMTOF2024公式出展説明：FNS株式会社 (E5047)</a:t>
            </a:r>
          </a:p>
          <a:p xmlns:a="http://schemas.openxmlformats.org/drawingml/2006/main">
            <a:r>
              <a:t>https://www.jimtof.org/2024/search/jp/ESdetails?e=LRKay8iRNz4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EDP-25 FNS</a:t>
            </a:r>
          </a:p>
          <a:p xmlns:a="http://schemas.openxmlformats.org/drawingml/2006/main">
            <a:r>
              <a:t>RD510／RK510のロボットシステム</a:t>
            </a:r>
          </a:p>
          <a:p xmlns:a="http://schemas.openxmlformats.org/drawingml/2006/main">
            <a:r>
              <a:t>https://www.fns-inc.jp/%E3%83%AD%E3%83%9C%E3%83%83%E3%83%88%E3%82%B7%E3%82%B9%E3%83%86%E3%83%A0</a:t>
            </a:r>
          </a:p>
          <a:p xmlns:a="http://schemas.openxmlformats.org/drawingml/2006/main">
            <a:r>
              <a:t>該当箇所 RK510：FANUC CRX-10iA・2段ストッカー・CNCマクロ変数・カメラオプション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AC175 日本キスラー合同会社 【水晶圧電式ワイヤレス回転式動力計9171B】</a:t>
            </a:r>
          </a:p>
          <a:p xmlns:a="http://schemas.openxmlformats.org/drawingml/2006/main">
            <a:r>
              <a:t>ブース S4031</a:t>
            </a:r>
          </a:p>
          <a:p xmlns:a="http://schemas.openxmlformats.org/drawingml/2006/main">
            <a:r>
              <a:t>確認深度 出展説明の一次分類</a:t>
            </a:r>
          </a:p>
          <a:p xmlns:a="http://schemas.openxmlformats.org/drawingml/2006/main">
            <a:r>
              <a:t>人の残作業 承認・例外対応・停止・復帰の境界は未確認</a:t>
            </a:r>
          </a:p>
          <a:p xmlns:a="http://schemas.openxmlformats.org/drawingml/2006/main">
            <a:r>
              <a:t>段階 2026公式カタログ掲載・現地未確認 / 2026展示予定。既存製品・参考出展・構想等は原典で個別確認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EEX-EXH-2026-e0340858cb52d52f 日本キスラー合同会社</a:t>
            </a:r>
          </a:p>
          <a:p xmlns:a="http://schemas.openxmlformats.org/drawingml/2006/main">
            <a:r>
              <a:t>JIMTOF2026公式出展説明：日本キスラー合同会社 (S4031)</a:t>
            </a:r>
          </a:p>
          <a:p xmlns:a="http://schemas.openxmlformats.org/drawingml/2006/main">
            <a:r>
              <a:t>https://www.jimtof.org/search/jp/ESdetails?e=7Gt1ylw_a8s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EEX-EXH-2024-a947d5bb3582cb0e 日本キスラー合同会社</a:t>
            </a:r>
          </a:p>
          <a:p xmlns:a="http://schemas.openxmlformats.org/drawingml/2006/main">
            <a:r>
              <a:t>JIMTOF2024公式出展説明：日本キスラー合同会社 (E7004)</a:t>
            </a:r>
          </a:p>
          <a:p xmlns:a="http://schemas.openxmlformats.org/drawingml/2006/main">
            <a:r>
              <a:t>https://www.jimtof.org/2024/search/jp/ESdetails?e=OdShO16iijA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AC146 東京エレクトロンデバイス株式会社 3D形状認識・教示不要の面取り／皿もみ</a:t>
            </a:r>
          </a:p>
          <a:p xmlns:a="http://schemas.openxmlformats.org/drawingml/2006/main">
            <a:r>
              <a:t>ブース E7073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加工条件設定、干渉確認、誤認識時の停止・品質承認は未公開。</a:t>
            </a:r>
          </a:p>
          <a:p xmlns:a="http://schemas.openxmlformats.org/drawingml/2006/main">
            <a:r>
              <a:t>段階 東京エンジニアリングE7073内で展示予定（企業公式告知で確認） / 2026展示予定。既存製品・参考出展・構想等は原典で個別確認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EEX-EXH-2026-8c08de1ffed47316 東京エレクトロンデバイス株式会社</a:t>
            </a:r>
          </a:p>
          <a:p xmlns:a="http://schemas.openxmlformats.org/drawingml/2006/main">
            <a:r>
              <a:t>JIMTOF2026公式出展説明：東京エレクトロンデバイス株式会社 (E7073)</a:t>
            </a:r>
          </a:p>
          <a:p xmlns:a="http://schemas.openxmlformats.org/drawingml/2006/main">
            <a:r>
              <a:t>https://www.jimtof.org/search/jp/ESdetails?e=c4cChQniAm8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EEX-WTED 東京エレクトロンデバイス株式会社</a:t>
            </a:r>
          </a:p>
          <a:p xmlns:a="http://schemas.openxmlformats.org/drawingml/2006/main">
            <a:r>
              <a:t>企業公式の展示告知</a:t>
            </a:r>
          </a:p>
          <a:p xmlns:a="http://schemas.openxmlformats.org/drawingml/2006/main">
            <a:r>
              <a:t>https://www.inrevium.com/news-event/event/p7331/</a:t>
            </a:r>
          </a:p>
          <a:p xmlns:a="http://schemas.openxmlformats.org/drawingml/2006/main">
            <a:r>
              <a:t>該当箇所 展示会概要・出展製品／2026年5月13日の製品説明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留保 質問中の戦略が全て当該ブースで展示されるとは限らない。公式説明、担当者説明、実演観察を区別して記録する。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JIMTOF2026 事前調査 2026年10月21日</a:t>
            </a:r>
          </a:p>
          <a:p xmlns:a="http://schemas.openxmlformats.org/drawingml/2006/main">
            <a:r>
              <a:t>現地調査・顧客実証は未実施。公開発表、展示予定、分析仮説を区別。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FC001 DMG森精機 AMR 1000</a:t>
            </a:r>
          </a:p>
          <a:p xmlns:a="http://schemas.openxmlformats.org/drawingml/2006/main">
            <a:r>
              <a:t>ブース E8005</a:t>
            </a:r>
          </a:p>
          <a:p xmlns:a="http://schemas.openxmlformats.org/drawingml/2006/main">
            <a:r>
              <a:t>確認深度 個別タスク整理</a:t>
            </a:r>
          </a:p>
          <a:p xmlns:a="http://schemas.openxmlformats.org/drawingml/2006/main">
            <a:r>
              <a:t>人の残作業 積み降ろし・通路障害・異常時の介入条件は未確認</a:t>
            </a:r>
          </a:p>
          <a:p xmlns:a="http://schemas.openxmlformats.org/drawingml/2006/main">
            <a:r>
              <a:t>段階 JIMTOF2026公式カタログ掲載・現地未確認 / 2026展示予定・提供段階未確認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EOV-V001-2024-1 DMG森精機株式会社</a:t>
            </a:r>
          </a:p>
          <a:p xmlns:a="http://schemas.openxmlformats.org/drawingml/2006/main">
            <a:r>
              <a:t>JIMTOF2024公式カタログ：DMG森精機株式会社 (E8001)</a:t>
            </a:r>
          </a:p>
          <a:p xmlns:a="http://schemas.openxmlformats.org/drawingml/2006/main">
            <a:r>
              <a:t>https://www.jimtof.org/2024/search/jp/ESdetails?e=lOXEEpvlXpM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EOV-V001-2026-1 DMG森精機株式会社</a:t>
            </a:r>
          </a:p>
          <a:p xmlns:a="http://schemas.openxmlformats.org/drawingml/2006/main">
            <a:r>
              <a:t>JIMTOF2026公式カタログ：DMG森精機株式会社 (E8005)</a:t>
            </a:r>
          </a:p>
          <a:p xmlns:a="http://schemas.openxmlformats.org/drawingml/2006/main">
            <a:r>
              <a:t>https://www.jimtof.org/search/jp/ESdetails?e=zcqDj1lSkGs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FC002 DMG森精機 MATRIS WPH 210</a:t>
            </a:r>
          </a:p>
          <a:p xmlns:a="http://schemas.openxmlformats.org/drawingml/2006/main">
            <a:r>
              <a:t>ブース E8005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把持・治具・品種切替の事前準備と異常対応は未確認。</a:t>
            </a:r>
          </a:p>
          <a:p xmlns:a="http://schemas.openxmlformats.org/drawingml/2006/main">
            <a:r>
              <a:t>段階 JIMTOF2026公式カタログ掲載・現地未確認 / 2026展示予定・提供段階未確認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FC010 ヤマザキマザック INTEGREX＋Ez LOADER 30</a:t>
            </a:r>
          </a:p>
          <a:p xmlns:a="http://schemas.openxmlformats.org/drawingml/2006/main">
            <a:r>
              <a:t>ブース E1001</a:t>
            </a:r>
          </a:p>
          <a:p xmlns:a="http://schemas.openxmlformats.org/drawingml/2006/main">
            <a:r>
              <a:t>確認深度 個別タスク整理</a:t>
            </a:r>
          </a:p>
          <a:p xmlns:a="http://schemas.openxmlformats.org/drawingml/2006/main">
            <a:r>
              <a:t>人の残作業 AIに任せる判断範囲は資料から確認できない</a:t>
            </a:r>
          </a:p>
          <a:p xmlns:a="http://schemas.openxmlformats.org/drawingml/2006/main">
            <a:r>
              <a:t>段階 JIMTOF2026公式カタログ掲載・現地未確認 / 2026展示予定・提供段階未確認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EOV-V004-2024-1 ヤマザキマザック株式会社</a:t>
            </a:r>
          </a:p>
          <a:p xmlns:a="http://schemas.openxmlformats.org/drawingml/2006/main">
            <a:r>
              <a:t>JIMTOF2024公式カタログ：ヤマザキマザック株式会社 (E5001)</a:t>
            </a:r>
          </a:p>
          <a:p xmlns:a="http://schemas.openxmlformats.org/drawingml/2006/main">
            <a:r>
              <a:t>https://www.jimtof.org/2024/search/jp/ESdetails?e=q0OrZBKM3uQ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EOV-V004-2026-1 ヤマザキマザック株式会社</a:t>
            </a:r>
          </a:p>
          <a:p xmlns:a="http://schemas.openxmlformats.org/drawingml/2006/main">
            <a:r>
              <a:t>JIMTOF2026公式カタログ：ヤマザキマザック株式会社 (E1001)</a:t>
            </a:r>
          </a:p>
          <a:p xmlns:a="http://schemas.openxmlformats.org/drawingml/2006/main">
            <a:r>
              <a:t>https://www.jimtof.org/search/jp/ESdetails?e=PJEgqNYlWes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EAT-N08 ヤマザキマザック</a:t>
            </a:r>
          </a:p>
          <a:p xmlns:a="http://schemas.openxmlformats.org/drawingml/2006/main">
            <a:r>
              <a:t>JIMTOF2026 Machines &amp; Automation Systems</a:t>
            </a:r>
          </a:p>
          <a:p xmlns:a="http://schemas.openxmlformats.org/drawingml/2006/main">
            <a:r>
              <a:t>https://www.mazak.com/jp-en/news-media/upcoming-events/jimtof2026/</a:t>
            </a:r>
          </a:p>
          <a:p xmlns:a="http://schemas.openxmlformats.org/drawingml/2006/main">
            <a:r>
              <a:t>該当箇所 Machines &amp; Automation Systems／Automation Systems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RPT006 ヤマザキマザック Ai Thermal Shield（製品資料による比較）</a:t>
            </a:r>
          </a:p>
          <a:p xmlns:a="http://schemas.openxmlformats.org/drawingml/2006/main">
            <a:r>
              <a:t>ブース E1001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測定準備・更新採否・補正限界の設定者は未確認。</a:t>
            </a:r>
          </a:p>
          <a:p xmlns:a="http://schemas.openxmlformats.org/drawingml/2006/main">
            <a:r>
              <a:t>段階 出展企業は確認。同機能の展示搭載は未確認 / 製品公式資料あり／展示同一性は未確認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RPT-S03 メーカー公式</a:t>
            </a:r>
          </a:p>
          <a:p xmlns:a="http://schemas.openxmlformats.org/drawingml/2006/main">
            <a:r>
              <a:t>Mazak Accuracy / Ai Thermal Shield</a:t>
            </a:r>
          </a:p>
          <a:p xmlns:a="http://schemas.openxmlformats.org/drawingml/2006/main">
            <a:r>
              <a:t>https://www.mazak.com/uk-en/technology/accuracy/</a:t>
            </a:r>
          </a:p>
          <a:p xmlns:a="http://schemas.openxmlformats.org/drawingml/2006/main">
            <a:r>
              <a:t>該当箇所 Ai Thermal Shield／Smooth Thermal Shield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公式記載（メーカー主張）。実測・独立評価ではない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FC008 オークマ ARMROID／OMR20</a:t>
            </a:r>
          </a:p>
          <a:p xmlns:a="http://schemas.openxmlformats.org/drawingml/2006/main">
            <a:r>
              <a:t>ブース E3028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手動との切替と品種変更の介入範囲は未確認。</a:t>
            </a:r>
          </a:p>
          <a:p xmlns:a="http://schemas.openxmlformats.org/drawingml/2006/main">
            <a:r>
              <a:t>段階 JIMTOF2026公式カタログ掲載・現地未確認 / 2026展示予定・提供段階未確認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EOV-V003-2024-1 オークマ株式会社</a:t>
            </a:r>
          </a:p>
          <a:p xmlns:a="http://schemas.openxmlformats.org/drawingml/2006/main">
            <a:r>
              <a:t>JIMTOF2024公式カタログ：オークマ株式会社 (E6048)</a:t>
            </a:r>
          </a:p>
          <a:p xmlns:a="http://schemas.openxmlformats.org/drawingml/2006/main">
            <a:r>
              <a:t>https://www.jimtof.org/2024/search/jp/ESdetails?e=iFfGVH0vPS8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EOV-V003-2026-1 オークマ株式会社</a:t>
            </a:r>
          </a:p>
          <a:p xmlns:a="http://schemas.openxmlformats.org/drawingml/2006/main">
            <a:r>
              <a:t>JIMTOF2026公式カタログ：オークマ株式会社 (E3028)</a:t>
            </a:r>
          </a:p>
          <a:p xmlns:a="http://schemas.openxmlformats.org/drawingml/2006/main">
            <a:r>
              <a:t>https://www.jimtof.org/search/jp/ESdetails?e=30li0vWcseI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FC009 オークマ 熱変位制御・AI知能化</a:t>
            </a:r>
          </a:p>
          <a:p xmlns:a="http://schemas.openxmlformats.org/drawingml/2006/main">
            <a:r>
              <a:t>ブース E3028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校正・補正限界・条件変化時の人の関与は未確認。</a:t>
            </a:r>
          </a:p>
          <a:p xmlns:a="http://schemas.openxmlformats.org/drawingml/2006/main">
            <a:r>
              <a:t>段階 JIMTOF2026公式カタログ掲載・現地未確認 / 2026展示予定・提供段階未確認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RPT-S02 メーカー公式</a:t>
            </a:r>
          </a:p>
          <a:p xmlns:a="http://schemas.openxmlformats.org/drawingml/2006/main">
            <a:r>
              <a:t>オークマ サーモフレンドリーコンセプト</a:t>
            </a:r>
          </a:p>
          <a:p xmlns:a="http://schemas.openxmlformats.org/drawingml/2006/main">
            <a:r>
              <a:t>https://www.okuma.co.jp/thermo-aniv/</a:t>
            </a:r>
          </a:p>
          <a:p xmlns:a="http://schemas.openxmlformats.org/drawingml/2006/main">
            <a:r>
              <a:t>該当箇所 サーモフレンドリーコンセプトの説明・沿革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公式記載（メーカー主張）。実測・独立評価ではない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FC046 牧野フライス製作所 パレット自動化／MAS・ラインエンジニアリング</a:t>
            </a:r>
          </a:p>
          <a:p xmlns:a="http://schemas.openxmlformats.org/drawingml/2006/main">
            <a:r>
              <a:t>ブース E1024</a:t>
            </a:r>
          </a:p>
          <a:p xmlns:a="http://schemas.openxmlformats.org/drawingml/2006/main">
            <a:r>
              <a:t>確認深度 個別タスク整理</a:t>
            </a:r>
          </a:p>
          <a:p xmlns:a="http://schemas.openxmlformats.org/drawingml/2006/main">
            <a:r>
              <a:t>人の残作業 ラインの再計画・例外復帰の自律範囲は未確認</a:t>
            </a:r>
          </a:p>
          <a:p xmlns:a="http://schemas.openxmlformats.org/drawingml/2006/main">
            <a:r>
              <a:t>段階 JIMTOF2026公式カタログ掲載・現地未確認 / 2026展示予定・提供段階未確認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EOV-V027-2024-1 株式会社牧野フライス製作所</a:t>
            </a:r>
          </a:p>
          <a:p xmlns:a="http://schemas.openxmlformats.org/drawingml/2006/main">
            <a:r>
              <a:t>JIMTOF2024公式カタログ：株式会社牧野フライス製作所 (E3034)</a:t>
            </a:r>
          </a:p>
          <a:p xmlns:a="http://schemas.openxmlformats.org/drawingml/2006/main">
            <a:r>
              <a:t>https://www.jimtof.org/2024/search/jp/ESdetails?e=95Yl5dQv2vI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EOV-V027-2026-1 株式会社牧野フライス製作所</a:t>
            </a:r>
          </a:p>
          <a:p xmlns:a="http://schemas.openxmlformats.org/drawingml/2006/main">
            <a:r>
              <a:t>JIMTOF2026公式カタログ：株式会社牧野フライス製作所 (E1024)</a:t>
            </a:r>
          </a:p>
          <a:p xmlns:a="http://schemas.openxmlformats.org/drawingml/2006/main">
            <a:r>
              <a:t>https://www.jimtof.org/search/jp/ESdetails?e=M5OL10ECBTE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FC005 ファナック 生成AIによるロボット駆動</a:t>
            </a:r>
          </a:p>
          <a:p xmlns:a="http://schemas.openxmlformats.org/drawingml/2006/main">
            <a:r>
              <a:t>ブース S2001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機体・対象タスク・教示・停止・承認の具体範囲は未確認。</a:t>
            </a:r>
          </a:p>
          <a:p xmlns:a="http://schemas.openxmlformats.org/drawingml/2006/main">
            <a:r>
              <a:t>段階 JIMTOF2026公式カタログ掲載・現地未確認 / 2026展示予定・提供段階未確認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EOV-V002-2024-1 ファナック株式会社</a:t>
            </a:r>
          </a:p>
          <a:p xmlns:a="http://schemas.openxmlformats.org/drawingml/2006/main">
            <a:r>
              <a:t>JIMTOF2024公式カタログ：ファナック株式会社 (S2001)</a:t>
            </a:r>
          </a:p>
          <a:p xmlns:a="http://schemas.openxmlformats.org/drawingml/2006/main">
            <a:r>
              <a:t>https://www.jimtof.org/2024/search/jp/ESdetails?e=N0RgOmmcwZw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EOV-V002-2026-1 ファナック株式会社</a:t>
            </a:r>
          </a:p>
          <a:p xmlns:a="http://schemas.openxmlformats.org/drawingml/2006/main">
            <a:r>
              <a:t>JIMTOF2026公式カタログ：ファナック株式会社 (S2001)</a:t>
            </a:r>
          </a:p>
          <a:p xmlns:a="http://schemas.openxmlformats.org/drawingml/2006/main">
            <a:r>
              <a:t>https://www.jimtof.org/search/jp/ESdetails?e=q0OrZBKM3uQ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FC006 ファナック フィジカルAI CNC</a:t>
            </a:r>
          </a:p>
          <a:p xmlns:a="http://schemas.openxmlformats.org/drawingml/2006/main">
            <a:r>
              <a:t>ブース S2001</a:t>
            </a:r>
          </a:p>
          <a:p xmlns:a="http://schemas.openxmlformats.org/drawingml/2006/main">
            <a:r>
              <a:t>確認深度 個別タスク整理</a:t>
            </a:r>
          </a:p>
          <a:p xmlns:a="http://schemas.openxmlformats.org/drawingml/2006/main">
            <a:r>
              <a:t>人の残作業 自動変更できるパラメータ・承認・安全確認は未確認</a:t>
            </a:r>
          </a:p>
          <a:p xmlns:a="http://schemas.openxmlformats.org/drawingml/2006/main">
            <a:r>
              <a:t>段階 JIMTOF2026公式カタログ掲載・現地未確認 / 2026展示予定・提供段階未確認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FC064 三菱電機 NC MachiningAID（2024）／2026 CNC省人化</a:t>
            </a:r>
          </a:p>
          <a:p xmlns:a="http://schemas.openxmlformats.org/drawingml/2006/main">
            <a:r>
              <a:t>ブース S2003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2026の継承機能と自動停止・交換権限は未確認。</a:t>
            </a:r>
          </a:p>
          <a:p xmlns:a="http://schemas.openxmlformats.org/drawingml/2006/main">
            <a:r>
              <a:t>段階 JIMTOF2026公式カタログ掲載・現地未確認 / 2026展示予定・提供段階未確認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EAT-V043-2024-1 三菱電機株式会社</a:t>
            </a:r>
          </a:p>
          <a:p xmlns:a="http://schemas.openxmlformats.org/drawingml/2006/main">
            <a:r>
              <a:t>JIMTOF2024公式カタログ：三菱電機株式会社</a:t>
            </a:r>
          </a:p>
          <a:p xmlns:a="http://schemas.openxmlformats.org/drawingml/2006/main">
            <a:r>
              <a:t>https://www.jimtof.org/2024/search/jp/ESdetails?e=30li0vWcseI</a:t>
            </a:r>
          </a:p>
          <a:p xmlns:a="http://schemas.openxmlformats.org/drawingml/2006/main">
            <a:r>
              <a:t>該当箇所 出展紹介・主な出展物（カードの製品名・機能語で検索）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EAT-V043-2026-1 三菱電機株式会社</a:t>
            </a:r>
          </a:p>
          <a:p xmlns:a="http://schemas.openxmlformats.org/drawingml/2006/main">
            <a:r>
              <a:t>JIMTOF2026公式カタログ：三菱電機株式会社</a:t>
            </a:r>
          </a:p>
          <a:p xmlns:a="http://schemas.openxmlformats.org/drawingml/2006/main">
            <a:r>
              <a:t>https://www.jimtof.org/search/jp/ESdetails?e=AjLnzm01WWU</a:t>
            </a:r>
          </a:p>
          <a:p xmlns:a="http://schemas.openxmlformats.org/drawingml/2006/main">
            <a:r>
              <a:t>該当箇所 出展紹介・主な出展物（カードの製品名・機能語で検索）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FC065 三菱電機 放電加工の新開発スケジューラ</a:t>
            </a:r>
          </a:p>
          <a:p xmlns:a="http://schemas.openxmlformats.org/drawingml/2006/main">
            <a:r>
              <a:t>ブース S2003</a:t>
            </a:r>
          </a:p>
          <a:p xmlns:a="http://schemas.openxmlformats.org/drawingml/2006/main">
            <a:r>
              <a:t>確認深度 個別タスク整理</a:t>
            </a:r>
          </a:p>
          <a:p xmlns:a="http://schemas.openxmlformats.org/drawingml/2006/main">
            <a:r>
              <a:t>人の残作業 自動確定する工程・工具・順序と人の承認は未確認</a:t>
            </a:r>
          </a:p>
          <a:p xmlns:a="http://schemas.openxmlformats.org/drawingml/2006/main">
            <a:r>
              <a:t>段階 JIMTOF2026公式カタログ掲載・現地未確認 / 2026展示予定・提供段階未確認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AC098 シーメンス株式会社 Digital Thread：工作機械ツイン・工程内品質保証</a:t>
            </a:r>
          </a:p>
          <a:p xmlns:a="http://schemas.openxmlformats.org/drawingml/2006/main">
            <a:r>
              <a:t>ブース E3006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海外HMND実証とJIMTOFの機体・タスクの同一性は未確認。</a:t>
            </a:r>
          </a:p>
          <a:p xmlns:a="http://schemas.openxmlformats.org/drawingml/2006/main">
            <a:r>
              <a:t>段階 2026公式カタログ掲載・現地未確認 / 2026展示予定。既存製品・参考出展・構想等は原典で個別確認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EEX-EXH-2026-9b991dd8132f51dc シーメンス株式会社</a:t>
            </a:r>
          </a:p>
          <a:p xmlns:a="http://schemas.openxmlformats.org/drawingml/2006/main">
            <a:r>
              <a:t>JIMTOF2026公式出展説明：シーメンス株式会社 (E3006)</a:t>
            </a:r>
          </a:p>
          <a:p xmlns:a="http://schemas.openxmlformats.org/drawingml/2006/main">
            <a:r>
              <a:t>https://www.jimtof.org/search/jp/ESdetails?e=EBIotJu7lrg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EEX-EXH-2024-558faea07a73f5d8 シーメンス株式会社</a:t>
            </a:r>
          </a:p>
          <a:p xmlns:a="http://schemas.openxmlformats.org/drawingml/2006/main">
            <a:r>
              <a:t>JIMTOF2024公式出展説明：シーメンス株式会社 (E5008)</a:t>
            </a:r>
          </a:p>
          <a:p xmlns:a="http://schemas.openxmlformats.org/drawingml/2006/main">
            <a:r>
              <a:t>https://www.jimtof.org/2024/search/jp/ESdetails?e=nYvFR1vpbuE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EDP-16 Siemens</a:t>
            </a:r>
          </a:p>
          <a:p xmlns:a="http://schemas.openxmlformats.org/drawingml/2006/main">
            <a:r>
              <a:t>HELLER Toknとデジタルツインの訓練事例</a:t>
            </a:r>
          </a:p>
          <a:p xmlns:a="http://schemas.openxmlformats.org/drawingml/2006/main">
            <a:r>
              <a:t>https://references.siemens.com/en/reference/heller-tokn-digital-twin?id=41137</a:t>
            </a:r>
          </a:p>
          <a:p xmlns:a="http://schemas.openxmlformats.org/drawingml/2006/main">
            <a:r>
              <a:t>該当箇所 Completion: 2024／仮想SINUMERIK ONEと3D機械モデルによる訓練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EDP-17 Siemens</a:t>
            </a:r>
          </a:p>
          <a:p xmlns:a="http://schemas.openxmlformats.org/drawingml/2006/main">
            <a:r>
              <a:t>Humanoidとの工場内物流の運用試験</a:t>
            </a:r>
          </a:p>
          <a:p xmlns:a="http://schemas.openxmlformats.org/drawingml/2006/main">
            <a:r>
              <a:t>https://press.siemens.com/jp/ja/pressrelease/pr-20260416</a:t>
            </a:r>
          </a:p>
          <a:p xmlns:a="http://schemas.openxmlformats.org/drawingml/2006/main">
            <a:r>
              <a:t>該当箇所 HMND 01 Alphaのトート把持・搬送・配置／Jetson Thor・Isaac Sim/Lab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SUB003 シーメンス株式会社 NX CAM／NX CMM</a:t>
            </a:r>
          </a:p>
          <a:p xmlns:a="http://schemas.openxmlformats.org/drawingml/2006/main">
            <a:r>
              <a:t>ブース E3006</a:t>
            </a:r>
          </a:p>
          <a:p xmlns:a="http://schemas.openxmlformats.org/drawingml/2006/main">
            <a:r>
              <a:t>確認深度 出展説明の一次分類</a:t>
            </a:r>
          </a:p>
          <a:p xmlns:a="http://schemas.openxmlformats.org/drawingml/2006/main">
            <a:r>
              <a:t>人の残作業 作成条件、修正・採用判断、実行前の確認範囲は未精査。</a:t>
            </a:r>
          </a:p>
          <a:p xmlns:a="http://schemas.openxmlformats.org/drawingml/2006/main">
            <a:r>
              <a:t>段階 2026公式カタログ掲載・現地未確認 / 2026展示予定。既存製品・参考出展・構想等は原典で個別確認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AC100 株式会社ジェイテクト 大型CNC円筒研削盤　G5P250G</a:t>
            </a:r>
          </a:p>
          <a:p xmlns:a="http://schemas.openxmlformats.org/drawingml/2006/main">
            <a:r>
              <a:t>ブース E8003</a:t>
            </a:r>
          </a:p>
          <a:p xmlns:a="http://schemas.openxmlformats.org/drawingml/2006/main">
            <a:r>
              <a:t>確認深度 出展説明の一次分類</a:t>
            </a:r>
          </a:p>
          <a:p xmlns:a="http://schemas.openxmlformats.org/drawingml/2006/main">
            <a:r>
              <a:t>人の残作業 承認・例外対応・停止・復帰の境界は未確認</a:t>
            </a:r>
          </a:p>
          <a:p xmlns:a="http://schemas.openxmlformats.org/drawingml/2006/main">
            <a:r>
              <a:t>段階 2026公式カタログ掲載・現地未確認 / 2026展示予定。既存製品・参考出展・構想等は原典で個別確認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EEX-EXH-2026-18d08a3e4d8ab906 株式会社ジェイテクト</a:t>
            </a:r>
          </a:p>
          <a:p xmlns:a="http://schemas.openxmlformats.org/drawingml/2006/main">
            <a:r>
              <a:t>JIMTOF2026公式出展説明：株式会社ジェイテクト (E8003)</a:t>
            </a:r>
          </a:p>
          <a:p xmlns:a="http://schemas.openxmlformats.org/drawingml/2006/main">
            <a:r>
              <a:t>https://www.jimtof.org/search/jp/ESdetails?e=cW9RNSMEfso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EEX-EXH-2024-7a92881c6963ceba 株式会社ジェイテクト</a:t>
            </a:r>
          </a:p>
          <a:p xmlns:a="http://schemas.openxmlformats.org/drawingml/2006/main">
            <a:r>
              <a:t>JIMTOF2024公式出展説明：株式会社ジェイテクト (E3015)</a:t>
            </a:r>
          </a:p>
          <a:p xmlns:a="http://schemas.openxmlformats.org/drawingml/2006/main">
            <a:r>
              <a:t>https://www.jimtof.org/2024/search/jp/ESdetails?e=mjIyOzHh7nU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AC172 ニデックマシンツール株式会社 ①門形五面加工機　MVR-Hx</a:t>
            </a:r>
          </a:p>
          <a:p xmlns:a="http://schemas.openxmlformats.org/drawingml/2006/main">
            <a:r>
              <a:t>ブース E3011</a:t>
            </a:r>
          </a:p>
          <a:p xmlns:a="http://schemas.openxmlformats.org/drawingml/2006/main">
            <a:r>
              <a:t>確認深度 出展説明の一次分類</a:t>
            </a:r>
          </a:p>
          <a:p xmlns:a="http://schemas.openxmlformats.org/drawingml/2006/main">
            <a:r>
              <a:t>人の残作業 承認・例外対応・停止・復帰の境界は未確認</a:t>
            </a:r>
          </a:p>
          <a:p xmlns:a="http://schemas.openxmlformats.org/drawingml/2006/main">
            <a:r>
              <a:t>段階 2026公式カタログ掲載・現地未確認 / 2026展示予定。既存製品・参考出展・構想等は原典で個別確認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EEX-EXH-2026-d31a435d31c2b6eb ニデックマシンツール株式会社</a:t>
            </a:r>
          </a:p>
          <a:p xmlns:a="http://schemas.openxmlformats.org/drawingml/2006/main">
            <a:r>
              <a:t>JIMTOF2026公式出展説明：ニデックマシンツール株式会社 (E3011)</a:t>
            </a:r>
          </a:p>
          <a:p xmlns:a="http://schemas.openxmlformats.org/drawingml/2006/main">
            <a:r>
              <a:t>https://www.jimtof.org/search/jp/ESdetails?e=oS1WYTzqdvg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EEX-EXH-2024-0059d4657b27c088 ニデックマシンツール株式会社</a:t>
            </a:r>
          </a:p>
          <a:p xmlns:a="http://schemas.openxmlformats.org/drawingml/2006/main">
            <a:r>
              <a:t>JIMTOF2024公式出展説明：ニデックマシンツール株式会社 (E2031)</a:t>
            </a:r>
          </a:p>
          <a:p xmlns:a="http://schemas.openxmlformats.org/drawingml/2006/main">
            <a:r>
              <a:t>https://www.jimtof.org/2024/search/jp/ESdetails?e=F6J7FmEp-qk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EEX-EXH-2024-3301c67db4bb9dd4 ニデックマシンツール株式会社</a:t>
            </a:r>
          </a:p>
          <a:p xmlns:a="http://schemas.openxmlformats.org/drawingml/2006/main">
            <a:r>
              <a:t>JIMTOF2024公式出展説明：ニデックマシンツール株式会社 (AM132)</a:t>
            </a:r>
          </a:p>
          <a:p xmlns:a="http://schemas.openxmlformats.org/drawingml/2006/main">
            <a:r>
              <a:t>https://www.jimtof.org/2024/search/jp/ESdetails?e=QF9JlOzN9Gk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AC171 ニデックオーケーケー株式会社 ①５軸制御立形マシニングセンタ　VB-X650</a:t>
            </a:r>
          </a:p>
          <a:p xmlns:a="http://schemas.openxmlformats.org/drawingml/2006/main">
            <a:r>
              <a:t>ブース E3012</a:t>
            </a:r>
          </a:p>
          <a:p xmlns:a="http://schemas.openxmlformats.org/drawingml/2006/main">
            <a:r>
              <a:t>確認深度 出展説明の一次分類</a:t>
            </a:r>
          </a:p>
          <a:p xmlns:a="http://schemas.openxmlformats.org/drawingml/2006/main">
            <a:r>
              <a:t>人の残作業 承認・例外対応・停止・復帰の境界は未確認</a:t>
            </a:r>
          </a:p>
          <a:p xmlns:a="http://schemas.openxmlformats.org/drawingml/2006/main">
            <a:r>
              <a:t>段階 2026公式カタログ掲載・現地未確認 / 2026展示予定。既存製品・参考出展・構想等は原典で個別確認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EEX-EXH-2026-3211cafa924b2f84 ニデックオーケーケー株式会社</a:t>
            </a:r>
          </a:p>
          <a:p xmlns:a="http://schemas.openxmlformats.org/drawingml/2006/main">
            <a:r>
              <a:t>JIMTOF2026公式出展説明：ニデックオーケーケー株式会社 (E3012)</a:t>
            </a:r>
          </a:p>
          <a:p xmlns:a="http://schemas.openxmlformats.org/drawingml/2006/main">
            <a:r>
              <a:t>https://www.jimtof.org/search/jp/ESdetails?e=cIGcLA71ub0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EEX-EXH-2024-44f5c8e1a79f9707 ニデックオーケーケー株式会社</a:t>
            </a:r>
          </a:p>
          <a:p xmlns:a="http://schemas.openxmlformats.org/drawingml/2006/main">
            <a:r>
              <a:t>JIMTOF2024公式出展説明：ニデックオーケーケー株式会社 (E2032)</a:t>
            </a:r>
          </a:p>
          <a:p xmlns:a="http://schemas.openxmlformats.org/drawingml/2006/main">
            <a:r>
              <a:t>https://www.jimtof.org/2024/search/jp/ESdetails?e=15EOJWcvGE8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AC123 株式会社ソディック 1）リニアモータ駆動 高速・高性能 ワイヤ放電加工機「ALN600G ⅰGroove + Edition」</a:t>
            </a:r>
          </a:p>
          <a:p xmlns:a="http://schemas.openxmlformats.org/drawingml/2006/main">
            <a:r>
              <a:t>ブース E2017</a:t>
            </a:r>
          </a:p>
          <a:p xmlns:a="http://schemas.openxmlformats.org/drawingml/2006/main">
            <a:r>
              <a:t>確認深度 出展説明の一次分類</a:t>
            </a:r>
          </a:p>
          <a:p xmlns:a="http://schemas.openxmlformats.org/drawingml/2006/main">
            <a:r>
              <a:t>人の残作業 承認・例外対応・停止・復帰の境界は未確認</a:t>
            </a:r>
          </a:p>
          <a:p xmlns:a="http://schemas.openxmlformats.org/drawingml/2006/main">
            <a:r>
              <a:t>段階 2026公式カタログ掲載・現地未確認 / 2026展示予定。既存製品・参考出展・構想等は原典で個別確認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EEX-EXH-2026-f434da28b26d8f26 株式会社ソディック</a:t>
            </a:r>
          </a:p>
          <a:p xmlns:a="http://schemas.openxmlformats.org/drawingml/2006/main">
            <a:r>
              <a:t>JIMTOF2026公式出展説明：株式会社ソディック (E2017)</a:t>
            </a:r>
          </a:p>
          <a:p xmlns:a="http://schemas.openxmlformats.org/drawingml/2006/main">
            <a:r>
              <a:t>https://www.jimtof.org/search/jp/ESdetails?e=k6keXdSLQmQ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EEX-EXH-2024-7c4887bf05364088 株式会社ソディック</a:t>
            </a:r>
          </a:p>
          <a:p xmlns:a="http://schemas.openxmlformats.org/drawingml/2006/main">
            <a:r>
              <a:t>JIMTOF2024公式出展説明：株式会社ソディック (E4015)</a:t>
            </a:r>
          </a:p>
          <a:p xmlns:a="http://schemas.openxmlformats.org/drawingml/2006/main">
            <a:r>
              <a:t>https://www.jimtof.org/2024/search/jp/ESdetails?e=VYjGUrtgdX4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DMG森精機株式会社</a:t>
            </a:r>
          </a:p>
          <a:p xmlns:a="http://schemas.openxmlformats.org/drawingml/2006/main">
            <a:r>
              <a:t>工程集約、AMR、ワーク・パレット供給、運用支援</a:t>
            </a:r>
          </a:p>
          <a:p xmlns:a="http://schemas.openxmlformats.org/drawingml/2006/main">
            <a:r>
              <a:t>2026公式CSV行 EXH-2026-3ff8a9f4ec9f1c07</a:t>
            </a:r>
          </a:p>
          <a:p xmlns:a="http://schemas.openxmlformats.org/drawingml/2006/main">
            <a:r>
              <a:t>https://www.jimtof.org/search/jp/ESdetails?e=zcqDj1lSkGs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ヤマザキマザック株式会社</a:t>
            </a:r>
          </a:p>
          <a:p xmlns:a="http://schemas.openxmlformats.org/drawingml/2006/main">
            <a:r>
              <a:t>複合加工と自動化、AI活用。工程案・顧客適応を確認</a:t>
            </a:r>
          </a:p>
          <a:p xmlns:a="http://schemas.openxmlformats.org/drawingml/2006/main">
            <a:r>
              <a:t>2026公式CSV行 EXH-2026-67e8b88c3b5b9c06</a:t>
            </a:r>
          </a:p>
          <a:p xmlns:a="http://schemas.openxmlformats.org/drawingml/2006/main">
            <a:r>
              <a:t>https://www.jimtof.org/search/jp/ESdetails?e=PJEgqNYlWes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オークマ株式会社</a:t>
            </a:r>
          </a:p>
          <a:p xmlns:a="http://schemas.openxmlformats.org/drawingml/2006/main">
            <a:r>
              <a:t>機内ロボット、供給、熱変位制御と加工支援</a:t>
            </a:r>
          </a:p>
          <a:p xmlns:a="http://schemas.openxmlformats.org/drawingml/2006/main">
            <a:r>
              <a:t>2026公式CSV行 EXH-2026-83dac2656a4ec28c</a:t>
            </a:r>
          </a:p>
          <a:p xmlns:a="http://schemas.openxmlformats.org/drawingml/2006/main">
            <a:r>
              <a:t>https://www.jimtof.org/search/jp/ESdetails?e=30li0vWcseI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株式会社牧野フライス製作所</a:t>
            </a:r>
          </a:p>
          <a:p xmlns:a="http://schemas.openxmlformats.org/drawingml/2006/main">
            <a:r>
              <a:t>パレット供給、MAS、ライン設計・保守の組合せ</a:t>
            </a:r>
          </a:p>
          <a:p xmlns:a="http://schemas.openxmlformats.org/drawingml/2006/main">
            <a:r>
              <a:t>2026公式CSV行 EXH-2026-4da41646b2511bcf</a:t>
            </a:r>
          </a:p>
          <a:p xmlns:a="http://schemas.openxmlformats.org/drawingml/2006/main">
            <a:r>
              <a:t>https://www.jimtof.org/search/jp/ESdetails?e=M5OL10ECBTE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ファナック株式会社</a:t>
            </a:r>
          </a:p>
          <a:p xmlns:a="http://schemas.openxmlformats.org/drawingml/2006/main">
            <a:r>
              <a:t>CNC・ロボット・ツイン。生成AIと物理作業の範囲</a:t>
            </a:r>
          </a:p>
          <a:p xmlns:a="http://schemas.openxmlformats.org/drawingml/2006/main">
            <a:r>
              <a:t>2026公式CSV行 EXH-2026-40a56e23f52ed1c4</a:t>
            </a:r>
          </a:p>
          <a:p xmlns:a="http://schemas.openxmlformats.org/drawingml/2006/main">
            <a:r>
              <a:t>https://www.jimtof.org/search/jp/ESdetails?e=q0OrZBKM3uQ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三菱電機株式会社</a:t>
            </a:r>
          </a:p>
          <a:p xmlns:a="http://schemas.openxmlformats.org/drawingml/2006/main">
            <a:r>
              <a:t>CNCの監視・省人化、保守、計画と加工データ</a:t>
            </a:r>
          </a:p>
          <a:p xmlns:a="http://schemas.openxmlformats.org/drawingml/2006/main">
            <a:r>
              <a:t>2026公式CSV行 EXH-2026-eb6827bac06bfe00</a:t>
            </a:r>
          </a:p>
          <a:p xmlns:a="http://schemas.openxmlformats.org/drawingml/2006/main">
            <a:r>
              <a:t>https://www.jimtof.org/search/jp/ESdetails?e=AjLnzm01WWU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シーメンス株式会社</a:t>
            </a:r>
          </a:p>
          <a:p xmlns:a="http://schemas.openxmlformats.org/drawingml/2006/main">
            <a:r>
              <a:t>CAD/CAM、工程内品質、工作機械ツイン</a:t>
            </a:r>
          </a:p>
          <a:p xmlns:a="http://schemas.openxmlformats.org/drawingml/2006/main">
            <a:r>
              <a:t>2026公式CSV行 EXH-2026-9b991dd8132f51dc</a:t>
            </a:r>
          </a:p>
          <a:p xmlns:a="http://schemas.openxmlformats.org/drawingml/2006/main">
            <a:r>
              <a:t>https://www.jimtof.org/search/jp/ESdetails?e=EBIotJu7lrg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株式会社ジェイテクト</a:t>
            </a:r>
          </a:p>
          <a:p xmlns:a="http://schemas.openxmlformats.org/drawingml/2006/main">
            <a:r>
              <a:t>研削・加工ソリューションと省人化の構成</a:t>
            </a:r>
          </a:p>
          <a:p xmlns:a="http://schemas.openxmlformats.org/drawingml/2006/main">
            <a:r>
              <a:t>2026公式CSV行 EXH-2026-18d08a3e4d8ab906</a:t>
            </a:r>
          </a:p>
          <a:p xmlns:a="http://schemas.openxmlformats.org/drawingml/2006/main">
            <a:r>
              <a:t>https://www.jimtof.org/search/jp/ESdetails?e=cW9RNSMEfso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ニデックマシンツール株式会社</a:t>
            </a:r>
          </a:p>
          <a:p xmlns:a="http://schemas.openxmlformats.org/drawingml/2006/main">
            <a:r>
              <a:t>歯車加工・工程集約、デジタルツインの説明</a:t>
            </a:r>
          </a:p>
          <a:p xmlns:a="http://schemas.openxmlformats.org/drawingml/2006/main">
            <a:r>
              <a:t>2026公式CSV行 EXH-2026-d31a435d31c2b6eb</a:t>
            </a:r>
          </a:p>
          <a:p xmlns:a="http://schemas.openxmlformats.org/drawingml/2006/main">
            <a:r>
              <a:t>https://www.jimtof.org/search/jp/ESdetails?e=oS1WYTzqdvg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ニデックオーケーケー株式会社</a:t>
            </a:r>
          </a:p>
          <a:p xmlns:a="http://schemas.openxmlformats.org/drawingml/2006/main">
            <a:r>
              <a:t>加工機とローダ等による自動化の構成</a:t>
            </a:r>
          </a:p>
          <a:p xmlns:a="http://schemas.openxmlformats.org/drawingml/2006/main">
            <a:r>
              <a:t>2026公式CSV行 EXH-2026-3211cafa924b2f84</a:t>
            </a:r>
          </a:p>
          <a:p xmlns:a="http://schemas.openxmlformats.org/drawingml/2006/main">
            <a:r>
              <a:t>https://www.jimtof.org/search/jp/ESdetails?e=cIGcLA71ub0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株式会社ソディック</a:t>
            </a:r>
          </a:p>
          <a:p xmlns:a="http://schemas.openxmlformats.org/drawingml/2006/main">
            <a:r>
              <a:t>放電・加工と自動化。具体的な連携範囲を確認</a:t>
            </a:r>
          </a:p>
          <a:p xmlns:a="http://schemas.openxmlformats.org/drawingml/2006/main">
            <a:r>
              <a:t>2026公式CSV行 EXH-2026-f434da28b26d8f26</a:t>
            </a:r>
          </a:p>
          <a:p xmlns:a="http://schemas.openxmlformats.org/drawingml/2006/main">
            <a:r>
              <a:t>https://www.jimtof.org/search/jp/ESdetails?e=k6keXdSLQmQ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留保 ブースは既存公式CSV。カードの深度は混在。本文不足・カード未整理を、出展や技術の不在とは扱わない。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JIMTOF2026 事前調査 2026年10月21日</a:t>
            </a:r>
          </a:p>
          <a:p xmlns:a="http://schemas.openxmlformats.org/drawingml/2006/main">
            <a:r>
              <a:t>現地調査・顧客実証は未実施。公開発表、展示予定、分析仮説を区別。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AC010 株式会社アマダ 新型ファイバーレーザ</a:t>
            </a:r>
          </a:p>
          <a:p xmlns:a="http://schemas.openxmlformats.org/drawingml/2006/main">
            <a:r>
              <a:t>ブース E2012</a:t>
            </a:r>
          </a:p>
          <a:p xmlns:a="http://schemas.openxmlformats.org/drawingml/2006/main">
            <a:r>
              <a:t>確認深度 出展説明の一次分類</a:t>
            </a:r>
          </a:p>
          <a:p xmlns:a="http://schemas.openxmlformats.org/drawingml/2006/main">
            <a:r>
              <a:t>人の残作業 承認・例外対応・停止・復帰の境界は未確認</a:t>
            </a:r>
          </a:p>
          <a:p xmlns:a="http://schemas.openxmlformats.org/drawingml/2006/main">
            <a:r>
              <a:t>段階 2026公式カタログ掲載・現地未確認 / 2026展示予定。既存製品・参考出展・構想等は原典で個別確認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EEX-EXH-2026-650d9d144d109d53 株式会社アマダ</a:t>
            </a:r>
          </a:p>
          <a:p xmlns:a="http://schemas.openxmlformats.org/drawingml/2006/main">
            <a:r>
              <a:t>JIMTOF2026公式出展説明：株式会社アマダ (E2012)</a:t>
            </a:r>
          </a:p>
          <a:p xmlns:a="http://schemas.openxmlformats.org/drawingml/2006/main">
            <a:r>
              <a:t>https://www.jimtof.org/search/jp/ESdetails?e=lwacRdqPa60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EEX-EXH-2024-6494a99b9e9dbbed 株式会社アマダ</a:t>
            </a:r>
          </a:p>
          <a:p xmlns:a="http://schemas.openxmlformats.org/drawingml/2006/main">
            <a:r>
              <a:t>JIMTOF2024公式出展説明：株式会社アマダ (E1072)</a:t>
            </a:r>
          </a:p>
          <a:p xmlns:a="http://schemas.openxmlformats.org/drawingml/2006/main">
            <a:r>
              <a:t>https://www.jimtof.org/2024/search/jp/ESdetails?e=Jc5GYaUqS1I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FC047 松浦機械製作所 5軸＋マルチパレット／MiOS</a:t>
            </a:r>
          </a:p>
          <a:p xmlns:a="http://schemas.openxmlformats.org/drawingml/2006/main">
            <a:r>
              <a:t>ブース E3030</a:t>
            </a:r>
          </a:p>
          <a:p xmlns:a="http://schemas.openxmlformats.org/drawingml/2006/main">
            <a:r>
              <a:t>確認深度 個別タスク整理</a:t>
            </a:r>
          </a:p>
          <a:p xmlns:a="http://schemas.openxmlformats.org/drawingml/2006/main">
            <a:r>
              <a:t>人の残作業 事前段取り・工具準備・異常時対応の自動範囲は未確認</a:t>
            </a:r>
          </a:p>
          <a:p xmlns:a="http://schemas.openxmlformats.org/drawingml/2006/main">
            <a:r>
              <a:t>段階 JIMTOF2026公式カタログ掲載・現地未確認 / 2026展示予定・提供段階未確認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EOV-V028-2024-1 株式会社松浦機械製作所</a:t>
            </a:r>
          </a:p>
          <a:p xmlns:a="http://schemas.openxmlformats.org/drawingml/2006/main">
            <a:r>
              <a:t>JIMTOF2024公式カタログ：株式会社松浦機械製作所 (E3019)</a:t>
            </a:r>
          </a:p>
          <a:p xmlns:a="http://schemas.openxmlformats.org/drawingml/2006/main">
            <a:r>
              <a:t>https://www.jimtof.org/2024/search/jp/ESdetails?e=_4GLIXLZuKE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EOV-V028-2024-2 株式会社松浦機械製作所</a:t>
            </a:r>
          </a:p>
          <a:p xmlns:a="http://schemas.openxmlformats.org/drawingml/2006/main">
            <a:r>
              <a:t>JIMTOF2024公式カタログ：株式会社松浦機械製作所 (AM115)</a:t>
            </a:r>
          </a:p>
          <a:p xmlns:a="http://schemas.openxmlformats.org/drawingml/2006/main">
            <a:r>
              <a:t>https://www.jimtof.org/2024/search/jp/ESdetails?e=coHqGCjVn0c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EOV-V028-2026-1 株式会社松浦機械製作所</a:t>
            </a:r>
          </a:p>
          <a:p xmlns:a="http://schemas.openxmlformats.org/drawingml/2006/main">
            <a:r>
              <a:t>JIMTOF2026公式カタログ：株式会社松浦機械製作所 (E3030)</a:t>
            </a:r>
          </a:p>
          <a:p xmlns:a="http://schemas.openxmlformats.org/drawingml/2006/main">
            <a:r>
              <a:t>https://www.jimtof.org/search/jp/ESdetails?e=K_X61J2xV_w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SUB001 松浦機械製作所 GIBBSCAM2026</a:t>
            </a:r>
          </a:p>
          <a:p xmlns:a="http://schemas.openxmlformats.org/drawingml/2006/main">
            <a:r>
              <a:t>ブース E3030</a:t>
            </a:r>
          </a:p>
          <a:p xmlns:a="http://schemas.openxmlformats.org/drawingml/2006/main">
            <a:r>
              <a:t>確認深度 出展説明の一次分類</a:t>
            </a:r>
          </a:p>
          <a:p xmlns:a="http://schemas.openxmlformats.org/drawingml/2006/main">
            <a:r>
              <a:t>人の残作業 作成条件、修正・採用判断、実行前の確認範囲は未精査。</a:t>
            </a:r>
          </a:p>
          <a:p xmlns:a="http://schemas.openxmlformats.org/drawingml/2006/main">
            <a:r>
              <a:t>段階 JIMTOF2026公式カタログ掲載・現地未確認 / 2026展示予定・提供段階未確認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AC102 シチズンマシナリー株式会社 主軸台移動型CNC自動旋盤　M32Ⅷ　L32ⅫB5　L20ⅫB5　Ⅼ12Ⅹ　R04</a:t>
            </a:r>
          </a:p>
          <a:p xmlns:a="http://schemas.openxmlformats.org/drawingml/2006/main">
            <a:r>
              <a:t>ブース S2002</a:t>
            </a:r>
          </a:p>
          <a:p xmlns:a="http://schemas.openxmlformats.org/drawingml/2006/main">
            <a:r>
              <a:t>確認深度 出展説明の一次分類</a:t>
            </a:r>
          </a:p>
          <a:p xmlns:a="http://schemas.openxmlformats.org/drawingml/2006/main">
            <a:r>
              <a:t>人の残作業 承認・例外対応・停止・復帰の境界は未確認</a:t>
            </a:r>
          </a:p>
          <a:p xmlns:a="http://schemas.openxmlformats.org/drawingml/2006/main">
            <a:r>
              <a:t>段階 2026公式カタログ掲載・現地未確認 / 2026展示予定。既存製品・参考出展・構想等は原典で個別確認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EEX-EXH-2026-02147c6f37a0a824 シチズンマシナリー株式会社</a:t>
            </a:r>
          </a:p>
          <a:p xmlns:a="http://schemas.openxmlformats.org/drawingml/2006/main">
            <a:r>
              <a:t>JIMTOF2026公式出展説明：シチズンマシナリー株式会社 (S2002)</a:t>
            </a:r>
          </a:p>
          <a:p xmlns:a="http://schemas.openxmlformats.org/drawingml/2006/main">
            <a:r>
              <a:t>https://www.jimtof.org/search/jp/ESdetails?e=sqCigr-Fu70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EEX-EXH-2024-23c080ca7808117c シチズンマシナリー株式会社</a:t>
            </a:r>
          </a:p>
          <a:p xmlns:a="http://schemas.openxmlformats.org/drawingml/2006/main">
            <a:r>
              <a:t>JIMTOF2024公式出展説明：シチズンマシナリー株式会社 (E5034)</a:t>
            </a:r>
          </a:p>
          <a:p xmlns:a="http://schemas.openxmlformats.org/drawingml/2006/main">
            <a:r>
              <a:t>https://www.jimtof.org/2024/search/jp/ESdetails?e=Yym6acTNJ3w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AC112 スター精密株式会社 スイス型ＣＮＣ自動旋盤　ＳＢ－１２ＲＩＩ</a:t>
            </a:r>
          </a:p>
          <a:p xmlns:a="http://schemas.openxmlformats.org/drawingml/2006/main">
            <a:r>
              <a:t>ブース S1003</a:t>
            </a:r>
          </a:p>
          <a:p xmlns:a="http://schemas.openxmlformats.org/drawingml/2006/main">
            <a:r>
              <a:t>確認深度 出展説明の一次分類</a:t>
            </a:r>
          </a:p>
          <a:p xmlns:a="http://schemas.openxmlformats.org/drawingml/2006/main">
            <a:r>
              <a:t>人の残作業 承認・例外対応・停止・復帰の境界は未確認</a:t>
            </a:r>
          </a:p>
          <a:p xmlns:a="http://schemas.openxmlformats.org/drawingml/2006/main">
            <a:r>
              <a:t>段階 2026公式カタログ掲載・現地未確認 / 2026展示予定。既存製品・参考出展・構想等は原典で個別確認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EEX-EXH-2026-0a5e5a2628606f5f スター精密株式会社</a:t>
            </a:r>
          </a:p>
          <a:p xmlns:a="http://schemas.openxmlformats.org/drawingml/2006/main">
            <a:r>
              <a:t>JIMTOF2026公式出展説明：スター精密株式会社 (S1003)</a:t>
            </a:r>
          </a:p>
          <a:p xmlns:a="http://schemas.openxmlformats.org/drawingml/2006/main">
            <a:r>
              <a:t>https://www.jimtof.org/search/jp/ESdetails?e=uGFHKigy2ag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EEX-EXH-2024-1cce6dcfa72ea15d スター精密株式会社</a:t>
            </a:r>
          </a:p>
          <a:p xmlns:a="http://schemas.openxmlformats.org/drawingml/2006/main">
            <a:r>
              <a:t>JIMTOF2024公式出展説明：スター精密株式会社 (E6022)</a:t>
            </a:r>
          </a:p>
          <a:p xmlns:a="http://schemas.openxmlformats.org/drawingml/2006/main">
            <a:r>
              <a:t>https://www.jimtof.org/2024/search/jp/ESdetails?e=Lko701EYhhQ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AC139 株式会社ツガミ CNC精密自動旋盤　B0207</a:t>
            </a:r>
          </a:p>
          <a:p xmlns:a="http://schemas.openxmlformats.org/drawingml/2006/main">
            <a:r>
              <a:t>ブース S1004</a:t>
            </a:r>
          </a:p>
          <a:p xmlns:a="http://schemas.openxmlformats.org/drawingml/2006/main">
            <a:r>
              <a:t>確認深度 出展説明の一次分類</a:t>
            </a:r>
          </a:p>
          <a:p xmlns:a="http://schemas.openxmlformats.org/drawingml/2006/main">
            <a:r>
              <a:t>人の残作業 承認・例外対応・停止・復帰の境界は未確認</a:t>
            </a:r>
          </a:p>
          <a:p xmlns:a="http://schemas.openxmlformats.org/drawingml/2006/main">
            <a:r>
              <a:t>段階 2026公式カタログ掲載・現地未確認 / 2026展示予定。既存製品・参考出展・構想等は原典で個別確認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EEX-EXH-2026-32c10384bbcaec00 株式会社ツガミ</a:t>
            </a:r>
          </a:p>
          <a:p xmlns:a="http://schemas.openxmlformats.org/drawingml/2006/main">
            <a:r>
              <a:t>JIMTOF2026公式出展説明：株式会社ツガミ (S1004)</a:t>
            </a:r>
          </a:p>
          <a:p xmlns:a="http://schemas.openxmlformats.org/drawingml/2006/main">
            <a:r>
              <a:t>https://www.jimtof.org/search/jp/ESdetails?e=fKOIqkxqaBI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EEX-EXH-2024-10616a1e9396f3d8 株式会社ツガミ</a:t>
            </a:r>
          </a:p>
          <a:p xmlns:a="http://schemas.openxmlformats.org/drawingml/2006/main">
            <a:r>
              <a:t>JIMTOF2024公式出展説明：株式会社ツガミ (E6018)</a:t>
            </a:r>
          </a:p>
          <a:p xmlns:a="http://schemas.openxmlformats.org/drawingml/2006/main">
            <a:r>
              <a:t>https://www.jimtof.org/2024/search/jp/ESdetails?e=5KpFSEqJrhg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AC042 オーエスジー株式会社 オーエスジーの最新技術を結集し、さまざまな被削材や加工環境に対応する</a:t>
            </a:r>
          </a:p>
          <a:p xmlns:a="http://schemas.openxmlformats.org/drawingml/2006/main">
            <a:r>
              <a:t>ブース W1070</a:t>
            </a:r>
          </a:p>
          <a:p xmlns:a="http://schemas.openxmlformats.org/drawingml/2006/main">
            <a:r>
              <a:t>確認深度 出展説明の一次分類</a:t>
            </a:r>
          </a:p>
          <a:p xmlns:a="http://schemas.openxmlformats.org/drawingml/2006/main">
            <a:r>
              <a:t>人の残作業 承認・例外対応・停止・復帰の境界は未確認</a:t>
            </a:r>
          </a:p>
          <a:p xmlns:a="http://schemas.openxmlformats.org/drawingml/2006/main">
            <a:r>
              <a:t>段階 2026公式カタログ掲載・現地未確認 / 2026展示予定。既存製品・参考出展・構想等は原典で個別確認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EEX-EXH-2026-89ee86275a54f434 オーエスジー株式会社</a:t>
            </a:r>
          </a:p>
          <a:p xmlns:a="http://schemas.openxmlformats.org/drawingml/2006/main">
            <a:r>
              <a:t>JIMTOF2026公式出展説明：オーエスジー株式会社 (W1070)</a:t>
            </a:r>
          </a:p>
          <a:p xmlns:a="http://schemas.openxmlformats.org/drawingml/2006/main">
            <a:r>
              <a:t>https://www.jimtof.org/search/jp/ESdetails?e=AooPnMJlHW4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EEX-EXH-2024-9a837f72519b8764 オーエスジー株式会社</a:t>
            </a:r>
          </a:p>
          <a:p xmlns:a="http://schemas.openxmlformats.org/drawingml/2006/main">
            <a:r>
              <a:t>JIMTOF2024公式出展説明：オーエスジー株式会社 (W1020)</a:t>
            </a:r>
          </a:p>
          <a:p xmlns:a="http://schemas.openxmlformats.org/drawingml/2006/main">
            <a:r>
              <a:t>https://www.jimtof.org/2024/search/jp/ESdetails?e=soucpoaRRyI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AC062 京セラ株式会社 旋削工具、回転工具・ソリッド工具</a:t>
            </a:r>
          </a:p>
          <a:p xmlns:a="http://schemas.openxmlformats.org/drawingml/2006/main">
            <a:r>
              <a:t>ブース W1046</a:t>
            </a:r>
          </a:p>
          <a:p xmlns:a="http://schemas.openxmlformats.org/drawingml/2006/main">
            <a:r>
              <a:t>確認深度 出展説明の一次分類</a:t>
            </a:r>
          </a:p>
          <a:p xmlns:a="http://schemas.openxmlformats.org/drawingml/2006/main">
            <a:r>
              <a:t>人の残作業 承認・例外対応・停止・復帰の境界は未確認</a:t>
            </a:r>
          </a:p>
          <a:p xmlns:a="http://schemas.openxmlformats.org/drawingml/2006/main">
            <a:r>
              <a:t>段階 2026公式カタログ掲載・現地未確認 / 2026展示予定。既存製品・参考出展・構想等は原典で個別確認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EEX-EXH-2026-916418fd838030de 京セラ株式会社</a:t>
            </a:r>
          </a:p>
          <a:p xmlns:a="http://schemas.openxmlformats.org/drawingml/2006/main">
            <a:r>
              <a:t>JIMTOF2026公式出展説明：京セラ株式会社 (W1046)</a:t>
            </a:r>
          </a:p>
          <a:p xmlns:a="http://schemas.openxmlformats.org/drawingml/2006/main">
            <a:r>
              <a:t>https://www.jimtof.org/search/jp/ESdetails?e=E4SA18YM2G4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EEX-EXH-2024-52636389a1fe85b6 京セラ株式会社</a:t>
            </a:r>
          </a:p>
          <a:p xmlns:a="http://schemas.openxmlformats.org/drawingml/2006/main">
            <a:r>
              <a:t>JIMTOF2024公式出展説明：京セラ株式会社 (W1014)</a:t>
            </a:r>
          </a:p>
          <a:p xmlns:a="http://schemas.openxmlformats.org/drawingml/2006/main">
            <a:r>
              <a:t>https://www.jimtof.org/2024/search/jp/ESdetails?e=0vdiPA6Ji_M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AC132 株式会社タンガロイ 旋削加工用：AddMultiTurn, TungTurnJet, BoreMeister, TungBoreMini, TungCut, AddFor</a:t>
            </a:r>
          </a:p>
          <a:p xmlns:a="http://schemas.openxmlformats.org/drawingml/2006/main">
            <a:r>
              <a:t>ブース W1090</a:t>
            </a:r>
          </a:p>
          <a:p xmlns:a="http://schemas.openxmlformats.org/drawingml/2006/main">
            <a:r>
              <a:t>確認深度 出展説明の一次分類</a:t>
            </a:r>
          </a:p>
          <a:p xmlns:a="http://schemas.openxmlformats.org/drawingml/2006/main">
            <a:r>
              <a:t>人の残作業 承認・例外対応・停止・復帰の境界は未確認</a:t>
            </a:r>
          </a:p>
          <a:p xmlns:a="http://schemas.openxmlformats.org/drawingml/2006/main">
            <a:r>
              <a:t>段階 2026公式カタログ掲載・現地未確認 / 2026展示予定。既存製品・参考出展・構想等は原典で個別確認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EEX-EXH-2026-b1217429663a31e7 株式会社タンガロイ</a:t>
            </a:r>
          </a:p>
          <a:p xmlns:a="http://schemas.openxmlformats.org/drawingml/2006/main">
            <a:r>
              <a:t>JIMTOF2026公式出展説明：株式会社タンガロイ (W1090)</a:t>
            </a:r>
          </a:p>
          <a:p xmlns:a="http://schemas.openxmlformats.org/drawingml/2006/main">
            <a:r>
              <a:t>https://www.jimtof.org/search/jp/ESdetails?e=VUyVyFPIn2Q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EEX-EXH-2024-fad88568a77814de 株式会社タンガロイ</a:t>
            </a:r>
          </a:p>
          <a:p xmlns:a="http://schemas.openxmlformats.org/drawingml/2006/main">
            <a:r>
              <a:t>JIMTOF2024公式出展説明：株式会社タンガロイ (W1021)</a:t>
            </a:r>
          </a:p>
          <a:p xmlns:a="http://schemas.openxmlformats.org/drawingml/2006/main">
            <a:r>
              <a:t>https://www.jimtof.org/2024/search/jp/ESdetails?e=vm3yerTfsk0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FC032 ミツトヨ 自動測定／MiCAT Planner・MiBOT系</a:t>
            </a:r>
          </a:p>
          <a:p xmlns:a="http://schemas.openxmlformats.org/drawingml/2006/main">
            <a:r>
              <a:t>ブース E7085</a:t>
            </a:r>
          </a:p>
          <a:p xmlns:a="http://schemas.openxmlformats.org/drawingml/2006/main">
            <a:r>
              <a:t>確認深度 個別タスク整理</a:t>
            </a:r>
          </a:p>
          <a:p xmlns:a="http://schemas.openxmlformats.org/drawingml/2006/main">
            <a:r>
              <a:t>人の残作業 計測から加工補正への全機種接続は未確認</a:t>
            </a:r>
          </a:p>
          <a:p xmlns:a="http://schemas.openxmlformats.org/drawingml/2006/main">
            <a:r>
              <a:t>段階 JIMTOF2026公式カタログ掲載・現地未確認 / 2026展示予定・提供段階未確認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EOV-V017-2024-1 株式会社ミツトヨ</a:t>
            </a:r>
          </a:p>
          <a:p xmlns:a="http://schemas.openxmlformats.org/drawingml/2006/main">
            <a:r>
              <a:t>JIMTOF2024公式カタログ：株式会社ミツトヨ (E7131)</a:t>
            </a:r>
          </a:p>
          <a:p xmlns:a="http://schemas.openxmlformats.org/drawingml/2006/main">
            <a:r>
              <a:t>https://www.jimtof.org/2024/search/jp/ESdetails?e=1CDoltPa9rk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EOV-V017-2026-1 株式会社ミツトヨ</a:t>
            </a:r>
          </a:p>
          <a:p xmlns:a="http://schemas.openxmlformats.org/drawingml/2006/main">
            <a:r>
              <a:t>JIMTOF2026公式カタログ：株式会社ミツトヨ (E7085)</a:t>
            </a:r>
          </a:p>
          <a:p xmlns:a="http://schemas.openxmlformats.org/drawingml/2006/main">
            <a:r>
              <a:t>https://www.jimtof.org/search/jp/ESdetails?e=a7y3JtW8DXM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株式会社アマダ</a:t>
            </a:r>
          </a:p>
          <a:p xmlns:a="http://schemas.openxmlformats.org/drawingml/2006/main">
            <a:r>
              <a:t>レーザ・研削・プレスと周辺工程の自動化</a:t>
            </a:r>
          </a:p>
          <a:p xmlns:a="http://schemas.openxmlformats.org/drawingml/2006/main">
            <a:r>
              <a:t>2026公式CSV行 EXH-2026-650d9d144d109d53</a:t>
            </a:r>
          </a:p>
          <a:p xmlns:a="http://schemas.openxmlformats.org/drawingml/2006/main">
            <a:r>
              <a:t>https://www.jimtof.org/search/jp/ESdetails?e=lwacRdqPa60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ブラザー工業株式会社</a:t>
            </a:r>
          </a:p>
          <a:p xmlns:a="http://schemas.openxmlformats.org/drawingml/2006/main">
            <a:r>
              <a:t>工具搭載数・5軸と複合加工による段取り負担低減</a:t>
            </a:r>
          </a:p>
          <a:p xmlns:a="http://schemas.openxmlformats.org/drawingml/2006/main">
            <a:r>
              <a:t>2026公式CSV行 EXH-2026-f418171804483971</a:t>
            </a:r>
          </a:p>
          <a:p xmlns:a="http://schemas.openxmlformats.org/drawingml/2006/main">
            <a:r>
              <a:t>https://www.jimtof.org/search/jp/ESdetails?e=lOXEEpvlXpM</a:t>
            </a:r>
          </a:p>
          <a:p xmlns:a="http://schemas.openxmlformats.org/drawingml/2006/main">
            <a:r>
              <a:t>2026公式説明：多品種小ロット化に伴う工具本数・段取りの増加に対し、工具搭載数と5軸・複合加工、パレット交換で応える。変種対応をAI以外でも解く比較対象。技術カードへの追加配置は未実施。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株式会社松浦機械製作所</a:t>
            </a:r>
          </a:p>
          <a:p xmlns:a="http://schemas.openxmlformats.org/drawingml/2006/main">
            <a:r>
              <a:t>多パレット・MiOS、加工データと供給の連携</a:t>
            </a:r>
          </a:p>
          <a:p xmlns:a="http://schemas.openxmlformats.org/drawingml/2006/main">
            <a:r>
              <a:t>2026公式CSV行 EXH-2026-d6d5c21a94f5a131</a:t>
            </a:r>
          </a:p>
          <a:p xmlns:a="http://schemas.openxmlformats.org/drawingml/2006/main">
            <a:r>
              <a:t>https://www.jimtof.org/search/jp/ESdetails?e=K_X61J2xV_w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シチズンマシナリー株式会社</a:t>
            </a:r>
          </a:p>
          <a:p xmlns:a="http://schemas.openxmlformats.org/drawingml/2006/main">
            <a:r>
              <a:t>自動旋盤と付帯作業・供給の省人化</a:t>
            </a:r>
          </a:p>
          <a:p xmlns:a="http://schemas.openxmlformats.org/drawingml/2006/main">
            <a:r>
              <a:t>2026公式CSV行 EXH-2026-02147c6f37a0a824</a:t>
            </a:r>
          </a:p>
          <a:p xmlns:a="http://schemas.openxmlformats.org/drawingml/2006/main">
            <a:r>
              <a:t>https://www.jimtof.org/search/jp/ESdetails?e=sqCigr-Fu70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スター精密株式会社</a:t>
            </a:r>
          </a:p>
          <a:p xmlns:a="http://schemas.openxmlformats.org/drawingml/2006/main">
            <a:r>
              <a:t>自動旋盤と周辺工程。条件変更時の作業を確認</a:t>
            </a:r>
          </a:p>
          <a:p xmlns:a="http://schemas.openxmlformats.org/drawingml/2006/main">
            <a:r>
              <a:t>2026公式CSV行 EXH-2026-0a5e5a2628606f5f</a:t>
            </a:r>
          </a:p>
          <a:p xmlns:a="http://schemas.openxmlformats.org/drawingml/2006/main">
            <a:r>
              <a:t>https://www.jimtof.org/search/jp/ESdetails?e=uGFHKigy2ag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株式会社ツガミ</a:t>
            </a:r>
          </a:p>
          <a:p xmlns:a="http://schemas.openxmlformats.org/drawingml/2006/main">
            <a:r>
              <a:t>精密自動旋盤と供給・自動化への対応</a:t>
            </a:r>
          </a:p>
          <a:p xmlns:a="http://schemas.openxmlformats.org/drawingml/2006/main">
            <a:r>
              <a:t>2026公式CSV行 EXH-2026-32c10384bbcaec00</a:t>
            </a:r>
          </a:p>
          <a:p xmlns:a="http://schemas.openxmlformats.org/drawingml/2006/main">
            <a:r>
              <a:t>https://www.jimtof.org/search/jp/ESdetails?e=fKOIqkxqaBI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オーエスジー株式会社</a:t>
            </a:r>
          </a:p>
          <a:p xmlns:a="http://schemas.openxmlformats.org/drawingml/2006/main">
            <a:r>
              <a:t>切削工具と加工課題へのソリューション</a:t>
            </a:r>
          </a:p>
          <a:p xmlns:a="http://schemas.openxmlformats.org/drawingml/2006/main">
            <a:r>
              <a:t>2026公式CSV行 EXH-2026-89ee86275a54f434</a:t>
            </a:r>
          </a:p>
          <a:p xmlns:a="http://schemas.openxmlformats.org/drawingml/2006/main">
            <a:r>
              <a:t>https://www.jimtof.org/search/jp/ESdetails?e=AooPnMJlHW4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三菱マテリアル株式会社</a:t>
            </a:r>
          </a:p>
          <a:p xmlns:a="http://schemas.openxmlformats.org/drawingml/2006/main">
            <a:r>
              <a:t>工具・材種・加工ソリューション、超硬リサイクル</a:t>
            </a:r>
          </a:p>
          <a:p xmlns:a="http://schemas.openxmlformats.org/drawingml/2006/main">
            <a:r>
              <a:t>2026公式CSV行 EXH-2026-2c71c115d4fbbf68</a:t>
            </a:r>
          </a:p>
          <a:p xmlns:a="http://schemas.openxmlformats.org/drawingml/2006/main">
            <a:r>
              <a:t>https://www.jimtof.org/search/jp/ESdetails?e=8cRbffPwDP4</a:t>
            </a:r>
          </a:p>
          <a:p xmlns:a="http://schemas.openxmlformats.org/drawingml/2006/main">
            <a:r>
              <a:t>2026公式説明：工具・材種・加工ソリューションと超硬リサイクルを紹介。工具の適用条件や寿命・品質に関する知識を、D1・D4のデータ設計で確認する相手。具体的なAI・データ連携機能は未確認。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京セラ株式会社</a:t>
            </a:r>
          </a:p>
          <a:p xmlns:a="http://schemas.openxmlformats.org/drawingml/2006/main">
            <a:r>
              <a:t>工具と加工ソリューション。安定加工・段取りを確認</a:t>
            </a:r>
          </a:p>
          <a:p xmlns:a="http://schemas.openxmlformats.org/drawingml/2006/main">
            <a:r>
              <a:t>2026公式CSV行 EXH-2026-916418fd838030de</a:t>
            </a:r>
          </a:p>
          <a:p xmlns:a="http://schemas.openxmlformats.org/drawingml/2006/main">
            <a:r>
              <a:t>https://www.jimtof.org/search/jp/ESdetails?e=E4SA18YM2G4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株式会社タンガロイ</a:t>
            </a:r>
          </a:p>
          <a:p xmlns:a="http://schemas.openxmlformats.org/drawingml/2006/main">
            <a:r>
              <a:t>工具の多機能化と加工の効率・安定化</a:t>
            </a:r>
          </a:p>
          <a:p xmlns:a="http://schemas.openxmlformats.org/drawingml/2006/main">
            <a:r>
              <a:t>2026公式CSV行 EXH-2026-b1217429663a31e7</a:t>
            </a:r>
          </a:p>
          <a:p xmlns:a="http://schemas.openxmlformats.org/drawingml/2006/main">
            <a:r>
              <a:t>https://www.jimtof.org/search/jp/ESdetails?e=VUyVyFPIn2Q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株式会社ミツトヨ</a:t>
            </a:r>
          </a:p>
          <a:p xmlns:a="http://schemas.openxmlformats.org/drawingml/2006/main">
            <a:r>
              <a:t>自動測定、測定プログラムと工程データ</a:t>
            </a:r>
          </a:p>
          <a:p xmlns:a="http://schemas.openxmlformats.org/drawingml/2006/main">
            <a:r>
              <a:t>2026公式CSV行 EXH-2026-d6b0b9a2e4e63d34, EXH-2026-a9bb55df60fab4d5</a:t>
            </a:r>
          </a:p>
          <a:p xmlns:a="http://schemas.openxmlformats.org/drawingml/2006/main">
            <a:r>
              <a:t>https://www.jimtof.org/search/jp/ESdetails?e=a7y3JtW8DXM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留保 ブースは既存公式CSV。カードの深度は混在。本文不足・カード未整理を、出展や技術の不在とは扱わない。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JIMTOF2026 事前調査 2026年10月21日</a:t>
            </a:r>
          </a:p>
          <a:p xmlns:a="http://schemas.openxmlformats.org/drawingml/2006/main">
            <a:r>
              <a:t>現地調査・顧客実証は未実施。公開発表、展示予定、分析仮説を区別。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FC033 レニショー Renishaw Central＋IPC</a:t>
            </a:r>
          </a:p>
          <a:p xmlns:a="http://schemas.openxmlformats.org/drawingml/2006/main">
            <a:r>
              <a:t>ブース E7089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計測不確かさ、補正上限、異常値の抑止条件は未確認。</a:t>
            </a:r>
          </a:p>
          <a:p xmlns:a="http://schemas.openxmlformats.org/drawingml/2006/main">
            <a:r>
              <a:t>段階 JIMTOF2026公式カタログ掲載・現地未確認 / 既存方式・メーカー自社工場事例あり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EOV-V018-2024-1 レニショー株式会社</a:t>
            </a:r>
          </a:p>
          <a:p xmlns:a="http://schemas.openxmlformats.org/drawingml/2006/main">
            <a:r>
              <a:t>JIMTOF2024公式カタログ：レニショー株式会社 (E7026)</a:t>
            </a:r>
          </a:p>
          <a:p xmlns:a="http://schemas.openxmlformats.org/drawingml/2006/main">
            <a:r>
              <a:t>https://www.jimtof.org/2024/search/jp/ESdetails?e=ekM3exgIAtc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EOV-V018-2026-1 レニショー株式会社</a:t>
            </a:r>
          </a:p>
          <a:p xmlns:a="http://schemas.openxmlformats.org/drawingml/2006/main">
            <a:r>
              <a:t>JIMTOF2026公式カタログ：レニショー株式会社 (E7089)</a:t>
            </a:r>
          </a:p>
          <a:p xmlns:a="http://schemas.openxmlformats.org/drawingml/2006/main">
            <a:r>
              <a:t>https://www.jimtof.org/search/jp/ESdetails?e=pYGmVz5GC1c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EOV-W03 レニショー</a:t>
            </a:r>
          </a:p>
          <a:p xmlns:a="http://schemas.openxmlformats.org/drawingml/2006/main">
            <a:r>
              <a:t>Renishaw Central データプラットフォーム</a:t>
            </a:r>
          </a:p>
          <a:p xmlns:a="http://schemas.openxmlformats.org/drawingml/2006/main">
            <a:r>
              <a:t>https://www.renishaw.com/jp/smart-manufacturing-data-platform-for-industrial-process-control--47853</a:t>
            </a:r>
          </a:p>
          <a:p xmlns:a="http://schemas.openxmlformats.org/drawingml/2006/main">
            <a:r>
              <a:t>該当箇所 メカニズム、現場でのクローズドループ、導入効果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企業公式資料・メーカー主張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FC038 ハイデンハイン VT122＋VTC 6.0</a:t>
            </a:r>
          </a:p>
          <a:p xmlns:a="http://schemas.openxmlformats.org/drawingml/2006/main">
            <a:r>
              <a:t>ブース E7043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判定閾値と自動交換への接続は未確認。</a:t>
            </a:r>
          </a:p>
          <a:p xmlns:a="http://schemas.openxmlformats.org/drawingml/2006/main">
            <a:r>
              <a:t>段階 JIMTOF2026公式カタログ掲載・現地未確認 / 2026展示予定・提供段階未確認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EOV-V023-2024-1 ハイデンハイン株式会社</a:t>
            </a:r>
          </a:p>
          <a:p xmlns:a="http://schemas.openxmlformats.org/drawingml/2006/main">
            <a:r>
              <a:t>JIMTOF2024公式カタログ：ハイデンハイン株式会社 (E7123)</a:t>
            </a:r>
          </a:p>
          <a:p xmlns:a="http://schemas.openxmlformats.org/drawingml/2006/main">
            <a:r>
              <a:t>https://www.jimtof.org/2024/search/jp/ESdetails?e=GFSwCXSxe9o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EOV-V023-2026-1 ハイデンハイン株式会社</a:t>
            </a:r>
          </a:p>
          <a:p xmlns:a="http://schemas.openxmlformats.org/drawingml/2006/main">
            <a:r>
              <a:t>JIMTOF2026公式カタログ：ハイデンハイン株式会社 (E7043)</a:t>
            </a:r>
          </a:p>
          <a:p xmlns:a="http://schemas.openxmlformats.org/drawingml/2006/main">
            <a:r>
              <a:t>https://www.jimtof.org/search/jp/ESdetails?e=iohDR5yR9VA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FC011 ベッコフオートメーション TwinCAT CoAgent for Engineering：PLC</a:t>
            </a:r>
          </a:p>
          <a:p xmlns:a="http://schemas.openxmlformats.org/drawingml/2006/main">
            <a:r>
              <a:t>ブース E2028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専門家が確認・確定・実行承認。書込みや起動の個別権限は未確認。</a:t>
            </a:r>
          </a:p>
          <a:p xmlns:a="http://schemas.openxmlformats.org/drawingml/2006/main">
            <a:r>
              <a:t>段階 JIMTOF2026公式カタログ掲載・現地未確認 / 製品発表・投入時期要問い合わせ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EOV-V005-2026-1 ベッコフオートメーション株式会社</a:t>
            </a:r>
          </a:p>
          <a:p xmlns:a="http://schemas.openxmlformats.org/drawingml/2006/main">
            <a:r>
              <a:t>JIMTOF2026公式カタログ：ベッコフオートメーション株式会社 (E2028)</a:t>
            </a:r>
          </a:p>
          <a:p xmlns:a="http://schemas.openxmlformats.org/drawingml/2006/main">
            <a:r>
              <a:t>https://www.jimtof.org/search/jp/ESdetails?e=K7DqahO2h08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EAT-N03 Beckhoff</a:t>
            </a:r>
          </a:p>
          <a:p xmlns:a="http://schemas.openxmlformats.org/drawingml/2006/main">
            <a:r>
              <a:t>CoAgent for Engineering TE1700</a:t>
            </a:r>
          </a:p>
          <a:p xmlns:a="http://schemas.openxmlformats.org/drawingml/2006/main">
            <a:r>
              <a:t>https://www.beckhoff.com/ko-kr/products/automation/twincat/texxxx-twincat-3-engineering/te1700.html</a:t>
            </a:r>
          </a:p>
          <a:p xmlns:a="http://schemas.openxmlformats.org/drawingml/2006/main">
            <a:r>
              <a:t>該当箇所 Features／Product status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EAT-N05 Beckhoff</a:t>
            </a:r>
          </a:p>
          <a:p xmlns:a="http://schemas.openxmlformats.org/drawingml/2006/main">
            <a:r>
              <a:t>TwinCAT projects with AI-assisted engineering</a:t>
            </a:r>
          </a:p>
          <a:p xmlns:a="http://schemas.openxmlformats.org/drawingml/2006/main">
            <a:r>
              <a:t>https://www.beckhoff.com/ko-kr/products/automation/twincat-projects-with-ai-supported-engineering/</a:t>
            </a:r>
          </a:p>
          <a:p xmlns:a="http://schemas.openxmlformats.org/drawingml/2006/main">
            <a:r>
              <a:t>該当箇所 CoAgents for development and machine operation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EDP-03 Beckhoff</a:t>
            </a:r>
          </a:p>
          <a:p xmlns:a="http://schemas.openxmlformats.org/drawingml/2006/main">
            <a:r>
              <a:t>TwinCAT Chat発表</a:t>
            </a:r>
          </a:p>
          <a:p xmlns:a="http://schemas.openxmlformats.org/drawingml/2006/main">
            <a:r>
              <a:t>https://www.beckhoff.com/en-en/company/press/twincat-chat-using-innovative-chatbot-technology-in-twincat-engineering-2023-04.html</a:t>
            </a:r>
          </a:p>
          <a:p xmlns:a="http://schemas.openxmlformats.org/drawingml/2006/main">
            <a:r>
              <a:t>該当箇所 TwinCAT XAE／コード作成・追加・最適化・文書化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ERF-01 Beckhoff</a:t>
            </a:r>
          </a:p>
          <a:p xmlns:a="http://schemas.openxmlformats.org/drawingml/2006/main">
            <a:r>
              <a:t>From chatbot to intelligent agent</a:t>
            </a:r>
          </a:p>
          <a:p xmlns:a="http://schemas.openxmlformats.org/drawingml/2006/main">
            <a:r>
              <a:t>https://www.beckhoff.com/en-gb/company/news/from-chatbot-to-intelligent-agent.html</a:t>
            </a:r>
          </a:p>
          <a:p xmlns:a="http://schemas.openxmlformats.org/drawingml/2006/main">
            <a:r>
              <a:t>該当箇所 2025/6/13／Placing people at the heart of automation；PLC・I/O・HMI、専門家がreview・confirm・approve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企業／開発元／展示会の公式説明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FC012 ベッコフオートメーション TwinCAT CoAgent for Engineering：I/O・HMI</a:t>
            </a:r>
          </a:p>
          <a:p xmlns:a="http://schemas.openxmlformats.org/drawingml/2006/main">
            <a:r>
              <a:t>ブース E2028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専門家のレビュー方針。構成誤りの検証・差戻しは未確認。</a:t>
            </a:r>
          </a:p>
          <a:p xmlns:a="http://schemas.openxmlformats.org/drawingml/2006/main">
            <a:r>
              <a:t>段階 JIMTOF2026公式カタログ掲載・現地未確認 / 製品発表・投入時期要問い合わせ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FC018 Hexagon Manufacturing Intelligence ESPRIT EDGE ProPlanAI</a:t>
            </a:r>
          </a:p>
          <a:p xmlns:a="http://schemas.openxmlformats.org/drawingml/2006/main">
            <a:r>
              <a:t>ブース E2013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過去データを準備。確認画面はあるが最終NC採用権限は未公表。</a:t>
            </a:r>
          </a:p>
          <a:p xmlns:a="http://schemas.openxmlformats.org/drawingml/2006/main">
            <a:r>
              <a:t>段階 JIMTOF2026公式カタログ掲載・現地未確認 / メーカーが商用提供範囲を説明・顧客実績未確認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EOV-V007-2026-2 Hexagon Manufacturing Intelligence株式会社</a:t>
            </a:r>
          </a:p>
          <a:p xmlns:a="http://schemas.openxmlformats.org/drawingml/2006/main">
            <a:r>
              <a:t>JIMTOF2026公式カタログ：Hexagon Manufacturing Intelligence株式会社 (E2013)</a:t>
            </a:r>
          </a:p>
          <a:p xmlns:a="http://schemas.openxmlformats.org/drawingml/2006/main">
            <a:r>
              <a:t>https://www.jimtof.org/search/jp/ESdetails?e=6l20Qo0pjl4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EOV-W02 Hexagon</a:t>
            </a:r>
          </a:p>
          <a:p xmlns:a="http://schemas.openxmlformats.org/drawingml/2006/main">
            <a:r>
              <a:t>ESPRIT EDGE Release Highlights</a:t>
            </a:r>
          </a:p>
          <a:p xmlns:a="http://schemas.openxmlformats.org/drawingml/2006/main">
            <a:r>
              <a:t>https://hexagon.com/products/esprit-edge/release-highlights</a:t>
            </a:r>
          </a:p>
          <a:p xmlns:a="http://schemas.openxmlformats.org/drawingml/2006/main">
            <a:r>
              <a:t>該当箇所 2025.2 PROPLANAI、2026.1 ProPlanAI for Turning, Mill-Turn &amp; Swiss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企業公式資料・メーカー主張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FC019 Hexagon Manufacturing Intelligence MAESTRO／PRESTO／品質ソフト群</a:t>
            </a:r>
          </a:p>
          <a:p xmlns:a="http://schemas.openxmlformats.org/drawingml/2006/main">
            <a:r>
              <a:t>ブース E7035</a:t>
            </a:r>
          </a:p>
          <a:p xmlns:a="http://schemas.openxmlformats.org/drawingml/2006/main">
            <a:r>
              <a:t>確認深度 個別タスク整理</a:t>
            </a:r>
          </a:p>
          <a:p xmlns:a="http://schemas.openxmlformats.org/drawingml/2006/main">
            <a:r>
              <a:t>人の残作業 個々の測定から加工への自動補正接続は未確認</a:t>
            </a:r>
          </a:p>
          <a:p xmlns:a="http://schemas.openxmlformats.org/drawingml/2006/main">
            <a:r>
              <a:t>段階 JIMTOF2026公式カタログ掲載・現地未確認 / 2026展示予定・提供段階未確認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EOV-V007-2026-1 Hexagon Manufacturing Intelligence株式会社</a:t>
            </a:r>
          </a:p>
          <a:p xmlns:a="http://schemas.openxmlformats.org/drawingml/2006/main">
            <a:r>
              <a:t>JIMTOF2026公式カタログ：Hexagon Manufacturing Intelligence株式会社 (E7035)</a:t>
            </a:r>
          </a:p>
          <a:p xmlns:a="http://schemas.openxmlformats.org/drawingml/2006/main">
            <a:r>
              <a:t>https://www.jimtof.org/search/jp/ESdetails?e=oUyVPjxvy-U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FC048 中村留精密工業 RoboSync：移設後の位置復旧</a:t>
            </a:r>
          </a:p>
          <a:p xmlns:a="http://schemas.openxmlformats.org/drawingml/2006/main">
            <a:r>
              <a:t>ブース E2027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人の移設・復旧操作を含む。未知トラブルの自律復帰とは別。</a:t>
            </a:r>
          </a:p>
          <a:p xmlns:a="http://schemas.openxmlformats.org/drawingml/2006/main">
            <a:r>
              <a:t>段階 JIMTOF2026公式カタログ掲載・現地未確認 / 既存製品方式確認・2026展示予定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EOV-V029-2024-1 中村留精密工業株式会社</a:t>
            </a:r>
          </a:p>
          <a:p xmlns:a="http://schemas.openxmlformats.org/drawingml/2006/main">
            <a:r>
              <a:t>JIMTOF2024公式カタログ：中村留精密工業株式会社 (E5033)</a:t>
            </a:r>
          </a:p>
          <a:p xmlns:a="http://schemas.openxmlformats.org/drawingml/2006/main">
            <a:r>
              <a:t>https://www.jimtof.org/2024/search/jp/ESdetails?e=RYK326OoMn4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EOV-V029-2026-1 中村留精密工業株式会社</a:t>
            </a:r>
          </a:p>
          <a:p xmlns:a="http://schemas.openxmlformats.org/drawingml/2006/main">
            <a:r>
              <a:t>JIMTOF2026公式カタログ：中村留精密工業株式会社 (E2027)</a:t>
            </a:r>
          </a:p>
          <a:p xmlns:a="http://schemas.openxmlformats.org/drawingml/2006/main">
            <a:r>
              <a:t>https://www.jimtof.org/search/jp/ESdetails?e=C7A_2ZTDXNw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EOV-W04 中村留精密工業</a:t>
            </a:r>
          </a:p>
          <a:p xmlns:a="http://schemas.openxmlformats.org/drawingml/2006/main">
            <a:r>
              <a:t>RoboSync</a:t>
            </a:r>
          </a:p>
          <a:p xmlns:a="http://schemas.openxmlformats.org/drawingml/2006/main">
            <a:r>
              <a:t>https://www.nakamura-tome.co.jp/products/automation/robosync/</a:t>
            </a:r>
          </a:p>
          <a:p xmlns:a="http://schemas.openxmlformats.org/drawingml/2006/main">
            <a:r>
              <a:t>該当箇所 製品の特長 &gt; 簡単復旧、簡単操作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企業公式資料・メーカー主張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AC198 株式会社FUJI 立型NC旋盤　「VN40」</a:t>
            </a:r>
          </a:p>
          <a:p xmlns:a="http://schemas.openxmlformats.org/drawingml/2006/main">
            <a:r>
              <a:t>ブース E3021</a:t>
            </a:r>
          </a:p>
          <a:p xmlns:a="http://schemas.openxmlformats.org/drawingml/2006/main">
            <a:r>
              <a:t>確認深度 出展説明の一次分類</a:t>
            </a:r>
          </a:p>
          <a:p xmlns:a="http://schemas.openxmlformats.org/drawingml/2006/main">
            <a:r>
              <a:t>人の残作業 承認・例外対応・停止・復帰の境界は未確認</a:t>
            </a:r>
          </a:p>
          <a:p xmlns:a="http://schemas.openxmlformats.org/drawingml/2006/main">
            <a:r>
              <a:t>段階 2026公式カタログ掲載・現地未確認 / 2026展示予定。既存製品・参考出展・構想等は原典で個別確認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EEX-EXH-2026-c0de70c161714618 株式会社FUJI</a:t>
            </a:r>
          </a:p>
          <a:p xmlns:a="http://schemas.openxmlformats.org/drawingml/2006/main">
            <a:r>
              <a:t>JIMTOF2026公式出展説明：株式会社FUJI (E3021)</a:t>
            </a:r>
          </a:p>
          <a:p xmlns:a="http://schemas.openxmlformats.org/drawingml/2006/main">
            <a:r>
              <a:t>https://www.jimtof.org/search/jp/ESdetails?e=xJlXi-VNzio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EEX-EXH-2024-e023ed8f23dcf72e 株式会社FUJI</a:t>
            </a:r>
          </a:p>
          <a:p xmlns:a="http://schemas.openxmlformats.org/drawingml/2006/main">
            <a:r>
              <a:t>JIMTOF2024公式出展説明：株式会社FUJI (E6021)</a:t>
            </a:r>
          </a:p>
          <a:p xmlns:a="http://schemas.openxmlformats.org/drawingml/2006/main">
            <a:r>
              <a:t>https://www.jimtof.org/2024/search/jp/ESdetails?e=UZiobfgROkY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FC049 TAKISAWA TR-20W：主軸の切粉除去</a:t>
            </a:r>
          </a:p>
          <a:p xmlns:a="http://schemas.openxmlformats.org/drawingml/2006/main">
            <a:r>
              <a:t>ブース E3013</a:t>
            </a:r>
          </a:p>
          <a:p xmlns:a="http://schemas.openxmlformats.org/drawingml/2006/main">
            <a:r>
              <a:t>確認深度 詳細比較済み</a:t>
            </a:r>
          </a:p>
          <a:p xmlns:a="http://schemas.openxmlformats.org/drawingml/2006/main">
            <a:r>
              <a:t>人の残作業 許可動作、除去失敗の検出・再試行・人への引継ぎは未確認。</a:t>
            </a:r>
          </a:p>
          <a:p xmlns:a="http://schemas.openxmlformats.org/drawingml/2006/main">
            <a:r>
              <a:t>段階 JIMTOF2026公式カタログ掲載・現地未確認 / 参考出品・現地未検証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EOV-V030-2024-1 株式会社TAKISAWA</a:t>
            </a:r>
          </a:p>
          <a:p xmlns:a="http://schemas.openxmlformats.org/drawingml/2006/main">
            <a:r>
              <a:t>JIMTOF2024公式カタログ：株式会社TAKISAWA (E3013)</a:t>
            </a:r>
          </a:p>
          <a:p xmlns:a="http://schemas.openxmlformats.org/drawingml/2006/main">
            <a:r>
              <a:t>https://www.jimtof.org/2024/search/jp/ESdetails?e=K00DRD-BngA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EOV-V030-2026-1 株式会社TAKISAWA</a:t>
            </a:r>
          </a:p>
          <a:p xmlns:a="http://schemas.openxmlformats.org/drawingml/2006/main">
            <a:r>
              <a:t>JIMTOF2026公式カタログ：株式会社TAKISAWA (E3013)</a:t>
            </a:r>
          </a:p>
          <a:p xmlns:a="http://schemas.openxmlformats.org/drawingml/2006/main">
            <a:r>
              <a:t>https://www.jimtof.org/search/jp/ESdetails?e=3dTDRAMwZpM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EAT-N01 ニデック</a:t>
            </a:r>
          </a:p>
          <a:p xmlns:a="http://schemas.openxmlformats.org/drawingml/2006/main">
            <a:r>
              <a:t>JIMTOF2026 TR-20W</a:t>
            </a:r>
          </a:p>
          <a:p xmlns:a="http://schemas.openxmlformats.org/drawingml/2006/main">
            <a:r>
              <a:t>https://www.nidec.com/jp/products/machine-tools/contents/machine-tool-jimtof2026/</a:t>
            </a:r>
          </a:p>
          <a:p xmlns:a="http://schemas.openxmlformats.org/drawingml/2006/main">
            <a:r>
              <a:t>該当箇所 TR-20W：フィジカルAI搭載のロボットシステム（参考出品）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EAT-N02 ニデック</a:t>
            </a:r>
          </a:p>
          <a:p xmlns:a="http://schemas.openxmlformats.org/drawingml/2006/main">
            <a:r>
              <a:t>MGC300開発発表</a:t>
            </a:r>
          </a:p>
          <a:p xmlns:a="http://schemas.openxmlformats.org/drawingml/2006/main">
            <a:r>
              <a:t>https://www.nidec.com/jp/product/news/2024/news1101-03/</a:t>
            </a:r>
          </a:p>
          <a:p xmlns:a="http://schemas.openxmlformats.org/drawingml/2006/main">
            <a:r>
              <a:t>該当箇所 2024年11月1日／MGC300の出展説明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企業公式説明・メーカー主張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ERF-13 ニデック／TAKISAWA</a:t>
            </a:r>
          </a:p>
          <a:p xmlns:a="http://schemas.openxmlformats.org/drawingml/2006/main">
            <a:r>
              <a:t>JIMTOF2026：TR-20W参考出品</a:t>
            </a:r>
          </a:p>
          <a:p xmlns:a="http://schemas.openxmlformats.org/drawingml/2006/main">
            <a:r>
              <a:t>https://www.nidec.com/jp/products/machine-tools/contents/machine-tool-jimtof2026/</a:t>
            </a:r>
          </a:p>
          <a:p xmlns:a="http://schemas.openxmlformats.org/drawingml/2006/main">
            <a:r>
              <a:t>該当箇所 TAKISAWA／TR-20W、主軸の切粉認識・判断・除去、参考出品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企業／開発元／展示会の公式説明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FC023 オートデスク Fusion／FeatureCAM／PLM連携</a:t>
            </a:r>
          </a:p>
          <a:p xmlns:a="http://schemas.openxmlformats.org/drawingml/2006/main">
            <a:r>
              <a:t>ブース S3019</a:t>
            </a:r>
          </a:p>
          <a:p xmlns:a="http://schemas.openxmlformats.org/drawingml/2006/main">
            <a:r>
              <a:t>確認深度 個別タスク整理</a:t>
            </a:r>
          </a:p>
          <a:p xmlns:a="http://schemas.openxmlformats.org/drawingml/2006/main">
            <a:r>
              <a:t>人の残作業 AIが担当する具体タスクと自動確定範囲は未確認</a:t>
            </a:r>
          </a:p>
          <a:p xmlns:a="http://schemas.openxmlformats.org/drawingml/2006/main">
            <a:r>
              <a:t>段階 JIMTOF2026公式カタログ掲載・現地未確認 / 2026展示予定・提供段階未確認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EOV-V010-2024-1 オートデスク株式会社</a:t>
            </a:r>
          </a:p>
          <a:p xmlns:a="http://schemas.openxmlformats.org/drawingml/2006/main">
            <a:r>
              <a:t>JIMTOF2024公式カタログ：オートデスク株式会社 (E5009)</a:t>
            </a:r>
          </a:p>
          <a:p xmlns:a="http://schemas.openxmlformats.org/drawingml/2006/main">
            <a:r>
              <a:t>https://www.jimtof.org/2024/search/jp/ESdetails?e=5CWUqNS_dBw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EOV-V010-2026-1 オートデスク株式会社</a:t>
            </a:r>
          </a:p>
          <a:p xmlns:a="http://schemas.openxmlformats.org/drawingml/2006/main">
            <a:r>
              <a:t>JIMTOF2026公式カタログ：オートデスク株式会社 (S3019)</a:t>
            </a:r>
          </a:p>
          <a:p xmlns:a="http://schemas.openxmlformats.org/drawingml/2006/main">
            <a:r>
              <a:t>https://www.jimtof.org/search/jp/ESdetails?e=Y_kC6hMTghk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FC057 ニコン NEXIV・CT・ロボットビジョン等</a:t>
            </a:r>
          </a:p>
          <a:p xmlns:a="http://schemas.openxmlformats.org/drawingml/2006/main">
            <a:r>
              <a:t>ブース E7001</a:t>
            </a:r>
          </a:p>
          <a:p xmlns:a="http://schemas.openxmlformats.org/drawingml/2006/main">
            <a:r>
              <a:t>確認深度 個別タスク整理</a:t>
            </a:r>
          </a:p>
          <a:p xmlns:a="http://schemas.openxmlformats.org/drawingml/2006/main">
            <a:r>
              <a:t>人の残作業 一体化した自律補正やAIの性能向上は資料から不明</a:t>
            </a:r>
          </a:p>
          <a:p xmlns:a="http://schemas.openxmlformats.org/drawingml/2006/main">
            <a:r>
              <a:t>段階 JIMTOF2026公式カタログ掲載・現地未確認 / 2026展示予定・提供段階未確認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EOV-V037-2024-1 株式会社ニコン</a:t>
            </a:r>
          </a:p>
          <a:p xmlns:a="http://schemas.openxmlformats.org/drawingml/2006/main">
            <a:r>
              <a:t>JIMTOF2024公式カタログ：株式会社ニコン (E7073)</a:t>
            </a:r>
          </a:p>
          <a:p xmlns:a="http://schemas.openxmlformats.org/drawingml/2006/main">
            <a:r>
              <a:t>https://www.jimtof.org/2024/search/jp/ESdetails?e=anszOsTbjDI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EOV-V037-2026-1 株式会社ニコン</a:t>
            </a:r>
          </a:p>
          <a:p xmlns:a="http://schemas.openxmlformats.org/drawingml/2006/main">
            <a:r>
              <a:t>JIMTOF2026公式カタログ：株式会社ニコン (E7001)</a:t>
            </a:r>
          </a:p>
          <a:p xmlns:a="http://schemas.openxmlformats.org/drawingml/2006/main">
            <a:r>
              <a:t>https://www.jimtof.org/search/jp/ESdetails?e=lmqsWTyiVAY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株式会社東京精密</a:t>
            </a:r>
          </a:p>
          <a:p xmlns:a="http://schemas.openxmlformats.org/drawingml/2006/main">
            <a:r>
              <a:t>2026本文未取得。自動測定・品質データ接続を確認</a:t>
            </a:r>
          </a:p>
          <a:p xmlns:a="http://schemas.openxmlformats.org/drawingml/2006/main">
            <a:r>
              <a:t>2026公式CSV行 EXH-2026-36918b468fbc355f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2026は既存CSVでブースを確認できる一方、説明本文は未取得。2024資料には自動測定・計測ソリューションがあるが、2026展示へ転記しない。品質データの取得・自動測定の連携範囲を追加確認する対象。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レニショー株式会社</a:t>
            </a:r>
          </a:p>
          <a:p xmlns:a="http://schemas.openxmlformats.org/drawingml/2006/main">
            <a:r>
              <a:t>計測結果と工具オフセットのフィードバック</a:t>
            </a:r>
          </a:p>
          <a:p xmlns:a="http://schemas.openxmlformats.org/drawingml/2006/main">
            <a:r>
              <a:t>2026公式CSV行 EXH-2026-0b525ce2fc2efcd9</a:t>
            </a:r>
          </a:p>
          <a:p xmlns:a="http://schemas.openxmlformats.org/drawingml/2006/main">
            <a:r>
              <a:t>https://www.jimtof.org/search/jp/ESdetails?e=pYGmVz5GC1c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ハイデンハイン株式会社</a:t>
            </a:r>
          </a:p>
          <a:p xmlns:a="http://schemas.openxmlformats.org/drawingml/2006/main">
            <a:r>
              <a:t>工具計測・摩耗診断とCNCへの接点</a:t>
            </a:r>
          </a:p>
          <a:p xmlns:a="http://schemas.openxmlformats.org/drawingml/2006/main">
            <a:r>
              <a:t>2026公式CSV行 EXH-2026-34a393c5512352bc</a:t>
            </a:r>
          </a:p>
          <a:p xmlns:a="http://schemas.openxmlformats.org/drawingml/2006/main">
            <a:r>
              <a:t>https://www.jimtof.org/search/jp/ESdetails?e=iohDR5yR9VA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ベッコフオートメーション株式会社</a:t>
            </a:r>
          </a:p>
          <a:p xmlns:a="http://schemas.openxmlformats.org/drawingml/2006/main">
            <a:r>
              <a:t>制御設計・運用のAI支援、信号取得とモデル作成</a:t>
            </a:r>
          </a:p>
          <a:p xmlns:a="http://schemas.openxmlformats.org/drawingml/2006/main">
            <a:r>
              <a:t>2026公式CSV行 EXH-2026-13da9e5ad5605d11</a:t>
            </a:r>
          </a:p>
          <a:p xmlns:a="http://schemas.openxmlformats.org/drawingml/2006/main">
            <a:r>
              <a:t>https://www.jimtof.org/search/jp/ESdetails?e=K7DqahO2h08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Hexagon Manufacturing Intelligence株式会社</a:t>
            </a:r>
          </a:p>
          <a:p xmlns:a="http://schemas.openxmlformats.org/drawingml/2006/main">
            <a:r>
              <a:t>工程予測、CAM、計測と品質ソフトウェア</a:t>
            </a:r>
          </a:p>
          <a:p xmlns:a="http://schemas.openxmlformats.org/drawingml/2006/main">
            <a:r>
              <a:t>2026公式CSV行 EXH-2026-6aee6ba316afc22c, EXH-2026-e1fe7485b53ef3a9</a:t>
            </a:r>
          </a:p>
          <a:p xmlns:a="http://schemas.openxmlformats.org/drawingml/2006/main">
            <a:r>
              <a:t>https://www.jimtof.org/search/jp/ESdetails?e=oUyVPjxvy-U</a:t>
            </a:r>
          </a:p>
          <a:p xmlns:a="http://schemas.openxmlformats.org/drawingml/2006/main">
            <a:r>
              <a:t>https://www.jimtof.org/search/jp/ESdetails?e=6l20Qo0pjl4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住友電気工業株式会社</a:t>
            </a:r>
          </a:p>
          <a:p xmlns:a="http://schemas.openxmlformats.org/drawingml/2006/main">
            <a:r>
              <a:t>工具寿命・安定加工、工程集約と段取り低減</a:t>
            </a:r>
          </a:p>
          <a:p xmlns:a="http://schemas.openxmlformats.org/drawingml/2006/main">
            <a:r>
              <a:t>2026公式CSV行 EXH-2026-c77e3e4e4df4afc5</a:t>
            </a:r>
          </a:p>
          <a:p xmlns:a="http://schemas.openxmlformats.org/drawingml/2006/main">
            <a:r>
              <a:t>https://www.jimtof.org/search/jp/ESdetails?e=fUD_CMl54Kw</a:t>
            </a:r>
          </a:p>
          <a:p xmlns:a="http://schemas.openxmlformats.org/drawingml/2006/main">
            <a:r>
              <a:t>2026公式説明：工具の安定加工・長寿命化、工程集約と段取り削減を提案。工具側の機構・材種による改善と、データを使うD4の追加効果を比較する相手。2024のセンシング訴求が2026も同じ展示とは判断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中村留精密工業株式会社</a:t>
            </a:r>
          </a:p>
          <a:p xmlns:a="http://schemas.openxmlformats.org/drawingml/2006/main">
            <a:r>
              <a:t>供給自動化と配置変更後の位置復旧</a:t>
            </a:r>
          </a:p>
          <a:p xmlns:a="http://schemas.openxmlformats.org/drawingml/2006/main">
            <a:r>
              <a:t>2026公式CSV行 EXH-2026-68d6123fc6036ee4</a:t>
            </a:r>
          </a:p>
          <a:p xmlns:a="http://schemas.openxmlformats.org/drawingml/2006/main">
            <a:r>
              <a:t>https://www.jimtof.org/search/jp/ESdetails?e=C7A_2ZTDXNw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株式会社FUJI</a:t>
            </a:r>
          </a:p>
          <a:p xmlns:a="http://schemas.openxmlformats.org/drawingml/2006/main">
            <a:r>
              <a:t>加工と周辺工程の自動化。人の残作業を確認</a:t>
            </a:r>
          </a:p>
          <a:p xmlns:a="http://schemas.openxmlformats.org/drawingml/2006/main">
            <a:r>
              <a:t>2026公式CSV行 EXH-2026-c0de70c161714618</a:t>
            </a:r>
          </a:p>
          <a:p xmlns:a="http://schemas.openxmlformats.org/drawingml/2006/main">
            <a:r>
              <a:t>https://www.jimtof.org/search/jp/ESdetails?e=xJlXi-VNzio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株式会社TAKISAWA</a:t>
            </a:r>
          </a:p>
          <a:p xmlns:a="http://schemas.openxmlformats.org/drawingml/2006/main">
            <a:r>
              <a:t>切粉処理の参考出品、認識・除去・復帰</a:t>
            </a:r>
          </a:p>
          <a:p xmlns:a="http://schemas.openxmlformats.org/drawingml/2006/main">
            <a:r>
              <a:t>2026公式CSV行 EXH-2026-8ac76ba19b2d4f41</a:t>
            </a:r>
          </a:p>
          <a:p xmlns:a="http://schemas.openxmlformats.org/drawingml/2006/main">
            <a:r>
              <a:t>https://www.jimtof.org/search/jp/ESdetails?e=3dTDRAMwZpM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オートデスク株式会社</a:t>
            </a:r>
          </a:p>
          <a:p xmlns:a="http://schemas.openxmlformats.org/drawingml/2006/main">
            <a:r>
              <a:t>CAD/CAMとPLM・AI支援の連携範囲</a:t>
            </a:r>
          </a:p>
          <a:p xmlns:a="http://schemas.openxmlformats.org/drawingml/2006/main">
            <a:r>
              <a:t>2026公式CSV行 EXH-2026-d680c617bfdb1dc2</a:t>
            </a:r>
          </a:p>
          <a:p xmlns:a="http://schemas.openxmlformats.org/drawingml/2006/main">
            <a:r>
              <a:t>https://www.jimtof.org/search/jp/ESdetails?e=Y_kC6hMTghk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株式会社ニコン</a:t>
            </a:r>
          </a:p>
          <a:p xmlns:a="http://schemas.openxmlformats.org/drawingml/2006/main">
            <a:r>
              <a:t>画像・CT等の計測とロボットビジョン</a:t>
            </a:r>
          </a:p>
          <a:p xmlns:a="http://schemas.openxmlformats.org/drawingml/2006/main">
            <a:r>
              <a:t>2026公式CSV行 EXH-2026-14dacc540e4ddb57</a:t>
            </a:r>
          </a:p>
          <a:p xmlns:a="http://schemas.openxmlformats.org/drawingml/2006/main">
            <a:r>
              <a:t>https://www.jimtof.org/search/jp/ESdetails?e=lmqsWTyiVAY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留保 ブースは既存公式CSV。カードの深度は混在。本文不足・カード未整理を、出展や技術の不在とは扱わない。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JIMTOF2026 事前調査 2026年10月21日</a:t>
            </a:r>
          </a:p>
          <a:p xmlns:a="http://schemas.openxmlformats.org/drawingml/2006/main">
            <a:r>
              <a:t>現地調査・顧客実証は未実施。公開発表、展示予定、分析仮説を区別。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S01 産総研</a:t>
            </a:r>
          </a:p>
          <a:p xmlns:a="http://schemas.openxmlformats.org/drawingml/2006/main">
            <a:r>
              <a:t>製造AX拠点を始動</a:t>
            </a:r>
          </a:p>
          <a:p xmlns:a="http://schemas.openxmlformats.org/drawingml/2006/main">
            <a:r>
              <a:t>発表 2026-07-02</a:t>
            </a:r>
          </a:p>
          <a:p xmlns:a="http://schemas.openxmlformats.org/drawingml/2006/main">
            <a:r>
              <a:t>https://www.aist.go.jp/aist_j/news/pr20260702.html</a:t>
            </a:r>
          </a:p>
          <a:p xmlns:a="http://schemas.openxmlformats.org/drawingml/2006/main">
            <a:r>
              <a:t>該当箇所 「産総研を核とした製造AX拠点」「GENIAC事業の活用」</a:t>
            </a:r>
          </a:p>
          <a:p xmlns:a="http://schemas.openxmlformats.org/drawingml/2006/main">
            <a:r>
              <a:t>確認範囲 本文の該当節を確認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S06 ファナック・日立</a:t>
            </a:r>
          </a:p>
          <a:p xmlns:a="http://schemas.openxmlformats.org/drawingml/2006/main">
            <a:r>
              <a:t>フィジカルAI実装の共同事業化に向けた戦略的パートナーシップ</a:t>
            </a:r>
          </a:p>
          <a:p xmlns:a="http://schemas.openxmlformats.org/drawingml/2006/main">
            <a:r>
              <a:t>発表 2026-09-30</a:t>
            </a:r>
          </a:p>
          <a:p xmlns:a="http://schemas.openxmlformats.org/drawingml/2006/main">
            <a:r>
              <a:t>https://www.fanuc.co.jp/ja/profile/pr/newsrelease/2026/news20260930.html</a:t>
            </a:r>
          </a:p>
          <a:p xmlns:a="http://schemas.openxmlformats.org/drawingml/2006/main">
            <a:r>
              <a:t>該当箇所 共同実証の概要・戦略的パートナーシップの背景</a:t>
            </a:r>
          </a:p>
          <a:p xmlns:a="http://schemas.openxmlformats.org/drawingml/2006/main">
            <a:r>
              <a:t>確認範囲 本文の該当節を確認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S14 Hexagon／製品技術担当者</a:t>
            </a:r>
          </a:p>
          <a:p xmlns:a="http://schemas.openxmlformats.org/drawingml/2006/main">
            <a:r>
              <a:t>The next step in CAM isn’t new. It’s already here.</a:t>
            </a:r>
          </a:p>
          <a:p xmlns:a="http://schemas.openxmlformats.org/drawingml/2006/main">
            <a:r>
              <a:t>発表 2026-04-29</a:t>
            </a:r>
          </a:p>
          <a:p xmlns:a="http://schemas.openxmlformats.org/drawingml/2006/main">
            <a:r>
              <a:t>https://blog.manufacturing.hexagon.com/advanced-manufacturing/cam-software/the-next-step-in-cam-isnt-new-its-already-here/</a:t>
            </a:r>
          </a:p>
          <a:p xmlns:a="http://schemas.openxmlformats.org/drawingml/2006/main">
            <a:r>
              <a:t>該当箇所 Real needs・Where the real friction sits・shared capability</a:t>
            </a:r>
          </a:p>
          <a:p xmlns:a="http://schemas.openxmlformats.org/drawingml/2006/main">
            <a:r>
              <a:t>確認範囲 本文の該当節を確認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S21 KPMGコンサルティング</a:t>
            </a:r>
          </a:p>
          <a:p xmlns:a="http://schemas.openxmlformats.org/drawingml/2006/main">
            <a:r>
              <a:t>フィジカルAIで変わるロボティクスの競争条件</a:t>
            </a:r>
          </a:p>
          <a:p xmlns:a="http://schemas.openxmlformats.org/drawingml/2006/main">
            <a:r>
              <a:t>発表 2026-08-18</a:t>
            </a:r>
          </a:p>
          <a:p xmlns:a="http://schemas.openxmlformats.org/drawingml/2006/main">
            <a:r>
              <a:t>https://kpmg.com/jp/ja/insights/2026/08/ai-emergingtech-10.html</a:t>
            </a:r>
          </a:p>
          <a:p xmlns:a="http://schemas.openxmlformats.org/drawingml/2006/main">
            <a:r>
              <a:t>該当箇所 2つのループ・導入後の改善力・投資評価</a:t>
            </a:r>
          </a:p>
          <a:p xmlns:a="http://schemas.openxmlformats.org/drawingml/2006/main">
            <a:r>
              <a:t>確認範囲 本文の該当節を確認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S27 DMG森精機</a:t>
            </a:r>
          </a:p>
          <a:p xmlns:a="http://schemas.openxmlformats.org/drawingml/2006/main">
            <a:r>
              <a:t>2026年度上半期決算リリース</a:t>
            </a:r>
          </a:p>
          <a:p xmlns:a="http://schemas.openxmlformats.org/drawingml/2006/main">
            <a:r>
              <a:t>発表 2026-08-04</a:t>
            </a:r>
          </a:p>
          <a:p xmlns:a="http://schemas.openxmlformats.org/drawingml/2006/main">
            <a:r>
              <a:t>https://www.dmgmori.co.jp/corporate/ir/ir_news/2026/20260804_release.html</a:t>
            </a:r>
          </a:p>
          <a:p xmlns:a="http://schemas.openxmlformats.org/drawingml/2006/main">
            <a:r>
              <a:t>該当箇所 MRO等の利益率寄与・Machining Intelligence・GENIAC</a:t>
            </a:r>
          </a:p>
          <a:p xmlns:a="http://schemas.openxmlformats.org/drawingml/2006/main">
            <a:r>
              <a:t>確認範囲 検索結果の本文抽出を確認・直接本文未確認</a:t>
            </a:r>
          </a:p>
          <a:p xmlns:a="http://schemas.openxmlformats.org/drawingml/2006/main">
            <a:r>
              <a:t>確認日 2026-10-21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参照元の全体台帳 https://github.com/jio-n/J_research/tree/main/data/research/strategy_review_20261021</a:t>
            </a:r>
          </a:p>
          <a:p xmlns:a="http://schemas.openxmlformats.org/drawingml/2006/main">
            <a:r>
              <a:t>レビューHTML outputs/JIMTOF2026_潮流と開発候補レビュー_20261021.html</a:t>
            </a:r>
          </a:p>
          <a:p xmlns:a="http://schemas.openxmlformats.org/drawingml/2006/main">
            <a:r>
              <a:t>40資料には検索抽出のみの資料を含む。確認範囲は戦略レビューの各sourceレコードを参照。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留保 根拠は各スライドのノートとリンクに記載。公開情報・現地説明・実演・顧客実績を分けて追記する。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565d8d65a14dc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78ca776d6846c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77d1e2bac24b2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82e0ad56e24c3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79b65a950e4cb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c4755edcae4e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0D3E33-B3C2-46E1-ADAE-DD5B3E69A6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24DCEE8-B1FC-4333-B6B3-F0BA983D8B8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DB43A66-1942-41A6-9317-5A1029A5E8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B69BBB-C398-49F7-ACF0-D28505882E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3114607-A566-467D-89A9-BF79B114E5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FC201DE-4608-4CB1-A804-56C76FC499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EA7D2AC-9349-4149-8B2C-AF3EA7B864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F04D2B7-68C0-4D1B-AB5D-38550227556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AECCABF-A6C1-492B-89CF-D973C35B3E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D52E15C-726A-4805-B475-489C6CA882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2652747d6f4b1f" /><Relationship Type="http://schemas.openxmlformats.org/officeDocument/2006/relationships/slideLayout" Target="/ppt/slideLayouts/slideLayout1.xml" Id="R3f1dd04b3f85421d" /><Relationship Type="http://schemas.openxmlformats.org/officeDocument/2006/relationships/slideLayout" Target="/ppt/slideLayouts/slideLayout2.xml" Id="R63419da332074d40" /><Relationship Type="http://schemas.openxmlformats.org/officeDocument/2006/relationships/slideLayout" Target="/ppt/slideLayouts/slideLayout3.xml" Id="R9be3d005f9f04181" /><Relationship Type="http://schemas.openxmlformats.org/officeDocument/2006/relationships/slideLayout" Target="/ppt/slideLayouts/slideLayout4.xml" Id="R93ee0c2c9f794ee3" /><Relationship Type="http://schemas.openxmlformats.org/officeDocument/2006/relationships/slideLayout" Target="/ppt/slideLayouts/slideLayout5.xml" Id="Rf589d659ad374f36" /><Relationship Type="http://schemas.openxmlformats.org/officeDocument/2006/relationships/slideLayout" Target="/ppt/slideLayouts/slideLayout6.xml" Id="R100a4077d29243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1dd04b3f85421d"/>
    <p:sldLayoutId xmlns:r="http://schemas.openxmlformats.org/officeDocument/2006/relationships" id="2147483650" r:id="R63419da332074d40"/>
    <p:sldLayoutId xmlns:r="http://schemas.openxmlformats.org/officeDocument/2006/relationships" id="2147483651" r:id="R9be3d005f9f04181"/>
    <p:sldLayoutId xmlns:r="http://schemas.openxmlformats.org/officeDocument/2006/relationships" id="2147483652" r:id="R93ee0c2c9f794ee3"/>
    <p:sldLayoutId xmlns:r="http://schemas.openxmlformats.org/officeDocument/2006/relationships" id="2147483653" r:id="Rf589d659ad374f36"/>
    <p:sldLayoutId xmlns:r="http://schemas.openxmlformats.org/officeDocument/2006/relationships" id="2147483654" r:id="R100a4077d29243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ab6be788894217" /><Relationship Type="http://schemas.openxmlformats.org/officeDocument/2006/relationships/hyperlink" Target="https://www.aist.go.jp/aist_j/news/pr20260702.html" TargetMode="External" Id="Rd5fe2491f31f4dea" /><Relationship Type="http://schemas.openxmlformats.org/officeDocument/2006/relationships/hyperlink" Target="https://www.abejainc.com/news/20261016/2" TargetMode="External" Id="Rf6541c4e68214e94" /><Relationship Type="http://schemas.openxmlformats.org/officeDocument/2006/relationships/hyperlink" Target="https://www.fanuc.co.jp/ja/profile/pr/newsrelease/2026/news20260930.html" TargetMode="External" Id="R0d15afb39d4a48f7" /><Relationship Type="http://schemas.openxmlformats.org/officeDocument/2006/relationships/hyperlink" Target="https://blogs.sw.siemens.com/nx-manufacturing/from-agile-to-autonomous-building-adaptive-production-with-digital-twins-and-industrial-ai/" TargetMode="External" Id="R61fb3c7c94c445cc" /><Relationship Type="http://schemas.openxmlformats.org/officeDocument/2006/relationships/hyperlink" Target="https://www.jmtia.gr.jp/uploads/photos1/286.pdf" TargetMode="External" Id="R4815ea98e4b44932" /><Relationship Type="http://schemas.openxmlformats.org/officeDocument/2006/relationships/notesSlide" Target="/ppt/notesSlides/notesSlide1.xml" Id="Radf62daab41548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0dc9a743c84801" /><Relationship Type="http://schemas.openxmlformats.org/officeDocument/2006/relationships/hyperlink" Target="https://www.aist.go.jp/aist_j/news/pr20260702.html" TargetMode="External" Id="Re05776ef31c043d9" /><Relationship Type="http://schemas.openxmlformats.org/officeDocument/2006/relationships/hyperlink" Target="https://monoist.itmedia.co.jp/mn/articles/2607/08/news026.html" TargetMode="External" Id="R6307e4acd380452b" /><Relationship Type="http://schemas.openxmlformats.org/officeDocument/2006/relationships/hyperlink" Target="https://www.mitsubishielectric.co.jp/ja/pr/2026/0325/" TargetMode="External" Id="Racb455ed77d14100" /><Relationship Type="http://schemas.openxmlformats.org/officeDocument/2006/relationships/hyperlink" Target="https://infosys.beckhoff.com/content/1033/te3850_tc3_machine_learning_creator/21561799691.html" TargetMode="External" Id="R202daf0013124c6e" /><Relationship Type="http://schemas.openxmlformats.org/officeDocument/2006/relationships/hyperlink" Target="https://www.aist.go.jp/aist_j/press_release/pr2022/pr20220117/pr20220117.html" TargetMode="External" Id="R5144d2ad4b58422e" /><Relationship Type="http://schemas.openxmlformats.org/officeDocument/2006/relationships/hyperlink" Target="https://unit.aist.go.jp/cmt-ri/research-topics/digital-manufacturing.htm" TargetMode="External" Id="Rb7f61aa935b642d0" /><Relationship Type="http://schemas.openxmlformats.org/officeDocument/2006/relationships/hyperlink" Target="https://www.mitsubishielectric.co.jp/ja/pr/2025/pdf/1210.pdf" TargetMode="External" Id="Reb9f98876c014c57" /><Relationship Type="http://schemas.openxmlformats.org/officeDocument/2006/relationships/notesSlide" Target="/ppt/notesSlides/notesSlide2.xml" Id="Ra49f6a0c240243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2f37a1e30441f8" /><Relationship Type="http://schemas.openxmlformats.org/officeDocument/2006/relationships/hyperlink" Target="https://www.dmgmori.co.jp/corporate/news/2026/20260706_geniac.html" TargetMode="External" Id="Ra03b070200704cda" /><Relationship Type="http://schemas.openxmlformats.org/officeDocument/2006/relationships/hyperlink" Target="https://monoist.itmedia.co.jp/mn/articles/2610/19/news039_2.html" TargetMode="External" Id="Rd1c56da7e5154182" /><Relationship Type="http://schemas.openxmlformats.org/officeDocument/2006/relationships/hyperlink" Target="https://umati.org/about/" TargetMode="External" Id="Ra3896b1d062b475d" /><Relationship Type="http://schemas.openxmlformats.org/officeDocument/2006/relationships/hyperlink" Target="https://www.dmgmori.co.jp/corporate/news/2026/20260706_conditionagent.html" TargetMode="External" Id="R2c43e69b5eff4fb0" /><Relationship Type="http://schemas.openxmlformats.org/officeDocument/2006/relationships/hyperlink" Target="https://www.dmgmori.co.jp/corporate/ir/ir_news/2026/20260804_release.html" TargetMode="External" Id="R518fc932de0b4c36" /><Relationship Type="http://schemas.openxmlformats.org/officeDocument/2006/relationships/hyperlink" Target="https://infosys.beckhoff.com/content/1033/te3850_tc3_machine_learning_creator/21561794187.html" TargetMode="External" Id="R054e9b208b904ea5" /><Relationship Type="http://schemas.openxmlformats.org/officeDocument/2006/relationships/notesSlide" Target="/ppt/notesSlides/notesSlide3.xml" Id="R9cc873be6ea54e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87b3aca06446a8" /><Relationship Type="http://schemas.openxmlformats.org/officeDocument/2006/relationships/notesSlide" Target="/ppt/notesSlides/notesSlide4.xml" Id="R40c4a95e9fd746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fa629a7134988" /><Relationship Type="http://schemas.openxmlformats.org/officeDocument/2006/relationships/chart" Target="/ppt/slides/charts/chart1.xml" Id="R60f8cd0d785b4fb9" /><Relationship Type="http://schemas.openxmlformats.org/officeDocument/2006/relationships/notesSlide" Target="/ppt/notesSlides/notesSlide5.xml" Id="Rf54d6a24879748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cef6adda014b74" /><Relationship Type="http://schemas.openxmlformats.org/officeDocument/2006/relationships/hyperlink" Target="https://www.dmgmori.co.jp/corporate/news/2026/20260706_geniac.html" TargetMode="External" Id="R8e450b6817a94161" /><Relationship Type="http://schemas.openxmlformats.org/officeDocument/2006/relationships/hyperlink" Target="https://monoist.itmedia.co.jp/mn/articles/2607/08/news026.html" TargetMode="External" Id="R787098d79ef145a6" /><Relationship Type="http://schemas.openxmlformats.org/officeDocument/2006/relationships/hyperlink" Target="https://www.abejainc.com/news/20261016/2" TargetMode="External" Id="Ra903cae5b5404781" /><Relationship Type="http://schemas.openxmlformats.org/officeDocument/2006/relationships/hyperlink" Target="https://monoist.itmedia.co.jp/mn/articles/2610/19/news039_2.html" TargetMode="External" Id="Rb9c8830feb334ffa" /><Relationship Type="http://schemas.openxmlformats.org/officeDocument/2006/relationships/hyperlink" Target="https://www.fanuc.co.jp/ja/profile/pr/newsrelease/2026/news20260930.html" TargetMode="External" Id="R55220741455c47aa" /><Relationship Type="http://schemas.openxmlformats.org/officeDocument/2006/relationships/hyperlink" Target="https://monoist.itmedia.co.jp/mn/articles/2607/02/news043.html" TargetMode="External" Id="R17f1f15d91244be3" /><Relationship Type="http://schemas.openxmlformats.org/officeDocument/2006/relationships/notesSlide" Target="/ppt/notesSlides/notesSlide6.xml" Id="R689fe3fc01194b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e2d749294f4bc6" /><Relationship Type="http://schemas.openxmlformats.org/officeDocument/2006/relationships/hyperlink" Target="https://www.aist.go.jp/aist_j/news/pr20260702.html" TargetMode="External" Id="R3a39fc3fd0924f25" /><Relationship Type="http://schemas.openxmlformats.org/officeDocument/2006/relationships/hyperlink" Target="https://jpn.nec.com/manufacture/monozukuri/iot_mono/2026-08/02.html" TargetMode="External" Id="Rc4c49c5825c84abc" /><Relationship Type="http://schemas.openxmlformats.org/officeDocument/2006/relationships/hyperlink" Target="https://blogs.sw.siemens.com/nx-manufacturing/from-agile-to-autonomous-building-adaptive-production-with-digital-twins-and-industrial-ai/" TargetMode="External" Id="R794ebd784ba2490d" /><Relationship Type="http://schemas.openxmlformats.org/officeDocument/2006/relationships/hyperlink" Target="https://press.siemens.com/jp/ja/pressrelease/pr-20260106-1" TargetMode="External" Id="R8d3ce386e3f24aa9" /><Relationship Type="http://schemas.openxmlformats.org/officeDocument/2006/relationships/hyperlink" Target="https://www.okuma.co.jp/english/show/jimtof/2026/" TargetMode="External" Id="R15501634cc7447c5" /><Relationship Type="http://schemas.openxmlformats.org/officeDocument/2006/relationships/hyperlink" Target="https://www.omron.com/jp/ja/edge-link/news/769.html" TargetMode="External" Id="R1bc0ea59768942de" /><Relationship Type="http://schemas.openxmlformats.org/officeDocument/2006/relationships/hyperlink" Target="https://unit.aist.go.jp/cmt-ri/research-topics/digital-manufacturing.htm" TargetMode="External" Id="Rda2a5f4e739c4e11" /><Relationship Type="http://schemas.openxmlformats.org/officeDocument/2006/relationships/notesSlide" Target="/ppt/notesSlides/notesSlide7.xml" Id="R83f5df1259de48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f853f438974d6b" /><Relationship Type="http://schemas.openxmlformats.org/officeDocument/2006/relationships/hyperlink" Target="https://www.fanuc.co.jp/ja/profile/pr/newsrelease/2026/news20260930.html" TargetMode="External" Id="Rb798f1d581ca4f66" /><Relationship Type="http://schemas.openxmlformats.org/officeDocument/2006/relationships/hyperlink" Target="https://monoist.itmedia.co.jp/mn/articles/2607/02/news043.html" TargetMode="External" Id="R1b8e744414104316" /><Relationship Type="http://schemas.openxmlformats.org/officeDocument/2006/relationships/hyperlink" Target="https://www.yaskawa.co.jp/wp-content/uploads/2026/01/20260109_haihu.pdf" TargetMode="External" Id="R3782b2767b334f35" /><Relationship Type="http://schemas.openxmlformats.org/officeDocument/2006/relationships/notesSlide" Target="/ppt/notesSlides/notesSlide8.xml" Id="R363e1141d1b145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484614736e4421" /><Relationship Type="http://schemas.openxmlformats.org/officeDocument/2006/relationships/hyperlink" Target="https://www.dmgmori.co.jp/corporate/news/2026/20260706_geniac.html" TargetMode="External" Id="R470fcc1d12ad4c86" /><Relationship Type="http://schemas.openxmlformats.org/officeDocument/2006/relationships/hyperlink" Target="https://monoist.itmedia.co.jp/mn/articles/2607/08/news026.html" TargetMode="External" Id="Rc8e20857ceae4f6b" /><Relationship Type="http://schemas.openxmlformats.org/officeDocument/2006/relationships/hyperlink" Target="https://www.mitsubishielectric.co.jp/ja/pr/2026/0325/" TargetMode="External" Id="R87e382e816834cb4" /><Relationship Type="http://schemas.openxmlformats.org/officeDocument/2006/relationships/hyperlink" Target="https://www.aist.go.jp/aist_j/press_release/pr2022/pr20220117/pr20220117.html" TargetMode="External" Id="R50446c162aa54c58" /><Relationship Type="http://schemas.openxmlformats.org/officeDocument/2006/relationships/hyperlink" Target="https://unit.aist.go.jp/cmt-ri/research-topics/digital-manufacturing.htm" TargetMode="External" Id="R0c57a4b2721048c5" /><Relationship Type="http://schemas.openxmlformats.org/officeDocument/2006/relationships/hyperlink" Target="https://www.mitsubishielectric.co.jp/ja/pr/2025/pdf/1210.pdf" TargetMode="External" Id="R06c3408cbfdb432d" /><Relationship Type="http://schemas.openxmlformats.org/officeDocument/2006/relationships/notesSlide" Target="/ppt/notesSlides/notesSlide9.xml" Id="Ra4a34b48647748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de51ea839845a5" /><Relationship Type="http://schemas.openxmlformats.org/officeDocument/2006/relationships/hyperlink" Target="https://monoist.itmedia.co.jp/mn/articles/2610/19/news039_2.html" TargetMode="External" Id="Rf7a436dfec7e4614" /><Relationship Type="http://schemas.openxmlformats.org/officeDocument/2006/relationships/hyperlink" Target="https://blog.manufacturing.hexagon.com/advanced-manufacturing/cam-software/the-next-step-in-cam-isnt-new-its-already-here/" TargetMode="External" Id="R406504de863041de" /><Relationship Type="http://schemas.openxmlformats.org/officeDocument/2006/relationships/hyperlink" Target="https://blog.manufacturing.hexagon.com/advanced-manufacturing/cam-software/tailored-vs-cloud-ai-choosing-the-right-cam-automation-path/" TargetMode="External" Id="R03c74ba58b054685" /><Relationship Type="http://schemas.openxmlformats.org/officeDocument/2006/relationships/hyperlink" Target="https://kpmg.com/jp/ja/insights/2026/08/ai-emergingtech-10.html" TargetMode="External" Id="Red32496242cb4d9f" /><Relationship Type="http://schemas.openxmlformats.org/officeDocument/2006/relationships/hyperlink" Target="https://infosys.beckhoff.com/content/1033/te3850_tc3_machine_learning_creator/21561799691.html" TargetMode="External" Id="R12ed44d98e37487d" /><Relationship Type="http://schemas.openxmlformats.org/officeDocument/2006/relationships/notesSlide" Target="/ppt/notesSlides/notesSlide10.xml" Id="R7e98c9816ac04b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f18a4d9625471a" /><Relationship Type="http://schemas.openxmlformats.org/officeDocument/2006/relationships/notesSlide" Target="/ppt/notesSlides/notesSlide11.xml" Id="Rd01bb5800a41480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dc76a889624dcf" /><Relationship Type="http://schemas.openxmlformats.org/officeDocument/2006/relationships/notesSlide" Target="/ppt/notesSlides/notesSlide12.xml" Id="R1655cfa6ecb54de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e866a31d22489d" /><Relationship Type="http://schemas.openxmlformats.org/officeDocument/2006/relationships/notesSlide" Target="/ppt/notesSlides/notesSlide13.xml" Id="R2dcf067f160648d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f964b59c6e4569" /><Relationship Type="http://schemas.openxmlformats.org/officeDocument/2006/relationships/hyperlink" Target="https://www.aist.go.jp/aist_j/news/pr20260702.html" TargetMode="External" Id="R61152ac11ded4b43" /><Relationship Type="http://schemas.openxmlformats.org/officeDocument/2006/relationships/hyperlink" Target="https://www.dmgmori.co.jp/corporate/news/2026/20260706_geniac.html" TargetMode="External" Id="R80326b3c4a894ad8" /><Relationship Type="http://schemas.openxmlformats.org/officeDocument/2006/relationships/hyperlink" Target="https://www.mitsubishielectric.co.jp/ja/pr/2026/0325/" TargetMode="External" Id="R009a828feb304f9c" /><Relationship Type="http://schemas.openxmlformats.org/officeDocument/2006/relationships/hyperlink" Target="https://infosys.beckhoff.com/content/1033/te3850_tc3_machine_learning_creator/21561799691.html" TargetMode="External" Id="Rf1cdfa4e5411425f" /><Relationship Type="http://schemas.openxmlformats.org/officeDocument/2006/relationships/hyperlink" Target="https://unit.aist.go.jp/cmt-ri/moco/ja/join/index.html" TargetMode="External" Id="R0b916f1a051e469c" /><Relationship Type="http://schemas.openxmlformats.org/officeDocument/2006/relationships/hyperlink" Target="https://www.aist.go.jp/aist_j/press_release/pr2022/pr20220117/pr20220117.html" TargetMode="External" Id="Re51e3ab819c24d8c" /><Relationship Type="http://schemas.openxmlformats.org/officeDocument/2006/relationships/hyperlink" Target="https://www.mitsubishielectric.co.jp/ja/pr/2025/pdf/1210.pdf" TargetMode="External" Id="R7bd0382bd4ce4851" /><Relationship Type="http://schemas.openxmlformats.org/officeDocument/2006/relationships/notesSlide" Target="/ppt/notesSlides/notesSlide14.xml" Id="R8f3e2dc95ba84ad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fac44433ee42bd" /><Relationship Type="http://schemas.openxmlformats.org/officeDocument/2006/relationships/hyperlink" Target="https://www.jri.co.jp/page.jsp?id=114749" TargetMode="External" Id="R61b0093bf1b74dbd" /><Relationship Type="http://schemas.openxmlformats.org/officeDocument/2006/relationships/hyperlink" Target="https://monoist.itmedia.co.jp/mn/articles/2509/27/news004.html" TargetMode="External" Id="R187542216b1e42ae" /><Relationship Type="http://schemas.openxmlformats.org/officeDocument/2006/relationships/hyperlink" Target="https://monoist.itmedia.co.jp/mn/articles/2606/15/news047_2.html" TargetMode="External" Id="R4b3e1c470216465d" /><Relationship Type="http://schemas.openxmlformats.org/officeDocument/2006/relationships/hyperlink" Target="https://www.dmgmori.co.jp/corporate/news/2026/20260706_conditionagent.html" TargetMode="External" Id="R0f5aa73a9de646d1" /><Relationship Type="http://schemas.openxmlformats.org/officeDocument/2006/relationships/hyperlink" Target="https://www.dmgmori.co.jp/corporate/ir/ir_news/2026/20260804_release.html" TargetMode="External" Id="R5d1a0a6e222a46a1" /><Relationship Type="http://schemas.openxmlformats.org/officeDocument/2006/relationships/hyperlink" Target="https://www.dmgmori.co.jp/corporate/ir/ir_library/pdf/2022_ar_j.pdf" TargetMode="External" Id="Re483db010203495a" /><Relationship Type="http://schemas.openxmlformats.org/officeDocument/2006/relationships/hyperlink" Target="https://www.dmgmori.co.jp/corporate/ir/ir_library/pdf/2025_ir_digest_j.pdf" TargetMode="External" Id="R40037de83a304acc" /><Relationship Type="http://schemas.openxmlformats.org/officeDocument/2006/relationships/hyperlink" Target="https://infosys.beckhoff.com/content/1033/te3850_tc3_machine_learning_creator/21561794187.html" TargetMode="External" Id="R1cc6970e4aea452f" /><Relationship Type="http://schemas.openxmlformats.org/officeDocument/2006/relationships/notesSlide" Target="/ppt/notesSlides/notesSlide15.xml" Id="R4b26ffa39ccf4df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8ad5cdac7e448c" /><Relationship Type="http://schemas.openxmlformats.org/officeDocument/2006/relationships/hyperlink" Target="https://www.dmgmori.co.jp/corporate/news/2026/20260706_geniac.html" TargetMode="External" Id="R04ad6a5ffe5a4bc5" /><Relationship Type="http://schemas.openxmlformats.org/officeDocument/2006/relationships/hyperlink" Target="https://monoist.itmedia.co.jp/mn/articles/2610/19/news039_2.html" TargetMode="External" Id="Re6241532620c4f3d" /><Relationship Type="http://schemas.openxmlformats.org/officeDocument/2006/relationships/hyperlink" Target="https://www.fanuc.co.jp/ja/profile/pr/newsrelease/2026/news20260930.html" TargetMode="External" Id="R2f96128831b94790" /><Relationship Type="http://schemas.openxmlformats.org/officeDocument/2006/relationships/hyperlink" Target="https://infosys.beckhoff.com/content/1033/te3850_tc3_machine_learning_creator/21561799691.html" TargetMode="External" Id="R40b8f6d7a4f84953" /><Relationship Type="http://schemas.openxmlformats.org/officeDocument/2006/relationships/notesSlide" Target="/ppt/notesSlides/notesSlide16.xml" Id="R3281158040464a3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3b7e46541e48c8" /><Relationship Type="http://schemas.openxmlformats.org/officeDocument/2006/relationships/notesSlide" Target="/ppt/notesSlides/notesSlide17.xml" Id="R6474990af8904aa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f03e382b374d91" /><Relationship Type="http://schemas.openxmlformats.org/officeDocument/2006/relationships/notesSlide" Target="/ppt/notesSlides/notesSlide18.xml" Id="Rd6bd324d5ed64cf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ceadaf54d34efc" /><Relationship Type="http://schemas.openxmlformats.org/officeDocument/2006/relationships/notesSlide" Target="/ppt/notesSlides/notesSlide19.xml" Id="Rc1c32d29c1a7411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7844f5f58a4757" /><Relationship Type="http://schemas.openxmlformats.org/officeDocument/2006/relationships/hyperlink" Target="https://www.aist.go.jp/aist_j/news/pr20260702.html" TargetMode="External" Id="R119d1854c557459c" /><Relationship Type="http://schemas.openxmlformats.org/officeDocument/2006/relationships/hyperlink" Target="https://www.fanuc.co.jp/ja/profile/pr/newsrelease/2026/news20260930.html" TargetMode="External" Id="Ra20f6938bb1a4413" /><Relationship Type="http://schemas.openxmlformats.org/officeDocument/2006/relationships/hyperlink" Target="https://blog.manufacturing.hexagon.com/advanced-manufacturing/cam-software/the-next-step-in-cam-isnt-new-its-already-here/" TargetMode="External" Id="R83c2130b074347a5" /><Relationship Type="http://schemas.openxmlformats.org/officeDocument/2006/relationships/hyperlink" Target="https://kpmg.com/jp/ja/insights/2026/08/ai-emergingtech-10.html" TargetMode="External" Id="Rd8f4b7e3819b4d00" /><Relationship Type="http://schemas.openxmlformats.org/officeDocument/2006/relationships/hyperlink" Target="https://www.dmgmori.co.jp/corporate/ir/ir_news/2026/20260804_release.html" TargetMode="External" Id="Rfd3fa6ebcca942b2" /><Relationship Type="http://schemas.openxmlformats.org/officeDocument/2006/relationships/notesSlide" Target="/ppt/notesSlides/notesSlide20.xml" Id="R419bd9db149a405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2024年</c:v>
          </c:tx>
          <c:spPr>
            <a:solidFill xmlns:a="http://schemas.openxmlformats.org/drawingml/2006/main">
              <a:srgbClr val="91AAB5"/>
            </a:solidFill>
          </c:spPr>
          <c:invertIfNegative val="0"/>
          <c:cat>
            <c:strRef>
              <c:f>'Chart Data'!$A$2:$A$9</c:f>
              <c:strCache>
                <c:ptCount val="8"/>
                <c:pt idx="0">
                  <c:v>AI明示</c:v>
                </c:pt>
                <c:pt idx="1">
                  <c:v>生成AIとエージェント</c:v>
                </c:pt>
                <c:pt idx="2">
                  <c:v>フィジカルAI明示</c:v>
                </c:pt>
                <c:pt idx="3">
                  <c:v>自動化と省人化</c:v>
                </c:pt>
                <c:pt idx="4">
                  <c:v>設計製造のデジタル化</c:v>
                </c:pt>
                <c:pt idx="5">
                  <c:v>工場運用とデータ連携</c:v>
                </c:pt>
                <c:pt idx="6">
                  <c:v>状態監視と補正</c:v>
                </c:pt>
                <c:pt idx="7">
                  <c:v>自律の明示</c:v>
                </c:pt>
              </c:strCache>
            </c:str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22</c:v>
                </c:pt>
                <c:pt idx="1">
                  <c:v>0</c:v>
                </c:pt>
                <c:pt idx="2">
                  <c:v>0</c:v>
                </c:pt>
                <c:pt idx="3">
                  <c:v>172</c:v>
                </c:pt>
                <c:pt idx="4">
                  <c:v>43</c:v>
                </c:pt>
                <c:pt idx="5">
                  <c:v>59</c:v>
                </c:pt>
                <c:pt idx="6">
                  <c:v>31</c:v>
                </c:pt>
                <c:pt idx="7">
                  <c:v>4</c:v>
                </c:pt>
              </c:numCache>
            </c:numRef>
          </c:val>
        </c:ser>
        <c:ser>
          <c:idx val="1"/>
          <c:order val="1"/>
          <c:tx>
            <c:v>2026年</c:v>
          </c:tx>
          <c:spPr>
            <a:solidFill xmlns:a="http://schemas.openxmlformats.org/drawingml/2006/main">
              <a:srgbClr val="167789"/>
            </a:solidFill>
          </c:spPr>
          <c:invertIfNegative val="0"/>
          <c:cat>
            <c:strRef>
              <c:f>'Chart Data'!$C$2:$C$9</c:f>
              <c:strCache>
                <c:ptCount val="8"/>
                <c:pt idx="0">
                  <c:v>AI明示</c:v>
                </c:pt>
                <c:pt idx="1">
                  <c:v>生成AIとエージェント</c:v>
                </c:pt>
                <c:pt idx="2">
                  <c:v>フィジカルAI明示</c:v>
                </c:pt>
                <c:pt idx="3">
                  <c:v>自動化と省人化</c:v>
                </c:pt>
                <c:pt idx="4">
                  <c:v>設計製造のデジタル化</c:v>
                </c:pt>
                <c:pt idx="5">
                  <c:v>工場運用とデータ連携</c:v>
                </c:pt>
                <c:pt idx="6">
                  <c:v>状態監視と補正</c:v>
                </c:pt>
                <c:pt idx="7">
                  <c:v>自律の明示</c:v>
                </c:pt>
              </c:strCache>
            </c:strRef>
          </c:cat>
          <c:val>
            <c:numRef>
              <c:f>'Chart Data'!$D$2:$D$9</c:f>
              <c:numCache>
                <c:formatCode>General</c:formatCode>
                <c:ptCount val="8"/>
                <c:pt idx="0">
                  <c:v>40</c:v>
                </c:pt>
                <c:pt idx="1">
                  <c:v>5</c:v>
                </c:pt>
                <c:pt idx="2">
                  <c:v>7</c:v>
                </c:pt>
                <c:pt idx="3">
                  <c:v>193</c:v>
                </c:pt>
                <c:pt idx="4">
                  <c:v>39</c:v>
                </c:pt>
                <c:pt idx="5">
                  <c:v>57</c:v>
                </c:pt>
                <c:pt idx="6">
                  <c:v>26</c:v>
                </c:pt>
                <c:pt idx="7">
                  <c:v>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Noto Sans JP"/>
                  <a:ea typeface="Noto Sans JP"/>
                  <a:cs typeface="Noto Sans JP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catAx>
      <c:valAx>
        <c:axId val="48672768"/>
        <c:scaling>
          <c:orientation val="minMax"/>
          <c:max val="220"/>
          <c:min val="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  <c:crossBetween val="between"/>
      </c:valAx>
      <c:spPr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>
              <a:latin typeface="Noto Sans JP"/>
              <a:ea typeface="Noto Sans JP"/>
              <a:cs typeface="Noto Sans JP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heading">
            <a:extLst xmlns:a="http://schemas.openxmlformats.org/drawingml/2006/main">
              <a:ext uri="{FF2B5EF4-FFF2-40B4-BE49-F238E27FC236}">
                <a16:creationId xmlns:a16="http://schemas.microsoft.com/office/drawing/2014/main" id="{C4B1BDAA-AA22-48DA-BF7F-0555C15B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6649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rPr>
              <a:t>JIMTOF2026 事前調査報告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04BA89F2-28A7-43E4-A972-51C68B66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6573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2026年10月21日時点の公開情報に基づく見立て。展示会・顧客現場での実態は未確認。</a:t>
            </a:r>
          </a:p>
        </p:txBody>
      </p:sp>
      <p:sp>
        <p:nvSpPr>
          <p:cNvPr id="3" name="thesis">
            <a:extLst xmlns:a="http://schemas.openxmlformats.org/drawingml/2006/main">
              <a:ext uri="{FF2B5EF4-FFF2-40B4-BE49-F238E27FC236}">
                <a16:creationId xmlns:a16="http://schemas.microsoft.com/office/drawing/2014/main" id="{A1D7D54D-AADD-44E2-A84F-CF7B4F2B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647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80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480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480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480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480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480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480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480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480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480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pPr>
            <a:r>
              <a:rPr sz="480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rPr>
              <a:t>競争の範囲は、個々の機械から</a:t>
            </a:r>
          </a:p>
          <a:p xmlns:a="http://schemas.openxmlformats.org/drawingml/2006/main">
            <a:pPr>
              <a:defRPr sz="480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pPr>
            <a:r>
              <a:rPr sz="480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rPr>
              <a:t>工程をつなぐ判断と実行へ広がる</a:t>
            </a:r>
          </a:p>
        </p:txBody>
      </p:sp>
      <p:sp>
        <p:nvSpPr>
          <p:cNvPr id="4" name="label-550">
            <a:extLst xmlns:a="http://schemas.openxmlformats.org/drawingml/2006/main">
              <a:ext uri="{FF2B5EF4-FFF2-40B4-BE49-F238E27FC236}">
                <a16:creationId xmlns:a16="http://schemas.microsoft.com/office/drawing/2014/main" id="{1CB56708-A899-4931-AA26-ADFFF261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550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550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550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550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550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550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550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550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550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67789"/>
                </a:solidFill>
                <a:latin typeface="Noto Sans JP"/>
                <a:ea typeface="Noto Sans JP"/>
                <a:cs typeface="Noto Sans JP"/>
              </a:rPr>
              <a:t>全体最適</a:t>
            </a:r>
          </a:p>
        </p:txBody>
      </p:sp>
      <p:sp>
        <p:nvSpPr>
          <p:cNvPr id="5" name="body-550">
            <a:extLst xmlns:a="http://schemas.openxmlformats.org/drawingml/2006/main">
              <a:ext uri="{FF2B5EF4-FFF2-40B4-BE49-F238E27FC236}">
                <a16:creationId xmlns:a16="http://schemas.microsoft.com/office/drawing/2014/main" id="{15C9AD57-6CAB-416E-8A6E-655130F0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238750"/>
            <a:ext cx="126206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550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550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550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550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550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550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550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550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550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0">
                <a:solidFill>
                  <a:srgbClr val="183C4D"/>
                </a:solidFill>
                <a:latin typeface="Noto Sans JP"/>
                <a:ea typeface="Noto Sans JP"/>
                <a:cs typeface="Noto Sans JP"/>
              </a:rPr>
              <a:t>設計・加工・計測・計画の情報をつなぎ、工程間の待ちや調整を減らす。</a:t>
            </a:r>
          </a:p>
        </p:txBody>
      </p:sp>
      <p:sp>
        <p:nvSpPr>
          <p:cNvPr id="6" name="label-710">
            <a:extLst xmlns:a="http://schemas.openxmlformats.org/drawingml/2006/main">
              <a:ext uri="{FF2B5EF4-FFF2-40B4-BE49-F238E27FC236}">
                <a16:creationId xmlns:a16="http://schemas.microsoft.com/office/drawing/2014/main" id="{18C173AB-C32C-438C-B5BD-8DB9EC56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7627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550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550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550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550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550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550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550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550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550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67789"/>
                </a:solidFill>
                <a:latin typeface="Noto Sans JP"/>
                <a:ea typeface="Noto Sans JP"/>
                <a:cs typeface="Noto Sans JP"/>
              </a:rPr>
              <a:t>変化への対応</a:t>
            </a:r>
          </a:p>
        </p:txBody>
      </p:sp>
      <p:sp>
        <p:nvSpPr>
          <p:cNvPr id="7" name="body-710">
            <a:extLst xmlns:a="http://schemas.openxmlformats.org/drawingml/2006/main">
              <a:ext uri="{FF2B5EF4-FFF2-40B4-BE49-F238E27FC236}">
                <a16:creationId xmlns:a16="http://schemas.microsoft.com/office/drawing/2014/main" id="{F5269E99-40E5-4BF9-B9AA-A326FE3E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6762750"/>
            <a:ext cx="126206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550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550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550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550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550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550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550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550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550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0">
                <a:solidFill>
                  <a:srgbClr val="183C4D"/>
                </a:solidFill>
                <a:latin typeface="Noto Sans JP"/>
                <a:ea typeface="Noto Sans JP"/>
                <a:cs typeface="Noto Sans JP"/>
              </a:rPr>
              <a:t>品種変更・段取り・例外に残る人の判断を、AIと自動化の対象にする。</a:t>
            </a:r>
          </a:p>
        </p:txBody>
      </p:sp>
      <p:sp>
        <p:nvSpPr>
          <p:cNvPr id="8" name="ref-S01">
            <a:extLst xmlns:a="http://schemas.openxmlformats.org/drawingml/2006/main">
              <a:ext uri="{FF2B5EF4-FFF2-40B4-BE49-F238E27FC236}">
                <a16:creationId xmlns:a16="http://schemas.microsoft.com/office/drawing/2014/main" id="{4225A30F-6737-4DF5-B35F-3642BD79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d5fe2491f31f4dea"/>
              </a:rPr>
              <a:t>S01</a:t>
            </a:r>
          </a:p>
        </p:txBody>
      </p:sp>
      <p:sp>
        <p:nvSpPr>
          <p:cNvPr id="9" name="ref-S04">
            <a:extLst xmlns:a="http://schemas.openxmlformats.org/drawingml/2006/main">
              <a:ext uri="{FF2B5EF4-FFF2-40B4-BE49-F238E27FC236}">
                <a16:creationId xmlns:a16="http://schemas.microsoft.com/office/drawing/2014/main" id="{58D3653C-957B-496C-A232-A1D8D5BD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f6541c4e68214e94"/>
              </a:rPr>
              <a:t>S04</a:t>
            </a:r>
          </a:p>
        </p:txBody>
      </p:sp>
      <p:sp>
        <p:nvSpPr>
          <p:cNvPr id="10" name="ref-S06">
            <a:extLst xmlns:a="http://schemas.openxmlformats.org/drawingml/2006/main">
              <a:ext uri="{FF2B5EF4-FFF2-40B4-BE49-F238E27FC236}">
                <a16:creationId xmlns:a16="http://schemas.microsoft.com/office/drawing/2014/main" id="{9806F267-9AC3-428D-B905-BA213CD5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0d15afb39d4a48f7"/>
              </a:rPr>
              <a:t>S06</a:t>
            </a:r>
          </a:p>
        </p:txBody>
      </p:sp>
      <p:sp>
        <p:nvSpPr>
          <p:cNvPr id="11" name="ref-S11">
            <a:extLst xmlns:a="http://schemas.openxmlformats.org/drawingml/2006/main">
              <a:ext uri="{FF2B5EF4-FFF2-40B4-BE49-F238E27FC236}">
                <a16:creationId xmlns:a16="http://schemas.microsoft.com/office/drawing/2014/main" id="{D61E727B-5E51-40EF-840F-468E7D4F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61fb3c7c94c445cc"/>
              </a:rPr>
              <a:t>S11</a:t>
            </a:r>
          </a:p>
        </p:txBody>
      </p:sp>
      <p:sp>
        <p:nvSpPr>
          <p:cNvPr id="12" name="ref-S19">
            <a:extLst xmlns:a="http://schemas.openxmlformats.org/drawingml/2006/main">
              <a:ext uri="{FF2B5EF4-FFF2-40B4-BE49-F238E27FC236}">
                <a16:creationId xmlns:a16="http://schemas.microsoft.com/office/drawing/2014/main" id="{4157CFEB-9C45-4EBD-B81C-F51387D6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4815ea98e4b44932"/>
              </a:rPr>
              <a:t>S19</a:t>
            </a:r>
          </a:p>
        </p:txBody>
      </p:sp>
      <p:sp>
        <p:nvSpPr>
          <p:cNvPr id="13" name="disclosure">
            <a:extLst xmlns:a="http://schemas.openxmlformats.org/drawingml/2006/main">
              <a:ext uri="{FF2B5EF4-FFF2-40B4-BE49-F238E27FC236}">
                <a16:creationId xmlns:a16="http://schemas.microsoft.com/office/drawing/2014/main" id="{152C1CCF-67B5-463F-9A8F-2297D59C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63100"/>
            <a:ext cx="15621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個々の加工・固定自動化の高度化も続く。工場全体の自律運用が既に普及したという結論ではない。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9104FF51-C2B4-4163-870B-E394F2A5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96393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499629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heading">
            <a:extLst xmlns:a="http://schemas.openxmlformats.org/drawingml/2006/main">
              <a:ext uri="{FF2B5EF4-FFF2-40B4-BE49-F238E27FC236}">
                <a16:creationId xmlns:a16="http://schemas.microsoft.com/office/drawing/2014/main" id="{3674A3ED-E5A3-49A2-8E96-F087F690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6649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rPr>
              <a:t>顧客向け開発の焦点は、使えるデータと現場への適応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179FF321-AF2B-46D0-A543-EC58867C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6573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加工現象・計測の知見と顧客接点がある場合、データ取得支援とモデルの適応・検証を組み合わせる。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442828-03D0-4F8D-B971-03FB73F15247}"/>
              </a:ext>
            </a:extLst>
          </p:cNvPr>
          <p:cNvGraphicFramePr/>
          <p:nvPr/>
        </p:nvGraphicFramePr>
        <p:xfrm>
          <a:off xmlns:a="http://schemas.openxmlformats.org/drawingml/2006/main" x="819150" y="2952750"/>
          <a:ext xmlns:a="http://schemas.openxmlformats.org/drawingml/2006/main" cx="16649700" cy="490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7191375"/>
                <a:gridCol w="4981575"/>
              </a:tblGrid>
              <a:tr h="8096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5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顧客が困ること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5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提供するサービスの案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5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独自性を検証する点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</a:tr>
              <a:tr h="20478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55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データを集めても</a:t>
                      </a:r>
                    </a:p>
                    <a:p>
                      <a:r>
                        <a:rPr sz="255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開発に使えない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5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現象から測定項目・同期・正解を設計</a:t>
                      </a:r>
                    </a:p>
                    <a:p>
                      <a:r>
                        <a:rPr sz="25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条件・工具・品質が揃ったデータを提供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5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特定加工の理解に基づき</a:t>
                      </a:r>
                    </a:p>
                    <a:p>
                      <a:r>
                        <a:rPr sz="25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開発の手戻りを減らせるか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478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55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一台で使えたモデルが</a:t>
                      </a:r>
                    </a:p>
                    <a:p>
                      <a:r>
                        <a:rPr sz="255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別設備で安定しない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5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設備差を評価し、追加取得・適応を支援</a:t>
                      </a:r>
                    </a:p>
                    <a:p>
                      <a:r>
                        <a:rPr sz="25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更新後の評価と復帰まで設計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5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少ない現場調整で</a:t>
                      </a:r>
                    </a:p>
                    <a:p>
                      <a:r>
                        <a:rPr sz="25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使える範囲を広げられるか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4" name="proposal">
            <a:extLst xmlns:a="http://schemas.openxmlformats.org/drawingml/2006/main">
              <a:ext uri="{FF2B5EF4-FFF2-40B4-BE49-F238E27FC236}">
                <a16:creationId xmlns:a16="http://schemas.microsoft.com/office/drawing/2014/main" id="{EEDC7C39-ECC1-4E67-B15D-1563ED22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34375"/>
            <a:ext cx="1638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77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77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77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77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77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77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77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77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77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277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rPr>
              <a:t>データ量の競争に加え、工程の理解と顧客成果で差を作る</a:t>
            </a:r>
          </a:p>
        </p:txBody>
      </p:sp>
      <p:sp>
        <p:nvSpPr>
          <p:cNvPr id="5" name="ref-S01">
            <a:extLst xmlns:a="http://schemas.openxmlformats.org/drawingml/2006/main">
              <a:ext uri="{FF2B5EF4-FFF2-40B4-BE49-F238E27FC236}">
                <a16:creationId xmlns:a16="http://schemas.microsoft.com/office/drawing/2014/main" id="{294AEB3A-9042-4DE9-80D4-6CD563BF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e05776ef31c043d9"/>
              </a:rPr>
              <a:t>S01</a:t>
            </a:r>
          </a:p>
        </p:txBody>
      </p:sp>
      <p:sp>
        <p:nvSpPr>
          <p:cNvPr id="6" name="ref-S03">
            <a:extLst xmlns:a="http://schemas.openxmlformats.org/drawingml/2006/main">
              <a:ext uri="{FF2B5EF4-FFF2-40B4-BE49-F238E27FC236}">
                <a16:creationId xmlns:a16="http://schemas.microsoft.com/office/drawing/2014/main" id="{BB27F72F-C901-4162-AF62-0E41BAC4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6307e4acd380452b"/>
              </a:rPr>
              <a:t>S03</a:t>
            </a:r>
          </a:p>
        </p:txBody>
      </p:sp>
      <p:sp>
        <p:nvSpPr>
          <p:cNvPr id="7" name="ref-S31">
            <a:extLst xmlns:a="http://schemas.openxmlformats.org/drawingml/2006/main">
              <a:ext uri="{FF2B5EF4-FFF2-40B4-BE49-F238E27FC236}">
                <a16:creationId xmlns:a16="http://schemas.microsoft.com/office/drawing/2014/main" id="{406C22E4-A3BC-44D0-91C8-80E3AA2F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acb455ed77d14100"/>
              </a:rPr>
              <a:t>S31</a:t>
            </a:r>
          </a:p>
        </p:txBody>
      </p:sp>
      <p:sp>
        <p:nvSpPr>
          <p:cNvPr id="8" name="ref-S35">
            <a:extLst xmlns:a="http://schemas.openxmlformats.org/drawingml/2006/main">
              <a:ext uri="{FF2B5EF4-FFF2-40B4-BE49-F238E27FC236}">
                <a16:creationId xmlns:a16="http://schemas.microsoft.com/office/drawing/2014/main" id="{764E7B29-BC70-4FE7-8D97-721C2347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202daf0013124c6e"/>
              </a:rPr>
              <a:t>S35</a:t>
            </a:r>
          </a:p>
        </p:txBody>
      </p:sp>
      <p:sp>
        <p:nvSpPr>
          <p:cNvPr id="9" name="ref-S38">
            <a:extLst xmlns:a="http://schemas.openxmlformats.org/drawingml/2006/main">
              <a:ext uri="{FF2B5EF4-FFF2-40B4-BE49-F238E27FC236}">
                <a16:creationId xmlns:a16="http://schemas.microsoft.com/office/drawing/2014/main" id="{1A837B19-531B-43A7-B36A-7EEB32E7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5144d2ad4b58422e"/>
              </a:rPr>
              <a:t>S38</a:t>
            </a:r>
          </a:p>
        </p:txBody>
      </p:sp>
      <p:sp>
        <p:nvSpPr>
          <p:cNvPr id="10" name="ref-S39">
            <a:extLst xmlns:a="http://schemas.openxmlformats.org/drawingml/2006/main">
              <a:ext uri="{FF2B5EF4-FFF2-40B4-BE49-F238E27FC236}">
                <a16:creationId xmlns:a16="http://schemas.microsoft.com/office/drawing/2014/main" id="{CC0F3F5A-EB01-4A58-A02C-FEDB40D4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b7f61aa935b642d0"/>
              </a:rPr>
              <a:t>S39</a:t>
            </a:r>
          </a:p>
        </p:txBody>
      </p:sp>
      <p:sp>
        <p:nvSpPr>
          <p:cNvPr id="11" name="ref-S40">
            <a:extLst xmlns:a="http://schemas.openxmlformats.org/drawingml/2006/main">
              <a:ext uri="{FF2B5EF4-FFF2-40B4-BE49-F238E27FC236}">
                <a16:creationId xmlns:a16="http://schemas.microsoft.com/office/drawing/2014/main" id="{E8C5D758-6130-4BB8-BC15-3980C70B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eb9f98876c014c57"/>
              </a:rPr>
              <a:t>S40</a:t>
            </a:r>
          </a:p>
        </p:txBody>
      </p:sp>
      <p:sp>
        <p:nvSpPr>
          <p:cNvPr id="12" name="disclosure">
            <a:extLst xmlns:a="http://schemas.openxmlformats.org/drawingml/2006/main">
              <a:ext uri="{FF2B5EF4-FFF2-40B4-BE49-F238E27FC236}">
                <a16:creationId xmlns:a16="http://schemas.microsoft.com/office/drawing/2014/main" id="{D782E2C0-6F80-426D-8C33-9686C8DD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63100"/>
            <a:ext cx="15621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開発候補は分析仮説。自社能力・顧客の支払意思・既存サービスとの差は未確認。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2EC88741-F3E4-4E2D-AF3A-5B0FFCDD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96393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186795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ing">
            <a:extLst xmlns:a="http://schemas.openxmlformats.org/drawingml/2006/main">
              <a:ext uri="{FF2B5EF4-FFF2-40B4-BE49-F238E27FC236}">
                <a16:creationId xmlns:a16="http://schemas.microsoft.com/office/drawing/2014/main" id="{EDD774B8-1926-4AB8-848B-A9BFF960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6649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rPr>
              <a:t>既存基盤との協業を使い、顧客成果から開発範囲を決める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026843BC-4FF6-4A82-B649-604E5CBD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6573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継続サービスの成立には、精度向上に加えて、導入・データ作成・現場対応の費用まで確認する必要がある。</a:t>
            </a:r>
          </a:p>
        </p:txBody>
      </p:sp>
      <p:sp>
        <p:nvSpPr>
          <p:cNvPr id="3" name="label-320">
            <a:extLst xmlns:a="http://schemas.openxmlformats.org/drawingml/2006/main">
              <a:ext uri="{FF2B5EF4-FFF2-40B4-BE49-F238E27FC236}">
                <a16:creationId xmlns:a16="http://schemas.microsoft.com/office/drawing/2014/main" id="{F847B719-3660-4C4F-87FB-6740F11E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62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62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62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62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62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62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62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62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62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262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rPr>
              <a:t>自ら担う部分</a:t>
            </a:r>
          </a:p>
        </p:txBody>
      </p:sp>
      <p:sp>
        <p:nvSpPr>
          <p:cNvPr id="4" name="body-320">
            <a:extLst xmlns:a="http://schemas.openxmlformats.org/drawingml/2006/main">
              <a:ext uri="{FF2B5EF4-FFF2-40B4-BE49-F238E27FC236}">
                <a16:creationId xmlns:a16="http://schemas.microsoft.com/office/drawing/2014/main" id="{A822E546-1ACD-451C-8B1C-D3622686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48000"/>
            <a:ext cx="126206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625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625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625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625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625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625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625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625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625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pPr>
            <a:r>
              <a:rPr sz="2625" b="0">
                <a:solidFill>
                  <a:srgbClr val="183C4D"/>
                </a:solidFill>
                <a:latin typeface="Noto Sans JP"/>
                <a:ea typeface="Noto Sans JP"/>
                <a:cs typeface="Noto Sans JP"/>
              </a:rPr>
              <a:t>加工現象、判断理由、品質との対応、顧客での適用条件を蓄積する。</a:t>
            </a:r>
          </a:p>
        </p:txBody>
      </p:sp>
      <p:sp>
        <p:nvSpPr>
          <p:cNvPr id="5" name="label-510">
            <a:extLst xmlns:a="http://schemas.openxmlformats.org/drawingml/2006/main">
              <a:ext uri="{FF2B5EF4-FFF2-40B4-BE49-F238E27FC236}">
                <a16:creationId xmlns:a16="http://schemas.microsoft.com/office/drawing/2014/main" id="{89865D65-4F82-4047-B3D6-4B7D31B4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62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62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62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62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62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62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62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62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62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262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rPr>
              <a:t>他社と組む部分</a:t>
            </a:r>
          </a:p>
        </p:txBody>
      </p:sp>
      <p:sp>
        <p:nvSpPr>
          <p:cNvPr id="6" name="body-510">
            <a:extLst xmlns:a="http://schemas.openxmlformats.org/drawingml/2006/main">
              <a:ext uri="{FF2B5EF4-FFF2-40B4-BE49-F238E27FC236}">
                <a16:creationId xmlns:a16="http://schemas.microsoft.com/office/drawing/2014/main" id="{80BEEFBC-EC25-4F9C-A30A-51CD992B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857750"/>
            <a:ext cx="126206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625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625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625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625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625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625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625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625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625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pPr>
            <a:r>
              <a:rPr sz="2625" b="0">
                <a:solidFill>
                  <a:srgbClr val="183C4D"/>
                </a:solidFill>
                <a:latin typeface="Noto Sans JP"/>
                <a:ea typeface="Noto Sans JP"/>
                <a:cs typeface="Noto Sans JP"/>
              </a:rPr>
              <a:t>センサー、CNC、CAM、学習・実行環境、外部データ基盤を活用する。</a:t>
            </a:r>
          </a:p>
        </p:txBody>
      </p:sp>
      <p:sp>
        <p:nvSpPr>
          <p:cNvPr id="7" name="label-700">
            <a:extLst xmlns:a="http://schemas.openxmlformats.org/drawingml/2006/main">
              <a:ext uri="{FF2B5EF4-FFF2-40B4-BE49-F238E27FC236}">
                <a16:creationId xmlns:a16="http://schemas.microsoft.com/office/drawing/2014/main" id="{5D6E62FD-8802-4AB5-8762-0108B57B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62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62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62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62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62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62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62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62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62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2625" b="1">
                <a:solidFill>
                  <a:srgbClr val="167789"/>
                </a:solidFill>
                <a:latin typeface="Noto Sans JP"/>
                <a:ea typeface="Noto Sans JP"/>
                <a:cs typeface="Noto Sans JP"/>
              </a:rPr>
              <a:t>開発を続ける条件</a:t>
            </a:r>
          </a:p>
        </p:txBody>
      </p:sp>
      <p:sp>
        <p:nvSpPr>
          <p:cNvPr id="8" name="body-700">
            <a:extLst xmlns:a="http://schemas.openxmlformats.org/drawingml/2006/main">
              <a:ext uri="{FF2B5EF4-FFF2-40B4-BE49-F238E27FC236}">
                <a16:creationId xmlns:a16="http://schemas.microsoft.com/office/drawing/2014/main" id="{3879DA16-6D13-4020-A82B-54CE69BD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6667500"/>
            <a:ext cx="126206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625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625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625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625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625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625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625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625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625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pPr>
            <a:r>
              <a:rPr sz="2625" b="0">
                <a:solidFill>
                  <a:srgbClr val="183C4D"/>
                </a:solidFill>
                <a:latin typeface="Noto Sans JP"/>
                <a:ea typeface="Noto Sans JP"/>
                <a:cs typeface="Noto Sans JP"/>
              </a:rPr>
              <a:t>既存製品だけの運用と比べ、顧客の準備・不良・停止の負担が費用を含めて減る。</a:t>
            </a:r>
          </a:p>
        </p:txBody>
      </p:sp>
      <p:sp>
        <p:nvSpPr>
          <p:cNvPr id="9" name="ref-S02">
            <a:extLst xmlns:a="http://schemas.openxmlformats.org/drawingml/2006/main">
              <a:ext uri="{FF2B5EF4-FFF2-40B4-BE49-F238E27FC236}">
                <a16:creationId xmlns:a16="http://schemas.microsoft.com/office/drawing/2014/main" id="{0B76E20A-B734-4452-98B3-754F17B0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a03b070200704cda"/>
              </a:rPr>
              <a:t>S02</a:t>
            </a:r>
          </a:p>
        </p:txBody>
      </p:sp>
      <p:sp>
        <p:nvSpPr>
          <p:cNvPr id="10" name="ref-S05">
            <a:extLst xmlns:a="http://schemas.openxmlformats.org/drawingml/2006/main">
              <a:ext uri="{FF2B5EF4-FFF2-40B4-BE49-F238E27FC236}">
                <a16:creationId xmlns:a16="http://schemas.microsoft.com/office/drawing/2014/main" id="{CD476DFB-5812-4CCD-96F9-3D7B5466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d1c56da7e5154182"/>
              </a:rPr>
              <a:t>S05</a:t>
            </a:r>
          </a:p>
        </p:txBody>
      </p:sp>
      <p:sp>
        <p:nvSpPr>
          <p:cNvPr id="11" name="ref-S16">
            <a:extLst xmlns:a="http://schemas.openxmlformats.org/drawingml/2006/main">
              <a:ext uri="{FF2B5EF4-FFF2-40B4-BE49-F238E27FC236}">
                <a16:creationId xmlns:a16="http://schemas.microsoft.com/office/drawing/2014/main" id="{96CDA462-DD94-4C94-A685-22412AB7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a3896b1d062b475d"/>
              </a:rPr>
              <a:t>S16</a:t>
            </a:r>
          </a:p>
        </p:txBody>
      </p:sp>
      <p:sp>
        <p:nvSpPr>
          <p:cNvPr id="12" name="ref-S26">
            <a:extLst xmlns:a="http://schemas.openxmlformats.org/drawingml/2006/main">
              <a:ext uri="{FF2B5EF4-FFF2-40B4-BE49-F238E27FC236}">
                <a16:creationId xmlns:a16="http://schemas.microsoft.com/office/drawing/2014/main" id="{3AA98D0B-167E-409E-9FEA-18898FED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2c43e69b5eff4fb0"/>
              </a:rPr>
              <a:t>S26</a:t>
            </a:r>
          </a:p>
        </p:txBody>
      </p:sp>
      <p:sp>
        <p:nvSpPr>
          <p:cNvPr id="13" name="ref-S27">
            <a:extLst xmlns:a="http://schemas.openxmlformats.org/drawingml/2006/main">
              <a:ext uri="{FF2B5EF4-FFF2-40B4-BE49-F238E27FC236}">
                <a16:creationId xmlns:a16="http://schemas.microsoft.com/office/drawing/2014/main" id="{DE9C83D8-C9F5-44B9-B634-E608DD39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518fc932de0b4c36"/>
              </a:rPr>
              <a:t>S27</a:t>
            </a:r>
          </a:p>
        </p:txBody>
      </p:sp>
      <p:sp>
        <p:nvSpPr>
          <p:cNvPr id="14" name="ref-S36">
            <a:extLst xmlns:a="http://schemas.openxmlformats.org/drawingml/2006/main">
              <a:ext uri="{FF2B5EF4-FFF2-40B4-BE49-F238E27FC236}">
                <a16:creationId xmlns:a16="http://schemas.microsoft.com/office/drawing/2014/main" id="{673FACD9-C58A-45E1-BD24-D1254FAC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054e9b208b904ea5"/>
              </a:rPr>
              <a:t>S36</a:t>
            </a:r>
          </a:p>
        </p:txBody>
      </p:sp>
      <p:sp>
        <p:nvSpPr>
          <p:cNvPr id="15" name="disclosure">
            <a:extLst xmlns:a="http://schemas.openxmlformats.org/drawingml/2006/main">
              <a:ext uri="{FF2B5EF4-FFF2-40B4-BE49-F238E27FC236}">
                <a16:creationId xmlns:a16="http://schemas.microsoft.com/office/drawing/2014/main" id="{8386DE32-5AC9-4E1F-8434-7B43010B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63100"/>
            <a:ext cx="15621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AI精度向上から継続課金の収益性向上までの因果は未検証。外部データの利用・参加条件も個別確認が必要。</a:t>
            </a:r>
          </a:p>
        </p:txBody>
      </p:sp>
      <p:sp>
        <p:nvSpPr>
          <p:cNvPr id="16" name="page">
            <a:extLst xmlns:a="http://schemas.openxmlformats.org/drawingml/2006/main">
              <a:ext uri="{FF2B5EF4-FFF2-40B4-BE49-F238E27FC236}">
                <a16:creationId xmlns:a16="http://schemas.microsoft.com/office/drawing/2014/main" id="{4383F9E1-35AC-4E26-90C0-CA8C3425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96393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416522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3D56202F-060A-4043-B5E2-5DCBFD5B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6649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rPr>
              <a:t>補足1　調査の範囲と確認深度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D9C2CC5F-4ADB-41E9-86A9-55CB452E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6573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全出展者を照合範囲に残し、戦略資料と技術台帳を組み合わせる。深掘りした企業だけを母集団にはしない。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5BE7D-FAE7-4581-BE4A-E8E9A7130E31}"/>
              </a:ext>
            </a:extLst>
          </p:cNvPr>
          <p:cNvGraphicFramePr/>
          <p:nvPr/>
        </p:nvGraphicFramePr>
        <p:xfrm>
          <a:off xmlns:a="http://schemas.openxmlformats.org/drawingml/2006/main" x="819150" y="2667000"/>
          <a:ext xmlns:a="http://schemas.openxmlformats.org/drawingml/2006/main" cx="16649700" cy="623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5334000"/>
                <a:gridCol w="7505700"/>
              </a:tblGrid>
              <a:tr h="7143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調査の層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対象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読み取れることと限界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</a:tr>
              <a:tr h="1381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全出展者CSV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2024年 1,281掲載行</a:t>
                      </a:r>
                    </a:p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2026年 1,146掲載行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説明の有無と台帳との照合状況を管理</a:t>
                      </a:r>
                    </a:p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全行の詳細技術を確認済みとはしない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81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同名パネル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両年度に本文がある538名称キー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公開説明の語群を同じ範囲で比較</a:t>
                      </a:r>
                    </a:p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導入率・性能向上・新機能数は示さない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1381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技術の位置づけ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344カード、主要企業33社の確認表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詳細比較57、個別タスク33、一次分類254</a:t>
                      </a:r>
                    </a:p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役割未確定92、工程未確定39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81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戦略・潮流の根拠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既存34資料と追加6資料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公式発表、取材、公的研究、論評を区別</a:t>
                      </a:r>
                    </a:p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同じ発表の引用を独立した実証と数えない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4" name="disclosure">
            <a:extLst xmlns:a="http://schemas.openxmlformats.org/drawingml/2006/main">
              <a:ext uri="{FF2B5EF4-FFF2-40B4-BE49-F238E27FC236}">
                <a16:creationId xmlns:a16="http://schemas.microsoft.com/office/drawing/2014/main" id="{482EE173-14CB-45E2-8A52-3383B923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63100"/>
            <a:ext cx="15621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出典：年度別公式CSV、既存技術台帳、戦略レビュー。集計規則・入力ハッシュと全行監査CSVをGitHubに収録。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EFDBA60-93BF-43AC-988B-2674B74D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96393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180397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2593DDFD-376C-4A98-BCD4-BFAB3BC4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6649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rPr>
              <a:t>補足2　公開説明ではAIの明示が増える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463B45F0-0F47-4ED8-A541-186772F2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6573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両年度に本文がある同名538件。工場運用・データ連携など、全ての語群が増えたわけではない。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4D011F10-F5FA-4644-9DF2-D3A73177C0C7}"/>
              </a:ext>
            </a:extLst>
          </p:cNvPr>
          <p:cNvGraphicFramePr/>
          <p:nvPr/>
        </p:nvGraphicFramePr>
        <p:xfrm>
          <a:off xmlns:a="http://schemas.openxmlformats.org/drawingml/2006/main" x="904875" y="2809875"/>
          <a:ext xmlns:a="http://schemas.openxmlformats.org/drawingml/2006/main" cx="16430625" cy="590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0f8cd0d785b4fb9"/>
          </a:graphicData>
        </a:graphic>
      </p:graphicFrame>
      <p:sp>
        <p:nvSpPr>
          <p:cNvPr id="4" name="disclosure">
            <a:extLst xmlns:a="http://schemas.openxmlformats.org/drawingml/2006/main">
              <a:ext uri="{FF2B5EF4-FFF2-40B4-BE49-F238E27FC236}">
                <a16:creationId xmlns:a16="http://schemas.microsoft.com/office/drawing/2014/main" id="{DE979DD9-7143-4C2F-AC09-90EC3691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63100"/>
            <a:ext cx="15621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単位：名称キーの明示件数。重複分類あり。語の追加・削除には説明量・展示対象の差も含む。採用率ではない。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61E8D51-93D7-4595-A11B-5B2E4A72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96393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7432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heading">
            <a:extLst xmlns:a="http://schemas.openxmlformats.org/drawingml/2006/main">
              <a:ext uri="{FF2B5EF4-FFF2-40B4-BE49-F238E27FC236}">
                <a16:creationId xmlns:a16="http://schemas.microsoft.com/office/drawing/2014/main" id="{94C7C3D3-F298-408D-88A4-274BAF04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6649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rPr>
              <a:t>補足3　主要3社は、データと現場適応へ異なる入口を持つ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6B0CBE38-E220-4001-997B-B5DBB9E0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6573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戦略発表・取材内容の比較。各社の計画を、JIMTOFの展示機能・販売機能・顧客導入実績と混同しない。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62E181-6E08-43CE-B477-7AC5C333F4BA}"/>
              </a:ext>
            </a:extLst>
          </p:cNvPr>
          <p:cNvGraphicFramePr/>
          <p:nvPr/>
        </p:nvGraphicFramePr>
        <p:xfrm>
          <a:off xmlns:a="http://schemas.openxmlformats.org/drawingml/2006/main" x="819150" y="2714625"/>
          <a:ext xmlns:a="http://schemas.openxmlformats.org/drawingml/2006/main" cx="16649700" cy="619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4381500"/>
                <a:gridCol w="4619625"/>
                <a:gridCol w="4933950"/>
              </a:tblGrid>
              <a:tr h="76200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企業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開発の入口と狙い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データと適応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現時点での留保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</a:tr>
              <a:tr h="18097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DMG森精機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設備・工程・品質を使う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製造フィジカルAI基盤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複数企業・設備の実運用データ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現象を捉える取得と構造化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約100社・1,000台・100TBは整備計画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外部利用の条件は要確認 [S02,S03]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097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ヤマザキマザック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工程設計・計画のエージェント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ロボット学習環境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加工意図と人の修正を使う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基盤モデルと顧客固有モデル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取材時点でPoC、提供形態は未確定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自社開発範囲・利用権を確認 [S04,S05]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18097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ファナック・日立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変化するピッキング・段取り等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現場固有ルールへの対応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日立の工場をカスタマーゼロに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実機で認識・タクト・品質を検証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共同実証から2027年度の展開を計画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実証先は日立の工場 [S06,S07]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f-S02">
            <a:extLst xmlns:a="http://schemas.openxmlformats.org/drawingml/2006/main">
              <a:ext uri="{FF2B5EF4-FFF2-40B4-BE49-F238E27FC236}">
                <a16:creationId xmlns:a16="http://schemas.microsoft.com/office/drawing/2014/main" id="{8BA99615-660E-4BD0-9AD2-43B6A76C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8e450b6817a94161"/>
              </a:rPr>
              <a:t>S02</a:t>
            </a:r>
          </a:p>
        </p:txBody>
      </p:sp>
      <p:sp>
        <p:nvSpPr>
          <p:cNvPr id="5" name="ref-S03">
            <a:extLst xmlns:a="http://schemas.openxmlformats.org/drawingml/2006/main">
              <a:ext uri="{FF2B5EF4-FFF2-40B4-BE49-F238E27FC236}">
                <a16:creationId xmlns:a16="http://schemas.microsoft.com/office/drawing/2014/main" id="{4AB61CE4-2127-4747-95EA-61D249DB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787098d79ef145a6"/>
              </a:rPr>
              <a:t>S03</a:t>
            </a:r>
          </a:p>
        </p:txBody>
      </p:sp>
      <p:sp>
        <p:nvSpPr>
          <p:cNvPr id="6" name="ref-S04">
            <a:extLst xmlns:a="http://schemas.openxmlformats.org/drawingml/2006/main">
              <a:ext uri="{FF2B5EF4-FFF2-40B4-BE49-F238E27FC236}">
                <a16:creationId xmlns:a16="http://schemas.microsoft.com/office/drawing/2014/main" id="{F7879F8A-47FF-4CA2-AF86-48289A70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a903cae5b5404781"/>
              </a:rPr>
              <a:t>S04</a:t>
            </a:r>
          </a:p>
        </p:txBody>
      </p:sp>
      <p:sp>
        <p:nvSpPr>
          <p:cNvPr id="7" name="ref-S05">
            <a:extLst xmlns:a="http://schemas.openxmlformats.org/drawingml/2006/main">
              <a:ext uri="{FF2B5EF4-FFF2-40B4-BE49-F238E27FC236}">
                <a16:creationId xmlns:a16="http://schemas.microsoft.com/office/drawing/2014/main" id="{83633F48-837D-4444-9338-9FE44CD4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b9c8830feb334ffa"/>
              </a:rPr>
              <a:t>S05</a:t>
            </a:r>
          </a:p>
        </p:txBody>
      </p:sp>
      <p:sp>
        <p:nvSpPr>
          <p:cNvPr id="8" name="ref-S06">
            <a:extLst xmlns:a="http://schemas.openxmlformats.org/drawingml/2006/main">
              <a:ext uri="{FF2B5EF4-FFF2-40B4-BE49-F238E27FC236}">
                <a16:creationId xmlns:a16="http://schemas.microsoft.com/office/drawing/2014/main" id="{2503C0D5-6E9F-4BD2-B2BE-87521529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55220741455c47aa"/>
              </a:rPr>
              <a:t>S06</a:t>
            </a:r>
          </a:p>
        </p:txBody>
      </p:sp>
      <p:sp>
        <p:nvSpPr>
          <p:cNvPr id="9" name="ref-S07">
            <a:extLst xmlns:a="http://schemas.openxmlformats.org/drawingml/2006/main">
              <a:ext uri="{FF2B5EF4-FFF2-40B4-BE49-F238E27FC236}">
                <a16:creationId xmlns:a16="http://schemas.microsoft.com/office/drawing/2014/main" id="{9349AC91-ED18-41AC-A33D-30E779E7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17f1f15d91244be3"/>
              </a:rPr>
              <a:t>S07</a:t>
            </a:r>
          </a:p>
        </p:txBody>
      </p:sp>
      <p:sp>
        <p:nvSpPr>
          <p:cNvPr id="10" name="disclosure">
            <a:extLst xmlns:a="http://schemas.openxmlformats.org/drawingml/2006/main">
              <a:ext uri="{FF2B5EF4-FFF2-40B4-BE49-F238E27FC236}">
                <a16:creationId xmlns:a16="http://schemas.microsoft.com/office/drawing/2014/main" id="{617C4E21-B3DB-46EA-BDF0-A2A903F4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63100"/>
            <a:ext cx="15621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基盤モデルという表現だけで、モデル構造の独占保有やゼロからの学習を断定しない。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6CE077A6-D21F-4814-A8A2-FC5889DA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96393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802598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heading">
            <a:extLst xmlns:a="http://schemas.openxmlformats.org/drawingml/2006/main">
              <a:ext uri="{FF2B5EF4-FFF2-40B4-BE49-F238E27FC236}">
                <a16:creationId xmlns:a16="http://schemas.microsoft.com/office/drawing/2014/main" id="{C439A381-F352-43C1-8076-91F6F300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6649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rPr>
              <a:t>補足4　工程間連携は、研究機関・制御・ITにも共通する論点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CAA1EF36-1A89-4876-B9AC-B7FA21D0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6573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工作機械メーカーだけでなく、データの意味、計画と実績、仮想と実機を接続する動きから方向を読む。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CFBDE-7D7B-43C3-ADDE-A7E13371763A}"/>
              </a:ext>
            </a:extLst>
          </p:cNvPr>
          <p:cNvGraphicFramePr/>
          <p:nvPr/>
        </p:nvGraphicFramePr>
        <p:xfrm>
          <a:off xmlns:a="http://schemas.openxmlformats.org/drawingml/2006/main" x="819150" y="2667000"/>
          <a:ext xmlns:a="http://schemas.openxmlformats.org/drawingml/2006/main" cx="16649700" cy="623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810125"/>
                <a:gridCol w="4762500"/>
                <a:gridCol w="4219575"/>
              </a:tblGrid>
              <a:tr h="7143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主体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公開情報の焦点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全体像における役割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確認が残る点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</a:tr>
              <a:tr h="1381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産総研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現象に基づく取得、構造化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製造データの循環 [S01,S39]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現象理解・データ・AI開発と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実機テストベッドの接続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参加・提供条件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個別の利用可能データ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81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Siemens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デジタルツインと産業AI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設計と運用の接続 [S11,S12]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仮想検証と実績をつなぎ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生産の調整に使う構想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既設設備との接続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顧客での効果と操作範囲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1381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NEC・オムロン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業務をまたぐエージェント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ITとOTの意味の統合 [S10,S33]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計画・現場・業務の情報を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判断に使える状態へ整理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試作と販売機能の区別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権限と顧客別の設定負担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81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オークマ・牧野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工程集約、供給自動化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ライン設計・保守との組合せ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機械と自動化を組み合わせ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安定して生産する仕組み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他社機の対応範囲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全体を調整する責任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4" name="ref-S01">
            <a:extLst xmlns:a="http://schemas.openxmlformats.org/drawingml/2006/main">
              <a:ext uri="{FF2B5EF4-FFF2-40B4-BE49-F238E27FC236}">
                <a16:creationId xmlns:a16="http://schemas.microsoft.com/office/drawing/2014/main" id="{DA07CA3A-5851-470A-AE1C-B9793831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3a39fc3fd0924f25"/>
              </a:rPr>
              <a:t>S01</a:t>
            </a:r>
          </a:p>
        </p:txBody>
      </p:sp>
      <p:sp>
        <p:nvSpPr>
          <p:cNvPr id="5" name="ref-S10">
            <a:extLst xmlns:a="http://schemas.openxmlformats.org/drawingml/2006/main">
              <a:ext uri="{FF2B5EF4-FFF2-40B4-BE49-F238E27FC236}">
                <a16:creationId xmlns:a16="http://schemas.microsoft.com/office/drawing/2014/main" id="{EF9F2900-7925-47C1-8F7B-769268A3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c4c49c5825c84abc"/>
              </a:rPr>
              <a:t>S10</a:t>
            </a:r>
          </a:p>
        </p:txBody>
      </p:sp>
      <p:sp>
        <p:nvSpPr>
          <p:cNvPr id="6" name="ref-S11">
            <a:extLst xmlns:a="http://schemas.openxmlformats.org/drawingml/2006/main">
              <a:ext uri="{FF2B5EF4-FFF2-40B4-BE49-F238E27FC236}">
                <a16:creationId xmlns:a16="http://schemas.microsoft.com/office/drawing/2014/main" id="{9898DCA0-B7AA-4D97-9F55-7A5B14A6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794ebd784ba2490d"/>
              </a:rPr>
              <a:t>S11</a:t>
            </a:r>
          </a:p>
        </p:txBody>
      </p:sp>
      <p:sp>
        <p:nvSpPr>
          <p:cNvPr id="7" name="ref-S12">
            <a:extLst xmlns:a="http://schemas.openxmlformats.org/drawingml/2006/main">
              <a:ext uri="{FF2B5EF4-FFF2-40B4-BE49-F238E27FC236}">
                <a16:creationId xmlns:a16="http://schemas.microsoft.com/office/drawing/2014/main" id="{5424BCB4-2E2F-4F26-956D-8598CA18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8d3ce386e3f24aa9"/>
              </a:rPr>
              <a:t>S12</a:t>
            </a:r>
          </a:p>
        </p:txBody>
      </p:sp>
      <p:sp>
        <p:nvSpPr>
          <p:cNvPr id="8" name="ref-S22">
            <a:extLst xmlns:a="http://schemas.openxmlformats.org/drawingml/2006/main">
              <a:ext uri="{FF2B5EF4-FFF2-40B4-BE49-F238E27FC236}">
                <a16:creationId xmlns:a16="http://schemas.microsoft.com/office/drawing/2014/main" id="{D73B608E-6AFC-4E53-989D-9B60B5A2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15501634cc7447c5"/>
              </a:rPr>
              <a:t>S22</a:t>
            </a:r>
          </a:p>
        </p:txBody>
      </p:sp>
      <p:sp>
        <p:nvSpPr>
          <p:cNvPr id="9" name="ref-S33">
            <a:extLst xmlns:a="http://schemas.openxmlformats.org/drawingml/2006/main">
              <a:ext uri="{FF2B5EF4-FFF2-40B4-BE49-F238E27FC236}">
                <a16:creationId xmlns:a16="http://schemas.microsoft.com/office/drawing/2014/main" id="{9980E52E-E255-43D8-8B80-0AB78A84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1bc0ea59768942de"/>
              </a:rPr>
              <a:t>S33</a:t>
            </a:r>
          </a:p>
        </p:txBody>
      </p:sp>
      <p:sp>
        <p:nvSpPr>
          <p:cNvPr id="10" name="ref-S39">
            <a:extLst xmlns:a="http://schemas.openxmlformats.org/drawingml/2006/main">
              <a:ext uri="{FF2B5EF4-FFF2-40B4-BE49-F238E27FC236}">
                <a16:creationId xmlns:a16="http://schemas.microsoft.com/office/drawing/2014/main" id="{F5888868-54CA-4C01-9A8B-2B4892A9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da2a5f4e739c4e11"/>
              </a:rPr>
              <a:t>S39</a:t>
            </a:r>
          </a:p>
        </p:txBody>
      </p:sp>
      <p:sp>
        <p:nvSpPr>
          <p:cNvPr id="11" name="disclosure">
            <a:extLst xmlns:a="http://schemas.openxmlformats.org/drawingml/2006/main">
              <a:ext uri="{FF2B5EF4-FFF2-40B4-BE49-F238E27FC236}">
                <a16:creationId xmlns:a16="http://schemas.microsoft.com/office/drawing/2014/main" id="{B11C2B20-5965-4292-A9F6-138B4E03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63100"/>
            <a:ext cx="15621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戦略・研究構想と個別製品の実装は異なる。固定自動化や工程集約も全体像を支える既存の手段。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E240340A-5B74-4884-9404-5865BDD3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96393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724865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ing">
            <a:extLst xmlns:a="http://schemas.openxmlformats.org/drawingml/2006/main">
              <a:ext uri="{FF2B5EF4-FFF2-40B4-BE49-F238E27FC236}">
                <a16:creationId xmlns:a16="http://schemas.microsoft.com/office/drawing/2014/main" id="{D4DA8B50-942E-49B6-AC4F-96DD9334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6649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rPr>
              <a:t>補足5　フィジカルAIは、変化する作業の適用条件で比べる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DE7B7B93-DAFE-4E9A-AFD4-04A609B1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6573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認識から動作、完了確認、失敗後の復帰まで、どこを技術が担うかを確認する。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1CA0C-5092-4AE2-82B7-F8F36D9590BF}"/>
              </a:ext>
            </a:extLst>
          </p:cNvPr>
          <p:cNvGraphicFramePr/>
          <p:nvPr/>
        </p:nvGraphicFramePr>
        <p:xfrm>
          <a:off xmlns:a="http://schemas.openxmlformats.org/drawingml/2006/main" x="819150" y="2667000"/>
          <a:ext xmlns:a="http://schemas.openxmlformats.org/drawingml/2006/main" cx="16649700" cy="623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6191250"/>
                <a:gridCol w="6553200"/>
              </a:tblGrid>
              <a:tr h="7143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残る作業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公開されている例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現地で確かめたい条件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</a:tr>
              <a:tr h="1381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主軸の切粉処理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TAKISAWA TR-20W</a:t>
                      </a:r>
                    </a:p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絡まりの認識・判断と除去 [FC049]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参考出品。油・切粉状態の変化、</a:t>
                      </a:r>
                    </a:p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完了判定・再試行・人への引継ぎ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81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不定形ワークの面取り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東京エレクトロンデバイス</a:t>
                      </a:r>
                    </a:p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3D形状から作業軌道を生成 [AC146]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加工条件・干渉・品質の確認範囲</a:t>
                      </a:r>
                    </a:p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形状変更時の再設定とタクト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1381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移設・配置変更後の復帰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中村留 RoboSync</a:t>
                      </a:r>
                    </a:p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マーカーから相対位置を補正 [FC048]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位置復旧と作業の自律判断を区別</a:t>
                      </a:r>
                    </a:p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許容誤差と人に残る調整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81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段取りと付帯作業の機構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イマオの締結・爪交換、工具機構等</a:t>
                      </a:r>
                    </a:p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機械的な保持・交換 [FC042,FC043]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固定機構で十分な範囲との比較</a:t>
                      </a:r>
                    </a:p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必要な認識・学習を絞る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4" name="ref-S06">
            <a:extLst xmlns:a="http://schemas.openxmlformats.org/drawingml/2006/main">
              <a:ext uri="{FF2B5EF4-FFF2-40B4-BE49-F238E27FC236}">
                <a16:creationId xmlns:a16="http://schemas.microsoft.com/office/drawing/2014/main" id="{96C55848-5B92-41CB-A6D1-A848ED26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b798f1d581ca4f66"/>
              </a:rPr>
              <a:t>S06</a:t>
            </a:r>
          </a:p>
        </p:txBody>
      </p:sp>
      <p:sp>
        <p:nvSpPr>
          <p:cNvPr id="5" name="ref-S07">
            <a:extLst xmlns:a="http://schemas.openxmlformats.org/drawingml/2006/main">
              <a:ext uri="{FF2B5EF4-FFF2-40B4-BE49-F238E27FC236}">
                <a16:creationId xmlns:a16="http://schemas.microsoft.com/office/drawing/2014/main" id="{0D82FBD1-FC7E-4DC1-8252-883C267C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1b8e744414104316"/>
              </a:rPr>
              <a:t>S07</a:t>
            </a:r>
          </a:p>
        </p:txBody>
      </p:sp>
      <p:sp>
        <p:nvSpPr>
          <p:cNvPr id="6" name="ref-S23">
            <a:extLst xmlns:a="http://schemas.openxmlformats.org/drawingml/2006/main">
              <a:ext uri="{FF2B5EF4-FFF2-40B4-BE49-F238E27FC236}">
                <a16:creationId xmlns:a16="http://schemas.microsoft.com/office/drawing/2014/main" id="{7F4DAEC6-7461-409D-A979-9F3CD74E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3782b2767b334f35"/>
              </a:rPr>
              <a:t>S23</a:t>
            </a:r>
          </a:p>
        </p:txBody>
      </p:sp>
      <p:sp>
        <p:nvSpPr>
          <p:cNvPr id="7" name="disclosure">
            <a:extLst xmlns:a="http://schemas.openxmlformats.org/drawingml/2006/main">
              <a:ext uri="{FF2B5EF4-FFF2-40B4-BE49-F238E27FC236}">
                <a16:creationId xmlns:a16="http://schemas.microsoft.com/office/drawing/2014/main" id="{5DD20CD1-9D3E-41DD-BF82-10C5336B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63100"/>
            <a:ext cx="15621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自律・教示不要という名称だけで汎用性を判断しない。各社の公開説明・展示予定であり、現地未確認。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4D3A6AE3-EAE2-429E-BB87-C8F1942D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96393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283485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heading">
            <a:extLst xmlns:a="http://schemas.openxmlformats.org/drawingml/2006/main">
              <a:ext uri="{FF2B5EF4-FFF2-40B4-BE49-F238E27FC236}">
                <a16:creationId xmlns:a16="http://schemas.microsoft.com/office/drawing/2014/main" id="{370BF5CD-3F30-45AC-BC0F-7780777A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6649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rPr>
              <a:t>補足6　必要なデータ量は、開発するモデルと用途で変わる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F897CF19-DBE7-4E23-9997-95A14923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6573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広い汎用性を狙う基盤モデル、限定工程のモデル化、顧客設備への適応、導入評価を分けて考える。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B13B8-788F-4F38-8BB8-DD031784B2B2}"/>
              </a:ext>
            </a:extLst>
          </p:cNvPr>
          <p:cNvGraphicFramePr/>
          <p:nvPr/>
        </p:nvGraphicFramePr>
        <p:xfrm>
          <a:off xmlns:a="http://schemas.openxmlformats.org/drawingml/2006/main" x="819150" y="2667000"/>
          <a:ext xmlns:a="http://schemas.openxmlformats.org/drawingml/2006/main" cx="16649700" cy="623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48125"/>
                <a:gridCol w="6381750"/>
                <a:gridCol w="6219825"/>
              </a:tblGrid>
              <a:tr h="7143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開発の目的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データの使い方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公開例と解釈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</a:tr>
              <a:tr h="1381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多様な現場を扱う基盤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複数企業・設備から実運用を収集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条件・品質・設備を構造化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DMG森精機の大規模整備計画 [S02]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計画規模を収集済みとは扱わない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81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加工誤差をリアルタイム補正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高頻度信号から必要情報を抽出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コンパクトな物理モデルへ反映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三菱電機のエッジツイン研究 [S31]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取得・モデル・制御を一体で設計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1381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限定工程の条件を決める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限定条件の少数実験から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入出力モデルと条件探索を構成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産総研のスピニング加工研究 [S38]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切削や全工場への一般化はしない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81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実機差を補正し劣化を推定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既知の物理モデルに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追加データで補正を加える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三菱電機の物理モデル組込みAI [S40]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用途・適用条件の限定が前提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4" name="ref-S02">
            <a:extLst xmlns:a="http://schemas.openxmlformats.org/drawingml/2006/main">
              <a:ext uri="{FF2B5EF4-FFF2-40B4-BE49-F238E27FC236}">
                <a16:creationId xmlns:a16="http://schemas.microsoft.com/office/drawing/2014/main" id="{94F85416-E173-4E62-A8A8-451B4C41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470fcc1d12ad4c86"/>
              </a:rPr>
              <a:t>S02</a:t>
            </a:r>
          </a:p>
        </p:txBody>
      </p:sp>
      <p:sp>
        <p:nvSpPr>
          <p:cNvPr id="5" name="ref-S03">
            <a:extLst xmlns:a="http://schemas.openxmlformats.org/drawingml/2006/main">
              <a:ext uri="{FF2B5EF4-FFF2-40B4-BE49-F238E27FC236}">
                <a16:creationId xmlns:a16="http://schemas.microsoft.com/office/drawing/2014/main" id="{E17EEC0B-F586-4475-90E0-AC13B3A3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c8e20857ceae4f6b"/>
              </a:rPr>
              <a:t>S03</a:t>
            </a:r>
          </a:p>
        </p:txBody>
      </p:sp>
      <p:sp>
        <p:nvSpPr>
          <p:cNvPr id="6" name="ref-S31">
            <a:extLst xmlns:a="http://schemas.openxmlformats.org/drawingml/2006/main">
              <a:ext uri="{FF2B5EF4-FFF2-40B4-BE49-F238E27FC236}">
                <a16:creationId xmlns:a16="http://schemas.microsoft.com/office/drawing/2014/main" id="{FD66CA8D-6C79-4DD7-AFFC-7541B7ED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87e382e816834cb4"/>
              </a:rPr>
              <a:t>S31</a:t>
            </a:r>
          </a:p>
        </p:txBody>
      </p:sp>
      <p:sp>
        <p:nvSpPr>
          <p:cNvPr id="7" name="ref-S38">
            <a:extLst xmlns:a="http://schemas.openxmlformats.org/drawingml/2006/main">
              <a:ext uri="{FF2B5EF4-FFF2-40B4-BE49-F238E27FC236}">
                <a16:creationId xmlns:a16="http://schemas.microsoft.com/office/drawing/2014/main" id="{EE1CBC33-A6DF-4657-96D7-6C415713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50446c162aa54c58"/>
              </a:rPr>
              <a:t>S38</a:t>
            </a:r>
          </a:p>
        </p:txBody>
      </p:sp>
      <p:sp>
        <p:nvSpPr>
          <p:cNvPr id="8" name="ref-S39">
            <a:extLst xmlns:a="http://schemas.openxmlformats.org/drawingml/2006/main">
              <a:ext uri="{FF2B5EF4-FFF2-40B4-BE49-F238E27FC236}">
                <a16:creationId xmlns:a16="http://schemas.microsoft.com/office/drawing/2014/main" id="{7CC9EB08-EC5B-4FD8-AD31-EAD819FB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0c57a4b2721048c5"/>
              </a:rPr>
              <a:t>S39</a:t>
            </a:r>
          </a:p>
        </p:txBody>
      </p:sp>
      <p:sp>
        <p:nvSpPr>
          <p:cNvPr id="9" name="ref-S40">
            <a:extLst xmlns:a="http://schemas.openxmlformats.org/drawingml/2006/main">
              <a:ext uri="{FF2B5EF4-FFF2-40B4-BE49-F238E27FC236}">
                <a16:creationId xmlns:a16="http://schemas.microsoft.com/office/drawing/2014/main" id="{2FC31D23-A0BB-4EB2-A3FE-DBB46117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06c3408cbfdb432d"/>
              </a:rPr>
              <a:t>S40</a:t>
            </a:r>
          </a:p>
        </p:txBody>
      </p:sp>
      <p:sp>
        <p:nvSpPr>
          <p:cNvPr id="10" name="disclosure">
            <a:extLst xmlns:a="http://schemas.openxmlformats.org/drawingml/2006/main">
              <a:ext uri="{FF2B5EF4-FFF2-40B4-BE49-F238E27FC236}">
                <a16:creationId xmlns:a16="http://schemas.microsoft.com/office/drawing/2014/main" id="{65C487CF-F7E3-4648-9AA8-41F410ED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63100"/>
            <a:ext cx="15621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共通するのは、目的に合う信号・条件・正解が必要という点。全ての開発に巨大な独自データ基盤を前提としない。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2813C755-29E0-4AFA-8A79-610685C4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96393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598469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ing">
            <a:extLst xmlns:a="http://schemas.openxmlformats.org/drawingml/2006/main">
              <a:ext uri="{FF2B5EF4-FFF2-40B4-BE49-F238E27FC236}">
                <a16:creationId xmlns:a16="http://schemas.microsoft.com/office/drawing/2014/main" id="{AA476ABA-FB46-4AC5-B573-4C3804A7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6649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rPr>
              <a:t>補足7　暗黙知の活用は、理由と結果の記録までが論点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414C7067-2D25-4782-ABB0-763DB7E1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6573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修正された最終データだけでは、変更理由・一時的な制約・誤操作を区別できない場合がある。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F8FB57-78FD-411B-B140-6296830CBAD1}"/>
              </a:ext>
            </a:extLst>
          </p:cNvPr>
          <p:cNvGraphicFramePr/>
          <p:nvPr/>
        </p:nvGraphicFramePr>
        <p:xfrm>
          <a:off xmlns:a="http://schemas.openxmlformats.org/drawingml/2006/main" x="819150" y="2667000"/>
          <a:ext xmlns:a="http://schemas.openxmlformats.org/drawingml/2006/main" cx="16649700" cy="623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7572375"/>
                <a:gridCol w="5267325"/>
              </a:tblGrid>
              <a:tr h="7143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知識・モデルの扱い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既存機能・構想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差別化を検証する接点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</a:tr>
              <a:tr h="1381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過去工程の再利用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ProPlanAIは過去ジョブと形状から工程を予測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カスタムCAMという選択肢もある [S14,S15]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どの条件で使える知識か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既存CAMで残る修正は何か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81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顧客ごとの適応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マザックは加工意図と人の修正を使う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顧客固有モデルを構想 [S05]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修正理由と品質結果の紐付け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学習に採用する条件と権利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1381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モデル作成と評価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Beckhoffはデータ・ラベル・学習・評価・出力の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ワークフローを提供 [S35]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汎用ツールに加え、工程ごとの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評価項目と現場差を扱えるか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81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運用中の改善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更新のための学習と、毎回の実行判断を区別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版・評価・復帰の管理が必要 [S21]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別設備への適応工数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更新後の回帰と適用範囲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4" name="ref-S05">
            <a:extLst xmlns:a="http://schemas.openxmlformats.org/drawingml/2006/main">
              <a:ext uri="{FF2B5EF4-FFF2-40B4-BE49-F238E27FC236}">
                <a16:creationId xmlns:a16="http://schemas.microsoft.com/office/drawing/2014/main" id="{3F2D5D31-16DE-4ADC-AE96-0E08622C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f7a436dfec7e4614"/>
              </a:rPr>
              <a:t>S05</a:t>
            </a:r>
          </a:p>
        </p:txBody>
      </p:sp>
      <p:sp>
        <p:nvSpPr>
          <p:cNvPr id="5" name="ref-S14">
            <a:extLst xmlns:a="http://schemas.openxmlformats.org/drawingml/2006/main">
              <a:ext uri="{FF2B5EF4-FFF2-40B4-BE49-F238E27FC236}">
                <a16:creationId xmlns:a16="http://schemas.microsoft.com/office/drawing/2014/main" id="{7CE39B0E-5960-4047-A2C6-A805203D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406504de863041de"/>
              </a:rPr>
              <a:t>S14</a:t>
            </a:r>
          </a:p>
        </p:txBody>
      </p:sp>
      <p:sp>
        <p:nvSpPr>
          <p:cNvPr id="6" name="ref-S15">
            <a:extLst xmlns:a="http://schemas.openxmlformats.org/drawingml/2006/main">
              <a:ext uri="{FF2B5EF4-FFF2-40B4-BE49-F238E27FC236}">
                <a16:creationId xmlns:a16="http://schemas.microsoft.com/office/drawing/2014/main" id="{C0F613F7-772C-478E-BB2D-6C82089B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03c74ba58b054685"/>
              </a:rPr>
              <a:t>S15</a:t>
            </a:r>
          </a:p>
        </p:txBody>
      </p:sp>
      <p:sp>
        <p:nvSpPr>
          <p:cNvPr id="7" name="ref-S21">
            <a:extLst xmlns:a="http://schemas.openxmlformats.org/drawingml/2006/main">
              <a:ext uri="{FF2B5EF4-FFF2-40B4-BE49-F238E27FC236}">
                <a16:creationId xmlns:a16="http://schemas.microsoft.com/office/drawing/2014/main" id="{A8188E75-1D5C-4822-AEB8-901F2E72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ed32496242cb4d9f"/>
              </a:rPr>
              <a:t>S21</a:t>
            </a:r>
          </a:p>
        </p:txBody>
      </p:sp>
      <p:sp>
        <p:nvSpPr>
          <p:cNvPr id="8" name="ref-S35">
            <a:extLst xmlns:a="http://schemas.openxmlformats.org/drawingml/2006/main">
              <a:ext uri="{FF2B5EF4-FFF2-40B4-BE49-F238E27FC236}">
                <a16:creationId xmlns:a16="http://schemas.microsoft.com/office/drawing/2014/main" id="{5847F911-3B5D-4295-9ED1-F8A9CEE8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12ed44d98e37487d"/>
              </a:rPr>
              <a:t>S35</a:t>
            </a:r>
          </a:p>
        </p:txBody>
      </p:sp>
      <p:sp>
        <p:nvSpPr>
          <p:cNvPr id="9" name="disclosure">
            <a:extLst xmlns:a="http://schemas.openxmlformats.org/drawingml/2006/main">
              <a:ext uri="{FF2B5EF4-FFF2-40B4-BE49-F238E27FC236}">
                <a16:creationId xmlns:a16="http://schemas.microsoft.com/office/drawing/2014/main" id="{33D3F61A-49B4-48AF-B97F-51DF46EF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63100"/>
            <a:ext cx="15621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過去ジョブ学習やモデル評価を市場の空白とみなさない。独自価値は特定工程の成果で確認する。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52BDFBDF-6FB2-4781-AAFA-F81FC7F2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96393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698635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36BBD3DB-5D14-485A-9ABE-36A99335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6649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rPr>
              <a:t>補足8　工程と役割で見る既存344技術の位置づけ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45C6A780-213A-4263-82FC-355DFF09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6573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件数は既存台帳のカード数。工程・役割は重複配置があり、分類深度も異なる。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F3CAF-8427-4CF5-BD9E-BDFA7AA15608}"/>
              </a:ext>
            </a:extLst>
          </p:cNvPr>
          <p:cNvGraphicFramePr/>
          <p:nvPr/>
        </p:nvGraphicFramePr>
        <p:xfrm>
          <a:off xmlns:a="http://schemas.openxmlformats.org/drawingml/2006/main" x="819150" y="2667000"/>
          <a:ext xmlns:a="http://schemas.openxmlformats.org/drawingml/2006/main" cx="16649700" cy="6229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2876550"/>
                <a:gridCol w="2876550"/>
                <a:gridCol w="2876550"/>
                <a:gridCol w="2876550"/>
              </a:tblGrid>
              <a:tr h="76200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工程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集めて見せる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状態を見極める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案・手順を作る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作業・調整を行う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</a:tr>
              <a:tr h="7810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受注・見積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設計・加工準備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24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7810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制御設計・立上げ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段取り・搬送・付帯作業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93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7810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加工・条件調整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6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12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52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検査・工具運用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37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17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6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23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7810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工場運用・保全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26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11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9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19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disclosure">
            <a:extLst xmlns:a="http://schemas.openxmlformats.org/drawingml/2006/main">
              <a:ext uri="{FF2B5EF4-FFF2-40B4-BE49-F238E27FC236}">
                <a16:creationId xmlns:a16="http://schemas.microsoft.com/office/drawing/2014/main" id="{31674B6F-4F52-4A23-9BA0-E0878A3F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63100"/>
            <a:ext cx="15621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市場規模・普及率ではない。未配置は不在を意味しない。学習・接続等の横断基盤は交差表に出ない場合がある。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FA79B50-2A64-4912-A59E-359CC0E1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96393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916393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F28E4428-8ADC-4F09-A3C8-E182584E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6649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rPr>
              <a:t>補足9　開発余地は、モジュール間に残る仕事から検証する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9CCB4BBE-3691-4E64-A0DD-C8934A8A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6573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同じマップに並べた製品が接続済みという意味ではない。次の接点で顧客の負担と既存対応範囲を確認する。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78FA2-FD89-4D09-9C6D-98A43B1AE77E}"/>
              </a:ext>
            </a:extLst>
          </p:cNvPr>
          <p:cNvGraphicFramePr/>
          <p:nvPr/>
        </p:nvGraphicFramePr>
        <p:xfrm>
          <a:off xmlns:a="http://schemas.openxmlformats.org/drawingml/2006/main" x="819150" y="2667000"/>
          <a:ext xmlns:a="http://schemas.openxmlformats.org/drawingml/2006/main" cx="16649700" cy="640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6191250"/>
                <a:gridCol w="5857875"/>
                <a:gridCol w="1123950"/>
              </a:tblGrid>
              <a:tr h="6667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接点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受け渡す情報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未確認事項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候補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</a:tr>
              <a:tr h="8191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工程案と加工検証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設備・工具・保持の制約、採用した工程案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修正理由と検証結果が次の提案へ返るか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D2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信号と現象モデル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時刻・加工区間・条件・工具・品質の対応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同期・欠損・校正・正解を誰が保証するか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D1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8191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計測と加工判断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寸法・摩耗・負荷と品質・時間・費用の制約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診断の矛盾や不確実性をどう扱うか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D4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停止と再計画・復帰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設備・仕掛・工具・人員と再開条件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承認・実行権限と結果確認までつながるか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D5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8191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人の修正と学習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元の案、変更理由、採否、最終結果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入力負担と誤修正・秘匿ノウハウの扱い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D2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別設備へのモデル展開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適用条件・モデル版・評価データ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必要な追加取得と再調整の費用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D3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8191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認識と完了・復帰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作業状態・軌道・工具・完了と介入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未経験状態での失敗と復帰時間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D6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disclosure">
            <a:extLst xmlns:a="http://schemas.openxmlformats.org/drawingml/2006/main">
              <a:ext uri="{FF2B5EF4-FFF2-40B4-BE49-F238E27FC236}">
                <a16:creationId xmlns:a16="http://schemas.microsoft.com/office/drawing/2014/main" id="{0DE81916-9817-46C6-BADB-88AD91A2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63100"/>
            <a:ext cx="15621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接点の整理は分析。開発余地・市場の空白・既存製品の機能不足を実証したものではない。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85554D6-9F0B-4543-BC17-0B5C46F1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96393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720292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BBBA301C-B0A4-4CBA-9AA1-B8AF2E3F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6649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rPr>
              <a:t>補足10　顧客向け開発候補の比較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6F4829A0-3F0C-49F4-B129-475E2E91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6573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自社能力と顧客の困りごとを照合するための候補。モデル保有やAIの採用自体を目的にしない。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2CC63-E447-4960-91B5-C181C4AB8025}"/>
              </a:ext>
            </a:extLst>
          </p:cNvPr>
          <p:cNvGraphicFramePr/>
          <p:nvPr/>
        </p:nvGraphicFramePr>
        <p:xfrm>
          <a:off xmlns:a="http://schemas.openxmlformats.org/drawingml/2006/main" x="819150" y="2667000"/>
          <a:ext xmlns:a="http://schemas.openxmlformats.org/drawingml/2006/main" cx="16649700" cy="6496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4953000"/>
                <a:gridCol w="4572000"/>
                <a:gridCol w="3505200"/>
              </a:tblGrid>
              <a:tr h="6667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候補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顧客へ返す成果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既存手段との比較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必要な接点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</a:tr>
              <a:tr h="9715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D1 データ取得・品質保証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現象と品質が対応するデータ</a:t>
                      </a:r>
                    </a:p>
                    <a:p>
                      <a:r>
                        <a:rPr sz="202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開発の手戻りを減らす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計測・収集ツールだけで</a:t>
                      </a:r>
                    </a:p>
                    <a:p>
                      <a:r>
                        <a:rPr sz="202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解けない作業があるか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加工現象・計測</a:t>
                      </a:r>
                    </a:p>
                    <a:p>
                      <a:r>
                        <a:rPr sz="202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実機と品質データ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D2 工程知識の再利用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修正理由と適用条件を残し</a:t>
                      </a:r>
                    </a:p>
                    <a:p>
                      <a:r>
                        <a:rPr sz="202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準備・初品手戻りを減らす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過去ジョブ学習やCAM設定</a:t>
                      </a:r>
                    </a:p>
                    <a:p>
                      <a:r>
                        <a:rPr sz="202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との追加効果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工程知識・CAM</a:t>
                      </a:r>
                    </a:p>
                    <a:p>
                      <a:r>
                        <a:rPr sz="202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履歴と利用権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9715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D3 顧客適応・導入検証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設備差への適応を支援し</a:t>
                      </a:r>
                    </a:p>
                    <a:p>
                      <a:r>
                        <a:rPr sz="202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更新後も使える範囲を示す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既存の学習・評価だけで</a:t>
                      </a:r>
                    </a:p>
                    <a:p>
                      <a:r>
                        <a:rPr sz="202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足りるか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工程理解・評価</a:t>
                      </a:r>
                    </a:p>
                    <a:p>
                      <a:r>
                        <a:rPr sz="202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複数設備の検証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D4 工程の統合判断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品質・工具・時間を踏まえ</a:t>
                      </a:r>
                    </a:p>
                    <a:p>
                      <a:r>
                        <a:rPr sz="202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続行・変更・交換を支援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既存補正と監視の組合せ</a:t>
                      </a:r>
                    </a:p>
                    <a:p>
                      <a:r>
                        <a:rPr sz="202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との総合成果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計測・工具・制御</a:t>
                      </a:r>
                    </a:p>
                    <a:p>
                      <a:r>
                        <a:rPr sz="202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品質責任の合意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9715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D5 例外業務の運用支援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停止・不足から代替案と</a:t>
                      </a:r>
                    </a:p>
                    <a:p>
                      <a:r>
                        <a:rPr sz="202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復帰確認までの負担を減らす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既存MES・計画系の設定</a:t>
                      </a:r>
                    </a:p>
                    <a:p>
                      <a:r>
                        <a:rPr sz="202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との違い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業務設計・API</a:t>
                      </a:r>
                    </a:p>
                    <a:p>
                      <a:r>
                        <a:rPr sz="202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顧客工場の権限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D6 変動する付帯作業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切粉等の作業を完了確認と</a:t>
                      </a:r>
                    </a:p>
                    <a:p>
                      <a:r>
                        <a:rPr sz="202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復帰まで含めて自律化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固定機構・既存認識方式</a:t>
                      </a:r>
                    </a:p>
                    <a:p>
                      <a:r>
                        <a:rPr sz="202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との教示・介入の差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作業・工具の知見</a:t>
                      </a:r>
                    </a:p>
                    <a:p>
                      <a:r>
                        <a:rPr sz="202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ロボットSI・実験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4" name="disclosure">
            <a:extLst xmlns:a="http://schemas.openxmlformats.org/drawingml/2006/main">
              <a:ext uri="{FF2B5EF4-FFF2-40B4-BE49-F238E27FC236}">
                <a16:creationId xmlns:a16="http://schemas.microsoft.com/office/drawing/2014/main" id="{A9F73654-7235-405F-8BCA-4EB39D44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63100"/>
            <a:ext cx="15621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D1とD3は加工現象・計測に強みがある場合の優先案。自社能力・需要・支払意思は未確認。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9A47EB8-2755-439B-B6F0-E1562DB3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96393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729913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heading">
            <a:extLst xmlns:a="http://schemas.openxmlformats.org/drawingml/2006/main">
              <a:ext uri="{FF2B5EF4-FFF2-40B4-BE49-F238E27FC236}">
                <a16:creationId xmlns:a16="http://schemas.microsoft.com/office/drawing/2014/main" id="{4F3F05F4-543B-481F-A285-AA6C104B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6649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rPr>
              <a:t>補足11　データ取得・活用の組合せ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3C3C7FC4-7D43-40AB-8EAA-95EDCC16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6573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自社取得、共同取得、外部基盤、既存モデルの利用を、開発目的に応じて選ぶ。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7E4A1B-4E1A-43BF-B41E-49E599C1FE1D}"/>
              </a:ext>
            </a:extLst>
          </p:cNvPr>
          <p:cNvGraphicFramePr/>
          <p:nvPr/>
        </p:nvGraphicFramePr>
        <p:xfrm>
          <a:off xmlns:a="http://schemas.openxmlformats.org/drawingml/2006/main" x="819150" y="2667000"/>
          <a:ext xmlns:a="http://schemas.openxmlformats.org/drawingml/2006/main" cx="16649700" cy="623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4333875"/>
                <a:gridCol w="4333875"/>
                <a:gridCol w="4171950"/>
              </a:tblGrid>
              <a:tr h="7143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経路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向く用途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自社で持つ役割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事前に確認すること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</a:tr>
              <a:tr h="1381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自社で取得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現象モデル、品質との対応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限定工程の適応・評価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測定条件と正解を揃える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工程知識と評価方法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実機・計測・データ利用権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自社条件だけへの偏り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81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顧客・装置メーカーと</a:t>
                      </a:r>
                    </a:p>
                    <a:p>
                      <a:r>
                        <a:rPr sz="2175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共同取得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実運用、希少な異常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設備差、人の修正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顧客課題と現場条件の整理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取得・評価と便益の還元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取得負担・試験と停止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所有・学習利用の合意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1381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外部基盤・研究連携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一般的な学習・比較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共同研究と技術検証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目的と必要項目を示す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顧客固有データを補完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提供時期・項目・商用利用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参加とデータ権利は別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81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既存・物理モデルを利用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限定工程の予測・補正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少量データでの適応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適用範囲と設備差の評価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更新・復帰の手順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入出力・ライセンス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顧客環境での独立評価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4" name="ref-S01">
            <a:extLst xmlns:a="http://schemas.openxmlformats.org/drawingml/2006/main">
              <a:ext uri="{FF2B5EF4-FFF2-40B4-BE49-F238E27FC236}">
                <a16:creationId xmlns:a16="http://schemas.microsoft.com/office/drawing/2014/main" id="{81D52589-91A1-4ABB-9222-0BA56BA7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61152ac11ded4b43"/>
              </a:rPr>
              <a:t>S01</a:t>
            </a:r>
          </a:p>
        </p:txBody>
      </p:sp>
      <p:sp>
        <p:nvSpPr>
          <p:cNvPr id="5" name="ref-S02">
            <a:extLst xmlns:a="http://schemas.openxmlformats.org/drawingml/2006/main">
              <a:ext uri="{FF2B5EF4-FFF2-40B4-BE49-F238E27FC236}">
                <a16:creationId xmlns:a16="http://schemas.microsoft.com/office/drawing/2014/main" id="{AC3D9C3B-8A80-46DC-9876-9DE75D4C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80326b3c4a894ad8"/>
              </a:rPr>
              <a:t>S02</a:t>
            </a:r>
          </a:p>
        </p:txBody>
      </p:sp>
      <p:sp>
        <p:nvSpPr>
          <p:cNvPr id="6" name="ref-S31">
            <a:extLst xmlns:a="http://schemas.openxmlformats.org/drawingml/2006/main">
              <a:ext uri="{FF2B5EF4-FFF2-40B4-BE49-F238E27FC236}">
                <a16:creationId xmlns:a16="http://schemas.microsoft.com/office/drawing/2014/main" id="{99341688-1934-4B92-9866-43F48CDF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009a828feb304f9c"/>
              </a:rPr>
              <a:t>S31</a:t>
            </a:r>
          </a:p>
        </p:txBody>
      </p:sp>
      <p:sp>
        <p:nvSpPr>
          <p:cNvPr id="7" name="ref-S35">
            <a:extLst xmlns:a="http://schemas.openxmlformats.org/drawingml/2006/main">
              <a:ext uri="{FF2B5EF4-FFF2-40B4-BE49-F238E27FC236}">
                <a16:creationId xmlns:a16="http://schemas.microsoft.com/office/drawing/2014/main" id="{00D4F80B-58C8-444E-BB9A-F048610A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f1cdfa4e5411425f"/>
              </a:rPr>
              <a:t>S35</a:t>
            </a:r>
          </a:p>
        </p:txBody>
      </p:sp>
      <p:sp>
        <p:nvSpPr>
          <p:cNvPr id="8" name="ref-S37">
            <a:extLst xmlns:a="http://schemas.openxmlformats.org/drawingml/2006/main">
              <a:ext uri="{FF2B5EF4-FFF2-40B4-BE49-F238E27FC236}">
                <a16:creationId xmlns:a16="http://schemas.microsoft.com/office/drawing/2014/main" id="{A8005CA0-B382-42C3-A109-9E998D4A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0b916f1a051e469c"/>
              </a:rPr>
              <a:t>S37</a:t>
            </a:r>
          </a:p>
        </p:txBody>
      </p:sp>
      <p:sp>
        <p:nvSpPr>
          <p:cNvPr id="9" name="ref-S38">
            <a:extLst xmlns:a="http://schemas.openxmlformats.org/drawingml/2006/main">
              <a:ext uri="{FF2B5EF4-FFF2-40B4-BE49-F238E27FC236}">
                <a16:creationId xmlns:a16="http://schemas.microsoft.com/office/drawing/2014/main" id="{A235D5EC-A8A1-47DD-B7EC-2A0013FB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e51e3ab819c24d8c"/>
              </a:rPr>
              <a:t>S38</a:t>
            </a:r>
          </a:p>
        </p:txBody>
      </p:sp>
      <p:sp>
        <p:nvSpPr>
          <p:cNvPr id="10" name="ref-S40">
            <a:extLst xmlns:a="http://schemas.openxmlformats.org/drawingml/2006/main">
              <a:ext uri="{FF2B5EF4-FFF2-40B4-BE49-F238E27FC236}">
                <a16:creationId xmlns:a16="http://schemas.microsoft.com/office/drawing/2014/main" id="{B065B410-C043-4CB1-8A8E-EB4A9FC9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7bd0382bd4ce4851"/>
              </a:rPr>
              <a:t>S40</a:t>
            </a:r>
          </a:p>
        </p:txBody>
      </p:sp>
      <p:sp>
        <p:nvSpPr>
          <p:cNvPr id="11" name="disclosure">
            <a:extLst xmlns:a="http://schemas.openxmlformats.org/drawingml/2006/main">
              <a:ext uri="{FF2B5EF4-FFF2-40B4-BE49-F238E27FC236}">
                <a16:creationId xmlns:a16="http://schemas.microsoft.com/office/drawing/2014/main" id="{43E61050-FCFE-45D6-857C-DFE1D5B9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63100"/>
            <a:ext cx="15621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MOCOの入会窓口は確認。入会で製造AX・GENIACデータの利用権を得られるとは確認していない。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72D55C55-E5DF-4724-AB2D-DB5F535A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96393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185857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heading">
            <a:extLst xmlns:a="http://schemas.openxmlformats.org/drawingml/2006/main">
              <a:ext uri="{FF2B5EF4-FFF2-40B4-BE49-F238E27FC236}">
                <a16:creationId xmlns:a16="http://schemas.microsoft.com/office/drawing/2014/main" id="{7460B374-1F33-43A7-97B6-B35DEEB3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6649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rPr>
              <a:t>補足12　継続サービスの価値と採算を分けて確認する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944965BD-00CB-4963-AB5C-D39B84BE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6573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運用データを改善に返す仕組みはある。利益率の向上まで成立するかは、顧客成果と提供費用の両面で評価する。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618FA-DC31-4122-ACC2-EA0EDA2D475B}"/>
              </a:ext>
            </a:extLst>
          </p:cNvPr>
          <p:cNvGraphicFramePr/>
          <p:nvPr/>
        </p:nvGraphicFramePr>
        <p:xfrm>
          <a:off xmlns:a="http://schemas.openxmlformats.org/drawingml/2006/main" x="819150" y="2667000"/>
          <a:ext xmlns:a="http://schemas.openxmlformats.org/drawingml/2006/main" cx="16649700" cy="623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7620000"/>
                <a:gridCol w="5219700"/>
              </a:tblGrid>
              <a:tr h="7143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事業のつながり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根拠・位置づけ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追加確認が必要な条件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</a:tr>
              <a:tr h="1381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運用・保守データを蓄積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MROの経験を診断や開発へ返す説明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DMG森精機の取材・統合報告 [S24,S25,S29]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学習に使える内容と権利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異常・介入の記録品質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81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診断・支援・更新を継続提供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Condition Agent、デジタルサービス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学習ツールの継続課金例 [S26,S28,S36]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利用が続く理由と契約範囲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顧客別の対応負担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1381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顧客の成果を改善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準備・不良・停止・工具等の負担削減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候補サービスで検証する分析仮説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現行運用と同じ条件で比較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入力・調整・監視の残作業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81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提供側の採算が成立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利益率向上は今回の資料で未実証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MRO等の開示とAI単体を区別 [S27]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取得・注釈・推論・現場対応費</a:t>
                      </a:r>
                    </a:p>
                    <a:p>
                      <a:r>
                        <a:rPr sz="2175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導入部分の再利用性と継続率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4" name="ref-S20">
            <a:extLst xmlns:a="http://schemas.openxmlformats.org/drawingml/2006/main">
              <a:ext uri="{FF2B5EF4-FFF2-40B4-BE49-F238E27FC236}">
                <a16:creationId xmlns:a16="http://schemas.microsoft.com/office/drawing/2014/main" id="{4A8297B5-D151-4ACA-8BC9-3436815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61b0093bf1b74dbd"/>
              </a:rPr>
              <a:t>S20</a:t>
            </a:r>
          </a:p>
        </p:txBody>
      </p:sp>
      <p:sp>
        <p:nvSpPr>
          <p:cNvPr id="5" name="ref-S24">
            <a:extLst xmlns:a="http://schemas.openxmlformats.org/drawingml/2006/main">
              <a:ext uri="{FF2B5EF4-FFF2-40B4-BE49-F238E27FC236}">
                <a16:creationId xmlns:a16="http://schemas.microsoft.com/office/drawing/2014/main" id="{4DC899D9-B588-4582-9C41-4C6FC2AC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187542216b1e42ae"/>
              </a:rPr>
              <a:t>S24</a:t>
            </a:r>
          </a:p>
        </p:txBody>
      </p:sp>
      <p:sp>
        <p:nvSpPr>
          <p:cNvPr id="6" name="ref-S25">
            <a:extLst xmlns:a="http://schemas.openxmlformats.org/drawingml/2006/main">
              <a:ext uri="{FF2B5EF4-FFF2-40B4-BE49-F238E27FC236}">
                <a16:creationId xmlns:a16="http://schemas.microsoft.com/office/drawing/2014/main" id="{6FA262EA-E78C-4EF5-971B-9BC53BD3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4b3e1c470216465d"/>
              </a:rPr>
              <a:t>S25</a:t>
            </a:r>
          </a:p>
        </p:txBody>
      </p:sp>
      <p:sp>
        <p:nvSpPr>
          <p:cNvPr id="7" name="ref-S26">
            <a:extLst xmlns:a="http://schemas.openxmlformats.org/drawingml/2006/main">
              <a:ext uri="{FF2B5EF4-FFF2-40B4-BE49-F238E27FC236}">
                <a16:creationId xmlns:a16="http://schemas.microsoft.com/office/drawing/2014/main" id="{19DB1323-85D9-45CB-9BC6-203C945E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0f5aa73a9de646d1"/>
              </a:rPr>
              <a:t>S26</a:t>
            </a:r>
          </a:p>
        </p:txBody>
      </p:sp>
      <p:sp>
        <p:nvSpPr>
          <p:cNvPr id="8" name="ref-S27">
            <a:extLst xmlns:a="http://schemas.openxmlformats.org/drawingml/2006/main">
              <a:ext uri="{FF2B5EF4-FFF2-40B4-BE49-F238E27FC236}">
                <a16:creationId xmlns:a16="http://schemas.microsoft.com/office/drawing/2014/main" id="{84AD3293-7494-4008-90D0-B7B413DF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5d1a0a6e222a46a1"/>
              </a:rPr>
              <a:t>S27</a:t>
            </a:r>
          </a:p>
        </p:txBody>
      </p:sp>
      <p:sp>
        <p:nvSpPr>
          <p:cNvPr id="9" name="ref-S28">
            <a:extLst xmlns:a="http://schemas.openxmlformats.org/drawingml/2006/main">
              <a:ext uri="{FF2B5EF4-FFF2-40B4-BE49-F238E27FC236}">
                <a16:creationId xmlns:a16="http://schemas.microsoft.com/office/drawing/2014/main" id="{0309B7DB-9830-41FD-BEA4-B06E0606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e483db010203495a"/>
              </a:rPr>
              <a:t>S28</a:t>
            </a:r>
          </a:p>
        </p:txBody>
      </p:sp>
      <p:sp>
        <p:nvSpPr>
          <p:cNvPr id="10" name="ref-S29">
            <a:extLst xmlns:a="http://schemas.openxmlformats.org/drawingml/2006/main">
              <a:ext uri="{FF2B5EF4-FFF2-40B4-BE49-F238E27FC236}">
                <a16:creationId xmlns:a16="http://schemas.microsoft.com/office/drawing/2014/main" id="{27FF93E9-1B8D-4FBA-80BE-50FDA7BD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40037de83a304acc"/>
              </a:rPr>
              <a:t>S29</a:t>
            </a:r>
          </a:p>
        </p:txBody>
      </p:sp>
      <p:sp>
        <p:nvSpPr>
          <p:cNvPr id="11" name="ref-S36">
            <a:extLst xmlns:a="http://schemas.openxmlformats.org/drawingml/2006/main">
              <a:ext uri="{FF2B5EF4-FFF2-40B4-BE49-F238E27FC236}">
                <a16:creationId xmlns:a16="http://schemas.microsoft.com/office/drawing/2014/main" id="{54CCFA52-A110-45D1-AD89-EDF67411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1cc6970e4aea452f"/>
              </a:rPr>
              <a:t>S36</a:t>
            </a:r>
          </a:p>
        </p:txBody>
      </p:sp>
      <p:sp>
        <p:nvSpPr>
          <p:cNvPr id="12" name="disclosure">
            <a:extLst xmlns:a="http://schemas.openxmlformats.org/drawingml/2006/main">
              <a:ext uri="{FF2B5EF4-FFF2-40B4-BE49-F238E27FC236}">
                <a16:creationId xmlns:a16="http://schemas.microsoft.com/office/drawing/2014/main" id="{A43DB933-682D-4F71-A44D-93228A2F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63100"/>
            <a:ext cx="15621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売上・利益の予測値は置いていない。自社導入は、顧客向けサービスのデータ取得・運用費検証にも使える。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A62E50CF-0FCF-439F-A739-64C43BB3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96393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199845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ing">
            <a:extLst xmlns:a="http://schemas.openxmlformats.org/drawingml/2006/main">
              <a:ext uri="{FF2B5EF4-FFF2-40B4-BE49-F238E27FC236}">
                <a16:creationId xmlns:a16="http://schemas.microsoft.com/office/drawing/2014/main" id="{0AEEC100-C529-4755-BA8E-333D14D0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6649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rPr>
              <a:t>補足13　訪問先と、開発判断につながる確認事項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5F7DF839-DDDD-40AE-B449-47644B9D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6573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ブースは既存2026公式CSVから照合。直前の配置と当日の展示内容は公式案内で再確認する。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8F4BFD-953A-4A16-84E2-4B955609EA12}"/>
              </a:ext>
            </a:extLst>
          </p:cNvPr>
          <p:cNvGraphicFramePr/>
          <p:nvPr/>
        </p:nvGraphicFramePr>
        <p:xfrm>
          <a:off xmlns:a="http://schemas.openxmlformats.org/drawingml/2006/main" x="819150" y="2667000"/>
          <a:ext xmlns:a="http://schemas.openxmlformats.org/drawingml/2006/main" cx="16649700" cy="6200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38875"/>
                <a:gridCol w="7048500"/>
                <a:gridCol w="3362325"/>
              </a:tblGrid>
              <a:tr h="7143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訪問先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具体的な問い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回答の使い道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</a:tr>
              <a:tr h="91440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DMG森精機 E8005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データの参加・提供条件、計画と実績</a:t>
                      </a:r>
                    </a:p>
                    <a:p>
                      <a:r>
                        <a:rPr sz="19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品質との対応、商用・学習利用の権利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D1・D3の取得戦略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マザック E1001</a:t>
                      </a:r>
                    </a:p>
                    <a:p>
                      <a:r>
                        <a:rPr sz="195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Hexagon E2013 / E7035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加工意図と修正理由、顧客適応</a:t>
                      </a:r>
                    </a:p>
                    <a:p>
                      <a:r>
                        <a:rPr sz="19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既存CAMに残る準備・変更作業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D2の補完価値と協業の接点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91440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ファナック S2001</a:t>
                      </a:r>
                    </a:p>
                    <a:p>
                      <a:r>
                        <a:rPr sz="195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TAKISAWA E3013 / TED E7073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設備・対象変更時の適応、完了判定</a:t>
                      </a:r>
                    </a:p>
                    <a:p>
                      <a:r>
                        <a:rPr sz="19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失敗・人の介入・復帰とタクト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D3・D6の実用範囲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Beckhoff E2028</a:t>
                      </a:r>
                    </a:p>
                    <a:p>
                      <a:r>
                        <a:rPr sz="195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三菱電機 S2003 / キスラー S4031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必要な信号・同期・ラベル・モデル評価</a:t>
                      </a:r>
                    </a:p>
                    <a:p>
                      <a:r>
                        <a:rPr sz="19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既存ツールが扱う範囲と追加負担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D1・D3の重複と差別化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91440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レニショー E7089</a:t>
                      </a:r>
                    </a:p>
                    <a:p>
                      <a:r>
                        <a:rPr sz="195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ブルーム E7084 / モリマシナリー S3048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補正・工具寿命・計測の連携</a:t>
                      </a:r>
                    </a:p>
                    <a:p>
                      <a:r>
                        <a:rPr sz="19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異常値、競合する判断、品質責任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D4の追加価値と必要な権限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たけびし S3015 / CEC E2006</a:t>
                      </a:r>
                    </a:p>
                    <a:p>
                      <a:r>
                        <a:rPr sz="195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ものレボ W3042 / FNS E2034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状態と制約の意味、計画変更と実行</a:t>
                      </a:r>
                    </a:p>
                    <a:p>
                      <a:r>
                        <a:rPr sz="19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停止後の結果確認、個別設定工数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D5の再利用部分と個別SI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4" name="ref-S02">
            <a:extLst xmlns:a="http://schemas.openxmlformats.org/drawingml/2006/main">
              <a:ext uri="{FF2B5EF4-FFF2-40B4-BE49-F238E27FC236}">
                <a16:creationId xmlns:a16="http://schemas.microsoft.com/office/drawing/2014/main" id="{7BA73574-C6A4-40F2-9B3B-CAA88E41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04ad6a5ffe5a4bc5"/>
              </a:rPr>
              <a:t>S02</a:t>
            </a:r>
          </a:p>
        </p:txBody>
      </p:sp>
      <p:sp>
        <p:nvSpPr>
          <p:cNvPr id="5" name="ref-S05">
            <a:extLst xmlns:a="http://schemas.openxmlformats.org/drawingml/2006/main">
              <a:ext uri="{FF2B5EF4-FFF2-40B4-BE49-F238E27FC236}">
                <a16:creationId xmlns:a16="http://schemas.microsoft.com/office/drawing/2014/main" id="{9AA4434B-B418-48BF-B4A2-10CD3A0B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e6241532620c4f3d"/>
              </a:rPr>
              <a:t>S05</a:t>
            </a:r>
          </a:p>
        </p:txBody>
      </p:sp>
      <p:sp>
        <p:nvSpPr>
          <p:cNvPr id="6" name="ref-S06">
            <a:extLst xmlns:a="http://schemas.openxmlformats.org/drawingml/2006/main">
              <a:ext uri="{FF2B5EF4-FFF2-40B4-BE49-F238E27FC236}">
                <a16:creationId xmlns:a16="http://schemas.microsoft.com/office/drawing/2014/main" id="{0BBBD182-C081-4D3C-BE58-91FA2B00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2f96128831b94790"/>
              </a:rPr>
              <a:t>S06</a:t>
            </a:r>
          </a:p>
        </p:txBody>
      </p:sp>
      <p:sp>
        <p:nvSpPr>
          <p:cNvPr id="7" name="ref-S35">
            <a:extLst xmlns:a="http://schemas.openxmlformats.org/drawingml/2006/main">
              <a:ext uri="{FF2B5EF4-FFF2-40B4-BE49-F238E27FC236}">
                <a16:creationId xmlns:a16="http://schemas.microsoft.com/office/drawing/2014/main" id="{847A90B3-3C6A-45FD-B663-A3005061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40b8f6d7a4f84953"/>
              </a:rPr>
              <a:t>S35</a:t>
            </a:r>
          </a:p>
        </p:txBody>
      </p:sp>
      <p:sp>
        <p:nvSpPr>
          <p:cNvPr id="8" name="disclosure">
            <a:extLst xmlns:a="http://schemas.openxmlformats.org/drawingml/2006/main">
              <a:ext uri="{FF2B5EF4-FFF2-40B4-BE49-F238E27FC236}">
                <a16:creationId xmlns:a16="http://schemas.microsoft.com/office/drawing/2014/main" id="{256A825F-69FC-479C-95F5-2884B089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63100"/>
            <a:ext cx="15621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質問中の戦略が全て当該ブースで展示されるとは限らない。公式説明、担当者説明、実演観察を区別して記録する。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8AEC1B37-97EA-4A6D-9CD0-5D425978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96393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864925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6946FADC-A7A8-4B7B-A598-73F76492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6649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rPr>
              <a:t>補足14　主要企業の確認表 1/3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53CC8E61-C523-4454-B88E-3DF43FA3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6573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33社を確認対象に保持。表の役割は公開説明の要旨と分析であり、AI使用・接続実績を一律に認定しない。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7A1253-4029-4064-85BB-83CCA9DBEA1B}"/>
              </a:ext>
            </a:extLst>
          </p:cNvPr>
          <p:cNvGraphicFramePr/>
          <p:nvPr/>
        </p:nvGraphicFramePr>
        <p:xfrm>
          <a:off xmlns:a="http://schemas.openxmlformats.org/drawingml/2006/main" x="819150" y="2667000"/>
          <a:ext xmlns:a="http://schemas.openxmlformats.org/drawingml/2006/main" cx="16649700" cy="6591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2381250"/>
                <a:gridCol w="7239000"/>
                <a:gridCol w="2076450"/>
              </a:tblGrid>
              <a:tr h="619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企業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ブース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見る技術と役割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台帳の状況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</a:tr>
              <a:tr h="5429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DMG森精機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E8005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工程集約、AMR、ワーク・パレット供給、運用支援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カードあり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ヤマザキマザック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E1001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複合加工と自動化、AI活用。工程案・顧客適応を確認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カードあり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5429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オークマ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E3028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機内ロボット、供給、熱変位制御と加工支援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カードあり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牧野フライス製作所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E1024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パレット供給、MAS、ライン設計・保守の組合せ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カードあり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5429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ファナック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S2001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CNC・ロボット・ツイン。生成AIと物理作業の範囲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カードあり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三菱電機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S2003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CNCの監視・省人化、保守、計画と加工データ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カードあり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5429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シーメンス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E3006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CAD/CAM、工程内品質、工作機械ツイン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カードあり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ジェイテクト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E8003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研削・加工ソリューションと省人化の構成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カードあり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5429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ニデックマシンツール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E3011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歯車加工・工程集約、デジタルツインの説明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カードあり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ニデックオーケーケー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E3012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加工機とローダ等による自動化の構成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カードあり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5429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ソディック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E2017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放電・加工と自動化。具体的な連携範囲を確認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カードあり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disclosure">
            <a:extLst xmlns:a="http://schemas.openxmlformats.org/drawingml/2006/main">
              <a:ext uri="{FF2B5EF4-FFF2-40B4-BE49-F238E27FC236}">
                <a16:creationId xmlns:a16="http://schemas.microsoft.com/office/drawing/2014/main" id="{E430272A-9174-4598-B097-44CAB540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63100"/>
            <a:ext cx="15621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ブースは既存公式CSV。カードの深度は混在。本文不足・カード未整理を、出展や技術の不在とは扱わない。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ADED944-EF10-45EA-800F-7E502837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96393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87022210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BA503CC0-1BFB-41F5-862C-AD81F357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6649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rPr>
              <a:t>補足15　主要企業の確認表 2/3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EA6909A2-9673-463F-A822-73870FEC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6573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33社を確認対象に保持。表の役割は公開説明の要旨と分析であり、AI使用・接続実績を一律に認定しない。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574E8-EFCD-430C-9739-2A5DB50D338D}"/>
              </a:ext>
            </a:extLst>
          </p:cNvPr>
          <p:cNvGraphicFramePr/>
          <p:nvPr/>
        </p:nvGraphicFramePr>
        <p:xfrm>
          <a:off xmlns:a="http://schemas.openxmlformats.org/drawingml/2006/main" x="819150" y="2667000"/>
          <a:ext xmlns:a="http://schemas.openxmlformats.org/drawingml/2006/main" cx="16649700" cy="6591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2381250"/>
                <a:gridCol w="7239000"/>
                <a:gridCol w="2076450"/>
              </a:tblGrid>
              <a:tr h="619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企業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ブース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見る技術と役割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台帳の状況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</a:tr>
              <a:tr h="5429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アマダ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E2012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レーザ・研削・プレスと周辺工程の自動化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カードあり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ブラザー工業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E1055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工具搭載数・5軸と複合加工による段取り負担低減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詳細追加確認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5429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松浦機械製作所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E3030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多パレット・MiOS、加工データと供給の連携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カードあり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シチズンマシナリー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S2002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自動旋盤と付帯作業・供給の省人化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カードあり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5429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スター精密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S1003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自動旋盤と周辺工程。条件変更時の作業を確認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カードあり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ツガミ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S1004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精密自動旋盤と供給・自動化への対応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カードあり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5429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オーエスジー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W1070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切削工具と加工課題へのソリューション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カードあり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三菱マテリアル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W1065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工具・材種・加工ソリューション、超硬リサイクル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詳細追加確認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5429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京セラ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W1046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工具と加工ソリューション。安定加工・段取りを確認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カードあり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タンガロイ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W1090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工具の多機能化と加工の効率・安定化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カードあり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5429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ミツトヨ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E3008 / E7085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自動測定、測定プログラムと工程データ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カードあり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disclosure">
            <a:extLst xmlns:a="http://schemas.openxmlformats.org/drawingml/2006/main">
              <a:ext uri="{FF2B5EF4-FFF2-40B4-BE49-F238E27FC236}">
                <a16:creationId xmlns:a16="http://schemas.microsoft.com/office/drawing/2014/main" id="{F1B20DC3-AB9B-4119-96A5-108FACB0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63100"/>
            <a:ext cx="15621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ブースは既存公式CSV。カードの深度は混在。本文不足・カード未整理を、出展や技術の不在とは扱わない。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4EC5488-5C04-455E-A92C-1343CA76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96393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62858579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8AE67886-659E-4C81-BA0C-301C3A77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6649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rPr>
              <a:t>補足16　主要企業の確認表 3/3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92FD810A-D8DA-44EC-AF73-94697FB2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6573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33社を確認対象に保持。表の役割は公開説明の要旨と分析であり、AI使用・接続実績を一律に認定しない。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4DBED-3390-49D9-A3BE-D23220FCA4B0}"/>
              </a:ext>
            </a:extLst>
          </p:cNvPr>
          <p:cNvGraphicFramePr/>
          <p:nvPr/>
        </p:nvGraphicFramePr>
        <p:xfrm>
          <a:off xmlns:a="http://schemas.openxmlformats.org/drawingml/2006/main" x="819150" y="2667000"/>
          <a:ext xmlns:a="http://schemas.openxmlformats.org/drawingml/2006/main" cx="16649700" cy="6591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2381250"/>
                <a:gridCol w="7239000"/>
                <a:gridCol w="2076450"/>
              </a:tblGrid>
              <a:tr h="619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企業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ブース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見る技術と役割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台帳の状況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</a:tr>
              <a:tr h="5429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東京精密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E7044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2026本文未取得。自動測定・品質データ接続を確認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詳細追加確認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レニショー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E7089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計測結果と工具オフセットのフィードバック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カードあり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5429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ハイデンハイン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E7043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工具計測・摩耗診断とCNCへの接点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カードあり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ベッコフオートメーション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E2028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制御設計・運用のAI支援、信号取得とモデル作成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カードあり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5429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Hexagon Manufacturing Intelligence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E7035 / E2013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工程予測、CAM、計測と品質ソフトウェア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カードあり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住友電気工業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W1027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工具寿命・安定加工、工程集約と段取り低減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詳細追加確認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5429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中村留精密工業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E2027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供給自動化と配置変更後の位置復旧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カードあり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FUJI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E3021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加工と周辺工程の自動化。人の残作業を確認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カードあり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5429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TAKISAWA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E3013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切粉処理の参考出品、認識・除去・復帰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カードあり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オートデスク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S3019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CAD/CAMとPLM・AI支援の連携範囲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カードあり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5429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ニコン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E7001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画像・CT等の計測とロボットビジョン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カードあり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disclosure">
            <a:extLst xmlns:a="http://schemas.openxmlformats.org/drawingml/2006/main">
              <a:ext uri="{FF2B5EF4-FFF2-40B4-BE49-F238E27FC236}">
                <a16:creationId xmlns:a16="http://schemas.microsoft.com/office/drawing/2014/main" id="{522BE126-633C-4958-A1EC-2865032E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63100"/>
            <a:ext cx="15621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ブースは既存公式CSV。カードの深度は混在。本文不足・カード未整理を、出展や技術の不在とは扱わない。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67828CC-F3FD-48DB-A139-33AF1899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96393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93777137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ing">
            <a:extLst xmlns:a="http://schemas.openxmlformats.org/drawingml/2006/main">
              <a:ext uri="{FF2B5EF4-FFF2-40B4-BE49-F238E27FC236}">
                <a16:creationId xmlns:a16="http://schemas.microsoft.com/office/drawing/2014/main" id="{5037C6EE-7B38-4C35-9763-197F2F3C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16649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83C4D"/>
                </a:solidFill>
                <a:latin typeface="Noto Sans JP"/>
                <a:ea typeface="Noto Sans JP"/>
                <a:cs typeface="Noto Sans JP"/>
              </a:rPr>
              <a:t>補足17　現地確認後に更新する判断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E7831F08-3E66-40FD-B43E-7E44F9D1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6573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事前の見立てを、展示の実態と顧客の困りごとで検証し、開発・協業・既存製品活用の範囲を絞る。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1D140-5EBB-48EE-9271-021160E1DAF2}"/>
              </a:ext>
            </a:extLst>
          </p:cNvPr>
          <p:cNvGraphicFramePr/>
          <p:nvPr/>
        </p:nvGraphicFramePr>
        <p:xfrm>
          <a:off xmlns:a="http://schemas.openxmlformats.org/drawingml/2006/main" x="819150" y="2667000"/>
          <a:ext xmlns:a="http://schemas.openxmlformats.org/drawingml/2006/main" cx="16649700" cy="623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6762750"/>
                <a:gridCol w="6362700"/>
              </a:tblGrid>
              <a:tr h="7143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判断の軸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今回わかっていること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現地・顧客で追加する根拠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T w="9525">
                      <a:solidFill>
                        <a:srgbClr val="CFDADF"/>
                      </a:solidFill>
                      <a:prstDash val="solid"/>
                    </a:lnT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183C4D"/>
                    </a:solidFill>
                  </a:tcPr>
                </a:tc>
              </a:tr>
              <a:tr h="1381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方向性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データ・顧客適応・工程連携へ向かう</a:t>
                      </a:r>
                    </a:p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複数の計画と既存技術がある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展示と販売の違い、実用条件</a:t>
                      </a:r>
                    </a:p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実顧客への導入と継続運用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81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独自性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D1〜D6の補完価値を仮説化</a:t>
                      </a:r>
                    </a:p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既存の代替手段も併記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既存機能で残る負担の具体例</a:t>
                      </a:r>
                    </a:p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追加開発で改善できる成果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1381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自社適合性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必要な工程理解・計測・連携等を整理</a:t>
                      </a:r>
                    </a:p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具体的な自社能力は未確認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得意工程、顧客接点、実機</a:t>
                      </a:r>
                    </a:p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データ・API・評価へのアクセス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81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事業性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ADF"/>
                      </a:solidFill>
                      <a:prstDash val="solid"/>
                    </a:lnL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継続提供の例はある</a:t>
                      </a:r>
                    </a:p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採算向上の因果は未実証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支払意思、導入・運用の費用</a:t>
                      </a:r>
                    </a:p>
                    <a:p>
                      <a:r>
                        <a:rPr sz="2250" b="0">
                          <a:solidFill>
                            <a:srgbClr val="183C4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再利用部分と顧客別の対応量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ADF"/>
                      </a:solidFill>
                      <a:prstDash val="solid"/>
                    </a:lnR>
                    <a:lnB w="9525">
                      <a:solidFill>
                        <a:srgbClr val="CFDADF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4" name="ref-S01">
            <a:extLst xmlns:a="http://schemas.openxmlformats.org/drawingml/2006/main">
              <a:ext uri="{FF2B5EF4-FFF2-40B4-BE49-F238E27FC236}">
                <a16:creationId xmlns:a16="http://schemas.microsoft.com/office/drawing/2014/main" id="{E15BF0B0-AED3-4C95-8B6D-9036F4FE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119d1854c557459c"/>
              </a:rPr>
              <a:t>S01</a:t>
            </a:r>
          </a:p>
        </p:txBody>
      </p:sp>
      <p:sp>
        <p:nvSpPr>
          <p:cNvPr id="5" name="ref-S06">
            <a:extLst xmlns:a="http://schemas.openxmlformats.org/drawingml/2006/main">
              <a:ext uri="{FF2B5EF4-FFF2-40B4-BE49-F238E27FC236}">
                <a16:creationId xmlns:a16="http://schemas.microsoft.com/office/drawing/2014/main" id="{7EDAAD1F-76E5-4F8C-B8F6-164C020B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a20f6938bb1a4413"/>
              </a:rPr>
              <a:t>S06</a:t>
            </a:r>
          </a:p>
        </p:txBody>
      </p:sp>
      <p:sp>
        <p:nvSpPr>
          <p:cNvPr id="6" name="ref-S14">
            <a:extLst xmlns:a="http://schemas.openxmlformats.org/drawingml/2006/main">
              <a:ext uri="{FF2B5EF4-FFF2-40B4-BE49-F238E27FC236}">
                <a16:creationId xmlns:a16="http://schemas.microsoft.com/office/drawing/2014/main" id="{2373000F-48F4-485D-AF78-73CC4934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83c2130b074347a5"/>
              </a:rPr>
              <a:t>S14</a:t>
            </a:r>
          </a:p>
        </p:txBody>
      </p:sp>
      <p:sp>
        <p:nvSpPr>
          <p:cNvPr id="7" name="ref-S21">
            <a:extLst xmlns:a="http://schemas.openxmlformats.org/drawingml/2006/main">
              <a:ext uri="{FF2B5EF4-FFF2-40B4-BE49-F238E27FC236}">
                <a16:creationId xmlns:a16="http://schemas.microsoft.com/office/drawing/2014/main" id="{40423923-A898-43CF-B38A-8152781F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d8f4b7e3819b4d00"/>
              </a:rPr>
              <a:t>S21</a:t>
            </a:r>
          </a:p>
        </p:txBody>
      </p:sp>
      <p:sp>
        <p:nvSpPr>
          <p:cNvPr id="8" name="ref-S27">
            <a:extLst xmlns:a="http://schemas.openxmlformats.org/drawingml/2006/main">
              <a:ext uri="{FF2B5EF4-FFF2-40B4-BE49-F238E27FC236}">
                <a16:creationId xmlns:a16="http://schemas.microsoft.com/office/drawing/2014/main" id="{143ACBAA-6446-4799-8AE4-E796C169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9144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67789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fd3fa6ebcca942b2"/>
              </a:rPr>
              <a:t>S27</a:t>
            </a:r>
          </a:p>
        </p:txBody>
      </p:sp>
      <p:sp>
        <p:nvSpPr>
          <p:cNvPr id="9" name="disclosure">
            <a:extLst xmlns:a="http://schemas.openxmlformats.org/drawingml/2006/main">
              <a:ext uri="{FF2B5EF4-FFF2-40B4-BE49-F238E27FC236}">
                <a16:creationId xmlns:a16="http://schemas.microsoft.com/office/drawing/2014/main" id="{7AB0BDBC-2EA8-4B5E-875E-C16584F2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63100"/>
            <a:ext cx="15621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根拠は各スライドのノートとリンクに記載。公開情報・現地説明・実演・顧客実績を分けて追記する。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576E1605-874F-49C3-920D-01D6AC4B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96393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96C77"/>
                </a:solidFill>
                <a:latin typeface="Noto Sans JP"/>
                <a:ea typeface="Noto Sans JP"/>
                <a:cs typeface="Noto Sans JP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0968466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2026-10-20T23:17:25.5480000Z</dcterms:created>
  <dcterms:modified xsi:type="dcterms:W3CDTF">2026-10-20T23:17:25.5480000Z</dcterms:modified>
</coreProperties>
</file>