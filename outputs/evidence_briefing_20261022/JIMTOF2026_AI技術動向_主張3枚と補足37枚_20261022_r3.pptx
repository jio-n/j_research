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3e7b54d11824c33" /><Relationship Type="http://schemas.openxmlformats.org/officeDocument/2006/relationships/extended-properties" Target="/docProps/app.xml" Id="Rf9a6b6350131450d" /><Relationship Type="http://schemas.openxmlformats.org/officeDocument/2006/relationships/officeDocument" Target="/ppt/presentation.xml" Id="R797cd0e7c79c46d1" /></Relationships>
</file>

<file path=ppt/presentation.xml><?xml version="1.0" encoding="utf-8"?>
<p:presentation xmlns:p="http://schemas.openxmlformats.org/presentationml/2006/main">
  <p:sldMasterIdLst>
    <p:sldMasterId xmlns:r="http://schemas.openxmlformats.org/officeDocument/2006/relationships" id="2147483648" r:id="R6e166fbab1ec4171"/>
  </p:sldMasterIdLst>
  <p:notesMasterIdLst>
    <p:notesMasterId xmlns:r="http://schemas.openxmlformats.org/officeDocument/2006/relationships" r:id="R1d51c132b1004f30"/>
  </p:notesMasterIdLst>
  <p:sldIdLst>
    <p:sldId xmlns:r="http://schemas.openxmlformats.org/officeDocument/2006/relationships" id="256" r:id="Rff3ff7d3c52f4f13"/>
    <p:sldId xmlns:r="http://schemas.openxmlformats.org/officeDocument/2006/relationships" id="257" r:id="Rdc51ec89ac384857"/>
    <p:sldId xmlns:r="http://schemas.openxmlformats.org/officeDocument/2006/relationships" id="258" r:id="R11c94122d2ff47d2"/>
    <p:sldId xmlns:r="http://schemas.openxmlformats.org/officeDocument/2006/relationships" id="259" r:id="Ra355964cbe814a33"/>
    <p:sldId xmlns:r="http://schemas.openxmlformats.org/officeDocument/2006/relationships" id="260" r:id="R0d35fba38e044814"/>
    <p:sldId xmlns:r="http://schemas.openxmlformats.org/officeDocument/2006/relationships" id="261" r:id="Ra7b88150cee845a5"/>
    <p:sldId xmlns:r="http://schemas.openxmlformats.org/officeDocument/2006/relationships" id="262" r:id="R82ed58c01fce4d0e"/>
    <p:sldId xmlns:r="http://schemas.openxmlformats.org/officeDocument/2006/relationships" id="263" r:id="R2df51c12b752416c"/>
    <p:sldId xmlns:r="http://schemas.openxmlformats.org/officeDocument/2006/relationships" id="264" r:id="R480d135efde34c6a"/>
    <p:sldId xmlns:r="http://schemas.openxmlformats.org/officeDocument/2006/relationships" id="265" r:id="Rca20be1a73344864"/>
    <p:sldId xmlns:r="http://schemas.openxmlformats.org/officeDocument/2006/relationships" id="266" r:id="R90320a5c012940d9"/>
    <p:sldId xmlns:r="http://schemas.openxmlformats.org/officeDocument/2006/relationships" id="267" r:id="Rd0864bfeb3444770"/>
    <p:sldId xmlns:r="http://schemas.openxmlformats.org/officeDocument/2006/relationships" id="268" r:id="R29700d7cd7e3423c"/>
    <p:sldId xmlns:r="http://schemas.openxmlformats.org/officeDocument/2006/relationships" id="269" r:id="R378f74646118465c"/>
    <p:sldId xmlns:r="http://schemas.openxmlformats.org/officeDocument/2006/relationships" id="270" r:id="R46fd6048af8b419b"/>
    <p:sldId xmlns:r="http://schemas.openxmlformats.org/officeDocument/2006/relationships" id="271" r:id="R237a2066fd344e20"/>
    <p:sldId xmlns:r="http://schemas.openxmlformats.org/officeDocument/2006/relationships" id="272" r:id="R822fc9f767574dc4"/>
    <p:sldId xmlns:r="http://schemas.openxmlformats.org/officeDocument/2006/relationships" id="273" r:id="R82c30e6cbf524571"/>
    <p:sldId xmlns:r="http://schemas.openxmlformats.org/officeDocument/2006/relationships" id="274" r:id="R45c5e281269f4d5e"/>
    <p:sldId xmlns:r="http://schemas.openxmlformats.org/officeDocument/2006/relationships" id="275" r:id="Rbbaabf79f50a49cd"/>
    <p:sldId xmlns:r="http://schemas.openxmlformats.org/officeDocument/2006/relationships" id="276" r:id="Rbbf7266638ff4393"/>
    <p:sldId xmlns:r="http://schemas.openxmlformats.org/officeDocument/2006/relationships" id="277" r:id="Re568db0d352c4852"/>
    <p:sldId xmlns:r="http://schemas.openxmlformats.org/officeDocument/2006/relationships" id="278" r:id="Rc13dbe20032e49bb"/>
    <p:sldId xmlns:r="http://schemas.openxmlformats.org/officeDocument/2006/relationships" id="279" r:id="R4c6a4a40280a4aee"/>
    <p:sldId xmlns:r="http://schemas.openxmlformats.org/officeDocument/2006/relationships" id="280" r:id="Rfeed0208f53143f8"/>
    <p:sldId xmlns:r="http://schemas.openxmlformats.org/officeDocument/2006/relationships" id="281" r:id="R170fcdbd91514bfd"/>
    <p:sldId xmlns:r="http://schemas.openxmlformats.org/officeDocument/2006/relationships" id="282" r:id="R0c263cb377444bae"/>
    <p:sldId xmlns:r="http://schemas.openxmlformats.org/officeDocument/2006/relationships" id="283" r:id="Rdb6f50bad38e412c"/>
    <p:sldId xmlns:r="http://schemas.openxmlformats.org/officeDocument/2006/relationships" id="284" r:id="R44f75f6cefae49fb"/>
    <p:sldId xmlns:r="http://schemas.openxmlformats.org/officeDocument/2006/relationships" id="285" r:id="Rc96690b13e57450c"/>
    <p:sldId xmlns:r="http://schemas.openxmlformats.org/officeDocument/2006/relationships" id="286" r:id="Re8650fd977324cc8"/>
    <p:sldId xmlns:r="http://schemas.openxmlformats.org/officeDocument/2006/relationships" id="287" r:id="R48685b5233f3436c"/>
    <p:sldId xmlns:r="http://schemas.openxmlformats.org/officeDocument/2006/relationships" id="288" r:id="R920d7ccaf0c541a6"/>
    <p:sldId xmlns:r="http://schemas.openxmlformats.org/officeDocument/2006/relationships" id="289" r:id="Rb32d1431d8e645e9"/>
    <p:sldId xmlns:r="http://schemas.openxmlformats.org/officeDocument/2006/relationships" id="290" r:id="R9c934947d24148fc"/>
    <p:sldId xmlns:r="http://schemas.openxmlformats.org/officeDocument/2006/relationships" id="291" r:id="R1a524ad60bfc4ff4"/>
    <p:sldId xmlns:r="http://schemas.openxmlformats.org/officeDocument/2006/relationships" id="292" r:id="R296748858f784db4"/>
    <p:sldId xmlns:r="http://schemas.openxmlformats.org/officeDocument/2006/relationships" id="293" r:id="R80b497cd59da43be"/>
    <p:sldId xmlns:r="http://schemas.openxmlformats.org/officeDocument/2006/relationships" id="294" r:id="Rc234a218fbaa4f4d"/>
    <p:sldId xmlns:r="http://schemas.openxmlformats.org/officeDocument/2006/relationships" id="295" r:id="R56d3a02f90394df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2a1df4a28a4820" /><Relationship Type="http://schemas.openxmlformats.org/officeDocument/2006/relationships/slideMaster" Target="/ppt/slideMasters/slideMaster1.xml" Id="R6e166fbab1ec4171" /><Relationship Type="http://schemas.openxmlformats.org/officeDocument/2006/relationships/notesMaster" Target="/ppt/notesMasters/notesMaster1.xml" Id="R1d51c132b1004f30" /><Relationship Type="http://schemas.openxmlformats.org/officeDocument/2006/relationships/presProps" Target="/ppt/presProps.xml" Id="Rb2e5de388d1c4019" /><Relationship Type="http://schemas.openxmlformats.org/officeDocument/2006/relationships/tableStyles" Target="/ppt/tableStyles.xml" Id="R4297d4b5af5d4928" /><Relationship Type="http://schemas.openxmlformats.org/officeDocument/2006/relationships/slide" Target="/ppt/slides/slide1.xml" Id="Rff3ff7d3c52f4f13" /><Relationship Type="http://schemas.openxmlformats.org/officeDocument/2006/relationships/slide" Target="/ppt/slides/slide2.xml" Id="Rdc51ec89ac384857" /><Relationship Type="http://schemas.openxmlformats.org/officeDocument/2006/relationships/slide" Target="/ppt/slides/slide3.xml" Id="R11c94122d2ff47d2" /><Relationship Type="http://schemas.openxmlformats.org/officeDocument/2006/relationships/slide" Target="/ppt/slides/slide4.xml" Id="Ra355964cbe814a33" /><Relationship Type="http://schemas.openxmlformats.org/officeDocument/2006/relationships/slide" Target="/ppt/slides/slide5.xml" Id="R0d35fba38e044814" /><Relationship Type="http://schemas.openxmlformats.org/officeDocument/2006/relationships/slide" Target="/ppt/slides/slide6.xml" Id="Ra7b88150cee845a5" /><Relationship Type="http://schemas.openxmlformats.org/officeDocument/2006/relationships/slide" Target="/ppt/slides/slide7.xml" Id="R82ed58c01fce4d0e" /><Relationship Type="http://schemas.openxmlformats.org/officeDocument/2006/relationships/slide" Target="/ppt/slides/slide8.xml" Id="R2df51c12b752416c" /><Relationship Type="http://schemas.openxmlformats.org/officeDocument/2006/relationships/slide" Target="/ppt/slides/slide9.xml" Id="R480d135efde34c6a" /><Relationship Type="http://schemas.openxmlformats.org/officeDocument/2006/relationships/slide" Target="/ppt/slides/slide10.xml" Id="Rca20be1a73344864" /><Relationship Type="http://schemas.openxmlformats.org/officeDocument/2006/relationships/slide" Target="/ppt/slides/slide11.xml" Id="R90320a5c012940d9" /><Relationship Type="http://schemas.openxmlformats.org/officeDocument/2006/relationships/slide" Target="/ppt/slides/slide12.xml" Id="Rd0864bfeb3444770" /><Relationship Type="http://schemas.openxmlformats.org/officeDocument/2006/relationships/slide" Target="/ppt/slides/slide13.xml" Id="R29700d7cd7e3423c" /><Relationship Type="http://schemas.openxmlformats.org/officeDocument/2006/relationships/slide" Target="/ppt/slides/slide14.xml" Id="R378f74646118465c" /><Relationship Type="http://schemas.openxmlformats.org/officeDocument/2006/relationships/slide" Target="/ppt/slides/slide15.xml" Id="R46fd6048af8b419b" /><Relationship Type="http://schemas.openxmlformats.org/officeDocument/2006/relationships/slide" Target="/ppt/slides/slide16.xml" Id="R237a2066fd344e20" /><Relationship Type="http://schemas.openxmlformats.org/officeDocument/2006/relationships/slide" Target="/ppt/slides/slide17.xml" Id="R822fc9f767574dc4" /><Relationship Type="http://schemas.openxmlformats.org/officeDocument/2006/relationships/slide" Target="/ppt/slides/slide18.xml" Id="R82c30e6cbf524571" /><Relationship Type="http://schemas.openxmlformats.org/officeDocument/2006/relationships/slide" Target="/ppt/slides/slide19.xml" Id="R45c5e281269f4d5e" /><Relationship Type="http://schemas.openxmlformats.org/officeDocument/2006/relationships/slide" Target="/ppt/slides/slide20.xml" Id="Rbbaabf79f50a49cd" /><Relationship Type="http://schemas.openxmlformats.org/officeDocument/2006/relationships/slide" Target="/ppt/slides/slide21.xml" Id="Rbbf7266638ff4393" /><Relationship Type="http://schemas.openxmlformats.org/officeDocument/2006/relationships/slide" Target="/ppt/slides/slide22.xml" Id="Re568db0d352c4852" /><Relationship Type="http://schemas.openxmlformats.org/officeDocument/2006/relationships/slide" Target="/ppt/slides/slide23.xml" Id="Rc13dbe20032e49bb" /><Relationship Type="http://schemas.openxmlformats.org/officeDocument/2006/relationships/slide" Target="/ppt/slides/slide24.xml" Id="R4c6a4a40280a4aee" /><Relationship Type="http://schemas.openxmlformats.org/officeDocument/2006/relationships/slide" Target="/ppt/slides/slide25.xml" Id="Rfeed0208f53143f8" /><Relationship Type="http://schemas.openxmlformats.org/officeDocument/2006/relationships/slide" Target="/ppt/slides/slide26.xml" Id="R170fcdbd91514bfd" /><Relationship Type="http://schemas.openxmlformats.org/officeDocument/2006/relationships/slide" Target="/ppt/slides/slide27.xml" Id="R0c263cb377444bae" /><Relationship Type="http://schemas.openxmlformats.org/officeDocument/2006/relationships/slide" Target="/ppt/slides/slide28.xml" Id="Rdb6f50bad38e412c" /><Relationship Type="http://schemas.openxmlformats.org/officeDocument/2006/relationships/slide" Target="/ppt/slides/slide29.xml" Id="R44f75f6cefae49fb" /><Relationship Type="http://schemas.openxmlformats.org/officeDocument/2006/relationships/slide" Target="/ppt/slides/slide30.xml" Id="Rc96690b13e57450c" /><Relationship Type="http://schemas.openxmlformats.org/officeDocument/2006/relationships/slide" Target="/ppt/slides/slide31.xml" Id="Re8650fd977324cc8" /><Relationship Type="http://schemas.openxmlformats.org/officeDocument/2006/relationships/slide" Target="/ppt/slides/slide32.xml" Id="R48685b5233f3436c" /><Relationship Type="http://schemas.openxmlformats.org/officeDocument/2006/relationships/slide" Target="/ppt/slides/slide33.xml" Id="R920d7ccaf0c541a6" /><Relationship Type="http://schemas.openxmlformats.org/officeDocument/2006/relationships/slide" Target="/ppt/slides/slide34.xml" Id="Rb32d1431d8e645e9" /><Relationship Type="http://schemas.openxmlformats.org/officeDocument/2006/relationships/slide" Target="/ppt/slides/slide35.xml" Id="R9c934947d24148fc" /><Relationship Type="http://schemas.openxmlformats.org/officeDocument/2006/relationships/slide" Target="/ppt/slides/slide36.xml" Id="R1a524ad60bfc4ff4" /><Relationship Type="http://schemas.openxmlformats.org/officeDocument/2006/relationships/slide" Target="/ppt/slides/slide37.xml" Id="R296748858f784db4" /><Relationship Type="http://schemas.openxmlformats.org/officeDocument/2006/relationships/slide" Target="/ppt/slides/slide38.xml" Id="R80b497cd59da43be" /><Relationship Type="http://schemas.openxmlformats.org/officeDocument/2006/relationships/slide" Target="/ppt/slides/slide39.xml" Id="Rc234a218fbaa4f4d" /><Relationship Type="http://schemas.openxmlformats.org/officeDocument/2006/relationships/slide" Target="/ppt/slides/slide40.xml" Id="R56d3a02f90394d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f6f4796b0240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2f2e9bb2e0464c" /><Relationship Type="http://schemas.openxmlformats.org/officeDocument/2006/relationships/notesMaster" Target="/ppt/notesMasters/notesMaster1.xml" Id="R2c679f1b1cee44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6aef52b6294c3e" /><Relationship Type="http://schemas.openxmlformats.org/officeDocument/2006/relationships/notesMaster" Target="/ppt/notesMasters/notesMaster1.xml" Id="R69d58c7923f84d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3184e0fd084f9a" /><Relationship Type="http://schemas.openxmlformats.org/officeDocument/2006/relationships/notesMaster" Target="/ppt/notesMasters/notesMaster1.xml" Id="R6ce8419b1c6f48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e5469e8cd34072" /><Relationship Type="http://schemas.openxmlformats.org/officeDocument/2006/relationships/notesMaster" Target="/ppt/notesMasters/notesMaster1.xml" Id="R4992dc9a4fc74f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212f4802a74d49" /><Relationship Type="http://schemas.openxmlformats.org/officeDocument/2006/relationships/notesMaster" Target="/ppt/notesMasters/notesMaster1.xml" Id="R69cb340103434e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ae8d1c28eb42b7" /><Relationship Type="http://schemas.openxmlformats.org/officeDocument/2006/relationships/notesMaster" Target="/ppt/notesMasters/notesMaster1.xml" Id="Ra8dedacb192b47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08751d34884ba4" /><Relationship Type="http://schemas.openxmlformats.org/officeDocument/2006/relationships/notesMaster" Target="/ppt/notesMasters/notesMaster1.xml" Id="Ra2dfcefdedc249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c4e25034f54d69" /><Relationship Type="http://schemas.openxmlformats.org/officeDocument/2006/relationships/notesMaster" Target="/ppt/notesMasters/notesMaster1.xml" Id="R3a3da66ea4f442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a7d73504d445d7" /><Relationship Type="http://schemas.openxmlformats.org/officeDocument/2006/relationships/notesMaster" Target="/ppt/notesMasters/notesMaster1.xml" Id="R38ac30a5e0ea49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3f991fdfbc41b2" /><Relationship Type="http://schemas.openxmlformats.org/officeDocument/2006/relationships/notesMaster" Target="/ppt/notesMasters/notesMaster1.xml" Id="Ra43e4413136b49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6d82f315d44d08" /><Relationship Type="http://schemas.openxmlformats.org/officeDocument/2006/relationships/notesMaster" Target="/ppt/notesMasters/notesMaster1.xml" Id="Rde66ce602ce94c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eab288c501451f" /><Relationship Type="http://schemas.openxmlformats.org/officeDocument/2006/relationships/notesMaster" Target="/ppt/notesMasters/notesMaster1.xml" Id="R7797423a93e448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307ba46bc0642e0" /><Relationship Type="http://schemas.openxmlformats.org/officeDocument/2006/relationships/notesMaster" Target="/ppt/notesMasters/notesMaster1.xml" Id="R6d6083da5e6a4f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606c6ae2c245a9" /><Relationship Type="http://schemas.openxmlformats.org/officeDocument/2006/relationships/notesMaster" Target="/ppt/notesMasters/notesMaster1.xml" Id="Redd6fd3b7388405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e141237e624a4c" /><Relationship Type="http://schemas.openxmlformats.org/officeDocument/2006/relationships/notesMaster" Target="/ppt/notesMasters/notesMaster1.xml" Id="Rde9217e6cde246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b80df5950b4bf0" /><Relationship Type="http://schemas.openxmlformats.org/officeDocument/2006/relationships/notesMaster" Target="/ppt/notesMasters/notesMaster1.xml" Id="R32a6afe8207f4c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d055bf41584c54" /><Relationship Type="http://schemas.openxmlformats.org/officeDocument/2006/relationships/notesMaster" Target="/ppt/notesMasters/notesMaster1.xml" Id="R0d6d2a9faace495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97866204b14a5c" /><Relationship Type="http://schemas.openxmlformats.org/officeDocument/2006/relationships/notesMaster" Target="/ppt/notesMasters/notesMaster1.xml" Id="Rf0a01ac39aed4b6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dd38be02a40420e" /><Relationship Type="http://schemas.openxmlformats.org/officeDocument/2006/relationships/notesMaster" Target="/ppt/notesMasters/notesMaster1.xml" Id="Rcc1573f009bf482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a2648bded784c46" /><Relationship Type="http://schemas.openxmlformats.org/officeDocument/2006/relationships/notesMaster" Target="/ppt/notesMasters/notesMaster1.xml" Id="R3e3808e5a1e748f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22a26f7e56f4ecd" /><Relationship Type="http://schemas.openxmlformats.org/officeDocument/2006/relationships/notesMaster" Target="/ppt/notesMasters/notesMaster1.xml" Id="Rdedebfba76b94d5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9e85de014c341d7" /><Relationship Type="http://schemas.openxmlformats.org/officeDocument/2006/relationships/notesMaster" Target="/ppt/notesMasters/notesMaster1.xml" Id="R4ed8a2e14871474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64484e4ef244761" /><Relationship Type="http://schemas.openxmlformats.org/officeDocument/2006/relationships/notesMaster" Target="/ppt/notesMasters/notesMaster1.xml" Id="R19577fffb35a475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3b047b4875e436e" /><Relationship Type="http://schemas.openxmlformats.org/officeDocument/2006/relationships/notesMaster" Target="/ppt/notesMasters/notesMaster1.xml" Id="Re223b7e8efca40f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f2b7a07331849a1" /><Relationship Type="http://schemas.openxmlformats.org/officeDocument/2006/relationships/notesMaster" Target="/ppt/notesMasters/notesMaster1.xml" Id="Rfad0b7e60c744db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c68502d1f784d0b" /><Relationship Type="http://schemas.openxmlformats.org/officeDocument/2006/relationships/notesMaster" Target="/ppt/notesMasters/notesMaster1.xml" Id="Rc91dbbd44a3c481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c370b72c4f64776" /><Relationship Type="http://schemas.openxmlformats.org/officeDocument/2006/relationships/notesMaster" Target="/ppt/notesMasters/notesMaster1.xml" Id="R202d892f26b14da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c2de5f9ee254ce0" /><Relationship Type="http://schemas.openxmlformats.org/officeDocument/2006/relationships/notesMaster" Target="/ppt/notesMasters/notesMaster1.xml" Id="R5553ffd176eb421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e03e4a9b07443de" /><Relationship Type="http://schemas.openxmlformats.org/officeDocument/2006/relationships/notesMaster" Target="/ppt/notesMasters/notesMaster1.xml" Id="R0e2e1dc0a42447b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8231519236848ee" /><Relationship Type="http://schemas.openxmlformats.org/officeDocument/2006/relationships/notesMaster" Target="/ppt/notesMasters/notesMaster1.xml" Id="R6462af59843949f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84216e0e8de4473" /><Relationship Type="http://schemas.openxmlformats.org/officeDocument/2006/relationships/notesMaster" Target="/ppt/notesMasters/notesMaster1.xml" Id="Rf64bea156932438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fa72ed5ecd847e6" /><Relationship Type="http://schemas.openxmlformats.org/officeDocument/2006/relationships/notesMaster" Target="/ppt/notesMasters/notesMaster1.xml" Id="R1a9eb1f521af42b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21800375be04022" /><Relationship Type="http://schemas.openxmlformats.org/officeDocument/2006/relationships/notesMaster" Target="/ppt/notesMasters/notesMaster1.xml" Id="R51f059fffbdf4b7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b9f61c3a5e14d4b" /><Relationship Type="http://schemas.openxmlformats.org/officeDocument/2006/relationships/notesMaster" Target="/ppt/notesMasters/notesMaster1.xml" Id="Rdc12fd51e4a843a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1225320f14f4674" /><Relationship Type="http://schemas.openxmlformats.org/officeDocument/2006/relationships/notesMaster" Target="/ppt/notesMasters/notesMaster1.xml" Id="R29c046631b4c4f5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3dbb9bbe0cd4f94" /><Relationship Type="http://schemas.openxmlformats.org/officeDocument/2006/relationships/notesMaster" Target="/ppt/notesMasters/notesMaster1.xml" Id="R4798daf8cf374af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9161c72cdd44ceb" /><Relationship Type="http://schemas.openxmlformats.org/officeDocument/2006/relationships/notesMaster" Target="/ppt/notesMasters/notesMaster1.xml" Id="R19dc12fd198f493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6271116403d4dad" /><Relationship Type="http://schemas.openxmlformats.org/officeDocument/2006/relationships/notesMaster" Target="/ppt/notesMasters/notesMaster1.xml" Id="R858851883a2749a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73f82e2af33405a" /><Relationship Type="http://schemas.openxmlformats.org/officeDocument/2006/relationships/notesMaster" Target="/ppt/notesMasters/notesMaster1.xml" Id="R22f6f29f7945444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dd408ad63204f34" /><Relationship Type="http://schemas.openxmlformats.org/officeDocument/2006/relationships/notesMaster" Target="/ppt/notesMasters/notesMaster1.xml" Id="Rad9a6afad4e44a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Q05 / S05</a:t>
            </a:r>
          </a:p>
          <a:p xmlns:a="http://schemas.openxmlformats.org/drawingml/2006/main">
            <a:r>
              <a:t>MONOistの記者説明。マザック共同開発を取材</a:t>
            </a:r>
          </a:p>
          <a:p xmlns:a="http://schemas.openxmlformats.org/drawingml/2006/main">
            <a:r>
              <a:t>MONOist 加工の工程設計をAIエージェントで自動化</a:t>
            </a:r>
          </a:p>
          <a:p xmlns:a="http://schemas.openxmlformats.org/drawingml/2006/main">
            <a:r>
              <a:t>公表日 2026-10-19</a:t>
            </a:r>
          </a:p>
          <a:p xmlns:a="http://schemas.openxmlformats.org/drawingml/2006/main">
            <a:r>
              <a:t>https://monoist.itmedia.co.jp/mn/articles/2610/19/news039_2.html</a:t>
            </a:r>
          </a:p>
          <a:p xmlns:a="http://schemas.openxmlformats.org/drawingml/2006/main">
            <a:r>
              <a:t>掲載位置 後編 MAZATROLとGコードを比較する段落</a:t>
            </a:r>
          </a:p>
          <a:p xmlns:a="http://schemas.openxmlformats.org/drawingml/2006/main">
            <a:r>
              <a:t>文脈の要約 対話プログラムの加工意図と判断結果を学習する方式を説明する。</a:t>
            </a:r>
          </a:p>
          <a:p xmlns:a="http://schemas.openxmlformats.org/drawingml/2006/main">
            <a:r>
              <a:t>根拠にする論点 加工意図の形式知化</a:t>
            </a:r>
          </a:p>
          <a:p xmlns:a="http://schemas.openxmlformats.org/drawingml/2006/main">
            <a:r>
              <a:t>この一節からは言えないこと 記者の説明からの抜粋で、発言者の直接発言ではない。</a:t>
            </a:r>
          </a:p>
          <a:p xmlns:a="http://schemas.openxmlformats.org/drawingml/2006/main">
            <a:r>
              <a:t>確認 2026-10-22 原文テキストと照合</a:t>
            </a:r>
          </a:p>
          <a:p xmlns:a="http://schemas.openxmlformats.org/drawingml/2006/main">
            <a:r>
              <a:t/>
            </a:r>
          </a:p>
          <a:p xmlns:a="http://schemas.openxmlformats.org/drawingml/2006/main">
            <a:r>
              <a:t>Q06 / S06</a:t>
            </a:r>
          </a:p>
          <a:p xmlns:a="http://schemas.openxmlformats.org/drawingml/2006/main">
            <a:r>
              <a:t>日立・ファナックの共同発表をファナックが掲載</a:t>
            </a:r>
          </a:p>
          <a:p xmlns:a="http://schemas.openxmlformats.org/drawingml/2006/main">
            <a:r>
              <a:t>ファナック・日立 フィジカルAI実装の共同事業化に向けた戦略的パートナーシップ</a:t>
            </a:r>
          </a:p>
          <a:p xmlns:a="http://schemas.openxmlformats.org/drawingml/2006/main">
            <a:r>
              <a:t>公表日 2026-09-30</a:t>
            </a:r>
          </a:p>
          <a:p xmlns:a="http://schemas.openxmlformats.org/drawingml/2006/main">
            <a:r>
              <a:t>https://www.fanuc.co.jp/ja/profile/pr/newsrelease/2026/news20260930.html</a:t>
            </a:r>
          </a:p>
          <a:p xmlns:a="http://schemas.openxmlformats.org/drawingml/2006/main">
            <a:r>
              <a:t>掲載位置 提携の説明・カスタマーゼロの段落</a:t>
            </a:r>
          </a:p>
          <a:p xmlns:a="http://schemas.openxmlformats.org/drawingml/2006/main">
            <a:r>
              <a:t>文脈の要約 日立の工場で共同実証し、現場課題へ柔軟に対応する実用化計画の一節。</a:t>
            </a:r>
          </a:p>
          <a:p xmlns:a="http://schemas.openxmlformats.org/drawingml/2006/main">
            <a:r>
              <a:t>根拠にする論点 現場での学習・適応</a:t>
            </a:r>
          </a:p>
          <a:p xmlns:a="http://schemas.openxmlformats.org/drawingml/2006/main">
            <a:r>
              <a:t>この一節からは言えないこと 将来の共同実証・実用化を説明する。全機能の達成実績とはしない。</a:t>
            </a:r>
          </a:p>
          <a:p xmlns:a="http://schemas.openxmlformats.org/drawingml/2006/main">
            <a:r>
              <a:t>確認 2026-10-22 原文テキストと照合</a:t>
            </a:r>
          </a:p>
          <a:p xmlns:a="http://schemas.openxmlformats.org/drawingml/2006/main">
            <a:r>
              <a:t/>
            </a:r>
          </a:p>
          <a:p xmlns:a="http://schemas.openxmlformats.org/drawingml/2006/main">
            <a:r>
              <a:t>Q11 / S11</a:t>
            </a:r>
          </a:p>
          <a:p xmlns:a="http://schemas.openxmlformats.org/drawingml/2006/main">
            <a:r>
              <a:t>Siemensの公式ブログ</a:t>
            </a:r>
          </a:p>
          <a:p xmlns:a="http://schemas.openxmlformats.org/drawingml/2006/main">
            <a:r>
              <a:t>Siemens From agile to autonomous: adaptive production</a:t>
            </a:r>
          </a:p>
          <a:p xmlns:a="http://schemas.openxmlformats.org/drawingml/2006/main">
            <a:r>
              <a:t>公表日 2026-07-08</a:t>
            </a:r>
          </a:p>
          <a:p xmlns:a="http://schemas.openxmlformats.org/drawingml/2006/main">
            <a:r>
              <a:t>https://blogs.sw.siemens.com/nx-manufacturing/from-agile-to-autonomous-building-adaptive-production-with-digital-twins-and-industrial-ai/</a:t>
            </a:r>
          </a:p>
          <a:p xmlns:a="http://schemas.openxmlformats.org/drawingml/2006/main">
            <a:r>
              <a:t>掲載位置 Three principlesの1項目目</a:t>
            </a:r>
          </a:p>
          <a:p xmlns:a="http://schemas.openxmlformats.org/drawingml/2006/main">
            <a:r>
              <a:t>文脈の要約 過去のスナップショットだけでなく現在の状態を使う方針。</a:t>
            </a:r>
          </a:p>
          <a:p xmlns:a="http://schemas.openxmlformats.org/drawingml/2006/main">
            <a:r>
              <a:t>根拠にする論点 稼働中の状態に基づく判断</a:t>
            </a:r>
          </a:p>
          <a:p xmlns:a="http://schemas.openxmlformats.org/drawingml/2006/main">
            <a:r>
              <a:t>この一節からは言えないこと 製造AIに求める原則。特定の更新周期や全システムでの実現実績ではない。</a:t>
            </a:r>
          </a:p>
          <a:p xmlns:a="http://schemas.openxmlformats.org/drawingml/2006/main">
            <a:r>
              <a:t>確認 2026-10-22 原文テキストと照合</a:t>
            </a:r>
          </a:p>
          <a:p xmlns:a="http://schemas.openxmlformats.org/drawingml/2006/main">
            <a:r>
              <a:t/>
            </a:r>
          </a:p>
          <a:p xmlns:a="http://schemas.openxmlformats.org/drawingml/2006/main">
            <a:r>
              <a:t>Q31 / S31</a:t>
            </a:r>
          </a:p>
          <a:p xmlns:a="http://schemas.openxmlformats.org/drawingml/2006/main">
            <a:r>
              <a:t>三菱電機の公式研究発表</a:t>
            </a:r>
          </a:p>
          <a:p xmlns:a="http://schemas.openxmlformats.org/drawingml/2006/main">
            <a:r>
              <a:t>三菱電機・アーヘン工科大学 CNC上で加工誤差を補正するエッジデジタルツイン</a:t>
            </a:r>
          </a:p>
          <a:p xmlns:a="http://schemas.openxmlformats.org/drawingml/2006/main">
            <a:r>
              <a:t>公表日 2026-03-25</a:t>
            </a:r>
          </a:p>
          <a:p xmlns:a="http://schemas.openxmlformats.org/drawingml/2006/main">
            <a:r>
              <a:t>https://www.mitsubishielectric.co.jp/ja/pr/2026/0325/</a:t>
            </a:r>
          </a:p>
          <a:p xmlns:a="http://schemas.openxmlformats.org/drawingml/2006/main">
            <a:r>
              <a:t>掲載位置 独自の設計手法を説明する段落</a:t>
            </a:r>
          </a:p>
          <a:p xmlns:a="http://schemas.openxmlformats.org/drawingml/2006/main">
            <a:r>
              <a:t>文脈の要約 必要な信号を選び、CNC上で誤差推定・補正するためのモデル構成。</a:t>
            </a:r>
          </a:p>
          <a:p xmlns:a="http://schemas.openxmlformats.org/drawingml/2006/main">
            <a:r>
              <a:t>根拠にする論点 リアルタイムで使う物理モデル</a:t>
            </a:r>
          </a:p>
          <a:p xmlns:a="http://schemas.openxmlformats.org/drawingml/2006/main">
            <a:r>
              <a:t>この一節からは言えないこと 研究実証。任意の機械・加工条件で同じ性能になるとはしない。</a:t>
            </a:r>
          </a:p>
          <a:p xmlns:a="http://schemas.openxmlformats.org/drawingml/2006/main">
            <a:r>
              <a:t>確認 2026-10-22 原文テキストと照合</a:t>
            </a:r>
          </a:p>
          <a:p xmlns:a="http://schemas.openxmlformats.org/drawingml/2006/main">
            <a:r>
              <a:t/>
            </a:r>
          </a:p>
          <a:p xmlns:a="http://schemas.openxmlformats.org/drawingml/2006/main">
            <a:r>
              <a:t>Q42 / A08</a:t>
            </a:r>
          </a:p>
          <a:p xmlns:a="http://schemas.openxmlformats.org/drawingml/2006/main">
            <a:r>
              <a:t>富士通の公式発表</a:t>
            </a:r>
          </a:p>
          <a:p xmlns:a="http://schemas.openxmlformats.org/drawingml/2006/main">
            <a:r>
              <a:t>富士通 富士通 ロボット産業界各社との事業検討</a:t>
            </a:r>
          </a:p>
          <a:p xmlns:a="http://schemas.openxmlformats.org/drawingml/2006/main">
            <a:r>
              <a:t>公表日 2026-07-16</a:t>
            </a:r>
          </a:p>
          <a:p xmlns:a="http://schemas.openxmlformats.org/drawingml/2006/main">
            <a:r>
              <a:t>https://global.fujitsu/ja-jp/pr/news/2026/07/16-01</a:t>
            </a:r>
          </a:p>
          <a:p xmlns:a="http://schemas.openxmlformats.org/drawingml/2006/main">
            <a:r>
              <a:t>掲載位置 工場向けソリューション</a:t>
            </a:r>
          </a:p>
          <a:p xmlns:a="http://schemas.openxmlformats.org/drawingml/2006/main">
            <a:r>
              <a:t>文脈の要約 変動と現場状況を加味する工場向け構想を説明する。</a:t>
            </a:r>
          </a:p>
          <a:p xmlns:a="http://schemas.openxmlformats.org/drawingml/2006/main">
            <a:r>
              <a:t>根拠にする論点 計画と実行を結ぶ方向性</a:t>
            </a:r>
          </a:p>
          <a:p xmlns:a="http://schemas.openxmlformats.org/drawingml/2006/main">
            <a:r>
              <a:t>この一節からは言えないこと 事業検討の開始。完成システムの稼働実績ではない。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複数の企業方針・研究・製品説明に基づく分析。工場全体の自律運用が普及済みという結論ではない。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Q02 / S02</a:t>
            </a:r>
          </a:p>
          <a:p xmlns:a="http://schemas.openxmlformats.org/drawingml/2006/main">
            <a:r>
              <a:t>DMG森精機の公式発表</a:t>
            </a:r>
          </a:p>
          <a:p xmlns:a="http://schemas.openxmlformats.org/drawingml/2006/main">
            <a:r>
              <a:t>DMG森精機 GENIAC事業に採択：生産設備データエコシステムと製造フィジカルAI基盤</a:t>
            </a:r>
          </a:p>
          <a:p xmlns:a="http://schemas.openxmlformats.org/drawingml/2006/main">
            <a:r>
              <a:t>公表日 2026-07-06</a:t>
            </a:r>
          </a:p>
          <a:p xmlns:a="http://schemas.openxmlformats.org/drawingml/2006/main">
            <a:r>
              <a:t>https://www.dmgmori.co.jp/corporate/news/2026/20260706_geniac.html</a:t>
            </a:r>
          </a:p>
          <a:p xmlns:a="http://schemas.openxmlformats.org/drawingml/2006/main">
            <a:r>
              <a:t>掲載位置 多目的AI開発基盤の説明</a:t>
            </a:r>
          </a:p>
          <a:p xmlns:a="http://schemas.openxmlformats.org/drawingml/2006/main">
            <a:r>
              <a:t>文脈の要約 異常検知から品質予測・条件最適化、生産セルへ広げる計画の中の表現。</a:t>
            </a:r>
          </a:p>
          <a:p xmlns:a="http://schemas.openxmlformats.org/drawingml/2006/main">
            <a:r>
              <a:t>根拠にする論点 循環する開発戦略</a:t>
            </a:r>
          </a:p>
          <a:p xmlns:a="http://schemas.openxmlformats.org/drawingml/2006/main">
            <a:r>
              <a:t>この一節からは言えないこと 構築を目指す仕組み。既に全用途で循環が成立したという実績ではない。</a:t>
            </a:r>
          </a:p>
          <a:p xmlns:a="http://schemas.openxmlformats.org/drawingml/2006/main">
            <a:r>
              <a:t>確認 2026-10-22 原文テキストと照合</a:t>
            </a:r>
          </a:p>
          <a:p xmlns:a="http://schemas.openxmlformats.org/drawingml/2006/main">
            <a:r>
              <a:t/>
            </a:r>
          </a:p>
          <a:p xmlns:a="http://schemas.openxmlformats.org/drawingml/2006/main">
            <a:r>
              <a:t>Q04 / S04</a:t>
            </a:r>
          </a:p>
          <a:p xmlns:a="http://schemas.openxmlformats.org/drawingml/2006/main">
            <a:r>
              <a:t>ABEJAの公式説明</a:t>
            </a:r>
          </a:p>
          <a:p xmlns:a="http://schemas.openxmlformats.org/drawingml/2006/main">
            <a:r>
              <a:t>ABEJA マザックと製造現場のフィジカルAI実装に向けた業務連携</a:t>
            </a:r>
          </a:p>
          <a:p xmlns:a="http://schemas.openxmlformats.org/drawingml/2006/main">
            <a:r>
              <a:t>公表日 2026-10-16</a:t>
            </a:r>
          </a:p>
          <a:p xmlns:a="http://schemas.openxmlformats.org/drawingml/2006/main">
            <a:r>
              <a:t>https://www.abejainc.com/news/20261016/2</a:t>
            </a:r>
          </a:p>
          <a:p xmlns:a="http://schemas.openxmlformats.org/drawingml/2006/main">
            <a:r>
              <a:t>掲載位置 背景・製造業の課題</a:t>
            </a:r>
          </a:p>
          <a:p xmlns:a="http://schemas.openxmlformats.org/drawingml/2006/main">
            <a:r>
              <a:t>文脈の要約 工程設計・計画・段取りが熟練者へ依存する背景を説明する。</a:t>
            </a:r>
          </a:p>
          <a:p xmlns:a="http://schemas.openxmlformats.org/drawingml/2006/main">
            <a:r>
              <a:t>根拠にする論点 顧客ニーズ</a:t>
            </a:r>
          </a:p>
          <a:p xmlns:a="http://schemas.openxmlformats.org/drawingml/2006/main">
            <a:r>
              <a:t>この一節からは言えないこと 共同開発の背景認識。業界全体の導入率や定量的な需要規模ではない。</a:t>
            </a:r>
          </a:p>
          <a:p xmlns:a="http://schemas.openxmlformats.org/drawingml/2006/main">
            <a:r>
              <a:t>確認 2026-10-22 原文テキストと照合</a:t>
            </a:r>
          </a:p>
          <a:p xmlns:a="http://schemas.openxmlformats.org/drawingml/2006/main">
            <a:r>
              <a:t/>
            </a:r>
          </a:p>
          <a:p xmlns:a="http://schemas.openxmlformats.org/drawingml/2006/main">
            <a:r>
              <a:t>Q05 / S05</a:t>
            </a:r>
          </a:p>
          <a:p xmlns:a="http://schemas.openxmlformats.org/drawingml/2006/main">
            <a:r>
              <a:t>MONOistの記者説明。マザック共同開発を取材</a:t>
            </a:r>
          </a:p>
          <a:p xmlns:a="http://schemas.openxmlformats.org/drawingml/2006/main">
            <a:r>
              <a:t>MONOist 加工の工程設計をAIエージェントで自動化</a:t>
            </a:r>
          </a:p>
          <a:p xmlns:a="http://schemas.openxmlformats.org/drawingml/2006/main">
            <a:r>
              <a:t>公表日 2026-10-19</a:t>
            </a:r>
          </a:p>
          <a:p xmlns:a="http://schemas.openxmlformats.org/drawingml/2006/main">
            <a:r>
              <a:t>https://monoist.itmedia.co.jp/mn/articles/2610/19/news039_2.html</a:t>
            </a:r>
          </a:p>
          <a:p xmlns:a="http://schemas.openxmlformats.org/drawingml/2006/main">
            <a:r>
              <a:t>掲載位置 後編 MAZATROLとGコードを比較する段落</a:t>
            </a:r>
          </a:p>
          <a:p xmlns:a="http://schemas.openxmlformats.org/drawingml/2006/main">
            <a:r>
              <a:t>文脈の要約 対話プログラムの加工意図と判断結果を学習する方式を説明する。</a:t>
            </a:r>
          </a:p>
          <a:p xmlns:a="http://schemas.openxmlformats.org/drawingml/2006/main">
            <a:r>
              <a:t>根拠にする論点 加工意図の形式知化</a:t>
            </a:r>
          </a:p>
          <a:p xmlns:a="http://schemas.openxmlformats.org/drawingml/2006/main">
            <a:r>
              <a:t>この一節からは言えないこと 記者の説明からの抜粋で、発言者の直接発言ではない。</a:t>
            </a:r>
          </a:p>
          <a:p xmlns:a="http://schemas.openxmlformats.org/drawingml/2006/main">
            <a:r>
              <a:t>確認 2026-10-22 原文テキストと照合</a:t>
            </a:r>
          </a:p>
          <a:p xmlns:a="http://schemas.openxmlformats.org/drawingml/2006/main">
            <a:r>
              <a:t/>
            </a:r>
          </a:p>
          <a:p xmlns:a="http://schemas.openxmlformats.org/drawingml/2006/main">
            <a:r>
              <a:t>Q06 / S06</a:t>
            </a:r>
          </a:p>
          <a:p xmlns:a="http://schemas.openxmlformats.org/drawingml/2006/main">
            <a:r>
              <a:t>日立・ファナックの共同発表をファナックが掲載</a:t>
            </a:r>
          </a:p>
          <a:p xmlns:a="http://schemas.openxmlformats.org/drawingml/2006/main">
            <a:r>
              <a:t>ファナック・日立 フィジカルAI実装の共同事業化に向けた戦略的パートナーシップ</a:t>
            </a:r>
          </a:p>
          <a:p xmlns:a="http://schemas.openxmlformats.org/drawingml/2006/main">
            <a:r>
              <a:t>公表日 2026-09-30</a:t>
            </a:r>
          </a:p>
          <a:p xmlns:a="http://schemas.openxmlformats.org/drawingml/2006/main">
            <a:r>
              <a:t>https://www.fanuc.co.jp/ja/profile/pr/newsrelease/2026/news20260930.html</a:t>
            </a:r>
          </a:p>
          <a:p xmlns:a="http://schemas.openxmlformats.org/drawingml/2006/main">
            <a:r>
              <a:t>掲載位置 提携の説明・カスタマーゼロの段落</a:t>
            </a:r>
          </a:p>
          <a:p xmlns:a="http://schemas.openxmlformats.org/drawingml/2006/main">
            <a:r>
              <a:t>文脈の要約 日立の工場で共同実証し、現場課題へ柔軟に対応する実用化計画の一節。</a:t>
            </a:r>
          </a:p>
          <a:p xmlns:a="http://schemas.openxmlformats.org/drawingml/2006/main">
            <a:r>
              <a:t>根拠にする論点 現場での学習・適応</a:t>
            </a:r>
          </a:p>
          <a:p xmlns:a="http://schemas.openxmlformats.org/drawingml/2006/main">
            <a:r>
              <a:t>この一節からは言えないこと 将来の共同実証・実用化を説明する。全機能の達成実績とはしない。</a:t>
            </a:r>
          </a:p>
          <a:p xmlns:a="http://schemas.openxmlformats.org/drawingml/2006/main">
            <a:r>
              <a:t>確認 2026-10-22 原文テキストと照合</a:t>
            </a:r>
          </a:p>
          <a:p xmlns:a="http://schemas.openxmlformats.org/drawingml/2006/main">
            <a:r>
              <a:t/>
            </a:r>
          </a:p>
          <a:p xmlns:a="http://schemas.openxmlformats.org/drawingml/2006/main">
            <a:r>
              <a:t>Q07 / S07</a:t>
            </a:r>
          </a:p>
          <a:p xmlns:a="http://schemas.openxmlformats.org/drawingml/2006/main">
            <a:r>
              <a:t>ファナック 安部健一郎氏の取材発言</a:t>
            </a:r>
          </a:p>
          <a:p xmlns:a="http://schemas.openxmlformats.org/drawingml/2006/main">
            <a:r>
              <a:t>MONOist ファナックとフィジカルAI、現場主義の開発思想</a:t>
            </a:r>
          </a:p>
          <a:p xmlns:a="http://schemas.openxmlformats.org/drawingml/2006/main">
            <a:r>
              <a:t>公表日 2026-07-02</a:t>
            </a:r>
          </a:p>
          <a:p xmlns:a="http://schemas.openxmlformats.org/drawingml/2006/main">
            <a:r>
              <a:t>https://monoist.itmedia.co.jp/mn/articles/2607/02/news043.html</a:t>
            </a:r>
          </a:p>
          <a:p xmlns:a="http://schemas.openxmlformats.org/drawingml/2006/main">
            <a:r>
              <a:t>掲載位置 1頁 やりたいことの結果がフィジカルAIだった</a:t>
            </a:r>
          </a:p>
          <a:p xmlns:a="http://schemas.openxmlformats.org/drawingml/2006/main">
            <a:r>
              <a:t>文脈の要約 決められた反復動作に対し、環境を確認してAIの演算を用いるソリューションを説明する。</a:t>
            </a:r>
          </a:p>
          <a:p xmlns:a="http://schemas.openxmlformats.org/drawingml/2006/main">
            <a:r>
              <a:t>根拠にする論点 フィジカルAIの捉え方</a:t>
            </a:r>
          </a:p>
          <a:p xmlns:a="http://schemas.openxmlformats.org/drawingml/2006/main">
            <a:r>
              <a:t>この一節からは言えないこと 正式な業界規格の定義ではない。どの変化にどこまで対応できるかは個別に調べる。</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多目的AI・共同実証等の計画と、既存製品を区別する。AI単独の収益効果や全機能の顧客提供を確認したものではない。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Q01 / S01</a:t>
            </a:r>
          </a:p>
          <a:p xmlns:a="http://schemas.openxmlformats.org/drawingml/2006/main">
            <a:r>
              <a:t>産総研の公式説明</a:t>
            </a:r>
          </a:p>
          <a:p xmlns:a="http://schemas.openxmlformats.org/drawingml/2006/main">
            <a:r>
              <a:t>産総研 製造AX拠点を始動</a:t>
            </a:r>
          </a:p>
          <a:p xmlns:a="http://schemas.openxmlformats.org/drawingml/2006/main">
            <a:r>
              <a:t>公表日 2026-07-02</a:t>
            </a:r>
          </a:p>
          <a:p xmlns:a="http://schemas.openxmlformats.org/drawingml/2006/main">
            <a:r>
              <a:t>https://www.aist.go.jp/aist_j/news/pr20260702.html</a:t>
            </a:r>
          </a:p>
          <a:p xmlns:a="http://schemas.openxmlformats.org/drawingml/2006/main">
            <a:r>
              <a:t>掲載位置 産総研を核とした製造AX拠点</a:t>
            </a:r>
          </a:p>
          <a:p xmlns:a="http://schemas.openxmlformats.org/drawingml/2006/main">
            <a:r>
              <a:t>文脈の要約 拠点に期待される支援として、取得設計、匿名化・構造化、AI開発を説明する。</a:t>
            </a:r>
          </a:p>
          <a:p xmlns:a="http://schemas.openxmlformats.org/drawingml/2006/main">
            <a:r>
              <a:t>根拠にする論点 データ取得の役割</a:t>
            </a:r>
          </a:p>
          <a:p xmlns:a="http://schemas.openxmlformats.org/drawingml/2006/main">
            <a:r>
              <a:t>この一節からは言えないこと 期待される役割の説明であり、特定の取得技術の性能実証ではない。</a:t>
            </a:r>
          </a:p>
          <a:p xmlns:a="http://schemas.openxmlformats.org/drawingml/2006/main">
            <a:r>
              <a:t>確認 2026-10-22 原文テキストと照合</a:t>
            </a:r>
          </a:p>
          <a:p xmlns:a="http://schemas.openxmlformats.org/drawingml/2006/main">
            <a:r>
              <a:t/>
            </a:r>
          </a:p>
          <a:p xmlns:a="http://schemas.openxmlformats.org/drawingml/2006/main">
            <a:r>
              <a:t>Q05 / S05</a:t>
            </a:r>
          </a:p>
          <a:p xmlns:a="http://schemas.openxmlformats.org/drawingml/2006/main">
            <a:r>
              <a:t>MONOistの記者説明。マザック共同開発を取材</a:t>
            </a:r>
          </a:p>
          <a:p xmlns:a="http://schemas.openxmlformats.org/drawingml/2006/main">
            <a:r>
              <a:t>MONOist 加工の工程設計をAIエージェントで自動化</a:t>
            </a:r>
          </a:p>
          <a:p xmlns:a="http://schemas.openxmlformats.org/drawingml/2006/main">
            <a:r>
              <a:t>公表日 2026-10-19</a:t>
            </a:r>
          </a:p>
          <a:p xmlns:a="http://schemas.openxmlformats.org/drawingml/2006/main">
            <a:r>
              <a:t>https://monoist.itmedia.co.jp/mn/articles/2610/19/news039_2.html</a:t>
            </a:r>
          </a:p>
          <a:p xmlns:a="http://schemas.openxmlformats.org/drawingml/2006/main">
            <a:r>
              <a:t>掲載位置 後編 MAZATROLとGコードを比較する段落</a:t>
            </a:r>
          </a:p>
          <a:p xmlns:a="http://schemas.openxmlformats.org/drawingml/2006/main">
            <a:r>
              <a:t>文脈の要約 対話プログラムの加工意図と判断結果を学習する方式を説明する。</a:t>
            </a:r>
          </a:p>
          <a:p xmlns:a="http://schemas.openxmlformats.org/drawingml/2006/main">
            <a:r>
              <a:t>根拠にする論点 加工意図の形式知化</a:t>
            </a:r>
          </a:p>
          <a:p xmlns:a="http://schemas.openxmlformats.org/drawingml/2006/main">
            <a:r>
              <a:t>この一節からは言えないこと 記者の説明からの抜粋で、発言者の直接発言ではない。</a:t>
            </a:r>
          </a:p>
          <a:p xmlns:a="http://schemas.openxmlformats.org/drawingml/2006/main">
            <a:r>
              <a:t>確認 2026-10-22 原文テキストと照合</a:t>
            </a:r>
          </a:p>
          <a:p xmlns:a="http://schemas.openxmlformats.org/drawingml/2006/main">
            <a:r>
              <a:t/>
            </a:r>
          </a:p>
          <a:p xmlns:a="http://schemas.openxmlformats.org/drawingml/2006/main">
            <a:r>
              <a:t>Q21 / S21</a:t>
            </a:r>
          </a:p>
          <a:p xmlns:a="http://schemas.openxmlformats.org/drawingml/2006/main">
            <a:r>
              <a:t>KPMGの解説</a:t>
            </a:r>
          </a:p>
          <a:p xmlns:a="http://schemas.openxmlformats.org/drawingml/2006/main">
            <a:r>
              <a:t>KPMGコンサルティング フィジカルAIで変わるロボティクスの競争条件</a:t>
            </a:r>
          </a:p>
          <a:p xmlns:a="http://schemas.openxmlformats.org/drawingml/2006/main">
            <a:r>
              <a:t>公表日 2026-08-18</a:t>
            </a:r>
          </a:p>
          <a:p xmlns:a="http://schemas.openxmlformats.org/drawingml/2006/main">
            <a:r>
              <a:t>https://kpmg.com/jp/ja/insights/2026/08/ai-emergingtech-10.html</a:t>
            </a:r>
          </a:p>
          <a:p xmlns:a="http://schemas.openxmlformats.org/drawingml/2006/main">
            <a:r>
              <a:t>掲載位置 1 二つのループで構成されるフィジカルAI</a:t>
            </a:r>
          </a:p>
          <a:p xmlns:a="http://schemas.openxmlformats.org/drawingml/2006/main">
            <a:r>
              <a:t>文脈の要約 事前に設計した手順と対比し、実行のループとモデル更新を分けて説明する。</a:t>
            </a:r>
          </a:p>
          <a:p xmlns:a="http://schemas.openxmlformats.org/drawingml/2006/main">
            <a:r>
              <a:t>根拠にする論点 変化に対応するフィジカルAI</a:t>
            </a:r>
          </a:p>
          <a:p xmlns:a="http://schemas.openxmlformats.org/drawingml/2006/main">
            <a:r>
              <a:t>この一節からは言えないこと KPMGの整理。一般規格ではなく、本調査の作業定義を支える一つの見解。</a:t>
            </a:r>
          </a:p>
          <a:p xmlns:a="http://schemas.openxmlformats.org/drawingml/2006/main">
            <a:r>
              <a:t>確認 2026-10-22 原文テキストと照合</a:t>
            </a:r>
          </a:p>
          <a:p xmlns:a="http://schemas.openxmlformats.org/drawingml/2006/main">
            <a:r>
              <a:t/>
            </a:r>
          </a:p>
          <a:p xmlns:a="http://schemas.openxmlformats.org/drawingml/2006/main">
            <a:r>
              <a:t>Q24 / S24</a:t>
            </a:r>
          </a:p>
          <a:p xmlns:a="http://schemas.openxmlformats.org/drawingml/2006/main">
            <a:r>
              <a:t>DMG森精機 森雅彦氏の取材発言</a:t>
            </a:r>
          </a:p>
          <a:p xmlns:a="http://schemas.openxmlformats.org/drawingml/2006/main">
            <a:r>
              <a:t>MONOist 工作機械のソフトウェアデファインド化とMX</a:t>
            </a:r>
          </a:p>
          <a:p xmlns:a="http://schemas.openxmlformats.org/drawingml/2006/main">
            <a:r>
              <a:t>公表日 2025-09-26</a:t>
            </a:r>
          </a:p>
          <a:p xmlns:a="http://schemas.openxmlformats.org/drawingml/2006/main">
            <a:r>
              <a:t>https://monoist.itmedia.co.jp/mn/articles/2509/27/news004_2.html</a:t>
            </a:r>
          </a:p>
          <a:p xmlns:a="http://schemas.openxmlformats.org/drawingml/2006/main">
            <a:r>
              <a:t>掲載位置 後編 シミュレーションとAIに関する回答</a:t>
            </a:r>
          </a:p>
          <a:p xmlns:a="http://schemas.openxmlformats.org/drawingml/2006/main">
            <a:r>
              <a:t>文脈の要約 研究論文への言及として、モデルを土台にAIを使う方法へ関心を示す。</a:t>
            </a:r>
          </a:p>
          <a:p xmlns:a="http://schemas.openxmlformats.org/drawingml/2006/main">
            <a:r>
              <a:t>根拠にする論点 物理モデルとAIの組合せ</a:t>
            </a:r>
          </a:p>
          <a:p xmlns:a="http://schemas.openxmlformats.org/drawingml/2006/main">
            <a:r>
              <a:t>この一節からは言えないこと 技術への関心を述べた条件節。特定の自社実装の達成証明ではない。</a:t>
            </a:r>
          </a:p>
          <a:p xmlns:a="http://schemas.openxmlformats.org/drawingml/2006/main">
            <a:r>
              <a:t>確認 2026-10-22 原文テキストと照合</a:t>
            </a:r>
          </a:p>
          <a:p xmlns:a="http://schemas.openxmlformats.org/drawingml/2006/main">
            <a:r>
              <a:t/>
            </a:r>
          </a:p>
          <a:p xmlns:a="http://schemas.openxmlformats.org/drawingml/2006/main">
            <a:r>
              <a:t>Q26 / S26</a:t>
            </a:r>
          </a:p>
          <a:p xmlns:a="http://schemas.openxmlformats.org/drawingml/2006/main">
            <a:r>
              <a:t>DMG森精機の公式製品発表</a:t>
            </a:r>
          </a:p>
          <a:p xmlns:a="http://schemas.openxmlformats.org/drawingml/2006/main">
            <a:r>
              <a:t>DMG森精機 CELOS ClubにCondition Agentを搭載</a:t>
            </a:r>
          </a:p>
          <a:p xmlns:a="http://schemas.openxmlformats.org/drawingml/2006/main">
            <a:r>
              <a:t>公表日 2026-07-06</a:t>
            </a:r>
          </a:p>
          <a:p xmlns:a="http://schemas.openxmlformats.org/drawingml/2006/main">
            <a:r>
              <a:t>https://www.dmgmori.co.jp/corporate/news/2026/20260706_conditionagent.html</a:t>
            </a:r>
          </a:p>
          <a:p xmlns:a="http://schemas.openxmlformats.org/drawingml/2006/main">
            <a:r>
              <a:t>掲載位置 Condition Agentの診断方法</a:t>
            </a:r>
          </a:p>
          <a:p xmlns:a="http://schemas.openxmlformats.org/drawingml/2006/main">
            <a:r>
              <a:t>文脈の要約 専用の動作でデータを得てクラウド分析する方式の説明。</a:t>
            </a:r>
          </a:p>
          <a:p xmlns:a="http://schemas.openxmlformats.org/drawingml/2006/main">
            <a:r>
              <a:t>根拠にする論点 取得条件を作る診断</a:t>
            </a:r>
          </a:p>
          <a:p xmlns:a="http://schemas.openxmlformats.org/drawingml/2006/main">
            <a:r>
              <a:t>この一節からは言えないこと 診断方法の部分引用。全ての加工ログが同じ方法で取られるわけではない。</a:t>
            </a:r>
          </a:p>
          <a:p xmlns:a="http://schemas.openxmlformats.org/drawingml/2006/main">
            <a:r>
              <a:t>確認 2026-10-22 原文テキストと照合</a:t>
            </a:r>
          </a:p>
          <a:p xmlns:a="http://schemas.openxmlformats.org/drawingml/2006/main">
            <a:r>
              <a:t/>
            </a:r>
          </a:p>
          <a:p xmlns:a="http://schemas.openxmlformats.org/drawingml/2006/main">
            <a:r>
              <a:t>Q44 / A01</a:t>
            </a:r>
          </a:p>
          <a:p xmlns:a="http://schemas.openxmlformats.org/drawingml/2006/main">
            <a:r>
              <a:t>Third Wave Systemsの公式サービス説明</a:t>
            </a:r>
          </a:p>
          <a:p xmlns:a="http://schemas.openxmlformats.org/drawingml/2006/main">
            <a:r>
              <a:t>Third Wave Systems Engineering Services</a:t>
            </a:r>
          </a:p>
          <a:p xmlns:a="http://schemas.openxmlformats.org/drawingml/2006/main">
            <a:r>
              <a:t>公表日 未記載</a:t>
            </a:r>
          </a:p>
          <a:p xmlns:a="http://schemas.openxmlformats.org/drawingml/2006/main">
            <a:r>
              <a:t>https://thirdwavesys.com/engineering/engineering-services/</a:t>
            </a:r>
          </a:p>
          <a:p xmlns:a="http://schemas.openxmlformats.org/drawingml/2006/main">
            <a:r>
              <a:t>掲載位置 Material Modeling Services</a:t>
            </a:r>
          </a:p>
          <a:p xmlns:a="http://schemas.openxmlformats.org/drawingml/2006/main">
            <a:r>
              <a:t>文脈の要約 材料試験と構成則の作成後に行う、シミュレーションと実加工の照合を説明する。</a:t>
            </a:r>
          </a:p>
          <a:p xmlns:a="http://schemas.openxmlformats.org/drawingml/2006/main">
            <a:r>
              <a:t>根拠にする論点 実測でモデルを検証する仕事</a:t>
            </a:r>
          </a:p>
          <a:p xmlns:a="http://schemas.openxmlformats.org/drawingml/2006/main">
            <a:r>
              <a:t>この一節からは言えないこと あらゆる条件での精度保証ではない。</a:t>
            </a:r>
          </a:p>
          <a:p xmlns:a="http://schemas.openxmlformats.org/drawingml/2006/main">
            <a:r>
              <a:t>確認 2026-10-22 原文テキストと照合</a:t>
            </a:r>
          </a:p>
          <a:p xmlns:a="http://schemas.openxmlformats.org/drawingml/2006/main">
            <a:r>
              <a:t/>
            </a:r>
          </a:p>
          <a:p xmlns:a="http://schemas.openxmlformats.org/drawingml/2006/main">
            <a:r>
              <a:t>Q46 / A09</a:t>
            </a:r>
          </a:p>
          <a:p xmlns:a="http://schemas.openxmlformats.org/drawingml/2006/main">
            <a:r>
              <a:t>東芝デジタルソリューションズ 岡本賢司氏の対談発言</a:t>
            </a:r>
          </a:p>
          <a:p xmlns:a="http://schemas.openxmlformats.org/drawingml/2006/main">
            <a:r>
              <a:t>東芝 製造現場の知見を生かしてAIエージェントを活用するには 前編</a:t>
            </a:r>
          </a:p>
          <a:p xmlns:a="http://schemas.openxmlformats.org/drawingml/2006/main">
            <a:r>
              <a:t>公表日 2026-03-06</a:t>
            </a:r>
          </a:p>
          <a:p xmlns:a="http://schemas.openxmlformats.org/drawingml/2006/main">
            <a:r>
              <a:t>https://www.global.toshiba/jp/company/digitalsolution/articles/digicon/2026/82-1.html</a:t>
            </a:r>
          </a:p>
          <a:p xmlns:a="http://schemas.openxmlformats.org/drawingml/2006/main">
            <a:r>
              <a:t>掲載位置 2 AIマルチエージェントの開発事例</a:t>
            </a:r>
          </a:p>
          <a:p xmlns:a="http://schemas.openxmlformats.org/drawingml/2006/main">
            <a:r>
              <a:t>文脈の要約 分析計画や条件の指定と、既存プログラムでの計算を分担する説明。</a:t>
            </a:r>
          </a:p>
          <a:p xmlns:a="http://schemas.openxmlformats.org/drawingml/2006/main">
            <a:r>
              <a:t>根拠にする論点 エージェントと数値計算の分担</a:t>
            </a:r>
          </a:p>
          <a:p xmlns:a="http://schemas.openxmlformats.org/drawingml/2006/main">
            <a:r>
              <a:t>この一節からは言えないこと AIが計算式を自由に生成する方式の根拠にはしない。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開発候補は仮説。自社能力・未充足需要・支払意思を照合し、顧客の品質・準備時間・停止損失で判断する。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Q01 / S01</a:t>
            </a:r>
          </a:p>
          <a:p xmlns:a="http://schemas.openxmlformats.org/drawingml/2006/main">
            <a:r>
              <a:t>産総研の公式説明</a:t>
            </a:r>
          </a:p>
          <a:p xmlns:a="http://schemas.openxmlformats.org/drawingml/2006/main">
            <a:r>
              <a:t>産総研 製造AX拠点を始動</a:t>
            </a:r>
          </a:p>
          <a:p xmlns:a="http://schemas.openxmlformats.org/drawingml/2006/main">
            <a:r>
              <a:t>公表日 2026-07-02</a:t>
            </a:r>
          </a:p>
          <a:p xmlns:a="http://schemas.openxmlformats.org/drawingml/2006/main">
            <a:r>
              <a:t>https://www.aist.go.jp/aist_j/news/pr20260702.html</a:t>
            </a:r>
          </a:p>
          <a:p xmlns:a="http://schemas.openxmlformats.org/drawingml/2006/main">
            <a:r>
              <a:t>掲載位置 産総研を核とした製造AX拠点</a:t>
            </a:r>
          </a:p>
          <a:p xmlns:a="http://schemas.openxmlformats.org/drawingml/2006/main">
            <a:r>
              <a:t>文脈の要約 拠点に期待される支援として、取得設計、匿名化・構造化、AI開発を説明する。</a:t>
            </a:r>
          </a:p>
          <a:p xmlns:a="http://schemas.openxmlformats.org/drawingml/2006/main">
            <a:r>
              <a:t>根拠にする論点 データ取得の役割</a:t>
            </a:r>
          </a:p>
          <a:p xmlns:a="http://schemas.openxmlformats.org/drawingml/2006/main">
            <a:r>
              <a:t>この一節からは言えないこと 期待される役割の説明であり、特定の取得技術の性能実証ではない。</a:t>
            </a:r>
          </a:p>
          <a:p xmlns:a="http://schemas.openxmlformats.org/drawingml/2006/main">
            <a:r>
              <a:t>確認 2026-10-22 原文テキストと照合</a:t>
            </a:r>
          </a:p>
          <a:p xmlns:a="http://schemas.openxmlformats.org/drawingml/2006/main">
            <a:r>
              <a:t/>
            </a:r>
          </a:p>
          <a:p xmlns:a="http://schemas.openxmlformats.org/drawingml/2006/main">
            <a:r>
              <a:t>Q41 / D01</a:t>
            </a:r>
          </a:p>
          <a:p xmlns:a="http://schemas.openxmlformats.org/drawingml/2006/main">
            <a:r>
              <a:t>NVIDIA公式教材</a:t>
            </a:r>
          </a:p>
          <a:p xmlns:a="http://schemas.openxmlformats.org/drawingml/2006/main">
            <a:r>
              <a:t>NVIDIA NVIDIA Physical AI学習教材</a:t>
            </a:r>
          </a:p>
          <a:p xmlns:a="http://schemas.openxmlformats.org/drawingml/2006/main">
            <a:r>
              <a:t>公表日 未記載</a:t>
            </a:r>
          </a:p>
          <a:p xmlns:a="http://schemas.openxmlformats.org/drawingml/2006/main">
            <a:r>
              <a:t>https://docs.nvidia.com/learning/physical-ai/sim-to-real-so-101/latest/01-overview.html</a:t>
            </a:r>
          </a:p>
          <a:p xmlns:a="http://schemas.openxmlformats.org/drawingml/2006/main">
            <a:r>
              <a:t>掲載位置 What Is Physical AI? の4項目目</a:t>
            </a:r>
          </a:p>
          <a:p xmlns:a="http://schemas.openxmlformats.org/drawingml/2006/main">
            <a:r>
              <a:t>文脈の要約 知覚、物理・空間の理解、実行、環境の変動への適応を説明する。</a:t>
            </a:r>
          </a:p>
          <a:p xmlns:a="http://schemas.openxmlformats.org/drawingml/2006/main">
            <a:r>
              <a:t>根拠にする論点 現実環境の不確実性への対応</a:t>
            </a:r>
          </a:p>
          <a:p xmlns:a="http://schemas.openxmlformats.org/drawingml/2006/main">
            <a:r>
              <a:t>この一節からは言えないこと 教材の能力整理。工業用システムの性能証明ではない。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data/research/deep_reading_20261021/source_coverage.json</a:t>
            </a:r>
          </a:p>
          <a:p xmlns:a="http://schemas.openxmlformats.org/drawingml/2006/main">
            <a:r>
              <a:t>https://github.com/jio-n/J_research/blob/main/data/research/deep_reading_20261021/source_coverage.json</a:t>
            </a:r>
          </a:p>
          <a:p xmlns:a="http://schemas.openxmlformats.org/drawingml/2006/main">
            <a:r>
              <a:t/>
            </a:r>
          </a:p>
          <a:p xmlns:a="http://schemas.openxmlformats.org/drawingml/2006/main">
            <a:r>
              <a:t>data/research/quotation_evidence_20261022/quotes.json</a:t>
            </a:r>
          </a:p>
          <a:p xmlns:a="http://schemas.openxmlformats.org/drawingml/2006/main">
            <a:r>
              <a:t>https://github.com/jio-n/J_research/blob/main/data/research/quotation_evidence_20261022/quotes.json</a:t>
            </a:r>
          </a:p>
          <a:p xmlns:a="http://schemas.openxmlformats.org/drawingml/2006/main">
            <a:r>
              <a:t/>
            </a:r>
          </a:p>
          <a:p xmlns:a="http://schemas.openxmlformats.org/drawingml/2006/main">
            <a:r>
              <a:t>data/research/strategy_review_20261021/exhibitor_coverage_all_2024_2026.csv</a:t>
            </a:r>
          </a:p>
          <a:p xmlns:a="http://schemas.openxmlformats.org/drawingml/2006/main">
            <a:r>
              <a:t>https://github.com/jio-n/J_research/blob/main/data/research/strategy_review_20261021/exhibitor_coverage_all_2024_2026.csv</a:t>
            </a:r>
          </a:p>
          <a:p xmlns:a="http://schemas.openxmlformats.org/drawingml/2006/main">
            <a:r>
              <a:t/>
            </a:r>
          </a:p>
          <a:p xmlns:a="http://schemas.openxmlformats.org/drawingml/2006/main">
            <a:r>
              <a:t/>
            </a:r>
          </a:p>
          <a:p xmlns:a="http://schemas.openxmlformats.org/drawingml/2006/main">
            <a:r>
              <a:t/>
            </a:r>
          </a:p>
          <a:p xmlns:a="http://schemas.openxmlformats.org/drawingml/2006/main">
            <a:r>
              <a:t>留保 現地調査前の公開情報整理。原文44件をテキスト、2件をPDF画像で照合。重要文を全て抽出し尽くした状態ではない。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data/research/strategy_review_20261021/macro_wording_signals.csv</a:t>
            </a:r>
          </a:p>
          <a:p xmlns:a="http://schemas.openxmlformats.org/drawingml/2006/main">
            <a:r>
              <a:t>https://github.com/jio-n/J_research/blob/main/data/research/strategy_review_20261021/macro_wording_signals.csv</a:t>
            </a:r>
          </a:p>
          <a:p xmlns:a="http://schemas.openxmlformats.org/drawingml/2006/main">
            <a:r>
              <a:t/>
            </a:r>
          </a:p>
          <a:p xmlns:a="http://schemas.openxmlformats.org/drawingml/2006/main">
            <a:r>
              <a:t>data/research/macro_20261019/census.json</a:t>
            </a:r>
          </a:p>
          <a:p xmlns:a="http://schemas.openxmlformats.org/drawingml/2006/main">
            <a:r>
              <a:t>https://github.com/jio-n/J_research/blob/main/data/research/macro_20261019/census.json</a:t>
            </a:r>
          </a:p>
          <a:p xmlns:a="http://schemas.openxmlformats.org/drawingml/2006/main">
            <a:r>
              <a:t/>
            </a:r>
          </a:p>
          <a:p xmlns:a="http://schemas.openxmlformats.org/drawingml/2006/main">
            <a:r>
              <a:t>AI明示: 2024年 22件、2026年 40件</a:t>
            </a:r>
          </a:p>
          <a:p xmlns:a="http://schemas.openxmlformats.org/drawingml/2006/main">
            <a:r>
              <a:t>生成AIとエージェント: 2024年 0件、2026年 5件</a:t>
            </a:r>
          </a:p>
          <a:p xmlns:a="http://schemas.openxmlformats.org/drawingml/2006/main">
            <a:r>
              <a:t>フィジカルAI明示: 2024年 0件、2026年 7件</a:t>
            </a:r>
          </a:p>
          <a:p xmlns:a="http://schemas.openxmlformats.org/drawingml/2006/main">
            <a:r>
              <a:t>自動化と省人化: 2024年 172件、2026年 193件</a:t>
            </a:r>
          </a:p>
          <a:p xmlns:a="http://schemas.openxmlformats.org/drawingml/2006/main">
            <a:r>
              <a:t>設計製造のデジタル化: 2024年 43件、2026年 39件</a:t>
            </a:r>
          </a:p>
          <a:p xmlns:a="http://schemas.openxmlformats.org/drawingml/2006/main">
            <a:r>
              <a:t>工場運用とデータ連携: 2024年 59件、2026年 57件</a:t>
            </a:r>
          </a:p>
          <a:p xmlns:a="http://schemas.openxmlformats.org/drawingml/2006/main">
            <a:r>
              <a:t>状態監視と補正: 2024年 31件、2026年 26件</a:t>
            </a:r>
          </a:p>
          <a:p xmlns:a="http://schemas.openxmlformats.org/drawingml/2006/main">
            <a:r>
              <a:t>自律の明示: 2024年 4件、2026年 6件</a:t>
            </a:r>
          </a:p>
          <a:p xmlns:a="http://schemas.openxmlformats.org/drawingml/2006/main">
            <a:r>
              <a:t/>
            </a:r>
          </a:p>
          <a:p xmlns:a="http://schemas.openxmlformats.org/drawingml/2006/main">
            <a:r>
              <a:t>留保 単位は名称キーの明示件数。重複分類あり。説明量・展示対象の変化も含み、採用率や新機能数・性能向上を示さない。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Q02 / S02</a:t>
            </a:r>
          </a:p>
          <a:p xmlns:a="http://schemas.openxmlformats.org/drawingml/2006/main">
            <a:r>
              <a:t>DMG森精機の公式発表</a:t>
            </a:r>
          </a:p>
          <a:p xmlns:a="http://schemas.openxmlformats.org/drawingml/2006/main">
            <a:r>
              <a:t>DMG森精機 GENIAC事業に採択：生産設備データエコシステムと製造フィジカルAI基盤</a:t>
            </a:r>
          </a:p>
          <a:p xmlns:a="http://schemas.openxmlformats.org/drawingml/2006/main">
            <a:r>
              <a:t>公表日 2026-07-06</a:t>
            </a:r>
          </a:p>
          <a:p xmlns:a="http://schemas.openxmlformats.org/drawingml/2006/main">
            <a:r>
              <a:t>https://www.dmgmori.co.jp/corporate/news/2026/20260706_geniac.html</a:t>
            </a:r>
          </a:p>
          <a:p xmlns:a="http://schemas.openxmlformats.org/drawingml/2006/main">
            <a:r>
              <a:t>掲載位置 多目的AI開発基盤の説明</a:t>
            </a:r>
          </a:p>
          <a:p xmlns:a="http://schemas.openxmlformats.org/drawingml/2006/main">
            <a:r>
              <a:t>文脈の要約 異常検知から品質予測・条件最適化、生産セルへ広げる計画の中の表現。</a:t>
            </a:r>
          </a:p>
          <a:p xmlns:a="http://schemas.openxmlformats.org/drawingml/2006/main">
            <a:r>
              <a:t>根拠にする論点 循環する開発戦略</a:t>
            </a:r>
          </a:p>
          <a:p xmlns:a="http://schemas.openxmlformats.org/drawingml/2006/main">
            <a:r>
              <a:t>この一節からは言えないこと 構築を目指す仕組み。既に全用途で循環が成立したという実績ではない。</a:t>
            </a:r>
          </a:p>
          <a:p xmlns:a="http://schemas.openxmlformats.org/drawingml/2006/main">
            <a:r>
              <a:t>確認 2026-10-22 原文テキストと照合</a:t>
            </a:r>
          </a:p>
          <a:p xmlns:a="http://schemas.openxmlformats.org/drawingml/2006/main">
            <a:r>
              <a:t/>
            </a:r>
          </a:p>
          <a:p xmlns:a="http://schemas.openxmlformats.org/drawingml/2006/main">
            <a:r>
              <a:t>Q04 / S04</a:t>
            </a:r>
          </a:p>
          <a:p xmlns:a="http://schemas.openxmlformats.org/drawingml/2006/main">
            <a:r>
              <a:t>ABEJAの公式説明</a:t>
            </a:r>
          </a:p>
          <a:p xmlns:a="http://schemas.openxmlformats.org/drawingml/2006/main">
            <a:r>
              <a:t>ABEJA マザックと製造現場のフィジカルAI実装に向けた業務連携</a:t>
            </a:r>
          </a:p>
          <a:p xmlns:a="http://schemas.openxmlformats.org/drawingml/2006/main">
            <a:r>
              <a:t>公表日 2026-10-16</a:t>
            </a:r>
          </a:p>
          <a:p xmlns:a="http://schemas.openxmlformats.org/drawingml/2006/main">
            <a:r>
              <a:t>https://www.abejainc.com/news/20261016/2</a:t>
            </a:r>
          </a:p>
          <a:p xmlns:a="http://schemas.openxmlformats.org/drawingml/2006/main">
            <a:r>
              <a:t>掲載位置 背景・製造業の課題</a:t>
            </a:r>
          </a:p>
          <a:p xmlns:a="http://schemas.openxmlformats.org/drawingml/2006/main">
            <a:r>
              <a:t>文脈の要約 工程設計・計画・段取りが熟練者へ依存する背景を説明する。</a:t>
            </a:r>
          </a:p>
          <a:p xmlns:a="http://schemas.openxmlformats.org/drawingml/2006/main">
            <a:r>
              <a:t>根拠にする論点 顧客ニーズ</a:t>
            </a:r>
          </a:p>
          <a:p xmlns:a="http://schemas.openxmlformats.org/drawingml/2006/main">
            <a:r>
              <a:t>この一節からは言えないこと 共同開発の背景認識。業界全体の導入率や定量的な需要規模ではない。</a:t>
            </a:r>
          </a:p>
          <a:p xmlns:a="http://schemas.openxmlformats.org/drawingml/2006/main">
            <a:r>
              <a:t>確認 2026-10-22 原文テキストと照合</a:t>
            </a:r>
          </a:p>
          <a:p xmlns:a="http://schemas.openxmlformats.org/drawingml/2006/main">
            <a:r>
              <a:t/>
            </a:r>
          </a:p>
          <a:p xmlns:a="http://schemas.openxmlformats.org/drawingml/2006/main">
            <a:r>
              <a:t>Q05 / S05</a:t>
            </a:r>
          </a:p>
          <a:p xmlns:a="http://schemas.openxmlformats.org/drawingml/2006/main">
            <a:r>
              <a:t>MONOistの記者説明。マザック共同開発を取材</a:t>
            </a:r>
          </a:p>
          <a:p xmlns:a="http://schemas.openxmlformats.org/drawingml/2006/main">
            <a:r>
              <a:t>MONOist 加工の工程設計をAIエージェントで自動化</a:t>
            </a:r>
          </a:p>
          <a:p xmlns:a="http://schemas.openxmlformats.org/drawingml/2006/main">
            <a:r>
              <a:t>公表日 2026-10-19</a:t>
            </a:r>
          </a:p>
          <a:p xmlns:a="http://schemas.openxmlformats.org/drawingml/2006/main">
            <a:r>
              <a:t>https://monoist.itmedia.co.jp/mn/articles/2610/19/news039_2.html</a:t>
            </a:r>
          </a:p>
          <a:p xmlns:a="http://schemas.openxmlformats.org/drawingml/2006/main">
            <a:r>
              <a:t>掲載位置 後編 MAZATROLとGコードを比較する段落</a:t>
            </a:r>
          </a:p>
          <a:p xmlns:a="http://schemas.openxmlformats.org/drawingml/2006/main">
            <a:r>
              <a:t>文脈の要約 対話プログラムの加工意図と判断結果を学習する方式を説明する。</a:t>
            </a:r>
          </a:p>
          <a:p xmlns:a="http://schemas.openxmlformats.org/drawingml/2006/main">
            <a:r>
              <a:t>根拠にする論点 加工意図の形式知化</a:t>
            </a:r>
          </a:p>
          <a:p xmlns:a="http://schemas.openxmlformats.org/drawingml/2006/main">
            <a:r>
              <a:t>この一節からは言えないこと 記者の説明からの抜粋で、発言者の直接発言ではない。</a:t>
            </a:r>
          </a:p>
          <a:p xmlns:a="http://schemas.openxmlformats.org/drawingml/2006/main">
            <a:r>
              <a:t>確認 2026-10-22 原文テキストと照合</a:t>
            </a:r>
          </a:p>
          <a:p xmlns:a="http://schemas.openxmlformats.org/drawingml/2006/main">
            <a:r>
              <a:t/>
            </a:r>
          </a:p>
          <a:p xmlns:a="http://schemas.openxmlformats.org/drawingml/2006/main">
            <a:r>
              <a:t>Q06 / S06</a:t>
            </a:r>
          </a:p>
          <a:p xmlns:a="http://schemas.openxmlformats.org/drawingml/2006/main">
            <a:r>
              <a:t>日立・ファナックの共同発表をファナックが掲載</a:t>
            </a:r>
          </a:p>
          <a:p xmlns:a="http://schemas.openxmlformats.org/drawingml/2006/main">
            <a:r>
              <a:t>ファナック・日立 フィジカルAI実装の共同事業化に向けた戦略的パートナーシップ</a:t>
            </a:r>
          </a:p>
          <a:p xmlns:a="http://schemas.openxmlformats.org/drawingml/2006/main">
            <a:r>
              <a:t>公表日 2026-09-30</a:t>
            </a:r>
          </a:p>
          <a:p xmlns:a="http://schemas.openxmlformats.org/drawingml/2006/main">
            <a:r>
              <a:t>https://www.fanuc.co.jp/ja/profile/pr/newsrelease/2026/news20260930.html</a:t>
            </a:r>
          </a:p>
          <a:p xmlns:a="http://schemas.openxmlformats.org/drawingml/2006/main">
            <a:r>
              <a:t>掲載位置 提携の説明・カスタマーゼロの段落</a:t>
            </a:r>
          </a:p>
          <a:p xmlns:a="http://schemas.openxmlformats.org/drawingml/2006/main">
            <a:r>
              <a:t>文脈の要約 日立の工場で共同実証し、現場課題へ柔軟に対応する実用化計画の一節。</a:t>
            </a:r>
          </a:p>
          <a:p xmlns:a="http://schemas.openxmlformats.org/drawingml/2006/main">
            <a:r>
              <a:t>根拠にする論点 現場での学習・適応</a:t>
            </a:r>
          </a:p>
          <a:p xmlns:a="http://schemas.openxmlformats.org/drawingml/2006/main">
            <a:r>
              <a:t>この一節からは言えないこと 将来の共同実証・実用化を説明する。全機能の達成実績とはしない。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計画・研究・商品・展示予定を区別。データを収集済み、共同技術を全顧客へ提供済みとは扱わない。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Q02 / S02</a:t>
            </a:r>
          </a:p>
          <a:p xmlns:a="http://schemas.openxmlformats.org/drawingml/2006/main">
            <a:r>
              <a:t>DMG森精機の公式発表</a:t>
            </a:r>
          </a:p>
          <a:p xmlns:a="http://schemas.openxmlformats.org/drawingml/2006/main">
            <a:r>
              <a:t>DMG森精機 GENIAC事業に採択：生産設備データエコシステムと製造フィジカルAI基盤</a:t>
            </a:r>
          </a:p>
          <a:p xmlns:a="http://schemas.openxmlformats.org/drawingml/2006/main">
            <a:r>
              <a:t>公表日 2026-07-06</a:t>
            </a:r>
          </a:p>
          <a:p xmlns:a="http://schemas.openxmlformats.org/drawingml/2006/main">
            <a:r>
              <a:t>https://www.dmgmori.co.jp/corporate/news/2026/20260706_geniac.html</a:t>
            </a:r>
          </a:p>
          <a:p xmlns:a="http://schemas.openxmlformats.org/drawingml/2006/main">
            <a:r>
              <a:t>掲載位置 多目的AI開発基盤の説明</a:t>
            </a:r>
          </a:p>
          <a:p xmlns:a="http://schemas.openxmlformats.org/drawingml/2006/main">
            <a:r>
              <a:t>文脈の要約 異常検知から品質予測・条件最適化、生産セルへ広げる計画の中の表現。</a:t>
            </a:r>
          </a:p>
          <a:p xmlns:a="http://schemas.openxmlformats.org/drawingml/2006/main">
            <a:r>
              <a:t>根拠にする論点 循環する開発戦略</a:t>
            </a:r>
          </a:p>
          <a:p xmlns:a="http://schemas.openxmlformats.org/drawingml/2006/main">
            <a:r>
              <a:t>この一節からは言えないこと 構築を目指す仕組み。既に全用途で循環が成立したという実績ではない。</a:t>
            </a:r>
          </a:p>
          <a:p xmlns:a="http://schemas.openxmlformats.org/drawingml/2006/main">
            <a:r>
              <a:t>確認 2026-10-22 原文テキストと照合</a:t>
            </a:r>
          </a:p>
          <a:p xmlns:a="http://schemas.openxmlformats.org/drawingml/2006/main">
            <a:r>
              <a:t/>
            </a:r>
          </a:p>
          <a:p xmlns:a="http://schemas.openxmlformats.org/drawingml/2006/main">
            <a:r>
              <a:t>Q25 / S25</a:t>
            </a:r>
          </a:p>
          <a:p xmlns:a="http://schemas.openxmlformats.org/drawingml/2006/main">
            <a:r>
              <a:t>DMG森精機 森雅彦氏の取材発言</a:t>
            </a:r>
          </a:p>
          <a:p xmlns:a="http://schemas.openxmlformats.org/drawingml/2006/main">
            <a:r>
              <a:t>MONOist 工作機械の各ユーザーにAIエージェントを</a:t>
            </a:r>
          </a:p>
          <a:p xmlns:a="http://schemas.openxmlformats.org/drawingml/2006/main">
            <a:r>
              <a:t>公表日 2026-06-15</a:t>
            </a:r>
          </a:p>
          <a:p xmlns:a="http://schemas.openxmlformats.org/drawingml/2006/main">
            <a:r>
              <a:t>https://monoist.itmedia.co.jp/mn/articles/2606/15/news047_2.html</a:t>
            </a:r>
          </a:p>
          <a:p xmlns:a="http://schemas.openxmlformats.org/drawingml/2006/main">
            <a:r>
              <a:t>掲載位置 後編 工作機械の各ユーザーにAIエージェントを</a:t>
            </a:r>
          </a:p>
          <a:p xmlns:a="http://schemas.openxmlformats.org/drawingml/2006/main">
            <a:r>
              <a:t>文脈の要約 プログラミング、工具選択、ワーク保持などの支援を展望する。</a:t>
            </a:r>
          </a:p>
          <a:p xmlns:a="http://schemas.openxmlformats.org/drawingml/2006/main">
            <a:r>
              <a:t>根拠にする論点 顧客別の継続支援</a:t>
            </a:r>
          </a:p>
          <a:p xmlns:a="http://schemas.openxmlformats.org/drawingml/2006/main">
            <a:r>
              <a:t>この一節からは言えないこと 将来の方向性。全顧客への提供済みという意味ではない。</a:t>
            </a:r>
          </a:p>
          <a:p xmlns:a="http://schemas.openxmlformats.org/drawingml/2006/main">
            <a:r>
              <a:t>確認 2026-10-22 原文テキストと照合</a:t>
            </a:r>
          </a:p>
          <a:p xmlns:a="http://schemas.openxmlformats.org/drawingml/2006/main">
            <a:r>
              <a:t/>
            </a:r>
          </a:p>
          <a:p xmlns:a="http://schemas.openxmlformats.org/drawingml/2006/main">
            <a:r>
              <a:t>Q26 / S26</a:t>
            </a:r>
          </a:p>
          <a:p xmlns:a="http://schemas.openxmlformats.org/drawingml/2006/main">
            <a:r>
              <a:t>DMG森精機の公式製品発表</a:t>
            </a:r>
          </a:p>
          <a:p xmlns:a="http://schemas.openxmlformats.org/drawingml/2006/main">
            <a:r>
              <a:t>DMG森精機 CELOS ClubにCondition Agentを搭載</a:t>
            </a:r>
          </a:p>
          <a:p xmlns:a="http://schemas.openxmlformats.org/drawingml/2006/main">
            <a:r>
              <a:t>公表日 2026-07-06</a:t>
            </a:r>
          </a:p>
          <a:p xmlns:a="http://schemas.openxmlformats.org/drawingml/2006/main">
            <a:r>
              <a:t>https://www.dmgmori.co.jp/corporate/news/2026/20260706_conditionagent.html</a:t>
            </a:r>
          </a:p>
          <a:p xmlns:a="http://schemas.openxmlformats.org/drawingml/2006/main">
            <a:r>
              <a:t>掲載位置 Condition Agentの診断方法</a:t>
            </a:r>
          </a:p>
          <a:p xmlns:a="http://schemas.openxmlformats.org/drawingml/2006/main">
            <a:r>
              <a:t>文脈の要約 専用の動作でデータを得てクラウド分析する方式の説明。</a:t>
            </a:r>
          </a:p>
          <a:p xmlns:a="http://schemas.openxmlformats.org/drawingml/2006/main">
            <a:r>
              <a:t>根拠にする論点 取得条件を作る診断</a:t>
            </a:r>
          </a:p>
          <a:p xmlns:a="http://schemas.openxmlformats.org/drawingml/2006/main">
            <a:r>
              <a:t>この一節からは言えないこと 診断方法の部分引用。全ての加工ログが同じ方法で取られるわけではない。</a:t>
            </a:r>
          </a:p>
          <a:p xmlns:a="http://schemas.openxmlformats.org/drawingml/2006/main">
            <a:r>
              <a:t>確認 2026-10-22 原文テキストと照合</a:t>
            </a:r>
          </a:p>
          <a:p xmlns:a="http://schemas.openxmlformats.org/drawingml/2006/main">
            <a:r>
              <a:t/>
            </a:r>
          </a:p>
          <a:p xmlns:a="http://schemas.openxmlformats.org/drawingml/2006/main">
            <a:r>
              <a:t>Q28 / S28</a:t>
            </a:r>
          </a:p>
          <a:p xmlns:a="http://schemas.openxmlformats.org/drawingml/2006/main">
            <a:r>
              <a:t>DMG森精機 統合報告書2022</a:t>
            </a:r>
          </a:p>
          <a:p xmlns:a="http://schemas.openxmlformats.org/drawingml/2006/main">
            <a:r>
              <a:t>DMG森精機 統合報告書2022：サービス・デジタル垂直統合</a:t>
            </a:r>
          </a:p>
          <a:p xmlns:a="http://schemas.openxmlformats.org/drawingml/2006/main">
            <a:r>
              <a:t>公表日 </a:t>
            </a:r>
          </a:p>
          <a:p xmlns:a="http://schemas.openxmlformats.org/drawingml/2006/main">
            <a:r>
              <a:t>https://www.dmgmori.co.jp/corporate/ir/ir_library/pdf/2022_ar_j.pdf#page=66</a:t>
            </a:r>
          </a:p>
          <a:p xmlns:a="http://schemas.openxmlformats.org/drawingml/2006/main">
            <a:r>
              <a:t>掲載位置 印刷頁65 テクニウムの紹介見出し</a:t>
            </a:r>
          </a:p>
          <a:p xmlns:a="http://schemas.openxmlformats.org/drawingml/2006/main">
            <a:r>
              <a:t>文脈の要約 保有機・修理・部品・学習などのデジタル接点を説明する章。</a:t>
            </a:r>
          </a:p>
          <a:p xmlns:a="http://schemas.openxmlformats.org/drawingml/2006/main">
            <a:r>
              <a:t>根拠にする論点 継続サービスの提供体制</a:t>
            </a:r>
          </a:p>
          <a:p xmlns:a="http://schemas.openxmlformats.org/drawingml/2006/main">
            <a:r>
              <a:t>この一節からは言えないこと 見出し。2026年のAI機能の性能や料金の根拠ではない。</a:t>
            </a:r>
          </a:p>
          <a:p xmlns:a="http://schemas.openxmlformats.org/drawingml/2006/main">
            <a:r>
              <a:t>確認 2026-10-22 PDF画像で原文照合（前回精読時の画像）</a:t>
            </a:r>
          </a:p>
          <a:p xmlns:a="http://schemas.openxmlformats.org/drawingml/2006/main">
            <a:r>
              <a:t/>
            </a:r>
          </a:p>
          <a:p xmlns:a="http://schemas.openxmlformats.org/drawingml/2006/main">
            <a:r>
              <a:t>Q29 / S29</a:t>
            </a:r>
          </a:p>
          <a:p xmlns:a="http://schemas.openxmlformats.org/drawingml/2006/main">
            <a:r>
              <a:t>DMG森精機 統合報告書2025</a:t>
            </a:r>
          </a:p>
          <a:p xmlns:a="http://schemas.openxmlformats.org/drawingml/2006/main">
            <a:r>
              <a:t>DMG森精機 統合報告書2025ダイジェスト：MROと開発の連環</a:t>
            </a:r>
          </a:p>
          <a:p xmlns:a="http://schemas.openxmlformats.org/drawingml/2006/main">
            <a:r>
              <a:t>公表日 2026</a:t>
            </a:r>
          </a:p>
          <a:p xmlns:a="http://schemas.openxmlformats.org/drawingml/2006/main">
            <a:r>
              <a:t>https://www.dmgmori.co.jp/corporate/ir/ir_library/pdf/2025_ir_digest_j.pdf#page=26</a:t>
            </a:r>
          </a:p>
          <a:p xmlns:a="http://schemas.openxmlformats.org/drawingml/2006/main">
            <a:r>
              <a:t>掲載位置 印刷頁25 PPRの図中の説明</a:t>
            </a:r>
          </a:p>
          <a:p xmlns:a="http://schemas.openxmlformats.org/drawingml/2006/main">
            <a:r>
              <a:t>文脈の要約 不具合を原因調査、対策・改善、製品への展開へつなぐPPRの説明。</a:t>
            </a:r>
          </a:p>
          <a:p xmlns:a="http://schemas.openxmlformats.org/drawingml/2006/main">
            <a:r>
              <a:t>根拠にする論点 修理知識を開発へ還流</a:t>
            </a:r>
          </a:p>
          <a:p xmlns:a="http://schemas.openxmlformats.org/drawingml/2006/main">
            <a:r>
              <a:t>この一節からは言えないこと 既存の改善体制。PPR自体を生成AIの新機能とはしない。</a:t>
            </a:r>
          </a:p>
          <a:p xmlns:a="http://schemas.openxmlformats.org/drawingml/2006/main">
            <a:r>
              <a:t>確認 2026-10-22 PDF画像で原文照合（前回精読時の画像）</a:t>
            </a:r>
          </a:p>
          <a:p xmlns:a="http://schemas.openxmlformats.org/drawingml/2006/main">
            <a:r>
              <a:t/>
            </a:r>
          </a:p>
          <a:p xmlns:a="http://schemas.openxmlformats.org/drawingml/2006/main">
            <a:r>
              <a:t>Q43 / A11</a:t>
            </a:r>
          </a:p>
          <a:p xmlns:a="http://schemas.openxmlformats.org/drawingml/2006/main">
            <a:r>
              <a:t>テクニウム公式のサービス案内</a:t>
            </a:r>
          </a:p>
          <a:p xmlns:a="http://schemas.openxmlformats.org/drawingml/2006/main">
            <a:r>
              <a:t>テクニウム CELOS Club サービスの特長</a:t>
            </a:r>
          </a:p>
          <a:p xmlns:a="http://schemas.openxmlformats.org/drawingml/2006/main">
            <a:r>
              <a:t>公表日 未記載</a:t>
            </a:r>
          </a:p>
          <a:p xmlns:a="http://schemas.openxmlformats.org/drawingml/2006/main">
            <a:r>
              <a:t>https://www.technium.net/celosclub/feature/</a:t>
            </a:r>
          </a:p>
          <a:p xmlns:a="http://schemas.openxmlformats.org/drawingml/2006/main">
            <a:r>
              <a:t>掲載位置 ご利用期間</a:t>
            </a:r>
          </a:p>
          <a:p xmlns:a="http://schemas.openxmlformats.org/drawingml/2006/main">
            <a:r>
              <a:t>文脈の要約 納入後の利用期間と、その後の更新を説明する。</a:t>
            </a:r>
          </a:p>
          <a:p xmlns:a="http://schemas.openxmlformats.org/drawingml/2006/main">
            <a:r>
              <a:t>根拠にする論点 継続契約の仕組み</a:t>
            </a:r>
          </a:p>
          <a:p xmlns:a="http://schemas.openxmlformats.org/drawingml/2006/main">
            <a:r>
              <a:t>この一節からは言えないこと AIの精度向上が更新率や利益を上げた証拠ではない。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既存の改善・サービス体制と、2026年の新しいAI開発を区別。継続契約の仕組みだけでAIの増益効果を断定しない。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Q04 / S04</a:t>
            </a:r>
          </a:p>
          <a:p xmlns:a="http://schemas.openxmlformats.org/drawingml/2006/main">
            <a:r>
              <a:t>ABEJAの公式説明</a:t>
            </a:r>
          </a:p>
          <a:p xmlns:a="http://schemas.openxmlformats.org/drawingml/2006/main">
            <a:r>
              <a:t>ABEJA マザックと製造現場のフィジカルAI実装に向けた業務連携</a:t>
            </a:r>
          </a:p>
          <a:p xmlns:a="http://schemas.openxmlformats.org/drawingml/2006/main">
            <a:r>
              <a:t>公表日 2026-10-16</a:t>
            </a:r>
          </a:p>
          <a:p xmlns:a="http://schemas.openxmlformats.org/drawingml/2006/main">
            <a:r>
              <a:t>https://www.abejainc.com/news/20261016/2</a:t>
            </a:r>
          </a:p>
          <a:p xmlns:a="http://schemas.openxmlformats.org/drawingml/2006/main">
            <a:r>
              <a:t>掲載位置 背景・製造業の課題</a:t>
            </a:r>
          </a:p>
          <a:p xmlns:a="http://schemas.openxmlformats.org/drawingml/2006/main">
            <a:r>
              <a:t>文脈の要約 工程設計・計画・段取りが熟練者へ依存する背景を説明する。</a:t>
            </a:r>
          </a:p>
          <a:p xmlns:a="http://schemas.openxmlformats.org/drawingml/2006/main">
            <a:r>
              <a:t>根拠にする論点 顧客ニーズ</a:t>
            </a:r>
          </a:p>
          <a:p xmlns:a="http://schemas.openxmlformats.org/drawingml/2006/main">
            <a:r>
              <a:t>この一節からは言えないこと 共同開発の背景認識。業界全体の導入率や定量的な需要規模ではない。</a:t>
            </a:r>
          </a:p>
          <a:p xmlns:a="http://schemas.openxmlformats.org/drawingml/2006/main">
            <a:r>
              <a:t>確認 2026-10-22 原文テキストと照合</a:t>
            </a:r>
          </a:p>
          <a:p xmlns:a="http://schemas.openxmlformats.org/drawingml/2006/main">
            <a:r>
              <a:t/>
            </a:r>
          </a:p>
          <a:p xmlns:a="http://schemas.openxmlformats.org/drawingml/2006/main">
            <a:r>
              <a:t>Q05 / S05</a:t>
            </a:r>
          </a:p>
          <a:p xmlns:a="http://schemas.openxmlformats.org/drawingml/2006/main">
            <a:r>
              <a:t>MONOistの記者説明。マザック共同開発を取材</a:t>
            </a:r>
          </a:p>
          <a:p xmlns:a="http://schemas.openxmlformats.org/drawingml/2006/main">
            <a:r>
              <a:t>MONOist 加工の工程設計をAIエージェントで自動化</a:t>
            </a:r>
          </a:p>
          <a:p xmlns:a="http://schemas.openxmlformats.org/drawingml/2006/main">
            <a:r>
              <a:t>公表日 2026-10-19</a:t>
            </a:r>
          </a:p>
          <a:p xmlns:a="http://schemas.openxmlformats.org/drawingml/2006/main">
            <a:r>
              <a:t>https://monoist.itmedia.co.jp/mn/articles/2610/19/news039_2.html</a:t>
            </a:r>
          </a:p>
          <a:p xmlns:a="http://schemas.openxmlformats.org/drawingml/2006/main">
            <a:r>
              <a:t>掲載位置 後編 MAZATROLとGコードを比較する段落</a:t>
            </a:r>
          </a:p>
          <a:p xmlns:a="http://schemas.openxmlformats.org/drawingml/2006/main">
            <a:r>
              <a:t>文脈の要約 対話プログラムの加工意図と判断結果を学習する方式を説明する。</a:t>
            </a:r>
          </a:p>
          <a:p xmlns:a="http://schemas.openxmlformats.org/drawingml/2006/main">
            <a:r>
              <a:t>根拠にする論点 加工意図の形式知化</a:t>
            </a:r>
          </a:p>
          <a:p xmlns:a="http://schemas.openxmlformats.org/drawingml/2006/main">
            <a:r>
              <a:t>この一節からは言えないこと 記者の説明からの抜粋で、発言者の直接発言ではない。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人の選択を再現することと、その選択が最適だと保証することは別。共同開発の目標を提供済み機能へ読み替えない。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Q06 / S06</a:t>
            </a:r>
          </a:p>
          <a:p xmlns:a="http://schemas.openxmlformats.org/drawingml/2006/main">
            <a:r>
              <a:t>日立・ファナックの共同発表をファナックが掲載</a:t>
            </a:r>
          </a:p>
          <a:p xmlns:a="http://schemas.openxmlformats.org/drawingml/2006/main">
            <a:r>
              <a:t>ファナック・日立 フィジカルAI実装の共同事業化に向けた戦略的パートナーシップ</a:t>
            </a:r>
          </a:p>
          <a:p xmlns:a="http://schemas.openxmlformats.org/drawingml/2006/main">
            <a:r>
              <a:t>公表日 2026-09-30</a:t>
            </a:r>
          </a:p>
          <a:p xmlns:a="http://schemas.openxmlformats.org/drawingml/2006/main">
            <a:r>
              <a:t>https://www.fanuc.co.jp/ja/profile/pr/newsrelease/2026/news20260930.html</a:t>
            </a:r>
          </a:p>
          <a:p xmlns:a="http://schemas.openxmlformats.org/drawingml/2006/main">
            <a:r>
              <a:t>掲載位置 提携の説明・カスタマーゼロの段落</a:t>
            </a:r>
          </a:p>
          <a:p xmlns:a="http://schemas.openxmlformats.org/drawingml/2006/main">
            <a:r>
              <a:t>文脈の要約 日立の工場で共同実証し、現場課題へ柔軟に対応する実用化計画の一節。</a:t>
            </a:r>
          </a:p>
          <a:p xmlns:a="http://schemas.openxmlformats.org/drawingml/2006/main">
            <a:r>
              <a:t>根拠にする論点 現場での学習・適応</a:t>
            </a:r>
          </a:p>
          <a:p xmlns:a="http://schemas.openxmlformats.org/drawingml/2006/main">
            <a:r>
              <a:t>この一節からは言えないこと 将来の共同実証・実用化を説明する。全機能の達成実績とはしない。</a:t>
            </a:r>
          </a:p>
          <a:p xmlns:a="http://schemas.openxmlformats.org/drawingml/2006/main">
            <a:r>
              <a:t>確認 2026-10-22 原文テキストと照合</a:t>
            </a:r>
          </a:p>
          <a:p xmlns:a="http://schemas.openxmlformats.org/drawingml/2006/main">
            <a:r>
              <a:t/>
            </a:r>
          </a:p>
          <a:p xmlns:a="http://schemas.openxmlformats.org/drawingml/2006/main">
            <a:r>
              <a:t>Q07 / S07</a:t>
            </a:r>
          </a:p>
          <a:p xmlns:a="http://schemas.openxmlformats.org/drawingml/2006/main">
            <a:r>
              <a:t>ファナック 安部健一郎氏の取材発言</a:t>
            </a:r>
          </a:p>
          <a:p xmlns:a="http://schemas.openxmlformats.org/drawingml/2006/main">
            <a:r>
              <a:t>MONOist ファナックとフィジカルAI、現場主義の開発思想</a:t>
            </a:r>
          </a:p>
          <a:p xmlns:a="http://schemas.openxmlformats.org/drawingml/2006/main">
            <a:r>
              <a:t>公表日 2026-07-02</a:t>
            </a:r>
          </a:p>
          <a:p xmlns:a="http://schemas.openxmlformats.org/drawingml/2006/main">
            <a:r>
              <a:t>https://monoist.itmedia.co.jp/mn/articles/2607/02/news043.html</a:t>
            </a:r>
          </a:p>
          <a:p xmlns:a="http://schemas.openxmlformats.org/drawingml/2006/main">
            <a:r>
              <a:t>掲載位置 1頁 やりたいことの結果がフィジカルAIだった</a:t>
            </a:r>
          </a:p>
          <a:p xmlns:a="http://schemas.openxmlformats.org/drawingml/2006/main">
            <a:r>
              <a:t>文脈の要約 決められた反復動作に対し、環境を確認してAIの演算を用いるソリューションを説明する。</a:t>
            </a:r>
          </a:p>
          <a:p xmlns:a="http://schemas.openxmlformats.org/drawingml/2006/main">
            <a:r>
              <a:t>根拠にする論点 フィジカルAIの捉え方</a:t>
            </a:r>
          </a:p>
          <a:p xmlns:a="http://schemas.openxmlformats.org/drawingml/2006/main">
            <a:r>
              <a:t>この一節からは言えないこと 正式な業界規格の定義ではない。どの変化にどこまで対応できるかは個別に調べる。</a:t>
            </a:r>
          </a:p>
          <a:p xmlns:a="http://schemas.openxmlformats.org/drawingml/2006/main">
            <a:r>
              <a:t>確認 2026-10-22 原文テキストと照合</a:t>
            </a:r>
          </a:p>
          <a:p xmlns:a="http://schemas.openxmlformats.org/drawingml/2006/main">
            <a:r>
              <a:t/>
            </a:r>
          </a:p>
          <a:p xmlns:a="http://schemas.openxmlformats.org/drawingml/2006/main">
            <a:r>
              <a:t>Q08 / S08</a:t>
            </a:r>
          </a:p>
          <a:p xmlns:a="http://schemas.openxmlformats.org/drawingml/2006/main">
            <a:r>
              <a:t>ファナックの公式発表</a:t>
            </a:r>
          </a:p>
          <a:p xmlns:a="http://schemas.openxmlformats.org/drawingml/2006/main">
            <a:r>
              <a:t>ファナック Googleの技術を活用したAIエージェントがロボットを操る</a:t>
            </a:r>
          </a:p>
          <a:p xmlns:a="http://schemas.openxmlformats.org/drawingml/2006/main">
            <a:r>
              <a:t>公表日 2026-05-13</a:t>
            </a:r>
          </a:p>
          <a:p xmlns:a="http://schemas.openxmlformats.org/drawingml/2006/main">
            <a:r>
              <a:t>https://www.fanuc.co.jp/ja/profile/pr/newsrelease/2026/news20260513.html</a:t>
            </a:r>
          </a:p>
          <a:p xmlns:a="http://schemas.openxmlformats.org/drawingml/2006/main">
            <a:r>
              <a:t>掲載位置 Intrinsic・Flowstateとの連携を説明する段落</a:t>
            </a:r>
          </a:p>
          <a:p xmlns:a="http://schemas.openxmlformats.org/drawingml/2006/main">
            <a:r>
              <a:t>文脈の要約 オープンな開発環境とロボット制御の連携により構築を容易にする説明。</a:t>
            </a:r>
          </a:p>
          <a:p xmlns:a="http://schemas.openxmlformats.org/drawingml/2006/main">
            <a:r>
              <a:t>根拠にする論点 外部AIを取り込む基盤</a:t>
            </a:r>
          </a:p>
          <a:p xmlns:a="http://schemas.openxmlformats.org/drawingml/2006/main">
            <a:r>
              <a:t>この一節からは言えないこと 適応の具体的条件や成功率をこの表現だけで認定しない。</a:t>
            </a:r>
          </a:p>
          <a:p xmlns:a="http://schemas.openxmlformats.org/drawingml/2006/main">
            <a:r>
              <a:t>確認 2026-10-22 原文テキストと照合</a:t>
            </a:r>
          </a:p>
          <a:p xmlns:a="http://schemas.openxmlformats.org/drawingml/2006/main">
            <a:r>
              <a:t/>
            </a:r>
          </a:p>
          <a:p xmlns:a="http://schemas.openxmlformats.org/drawingml/2006/main">
            <a:r>
              <a:t>Q09 / S09</a:t>
            </a:r>
          </a:p>
          <a:p xmlns:a="http://schemas.openxmlformats.org/drawingml/2006/main">
            <a:r>
              <a:t>ファナックの公式説明</a:t>
            </a:r>
          </a:p>
          <a:p xmlns:a="http://schemas.openxmlformats.org/drawingml/2006/main">
            <a:r>
              <a:t>ファナック・富士通 フィジカルAIの社会実装に向けた事業検討</a:t>
            </a:r>
          </a:p>
          <a:p xmlns:a="http://schemas.openxmlformats.org/drawingml/2006/main">
            <a:r>
              <a:t>公表日 2026-07-16</a:t>
            </a:r>
          </a:p>
          <a:p xmlns:a="http://schemas.openxmlformats.org/drawingml/2006/main">
            <a:r>
              <a:t>https://www.fanuc.co.jp/ja/profile/pr/newsrelease/2026/news20260716.html</a:t>
            </a:r>
          </a:p>
          <a:p xmlns:a="http://schemas.openxmlformats.org/drawingml/2006/main">
            <a:r>
              <a:t>掲載位置 背景・フィジカルAIを説明する段落</a:t>
            </a:r>
          </a:p>
          <a:p xmlns:a="http://schemas.openxmlformats.org/drawingml/2006/main">
            <a:r>
              <a:t>文脈の要約 設備が状況を把握して判断・実行することを説明する。</a:t>
            </a:r>
          </a:p>
          <a:p xmlns:a="http://schemas.openxmlformats.org/drawingml/2006/main">
            <a:r>
              <a:t>根拠にする論点 フィジカルAIの捉え方</a:t>
            </a:r>
          </a:p>
          <a:p xmlns:a="http://schemas.openxmlformats.org/drawingml/2006/main">
            <a:r>
              <a:t>この一節からは言えないこと 最適性の数学的保証や特定製品の性能を示す表現ではない。</a:t>
            </a:r>
          </a:p>
          <a:p xmlns:a="http://schemas.openxmlformats.org/drawingml/2006/main">
            <a:r>
              <a:t>確認 2026-10-22 原文テキストと照合</a:t>
            </a:r>
          </a:p>
          <a:p xmlns:a="http://schemas.openxmlformats.org/drawingml/2006/main">
            <a:r>
              <a:t/>
            </a:r>
          </a:p>
          <a:p xmlns:a="http://schemas.openxmlformats.org/drawingml/2006/main">
            <a:r>
              <a:t>Q42 / A08</a:t>
            </a:r>
          </a:p>
          <a:p xmlns:a="http://schemas.openxmlformats.org/drawingml/2006/main">
            <a:r>
              <a:t>富士通の公式発表</a:t>
            </a:r>
          </a:p>
          <a:p xmlns:a="http://schemas.openxmlformats.org/drawingml/2006/main">
            <a:r>
              <a:t>富士通 富士通 ロボット産業界各社との事業検討</a:t>
            </a:r>
          </a:p>
          <a:p xmlns:a="http://schemas.openxmlformats.org/drawingml/2006/main">
            <a:r>
              <a:t>公表日 2026-07-16</a:t>
            </a:r>
          </a:p>
          <a:p xmlns:a="http://schemas.openxmlformats.org/drawingml/2006/main">
            <a:r>
              <a:t>https://global.fujitsu/ja-jp/pr/news/2026/07/16-01</a:t>
            </a:r>
          </a:p>
          <a:p xmlns:a="http://schemas.openxmlformats.org/drawingml/2006/main">
            <a:r>
              <a:t>掲載位置 工場向けソリューション</a:t>
            </a:r>
          </a:p>
          <a:p xmlns:a="http://schemas.openxmlformats.org/drawingml/2006/main">
            <a:r>
              <a:t>文脈の要約 変動と現場状況を加味する工場向け構想を説明する。</a:t>
            </a:r>
          </a:p>
          <a:p xmlns:a="http://schemas.openxmlformats.org/drawingml/2006/main">
            <a:r>
              <a:t>根拠にする論点 計画と実行を結ぶ方向性</a:t>
            </a:r>
          </a:p>
          <a:p xmlns:a="http://schemas.openxmlformats.org/drawingml/2006/main">
            <a:r>
              <a:t>この一節からは言えないこと 事業検討の開始。完成システムの稼働実績ではない。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日立の別の技術発表にある全機能が、共同システムへ搭載されるとは確認していない。提携先ごとの役割と開発段階を読む。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Q07 / S07</a:t>
            </a:r>
          </a:p>
          <a:p xmlns:a="http://schemas.openxmlformats.org/drawingml/2006/main">
            <a:r>
              <a:t>ファナック 安部健一郎氏の取材発言</a:t>
            </a:r>
          </a:p>
          <a:p xmlns:a="http://schemas.openxmlformats.org/drawingml/2006/main">
            <a:r>
              <a:t>MONOist ファナックとフィジカルAI、現場主義の開発思想</a:t>
            </a:r>
          </a:p>
          <a:p xmlns:a="http://schemas.openxmlformats.org/drawingml/2006/main">
            <a:r>
              <a:t>公表日 2026-07-02</a:t>
            </a:r>
          </a:p>
          <a:p xmlns:a="http://schemas.openxmlformats.org/drawingml/2006/main">
            <a:r>
              <a:t>https://monoist.itmedia.co.jp/mn/articles/2607/02/news043.html</a:t>
            </a:r>
          </a:p>
          <a:p xmlns:a="http://schemas.openxmlformats.org/drawingml/2006/main">
            <a:r>
              <a:t>掲載位置 1頁 やりたいことの結果がフィジカルAIだった</a:t>
            </a:r>
          </a:p>
          <a:p xmlns:a="http://schemas.openxmlformats.org/drawingml/2006/main">
            <a:r>
              <a:t>文脈の要約 決められた反復動作に対し、環境を確認してAIの演算を用いるソリューションを説明する。</a:t>
            </a:r>
          </a:p>
          <a:p xmlns:a="http://schemas.openxmlformats.org/drawingml/2006/main">
            <a:r>
              <a:t>根拠にする論点 フィジカルAIの捉え方</a:t>
            </a:r>
          </a:p>
          <a:p xmlns:a="http://schemas.openxmlformats.org/drawingml/2006/main">
            <a:r>
              <a:t>この一節からは言えないこと 正式な業界規格の定義ではない。どの変化にどこまで対応できるかは個別に調べる。</a:t>
            </a:r>
          </a:p>
          <a:p xmlns:a="http://schemas.openxmlformats.org/drawingml/2006/main">
            <a:r>
              <a:t>確認 2026-10-22 原文テキストと照合</a:t>
            </a:r>
          </a:p>
          <a:p xmlns:a="http://schemas.openxmlformats.org/drawingml/2006/main">
            <a:r>
              <a:t/>
            </a:r>
          </a:p>
          <a:p xmlns:a="http://schemas.openxmlformats.org/drawingml/2006/main">
            <a:r>
              <a:t>Q09 / S09</a:t>
            </a:r>
          </a:p>
          <a:p xmlns:a="http://schemas.openxmlformats.org/drawingml/2006/main">
            <a:r>
              <a:t>ファナックの公式説明</a:t>
            </a:r>
          </a:p>
          <a:p xmlns:a="http://schemas.openxmlformats.org/drawingml/2006/main">
            <a:r>
              <a:t>ファナック・富士通 フィジカルAIの社会実装に向けた事業検討</a:t>
            </a:r>
          </a:p>
          <a:p xmlns:a="http://schemas.openxmlformats.org/drawingml/2006/main">
            <a:r>
              <a:t>公表日 2026-07-16</a:t>
            </a:r>
          </a:p>
          <a:p xmlns:a="http://schemas.openxmlformats.org/drawingml/2006/main">
            <a:r>
              <a:t>https://www.fanuc.co.jp/ja/profile/pr/newsrelease/2026/news20260716.html</a:t>
            </a:r>
          </a:p>
          <a:p xmlns:a="http://schemas.openxmlformats.org/drawingml/2006/main">
            <a:r>
              <a:t>掲載位置 背景・フィジカルAIを説明する段落</a:t>
            </a:r>
          </a:p>
          <a:p xmlns:a="http://schemas.openxmlformats.org/drawingml/2006/main">
            <a:r>
              <a:t>文脈の要約 設備が状況を把握して判断・実行することを説明する。</a:t>
            </a:r>
          </a:p>
          <a:p xmlns:a="http://schemas.openxmlformats.org/drawingml/2006/main">
            <a:r>
              <a:t>根拠にする論点 フィジカルAIの捉え方</a:t>
            </a:r>
          </a:p>
          <a:p xmlns:a="http://schemas.openxmlformats.org/drawingml/2006/main">
            <a:r>
              <a:t>この一節からは言えないこと 最適性の数学的保証や特定製品の性能を示す表現ではない。</a:t>
            </a:r>
          </a:p>
          <a:p xmlns:a="http://schemas.openxmlformats.org/drawingml/2006/main">
            <a:r>
              <a:t>確認 2026-10-22 原文テキストと照合</a:t>
            </a:r>
          </a:p>
          <a:p xmlns:a="http://schemas.openxmlformats.org/drawingml/2006/main">
            <a:r>
              <a:t/>
            </a:r>
          </a:p>
          <a:p xmlns:a="http://schemas.openxmlformats.org/drawingml/2006/main">
            <a:r>
              <a:t>Q21 / S21</a:t>
            </a:r>
          </a:p>
          <a:p xmlns:a="http://schemas.openxmlformats.org/drawingml/2006/main">
            <a:r>
              <a:t>KPMGの解説</a:t>
            </a:r>
          </a:p>
          <a:p xmlns:a="http://schemas.openxmlformats.org/drawingml/2006/main">
            <a:r>
              <a:t>KPMGコンサルティング フィジカルAIで変わるロボティクスの競争条件</a:t>
            </a:r>
          </a:p>
          <a:p xmlns:a="http://schemas.openxmlformats.org/drawingml/2006/main">
            <a:r>
              <a:t>公表日 2026-08-18</a:t>
            </a:r>
          </a:p>
          <a:p xmlns:a="http://schemas.openxmlformats.org/drawingml/2006/main">
            <a:r>
              <a:t>https://kpmg.com/jp/ja/insights/2026/08/ai-emergingtech-10.html</a:t>
            </a:r>
          </a:p>
          <a:p xmlns:a="http://schemas.openxmlformats.org/drawingml/2006/main">
            <a:r>
              <a:t>掲載位置 1 二つのループで構成されるフィジカルAI</a:t>
            </a:r>
          </a:p>
          <a:p xmlns:a="http://schemas.openxmlformats.org/drawingml/2006/main">
            <a:r>
              <a:t>文脈の要約 事前に設計した手順と対比し、実行のループとモデル更新を分けて説明する。</a:t>
            </a:r>
          </a:p>
          <a:p xmlns:a="http://schemas.openxmlformats.org/drawingml/2006/main">
            <a:r>
              <a:t>根拠にする論点 変化に対応するフィジカルAI</a:t>
            </a:r>
          </a:p>
          <a:p xmlns:a="http://schemas.openxmlformats.org/drawingml/2006/main">
            <a:r>
              <a:t>この一節からは言えないこと KPMGの整理。一般規格ではなく、本調査の作業定義を支える一つの見解。</a:t>
            </a:r>
          </a:p>
          <a:p xmlns:a="http://schemas.openxmlformats.org/drawingml/2006/main">
            <a:r>
              <a:t>確認 2026-10-22 原文テキストと照合</a:t>
            </a:r>
          </a:p>
          <a:p xmlns:a="http://schemas.openxmlformats.org/drawingml/2006/main">
            <a:r>
              <a:t/>
            </a:r>
          </a:p>
          <a:p xmlns:a="http://schemas.openxmlformats.org/drawingml/2006/main">
            <a:r>
              <a:t>Q41 / D01</a:t>
            </a:r>
          </a:p>
          <a:p xmlns:a="http://schemas.openxmlformats.org/drawingml/2006/main">
            <a:r>
              <a:t>NVIDIA公式教材</a:t>
            </a:r>
          </a:p>
          <a:p xmlns:a="http://schemas.openxmlformats.org/drawingml/2006/main">
            <a:r>
              <a:t>NVIDIA NVIDIA Physical AI学習教材</a:t>
            </a:r>
          </a:p>
          <a:p xmlns:a="http://schemas.openxmlformats.org/drawingml/2006/main">
            <a:r>
              <a:t>公表日 未記載</a:t>
            </a:r>
          </a:p>
          <a:p xmlns:a="http://schemas.openxmlformats.org/drawingml/2006/main">
            <a:r>
              <a:t>https://docs.nvidia.com/learning/physical-ai/sim-to-real-so-101/latest/01-overview.html</a:t>
            </a:r>
          </a:p>
          <a:p xmlns:a="http://schemas.openxmlformats.org/drawingml/2006/main">
            <a:r>
              <a:t>掲載位置 What Is Physical AI? の4項目目</a:t>
            </a:r>
          </a:p>
          <a:p xmlns:a="http://schemas.openxmlformats.org/drawingml/2006/main">
            <a:r>
              <a:t>文脈の要約 知覚、物理・空間の理解、実行、環境の変動への適応を説明する。</a:t>
            </a:r>
          </a:p>
          <a:p xmlns:a="http://schemas.openxmlformats.org/drawingml/2006/main">
            <a:r>
              <a:t>根拠にする論点 現実環境の不確実性への対応</a:t>
            </a:r>
          </a:p>
          <a:p xmlns:a="http://schemas.openxmlformats.org/drawingml/2006/main">
            <a:r>
              <a:t>この一節からは言えないこと 教材の能力整理。工業用システムの性能証明ではない。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本調査が複数資料を合わせた作業定義。共通規格ではない。VLA・基盤モデル等の全項目や、その場の再学習を必須条件にはしない。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Q07 / S07</a:t>
            </a:r>
          </a:p>
          <a:p xmlns:a="http://schemas.openxmlformats.org/drawingml/2006/main">
            <a:r>
              <a:t>ファナック 安部健一郎氏の取材発言</a:t>
            </a:r>
          </a:p>
          <a:p xmlns:a="http://schemas.openxmlformats.org/drawingml/2006/main">
            <a:r>
              <a:t>MONOist ファナックとフィジカルAI、現場主義の開発思想</a:t>
            </a:r>
          </a:p>
          <a:p xmlns:a="http://schemas.openxmlformats.org/drawingml/2006/main">
            <a:r>
              <a:t>公表日 2026-07-02</a:t>
            </a:r>
          </a:p>
          <a:p xmlns:a="http://schemas.openxmlformats.org/drawingml/2006/main">
            <a:r>
              <a:t>https://monoist.itmedia.co.jp/mn/articles/2607/02/news043.html</a:t>
            </a:r>
          </a:p>
          <a:p xmlns:a="http://schemas.openxmlformats.org/drawingml/2006/main">
            <a:r>
              <a:t>掲載位置 1頁 やりたいことの結果がフィジカルAIだった</a:t>
            </a:r>
          </a:p>
          <a:p xmlns:a="http://schemas.openxmlformats.org/drawingml/2006/main">
            <a:r>
              <a:t>文脈の要約 決められた反復動作に対し、環境を確認してAIの演算を用いるソリューションを説明する。</a:t>
            </a:r>
          </a:p>
          <a:p xmlns:a="http://schemas.openxmlformats.org/drawingml/2006/main">
            <a:r>
              <a:t>根拠にする論点 フィジカルAIの捉え方</a:t>
            </a:r>
          </a:p>
          <a:p xmlns:a="http://schemas.openxmlformats.org/drawingml/2006/main">
            <a:r>
              <a:t>この一節からは言えないこと 正式な業界規格の定義ではない。どの変化にどこまで対応できるかは個別に調べる。</a:t>
            </a:r>
          </a:p>
          <a:p xmlns:a="http://schemas.openxmlformats.org/drawingml/2006/main">
            <a:r>
              <a:t>確認 2026-10-22 原文テキストと照合</a:t>
            </a:r>
          </a:p>
          <a:p xmlns:a="http://schemas.openxmlformats.org/drawingml/2006/main">
            <a:r>
              <a:t/>
            </a:r>
          </a:p>
          <a:p xmlns:a="http://schemas.openxmlformats.org/drawingml/2006/main">
            <a:r>
              <a:t>Q09 / S09</a:t>
            </a:r>
          </a:p>
          <a:p xmlns:a="http://schemas.openxmlformats.org/drawingml/2006/main">
            <a:r>
              <a:t>ファナックの公式説明</a:t>
            </a:r>
          </a:p>
          <a:p xmlns:a="http://schemas.openxmlformats.org/drawingml/2006/main">
            <a:r>
              <a:t>ファナック・富士通 フィジカルAIの社会実装に向けた事業検討</a:t>
            </a:r>
          </a:p>
          <a:p xmlns:a="http://schemas.openxmlformats.org/drawingml/2006/main">
            <a:r>
              <a:t>公表日 2026-07-16</a:t>
            </a:r>
          </a:p>
          <a:p xmlns:a="http://schemas.openxmlformats.org/drawingml/2006/main">
            <a:r>
              <a:t>https://www.fanuc.co.jp/ja/profile/pr/newsrelease/2026/news20260716.html</a:t>
            </a:r>
          </a:p>
          <a:p xmlns:a="http://schemas.openxmlformats.org/drawingml/2006/main">
            <a:r>
              <a:t>掲載位置 背景・フィジカルAIを説明する段落</a:t>
            </a:r>
          </a:p>
          <a:p xmlns:a="http://schemas.openxmlformats.org/drawingml/2006/main">
            <a:r>
              <a:t>文脈の要約 設備が状況を把握して判断・実行することを説明する。</a:t>
            </a:r>
          </a:p>
          <a:p xmlns:a="http://schemas.openxmlformats.org/drawingml/2006/main">
            <a:r>
              <a:t>根拠にする論点 フィジカルAIの捉え方</a:t>
            </a:r>
          </a:p>
          <a:p xmlns:a="http://schemas.openxmlformats.org/drawingml/2006/main">
            <a:r>
              <a:t>この一節からは言えないこと 最適性の数学的保証や特定製品の性能を示す表現ではない。</a:t>
            </a:r>
          </a:p>
          <a:p xmlns:a="http://schemas.openxmlformats.org/drawingml/2006/main">
            <a:r>
              <a:t>確認 2026-10-22 原文テキストと照合</a:t>
            </a:r>
          </a:p>
          <a:p xmlns:a="http://schemas.openxmlformats.org/drawingml/2006/main">
            <a:r>
              <a:t/>
            </a:r>
          </a:p>
          <a:p xmlns:a="http://schemas.openxmlformats.org/drawingml/2006/main">
            <a:r>
              <a:t>Q21 / S21</a:t>
            </a:r>
          </a:p>
          <a:p xmlns:a="http://schemas.openxmlformats.org/drawingml/2006/main">
            <a:r>
              <a:t>KPMGの解説</a:t>
            </a:r>
          </a:p>
          <a:p xmlns:a="http://schemas.openxmlformats.org/drawingml/2006/main">
            <a:r>
              <a:t>KPMGコンサルティング フィジカルAIで変わるロボティクスの競争条件</a:t>
            </a:r>
          </a:p>
          <a:p xmlns:a="http://schemas.openxmlformats.org/drawingml/2006/main">
            <a:r>
              <a:t>公表日 2026-08-18</a:t>
            </a:r>
          </a:p>
          <a:p xmlns:a="http://schemas.openxmlformats.org/drawingml/2006/main">
            <a:r>
              <a:t>https://kpmg.com/jp/ja/insights/2026/08/ai-emergingtech-10.html</a:t>
            </a:r>
          </a:p>
          <a:p xmlns:a="http://schemas.openxmlformats.org/drawingml/2006/main">
            <a:r>
              <a:t>掲載位置 1 二つのループで構成されるフィジカルAI</a:t>
            </a:r>
          </a:p>
          <a:p xmlns:a="http://schemas.openxmlformats.org/drawingml/2006/main">
            <a:r>
              <a:t>文脈の要約 事前に設計した手順と対比し、実行のループとモデル更新を分けて説明する。</a:t>
            </a:r>
          </a:p>
          <a:p xmlns:a="http://schemas.openxmlformats.org/drawingml/2006/main">
            <a:r>
              <a:t>根拠にする論点 変化に対応するフィジカルAI</a:t>
            </a:r>
          </a:p>
          <a:p xmlns:a="http://schemas.openxmlformats.org/drawingml/2006/main">
            <a:r>
              <a:t>この一節からは言えないこと KPMGの整理。一般規格ではなく、本調査の作業定義を支える一つの見解。</a:t>
            </a:r>
          </a:p>
          <a:p xmlns:a="http://schemas.openxmlformats.org/drawingml/2006/main">
            <a:r>
              <a:t>確認 2026-10-22 原文テキストと照合</a:t>
            </a:r>
          </a:p>
          <a:p xmlns:a="http://schemas.openxmlformats.org/drawingml/2006/main">
            <a:r>
              <a:t/>
            </a:r>
          </a:p>
          <a:p xmlns:a="http://schemas.openxmlformats.org/drawingml/2006/main">
            <a:r>
              <a:t>Q31 / S31</a:t>
            </a:r>
          </a:p>
          <a:p xmlns:a="http://schemas.openxmlformats.org/drawingml/2006/main">
            <a:r>
              <a:t>三菱電機の公式研究発表</a:t>
            </a:r>
          </a:p>
          <a:p xmlns:a="http://schemas.openxmlformats.org/drawingml/2006/main">
            <a:r>
              <a:t>三菱電機・アーヘン工科大学 CNC上で加工誤差を補正するエッジデジタルツイン</a:t>
            </a:r>
          </a:p>
          <a:p xmlns:a="http://schemas.openxmlformats.org/drawingml/2006/main">
            <a:r>
              <a:t>公表日 2026-03-25</a:t>
            </a:r>
          </a:p>
          <a:p xmlns:a="http://schemas.openxmlformats.org/drawingml/2006/main">
            <a:r>
              <a:t>https://www.mitsubishielectric.co.jp/ja/pr/2026/0325/</a:t>
            </a:r>
          </a:p>
          <a:p xmlns:a="http://schemas.openxmlformats.org/drawingml/2006/main">
            <a:r>
              <a:t>掲載位置 独自の設計手法を説明する段落</a:t>
            </a:r>
          </a:p>
          <a:p xmlns:a="http://schemas.openxmlformats.org/drawingml/2006/main">
            <a:r>
              <a:t>文脈の要約 必要な信号を選び、CNC上で誤差推定・補正するためのモデル構成。</a:t>
            </a:r>
          </a:p>
          <a:p xmlns:a="http://schemas.openxmlformats.org/drawingml/2006/main">
            <a:r>
              <a:t>根拠にする論点 リアルタイムで使う物理モデル</a:t>
            </a:r>
          </a:p>
          <a:p xmlns:a="http://schemas.openxmlformats.org/drawingml/2006/main">
            <a:r>
              <a:t>この一節からは言えないこと 研究実証。任意の機械・加工条件で同じ性能になるとはしない。</a:t>
            </a:r>
          </a:p>
          <a:p xmlns:a="http://schemas.openxmlformats.org/drawingml/2006/main">
            <a:r>
              <a:t>確認 2026-10-22 原文テキストと照合</a:t>
            </a:r>
          </a:p>
          <a:p xmlns:a="http://schemas.openxmlformats.org/drawingml/2006/main">
            <a:r>
              <a:t/>
            </a:r>
          </a:p>
          <a:p xmlns:a="http://schemas.openxmlformats.org/drawingml/2006/main">
            <a:r>
              <a:t>Q41 / D01</a:t>
            </a:r>
          </a:p>
          <a:p xmlns:a="http://schemas.openxmlformats.org/drawingml/2006/main">
            <a:r>
              <a:t>NVIDIA公式教材</a:t>
            </a:r>
          </a:p>
          <a:p xmlns:a="http://schemas.openxmlformats.org/drawingml/2006/main">
            <a:r>
              <a:t>NVIDIA NVIDIA Physical AI学習教材</a:t>
            </a:r>
          </a:p>
          <a:p xmlns:a="http://schemas.openxmlformats.org/drawingml/2006/main">
            <a:r>
              <a:t>公表日 未記載</a:t>
            </a:r>
          </a:p>
          <a:p xmlns:a="http://schemas.openxmlformats.org/drawingml/2006/main">
            <a:r>
              <a:t>https://docs.nvidia.com/learning/physical-ai/sim-to-real-so-101/latest/01-overview.html</a:t>
            </a:r>
          </a:p>
          <a:p xmlns:a="http://schemas.openxmlformats.org/drawingml/2006/main">
            <a:r>
              <a:t>掲載位置 What Is Physical AI? の4項目目</a:t>
            </a:r>
          </a:p>
          <a:p xmlns:a="http://schemas.openxmlformats.org/drawingml/2006/main">
            <a:r>
              <a:t>文脈の要約 知覚、物理・空間の理解、実行、環境の変動への適応を説明する。</a:t>
            </a:r>
          </a:p>
          <a:p xmlns:a="http://schemas.openxmlformats.org/drawingml/2006/main">
            <a:r>
              <a:t>根拠にする論点 現実環境の不確実性への対応</a:t>
            </a:r>
          </a:p>
          <a:p xmlns:a="http://schemas.openxmlformats.org/drawingml/2006/main">
            <a:r>
              <a:t>この一節からは言えないこと 教材の能力整理。工業用システムの性能証明ではない。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固定設置や単一ワークだけで除外しない。AIという呼称だけで未知条件への対応や最新性を認めない。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Q05 / S05</a:t>
            </a:r>
          </a:p>
          <a:p xmlns:a="http://schemas.openxmlformats.org/drawingml/2006/main">
            <a:r>
              <a:t>MONOistの記者説明。マザック共同開発を取材</a:t>
            </a:r>
          </a:p>
          <a:p xmlns:a="http://schemas.openxmlformats.org/drawingml/2006/main">
            <a:r>
              <a:t>MONOist 加工の工程設計をAIエージェントで自動化</a:t>
            </a:r>
          </a:p>
          <a:p xmlns:a="http://schemas.openxmlformats.org/drawingml/2006/main">
            <a:r>
              <a:t>公表日 2026-10-19</a:t>
            </a:r>
          </a:p>
          <a:p xmlns:a="http://schemas.openxmlformats.org/drawingml/2006/main">
            <a:r>
              <a:t>https://monoist.itmedia.co.jp/mn/articles/2610/19/news039_2.html</a:t>
            </a:r>
          </a:p>
          <a:p xmlns:a="http://schemas.openxmlformats.org/drawingml/2006/main">
            <a:r>
              <a:t>掲載位置 後編 MAZATROLとGコードを比較する段落</a:t>
            </a:r>
          </a:p>
          <a:p xmlns:a="http://schemas.openxmlformats.org/drawingml/2006/main">
            <a:r>
              <a:t>文脈の要約 対話プログラムの加工意図と判断結果を学習する方式を説明する。</a:t>
            </a:r>
          </a:p>
          <a:p xmlns:a="http://schemas.openxmlformats.org/drawingml/2006/main">
            <a:r>
              <a:t>根拠にする論点 加工意図の形式知化</a:t>
            </a:r>
          </a:p>
          <a:p xmlns:a="http://schemas.openxmlformats.org/drawingml/2006/main">
            <a:r>
              <a:t>この一節からは言えないこと 記者の説明からの抜粋で、発言者の直接発言ではない。</a:t>
            </a:r>
          </a:p>
          <a:p xmlns:a="http://schemas.openxmlformats.org/drawingml/2006/main">
            <a:r>
              <a:t>確認 2026-10-22 原文テキストと照合</a:t>
            </a:r>
          </a:p>
          <a:p xmlns:a="http://schemas.openxmlformats.org/drawingml/2006/main">
            <a:r>
              <a:t/>
            </a:r>
          </a:p>
          <a:p xmlns:a="http://schemas.openxmlformats.org/drawingml/2006/main">
            <a:r>
              <a:t>Q13 / S13</a:t>
            </a:r>
          </a:p>
          <a:p xmlns:a="http://schemas.openxmlformats.org/drawingml/2006/main">
            <a:r>
              <a:t>マイクロソフト 鈴木靖隆氏の対談発言（東芝の媒体に掲載）</a:t>
            </a:r>
          </a:p>
          <a:p xmlns:a="http://schemas.openxmlformats.org/drawingml/2006/main">
            <a:r>
              <a:t>東芝／東芝・Microsoftの対談 製造現場の知見を生かしてAIエージェントを活用するには（2/2）</a:t>
            </a:r>
          </a:p>
          <a:p xmlns:a="http://schemas.openxmlformats.org/drawingml/2006/main">
            <a:r>
              <a:t>公表日 2026-03-06</a:t>
            </a:r>
          </a:p>
          <a:p xmlns:a="http://schemas.openxmlformats.org/drawingml/2006/main">
            <a:r>
              <a:t>https://www.global.toshiba/jp/company/digitalsolution/articles/digicon/2026/82-2.html</a:t>
            </a:r>
          </a:p>
          <a:p xmlns:a="http://schemas.openxmlformats.org/drawingml/2006/main">
            <a:r>
              <a:t>掲載位置 4 AIのパフォーマンスを十分に発揮させるために何をすべきか</a:t>
            </a:r>
          </a:p>
          <a:p xmlns:a="http://schemas.openxmlformats.org/drawingml/2006/main">
            <a:r>
              <a:t>文脈の要約 不良の起因が材料・設備・作業のどれかを考える時、周辺情報も必要という文脈。</a:t>
            </a:r>
          </a:p>
          <a:p xmlns:a="http://schemas.openxmlformats.org/drawingml/2006/main">
            <a:r>
              <a:t>根拠にする論点 判断の文脈となるデータ</a:t>
            </a:r>
          </a:p>
          <a:p xmlns:a="http://schemas.openxmlformats.org/drawingml/2006/main">
            <a:r>
              <a:t>この一節からは言えないこと 全ての診断で人の報告が必須だと一般化しない。</a:t>
            </a:r>
          </a:p>
          <a:p xmlns:a="http://schemas.openxmlformats.org/drawingml/2006/main">
            <a:r>
              <a:t>確認 2026-10-22 原文テキストと照合</a:t>
            </a:r>
          </a:p>
          <a:p xmlns:a="http://schemas.openxmlformats.org/drawingml/2006/main">
            <a:r>
              <a:t/>
            </a:r>
          </a:p>
          <a:p xmlns:a="http://schemas.openxmlformats.org/drawingml/2006/main">
            <a:r>
              <a:t>Q14 / S14</a:t>
            </a:r>
          </a:p>
          <a:p xmlns:a="http://schemas.openxmlformats.org/drawingml/2006/main">
            <a:r>
              <a:t>Hexagon公式ブログの執筆者による説明</a:t>
            </a:r>
          </a:p>
          <a:p xmlns:a="http://schemas.openxmlformats.org/drawingml/2006/main">
            <a:r>
              <a:t>Hexagon／製品技術担当者 The next step in CAM isn’t new. It’s already here.</a:t>
            </a:r>
          </a:p>
          <a:p xmlns:a="http://schemas.openxmlformats.org/drawingml/2006/main">
            <a:r>
              <a:t>公表日 2026-04-29</a:t>
            </a:r>
          </a:p>
          <a:p xmlns:a="http://schemas.openxmlformats.org/drawingml/2006/main">
            <a:r>
              <a:t>https://blog.manufacturing.hexagon.com/advanced-manufacturing/cam-software/the-next-step-in-cam-isnt-new-its-already-here/</a:t>
            </a:r>
          </a:p>
          <a:p xmlns:a="http://schemas.openxmlformats.org/drawingml/2006/main">
            <a:r>
              <a:t>掲載位置 熟練者の経験が個人に残る問題を説明する段落</a:t>
            </a:r>
          </a:p>
          <a:p xmlns:a="http://schemas.openxmlformats.org/drawingml/2006/main">
            <a:r>
              <a:t>文脈の要約 CAMの機能だけでなく、過去の考え方を次のプログラミングで使う課題を述べる。</a:t>
            </a:r>
          </a:p>
          <a:p xmlns:a="http://schemas.openxmlformats.org/drawingml/2006/main">
            <a:r>
              <a:t>根拠にする論点 判断理由の再利用</a:t>
            </a:r>
          </a:p>
          <a:p xmlns:a="http://schemas.openxmlformats.org/drawingml/2006/main">
            <a:r>
              <a:t>この一節からは言えないこと CAM一般への問題提起。全てのソフトに履歴保存がないという仕様確認ではない。</a:t>
            </a:r>
          </a:p>
          <a:p xmlns:a="http://schemas.openxmlformats.org/drawingml/2006/main">
            <a:r>
              <a:t>確認 2026-10-22 原文テキストと照合</a:t>
            </a:r>
          </a:p>
          <a:p xmlns:a="http://schemas.openxmlformats.org/drawingml/2006/main">
            <a:r>
              <a:t/>
            </a:r>
          </a:p>
          <a:p xmlns:a="http://schemas.openxmlformats.org/drawingml/2006/main">
            <a:r>
              <a:t>Q23 / S23</a:t>
            </a:r>
          </a:p>
          <a:p xmlns:a="http://schemas.openxmlformats.org/drawingml/2006/main">
            <a:r>
              <a:t>安川電機の公式経営資料</a:t>
            </a:r>
          </a:p>
          <a:p xmlns:a="http://schemas.openxmlformats.org/drawingml/2006/main">
            <a:r>
              <a:t>安川電機 決算補足説明資料：AIロボティクス領域拡大</a:t>
            </a:r>
          </a:p>
          <a:p xmlns:a="http://schemas.openxmlformats.org/drawingml/2006/main">
            <a:r>
              <a:t>公表日 2026-01-09</a:t>
            </a:r>
          </a:p>
          <a:p xmlns:a="http://schemas.openxmlformats.org/drawingml/2006/main">
            <a:r>
              <a:t>https://www.yaskawa.co.jp/wp-content/uploads/2026/01/20260109_haihu.pdf#page=16</a:t>
            </a:r>
          </a:p>
          <a:p xmlns:a="http://schemas.openxmlformats.org/drawingml/2006/main">
            <a:r>
              <a:t>掲載位置 印刷頁15 AIロボティクス領域の拡大に向けた取組み</a:t>
            </a:r>
          </a:p>
          <a:p xmlns:a="http://schemas.openxmlformats.org/drawingml/2006/main">
            <a:r>
              <a:t>文脈の要約 同社がAIロボティクスを説明する表現。設計変更と実演学習の例が続く。</a:t>
            </a:r>
          </a:p>
          <a:p xmlns:a="http://schemas.openxmlformats.org/drawingml/2006/main">
            <a:r>
              <a:t>根拠にする論点 AIの判断を動作へつなぐ</a:t>
            </a:r>
          </a:p>
          <a:p xmlns:a="http://schemas.openxmlformats.org/drawingml/2006/main">
            <a:r>
              <a:t>この一節からは言えないこと 同社のAIロボティクスの表現であり、全社共通のPhysical AI定義ではない。</a:t>
            </a:r>
          </a:p>
          <a:p xmlns:a="http://schemas.openxmlformats.org/drawingml/2006/main">
            <a:r>
              <a:t>確認 2026-10-22 原文テキストと照合</a:t>
            </a:r>
          </a:p>
          <a:p xmlns:a="http://schemas.openxmlformats.org/drawingml/2006/main">
            <a:r>
              <a:t/>
            </a:r>
          </a:p>
          <a:p xmlns:a="http://schemas.openxmlformats.org/drawingml/2006/main">
            <a:r>
              <a:t>Q29 / S29</a:t>
            </a:r>
          </a:p>
          <a:p xmlns:a="http://schemas.openxmlformats.org/drawingml/2006/main">
            <a:r>
              <a:t>DMG森精機 統合報告書2025</a:t>
            </a:r>
          </a:p>
          <a:p xmlns:a="http://schemas.openxmlformats.org/drawingml/2006/main">
            <a:r>
              <a:t>DMG森精機 統合報告書2025ダイジェスト：MROと開発の連環</a:t>
            </a:r>
          </a:p>
          <a:p xmlns:a="http://schemas.openxmlformats.org/drawingml/2006/main">
            <a:r>
              <a:t>公表日 2026</a:t>
            </a:r>
          </a:p>
          <a:p xmlns:a="http://schemas.openxmlformats.org/drawingml/2006/main">
            <a:r>
              <a:t>https://www.dmgmori.co.jp/corporate/ir/ir_library/pdf/2025_ir_digest_j.pdf#page=26</a:t>
            </a:r>
          </a:p>
          <a:p xmlns:a="http://schemas.openxmlformats.org/drawingml/2006/main">
            <a:r>
              <a:t>掲載位置 印刷頁25 PPRの図中の説明</a:t>
            </a:r>
          </a:p>
          <a:p xmlns:a="http://schemas.openxmlformats.org/drawingml/2006/main">
            <a:r>
              <a:t>文脈の要約 不具合を原因調査、対策・改善、製品への展開へつなぐPPRの説明。</a:t>
            </a:r>
          </a:p>
          <a:p xmlns:a="http://schemas.openxmlformats.org/drawingml/2006/main">
            <a:r>
              <a:t>根拠にする論点 修理知識を開発へ還流</a:t>
            </a:r>
          </a:p>
          <a:p xmlns:a="http://schemas.openxmlformats.org/drawingml/2006/main">
            <a:r>
              <a:t>この一節からは言えないこと 既存の改善体制。PPR自体を生成AIの新機能とはしない。</a:t>
            </a:r>
          </a:p>
          <a:p xmlns:a="http://schemas.openxmlformats.org/drawingml/2006/main">
            <a:r>
              <a:t>確認 2026-10-22 PDF画像で原文照合（前回精読時の画像）</a:t>
            </a:r>
          </a:p>
          <a:p xmlns:a="http://schemas.openxmlformats.org/drawingml/2006/main">
            <a:r>
              <a:t/>
            </a:r>
          </a:p>
          <a:p xmlns:a="http://schemas.openxmlformats.org/drawingml/2006/main">
            <a:r>
              <a:t>Q30 / S30</a:t>
            </a:r>
          </a:p>
          <a:p xmlns:a="http://schemas.openxmlformats.org/drawingml/2006/main">
            <a:r>
              <a:t>FingerVisionの説明をGENIAC公式ページに掲載</a:t>
            </a:r>
          </a:p>
          <a:p xmlns:a="http://schemas.openxmlformats.org/drawingml/2006/main">
            <a:r>
              <a:t>経済産業省・GENIAC データエコシステム採択事業者（第4期）</a:t>
            </a:r>
          </a:p>
          <a:p xmlns:a="http://schemas.openxmlformats.org/drawingml/2006/main">
            <a:r>
              <a:t>公表日 </a:t>
            </a:r>
          </a:p>
          <a:p xmlns:a="http://schemas.openxmlformats.org/drawingml/2006/main">
            <a:r>
              <a:t>https://geniac.meti.go.jp/selection_4/data/index.html</a:t>
            </a:r>
          </a:p>
          <a:p xmlns:a="http://schemas.openxmlformats.org/drawingml/2006/main">
            <a:r>
              <a:t>掲載位置 FingerVisionの採択事業説明</a:t>
            </a:r>
          </a:p>
          <a:p xmlns:a="http://schemas.openxmlformats.org/drawingml/2006/main">
            <a:r>
              <a:t>文脈の要約 視覚・触覚・言語・動作を統合するモデルとデータセットの開発計画。</a:t>
            </a:r>
          </a:p>
          <a:p xmlns:a="http://schemas.openxmlformats.org/drawingml/2006/main">
            <a:r>
              <a:t>根拠にする論点 視触覚データと適用領域</a:t>
            </a:r>
          </a:p>
          <a:p xmlns:a="http://schemas.openxmlformats.org/drawingml/2006/main">
            <a:r>
              <a:t>この一節からは言えないこと 採択時の開発目標。JIMTOFでの実演・量産稼働の確認ではない。</a:t>
            </a:r>
          </a:p>
          <a:p xmlns:a="http://schemas.openxmlformats.org/drawingml/2006/main">
            <a:r>
              <a:t>確認 2026-10-22 原文テキストと照合</a:t>
            </a:r>
          </a:p>
          <a:p xmlns:a="http://schemas.openxmlformats.org/drawingml/2006/main">
            <a:r>
              <a:t/>
            </a:r>
          </a:p>
          <a:p xmlns:a="http://schemas.openxmlformats.org/drawingml/2006/main">
            <a:r>
              <a:t>Q46 / A09</a:t>
            </a:r>
          </a:p>
          <a:p xmlns:a="http://schemas.openxmlformats.org/drawingml/2006/main">
            <a:r>
              <a:t>東芝デジタルソリューションズ 岡本賢司氏の対談発言</a:t>
            </a:r>
          </a:p>
          <a:p xmlns:a="http://schemas.openxmlformats.org/drawingml/2006/main">
            <a:r>
              <a:t>東芝 製造現場の知見を生かしてAIエージェントを活用するには 前編</a:t>
            </a:r>
          </a:p>
          <a:p xmlns:a="http://schemas.openxmlformats.org/drawingml/2006/main">
            <a:r>
              <a:t>公表日 2026-03-06</a:t>
            </a:r>
          </a:p>
          <a:p xmlns:a="http://schemas.openxmlformats.org/drawingml/2006/main">
            <a:r>
              <a:t>https://www.global.toshiba/jp/company/digitalsolution/articles/digicon/2026/82-1.html</a:t>
            </a:r>
          </a:p>
          <a:p xmlns:a="http://schemas.openxmlformats.org/drawingml/2006/main">
            <a:r>
              <a:t>掲載位置 2 AIマルチエージェントの開発事例</a:t>
            </a:r>
          </a:p>
          <a:p xmlns:a="http://schemas.openxmlformats.org/drawingml/2006/main">
            <a:r>
              <a:t>文脈の要約 分析計画や条件の指定と、既存プログラムでの計算を分担する説明。</a:t>
            </a:r>
          </a:p>
          <a:p xmlns:a="http://schemas.openxmlformats.org/drawingml/2006/main">
            <a:r>
              <a:t>根拠にする論点 エージェントと数値計算の分担</a:t>
            </a:r>
          </a:p>
          <a:p xmlns:a="http://schemas.openxmlformats.org/drawingml/2006/main">
            <a:r>
              <a:t>この一節からは言えないこと AIが計算式を自由に生成する方式の根拠にはしない。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調査用の区分。各社が全項目を実装しているという意味ではない。既存業務から取得し、記録負担を抑える設計が論点。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Q01 / S01</a:t>
            </a:r>
          </a:p>
          <a:p xmlns:a="http://schemas.openxmlformats.org/drawingml/2006/main">
            <a:r>
              <a:t>産総研の公式説明</a:t>
            </a:r>
          </a:p>
          <a:p xmlns:a="http://schemas.openxmlformats.org/drawingml/2006/main">
            <a:r>
              <a:t>産総研 製造AX拠点を始動</a:t>
            </a:r>
          </a:p>
          <a:p xmlns:a="http://schemas.openxmlformats.org/drawingml/2006/main">
            <a:r>
              <a:t>公表日 2026-07-02</a:t>
            </a:r>
          </a:p>
          <a:p xmlns:a="http://schemas.openxmlformats.org/drawingml/2006/main">
            <a:r>
              <a:t>https://www.aist.go.jp/aist_j/news/pr20260702.html</a:t>
            </a:r>
          </a:p>
          <a:p xmlns:a="http://schemas.openxmlformats.org/drawingml/2006/main">
            <a:r>
              <a:t>掲載位置 産総研を核とした製造AX拠点</a:t>
            </a:r>
          </a:p>
          <a:p xmlns:a="http://schemas.openxmlformats.org/drawingml/2006/main">
            <a:r>
              <a:t>文脈の要約 拠点に期待される支援として、取得設計、匿名化・構造化、AI開発を説明する。</a:t>
            </a:r>
          </a:p>
          <a:p xmlns:a="http://schemas.openxmlformats.org/drawingml/2006/main">
            <a:r>
              <a:t>根拠にする論点 データ取得の役割</a:t>
            </a:r>
          </a:p>
          <a:p xmlns:a="http://schemas.openxmlformats.org/drawingml/2006/main">
            <a:r>
              <a:t>この一節からは言えないこと 期待される役割の説明であり、特定の取得技術の性能実証ではない。</a:t>
            </a:r>
          </a:p>
          <a:p xmlns:a="http://schemas.openxmlformats.org/drawingml/2006/main">
            <a:r>
              <a:t>確認 2026-10-22 原文テキストと照合</a:t>
            </a:r>
          </a:p>
          <a:p xmlns:a="http://schemas.openxmlformats.org/drawingml/2006/main">
            <a:r>
              <a:t/>
            </a:r>
          </a:p>
          <a:p xmlns:a="http://schemas.openxmlformats.org/drawingml/2006/main">
            <a:r>
              <a:t>Q03 / S03</a:t>
            </a:r>
          </a:p>
          <a:p xmlns:a="http://schemas.openxmlformats.org/drawingml/2006/main">
            <a:r>
              <a:t>WALC社長 櫻井努氏の取材発言</a:t>
            </a:r>
          </a:p>
          <a:p xmlns:a="http://schemas.openxmlformats.org/drawingml/2006/main">
            <a:r>
              <a:t>MONOist DMG森精機が挑む工作機械のフィジカルAI</a:t>
            </a:r>
          </a:p>
          <a:p xmlns:a="http://schemas.openxmlformats.org/drawingml/2006/main">
            <a:r>
              <a:t>公表日 2026-07-08</a:t>
            </a:r>
          </a:p>
          <a:p xmlns:a="http://schemas.openxmlformats.org/drawingml/2006/main">
            <a:r>
              <a:t>https://monoist.itmedia.co.jp/mn/articles/2607/08/news026.html</a:t>
            </a:r>
          </a:p>
          <a:p xmlns:a="http://schemas.openxmlformats.org/drawingml/2006/main">
            <a:r>
              <a:t>掲載位置 最大1kHzの収集周期を説明する段落</a:t>
            </a:r>
          </a:p>
          <a:p xmlns:a="http://schemas.openxmlformats.org/drawingml/2006/main">
            <a:r>
              <a:t>文脈の要約 工具とワークが接する瞬間などを捉えるため、時間分解能と実装負担を検討した説明。</a:t>
            </a:r>
          </a:p>
          <a:p xmlns:a="http://schemas.openxmlformats.org/drawingml/2006/main">
            <a:r>
              <a:t>根拠にする論点 現象と測定周期</a:t>
            </a:r>
          </a:p>
          <a:p xmlns:a="http://schemas.openxmlformats.org/drawingml/2006/main">
            <a:r>
              <a:t>この一節からは言えないこと 短い条件節の抜粋。あらゆる加工現象に1kHzで十分という証拠にはしない。</a:t>
            </a:r>
          </a:p>
          <a:p xmlns:a="http://schemas.openxmlformats.org/drawingml/2006/main">
            <a:r>
              <a:t>確認 2026-10-22 原文テキストと照合</a:t>
            </a:r>
          </a:p>
          <a:p xmlns:a="http://schemas.openxmlformats.org/drawingml/2006/main">
            <a:r>
              <a:t/>
            </a:r>
          </a:p>
          <a:p xmlns:a="http://schemas.openxmlformats.org/drawingml/2006/main">
            <a:r>
              <a:t>Q16 / S16</a:t>
            </a:r>
          </a:p>
          <a:p xmlns:a="http://schemas.openxmlformats.org/drawingml/2006/main">
            <a:r>
              <a:t>umatiの公式説明</a:t>
            </a:r>
          </a:p>
          <a:p xmlns:a="http://schemas.openxmlformats.org/drawingml/2006/main">
            <a:r>
              <a:t>umati About: vision, promise, mission</a:t>
            </a:r>
          </a:p>
          <a:p xmlns:a="http://schemas.openxmlformats.org/drawingml/2006/main">
            <a:r>
              <a:t>公表日 </a:t>
            </a:r>
          </a:p>
          <a:p xmlns:a="http://schemas.openxmlformats.org/drawingml/2006/main">
            <a:r>
              <a:t>https://umati.org/about/</a:t>
            </a:r>
          </a:p>
          <a:p xmlns:a="http://schemas.openxmlformats.org/drawingml/2006/main">
            <a:r>
              <a:t>掲載位置 the umati promise</a:t>
            </a:r>
          </a:p>
          <a:p xmlns:a="http://schemas.openxmlformats.org/drawingml/2006/main">
            <a:r>
              <a:t>文脈の要約 接続に加え、意味、通信要件、適合性を揃える活動。</a:t>
            </a:r>
          </a:p>
          <a:p xmlns:a="http://schemas.openxmlformats.org/drawingml/2006/main">
            <a:r>
              <a:t>根拠にする論点 データの意味の共通化</a:t>
            </a:r>
          </a:p>
          <a:p xmlns:a="http://schemas.openxmlformats.org/drawingml/2006/main">
            <a:r>
              <a:t>この一節からは言えないこと 引用は箇条書き中の名詞句。加工意図や全品質データまで標準化済みとはしない。</a:t>
            </a:r>
          </a:p>
          <a:p xmlns:a="http://schemas.openxmlformats.org/drawingml/2006/main">
            <a:r>
              <a:t>確認 2026-10-22 原文テキストと照合</a:t>
            </a:r>
          </a:p>
          <a:p xmlns:a="http://schemas.openxmlformats.org/drawingml/2006/main">
            <a:r>
              <a:t/>
            </a:r>
          </a:p>
          <a:p xmlns:a="http://schemas.openxmlformats.org/drawingml/2006/main">
            <a:r>
              <a:t>Q39 / S39</a:t>
            </a:r>
          </a:p>
          <a:p xmlns:a="http://schemas.openxmlformats.org/drawingml/2006/main">
            <a:r>
              <a:t>産総研 製造基盤技術研究部門の説明</a:t>
            </a:r>
          </a:p>
          <a:p xmlns:a="http://schemas.openxmlformats.org/drawingml/2006/main">
            <a:r>
              <a:t>産総研 製造基盤技術研究部門 Digital Manufacturing デジタルものづくり</a:t>
            </a:r>
          </a:p>
          <a:p xmlns:a="http://schemas.openxmlformats.org/drawingml/2006/main">
            <a:r>
              <a:t>公表日 未記載</a:t>
            </a:r>
          </a:p>
          <a:p xmlns:a="http://schemas.openxmlformats.org/drawingml/2006/main">
            <a:r>
              <a:t>https://unit.aist.go.jp/cmt-ri/research-topics/digital-manufacturing.htm</a:t>
            </a:r>
          </a:p>
          <a:p xmlns:a="http://schemas.openxmlformats.org/drawingml/2006/main">
            <a:r>
              <a:t>掲載位置 研究の特色に関連する説明</a:t>
            </a:r>
          </a:p>
          <a:p xmlns:a="http://schemas.openxmlformats.org/drawingml/2006/main">
            <a:r>
              <a:t>文脈の要約 モデル化・データ化と利用技術を加工の高度化へつなぐ考え方。</a:t>
            </a:r>
          </a:p>
          <a:p xmlns:a="http://schemas.openxmlformats.org/drawingml/2006/main">
            <a:r>
              <a:t>根拠にする論点 現象理解とモデル化</a:t>
            </a:r>
          </a:p>
          <a:p xmlns:a="http://schemas.openxmlformats.org/drawingml/2006/main">
            <a:r>
              <a:t>この一節からは言えないこと 研究方針を示す表現。個別のモデル精度を保証するものではない。</a:t>
            </a:r>
          </a:p>
          <a:p xmlns:a="http://schemas.openxmlformats.org/drawingml/2006/main">
            <a:r>
              <a:t>確認 2026-10-22 原文テキストと照合</a:t>
            </a:r>
          </a:p>
          <a:p xmlns:a="http://schemas.openxmlformats.org/drawingml/2006/main">
            <a:r>
              <a:t/>
            </a:r>
          </a:p>
          <a:p xmlns:a="http://schemas.openxmlformats.org/drawingml/2006/main">
            <a:r>
              <a:t>Q45 / A10</a:t>
            </a:r>
          </a:p>
          <a:p xmlns:a="http://schemas.openxmlformats.org/drawingml/2006/main">
            <a:r>
              <a:t>採択事業者による計画をGENIAC公式資料に掲載</a:t>
            </a:r>
          </a:p>
          <a:p xmlns:a="http://schemas.openxmlformats.org/drawingml/2006/main">
            <a:r>
              <a:t>経済産業省GENIAC GENIAC データエコシステム開発概要</a:t>
            </a:r>
          </a:p>
          <a:p xmlns:a="http://schemas.openxmlformats.org/drawingml/2006/main">
            <a:r>
              <a:t>公表日 未記載</a:t>
            </a:r>
          </a:p>
          <a:p xmlns:a="http://schemas.openxmlformats.org/drawingml/2006/main">
            <a:r>
              <a:t>https://geniac.meti.go.jp/selection_4/asset/pdf/800057700.pdf#page=13</a:t>
            </a:r>
          </a:p>
          <a:p xmlns:a="http://schemas.openxmlformats.org/drawingml/2006/main">
            <a:r>
              <a:t>掲載位置 印刷頁13 小松製作所・産総研の概要</a:t>
            </a:r>
          </a:p>
          <a:p xmlns:a="http://schemas.openxmlformats.org/drawingml/2006/main">
            <a:r>
              <a:t>文脈の要約 設備単位を超えた工場の計画と実績の関係を構造化する計画。</a:t>
            </a:r>
          </a:p>
          <a:p xmlns:a="http://schemas.openxmlformats.org/drawingml/2006/main">
            <a:r>
              <a:t>根拠にする論点 工場の判断を記録する対象</a:t>
            </a:r>
          </a:p>
          <a:p xmlns:a="http://schemas.openxmlformats.org/drawingml/2006/main">
            <a:r>
              <a:t>この一節からは言えないこと 目標のデータセット。取得・整備が全て完了したという実績ではない。</a:t>
            </a:r>
          </a:p>
          <a:p xmlns:a="http://schemas.openxmlformats.org/drawingml/2006/main">
            <a:r>
              <a:t>確認 2026-10-22 原文テキストと照合</a:t>
            </a:r>
          </a:p>
          <a:p xmlns:a="http://schemas.openxmlformats.org/drawingml/2006/main">
            <a:r>
              <a:t/>
            </a:r>
          </a:p>
          <a:p xmlns:a="http://schemas.openxmlformats.org/drawingml/2006/main">
            <a:r>
              <a:t>A04 A04 Fraunhofer IPTとRWTH dPart 工程間で同じ部品の履歴をつなぐ</a:t>
            </a:r>
          </a:p>
          <a:p xmlns:a="http://schemas.openxmlformats.org/drawingml/2006/main">
            <a:r>
              <a:t>https://www.ipt.fraunhofer.de/en/projects/dpart.html</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A06 A06 Fraunhofer IPT FL.IN.NRW 生データを集約しない連携もある</a:t>
            </a:r>
          </a:p>
          <a:p xmlns:a="http://schemas.openxmlformats.org/drawingml/2006/main">
            <a:r>
              <a:t>https://www.ipt.fraunhofer.de/en/projects/fl-in-nrw.html</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収集周期の一つの数値を全用途へ一般化しない。基盤への参加と、個社データ・成果の利用権の取得は別に確認する。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Q12 / S12</a:t>
            </a:r>
          </a:p>
          <a:p xmlns:a="http://schemas.openxmlformats.org/drawingml/2006/main">
            <a:r>
              <a:t>Siemensの公式発表</a:t>
            </a:r>
          </a:p>
          <a:p xmlns:a="http://schemas.openxmlformats.org/drawingml/2006/main">
            <a:r>
              <a:t>Siemens CES 2026：産業用AI革命を加速するテクノロジー</a:t>
            </a:r>
          </a:p>
          <a:p xmlns:a="http://schemas.openxmlformats.org/drawingml/2006/main">
            <a:r>
              <a:t>公表日 2026-01-06</a:t>
            </a:r>
          </a:p>
          <a:p xmlns:a="http://schemas.openxmlformats.org/drawingml/2006/main">
            <a:r>
              <a:t>https://press.siemens.com/jp/ja/pressrelease/pr-20260106-1</a:t>
            </a:r>
          </a:p>
          <a:p xmlns:a="http://schemas.openxmlformats.org/drawingml/2006/main">
            <a:r>
              <a:t>掲載位置 Digital Twin Composerの説明</a:t>
            </a:r>
          </a:p>
          <a:p xmlns:a="http://schemas.openxmlformats.org/drawingml/2006/main">
            <a:r>
              <a:t>文脈の要約 仮想モデルと実時点のデータを組み合わせる製品説明の一節。</a:t>
            </a:r>
          </a:p>
          <a:p xmlns:a="http://schemas.openxmlformats.org/drawingml/2006/main">
            <a:r>
              <a:t>根拠にする論点 シミュレーションと判断</a:t>
            </a:r>
          </a:p>
          <a:p xmlns:a="http://schemas.openxmlformats.org/drawingml/2006/main">
            <a:r>
              <a:t>この一節からは言えないこと 製品の訴求。全加工現象の高精度再現を証明する文ではない。</a:t>
            </a:r>
          </a:p>
          <a:p xmlns:a="http://schemas.openxmlformats.org/drawingml/2006/main">
            <a:r>
              <a:t>確認 2026-10-22 原文テキストと照合</a:t>
            </a:r>
          </a:p>
          <a:p xmlns:a="http://schemas.openxmlformats.org/drawingml/2006/main">
            <a:r>
              <a:t/>
            </a:r>
          </a:p>
          <a:p xmlns:a="http://schemas.openxmlformats.org/drawingml/2006/main">
            <a:r>
              <a:t>Q24 / S24</a:t>
            </a:r>
          </a:p>
          <a:p xmlns:a="http://schemas.openxmlformats.org/drawingml/2006/main">
            <a:r>
              <a:t>DMG森精機 森雅彦氏の取材発言</a:t>
            </a:r>
          </a:p>
          <a:p xmlns:a="http://schemas.openxmlformats.org/drawingml/2006/main">
            <a:r>
              <a:t>MONOist 工作機械のソフトウェアデファインド化とMX</a:t>
            </a:r>
          </a:p>
          <a:p xmlns:a="http://schemas.openxmlformats.org/drawingml/2006/main">
            <a:r>
              <a:t>公表日 2025-09-26</a:t>
            </a:r>
          </a:p>
          <a:p xmlns:a="http://schemas.openxmlformats.org/drawingml/2006/main">
            <a:r>
              <a:t>https://monoist.itmedia.co.jp/mn/articles/2509/27/news004_2.html</a:t>
            </a:r>
          </a:p>
          <a:p xmlns:a="http://schemas.openxmlformats.org/drawingml/2006/main">
            <a:r>
              <a:t>掲載位置 後編 シミュレーションとAIに関する回答</a:t>
            </a:r>
          </a:p>
          <a:p xmlns:a="http://schemas.openxmlformats.org/drawingml/2006/main">
            <a:r>
              <a:t>文脈の要約 研究論文への言及として、モデルを土台にAIを使う方法へ関心を示す。</a:t>
            </a:r>
          </a:p>
          <a:p xmlns:a="http://schemas.openxmlformats.org/drawingml/2006/main">
            <a:r>
              <a:t>根拠にする論点 物理モデルとAIの組合せ</a:t>
            </a:r>
          </a:p>
          <a:p xmlns:a="http://schemas.openxmlformats.org/drawingml/2006/main">
            <a:r>
              <a:t>この一節からは言えないこと 技術への関心を述べた条件節。特定の自社実装の達成証明ではない。</a:t>
            </a:r>
          </a:p>
          <a:p xmlns:a="http://schemas.openxmlformats.org/drawingml/2006/main">
            <a:r>
              <a:t>確認 2026-10-22 原文テキストと照合</a:t>
            </a:r>
          </a:p>
          <a:p xmlns:a="http://schemas.openxmlformats.org/drawingml/2006/main">
            <a:r>
              <a:t/>
            </a:r>
          </a:p>
          <a:p xmlns:a="http://schemas.openxmlformats.org/drawingml/2006/main">
            <a:r>
              <a:t>Q31 / S31</a:t>
            </a:r>
          </a:p>
          <a:p xmlns:a="http://schemas.openxmlformats.org/drawingml/2006/main">
            <a:r>
              <a:t>三菱電機の公式研究発表</a:t>
            </a:r>
          </a:p>
          <a:p xmlns:a="http://schemas.openxmlformats.org/drawingml/2006/main">
            <a:r>
              <a:t>三菱電機・アーヘン工科大学 CNC上で加工誤差を補正するエッジデジタルツイン</a:t>
            </a:r>
          </a:p>
          <a:p xmlns:a="http://schemas.openxmlformats.org/drawingml/2006/main">
            <a:r>
              <a:t>公表日 2026-03-25</a:t>
            </a:r>
          </a:p>
          <a:p xmlns:a="http://schemas.openxmlformats.org/drawingml/2006/main">
            <a:r>
              <a:t>https://www.mitsubishielectric.co.jp/ja/pr/2026/0325/</a:t>
            </a:r>
          </a:p>
          <a:p xmlns:a="http://schemas.openxmlformats.org/drawingml/2006/main">
            <a:r>
              <a:t>掲載位置 独自の設計手法を説明する段落</a:t>
            </a:r>
          </a:p>
          <a:p xmlns:a="http://schemas.openxmlformats.org/drawingml/2006/main">
            <a:r>
              <a:t>文脈の要約 必要な信号を選び、CNC上で誤差推定・補正するためのモデル構成。</a:t>
            </a:r>
          </a:p>
          <a:p xmlns:a="http://schemas.openxmlformats.org/drawingml/2006/main">
            <a:r>
              <a:t>根拠にする論点 リアルタイムで使う物理モデル</a:t>
            </a:r>
          </a:p>
          <a:p xmlns:a="http://schemas.openxmlformats.org/drawingml/2006/main">
            <a:r>
              <a:t>この一節からは言えないこと 研究実証。任意の機械・加工条件で同じ性能になるとはしない。</a:t>
            </a:r>
          </a:p>
          <a:p xmlns:a="http://schemas.openxmlformats.org/drawingml/2006/main">
            <a:r>
              <a:t>確認 2026-10-22 原文テキストと照合</a:t>
            </a:r>
          </a:p>
          <a:p xmlns:a="http://schemas.openxmlformats.org/drawingml/2006/main">
            <a:r>
              <a:t/>
            </a:r>
          </a:p>
          <a:p xmlns:a="http://schemas.openxmlformats.org/drawingml/2006/main">
            <a:r>
              <a:t>Q40 / S40</a:t>
            </a:r>
          </a:p>
          <a:p xmlns:a="http://schemas.openxmlformats.org/drawingml/2006/main">
            <a:r>
              <a:t>三菱電機・MERLの公式研究発表</a:t>
            </a:r>
          </a:p>
          <a:p xmlns:a="http://schemas.openxmlformats.org/drawingml/2006/main">
            <a:r>
              <a:t>三菱電機 少量の学習データで機器の劣化を高精度に推定する物理モデル組み込みAIを開発</a:t>
            </a:r>
          </a:p>
          <a:p xmlns:a="http://schemas.openxmlformats.org/drawingml/2006/main">
            <a:r>
              <a:t>公表日 2025-12-10</a:t>
            </a:r>
          </a:p>
          <a:p xmlns:a="http://schemas.openxmlformats.org/drawingml/2006/main">
            <a:r>
              <a:t>https://www.mitsubishielectric.co.jp/ja/pr/2025/pdf/1210.pdf#page=2</a:t>
            </a:r>
          </a:p>
          <a:p xmlns:a="http://schemas.openxmlformats.org/drawingml/2006/main">
            <a:r>
              <a:t>掲載位置 印刷頁2 開発の特長1</a:t>
            </a:r>
          </a:p>
          <a:p xmlns:a="http://schemas.openxmlformats.org/drawingml/2006/main">
            <a:r>
              <a:t>文脈の要約 設計仕様に基づく物理モデルへ、個体差や環境条件を実測から補う方式。</a:t>
            </a:r>
          </a:p>
          <a:p xmlns:a="http://schemas.openxmlformats.org/drawingml/2006/main">
            <a:r>
              <a:t>根拠にする論点 物理知識と実測の役割分担</a:t>
            </a:r>
          </a:p>
          <a:p xmlns:a="http://schemas.openxmlformats.org/drawingml/2006/main">
            <a:r>
              <a:t>この一節からは言えないこと 方式の一節。少量データでよい範囲を全てのフィジカルAIへ一般化しない。</a:t>
            </a:r>
          </a:p>
          <a:p xmlns:a="http://schemas.openxmlformats.org/drawingml/2006/main">
            <a:r>
              <a:t>確認 2026-10-22 原文テキストと照合</a:t>
            </a:r>
          </a:p>
          <a:p xmlns:a="http://schemas.openxmlformats.org/drawingml/2006/main">
            <a:r>
              <a:t/>
            </a:r>
          </a:p>
          <a:p xmlns:a="http://schemas.openxmlformats.org/drawingml/2006/main">
            <a:r>
              <a:t>Q44 / A01</a:t>
            </a:r>
          </a:p>
          <a:p xmlns:a="http://schemas.openxmlformats.org/drawingml/2006/main">
            <a:r>
              <a:t>Third Wave Systemsの公式サービス説明</a:t>
            </a:r>
          </a:p>
          <a:p xmlns:a="http://schemas.openxmlformats.org/drawingml/2006/main">
            <a:r>
              <a:t>Third Wave Systems Engineering Services</a:t>
            </a:r>
          </a:p>
          <a:p xmlns:a="http://schemas.openxmlformats.org/drawingml/2006/main">
            <a:r>
              <a:t>公表日 未記載</a:t>
            </a:r>
          </a:p>
          <a:p xmlns:a="http://schemas.openxmlformats.org/drawingml/2006/main">
            <a:r>
              <a:t>https://thirdwavesys.com/engineering/engineering-services/</a:t>
            </a:r>
          </a:p>
          <a:p xmlns:a="http://schemas.openxmlformats.org/drawingml/2006/main">
            <a:r>
              <a:t>掲載位置 Material Modeling Services</a:t>
            </a:r>
          </a:p>
          <a:p xmlns:a="http://schemas.openxmlformats.org/drawingml/2006/main">
            <a:r>
              <a:t>文脈の要約 材料試験と構成則の作成後に行う、シミュレーションと実加工の照合を説明する。</a:t>
            </a:r>
          </a:p>
          <a:p xmlns:a="http://schemas.openxmlformats.org/drawingml/2006/main">
            <a:r>
              <a:t>根拠にする論点 実測でモデルを検証する仕事</a:t>
            </a:r>
          </a:p>
          <a:p xmlns:a="http://schemas.openxmlformats.org/drawingml/2006/main">
            <a:r>
              <a:t>この一節からは言えないこと あらゆる条件での精度保証ではない。</a:t>
            </a:r>
          </a:p>
          <a:p xmlns:a="http://schemas.openxmlformats.org/drawingml/2006/main">
            <a:r>
              <a:t>確認 2026-10-22 原文テキストと照合</a:t>
            </a:r>
          </a:p>
          <a:p xmlns:a="http://schemas.openxmlformats.org/drawingml/2006/main">
            <a:r>
              <a:t/>
            </a:r>
          </a:p>
          <a:p xmlns:a="http://schemas.openxmlformats.org/drawingml/2006/main">
            <a:r>
              <a:t>A02 A02 Third Wave Systems 見えない量をモデルから推定する</a:t>
            </a:r>
          </a:p>
          <a:p xmlns:a="http://schemas.openxmlformats.org/drawingml/2006/main">
            <a:r>
              <a:t>https://thirdwavesys.com/machining-modeling/advantedge/</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A03 A03 Fraunhofer IPT FEMmeetsDR 詳細解析を工程設計で使える形にする</a:t>
            </a:r>
          </a:p>
          <a:p xmlns:a="http://schemas.openxmlformats.org/drawingml/2006/main">
            <a:r>
              <a:t>https://www.ipt.fraunhofer.de/en/projects/femmeetsdr.html</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A05 A05 DMG森精機とテクニウム NC検証と現象モデルを区別する</a:t>
            </a:r>
          </a:p>
          <a:p xmlns:a="http://schemas.openxmlformats.org/drawingml/2006/main">
            <a:r>
              <a:t>https://www.technium.net/cam/ncsimulation/</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同じデジタルツインという名称でも、対象は異なる。特定の研究・試験の性能値を、全加工条件へ転用しない。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Q10 / S10</a:t>
            </a:r>
          </a:p>
          <a:p xmlns:a="http://schemas.openxmlformats.org/drawingml/2006/main">
            <a:r>
              <a:t>NECの公式説明</a:t>
            </a:r>
          </a:p>
          <a:p xmlns:a="http://schemas.openxmlformats.org/drawingml/2006/main">
            <a:r>
              <a:t>NEC AIネイティブに向けて進化する製造業変革コンセプトMX</a:t>
            </a:r>
          </a:p>
          <a:p xmlns:a="http://schemas.openxmlformats.org/drawingml/2006/main">
            <a:r>
              <a:t>公表日 2026-08-19</a:t>
            </a:r>
          </a:p>
          <a:p xmlns:a="http://schemas.openxmlformats.org/drawingml/2006/main">
            <a:r>
              <a:t>https://jpn.nec.com/manufacture/monozukuri/iot_mono/2026-08/02.html</a:t>
            </a:r>
          </a:p>
          <a:p xmlns:a="http://schemas.openxmlformats.org/drawingml/2006/main">
            <a:r>
              <a:t>掲載位置 サプライチェーンの説明</a:t>
            </a:r>
          </a:p>
          <a:p xmlns:a="http://schemas.openxmlformats.org/drawingml/2006/main">
            <a:r>
              <a:t>文脈の要約 変動を受けて代替案や調整を行う構想の中の一節。</a:t>
            </a:r>
          </a:p>
          <a:p xmlns:a="http://schemas.openxmlformats.org/drawingml/2006/main">
            <a:r>
              <a:t>根拠にする論点 工程・業務をまたぐ最適化</a:t>
            </a:r>
          </a:p>
          <a:p xmlns:a="http://schemas.openxmlformats.org/drawingml/2006/main">
            <a:r>
              <a:t>この一節からは言えないこと 後続の効果説明を含まない部分引用。自律交渉が全て製品化済みとはしない。</a:t>
            </a:r>
          </a:p>
          <a:p xmlns:a="http://schemas.openxmlformats.org/drawingml/2006/main">
            <a:r>
              <a:t>確認 2026-10-22 原文テキストと照合</a:t>
            </a:r>
          </a:p>
          <a:p xmlns:a="http://schemas.openxmlformats.org/drawingml/2006/main">
            <a:r>
              <a:t/>
            </a:r>
          </a:p>
          <a:p xmlns:a="http://schemas.openxmlformats.org/drawingml/2006/main">
            <a:r>
              <a:t>Q11 / S11</a:t>
            </a:r>
          </a:p>
          <a:p xmlns:a="http://schemas.openxmlformats.org/drawingml/2006/main">
            <a:r>
              <a:t>Siemensの公式ブログ</a:t>
            </a:r>
          </a:p>
          <a:p xmlns:a="http://schemas.openxmlformats.org/drawingml/2006/main">
            <a:r>
              <a:t>Siemens From agile to autonomous: adaptive production</a:t>
            </a:r>
          </a:p>
          <a:p xmlns:a="http://schemas.openxmlformats.org/drawingml/2006/main">
            <a:r>
              <a:t>公表日 2026-07-08</a:t>
            </a:r>
          </a:p>
          <a:p xmlns:a="http://schemas.openxmlformats.org/drawingml/2006/main">
            <a:r>
              <a:t>https://blogs.sw.siemens.com/nx-manufacturing/from-agile-to-autonomous-building-adaptive-production-with-digital-twins-and-industrial-ai/</a:t>
            </a:r>
          </a:p>
          <a:p xmlns:a="http://schemas.openxmlformats.org/drawingml/2006/main">
            <a:r>
              <a:t>掲載位置 Three principlesの1項目目</a:t>
            </a:r>
          </a:p>
          <a:p xmlns:a="http://schemas.openxmlformats.org/drawingml/2006/main">
            <a:r>
              <a:t>文脈の要約 過去のスナップショットだけでなく現在の状態を使う方針。</a:t>
            </a:r>
          </a:p>
          <a:p xmlns:a="http://schemas.openxmlformats.org/drawingml/2006/main">
            <a:r>
              <a:t>根拠にする論点 稼働中の状態に基づく判断</a:t>
            </a:r>
          </a:p>
          <a:p xmlns:a="http://schemas.openxmlformats.org/drawingml/2006/main">
            <a:r>
              <a:t>この一節からは言えないこと 製造AIに求める原則。特定の更新周期や全システムでの実現実績ではない。</a:t>
            </a:r>
          </a:p>
          <a:p xmlns:a="http://schemas.openxmlformats.org/drawingml/2006/main">
            <a:r>
              <a:t>確認 2026-10-22 原文テキストと照合</a:t>
            </a:r>
          </a:p>
          <a:p xmlns:a="http://schemas.openxmlformats.org/drawingml/2006/main">
            <a:r>
              <a:t/>
            </a:r>
          </a:p>
          <a:p xmlns:a="http://schemas.openxmlformats.org/drawingml/2006/main">
            <a:r>
              <a:t>Q16 / S16</a:t>
            </a:r>
          </a:p>
          <a:p xmlns:a="http://schemas.openxmlformats.org/drawingml/2006/main">
            <a:r>
              <a:t>umatiの公式説明</a:t>
            </a:r>
          </a:p>
          <a:p xmlns:a="http://schemas.openxmlformats.org/drawingml/2006/main">
            <a:r>
              <a:t>umati About: vision, promise, mission</a:t>
            </a:r>
          </a:p>
          <a:p xmlns:a="http://schemas.openxmlformats.org/drawingml/2006/main">
            <a:r>
              <a:t>公表日 </a:t>
            </a:r>
          </a:p>
          <a:p xmlns:a="http://schemas.openxmlformats.org/drawingml/2006/main">
            <a:r>
              <a:t>https://umati.org/about/</a:t>
            </a:r>
          </a:p>
          <a:p xmlns:a="http://schemas.openxmlformats.org/drawingml/2006/main">
            <a:r>
              <a:t>掲載位置 the umati promise</a:t>
            </a:r>
          </a:p>
          <a:p xmlns:a="http://schemas.openxmlformats.org/drawingml/2006/main">
            <a:r>
              <a:t>文脈の要約 接続に加え、意味、通信要件、適合性を揃える活動。</a:t>
            </a:r>
          </a:p>
          <a:p xmlns:a="http://schemas.openxmlformats.org/drawingml/2006/main">
            <a:r>
              <a:t>根拠にする論点 データの意味の共通化</a:t>
            </a:r>
          </a:p>
          <a:p xmlns:a="http://schemas.openxmlformats.org/drawingml/2006/main">
            <a:r>
              <a:t>この一節からは言えないこと 引用は箇条書き中の名詞句。加工意図や全品質データまで標準化済みとはしない。</a:t>
            </a:r>
          </a:p>
          <a:p xmlns:a="http://schemas.openxmlformats.org/drawingml/2006/main">
            <a:r>
              <a:t>確認 2026-10-22 原文テキストと照合</a:t>
            </a:r>
          </a:p>
          <a:p xmlns:a="http://schemas.openxmlformats.org/drawingml/2006/main">
            <a:r>
              <a:t/>
            </a:r>
          </a:p>
          <a:p xmlns:a="http://schemas.openxmlformats.org/drawingml/2006/main">
            <a:r>
              <a:t>Q17 / S17</a:t>
            </a:r>
          </a:p>
          <a:p xmlns:a="http://schemas.openxmlformats.org/drawingml/2006/main">
            <a:r>
              <a:t>山善の解説記事の見出し</a:t>
            </a:r>
          </a:p>
          <a:p xmlns:a="http://schemas.openxmlformats.org/drawingml/2006/main">
            <a:r>
              <a:t>山善・ものづくり研究所 EMO2025から考える技術トレンドとJIMTOF2026の注目点</a:t>
            </a:r>
          </a:p>
          <a:p xmlns:a="http://schemas.openxmlformats.org/drawingml/2006/main">
            <a:r>
              <a:t>公表日 2026-02-19</a:t>
            </a:r>
          </a:p>
          <a:p xmlns:a="http://schemas.openxmlformats.org/drawingml/2006/main">
            <a:r>
              <a:t>https://monoken.yamazen.co.jp/blog/articles/jimtof/emo-hannover2025-report</a:t>
            </a:r>
          </a:p>
          <a:p xmlns:a="http://schemas.openxmlformats.org/drawingml/2006/main">
            <a:r>
              <a:t>掲載位置 注目①の見出し</a:t>
            </a:r>
          </a:p>
          <a:p xmlns:a="http://schemas.openxmlformats.org/drawingml/2006/main">
            <a:r>
              <a:t>文脈の要約 段取り・搬送・検査・人の動きまで含める着眼点。</a:t>
            </a:r>
          </a:p>
          <a:p xmlns:a="http://schemas.openxmlformats.org/drawingml/2006/main">
            <a:r>
              <a:t>根拠にする論点 工程全体を見る視点</a:t>
            </a:r>
          </a:p>
          <a:p xmlns:a="http://schemas.openxmlformats.org/drawingml/2006/main">
            <a:r>
              <a:t>この一節からは言えないこと 筆者の展示会解説。業界全体の統計的実証ではない。</a:t>
            </a:r>
          </a:p>
          <a:p xmlns:a="http://schemas.openxmlformats.org/drawingml/2006/main">
            <a:r>
              <a:t>確認 2026-10-22 原文テキストと照合</a:t>
            </a:r>
          </a:p>
          <a:p xmlns:a="http://schemas.openxmlformats.org/drawingml/2006/main">
            <a:r>
              <a:t/>
            </a:r>
          </a:p>
          <a:p xmlns:a="http://schemas.openxmlformats.org/drawingml/2006/main">
            <a:r>
              <a:t>Q33 / S33</a:t>
            </a:r>
          </a:p>
          <a:p xmlns:a="http://schemas.openxmlformats.org/drawingml/2006/main">
            <a:r>
              <a:t>オムロンの対談本文中の説明</a:t>
            </a:r>
          </a:p>
          <a:p xmlns:a="http://schemas.openxmlformats.org/drawingml/2006/main">
            <a:r>
              <a:t>オムロン IT-OT融合が切り拓く製造業のDX</a:t>
            </a:r>
          </a:p>
          <a:p xmlns:a="http://schemas.openxmlformats.org/drawingml/2006/main">
            <a:r>
              <a:t>公表日 2026-09-18</a:t>
            </a:r>
          </a:p>
          <a:p xmlns:a="http://schemas.openxmlformats.org/drawingml/2006/main">
            <a:r>
              <a:t>https://www.omron.com/jp/ja/edge-link/news/769.html</a:t>
            </a:r>
          </a:p>
          <a:p xmlns:a="http://schemas.openxmlformats.org/drawingml/2006/main">
            <a:r>
              <a:t>掲載位置 i-BELT Hubの説明</a:t>
            </a:r>
          </a:p>
          <a:p xmlns:a="http://schemas.openxmlformats.org/drawingml/2006/main">
            <a:r>
              <a:t>文脈の要約 複数の情報を整理して、現場や管理者の判断で利用する構成。</a:t>
            </a:r>
          </a:p>
          <a:p xmlns:a="http://schemas.openxmlformats.org/drawingml/2006/main">
            <a:r>
              <a:t>根拠にする論点 業務と現象を結ぶデータ</a:t>
            </a:r>
          </a:p>
          <a:p xmlns:a="http://schemas.openxmlformats.org/drawingml/2006/main">
            <a:r>
              <a:t>この一節からは言えないこと 特定のデータ項目全てに共通の意味が既に付いたという業界全体の実績ではない。</a:t>
            </a:r>
          </a:p>
          <a:p xmlns:a="http://schemas.openxmlformats.org/drawingml/2006/main">
            <a:r>
              <a:t>確認 2026-10-22 原文テキストと照合</a:t>
            </a:r>
          </a:p>
          <a:p xmlns:a="http://schemas.openxmlformats.org/drawingml/2006/main">
            <a:r>
              <a:t/>
            </a:r>
          </a:p>
          <a:p xmlns:a="http://schemas.openxmlformats.org/drawingml/2006/main">
            <a:r>
              <a:t>Q42 / A08</a:t>
            </a:r>
          </a:p>
          <a:p xmlns:a="http://schemas.openxmlformats.org/drawingml/2006/main">
            <a:r>
              <a:t>富士通の公式発表</a:t>
            </a:r>
          </a:p>
          <a:p xmlns:a="http://schemas.openxmlformats.org/drawingml/2006/main">
            <a:r>
              <a:t>富士通 富士通 ロボット産業界各社との事業検討</a:t>
            </a:r>
          </a:p>
          <a:p xmlns:a="http://schemas.openxmlformats.org/drawingml/2006/main">
            <a:r>
              <a:t>公表日 2026-07-16</a:t>
            </a:r>
          </a:p>
          <a:p xmlns:a="http://schemas.openxmlformats.org/drawingml/2006/main">
            <a:r>
              <a:t>https://global.fujitsu/ja-jp/pr/news/2026/07/16-01</a:t>
            </a:r>
          </a:p>
          <a:p xmlns:a="http://schemas.openxmlformats.org/drawingml/2006/main">
            <a:r>
              <a:t>掲載位置 工場向けソリューション</a:t>
            </a:r>
          </a:p>
          <a:p xmlns:a="http://schemas.openxmlformats.org/drawingml/2006/main">
            <a:r>
              <a:t>文脈の要約 変動と現場状況を加味する工場向け構想を説明する。</a:t>
            </a:r>
          </a:p>
          <a:p xmlns:a="http://schemas.openxmlformats.org/drawingml/2006/main">
            <a:r>
              <a:t>根拠にする論点 計画と実行を結ぶ方向性</a:t>
            </a:r>
          </a:p>
          <a:p xmlns:a="http://schemas.openxmlformats.org/drawingml/2006/main">
            <a:r>
              <a:t>この一節からは言えないこと 事業検討の開始。完成システムの稼働実績ではない。</a:t>
            </a:r>
          </a:p>
          <a:p xmlns:a="http://schemas.openxmlformats.org/drawingml/2006/main">
            <a:r>
              <a:t>確認 2026-10-22 原文テキストと照合</a:t>
            </a:r>
          </a:p>
          <a:p xmlns:a="http://schemas.openxmlformats.org/drawingml/2006/main">
            <a:r>
              <a:t/>
            </a:r>
          </a:p>
          <a:p xmlns:a="http://schemas.openxmlformats.org/drawingml/2006/main">
            <a:r>
              <a:t>Q45 / A10</a:t>
            </a:r>
          </a:p>
          <a:p xmlns:a="http://schemas.openxmlformats.org/drawingml/2006/main">
            <a:r>
              <a:t>採択事業者による計画をGENIAC公式資料に掲載</a:t>
            </a:r>
          </a:p>
          <a:p xmlns:a="http://schemas.openxmlformats.org/drawingml/2006/main">
            <a:r>
              <a:t>経済産業省GENIAC GENIAC データエコシステム開発概要</a:t>
            </a:r>
          </a:p>
          <a:p xmlns:a="http://schemas.openxmlformats.org/drawingml/2006/main">
            <a:r>
              <a:t>公表日 未記載</a:t>
            </a:r>
          </a:p>
          <a:p xmlns:a="http://schemas.openxmlformats.org/drawingml/2006/main">
            <a:r>
              <a:t>https://geniac.meti.go.jp/selection_4/asset/pdf/800057700.pdf#page=13</a:t>
            </a:r>
          </a:p>
          <a:p xmlns:a="http://schemas.openxmlformats.org/drawingml/2006/main">
            <a:r>
              <a:t>掲載位置 印刷頁13 小松製作所・産総研の概要</a:t>
            </a:r>
          </a:p>
          <a:p xmlns:a="http://schemas.openxmlformats.org/drawingml/2006/main">
            <a:r>
              <a:t>文脈の要約 設備単位を超えた工場の計画と実績の関係を構造化する計画。</a:t>
            </a:r>
          </a:p>
          <a:p xmlns:a="http://schemas.openxmlformats.org/drawingml/2006/main">
            <a:r>
              <a:t>根拠にする論点 工場の判断を記録する対象</a:t>
            </a:r>
          </a:p>
          <a:p xmlns:a="http://schemas.openxmlformats.org/drawingml/2006/main">
            <a:r>
              <a:t>この一節からは言えないこと 目標のデータセット。取得・整備が全て完了したという実績ではない。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接点と用途の整理は分析例。特定製品同士の完成済み連携を示さない。目的と制約、人が決める優先順位も確認する。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Q02 / S02</a:t>
            </a:r>
          </a:p>
          <a:p xmlns:a="http://schemas.openxmlformats.org/drawingml/2006/main">
            <a:r>
              <a:t>DMG森精機の公式発表</a:t>
            </a:r>
          </a:p>
          <a:p xmlns:a="http://schemas.openxmlformats.org/drawingml/2006/main">
            <a:r>
              <a:t>DMG森精機 GENIAC事業に採択：生産設備データエコシステムと製造フィジカルAI基盤</a:t>
            </a:r>
          </a:p>
          <a:p xmlns:a="http://schemas.openxmlformats.org/drawingml/2006/main">
            <a:r>
              <a:t>公表日 2026-07-06</a:t>
            </a:r>
          </a:p>
          <a:p xmlns:a="http://schemas.openxmlformats.org/drawingml/2006/main">
            <a:r>
              <a:t>https://www.dmgmori.co.jp/corporate/news/2026/20260706_geniac.html</a:t>
            </a:r>
          </a:p>
          <a:p xmlns:a="http://schemas.openxmlformats.org/drawingml/2006/main">
            <a:r>
              <a:t>掲載位置 多目的AI開発基盤の説明</a:t>
            </a:r>
          </a:p>
          <a:p xmlns:a="http://schemas.openxmlformats.org/drawingml/2006/main">
            <a:r>
              <a:t>文脈の要約 異常検知から品質予測・条件最適化、生産セルへ広げる計画の中の表現。</a:t>
            </a:r>
          </a:p>
          <a:p xmlns:a="http://schemas.openxmlformats.org/drawingml/2006/main">
            <a:r>
              <a:t>根拠にする論点 循環する開発戦略</a:t>
            </a:r>
          </a:p>
          <a:p xmlns:a="http://schemas.openxmlformats.org/drawingml/2006/main">
            <a:r>
              <a:t>この一節からは言えないこと 構築を目指す仕組み。既に全用途で循環が成立したという実績ではない。</a:t>
            </a:r>
          </a:p>
          <a:p xmlns:a="http://schemas.openxmlformats.org/drawingml/2006/main">
            <a:r>
              <a:t>確認 2026-10-22 原文テキストと照合</a:t>
            </a:r>
          </a:p>
          <a:p xmlns:a="http://schemas.openxmlformats.org/drawingml/2006/main">
            <a:r>
              <a:t/>
            </a:r>
          </a:p>
          <a:p xmlns:a="http://schemas.openxmlformats.org/drawingml/2006/main">
            <a:r>
              <a:t>Q25 / S25</a:t>
            </a:r>
          </a:p>
          <a:p xmlns:a="http://schemas.openxmlformats.org/drawingml/2006/main">
            <a:r>
              <a:t>DMG森精機 森雅彦氏の取材発言</a:t>
            </a:r>
          </a:p>
          <a:p xmlns:a="http://schemas.openxmlformats.org/drawingml/2006/main">
            <a:r>
              <a:t>MONOist 工作機械の各ユーザーにAIエージェントを</a:t>
            </a:r>
          </a:p>
          <a:p xmlns:a="http://schemas.openxmlformats.org/drawingml/2006/main">
            <a:r>
              <a:t>公表日 2026-06-15</a:t>
            </a:r>
          </a:p>
          <a:p xmlns:a="http://schemas.openxmlformats.org/drawingml/2006/main">
            <a:r>
              <a:t>https://monoist.itmedia.co.jp/mn/articles/2606/15/news047_2.html</a:t>
            </a:r>
          </a:p>
          <a:p xmlns:a="http://schemas.openxmlformats.org/drawingml/2006/main">
            <a:r>
              <a:t>掲載位置 後編 工作機械の各ユーザーにAIエージェントを</a:t>
            </a:r>
          </a:p>
          <a:p xmlns:a="http://schemas.openxmlformats.org/drawingml/2006/main">
            <a:r>
              <a:t>文脈の要約 プログラミング、工具選択、ワーク保持などの支援を展望する。</a:t>
            </a:r>
          </a:p>
          <a:p xmlns:a="http://schemas.openxmlformats.org/drawingml/2006/main">
            <a:r>
              <a:t>根拠にする論点 顧客別の継続支援</a:t>
            </a:r>
          </a:p>
          <a:p xmlns:a="http://schemas.openxmlformats.org/drawingml/2006/main">
            <a:r>
              <a:t>この一節からは言えないこと 将来の方向性。全顧客への提供済みという意味ではない。</a:t>
            </a:r>
          </a:p>
          <a:p xmlns:a="http://schemas.openxmlformats.org/drawingml/2006/main">
            <a:r>
              <a:t>確認 2026-10-22 原文テキストと照合</a:t>
            </a:r>
          </a:p>
          <a:p xmlns:a="http://schemas.openxmlformats.org/drawingml/2006/main">
            <a:r>
              <a:t/>
            </a:r>
          </a:p>
          <a:p xmlns:a="http://schemas.openxmlformats.org/drawingml/2006/main">
            <a:r>
              <a:t>Q26 / S26</a:t>
            </a:r>
          </a:p>
          <a:p xmlns:a="http://schemas.openxmlformats.org/drawingml/2006/main">
            <a:r>
              <a:t>DMG森精機の公式製品発表</a:t>
            </a:r>
          </a:p>
          <a:p xmlns:a="http://schemas.openxmlformats.org/drawingml/2006/main">
            <a:r>
              <a:t>DMG森精機 CELOS ClubにCondition Agentを搭載</a:t>
            </a:r>
          </a:p>
          <a:p xmlns:a="http://schemas.openxmlformats.org/drawingml/2006/main">
            <a:r>
              <a:t>公表日 2026-07-06</a:t>
            </a:r>
          </a:p>
          <a:p xmlns:a="http://schemas.openxmlformats.org/drawingml/2006/main">
            <a:r>
              <a:t>https://www.dmgmori.co.jp/corporate/news/2026/20260706_conditionagent.html</a:t>
            </a:r>
          </a:p>
          <a:p xmlns:a="http://schemas.openxmlformats.org/drawingml/2006/main">
            <a:r>
              <a:t>掲載位置 Condition Agentの診断方法</a:t>
            </a:r>
          </a:p>
          <a:p xmlns:a="http://schemas.openxmlformats.org/drawingml/2006/main">
            <a:r>
              <a:t>文脈の要約 専用の動作でデータを得てクラウド分析する方式の説明。</a:t>
            </a:r>
          </a:p>
          <a:p xmlns:a="http://schemas.openxmlformats.org/drawingml/2006/main">
            <a:r>
              <a:t>根拠にする論点 取得条件を作る診断</a:t>
            </a:r>
          </a:p>
          <a:p xmlns:a="http://schemas.openxmlformats.org/drawingml/2006/main">
            <a:r>
              <a:t>この一節からは言えないこと 診断方法の部分引用。全ての加工ログが同じ方法で取られるわけではない。</a:t>
            </a:r>
          </a:p>
          <a:p xmlns:a="http://schemas.openxmlformats.org/drawingml/2006/main">
            <a:r>
              <a:t>確認 2026-10-22 原文テキストと照合</a:t>
            </a:r>
          </a:p>
          <a:p xmlns:a="http://schemas.openxmlformats.org/drawingml/2006/main">
            <a:r>
              <a:t/>
            </a:r>
          </a:p>
          <a:p xmlns:a="http://schemas.openxmlformats.org/drawingml/2006/main">
            <a:r>
              <a:t>Q27 / S27</a:t>
            </a:r>
          </a:p>
          <a:p xmlns:a="http://schemas.openxmlformats.org/drawingml/2006/main">
            <a:r>
              <a:t>DMG森精機の公式決算説明</a:t>
            </a:r>
          </a:p>
          <a:p xmlns:a="http://schemas.openxmlformats.org/drawingml/2006/main">
            <a:r>
              <a:t>DMG森精機 2026年度上半期決算リリース</a:t>
            </a:r>
          </a:p>
          <a:p xmlns:a="http://schemas.openxmlformats.org/drawingml/2006/main">
            <a:r>
              <a:t>公表日 2026-08-04</a:t>
            </a:r>
          </a:p>
          <a:p xmlns:a="http://schemas.openxmlformats.org/drawingml/2006/main">
            <a:r>
              <a:t>https://www.dmgmori.co.jp/corporate/ir/ir_news/2026/20260804_release.html</a:t>
            </a:r>
          </a:p>
          <a:p xmlns:a="http://schemas.openxmlformats.org/drawingml/2006/main">
            <a:r>
              <a:t>掲載位置 2028年度にピーク利益を更新計画</a:t>
            </a:r>
          </a:p>
          <a:p xmlns:a="http://schemas.openxmlformats.org/drawingml/2006/main">
            <a:r>
              <a:t>文脈の要約 直販・直MROを基盤とする高付加価値製品とMRO事業の収益性を説明する。</a:t>
            </a:r>
          </a:p>
          <a:p xmlns:a="http://schemas.openxmlformats.org/drawingml/2006/main">
            <a:r>
              <a:t>根拠にする論点 収益モデル</a:t>
            </a:r>
          </a:p>
          <a:p xmlns:a="http://schemas.openxmlformats.org/drawingml/2006/main">
            <a:r>
              <a:t>この一節からは言えないこと AI単独、サブスク単独の利益率を示す引用ではない。</a:t>
            </a:r>
          </a:p>
          <a:p xmlns:a="http://schemas.openxmlformats.org/drawingml/2006/main">
            <a:r>
              <a:t>確認 2026-10-22 原文テキストと照合</a:t>
            </a:r>
          </a:p>
          <a:p xmlns:a="http://schemas.openxmlformats.org/drawingml/2006/main">
            <a:r>
              <a:t/>
            </a:r>
          </a:p>
          <a:p xmlns:a="http://schemas.openxmlformats.org/drawingml/2006/main">
            <a:r>
              <a:t>Q29 / S29</a:t>
            </a:r>
          </a:p>
          <a:p xmlns:a="http://schemas.openxmlformats.org/drawingml/2006/main">
            <a:r>
              <a:t>DMG森精機 統合報告書2025</a:t>
            </a:r>
          </a:p>
          <a:p xmlns:a="http://schemas.openxmlformats.org/drawingml/2006/main">
            <a:r>
              <a:t>DMG森精機 統合報告書2025ダイジェスト：MROと開発の連環</a:t>
            </a:r>
          </a:p>
          <a:p xmlns:a="http://schemas.openxmlformats.org/drawingml/2006/main">
            <a:r>
              <a:t>公表日 2026</a:t>
            </a:r>
          </a:p>
          <a:p xmlns:a="http://schemas.openxmlformats.org/drawingml/2006/main">
            <a:r>
              <a:t>https://www.dmgmori.co.jp/corporate/ir/ir_library/pdf/2025_ir_digest_j.pdf#page=26</a:t>
            </a:r>
          </a:p>
          <a:p xmlns:a="http://schemas.openxmlformats.org/drawingml/2006/main">
            <a:r>
              <a:t>掲載位置 印刷頁25 PPRの図中の説明</a:t>
            </a:r>
          </a:p>
          <a:p xmlns:a="http://schemas.openxmlformats.org/drawingml/2006/main">
            <a:r>
              <a:t>文脈の要約 不具合を原因調査、対策・改善、製品への展開へつなぐPPRの説明。</a:t>
            </a:r>
          </a:p>
          <a:p xmlns:a="http://schemas.openxmlformats.org/drawingml/2006/main">
            <a:r>
              <a:t>根拠にする論点 修理知識を開発へ還流</a:t>
            </a:r>
          </a:p>
          <a:p xmlns:a="http://schemas.openxmlformats.org/drawingml/2006/main">
            <a:r>
              <a:t>この一節からは言えないこと 既存の改善体制。PPR自体を生成AIの新機能とはしない。</a:t>
            </a:r>
          </a:p>
          <a:p xmlns:a="http://schemas.openxmlformats.org/drawingml/2006/main">
            <a:r>
              <a:t>確認 2026-10-22 PDF画像で原文照合（前回精読時の画像）</a:t>
            </a:r>
          </a:p>
          <a:p xmlns:a="http://schemas.openxmlformats.org/drawingml/2006/main">
            <a:r>
              <a:t/>
            </a:r>
          </a:p>
          <a:p xmlns:a="http://schemas.openxmlformats.org/drawingml/2006/main">
            <a:r>
              <a:t>Q36 / S36</a:t>
            </a:r>
          </a:p>
          <a:p xmlns:a="http://schemas.openxmlformats.org/drawingml/2006/main">
            <a:r>
              <a:t>Beckhoff公式ライセンス説明</a:t>
            </a:r>
          </a:p>
          <a:p xmlns:a="http://schemas.openxmlformats.org/drawingml/2006/main">
            <a:r>
              <a:t>Beckhoff TwinCAT Machine Learning Creator: Licensing</a:t>
            </a:r>
          </a:p>
          <a:p xmlns:a="http://schemas.openxmlformats.org/drawingml/2006/main">
            <a:r>
              <a:t>公表日 未記載</a:t>
            </a:r>
          </a:p>
          <a:p xmlns:a="http://schemas.openxmlformats.org/drawingml/2006/main">
            <a:r>
              <a:t>https://infosys.beckhoff.com/content/1033/te3850_tc3_machine_learning_creator/21561794187.html</a:t>
            </a:r>
          </a:p>
          <a:p xmlns:a="http://schemas.openxmlformats.org/drawingml/2006/main">
            <a:r>
              <a:t>掲載位置 Overviewの冒頭</a:t>
            </a:r>
          </a:p>
          <a:p xmlns:a="http://schemas.openxmlformats.org/drawingml/2006/main">
            <a:r>
              <a:t>文脈の要約 契約期間、計算時間、持ち出し範囲が設定されるサービス。</a:t>
            </a:r>
          </a:p>
          <a:p xmlns:a="http://schemas.openxmlformats.org/drawingml/2006/main">
            <a:r>
              <a:t>根拠にする論点 基盤利用と課金</a:t>
            </a:r>
          </a:p>
          <a:p xmlns:a="http://schemas.openxmlformats.org/drawingml/2006/main">
            <a:r>
              <a:t>この一節からは言えないこと 料金方式の根拠。顧客効果や利益率の証拠ではない。</a:t>
            </a:r>
          </a:p>
          <a:p xmlns:a="http://schemas.openxmlformats.org/drawingml/2006/main">
            <a:r>
              <a:t>確認 2026-10-22 原文テキストと照合</a:t>
            </a:r>
          </a:p>
          <a:p xmlns:a="http://schemas.openxmlformats.org/drawingml/2006/main">
            <a:r>
              <a:t/>
            </a:r>
          </a:p>
          <a:p xmlns:a="http://schemas.openxmlformats.org/drawingml/2006/main">
            <a:r>
              <a:t>Q43 / A11</a:t>
            </a:r>
          </a:p>
          <a:p xmlns:a="http://schemas.openxmlformats.org/drawingml/2006/main">
            <a:r>
              <a:t>テクニウム公式のサービス案内</a:t>
            </a:r>
          </a:p>
          <a:p xmlns:a="http://schemas.openxmlformats.org/drawingml/2006/main">
            <a:r>
              <a:t>テクニウム CELOS Club サービスの特長</a:t>
            </a:r>
          </a:p>
          <a:p xmlns:a="http://schemas.openxmlformats.org/drawingml/2006/main">
            <a:r>
              <a:t>公表日 未記載</a:t>
            </a:r>
          </a:p>
          <a:p xmlns:a="http://schemas.openxmlformats.org/drawingml/2006/main">
            <a:r>
              <a:t>https://www.technium.net/celosclub/feature/</a:t>
            </a:r>
          </a:p>
          <a:p xmlns:a="http://schemas.openxmlformats.org/drawingml/2006/main">
            <a:r>
              <a:t>掲載位置 ご利用期間</a:t>
            </a:r>
          </a:p>
          <a:p xmlns:a="http://schemas.openxmlformats.org/drawingml/2006/main">
            <a:r>
              <a:t>文脈の要約 納入後の利用期間と、その後の更新を説明する。</a:t>
            </a:r>
          </a:p>
          <a:p xmlns:a="http://schemas.openxmlformats.org/drawingml/2006/main">
            <a:r>
              <a:t>根拠にする論点 継続契約の仕組み</a:t>
            </a:r>
          </a:p>
          <a:p xmlns:a="http://schemas.openxmlformats.org/drawingml/2006/main">
            <a:r>
              <a:t>この一節からは言えないこと AIの精度向上が更新率や利益を上げた証拠ではない。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データ増加からAI改善、継続契約、収益改善への連鎖は事業仮説。AI機能別の更新率・収益寄与は未確認。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Q05 / S05</a:t>
            </a:r>
          </a:p>
          <a:p xmlns:a="http://schemas.openxmlformats.org/drawingml/2006/main">
            <a:r>
              <a:t>MONOistの記者説明。マザック共同開発を取材</a:t>
            </a:r>
          </a:p>
          <a:p xmlns:a="http://schemas.openxmlformats.org/drawingml/2006/main">
            <a:r>
              <a:t>MONOist 加工の工程設計をAIエージェントで自動化</a:t>
            </a:r>
          </a:p>
          <a:p xmlns:a="http://schemas.openxmlformats.org/drawingml/2006/main">
            <a:r>
              <a:t>公表日 2026-10-19</a:t>
            </a:r>
          </a:p>
          <a:p xmlns:a="http://schemas.openxmlformats.org/drawingml/2006/main">
            <a:r>
              <a:t>https://monoist.itmedia.co.jp/mn/articles/2610/19/news039_2.html</a:t>
            </a:r>
          </a:p>
          <a:p xmlns:a="http://schemas.openxmlformats.org/drawingml/2006/main">
            <a:r>
              <a:t>掲載位置 後編 MAZATROLとGコードを比較する段落</a:t>
            </a:r>
          </a:p>
          <a:p xmlns:a="http://schemas.openxmlformats.org/drawingml/2006/main">
            <a:r>
              <a:t>文脈の要約 対話プログラムの加工意図と判断結果を学習する方式を説明する。</a:t>
            </a:r>
          </a:p>
          <a:p xmlns:a="http://schemas.openxmlformats.org/drawingml/2006/main">
            <a:r>
              <a:t>根拠にする論点 加工意図の形式知化</a:t>
            </a:r>
          </a:p>
          <a:p xmlns:a="http://schemas.openxmlformats.org/drawingml/2006/main">
            <a:r>
              <a:t>この一節からは言えないこと 記者の説明からの抜粋で、発言者の直接発言ではない。</a:t>
            </a:r>
          </a:p>
          <a:p xmlns:a="http://schemas.openxmlformats.org/drawingml/2006/main">
            <a:r>
              <a:t>確認 2026-10-22 原文テキストと照合</a:t>
            </a:r>
          </a:p>
          <a:p xmlns:a="http://schemas.openxmlformats.org/drawingml/2006/main">
            <a:r>
              <a:t/>
            </a:r>
          </a:p>
          <a:p xmlns:a="http://schemas.openxmlformats.org/drawingml/2006/main">
            <a:r>
              <a:t>Q10 / S10</a:t>
            </a:r>
          </a:p>
          <a:p xmlns:a="http://schemas.openxmlformats.org/drawingml/2006/main">
            <a:r>
              <a:t>NECの公式説明</a:t>
            </a:r>
          </a:p>
          <a:p xmlns:a="http://schemas.openxmlformats.org/drawingml/2006/main">
            <a:r>
              <a:t>NEC AIネイティブに向けて進化する製造業変革コンセプトMX</a:t>
            </a:r>
          </a:p>
          <a:p xmlns:a="http://schemas.openxmlformats.org/drawingml/2006/main">
            <a:r>
              <a:t>公表日 2026-08-19</a:t>
            </a:r>
          </a:p>
          <a:p xmlns:a="http://schemas.openxmlformats.org/drawingml/2006/main">
            <a:r>
              <a:t>https://jpn.nec.com/manufacture/monozukuri/iot_mono/2026-08/02.html</a:t>
            </a:r>
          </a:p>
          <a:p xmlns:a="http://schemas.openxmlformats.org/drawingml/2006/main">
            <a:r>
              <a:t>掲載位置 サプライチェーンの説明</a:t>
            </a:r>
          </a:p>
          <a:p xmlns:a="http://schemas.openxmlformats.org/drawingml/2006/main">
            <a:r>
              <a:t>文脈の要約 変動を受けて代替案や調整を行う構想の中の一節。</a:t>
            </a:r>
          </a:p>
          <a:p xmlns:a="http://schemas.openxmlformats.org/drawingml/2006/main">
            <a:r>
              <a:t>根拠にする論点 工程・業務をまたぐ最適化</a:t>
            </a:r>
          </a:p>
          <a:p xmlns:a="http://schemas.openxmlformats.org/drawingml/2006/main">
            <a:r>
              <a:t>この一節からは言えないこと 後続の効果説明を含まない部分引用。自律交渉が全て製品化済みとはしない。</a:t>
            </a:r>
          </a:p>
          <a:p xmlns:a="http://schemas.openxmlformats.org/drawingml/2006/main">
            <a:r>
              <a:t>確認 2026-10-22 原文テキストと照合</a:t>
            </a:r>
          </a:p>
          <a:p xmlns:a="http://schemas.openxmlformats.org/drawingml/2006/main">
            <a:r>
              <a:t/>
            </a:r>
          </a:p>
          <a:p xmlns:a="http://schemas.openxmlformats.org/drawingml/2006/main">
            <a:r>
              <a:t>Q14 / S14</a:t>
            </a:r>
          </a:p>
          <a:p xmlns:a="http://schemas.openxmlformats.org/drawingml/2006/main">
            <a:r>
              <a:t>Hexagon公式ブログの執筆者による説明</a:t>
            </a:r>
          </a:p>
          <a:p xmlns:a="http://schemas.openxmlformats.org/drawingml/2006/main">
            <a:r>
              <a:t>Hexagon／製品技術担当者 The next step in CAM isn’t new. It’s already here.</a:t>
            </a:r>
          </a:p>
          <a:p xmlns:a="http://schemas.openxmlformats.org/drawingml/2006/main">
            <a:r>
              <a:t>公表日 2026-04-29</a:t>
            </a:r>
          </a:p>
          <a:p xmlns:a="http://schemas.openxmlformats.org/drawingml/2006/main">
            <a:r>
              <a:t>https://blog.manufacturing.hexagon.com/advanced-manufacturing/cam-software/the-next-step-in-cam-isnt-new-its-already-here/</a:t>
            </a:r>
          </a:p>
          <a:p xmlns:a="http://schemas.openxmlformats.org/drawingml/2006/main">
            <a:r>
              <a:t>掲載位置 熟練者の経験が個人に残る問題を説明する段落</a:t>
            </a:r>
          </a:p>
          <a:p xmlns:a="http://schemas.openxmlformats.org/drawingml/2006/main">
            <a:r>
              <a:t>文脈の要約 CAMの機能だけでなく、過去の考え方を次のプログラミングで使う課題を述べる。</a:t>
            </a:r>
          </a:p>
          <a:p xmlns:a="http://schemas.openxmlformats.org/drawingml/2006/main">
            <a:r>
              <a:t>根拠にする論点 判断理由の再利用</a:t>
            </a:r>
          </a:p>
          <a:p xmlns:a="http://schemas.openxmlformats.org/drawingml/2006/main">
            <a:r>
              <a:t>この一節からは言えないこと CAM一般への問題提起。全てのソフトに履歴保存がないという仕様確認ではない。</a:t>
            </a:r>
          </a:p>
          <a:p xmlns:a="http://schemas.openxmlformats.org/drawingml/2006/main">
            <a:r>
              <a:t>確認 2026-10-22 原文テキストと照合</a:t>
            </a:r>
          </a:p>
          <a:p xmlns:a="http://schemas.openxmlformats.org/drawingml/2006/main">
            <a:r>
              <a:t/>
            </a:r>
          </a:p>
          <a:p xmlns:a="http://schemas.openxmlformats.org/drawingml/2006/main">
            <a:r>
              <a:t>Q25 / S25</a:t>
            </a:r>
          </a:p>
          <a:p xmlns:a="http://schemas.openxmlformats.org/drawingml/2006/main">
            <a:r>
              <a:t>DMG森精機 森雅彦氏の取材発言</a:t>
            </a:r>
          </a:p>
          <a:p xmlns:a="http://schemas.openxmlformats.org/drawingml/2006/main">
            <a:r>
              <a:t>MONOist 工作機械の各ユーザーにAIエージェントを</a:t>
            </a:r>
          </a:p>
          <a:p xmlns:a="http://schemas.openxmlformats.org/drawingml/2006/main">
            <a:r>
              <a:t>公表日 2026-06-15</a:t>
            </a:r>
          </a:p>
          <a:p xmlns:a="http://schemas.openxmlformats.org/drawingml/2006/main">
            <a:r>
              <a:t>https://monoist.itmedia.co.jp/mn/articles/2606/15/news047_2.html</a:t>
            </a:r>
          </a:p>
          <a:p xmlns:a="http://schemas.openxmlformats.org/drawingml/2006/main">
            <a:r>
              <a:t>掲載位置 後編 工作機械の各ユーザーにAIエージェントを</a:t>
            </a:r>
          </a:p>
          <a:p xmlns:a="http://schemas.openxmlformats.org/drawingml/2006/main">
            <a:r>
              <a:t>文脈の要約 プログラミング、工具選択、ワーク保持などの支援を展望する。</a:t>
            </a:r>
          </a:p>
          <a:p xmlns:a="http://schemas.openxmlformats.org/drawingml/2006/main">
            <a:r>
              <a:t>根拠にする論点 顧客別の継続支援</a:t>
            </a:r>
          </a:p>
          <a:p xmlns:a="http://schemas.openxmlformats.org/drawingml/2006/main">
            <a:r>
              <a:t>この一節からは言えないこと 将来の方向性。全顧客への提供済みという意味ではない。</a:t>
            </a:r>
          </a:p>
          <a:p xmlns:a="http://schemas.openxmlformats.org/drawingml/2006/main">
            <a:r>
              <a:t>確認 2026-10-22 原文テキストと照合</a:t>
            </a:r>
          </a:p>
          <a:p xmlns:a="http://schemas.openxmlformats.org/drawingml/2006/main">
            <a:r>
              <a:t/>
            </a:r>
          </a:p>
          <a:p xmlns:a="http://schemas.openxmlformats.org/drawingml/2006/main">
            <a:r>
              <a:t>Q38 / S38</a:t>
            </a:r>
          </a:p>
          <a:p xmlns:a="http://schemas.openxmlformats.org/drawingml/2006/main">
            <a:r>
              <a:t>産総研の公式研究発表</a:t>
            </a:r>
          </a:p>
          <a:p xmlns:a="http://schemas.openxmlformats.org/drawingml/2006/main">
            <a:r>
              <a:t>産総研 少数データから短時間で現場環境に応じた最適加工条件を決定</a:t>
            </a:r>
          </a:p>
          <a:p xmlns:a="http://schemas.openxmlformats.org/drawingml/2006/main">
            <a:r>
              <a:t>公表日 2022-01-17</a:t>
            </a:r>
          </a:p>
          <a:p xmlns:a="http://schemas.openxmlformats.org/drawingml/2006/main">
            <a:r>
              <a:t>https://www.aist.go.jp/aist_j/press_release/pr2022/pr20220117/pr20220117.html</a:t>
            </a:r>
          </a:p>
          <a:p xmlns:a="http://schemas.openxmlformats.org/drawingml/2006/main">
            <a:r>
              <a:t>掲載位置 概要・研究の狙い</a:t>
            </a:r>
          </a:p>
          <a:p xmlns:a="http://schemas.openxmlformats.org/drawingml/2006/main">
            <a:r>
              <a:t>文脈の要約 スピニング加工の複数寸法を満たす条件を求める研究。</a:t>
            </a:r>
          </a:p>
          <a:p xmlns:a="http://schemas.openxmlformats.org/drawingml/2006/main">
            <a:r>
              <a:t>根拠にする論点 要求品質から条件を決める</a:t>
            </a:r>
          </a:p>
          <a:p xmlns:a="http://schemas.openxmlformats.org/drawingml/2006/main">
            <a:r>
              <a:t>この一節からは言えないこと 特定の加工での実証。あらゆる加工の条件決定を解決したという意味ではない。</a:t>
            </a:r>
          </a:p>
          <a:p xmlns:a="http://schemas.openxmlformats.org/drawingml/2006/main">
            <a:r>
              <a:t>確認 2026-10-22 原文テキストと照合</a:t>
            </a:r>
          </a:p>
          <a:p xmlns:a="http://schemas.openxmlformats.org/drawingml/2006/main">
            <a:r>
              <a:t/>
            </a:r>
          </a:p>
          <a:p xmlns:a="http://schemas.openxmlformats.org/drawingml/2006/main">
            <a:r>
              <a:t>Q42 / A08</a:t>
            </a:r>
          </a:p>
          <a:p xmlns:a="http://schemas.openxmlformats.org/drawingml/2006/main">
            <a:r>
              <a:t>富士通の公式発表</a:t>
            </a:r>
          </a:p>
          <a:p xmlns:a="http://schemas.openxmlformats.org/drawingml/2006/main">
            <a:r>
              <a:t>富士通 富士通 ロボット産業界各社との事業検討</a:t>
            </a:r>
          </a:p>
          <a:p xmlns:a="http://schemas.openxmlformats.org/drawingml/2006/main">
            <a:r>
              <a:t>公表日 2026-07-16</a:t>
            </a:r>
          </a:p>
          <a:p xmlns:a="http://schemas.openxmlformats.org/drawingml/2006/main">
            <a:r>
              <a:t>https://global.fujitsu/ja-jp/pr/news/2026/07/16-01</a:t>
            </a:r>
          </a:p>
          <a:p xmlns:a="http://schemas.openxmlformats.org/drawingml/2006/main">
            <a:r>
              <a:t>掲載位置 工場向けソリューション</a:t>
            </a:r>
          </a:p>
          <a:p xmlns:a="http://schemas.openxmlformats.org/drawingml/2006/main">
            <a:r>
              <a:t>文脈の要約 変動と現場状況を加味する工場向け構想を説明する。</a:t>
            </a:r>
          </a:p>
          <a:p xmlns:a="http://schemas.openxmlformats.org/drawingml/2006/main">
            <a:r>
              <a:t>根拠にする論点 計画と実行を結ぶ方向性</a:t>
            </a:r>
          </a:p>
          <a:p xmlns:a="http://schemas.openxmlformats.org/drawingml/2006/main">
            <a:r>
              <a:t>この一節からは言えないこと 事業検討の開始。完成システムの稼働実績ではない。</a:t>
            </a:r>
          </a:p>
          <a:p xmlns:a="http://schemas.openxmlformats.org/drawingml/2006/main">
            <a:r>
              <a:t>確認 2026-10-22 原文テキストと照合</a:t>
            </a:r>
          </a:p>
          <a:p xmlns:a="http://schemas.openxmlformats.org/drawingml/2006/main">
            <a:r>
              <a:t/>
            </a:r>
          </a:p>
          <a:p xmlns:a="http://schemas.openxmlformats.org/drawingml/2006/main">
            <a:r>
              <a:t>Q45 / A10</a:t>
            </a:r>
          </a:p>
          <a:p xmlns:a="http://schemas.openxmlformats.org/drawingml/2006/main">
            <a:r>
              <a:t>採択事業者による計画をGENIAC公式資料に掲載</a:t>
            </a:r>
          </a:p>
          <a:p xmlns:a="http://schemas.openxmlformats.org/drawingml/2006/main">
            <a:r>
              <a:t>経済産業省GENIAC GENIAC データエコシステム開発概要</a:t>
            </a:r>
          </a:p>
          <a:p xmlns:a="http://schemas.openxmlformats.org/drawingml/2006/main">
            <a:r>
              <a:t>公表日 未記載</a:t>
            </a:r>
          </a:p>
          <a:p xmlns:a="http://schemas.openxmlformats.org/drawingml/2006/main">
            <a:r>
              <a:t>https://geniac.meti.go.jp/selection_4/asset/pdf/800057700.pdf#page=13</a:t>
            </a:r>
          </a:p>
          <a:p xmlns:a="http://schemas.openxmlformats.org/drawingml/2006/main">
            <a:r>
              <a:t>掲載位置 印刷頁13 小松製作所・産総研の概要</a:t>
            </a:r>
          </a:p>
          <a:p xmlns:a="http://schemas.openxmlformats.org/drawingml/2006/main">
            <a:r>
              <a:t>文脈の要約 設備単位を超えた工場の計画と実績の関係を構造化する計画。</a:t>
            </a:r>
          </a:p>
          <a:p xmlns:a="http://schemas.openxmlformats.org/drawingml/2006/main">
            <a:r>
              <a:t>根拠にする論点 工場の判断を記録する対象</a:t>
            </a:r>
          </a:p>
          <a:p xmlns:a="http://schemas.openxmlformats.org/drawingml/2006/main">
            <a:r>
              <a:t>この一節からは言えないこと 目標のデータセット。取得・整備が全て完了したという実績ではない。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資料に基づく代表例の配置。製品間の接続、全社での同等機能、全工程の自律化を認定する表ではない。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Q06 / S06</a:t>
            </a:r>
          </a:p>
          <a:p xmlns:a="http://schemas.openxmlformats.org/drawingml/2006/main">
            <a:r>
              <a:t>日立・ファナックの共同発表をファナックが掲載</a:t>
            </a:r>
          </a:p>
          <a:p xmlns:a="http://schemas.openxmlformats.org/drawingml/2006/main">
            <a:r>
              <a:t>ファナック・日立 フィジカルAI実装の共同事業化に向けた戦略的パートナーシップ</a:t>
            </a:r>
          </a:p>
          <a:p xmlns:a="http://schemas.openxmlformats.org/drawingml/2006/main">
            <a:r>
              <a:t>公表日 2026-09-30</a:t>
            </a:r>
          </a:p>
          <a:p xmlns:a="http://schemas.openxmlformats.org/drawingml/2006/main">
            <a:r>
              <a:t>https://www.fanuc.co.jp/ja/profile/pr/newsrelease/2026/news20260930.html</a:t>
            </a:r>
          </a:p>
          <a:p xmlns:a="http://schemas.openxmlformats.org/drawingml/2006/main">
            <a:r>
              <a:t>掲載位置 提携の説明・カスタマーゼロの段落</a:t>
            </a:r>
          </a:p>
          <a:p xmlns:a="http://schemas.openxmlformats.org/drawingml/2006/main">
            <a:r>
              <a:t>文脈の要約 日立の工場で共同実証し、現場課題へ柔軟に対応する実用化計画の一節。</a:t>
            </a:r>
          </a:p>
          <a:p xmlns:a="http://schemas.openxmlformats.org/drawingml/2006/main">
            <a:r>
              <a:t>根拠にする論点 現場での学習・適応</a:t>
            </a:r>
          </a:p>
          <a:p xmlns:a="http://schemas.openxmlformats.org/drawingml/2006/main">
            <a:r>
              <a:t>この一節からは言えないこと 将来の共同実証・実用化を説明する。全機能の達成実績とはしない。</a:t>
            </a:r>
          </a:p>
          <a:p xmlns:a="http://schemas.openxmlformats.org/drawingml/2006/main">
            <a:r>
              <a:t>確認 2026-10-22 原文テキストと照合</a:t>
            </a:r>
          </a:p>
          <a:p xmlns:a="http://schemas.openxmlformats.org/drawingml/2006/main">
            <a:r>
              <a:t/>
            </a:r>
          </a:p>
          <a:p xmlns:a="http://schemas.openxmlformats.org/drawingml/2006/main">
            <a:r>
              <a:t>Q07 / S07</a:t>
            </a:r>
          </a:p>
          <a:p xmlns:a="http://schemas.openxmlformats.org/drawingml/2006/main">
            <a:r>
              <a:t>ファナック 安部健一郎氏の取材発言</a:t>
            </a:r>
          </a:p>
          <a:p xmlns:a="http://schemas.openxmlformats.org/drawingml/2006/main">
            <a:r>
              <a:t>MONOist ファナックとフィジカルAI、現場主義の開発思想</a:t>
            </a:r>
          </a:p>
          <a:p xmlns:a="http://schemas.openxmlformats.org/drawingml/2006/main">
            <a:r>
              <a:t>公表日 2026-07-02</a:t>
            </a:r>
          </a:p>
          <a:p xmlns:a="http://schemas.openxmlformats.org/drawingml/2006/main">
            <a:r>
              <a:t>https://monoist.itmedia.co.jp/mn/articles/2607/02/news043.html</a:t>
            </a:r>
          </a:p>
          <a:p xmlns:a="http://schemas.openxmlformats.org/drawingml/2006/main">
            <a:r>
              <a:t>掲載位置 1頁 やりたいことの結果がフィジカルAIだった</a:t>
            </a:r>
          </a:p>
          <a:p xmlns:a="http://schemas.openxmlformats.org/drawingml/2006/main">
            <a:r>
              <a:t>文脈の要約 決められた反復動作に対し、環境を確認してAIの演算を用いるソリューションを説明する。</a:t>
            </a:r>
          </a:p>
          <a:p xmlns:a="http://schemas.openxmlformats.org/drawingml/2006/main">
            <a:r>
              <a:t>根拠にする論点 フィジカルAIの捉え方</a:t>
            </a:r>
          </a:p>
          <a:p xmlns:a="http://schemas.openxmlformats.org/drawingml/2006/main">
            <a:r>
              <a:t>この一節からは言えないこと 正式な業界規格の定義ではない。どの変化にどこまで対応できるかは個別に調べる。</a:t>
            </a:r>
          </a:p>
          <a:p xmlns:a="http://schemas.openxmlformats.org/drawingml/2006/main">
            <a:r>
              <a:t>確認 2026-10-22 原文テキストと照合</a:t>
            </a:r>
          </a:p>
          <a:p xmlns:a="http://schemas.openxmlformats.org/drawingml/2006/main">
            <a:r>
              <a:t/>
            </a:r>
          </a:p>
          <a:p xmlns:a="http://schemas.openxmlformats.org/drawingml/2006/main">
            <a:r>
              <a:t>Q22 / S22</a:t>
            </a:r>
          </a:p>
          <a:p xmlns:a="http://schemas.openxmlformats.org/drawingml/2006/main">
            <a:r>
              <a:t>オークマ公式JIMTOF2026特設ページ</a:t>
            </a:r>
          </a:p>
          <a:p xmlns:a="http://schemas.openxmlformats.org/drawingml/2006/main">
            <a:r>
              <a:t>オークマ JIMTOF2026特設サイト</a:t>
            </a:r>
          </a:p>
          <a:p xmlns:a="http://schemas.openxmlformats.org/drawingml/2006/main">
            <a:r>
              <a:t>公表日 </a:t>
            </a:r>
          </a:p>
          <a:p xmlns:a="http://schemas.openxmlformats.org/drawingml/2006/main">
            <a:r>
              <a:t>https://www.okuma.co.jp/english/show/jimtof/2026/</a:t>
            </a:r>
          </a:p>
          <a:p xmlns:a="http://schemas.openxmlformats.org/drawingml/2006/main">
            <a:r>
              <a:t>掲載位置 MU-350V + AWCの説明</a:t>
            </a:r>
          </a:p>
          <a:p xmlns:a="http://schemas.openxmlformats.org/drawingml/2006/main">
            <a:r>
              <a:t>文脈の要約 自動ワーク交換を伴う展示予定の訴求。</a:t>
            </a:r>
          </a:p>
          <a:p xmlns:a="http://schemas.openxmlformats.org/drawingml/2006/main">
            <a:r>
              <a:t>根拠にする論点 多品種少量への自動化</a:t>
            </a:r>
          </a:p>
          <a:p xmlns:a="http://schemas.openxmlformats.org/drawingml/2006/main">
            <a:r>
              <a:t>この一節からは言えないこと AI使用や未知対象への適応の証拠ではない。</a:t>
            </a:r>
          </a:p>
          <a:p xmlns:a="http://schemas.openxmlformats.org/drawingml/2006/main">
            <a:r>
              <a:t>確認 2026-10-22 原文テキストと照合</a:t>
            </a:r>
          </a:p>
          <a:p xmlns:a="http://schemas.openxmlformats.org/drawingml/2006/main">
            <a:r>
              <a:t/>
            </a:r>
          </a:p>
          <a:p xmlns:a="http://schemas.openxmlformats.org/drawingml/2006/main">
            <a:r>
              <a:t>Q23 / S23</a:t>
            </a:r>
          </a:p>
          <a:p xmlns:a="http://schemas.openxmlformats.org/drawingml/2006/main">
            <a:r>
              <a:t>安川電機の公式経営資料</a:t>
            </a:r>
          </a:p>
          <a:p xmlns:a="http://schemas.openxmlformats.org/drawingml/2006/main">
            <a:r>
              <a:t>安川電機 決算補足説明資料：AIロボティクス領域拡大</a:t>
            </a:r>
          </a:p>
          <a:p xmlns:a="http://schemas.openxmlformats.org/drawingml/2006/main">
            <a:r>
              <a:t>公表日 2026-01-09</a:t>
            </a:r>
          </a:p>
          <a:p xmlns:a="http://schemas.openxmlformats.org/drawingml/2006/main">
            <a:r>
              <a:t>https://www.yaskawa.co.jp/wp-content/uploads/2026/01/20260109_haihu.pdf#page=16</a:t>
            </a:r>
          </a:p>
          <a:p xmlns:a="http://schemas.openxmlformats.org/drawingml/2006/main">
            <a:r>
              <a:t>掲載位置 印刷頁15 AIロボティクス領域の拡大に向けた取組み</a:t>
            </a:r>
          </a:p>
          <a:p xmlns:a="http://schemas.openxmlformats.org/drawingml/2006/main">
            <a:r>
              <a:t>文脈の要約 同社がAIロボティクスを説明する表現。設計変更と実演学習の例が続く。</a:t>
            </a:r>
          </a:p>
          <a:p xmlns:a="http://schemas.openxmlformats.org/drawingml/2006/main">
            <a:r>
              <a:t>根拠にする論点 AIの判断を動作へつなぐ</a:t>
            </a:r>
          </a:p>
          <a:p xmlns:a="http://schemas.openxmlformats.org/drawingml/2006/main">
            <a:r>
              <a:t>この一節からは言えないこと 同社のAIロボティクスの表現であり、全社共通のPhysical AI定義ではない。</a:t>
            </a:r>
          </a:p>
          <a:p xmlns:a="http://schemas.openxmlformats.org/drawingml/2006/main">
            <a:r>
              <a:t>確認 2026-10-22 原文テキストと照合</a:t>
            </a:r>
          </a:p>
          <a:p xmlns:a="http://schemas.openxmlformats.org/drawingml/2006/main">
            <a:r>
              <a:t/>
            </a:r>
          </a:p>
          <a:p xmlns:a="http://schemas.openxmlformats.org/drawingml/2006/main">
            <a:r>
              <a:t>Q30 / S30</a:t>
            </a:r>
          </a:p>
          <a:p xmlns:a="http://schemas.openxmlformats.org/drawingml/2006/main">
            <a:r>
              <a:t>FingerVisionの説明をGENIAC公式ページに掲載</a:t>
            </a:r>
          </a:p>
          <a:p xmlns:a="http://schemas.openxmlformats.org/drawingml/2006/main">
            <a:r>
              <a:t>経済産業省・GENIAC データエコシステム採択事業者（第4期）</a:t>
            </a:r>
          </a:p>
          <a:p xmlns:a="http://schemas.openxmlformats.org/drawingml/2006/main">
            <a:r>
              <a:t>公表日 </a:t>
            </a:r>
          </a:p>
          <a:p xmlns:a="http://schemas.openxmlformats.org/drawingml/2006/main">
            <a:r>
              <a:t>https://geniac.meti.go.jp/selection_4/data/index.html</a:t>
            </a:r>
          </a:p>
          <a:p xmlns:a="http://schemas.openxmlformats.org/drawingml/2006/main">
            <a:r>
              <a:t>掲載位置 FingerVisionの採択事業説明</a:t>
            </a:r>
          </a:p>
          <a:p xmlns:a="http://schemas.openxmlformats.org/drawingml/2006/main">
            <a:r>
              <a:t>文脈の要約 視覚・触覚・言語・動作を統合するモデルとデータセットの開発計画。</a:t>
            </a:r>
          </a:p>
          <a:p xmlns:a="http://schemas.openxmlformats.org/drawingml/2006/main">
            <a:r>
              <a:t>根拠にする論点 視触覚データと適用領域</a:t>
            </a:r>
          </a:p>
          <a:p xmlns:a="http://schemas.openxmlformats.org/drawingml/2006/main">
            <a:r>
              <a:t>この一節からは言えないこと 採択時の開発目標。JIMTOFでの実演・量産稼働の確認ではない。</a:t>
            </a:r>
          </a:p>
          <a:p xmlns:a="http://schemas.openxmlformats.org/drawingml/2006/main">
            <a:r>
              <a:t>確認 2026-10-22 原文テキストと照合</a:t>
            </a:r>
          </a:p>
          <a:p xmlns:a="http://schemas.openxmlformats.org/drawingml/2006/main">
            <a:r>
              <a:t/>
            </a:r>
          </a:p>
          <a:p xmlns:a="http://schemas.openxmlformats.org/drawingml/2006/main">
            <a:r>
              <a:t>Q31 / S31</a:t>
            </a:r>
          </a:p>
          <a:p xmlns:a="http://schemas.openxmlformats.org/drawingml/2006/main">
            <a:r>
              <a:t>三菱電機の公式研究発表</a:t>
            </a:r>
          </a:p>
          <a:p xmlns:a="http://schemas.openxmlformats.org/drawingml/2006/main">
            <a:r>
              <a:t>三菱電機・アーヘン工科大学 CNC上で加工誤差を補正するエッジデジタルツイン</a:t>
            </a:r>
          </a:p>
          <a:p xmlns:a="http://schemas.openxmlformats.org/drawingml/2006/main">
            <a:r>
              <a:t>公表日 2026-03-25</a:t>
            </a:r>
          </a:p>
          <a:p xmlns:a="http://schemas.openxmlformats.org/drawingml/2006/main">
            <a:r>
              <a:t>https://www.mitsubishielectric.co.jp/ja/pr/2026/0325/</a:t>
            </a:r>
          </a:p>
          <a:p xmlns:a="http://schemas.openxmlformats.org/drawingml/2006/main">
            <a:r>
              <a:t>掲載位置 独自の設計手法を説明する段落</a:t>
            </a:r>
          </a:p>
          <a:p xmlns:a="http://schemas.openxmlformats.org/drawingml/2006/main">
            <a:r>
              <a:t>文脈の要約 必要な信号を選び、CNC上で誤差推定・補正するためのモデル構成。</a:t>
            </a:r>
          </a:p>
          <a:p xmlns:a="http://schemas.openxmlformats.org/drawingml/2006/main">
            <a:r>
              <a:t>根拠にする論点 リアルタイムで使う物理モデル</a:t>
            </a:r>
          </a:p>
          <a:p xmlns:a="http://schemas.openxmlformats.org/drawingml/2006/main">
            <a:r>
              <a:t>この一節からは言えないこと 研究実証。任意の機械・加工条件で同じ性能になるとはしない。</a:t>
            </a:r>
          </a:p>
          <a:p xmlns:a="http://schemas.openxmlformats.org/drawingml/2006/main">
            <a:r>
              <a:t>確認 2026-10-22 原文テキストと照合</a:t>
            </a:r>
          </a:p>
          <a:p xmlns:a="http://schemas.openxmlformats.org/drawingml/2006/main">
            <a:r>
              <a:t/>
            </a:r>
          </a:p>
          <a:p xmlns:a="http://schemas.openxmlformats.org/drawingml/2006/main">
            <a:r>
              <a:t>Q32 / S32</a:t>
            </a:r>
          </a:p>
          <a:p xmlns:a="http://schemas.openxmlformats.org/drawingml/2006/main">
            <a:r>
              <a:t>Mono Que編集部の取材記述</a:t>
            </a:r>
          </a:p>
          <a:p xmlns:a="http://schemas.openxmlformats.org/drawingml/2006/main">
            <a:r>
              <a:t>Mono Que／日本物流新聞・企業取材 イワタツール：JIMTOFで多企業による多様な提案</a:t>
            </a:r>
          </a:p>
          <a:p xmlns:a="http://schemas.openxmlformats.org/drawingml/2006/main">
            <a:r>
              <a:t>公表日 2026-10-09</a:t>
            </a:r>
          </a:p>
          <a:p xmlns:a="http://schemas.openxmlformats.org/drawingml/2006/main">
            <a:r>
              <a:t>https://monoque.jp/news/7299bcaab1e600d161b3837c77fb9d51cb916563/</a:t>
            </a:r>
          </a:p>
          <a:p xmlns:a="http://schemas.openxmlformats.org/drawingml/2006/main">
            <a:r>
              <a:t>掲載位置 ロボット切削とBRIDGE開発の段落</a:t>
            </a:r>
          </a:p>
          <a:p xmlns:a="http://schemas.openxmlformats.org/drawingml/2006/main">
            <a:r>
              <a:t>文脈の要約 イワタツールとトライ各社のロボット切削の展示予定・開発を説明する。</a:t>
            </a:r>
          </a:p>
          <a:p xmlns:a="http://schemas.openxmlformats.org/drawingml/2006/main">
            <a:r>
              <a:t>根拠にする論点 加工動作の生成</a:t>
            </a:r>
          </a:p>
          <a:p xmlns:a="http://schemas.openxmlformats.org/drawingml/2006/main">
            <a:r>
              <a:t>この一節からは言えないこと 記者の説明。発言者の直接発言や性能比較値ではない。</a:t>
            </a:r>
          </a:p>
          <a:p xmlns:a="http://schemas.openxmlformats.org/drawingml/2006/main">
            <a:r>
              <a:t>確認 2026-10-22 原文テキストと照合</a:t>
            </a:r>
          </a:p>
          <a:p xmlns:a="http://schemas.openxmlformats.org/drawingml/2006/main">
            <a:r>
              <a:t/>
            </a:r>
          </a:p>
          <a:p xmlns:a="http://schemas.openxmlformats.org/drawingml/2006/main">
            <a:r>
              <a:t>A07 A07 日立 現場で動きを改善する技術の中身</a:t>
            </a:r>
          </a:p>
          <a:p xmlns:a="http://schemas.openxmlformats.org/drawingml/2006/main">
            <a:r>
              <a:t>https://www.hitachi.com/en/press/articles/2026/03/0323b/</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資料に基づく代表例の配置。製品間の接続、全社での同等機能、全工程の自律化を認定する表ではない。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Q13 / S13</a:t>
            </a:r>
          </a:p>
          <a:p xmlns:a="http://schemas.openxmlformats.org/drawingml/2006/main">
            <a:r>
              <a:t>マイクロソフト 鈴木靖隆氏の対談発言（東芝の媒体に掲載）</a:t>
            </a:r>
          </a:p>
          <a:p xmlns:a="http://schemas.openxmlformats.org/drawingml/2006/main">
            <a:r>
              <a:t>東芝／東芝・Microsoftの対談 製造現場の知見を生かしてAIエージェントを活用するには（2/2）</a:t>
            </a:r>
          </a:p>
          <a:p xmlns:a="http://schemas.openxmlformats.org/drawingml/2006/main">
            <a:r>
              <a:t>公表日 2026-03-06</a:t>
            </a:r>
          </a:p>
          <a:p xmlns:a="http://schemas.openxmlformats.org/drawingml/2006/main">
            <a:r>
              <a:t>https://www.global.toshiba/jp/company/digitalsolution/articles/digicon/2026/82-2.html</a:t>
            </a:r>
          </a:p>
          <a:p xmlns:a="http://schemas.openxmlformats.org/drawingml/2006/main">
            <a:r>
              <a:t>掲載位置 4 AIのパフォーマンスを十分に発揮させるために何をすべきか</a:t>
            </a:r>
          </a:p>
          <a:p xmlns:a="http://schemas.openxmlformats.org/drawingml/2006/main">
            <a:r>
              <a:t>文脈の要約 不良の起因が材料・設備・作業のどれかを考える時、周辺情報も必要という文脈。</a:t>
            </a:r>
          </a:p>
          <a:p xmlns:a="http://schemas.openxmlformats.org/drawingml/2006/main">
            <a:r>
              <a:t>根拠にする論点 判断の文脈となるデータ</a:t>
            </a:r>
          </a:p>
          <a:p xmlns:a="http://schemas.openxmlformats.org/drawingml/2006/main">
            <a:r>
              <a:t>この一節からは言えないこと 全ての診断で人の報告が必須だと一般化しない。</a:t>
            </a:r>
          </a:p>
          <a:p xmlns:a="http://schemas.openxmlformats.org/drawingml/2006/main">
            <a:r>
              <a:t>確認 2026-10-22 原文テキストと照合</a:t>
            </a:r>
          </a:p>
          <a:p xmlns:a="http://schemas.openxmlformats.org/drawingml/2006/main">
            <a:r>
              <a:t/>
            </a:r>
          </a:p>
          <a:p xmlns:a="http://schemas.openxmlformats.org/drawingml/2006/main">
            <a:r>
              <a:t>Q26 / S26</a:t>
            </a:r>
          </a:p>
          <a:p xmlns:a="http://schemas.openxmlformats.org/drawingml/2006/main">
            <a:r>
              <a:t>DMG森精機の公式製品発表</a:t>
            </a:r>
          </a:p>
          <a:p xmlns:a="http://schemas.openxmlformats.org/drawingml/2006/main">
            <a:r>
              <a:t>DMG森精機 CELOS ClubにCondition Agentを搭載</a:t>
            </a:r>
          </a:p>
          <a:p xmlns:a="http://schemas.openxmlformats.org/drawingml/2006/main">
            <a:r>
              <a:t>公表日 2026-07-06</a:t>
            </a:r>
          </a:p>
          <a:p xmlns:a="http://schemas.openxmlformats.org/drawingml/2006/main">
            <a:r>
              <a:t>https://www.dmgmori.co.jp/corporate/news/2026/20260706_conditionagent.html</a:t>
            </a:r>
          </a:p>
          <a:p xmlns:a="http://schemas.openxmlformats.org/drawingml/2006/main">
            <a:r>
              <a:t>掲載位置 Condition Agentの診断方法</a:t>
            </a:r>
          </a:p>
          <a:p xmlns:a="http://schemas.openxmlformats.org/drawingml/2006/main">
            <a:r>
              <a:t>文脈の要約 専用の動作でデータを得てクラウド分析する方式の説明。</a:t>
            </a:r>
          </a:p>
          <a:p xmlns:a="http://schemas.openxmlformats.org/drawingml/2006/main">
            <a:r>
              <a:t>根拠にする論点 取得条件を作る診断</a:t>
            </a:r>
          </a:p>
          <a:p xmlns:a="http://schemas.openxmlformats.org/drawingml/2006/main">
            <a:r>
              <a:t>この一節からは言えないこと 診断方法の部分引用。全ての加工ログが同じ方法で取られるわけではない。</a:t>
            </a:r>
          </a:p>
          <a:p xmlns:a="http://schemas.openxmlformats.org/drawingml/2006/main">
            <a:r>
              <a:t>確認 2026-10-22 原文テキストと照合</a:t>
            </a:r>
          </a:p>
          <a:p xmlns:a="http://schemas.openxmlformats.org/drawingml/2006/main">
            <a:r>
              <a:t/>
            </a:r>
          </a:p>
          <a:p xmlns:a="http://schemas.openxmlformats.org/drawingml/2006/main">
            <a:r>
              <a:t>Q29 / S29</a:t>
            </a:r>
          </a:p>
          <a:p xmlns:a="http://schemas.openxmlformats.org/drawingml/2006/main">
            <a:r>
              <a:t>DMG森精機 統合報告書2025</a:t>
            </a:r>
          </a:p>
          <a:p xmlns:a="http://schemas.openxmlformats.org/drawingml/2006/main">
            <a:r>
              <a:t>DMG森精機 統合報告書2025ダイジェスト：MROと開発の連環</a:t>
            </a:r>
          </a:p>
          <a:p xmlns:a="http://schemas.openxmlformats.org/drawingml/2006/main">
            <a:r>
              <a:t>公表日 2026</a:t>
            </a:r>
          </a:p>
          <a:p xmlns:a="http://schemas.openxmlformats.org/drawingml/2006/main">
            <a:r>
              <a:t>https://www.dmgmori.co.jp/corporate/ir/ir_library/pdf/2025_ir_digest_j.pdf#page=26</a:t>
            </a:r>
          </a:p>
          <a:p xmlns:a="http://schemas.openxmlformats.org/drawingml/2006/main">
            <a:r>
              <a:t>掲載位置 印刷頁25 PPRの図中の説明</a:t>
            </a:r>
          </a:p>
          <a:p xmlns:a="http://schemas.openxmlformats.org/drawingml/2006/main">
            <a:r>
              <a:t>文脈の要約 不具合を原因調査、対策・改善、製品への展開へつなぐPPRの説明。</a:t>
            </a:r>
          </a:p>
          <a:p xmlns:a="http://schemas.openxmlformats.org/drawingml/2006/main">
            <a:r>
              <a:t>根拠にする論点 修理知識を開発へ還流</a:t>
            </a:r>
          </a:p>
          <a:p xmlns:a="http://schemas.openxmlformats.org/drawingml/2006/main">
            <a:r>
              <a:t>この一節からは言えないこと 既存の改善体制。PPR自体を生成AIの新機能とはしない。</a:t>
            </a:r>
          </a:p>
          <a:p xmlns:a="http://schemas.openxmlformats.org/drawingml/2006/main">
            <a:r>
              <a:t>確認 2026-10-22 PDF画像で原文照合（前回精読時の画像）</a:t>
            </a:r>
          </a:p>
          <a:p xmlns:a="http://schemas.openxmlformats.org/drawingml/2006/main">
            <a:r>
              <a:t/>
            </a:r>
          </a:p>
          <a:p xmlns:a="http://schemas.openxmlformats.org/drawingml/2006/main">
            <a:r>
              <a:t>Q33 / S33</a:t>
            </a:r>
          </a:p>
          <a:p xmlns:a="http://schemas.openxmlformats.org/drawingml/2006/main">
            <a:r>
              <a:t>オムロンの対談本文中の説明</a:t>
            </a:r>
          </a:p>
          <a:p xmlns:a="http://schemas.openxmlformats.org/drawingml/2006/main">
            <a:r>
              <a:t>オムロン IT-OT融合が切り拓く製造業のDX</a:t>
            </a:r>
          </a:p>
          <a:p xmlns:a="http://schemas.openxmlformats.org/drawingml/2006/main">
            <a:r>
              <a:t>公表日 2026-09-18</a:t>
            </a:r>
          </a:p>
          <a:p xmlns:a="http://schemas.openxmlformats.org/drawingml/2006/main">
            <a:r>
              <a:t>https://www.omron.com/jp/ja/edge-link/news/769.html</a:t>
            </a:r>
          </a:p>
          <a:p xmlns:a="http://schemas.openxmlformats.org/drawingml/2006/main">
            <a:r>
              <a:t>掲載位置 i-BELT Hubの説明</a:t>
            </a:r>
          </a:p>
          <a:p xmlns:a="http://schemas.openxmlformats.org/drawingml/2006/main">
            <a:r>
              <a:t>文脈の要約 複数の情報を整理して、現場や管理者の判断で利用する構成。</a:t>
            </a:r>
          </a:p>
          <a:p xmlns:a="http://schemas.openxmlformats.org/drawingml/2006/main">
            <a:r>
              <a:t>根拠にする論点 業務と現象を結ぶデータ</a:t>
            </a:r>
          </a:p>
          <a:p xmlns:a="http://schemas.openxmlformats.org/drawingml/2006/main">
            <a:r>
              <a:t>この一節からは言えないこと 特定のデータ項目全てに共通の意味が既に付いたという業界全体の実績ではない。</a:t>
            </a:r>
          </a:p>
          <a:p xmlns:a="http://schemas.openxmlformats.org/drawingml/2006/main">
            <a:r>
              <a:t>確認 2026-10-22 原文テキストと照合</a:t>
            </a:r>
          </a:p>
          <a:p xmlns:a="http://schemas.openxmlformats.org/drawingml/2006/main">
            <a:r>
              <a:t/>
            </a:r>
          </a:p>
          <a:p xmlns:a="http://schemas.openxmlformats.org/drawingml/2006/main">
            <a:r>
              <a:t>Q35 / S35</a:t>
            </a:r>
          </a:p>
          <a:p xmlns:a="http://schemas.openxmlformats.org/drawingml/2006/main">
            <a:r>
              <a:t>Beckhoff公式技術文書</a:t>
            </a:r>
          </a:p>
          <a:p xmlns:a="http://schemas.openxmlformats.org/drawingml/2006/main">
            <a:r>
              <a:t>Beckhoff TwinCAT Machine Learning Creator: Workflows for users</a:t>
            </a:r>
          </a:p>
          <a:p xmlns:a="http://schemas.openxmlformats.org/drawingml/2006/main">
            <a:r>
              <a:t>公表日 未記載</a:t>
            </a:r>
          </a:p>
          <a:p xmlns:a="http://schemas.openxmlformats.org/drawingml/2006/main">
            <a:r>
              <a:t>https://infosys.beckhoff.com/content/1033/te3850_tc3_machine_learning_creator/21561799691.html</a:t>
            </a:r>
          </a:p>
          <a:p xmlns:a="http://schemas.openxmlformats.org/drawingml/2006/main">
            <a:r>
              <a:t>掲載位置 Export model</a:t>
            </a:r>
          </a:p>
          <a:p xmlns:a="http://schemas.openxmlformats.org/drawingml/2006/main">
            <a:r>
              <a:t>文脈の要約 学習・評価の後にモデルと統合用情報を出力する製品機能。</a:t>
            </a:r>
          </a:p>
          <a:p xmlns:a="http://schemas.openxmlformats.org/drawingml/2006/main">
            <a:r>
              <a:t>根拠にする論点 学習から制御環境への組込み</a:t>
            </a:r>
          </a:p>
          <a:p xmlns:a="http://schemas.openxmlformats.org/drawingml/2006/main">
            <a:r>
              <a:t>この一節からは言えないこと 画像向けワークフローの説明。全製造現象を扱うデータ整備機能ではない。</a:t>
            </a:r>
          </a:p>
          <a:p xmlns:a="http://schemas.openxmlformats.org/drawingml/2006/main">
            <a:r>
              <a:t>確認 2026-10-22 原文テキストと照合</a:t>
            </a:r>
          </a:p>
          <a:p xmlns:a="http://schemas.openxmlformats.org/drawingml/2006/main">
            <a:r>
              <a:t/>
            </a:r>
          </a:p>
          <a:p xmlns:a="http://schemas.openxmlformats.org/drawingml/2006/main">
            <a:r>
              <a:t>Q46 / A09</a:t>
            </a:r>
          </a:p>
          <a:p xmlns:a="http://schemas.openxmlformats.org/drawingml/2006/main">
            <a:r>
              <a:t>東芝デジタルソリューションズ 岡本賢司氏の対談発言</a:t>
            </a:r>
          </a:p>
          <a:p xmlns:a="http://schemas.openxmlformats.org/drawingml/2006/main">
            <a:r>
              <a:t>東芝 製造現場の知見を生かしてAIエージェントを活用するには 前編</a:t>
            </a:r>
          </a:p>
          <a:p xmlns:a="http://schemas.openxmlformats.org/drawingml/2006/main">
            <a:r>
              <a:t>公表日 2026-03-06</a:t>
            </a:r>
          </a:p>
          <a:p xmlns:a="http://schemas.openxmlformats.org/drawingml/2006/main">
            <a:r>
              <a:t>https://www.global.toshiba/jp/company/digitalsolution/articles/digicon/2026/82-1.html</a:t>
            </a:r>
          </a:p>
          <a:p xmlns:a="http://schemas.openxmlformats.org/drawingml/2006/main">
            <a:r>
              <a:t>掲載位置 2 AIマルチエージェントの開発事例</a:t>
            </a:r>
          </a:p>
          <a:p xmlns:a="http://schemas.openxmlformats.org/drawingml/2006/main">
            <a:r>
              <a:t>文脈の要約 分析計画や条件の指定と、既存プログラムでの計算を分担する説明。</a:t>
            </a:r>
          </a:p>
          <a:p xmlns:a="http://schemas.openxmlformats.org/drawingml/2006/main">
            <a:r>
              <a:t>根拠にする論点 エージェントと数値計算の分担</a:t>
            </a:r>
          </a:p>
          <a:p xmlns:a="http://schemas.openxmlformats.org/drawingml/2006/main">
            <a:r>
              <a:t>この一節からは言えないこと AIが計算式を自由に生成する方式の根拠にはしない。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資料に基づく代表例の配置。製品間の接続、全社での同等機能、全工程の自律化を認定する表ではない。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Q01 / S01</a:t>
            </a:r>
          </a:p>
          <a:p xmlns:a="http://schemas.openxmlformats.org/drawingml/2006/main">
            <a:r>
              <a:t>産総研の公式説明</a:t>
            </a:r>
          </a:p>
          <a:p xmlns:a="http://schemas.openxmlformats.org/drawingml/2006/main">
            <a:r>
              <a:t>産総研 製造AX拠点を始動</a:t>
            </a:r>
          </a:p>
          <a:p xmlns:a="http://schemas.openxmlformats.org/drawingml/2006/main">
            <a:r>
              <a:t>公表日 2026-07-02</a:t>
            </a:r>
          </a:p>
          <a:p xmlns:a="http://schemas.openxmlformats.org/drawingml/2006/main">
            <a:r>
              <a:t>https://www.aist.go.jp/aist_j/news/pr20260702.html</a:t>
            </a:r>
          </a:p>
          <a:p xmlns:a="http://schemas.openxmlformats.org/drawingml/2006/main">
            <a:r>
              <a:t>掲載位置 産総研を核とした製造AX拠点</a:t>
            </a:r>
          </a:p>
          <a:p xmlns:a="http://schemas.openxmlformats.org/drawingml/2006/main">
            <a:r>
              <a:t>文脈の要約 拠点に期待される支援として、取得設計、匿名化・構造化、AI開発を説明する。</a:t>
            </a:r>
          </a:p>
          <a:p xmlns:a="http://schemas.openxmlformats.org/drawingml/2006/main">
            <a:r>
              <a:t>根拠にする論点 データ取得の役割</a:t>
            </a:r>
          </a:p>
          <a:p xmlns:a="http://schemas.openxmlformats.org/drawingml/2006/main">
            <a:r>
              <a:t>この一節からは言えないこと 期待される役割の説明であり、特定の取得技術の性能実証ではない。</a:t>
            </a:r>
          </a:p>
          <a:p xmlns:a="http://schemas.openxmlformats.org/drawingml/2006/main">
            <a:r>
              <a:t>確認 2026-10-22 原文テキストと照合</a:t>
            </a:r>
          </a:p>
          <a:p xmlns:a="http://schemas.openxmlformats.org/drawingml/2006/main">
            <a:r>
              <a:t/>
            </a:r>
          </a:p>
          <a:p xmlns:a="http://schemas.openxmlformats.org/drawingml/2006/main">
            <a:r>
              <a:t>Q05 / S05</a:t>
            </a:r>
          </a:p>
          <a:p xmlns:a="http://schemas.openxmlformats.org/drawingml/2006/main">
            <a:r>
              <a:t>MONOistの記者説明。マザック共同開発を取材</a:t>
            </a:r>
          </a:p>
          <a:p xmlns:a="http://schemas.openxmlformats.org/drawingml/2006/main">
            <a:r>
              <a:t>MONOist 加工の工程設計をAIエージェントで自動化</a:t>
            </a:r>
          </a:p>
          <a:p xmlns:a="http://schemas.openxmlformats.org/drawingml/2006/main">
            <a:r>
              <a:t>公表日 2026-10-19</a:t>
            </a:r>
          </a:p>
          <a:p xmlns:a="http://schemas.openxmlformats.org/drawingml/2006/main">
            <a:r>
              <a:t>https://monoist.itmedia.co.jp/mn/articles/2610/19/news039_2.html</a:t>
            </a:r>
          </a:p>
          <a:p xmlns:a="http://schemas.openxmlformats.org/drawingml/2006/main">
            <a:r>
              <a:t>掲載位置 後編 MAZATROLとGコードを比較する段落</a:t>
            </a:r>
          </a:p>
          <a:p xmlns:a="http://schemas.openxmlformats.org/drawingml/2006/main">
            <a:r>
              <a:t>文脈の要約 対話プログラムの加工意図と判断結果を学習する方式を説明する。</a:t>
            </a:r>
          </a:p>
          <a:p xmlns:a="http://schemas.openxmlformats.org/drawingml/2006/main">
            <a:r>
              <a:t>根拠にする論点 加工意図の形式知化</a:t>
            </a:r>
          </a:p>
          <a:p xmlns:a="http://schemas.openxmlformats.org/drawingml/2006/main">
            <a:r>
              <a:t>この一節からは言えないこと 記者の説明からの抜粋で、発言者の直接発言ではない。</a:t>
            </a:r>
          </a:p>
          <a:p xmlns:a="http://schemas.openxmlformats.org/drawingml/2006/main">
            <a:r>
              <a:t>確認 2026-10-22 原文テキストと照合</a:t>
            </a:r>
          </a:p>
          <a:p xmlns:a="http://schemas.openxmlformats.org/drawingml/2006/main">
            <a:r>
              <a:t/>
            </a:r>
          </a:p>
          <a:p xmlns:a="http://schemas.openxmlformats.org/drawingml/2006/main">
            <a:r>
              <a:t>Q11 / S11</a:t>
            </a:r>
          </a:p>
          <a:p xmlns:a="http://schemas.openxmlformats.org/drawingml/2006/main">
            <a:r>
              <a:t>Siemensの公式ブログ</a:t>
            </a:r>
          </a:p>
          <a:p xmlns:a="http://schemas.openxmlformats.org/drawingml/2006/main">
            <a:r>
              <a:t>Siemens From agile to autonomous: adaptive production</a:t>
            </a:r>
          </a:p>
          <a:p xmlns:a="http://schemas.openxmlformats.org/drawingml/2006/main">
            <a:r>
              <a:t>公表日 2026-07-08</a:t>
            </a:r>
          </a:p>
          <a:p xmlns:a="http://schemas.openxmlformats.org/drawingml/2006/main">
            <a:r>
              <a:t>https://blogs.sw.siemens.com/nx-manufacturing/from-agile-to-autonomous-building-adaptive-production-with-digital-twins-and-industrial-ai/</a:t>
            </a:r>
          </a:p>
          <a:p xmlns:a="http://schemas.openxmlformats.org/drawingml/2006/main">
            <a:r>
              <a:t>掲載位置 Three principlesの1項目目</a:t>
            </a:r>
          </a:p>
          <a:p xmlns:a="http://schemas.openxmlformats.org/drawingml/2006/main">
            <a:r>
              <a:t>文脈の要約 過去のスナップショットだけでなく現在の状態を使う方針。</a:t>
            </a:r>
          </a:p>
          <a:p xmlns:a="http://schemas.openxmlformats.org/drawingml/2006/main">
            <a:r>
              <a:t>根拠にする論点 稼働中の状態に基づく判断</a:t>
            </a:r>
          </a:p>
          <a:p xmlns:a="http://schemas.openxmlformats.org/drawingml/2006/main">
            <a:r>
              <a:t>この一節からは言えないこと 製造AIに求める原則。特定の更新周期や全システムでの実現実績ではない。</a:t>
            </a:r>
          </a:p>
          <a:p xmlns:a="http://schemas.openxmlformats.org/drawingml/2006/main">
            <a:r>
              <a:t>確認 2026-10-22 原文テキストと照合</a:t>
            </a:r>
          </a:p>
          <a:p xmlns:a="http://schemas.openxmlformats.org/drawingml/2006/main">
            <a:r>
              <a:t/>
            </a:r>
          </a:p>
          <a:p xmlns:a="http://schemas.openxmlformats.org/drawingml/2006/main">
            <a:r>
              <a:t>Q14 / S14</a:t>
            </a:r>
          </a:p>
          <a:p xmlns:a="http://schemas.openxmlformats.org/drawingml/2006/main">
            <a:r>
              <a:t>Hexagon公式ブログの執筆者による説明</a:t>
            </a:r>
          </a:p>
          <a:p xmlns:a="http://schemas.openxmlformats.org/drawingml/2006/main">
            <a:r>
              <a:t>Hexagon／製品技術担当者 The next step in CAM isn’t new. It’s already here.</a:t>
            </a:r>
          </a:p>
          <a:p xmlns:a="http://schemas.openxmlformats.org/drawingml/2006/main">
            <a:r>
              <a:t>公表日 2026-04-29</a:t>
            </a:r>
          </a:p>
          <a:p xmlns:a="http://schemas.openxmlformats.org/drawingml/2006/main">
            <a:r>
              <a:t>https://blog.manufacturing.hexagon.com/advanced-manufacturing/cam-software/the-next-step-in-cam-isnt-new-its-already-here/</a:t>
            </a:r>
          </a:p>
          <a:p xmlns:a="http://schemas.openxmlformats.org/drawingml/2006/main">
            <a:r>
              <a:t>掲載位置 熟練者の経験が個人に残る問題を説明する段落</a:t>
            </a:r>
          </a:p>
          <a:p xmlns:a="http://schemas.openxmlformats.org/drawingml/2006/main">
            <a:r>
              <a:t>文脈の要約 CAMの機能だけでなく、過去の考え方を次のプログラミングで使う課題を述べる。</a:t>
            </a:r>
          </a:p>
          <a:p xmlns:a="http://schemas.openxmlformats.org/drawingml/2006/main">
            <a:r>
              <a:t>根拠にする論点 判断理由の再利用</a:t>
            </a:r>
          </a:p>
          <a:p xmlns:a="http://schemas.openxmlformats.org/drawingml/2006/main">
            <a:r>
              <a:t>この一節からは言えないこと CAM一般への問題提起。全てのソフトに履歴保存がないという仕様確認ではない。</a:t>
            </a:r>
          </a:p>
          <a:p xmlns:a="http://schemas.openxmlformats.org/drawingml/2006/main">
            <a:r>
              <a:t>確認 2026-10-22 原文テキストと照合</a:t>
            </a:r>
          </a:p>
          <a:p xmlns:a="http://schemas.openxmlformats.org/drawingml/2006/main">
            <a:r>
              <a:t/>
            </a:r>
          </a:p>
          <a:p xmlns:a="http://schemas.openxmlformats.org/drawingml/2006/main">
            <a:r>
              <a:t>Q16 / S16</a:t>
            </a:r>
          </a:p>
          <a:p xmlns:a="http://schemas.openxmlformats.org/drawingml/2006/main">
            <a:r>
              <a:t>umatiの公式説明</a:t>
            </a:r>
          </a:p>
          <a:p xmlns:a="http://schemas.openxmlformats.org/drawingml/2006/main">
            <a:r>
              <a:t>umati About: vision, promise, mission</a:t>
            </a:r>
          </a:p>
          <a:p xmlns:a="http://schemas.openxmlformats.org/drawingml/2006/main">
            <a:r>
              <a:t>公表日 </a:t>
            </a:r>
          </a:p>
          <a:p xmlns:a="http://schemas.openxmlformats.org/drawingml/2006/main">
            <a:r>
              <a:t>https://umati.org/about/</a:t>
            </a:r>
          </a:p>
          <a:p xmlns:a="http://schemas.openxmlformats.org/drawingml/2006/main">
            <a:r>
              <a:t>掲載位置 the umati promise</a:t>
            </a:r>
          </a:p>
          <a:p xmlns:a="http://schemas.openxmlformats.org/drawingml/2006/main">
            <a:r>
              <a:t>文脈の要約 接続に加え、意味、通信要件、適合性を揃える活動。</a:t>
            </a:r>
          </a:p>
          <a:p xmlns:a="http://schemas.openxmlformats.org/drawingml/2006/main">
            <a:r>
              <a:t>根拠にする論点 データの意味の共通化</a:t>
            </a:r>
          </a:p>
          <a:p xmlns:a="http://schemas.openxmlformats.org/drawingml/2006/main">
            <a:r>
              <a:t>この一節からは言えないこと 引用は箇条書き中の名詞句。加工意図や全品質データまで標準化済みとはしない。</a:t>
            </a:r>
          </a:p>
          <a:p xmlns:a="http://schemas.openxmlformats.org/drawingml/2006/main">
            <a:r>
              <a:t>確認 2026-10-22 原文テキストと照合</a:t>
            </a:r>
          </a:p>
          <a:p xmlns:a="http://schemas.openxmlformats.org/drawingml/2006/main">
            <a:r>
              <a:t/>
            </a:r>
          </a:p>
          <a:p xmlns:a="http://schemas.openxmlformats.org/drawingml/2006/main">
            <a:r>
              <a:t>Q35 / S35</a:t>
            </a:r>
          </a:p>
          <a:p xmlns:a="http://schemas.openxmlformats.org/drawingml/2006/main">
            <a:r>
              <a:t>Beckhoff公式技術文書</a:t>
            </a:r>
          </a:p>
          <a:p xmlns:a="http://schemas.openxmlformats.org/drawingml/2006/main">
            <a:r>
              <a:t>Beckhoff TwinCAT Machine Learning Creator: Workflows for users</a:t>
            </a:r>
          </a:p>
          <a:p xmlns:a="http://schemas.openxmlformats.org/drawingml/2006/main">
            <a:r>
              <a:t>公表日 未記載</a:t>
            </a:r>
          </a:p>
          <a:p xmlns:a="http://schemas.openxmlformats.org/drawingml/2006/main">
            <a:r>
              <a:t>https://infosys.beckhoff.com/content/1033/te3850_tc3_machine_learning_creator/21561799691.html</a:t>
            </a:r>
          </a:p>
          <a:p xmlns:a="http://schemas.openxmlformats.org/drawingml/2006/main">
            <a:r>
              <a:t>掲載位置 Export model</a:t>
            </a:r>
          </a:p>
          <a:p xmlns:a="http://schemas.openxmlformats.org/drawingml/2006/main">
            <a:r>
              <a:t>文脈の要約 学習・評価の後にモデルと統合用情報を出力する製品機能。</a:t>
            </a:r>
          </a:p>
          <a:p xmlns:a="http://schemas.openxmlformats.org/drawingml/2006/main">
            <a:r>
              <a:t>根拠にする論点 学習から制御環境への組込み</a:t>
            </a:r>
          </a:p>
          <a:p xmlns:a="http://schemas.openxmlformats.org/drawingml/2006/main">
            <a:r>
              <a:t>この一節からは言えないこと 画像向けワークフローの説明。全製造現象を扱うデータ整備機能ではない。</a:t>
            </a:r>
          </a:p>
          <a:p xmlns:a="http://schemas.openxmlformats.org/drawingml/2006/main">
            <a:r>
              <a:t>確認 2026-10-22 原文テキストと照合</a:t>
            </a:r>
          </a:p>
          <a:p xmlns:a="http://schemas.openxmlformats.org/drawingml/2006/main">
            <a:r>
              <a:t/>
            </a:r>
          </a:p>
          <a:p xmlns:a="http://schemas.openxmlformats.org/drawingml/2006/main">
            <a:r>
              <a:t>Q39 / S39</a:t>
            </a:r>
          </a:p>
          <a:p xmlns:a="http://schemas.openxmlformats.org/drawingml/2006/main">
            <a:r>
              <a:t>産総研 製造基盤技術研究部門の説明</a:t>
            </a:r>
          </a:p>
          <a:p xmlns:a="http://schemas.openxmlformats.org/drawingml/2006/main">
            <a:r>
              <a:t>産総研 製造基盤技術研究部門 Digital Manufacturing デジタルものづくり</a:t>
            </a:r>
          </a:p>
          <a:p xmlns:a="http://schemas.openxmlformats.org/drawingml/2006/main">
            <a:r>
              <a:t>公表日 未記載</a:t>
            </a:r>
          </a:p>
          <a:p xmlns:a="http://schemas.openxmlformats.org/drawingml/2006/main">
            <a:r>
              <a:t>https://unit.aist.go.jp/cmt-ri/research-topics/digital-manufacturing.htm</a:t>
            </a:r>
          </a:p>
          <a:p xmlns:a="http://schemas.openxmlformats.org/drawingml/2006/main">
            <a:r>
              <a:t>掲載位置 研究の特色に関連する説明</a:t>
            </a:r>
          </a:p>
          <a:p xmlns:a="http://schemas.openxmlformats.org/drawingml/2006/main">
            <a:r>
              <a:t>文脈の要約 モデル化・データ化と利用技術を加工の高度化へつなぐ考え方。</a:t>
            </a:r>
          </a:p>
          <a:p xmlns:a="http://schemas.openxmlformats.org/drawingml/2006/main">
            <a:r>
              <a:t>根拠にする論点 現象理解とモデル化</a:t>
            </a:r>
          </a:p>
          <a:p xmlns:a="http://schemas.openxmlformats.org/drawingml/2006/main">
            <a:r>
              <a:t>この一節からは言えないこと 研究方針を示す表現。個別のモデル精度を保証するものではない。</a:t>
            </a:r>
          </a:p>
          <a:p xmlns:a="http://schemas.openxmlformats.org/drawingml/2006/main">
            <a:r>
              <a:t>確認 2026-10-22 原文テキストと照合</a:t>
            </a:r>
          </a:p>
          <a:p xmlns:a="http://schemas.openxmlformats.org/drawingml/2006/main">
            <a:r>
              <a:t/>
            </a:r>
          </a:p>
          <a:p xmlns:a="http://schemas.openxmlformats.org/drawingml/2006/main">
            <a:r>
              <a:t>Q42 / A08</a:t>
            </a:r>
          </a:p>
          <a:p xmlns:a="http://schemas.openxmlformats.org/drawingml/2006/main">
            <a:r>
              <a:t>富士通の公式発表</a:t>
            </a:r>
          </a:p>
          <a:p xmlns:a="http://schemas.openxmlformats.org/drawingml/2006/main">
            <a:r>
              <a:t>富士通 富士通 ロボット産業界各社との事業検討</a:t>
            </a:r>
          </a:p>
          <a:p xmlns:a="http://schemas.openxmlformats.org/drawingml/2006/main">
            <a:r>
              <a:t>公表日 2026-07-16</a:t>
            </a:r>
          </a:p>
          <a:p xmlns:a="http://schemas.openxmlformats.org/drawingml/2006/main">
            <a:r>
              <a:t>https://global.fujitsu/ja-jp/pr/news/2026/07/16-01</a:t>
            </a:r>
          </a:p>
          <a:p xmlns:a="http://schemas.openxmlformats.org/drawingml/2006/main">
            <a:r>
              <a:t>掲載位置 工場向けソリューション</a:t>
            </a:r>
          </a:p>
          <a:p xmlns:a="http://schemas.openxmlformats.org/drawingml/2006/main">
            <a:r>
              <a:t>文脈の要約 変動と現場状況を加味する工場向け構想を説明する。</a:t>
            </a:r>
          </a:p>
          <a:p xmlns:a="http://schemas.openxmlformats.org/drawingml/2006/main">
            <a:r>
              <a:t>根拠にする論点 計画と実行を結ぶ方向性</a:t>
            </a:r>
          </a:p>
          <a:p xmlns:a="http://schemas.openxmlformats.org/drawingml/2006/main">
            <a:r>
              <a:t>この一節からは言えないこと 事業検討の開始。完成システムの稼働実績ではない。</a:t>
            </a:r>
          </a:p>
          <a:p xmlns:a="http://schemas.openxmlformats.org/drawingml/2006/main">
            <a:r>
              <a:t>確認 2026-10-22 原文テキストと照合</a:t>
            </a:r>
          </a:p>
          <a:p xmlns:a="http://schemas.openxmlformats.org/drawingml/2006/main">
            <a:r>
              <a:t/>
            </a:r>
          </a:p>
          <a:p xmlns:a="http://schemas.openxmlformats.org/drawingml/2006/main">
            <a:r>
              <a:t>Q45 / A10</a:t>
            </a:r>
          </a:p>
          <a:p xmlns:a="http://schemas.openxmlformats.org/drawingml/2006/main">
            <a:r>
              <a:t>採択事業者による計画をGENIAC公式資料に掲載</a:t>
            </a:r>
          </a:p>
          <a:p xmlns:a="http://schemas.openxmlformats.org/drawingml/2006/main">
            <a:r>
              <a:t>経済産業省GENIAC GENIAC データエコシステム開発概要</a:t>
            </a:r>
          </a:p>
          <a:p xmlns:a="http://schemas.openxmlformats.org/drawingml/2006/main">
            <a:r>
              <a:t>公表日 未記載</a:t>
            </a:r>
          </a:p>
          <a:p xmlns:a="http://schemas.openxmlformats.org/drawingml/2006/main">
            <a:r>
              <a:t>https://geniac.meti.go.jp/selection_4/asset/pdf/800057700.pdf#page=13</a:t>
            </a:r>
          </a:p>
          <a:p xmlns:a="http://schemas.openxmlformats.org/drawingml/2006/main">
            <a:r>
              <a:t>掲載位置 印刷頁13 小松製作所・産総研の概要</a:t>
            </a:r>
          </a:p>
          <a:p xmlns:a="http://schemas.openxmlformats.org/drawingml/2006/main">
            <a:r>
              <a:t>文脈の要約 設備単位を超えた工場の計画と実績の関係を構造化する計画。</a:t>
            </a:r>
          </a:p>
          <a:p xmlns:a="http://schemas.openxmlformats.org/drawingml/2006/main">
            <a:r>
              <a:t>根拠にする論点 工場の判断を記録する対象</a:t>
            </a:r>
          </a:p>
          <a:p xmlns:a="http://schemas.openxmlformats.org/drawingml/2006/main">
            <a:r>
              <a:t>この一節からは言えないこと 目標のデータセット。取得・整備が全て完了したという実績ではない。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資料に基づく代表例の配置。製品間の接続、全社での同等機能、全工程の自律化を認定する表ではない。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A01 A01 Third Wave Systems 材料モデルそのものの開発サービス</a:t>
            </a:r>
          </a:p>
          <a:p xmlns:a="http://schemas.openxmlformats.org/drawingml/2006/main">
            <a:r>
              <a:t>https://thirdwavesys.com/engineering/engineering-services/</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A02 A02 Third Wave Systems 見えない量をモデルから推定する</a:t>
            </a:r>
          </a:p>
          <a:p xmlns:a="http://schemas.openxmlformats.org/drawingml/2006/main">
            <a:r>
              <a:t>https://thirdwavesys.com/machining-modeling/advantedge/</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A03 A03 Fraunhofer IPT FEMmeetsDR 詳細解析を工程設計で使える形にする</a:t>
            </a:r>
          </a:p>
          <a:p xmlns:a="http://schemas.openxmlformats.org/drawingml/2006/main">
            <a:r>
              <a:t>https://www.ipt.fraunhofer.de/en/projects/femmeetsdr.html</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A04 A04 Fraunhofer IPTとRWTH dPart 工程間で同じ部品の履歴をつなぐ</a:t>
            </a:r>
          </a:p>
          <a:p xmlns:a="http://schemas.openxmlformats.org/drawingml/2006/main">
            <a:r>
              <a:t>https://www.ipt.fraunhofer.de/en/projects/dpart.html</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A05 A05 DMG森精機とテクニウム NC検証と現象モデルを区別する</a:t>
            </a:r>
          </a:p>
          <a:p xmlns:a="http://schemas.openxmlformats.org/drawingml/2006/main">
            <a:r>
              <a:t>https://www.technium.net/cam/ncsimulation/</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A06 A06 Fraunhofer IPT FL.IN.NRW 生データを集約しない連携もある</a:t>
            </a:r>
          </a:p>
          <a:p xmlns:a="http://schemas.openxmlformats.org/drawingml/2006/main">
            <a:r>
              <a:t>https://www.ipt.fraunhofer.de/en/projects/fl-in-nrw.html</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研究・事業計画を実装済みの成果とは扱わない。原典のURLと掲載位置・対象範囲はノートに記載。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A07 A07 日立 現場で動きを改善する技術の中身</a:t>
            </a:r>
          </a:p>
          <a:p xmlns:a="http://schemas.openxmlformats.org/drawingml/2006/main">
            <a:r>
              <a:t>https://www.hitachi.com/en/press/articles/2026/03/0323b/</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A08 A08 富士通 業務の計画と機械の実行を結ぶ</a:t>
            </a:r>
          </a:p>
          <a:p xmlns:a="http://schemas.openxmlformats.org/drawingml/2006/main">
            <a:r>
              <a:t>https://global.fujitsu/ja-jp/pr/news/2026/07/16-01</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A09 A09 東芝前編 分析の手順をエージェントへ渡す</a:t>
            </a:r>
          </a:p>
          <a:p xmlns:a="http://schemas.openxmlformats.org/drawingml/2006/main">
            <a:r>
              <a:t>https://www.global.toshiba/jp/company/digitalsolution/articles/digicon/2026/82-1.html</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A10 A10 GENIAC採択事業の開発概要 工場の判断をデータにする</a:t>
            </a:r>
          </a:p>
          <a:p xmlns:a="http://schemas.openxmlformats.org/drawingml/2006/main">
            <a:r>
              <a:t>https://geniac.meti.go.jp/selection_4/asset/pdf/800057700.pdf</a:t>
            </a:r>
          </a:p>
          <a:p xmlns:a="http://schemas.openxmlformats.org/drawingml/2006/main">
            <a:r>
              <a:t>確認範囲 製造関連の印刷頁7～9、13～21。採択計画。</a:t>
            </a:r>
          </a:p>
          <a:p xmlns:a="http://schemas.openxmlformats.org/drawingml/2006/main">
            <a:r>
              <a:t>確認日 2026-10-21</a:t>
            </a:r>
          </a:p>
          <a:p xmlns:a="http://schemas.openxmlformats.org/drawingml/2006/main">
            <a:r>
              <a:t/>
            </a:r>
          </a:p>
          <a:p xmlns:a="http://schemas.openxmlformats.org/drawingml/2006/main">
            <a:r>
              <a:t>A11 A11 CELOS Club 更新されるサービスに支払う接点</a:t>
            </a:r>
          </a:p>
          <a:p xmlns:a="http://schemas.openxmlformats.org/drawingml/2006/main">
            <a:r>
              <a:t>https://www.technium.net/celosclub/feature/</a:t>
            </a:r>
          </a:p>
          <a:p xmlns:a="http://schemas.openxmlformats.org/drawingml/2006/main">
            <a:r>
              <a:t>確認範囲 リンク先の公開本文を確認。A10は製造関連の該当頁。</a:t>
            </a:r>
          </a:p>
          <a:p xmlns:a="http://schemas.openxmlformats.org/drawingml/2006/main">
            <a:r>
              <a:t>確認日 2026-10-21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研究・事業計画を実装済みの成果とは扱わない。原典のURLと掲載位置・対象範囲はノートに記載。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Q01 / S01</a:t>
            </a:r>
          </a:p>
          <a:p xmlns:a="http://schemas.openxmlformats.org/drawingml/2006/main">
            <a:r>
              <a:t>産総研の公式説明</a:t>
            </a:r>
          </a:p>
          <a:p xmlns:a="http://schemas.openxmlformats.org/drawingml/2006/main">
            <a:r>
              <a:t>産総研 製造AX拠点を始動</a:t>
            </a:r>
          </a:p>
          <a:p xmlns:a="http://schemas.openxmlformats.org/drawingml/2006/main">
            <a:r>
              <a:t>公表日 2026-07-02</a:t>
            </a:r>
          </a:p>
          <a:p xmlns:a="http://schemas.openxmlformats.org/drawingml/2006/main">
            <a:r>
              <a:t>https://www.aist.go.jp/aist_j/news/pr20260702.html</a:t>
            </a:r>
          </a:p>
          <a:p xmlns:a="http://schemas.openxmlformats.org/drawingml/2006/main">
            <a:r>
              <a:t>掲載位置 産総研を核とした製造AX拠点</a:t>
            </a:r>
          </a:p>
          <a:p xmlns:a="http://schemas.openxmlformats.org/drawingml/2006/main">
            <a:r>
              <a:t>文脈の要約 拠点に期待される支援として、取得設計、匿名化・構造化、AI開発を説明する。</a:t>
            </a:r>
          </a:p>
          <a:p xmlns:a="http://schemas.openxmlformats.org/drawingml/2006/main">
            <a:r>
              <a:t>根拠にする論点 データ取得の役割</a:t>
            </a:r>
          </a:p>
          <a:p xmlns:a="http://schemas.openxmlformats.org/drawingml/2006/main">
            <a:r>
              <a:t>この一節からは言えないこと 期待される役割の説明であり、特定の取得技術の性能実証ではない。</a:t>
            </a:r>
          </a:p>
          <a:p xmlns:a="http://schemas.openxmlformats.org/drawingml/2006/main">
            <a:r>
              <a:t>確認 2026-10-22 原文テキストと照合</a:t>
            </a:r>
          </a:p>
          <a:p xmlns:a="http://schemas.openxmlformats.org/drawingml/2006/main">
            <a:r>
              <a:t/>
            </a:r>
          </a:p>
          <a:p xmlns:a="http://schemas.openxmlformats.org/drawingml/2006/main">
            <a:r>
              <a:t>Q05 / S05</a:t>
            </a:r>
          </a:p>
          <a:p xmlns:a="http://schemas.openxmlformats.org/drawingml/2006/main">
            <a:r>
              <a:t>MONOistの記者説明。マザック共同開発を取材</a:t>
            </a:r>
          </a:p>
          <a:p xmlns:a="http://schemas.openxmlformats.org/drawingml/2006/main">
            <a:r>
              <a:t>MONOist 加工の工程設計をAIエージェントで自動化</a:t>
            </a:r>
          </a:p>
          <a:p xmlns:a="http://schemas.openxmlformats.org/drawingml/2006/main">
            <a:r>
              <a:t>公表日 2026-10-19</a:t>
            </a:r>
          </a:p>
          <a:p xmlns:a="http://schemas.openxmlformats.org/drawingml/2006/main">
            <a:r>
              <a:t>https://monoist.itmedia.co.jp/mn/articles/2610/19/news039_2.html</a:t>
            </a:r>
          </a:p>
          <a:p xmlns:a="http://schemas.openxmlformats.org/drawingml/2006/main">
            <a:r>
              <a:t>掲載位置 後編 MAZATROLとGコードを比較する段落</a:t>
            </a:r>
          </a:p>
          <a:p xmlns:a="http://schemas.openxmlformats.org/drawingml/2006/main">
            <a:r>
              <a:t>文脈の要約 対話プログラムの加工意図と判断結果を学習する方式を説明する。</a:t>
            </a:r>
          </a:p>
          <a:p xmlns:a="http://schemas.openxmlformats.org/drawingml/2006/main">
            <a:r>
              <a:t>根拠にする論点 加工意図の形式知化</a:t>
            </a:r>
          </a:p>
          <a:p xmlns:a="http://schemas.openxmlformats.org/drawingml/2006/main">
            <a:r>
              <a:t>この一節からは言えないこと 記者の説明からの抜粋で、発言者の直接発言ではない。</a:t>
            </a:r>
          </a:p>
          <a:p xmlns:a="http://schemas.openxmlformats.org/drawingml/2006/main">
            <a:r>
              <a:t>確認 2026-10-22 原文テキストと照合</a:t>
            </a:r>
          </a:p>
          <a:p xmlns:a="http://schemas.openxmlformats.org/drawingml/2006/main">
            <a:r>
              <a:t/>
            </a:r>
          </a:p>
          <a:p xmlns:a="http://schemas.openxmlformats.org/drawingml/2006/main">
            <a:r>
              <a:t>Q21 / S21</a:t>
            </a:r>
          </a:p>
          <a:p xmlns:a="http://schemas.openxmlformats.org/drawingml/2006/main">
            <a:r>
              <a:t>KPMGの解説</a:t>
            </a:r>
          </a:p>
          <a:p xmlns:a="http://schemas.openxmlformats.org/drawingml/2006/main">
            <a:r>
              <a:t>KPMGコンサルティング フィジカルAIで変わるロボティクスの競争条件</a:t>
            </a:r>
          </a:p>
          <a:p xmlns:a="http://schemas.openxmlformats.org/drawingml/2006/main">
            <a:r>
              <a:t>公表日 2026-08-18</a:t>
            </a:r>
          </a:p>
          <a:p xmlns:a="http://schemas.openxmlformats.org/drawingml/2006/main">
            <a:r>
              <a:t>https://kpmg.com/jp/ja/insights/2026/08/ai-emergingtech-10.html</a:t>
            </a:r>
          </a:p>
          <a:p xmlns:a="http://schemas.openxmlformats.org/drawingml/2006/main">
            <a:r>
              <a:t>掲載位置 1 二つのループで構成されるフィジカルAI</a:t>
            </a:r>
          </a:p>
          <a:p xmlns:a="http://schemas.openxmlformats.org/drawingml/2006/main">
            <a:r>
              <a:t>文脈の要約 事前に設計した手順と対比し、実行のループとモデル更新を分けて説明する。</a:t>
            </a:r>
          </a:p>
          <a:p xmlns:a="http://schemas.openxmlformats.org/drawingml/2006/main">
            <a:r>
              <a:t>根拠にする論点 変化に対応するフィジカルAI</a:t>
            </a:r>
          </a:p>
          <a:p xmlns:a="http://schemas.openxmlformats.org/drawingml/2006/main">
            <a:r>
              <a:t>この一節からは言えないこと KPMGの整理。一般規格ではなく、本調査の作業定義を支える一つの見解。</a:t>
            </a:r>
          </a:p>
          <a:p xmlns:a="http://schemas.openxmlformats.org/drawingml/2006/main">
            <a:r>
              <a:t>確認 2026-10-22 原文テキストと照合</a:t>
            </a:r>
          </a:p>
          <a:p xmlns:a="http://schemas.openxmlformats.org/drawingml/2006/main">
            <a:r>
              <a:t/>
            </a:r>
          </a:p>
          <a:p xmlns:a="http://schemas.openxmlformats.org/drawingml/2006/main">
            <a:r>
              <a:t>Q24 / S24</a:t>
            </a:r>
          </a:p>
          <a:p xmlns:a="http://schemas.openxmlformats.org/drawingml/2006/main">
            <a:r>
              <a:t>DMG森精機 森雅彦氏の取材発言</a:t>
            </a:r>
          </a:p>
          <a:p xmlns:a="http://schemas.openxmlformats.org/drawingml/2006/main">
            <a:r>
              <a:t>MONOist 工作機械のソフトウェアデファインド化とMX</a:t>
            </a:r>
          </a:p>
          <a:p xmlns:a="http://schemas.openxmlformats.org/drawingml/2006/main">
            <a:r>
              <a:t>公表日 2025-09-26</a:t>
            </a:r>
          </a:p>
          <a:p xmlns:a="http://schemas.openxmlformats.org/drawingml/2006/main">
            <a:r>
              <a:t>https://monoist.itmedia.co.jp/mn/articles/2509/27/news004_2.html</a:t>
            </a:r>
          </a:p>
          <a:p xmlns:a="http://schemas.openxmlformats.org/drawingml/2006/main">
            <a:r>
              <a:t>掲載位置 後編 シミュレーションとAIに関する回答</a:t>
            </a:r>
          </a:p>
          <a:p xmlns:a="http://schemas.openxmlformats.org/drawingml/2006/main">
            <a:r>
              <a:t>文脈の要約 研究論文への言及として、モデルを土台にAIを使う方法へ関心を示す。</a:t>
            </a:r>
          </a:p>
          <a:p xmlns:a="http://schemas.openxmlformats.org/drawingml/2006/main">
            <a:r>
              <a:t>根拠にする論点 物理モデルとAIの組合せ</a:t>
            </a:r>
          </a:p>
          <a:p xmlns:a="http://schemas.openxmlformats.org/drawingml/2006/main">
            <a:r>
              <a:t>この一節からは言えないこと 技術への関心を述べた条件節。特定の自社実装の達成証明ではない。</a:t>
            </a:r>
          </a:p>
          <a:p xmlns:a="http://schemas.openxmlformats.org/drawingml/2006/main">
            <a:r>
              <a:t>確認 2026-10-22 原文テキストと照合</a:t>
            </a:r>
          </a:p>
          <a:p xmlns:a="http://schemas.openxmlformats.org/drawingml/2006/main">
            <a:r>
              <a:t/>
            </a:r>
          </a:p>
          <a:p xmlns:a="http://schemas.openxmlformats.org/drawingml/2006/main">
            <a:r>
              <a:t>Q34 / S34</a:t>
            </a:r>
          </a:p>
          <a:p xmlns:a="http://schemas.openxmlformats.org/drawingml/2006/main">
            <a:r>
              <a:t>大和総研の分析</a:t>
            </a:r>
          </a:p>
          <a:p xmlns:a="http://schemas.openxmlformats.org/drawingml/2006/main">
            <a:r>
              <a:t>大和総研 フィジカルAIの社会実装に向けた課題</a:t>
            </a:r>
          </a:p>
          <a:p xmlns:a="http://schemas.openxmlformats.org/drawingml/2006/main">
            <a:r>
              <a:t>公表日 2026-04-24</a:t>
            </a:r>
          </a:p>
          <a:p xmlns:a="http://schemas.openxmlformats.org/drawingml/2006/main">
            <a:r>
              <a:t>https://www.dir.co.jp/report/research/economics/japan/20260424_025726.html</a:t>
            </a:r>
          </a:p>
          <a:p xmlns:a="http://schemas.openxmlformats.org/drawingml/2006/main">
            <a:r>
              <a:t>掲載位置 掲載ページ 要約・導入段階の説明</a:t>
            </a:r>
          </a:p>
          <a:p xmlns:a="http://schemas.openxmlformats.org/drawingml/2006/main">
            <a:r>
              <a:t>文脈の要約 現場の違いが導入・継続改善の負担になるという問題提起。</a:t>
            </a:r>
          </a:p>
          <a:p xmlns:a="http://schemas.openxmlformats.org/drawingml/2006/main">
            <a:r>
              <a:t>根拠にする論点 横展開の課題</a:t>
            </a:r>
          </a:p>
          <a:p xmlns:a="http://schemas.openxmlformats.org/drawingml/2006/main">
            <a:r>
              <a:t>この一節からは言えないこと 技術の普及率や導入費用の定量結果ではない。</a:t>
            </a:r>
          </a:p>
          <a:p xmlns:a="http://schemas.openxmlformats.org/drawingml/2006/main">
            <a:r>
              <a:t>確認 2026-10-22 原文テキストと照合</a:t>
            </a:r>
          </a:p>
          <a:p xmlns:a="http://schemas.openxmlformats.org/drawingml/2006/main">
            <a:r>
              <a:t/>
            </a:r>
          </a:p>
          <a:p xmlns:a="http://schemas.openxmlformats.org/drawingml/2006/main">
            <a:r>
              <a:t>Q44 / A01</a:t>
            </a:r>
          </a:p>
          <a:p xmlns:a="http://schemas.openxmlformats.org/drawingml/2006/main">
            <a:r>
              <a:t>Third Wave Systemsの公式サービス説明</a:t>
            </a:r>
          </a:p>
          <a:p xmlns:a="http://schemas.openxmlformats.org/drawingml/2006/main">
            <a:r>
              <a:t>Third Wave Systems Engineering Services</a:t>
            </a:r>
          </a:p>
          <a:p xmlns:a="http://schemas.openxmlformats.org/drawingml/2006/main">
            <a:r>
              <a:t>公表日 未記載</a:t>
            </a:r>
          </a:p>
          <a:p xmlns:a="http://schemas.openxmlformats.org/drawingml/2006/main">
            <a:r>
              <a:t>https://thirdwavesys.com/engineering/engineering-services/</a:t>
            </a:r>
          </a:p>
          <a:p xmlns:a="http://schemas.openxmlformats.org/drawingml/2006/main">
            <a:r>
              <a:t>掲載位置 Material Modeling Services</a:t>
            </a:r>
          </a:p>
          <a:p xmlns:a="http://schemas.openxmlformats.org/drawingml/2006/main">
            <a:r>
              <a:t>文脈の要約 材料試験と構成則の作成後に行う、シミュレーションと実加工の照合を説明する。</a:t>
            </a:r>
          </a:p>
          <a:p xmlns:a="http://schemas.openxmlformats.org/drawingml/2006/main">
            <a:r>
              <a:t>根拠にする論点 実測でモデルを検証する仕事</a:t>
            </a:r>
          </a:p>
          <a:p xmlns:a="http://schemas.openxmlformats.org/drawingml/2006/main">
            <a:r>
              <a:t>この一節からは言えないこと あらゆる条件での精度保証ではない。</a:t>
            </a:r>
          </a:p>
          <a:p xmlns:a="http://schemas.openxmlformats.org/drawingml/2006/main">
            <a:r>
              <a:t>確認 2026-10-22 原文テキストと照合</a:t>
            </a:r>
          </a:p>
          <a:p xmlns:a="http://schemas.openxmlformats.org/drawingml/2006/main">
            <a:r>
              <a:t/>
            </a:r>
          </a:p>
          <a:p xmlns:a="http://schemas.openxmlformats.org/drawingml/2006/main">
            <a:r>
              <a:t>Q46 / A09</a:t>
            </a:r>
          </a:p>
          <a:p xmlns:a="http://schemas.openxmlformats.org/drawingml/2006/main">
            <a:r>
              <a:t>東芝デジタルソリューションズ 岡本賢司氏の対談発言</a:t>
            </a:r>
          </a:p>
          <a:p xmlns:a="http://schemas.openxmlformats.org/drawingml/2006/main">
            <a:r>
              <a:t>東芝 製造現場の知見を生かしてAIエージェントを活用するには 前編</a:t>
            </a:r>
          </a:p>
          <a:p xmlns:a="http://schemas.openxmlformats.org/drawingml/2006/main">
            <a:r>
              <a:t>公表日 2026-03-06</a:t>
            </a:r>
          </a:p>
          <a:p xmlns:a="http://schemas.openxmlformats.org/drawingml/2006/main">
            <a:r>
              <a:t>https://www.global.toshiba/jp/company/digitalsolution/articles/digicon/2026/82-1.html</a:t>
            </a:r>
          </a:p>
          <a:p xmlns:a="http://schemas.openxmlformats.org/drawingml/2006/main">
            <a:r>
              <a:t>掲載位置 2 AIマルチエージェントの開発事例</a:t>
            </a:r>
          </a:p>
          <a:p xmlns:a="http://schemas.openxmlformats.org/drawingml/2006/main">
            <a:r>
              <a:t>文脈の要約 分析計画や条件の指定と、既存プログラムでの計算を分担する説明。</a:t>
            </a:r>
          </a:p>
          <a:p xmlns:a="http://schemas.openxmlformats.org/drawingml/2006/main">
            <a:r>
              <a:t>根拠にする論点 エージェントと数値計算の分担</a:t>
            </a:r>
          </a:p>
          <a:p xmlns:a="http://schemas.openxmlformats.org/drawingml/2006/main">
            <a:r>
              <a:t>この一節からは言えないこと AIが計算式を自由に生成する方式の根拠にはしない。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「差別化の穴」は未確定。新モデルの所有だけでなく、取得しにくい現象、適用条件、検証手順、顧客効果も比較する。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
            </a:r>
          </a:p>
          <a:p xmlns:a="http://schemas.openxmlformats.org/drawingml/2006/main">
            <a:r>
              <a:t/>
            </a:r>
          </a:p>
          <a:p xmlns:a="http://schemas.openxmlformats.org/drawingml/2006/main">
            <a:r>
              <a:t>DMG森精機</a:t>
            </a:r>
          </a:p>
          <a:p xmlns:a="http://schemas.openxmlformats.org/drawingml/2006/main">
            <a:r>
              <a:t>ブース E8005</a:t>
            </a:r>
          </a:p>
          <a:p xmlns:a="http://schemas.openxmlformats.org/drawingml/2006/main">
            <a:r>
              <a:t>https://www.jimtof.org/search/jp/ESdetails?e=zcqDj1lSkGs</a:t>
            </a:r>
          </a:p>
          <a:p xmlns:a="http://schemas.openxmlformats.org/drawingml/2006/main">
            <a:r>
              <a:t>出展説明の収集基準日 2026-10-16</a:t>
            </a:r>
          </a:p>
          <a:p xmlns:a="http://schemas.openxmlformats.org/drawingml/2006/main">
            <a:r>
              <a:t/>
            </a:r>
          </a:p>
          <a:p xmlns:a="http://schemas.openxmlformats.org/drawingml/2006/main">
            <a:r>
              <a:t>ヤマザキマザック</a:t>
            </a:r>
          </a:p>
          <a:p xmlns:a="http://schemas.openxmlformats.org/drawingml/2006/main">
            <a:r>
              <a:t>ブース E1001</a:t>
            </a:r>
          </a:p>
          <a:p xmlns:a="http://schemas.openxmlformats.org/drawingml/2006/main">
            <a:r>
              <a:t>https://www.jimtof.org/search/jp/ESdetails?e=PJEgqNYlWes</a:t>
            </a:r>
          </a:p>
          <a:p xmlns:a="http://schemas.openxmlformats.org/drawingml/2006/main">
            <a:r>
              <a:t>出展説明の収集基準日 2026-10-16</a:t>
            </a:r>
          </a:p>
          <a:p xmlns:a="http://schemas.openxmlformats.org/drawingml/2006/main">
            <a:r>
              <a:t/>
            </a:r>
          </a:p>
          <a:p xmlns:a="http://schemas.openxmlformats.org/drawingml/2006/main">
            <a:r>
              <a:t>ファナック</a:t>
            </a:r>
          </a:p>
          <a:p xmlns:a="http://schemas.openxmlformats.org/drawingml/2006/main">
            <a:r>
              <a:t>ブース S2001</a:t>
            </a:r>
          </a:p>
          <a:p xmlns:a="http://schemas.openxmlformats.org/drawingml/2006/main">
            <a:r>
              <a:t>https://www.jimtof.org/search/jp/ESdetails?e=q0OrZBKM3uQ</a:t>
            </a:r>
          </a:p>
          <a:p xmlns:a="http://schemas.openxmlformats.org/drawingml/2006/main">
            <a:r>
              <a:t>出展説明の収集基準日 2026-10-16</a:t>
            </a:r>
          </a:p>
          <a:p xmlns:a="http://schemas.openxmlformats.org/drawingml/2006/main">
            <a:r>
              <a:t/>
            </a:r>
          </a:p>
          <a:p xmlns:a="http://schemas.openxmlformats.org/drawingml/2006/main">
            <a:r>
              <a:t>三菱電機</a:t>
            </a:r>
          </a:p>
          <a:p xmlns:a="http://schemas.openxmlformats.org/drawingml/2006/main">
            <a:r>
              <a:t>ブース S2003</a:t>
            </a:r>
          </a:p>
          <a:p xmlns:a="http://schemas.openxmlformats.org/drawingml/2006/main">
            <a:r>
              <a:t>https://www.jimtof.org/search/jp/ESdetails?e=AjLnzm01WWU</a:t>
            </a:r>
          </a:p>
          <a:p xmlns:a="http://schemas.openxmlformats.org/drawingml/2006/main">
            <a:r>
              <a:t>出展説明の収集基準日 2026-10-16</a:t>
            </a:r>
          </a:p>
          <a:p xmlns:a="http://schemas.openxmlformats.org/drawingml/2006/main">
            <a:r>
              <a:t/>
            </a:r>
          </a:p>
          <a:p xmlns:a="http://schemas.openxmlformats.org/drawingml/2006/main">
            <a:r>
              <a:t>オークマ</a:t>
            </a:r>
          </a:p>
          <a:p xmlns:a="http://schemas.openxmlformats.org/drawingml/2006/main">
            <a:r>
              <a:t>ブース E3028</a:t>
            </a:r>
          </a:p>
          <a:p xmlns:a="http://schemas.openxmlformats.org/drawingml/2006/main">
            <a:r>
              <a:t>https://www.jimtof.org/search/jp/ESdetails?e=30li0vWcseI</a:t>
            </a:r>
          </a:p>
          <a:p xmlns:a="http://schemas.openxmlformats.org/drawingml/2006/main">
            <a:r>
              <a:t>出展説明の収集基準日 2026-10-16</a:t>
            </a:r>
          </a:p>
          <a:p xmlns:a="http://schemas.openxmlformats.org/drawingml/2006/main">
            <a:r>
              <a:t/>
            </a:r>
          </a:p>
          <a:p xmlns:a="http://schemas.openxmlformats.org/drawingml/2006/main">
            <a:r>
              <a:t>シーメンス</a:t>
            </a:r>
          </a:p>
          <a:p xmlns:a="http://schemas.openxmlformats.org/drawingml/2006/main">
            <a:r>
              <a:t>ブース E3006</a:t>
            </a:r>
          </a:p>
          <a:p xmlns:a="http://schemas.openxmlformats.org/drawingml/2006/main">
            <a:r>
              <a:t>https://www.jimtof.org/search/jp/ESdetails?e=EBIotJu7lrg</a:t>
            </a:r>
          </a:p>
          <a:p xmlns:a="http://schemas.openxmlformats.org/drawingml/2006/main">
            <a:r>
              <a:t>出展説明の収集基準日 2026-10-16</a:t>
            </a:r>
          </a:p>
          <a:p xmlns:a="http://schemas.openxmlformats.org/drawingml/2006/main">
            <a:r>
              <a:t/>
            </a:r>
          </a:p>
          <a:p xmlns:a="http://schemas.openxmlformats.org/drawingml/2006/main">
            <a:r>
              <a:t>牧野フライス製作所</a:t>
            </a:r>
          </a:p>
          <a:p xmlns:a="http://schemas.openxmlformats.org/drawingml/2006/main">
            <a:r>
              <a:t>ブース E1024</a:t>
            </a:r>
          </a:p>
          <a:p xmlns:a="http://schemas.openxmlformats.org/drawingml/2006/main">
            <a:r>
              <a:t>https://www.jimtof.org/search/jp/ESdetails?e=M5OL10ECBTE</a:t>
            </a:r>
          </a:p>
          <a:p xmlns:a="http://schemas.openxmlformats.org/drawingml/2006/main">
            <a:r>
              <a:t>出展説明の収集基準日 2026-10-16</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共同開発・研究の機能が出展実機に入るかを照合する。提携先・研究所が、そのままJIMTOFへ出展しているとは扱わない。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
            </a:r>
          </a:p>
          <a:p xmlns:a="http://schemas.openxmlformats.org/drawingml/2006/main">
            <a:r>
              <a:t/>
            </a:r>
          </a:p>
          <a:p xmlns:a="http://schemas.openxmlformats.org/drawingml/2006/main">
            <a:r>
              <a:t>Hexagon Manufacturing Intelligence</a:t>
            </a:r>
          </a:p>
          <a:p xmlns:a="http://schemas.openxmlformats.org/drawingml/2006/main">
            <a:r>
              <a:t>ブース E7035 / E2013</a:t>
            </a:r>
          </a:p>
          <a:p xmlns:a="http://schemas.openxmlformats.org/drawingml/2006/main">
            <a:r>
              <a:t>https://www.jimtof.org/search/jp/ESdetails?e=oUyVPjxvy-U</a:t>
            </a:r>
          </a:p>
          <a:p xmlns:a="http://schemas.openxmlformats.org/drawingml/2006/main">
            <a:r>
              <a:t>出展説明の収集基準日 2026-10-16</a:t>
            </a:r>
          </a:p>
          <a:p xmlns:a="http://schemas.openxmlformats.org/drawingml/2006/main">
            <a:r>
              <a:t/>
            </a:r>
          </a:p>
          <a:p xmlns:a="http://schemas.openxmlformats.org/drawingml/2006/main">
            <a:r>
              <a:t>ベッコフオートメーション</a:t>
            </a:r>
          </a:p>
          <a:p xmlns:a="http://schemas.openxmlformats.org/drawingml/2006/main">
            <a:r>
              <a:t>ブース E2028</a:t>
            </a:r>
          </a:p>
          <a:p xmlns:a="http://schemas.openxmlformats.org/drawingml/2006/main">
            <a:r>
              <a:t>https://www.jimtof.org/search/jp/ESdetails?e=K7DqahO2h08</a:t>
            </a:r>
          </a:p>
          <a:p xmlns:a="http://schemas.openxmlformats.org/drawingml/2006/main">
            <a:r>
              <a:t>出展説明の収集基準日 2026-10-16</a:t>
            </a:r>
          </a:p>
          <a:p xmlns:a="http://schemas.openxmlformats.org/drawingml/2006/main">
            <a:r>
              <a:t/>
            </a:r>
          </a:p>
          <a:p xmlns:a="http://schemas.openxmlformats.org/drawingml/2006/main">
            <a:r>
              <a:t>ミツトヨ</a:t>
            </a:r>
          </a:p>
          <a:p xmlns:a="http://schemas.openxmlformats.org/drawingml/2006/main">
            <a:r>
              <a:t>ブース E3008 / E7085</a:t>
            </a:r>
          </a:p>
          <a:p xmlns:a="http://schemas.openxmlformats.org/drawingml/2006/main">
            <a:r>
              <a:t>https://www.jimtof.org/search/jp/ESdetails?e=a7y3JtW8DXM</a:t>
            </a:r>
          </a:p>
          <a:p xmlns:a="http://schemas.openxmlformats.org/drawingml/2006/main">
            <a:r>
              <a:t>出展説明の収集基準日 2026-10-16</a:t>
            </a:r>
          </a:p>
          <a:p xmlns:a="http://schemas.openxmlformats.org/drawingml/2006/main">
            <a:r>
              <a:t/>
            </a:r>
          </a:p>
          <a:p xmlns:a="http://schemas.openxmlformats.org/drawingml/2006/main">
            <a:r>
              <a:t>Third Wave Systems Japan</a:t>
            </a:r>
          </a:p>
          <a:p xmlns:a="http://schemas.openxmlformats.org/drawingml/2006/main">
            <a:r>
              <a:t>ブース E1064</a:t>
            </a:r>
          </a:p>
          <a:p xmlns:a="http://schemas.openxmlformats.org/drawingml/2006/main">
            <a:r>
              <a:t>https://www.jimtof.org/search/jp/ESdetails?e=L43LSAjxuyc</a:t>
            </a:r>
          </a:p>
          <a:p xmlns:a="http://schemas.openxmlformats.org/drawingml/2006/main">
            <a:r>
              <a:t>出展説明の収集基準日 2026-10-16</a:t>
            </a:r>
          </a:p>
          <a:p xmlns:a="http://schemas.openxmlformats.org/drawingml/2006/main">
            <a:r>
              <a:t/>
            </a:r>
          </a:p>
          <a:p xmlns:a="http://schemas.openxmlformats.org/drawingml/2006/main">
            <a:r>
              <a:t>CGTech</a:t>
            </a:r>
          </a:p>
          <a:p xmlns:a="http://schemas.openxmlformats.org/drawingml/2006/main">
            <a:r>
              <a:t>ブース S3014</a:t>
            </a:r>
          </a:p>
          <a:p xmlns:a="http://schemas.openxmlformats.org/drawingml/2006/main">
            <a:r>
              <a:t>https://www.jimtof.org/search/jp/ESdetails?e=41U8xW4UkcM</a:t>
            </a:r>
          </a:p>
          <a:p xmlns:a="http://schemas.openxmlformats.org/drawingml/2006/main">
            <a:r>
              <a:t>出展説明の収集基準日 2026-10-16</a:t>
            </a:r>
          </a:p>
          <a:p xmlns:a="http://schemas.openxmlformats.org/drawingml/2006/main">
            <a:r>
              <a:t/>
            </a:r>
          </a:p>
          <a:p xmlns:a="http://schemas.openxmlformats.org/drawingml/2006/main">
            <a:r>
              <a:t>日本キスラー</a:t>
            </a:r>
          </a:p>
          <a:p xmlns:a="http://schemas.openxmlformats.org/drawingml/2006/main">
            <a:r>
              <a:t>ブース S4031</a:t>
            </a:r>
          </a:p>
          <a:p xmlns:a="http://schemas.openxmlformats.org/drawingml/2006/main">
            <a:r>
              <a:t>https://www.jimtof.org/search/jp/ESdetails?e=7Gt1ylw_a8s</a:t>
            </a:r>
          </a:p>
          <a:p xmlns:a="http://schemas.openxmlformats.org/drawingml/2006/main">
            <a:r>
              <a:t>出展説明の収集基準日 2026-10-16</a:t>
            </a:r>
          </a:p>
          <a:p xmlns:a="http://schemas.openxmlformats.org/drawingml/2006/main">
            <a:r>
              <a:t/>
            </a:r>
          </a:p>
          <a:p xmlns:a="http://schemas.openxmlformats.org/drawingml/2006/main">
            <a:r>
              <a:t>マーポス</a:t>
            </a:r>
          </a:p>
          <a:p xmlns:a="http://schemas.openxmlformats.org/drawingml/2006/main">
            <a:r>
              <a:t>ブース E7087</a:t>
            </a:r>
          </a:p>
          <a:p xmlns:a="http://schemas.openxmlformats.org/drawingml/2006/main">
            <a:r>
              <a:t>https://www.jimtof.org/search/jp/ESdetails?e=tThKOA-gm8s</a:t>
            </a:r>
          </a:p>
          <a:p xmlns:a="http://schemas.openxmlformats.org/drawingml/2006/main">
            <a:r>
              <a:t>出展説明の収集基準日 2026-10-16</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共同開発・研究の機能が出展実機に入るかを照合する。提携先・研究所が、そのままJIMTOFへ出展しているとは扱わない。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
            </a:r>
          </a:p>
          <a:p xmlns:a="http://schemas.openxmlformats.org/drawingml/2006/main">
            <a:r>
              <a:t/>
            </a:r>
          </a:p>
          <a:p xmlns:a="http://schemas.openxmlformats.org/drawingml/2006/main">
            <a:r>
              <a:t>DMG森精機株式会社</a:t>
            </a:r>
          </a:p>
          <a:p xmlns:a="http://schemas.openxmlformats.org/drawingml/2006/main">
            <a:r>
              <a:t>ブース E8005</a:t>
            </a:r>
          </a:p>
          <a:p xmlns:a="http://schemas.openxmlformats.org/drawingml/2006/main">
            <a:r>
              <a:t>https://www.jimtof.org/search/jp/ESdetails?e=zcqDj1lSkGs</a:t>
            </a:r>
          </a:p>
          <a:p xmlns:a="http://schemas.openxmlformats.org/drawingml/2006/main">
            <a:r>
              <a:t>出展説明の収集基準日 2026-10-16</a:t>
            </a:r>
          </a:p>
          <a:p xmlns:a="http://schemas.openxmlformats.org/drawingml/2006/main">
            <a:r>
              <a:t/>
            </a:r>
          </a:p>
          <a:p xmlns:a="http://schemas.openxmlformats.org/drawingml/2006/main">
            <a:r>
              <a:t>ヤマザキマザック株式会社</a:t>
            </a:r>
          </a:p>
          <a:p xmlns:a="http://schemas.openxmlformats.org/drawingml/2006/main">
            <a:r>
              <a:t>ブース E1001</a:t>
            </a:r>
          </a:p>
          <a:p xmlns:a="http://schemas.openxmlformats.org/drawingml/2006/main">
            <a:r>
              <a:t>https://www.jimtof.org/search/jp/ESdetails?e=PJEgqNYlWes</a:t>
            </a:r>
          </a:p>
          <a:p xmlns:a="http://schemas.openxmlformats.org/drawingml/2006/main">
            <a:r>
              <a:t>出展説明の収集基準日 2026-10-16</a:t>
            </a:r>
          </a:p>
          <a:p xmlns:a="http://schemas.openxmlformats.org/drawingml/2006/main">
            <a:r>
              <a:t/>
            </a:r>
          </a:p>
          <a:p xmlns:a="http://schemas.openxmlformats.org/drawingml/2006/main">
            <a:r>
              <a:t>オークマ株式会社</a:t>
            </a:r>
          </a:p>
          <a:p xmlns:a="http://schemas.openxmlformats.org/drawingml/2006/main">
            <a:r>
              <a:t>ブース E3028</a:t>
            </a:r>
          </a:p>
          <a:p xmlns:a="http://schemas.openxmlformats.org/drawingml/2006/main">
            <a:r>
              <a:t>https://www.jimtof.org/search/jp/ESdetails?e=30li0vWcseI</a:t>
            </a:r>
          </a:p>
          <a:p xmlns:a="http://schemas.openxmlformats.org/drawingml/2006/main">
            <a:r>
              <a:t>出展説明の収集基準日 2026-10-16</a:t>
            </a:r>
          </a:p>
          <a:p xmlns:a="http://schemas.openxmlformats.org/drawingml/2006/main">
            <a:r>
              <a:t/>
            </a:r>
          </a:p>
          <a:p xmlns:a="http://schemas.openxmlformats.org/drawingml/2006/main">
            <a:r>
              <a:t>株式会社牧野フライス製作所</a:t>
            </a:r>
          </a:p>
          <a:p xmlns:a="http://schemas.openxmlformats.org/drawingml/2006/main">
            <a:r>
              <a:t>ブース E1024</a:t>
            </a:r>
          </a:p>
          <a:p xmlns:a="http://schemas.openxmlformats.org/drawingml/2006/main">
            <a:r>
              <a:t>https://www.jimtof.org/search/jp/ESdetails?e=M5OL10ECBTE</a:t>
            </a:r>
          </a:p>
          <a:p xmlns:a="http://schemas.openxmlformats.org/drawingml/2006/main">
            <a:r>
              <a:t>出展説明の収集基準日 2026-10-16</a:t>
            </a:r>
          </a:p>
          <a:p xmlns:a="http://schemas.openxmlformats.org/drawingml/2006/main">
            <a:r>
              <a:t/>
            </a:r>
          </a:p>
          <a:p xmlns:a="http://schemas.openxmlformats.org/drawingml/2006/main">
            <a:r>
              <a:t>ファナック株式会社</a:t>
            </a:r>
          </a:p>
          <a:p xmlns:a="http://schemas.openxmlformats.org/drawingml/2006/main">
            <a:r>
              <a:t>ブース S2001</a:t>
            </a:r>
          </a:p>
          <a:p xmlns:a="http://schemas.openxmlformats.org/drawingml/2006/main">
            <a:r>
              <a:t>https://www.jimtof.org/search/jp/ESdetails?e=q0OrZBKM3uQ</a:t>
            </a:r>
          </a:p>
          <a:p xmlns:a="http://schemas.openxmlformats.org/drawingml/2006/main">
            <a:r>
              <a:t>出展説明の収集基準日 2026-10-16</a:t>
            </a:r>
          </a:p>
          <a:p xmlns:a="http://schemas.openxmlformats.org/drawingml/2006/main">
            <a:r>
              <a:t/>
            </a:r>
          </a:p>
          <a:p xmlns:a="http://schemas.openxmlformats.org/drawingml/2006/main">
            <a:r>
              <a:t>三菱電機株式会社</a:t>
            </a:r>
          </a:p>
          <a:p xmlns:a="http://schemas.openxmlformats.org/drawingml/2006/main">
            <a:r>
              <a:t>ブース S2003</a:t>
            </a:r>
          </a:p>
          <a:p xmlns:a="http://schemas.openxmlformats.org/drawingml/2006/main">
            <a:r>
              <a:t>https://www.jimtof.org/search/jp/ESdetails?e=AjLnzm01WWU</a:t>
            </a:r>
          </a:p>
          <a:p xmlns:a="http://schemas.openxmlformats.org/drawingml/2006/main">
            <a:r>
              <a:t>出展説明の収集基準日 2026-10-16</a:t>
            </a:r>
          </a:p>
          <a:p xmlns:a="http://schemas.openxmlformats.org/drawingml/2006/main">
            <a:r>
              <a:t/>
            </a:r>
          </a:p>
          <a:p xmlns:a="http://schemas.openxmlformats.org/drawingml/2006/main">
            <a:r>
              <a:t>シーメンス株式会社</a:t>
            </a:r>
          </a:p>
          <a:p xmlns:a="http://schemas.openxmlformats.org/drawingml/2006/main">
            <a:r>
              <a:t>ブース E3006</a:t>
            </a:r>
          </a:p>
          <a:p xmlns:a="http://schemas.openxmlformats.org/drawingml/2006/main">
            <a:r>
              <a:t>https://www.jimtof.org/search/jp/ESdetails?e=EBIotJu7lrg</a:t>
            </a:r>
          </a:p>
          <a:p xmlns:a="http://schemas.openxmlformats.org/drawingml/2006/main">
            <a:r>
              <a:t>出展説明の収集基準日 2026-10-16</a:t>
            </a:r>
          </a:p>
          <a:p xmlns:a="http://schemas.openxmlformats.org/drawingml/2006/main">
            <a:r>
              <a:t/>
            </a:r>
          </a:p>
          <a:p xmlns:a="http://schemas.openxmlformats.org/drawingml/2006/main">
            <a:r>
              <a:t>株式会社ジェイテクト</a:t>
            </a:r>
          </a:p>
          <a:p xmlns:a="http://schemas.openxmlformats.org/drawingml/2006/main">
            <a:r>
              <a:t>ブース E8003</a:t>
            </a:r>
          </a:p>
          <a:p xmlns:a="http://schemas.openxmlformats.org/drawingml/2006/main">
            <a:r>
              <a:t>https://www.jimtof.org/search/jp/ESdetails?e=cW9RNSMEfso</a:t>
            </a:r>
          </a:p>
          <a:p xmlns:a="http://schemas.openxmlformats.org/drawingml/2006/main">
            <a:r>
              <a:t>出展説明の収集基準日 2026-10-16</a:t>
            </a:r>
          </a:p>
          <a:p xmlns:a="http://schemas.openxmlformats.org/drawingml/2006/main">
            <a:r>
              <a:t/>
            </a:r>
          </a:p>
          <a:p xmlns:a="http://schemas.openxmlformats.org/drawingml/2006/main">
            <a:r>
              <a:t>ニデックマシンツール株式会社</a:t>
            </a:r>
          </a:p>
          <a:p xmlns:a="http://schemas.openxmlformats.org/drawingml/2006/main">
            <a:r>
              <a:t>ブース E3011</a:t>
            </a:r>
          </a:p>
          <a:p xmlns:a="http://schemas.openxmlformats.org/drawingml/2006/main">
            <a:r>
              <a:t>https://www.jimtof.org/search/jp/ESdetails?e=oS1WYTzqdvg</a:t>
            </a:r>
          </a:p>
          <a:p xmlns:a="http://schemas.openxmlformats.org/drawingml/2006/main">
            <a:r>
              <a:t>出展説明の収集基準日 2026-10-16</a:t>
            </a:r>
          </a:p>
          <a:p xmlns:a="http://schemas.openxmlformats.org/drawingml/2006/main">
            <a:r>
              <a:t/>
            </a:r>
          </a:p>
          <a:p xmlns:a="http://schemas.openxmlformats.org/drawingml/2006/main">
            <a:r>
              <a:t>ニデックオーケーケー株式会社</a:t>
            </a:r>
          </a:p>
          <a:p xmlns:a="http://schemas.openxmlformats.org/drawingml/2006/main">
            <a:r>
              <a:t>ブース E3012</a:t>
            </a:r>
          </a:p>
          <a:p xmlns:a="http://schemas.openxmlformats.org/drawingml/2006/main">
            <a:r>
              <a:t>https://www.jimtof.org/search/jp/ESdetails?e=cIGcLA71ub0</a:t>
            </a:r>
          </a:p>
          <a:p xmlns:a="http://schemas.openxmlformats.org/drawingml/2006/main">
            <a:r>
              <a:t>出展説明の収集基準日 2026-10-16</a:t>
            </a:r>
          </a:p>
          <a:p xmlns:a="http://schemas.openxmlformats.org/drawingml/2006/main">
            <a:r>
              <a:t/>
            </a:r>
          </a:p>
          <a:p xmlns:a="http://schemas.openxmlformats.org/drawingml/2006/main">
            <a:r>
              <a:t>株式会社ソディック</a:t>
            </a:r>
          </a:p>
          <a:p xmlns:a="http://schemas.openxmlformats.org/drawingml/2006/main">
            <a:r>
              <a:t>ブース E2017</a:t>
            </a:r>
          </a:p>
          <a:p xmlns:a="http://schemas.openxmlformats.org/drawingml/2006/main">
            <a:r>
              <a:t>https://www.jimtof.org/search/jp/ESdetails?e=k6keXdSLQmQ</a:t>
            </a:r>
          </a:p>
          <a:p xmlns:a="http://schemas.openxmlformats.org/drawingml/2006/main">
            <a:r>
              <a:t>出展説明の収集基準日 2026-10-16</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保存済みの公式出展情報に基づく。情報不足を技術・出展の不在と解釈せず、現地で内容と適用条件を補う。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
            </a:r>
          </a:p>
          <a:p xmlns:a="http://schemas.openxmlformats.org/drawingml/2006/main">
            <a:r>
              <a:t/>
            </a:r>
          </a:p>
          <a:p xmlns:a="http://schemas.openxmlformats.org/drawingml/2006/main">
            <a:r>
              <a:t>株式会社アマダ</a:t>
            </a:r>
          </a:p>
          <a:p xmlns:a="http://schemas.openxmlformats.org/drawingml/2006/main">
            <a:r>
              <a:t>ブース E2012</a:t>
            </a:r>
          </a:p>
          <a:p xmlns:a="http://schemas.openxmlformats.org/drawingml/2006/main">
            <a:r>
              <a:t>https://www.jimtof.org/search/jp/ESdetails?e=lwacRdqPa60</a:t>
            </a:r>
          </a:p>
          <a:p xmlns:a="http://schemas.openxmlformats.org/drawingml/2006/main">
            <a:r>
              <a:t>出展説明の収集基準日 2026-10-16</a:t>
            </a:r>
          </a:p>
          <a:p xmlns:a="http://schemas.openxmlformats.org/drawingml/2006/main">
            <a:r>
              <a:t/>
            </a:r>
          </a:p>
          <a:p xmlns:a="http://schemas.openxmlformats.org/drawingml/2006/main">
            <a:r>
              <a:t>ブラザー工業株式会社</a:t>
            </a:r>
          </a:p>
          <a:p xmlns:a="http://schemas.openxmlformats.org/drawingml/2006/main">
            <a:r>
              <a:t>ブース E1055</a:t>
            </a:r>
          </a:p>
          <a:p xmlns:a="http://schemas.openxmlformats.org/drawingml/2006/main">
            <a:r>
              <a:t>https://www.jimtof.org/search/jp/ESdetails?e=lOXEEpvlXpM</a:t>
            </a:r>
          </a:p>
          <a:p xmlns:a="http://schemas.openxmlformats.org/drawingml/2006/main">
            <a:r>
              <a:t>出展説明の収集基準日 2026-10-16</a:t>
            </a:r>
          </a:p>
          <a:p xmlns:a="http://schemas.openxmlformats.org/drawingml/2006/main">
            <a:r>
              <a:t/>
            </a:r>
          </a:p>
          <a:p xmlns:a="http://schemas.openxmlformats.org/drawingml/2006/main">
            <a:r>
              <a:t>株式会社松浦機械製作所</a:t>
            </a:r>
          </a:p>
          <a:p xmlns:a="http://schemas.openxmlformats.org/drawingml/2006/main">
            <a:r>
              <a:t>ブース E3030</a:t>
            </a:r>
          </a:p>
          <a:p xmlns:a="http://schemas.openxmlformats.org/drawingml/2006/main">
            <a:r>
              <a:t>https://www.jimtof.org/search/jp/ESdetails?e=K_X61J2xV_w</a:t>
            </a:r>
          </a:p>
          <a:p xmlns:a="http://schemas.openxmlformats.org/drawingml/2006/main">
            <a:r>
              <a:t>出展説明の収集基準日 2026-10-16</a:t>
            </a:r>
          </a:p>
          <a:p xmlns:a="http://schemas.openxmlformats.org/drawingml/2006/main">
            <a:r>
              <a:t/>
            </a:r>
          </a:p>
          <a:p xmlns:a="http://schemas.openxmlformats.org/drawingml/2006/main">
            <a:r>
              <a:t>シチズンマシナリー株式会社</a:t>
            </a:r>
          </a:p>
          <a:p xmlns:a="http://schemas.openxmlformats.org/drawingml/2006/main">
            <a:r>
              <a:t>ブース S2002</a:t>
            </a:r>
          </a:p>
          <a:p xmlns:a="http://schemas.openxmlformats.org/drawingml/2006/main">
            <a:r>
              <a:t>https://www.jimtof.org/search/jp/ESdetails?e=sqCigr-Fu70</a:t>
            </a:r>
          </a:p>
          <a:p xmlns:a="http://schemas.openxmlformats.org/drawingml/2006/main">
            <a:r>
              <a:t>出展説明の収集基準日 2026-10-16</a:t>
            </a:r>
          </a:p>
          <a:p xmlns:a="http://schemas.openxmlformats.org/drawingml/2006/main">
            <a:r>
              <a:t/>
            </a:r>
          </a:p>
          <a:p xmlns:a="http://schemas.openxmlformats.org/drawingml/2006/main">
            <a:r>
              <a:t>スター精密株式会社</a:t>
            </a:r>
          </a:p>
          <a:p xmlns:a="http://schemas.openxmlformats.org/drawingml/2006/main">
            <a:r>
              <a:t>ブース S1003</a:t>
            </a:r>
          </a:p>
          <a:p xmlns:a="http://schemas.openxmlformats.org/drawingml/2006/main">
            <a:r>
              <a:t>https://www.jimtof.org/search/jp/ESdetails?e=uGFHKigy2ag</a:t>
            </a:r>
          </a:p>
          <a:p xmlns:a="http://schemas.openxmlformats.org/drawingml/2006/main">
            <a:r>
              <a:t>出展説明の収集基準日 2026-10-16</a:t>
            </a:r>
          </a:p>
          <a:p xmlns:a="http://schemas.openxmlformats.org/drawingml/2006/main">
            <a:r>
              <a:t/>
            </a:r>
          </a:p>
          <a:p xmlns:a="http://schemas.openxmlformats.org/drawingml/2006/main">
            <a:r>
              <a:t>株式会社ツガミ</a:t>
            </a:r>
          </a:p>
          <a:p xmlns:a="http://schemas.openxmlformats.org/drawingml/2006/main">
            <a:r>
              <a:t>ブース S1004</a:t>
            </a:r>
          </a:p>
          <a:p xmlns:a="http://schemas.openxmlformats.org/drawingml/2006/main">
            <a:r>
              <a:t>https://www.jimtof.org/search/jp/ESdetails?e=fKOIqkxqaBI</a:t>
            </a:r>
          </a:p>
          <a:p xmlns:a="http://schemas.openxmlformats.org/drawingml/2006/main">
            <a:r>
              <a:t>出展説明の収集基準日 2026-10-16</a:t>
            </a:r>
          </a:p>
          <a:p xmlns:a="http://schemas.openxmlformats.org/drawingml/2006/main">
            <a:r>
              <a:t/>
            </a:r>
          </a:p>
          <a:p xmlns:a="http://schemas.openxmlformats.org/drawingml/2006/main">
            <a:r>
              <a:t>オーエスジー株式会社</a:t>
            </a:r>
          </a:p>
          <a:p xmlns:a="http://schemas.openxmlformats.org/drawingml/2006/main">
            <a:r>
              <a:t>ブース W1070</a:t>
            </a:r>
          </a:p>
          <a:p xmlns:a="http://schemas.openxmlformats.org/drawingml/2006/main">
            <a:r>
              <a:t>https://www.jimtof.org/search/jp/ESdetails?e=AooPnMJlHW4</a:t>
            </a:r>
          </a:p>
          <a:p xmlns:a="http://schemas.openxmlformats.org/drawingml/2006/main">
            <a:r>
              <a:t>出展説明の収集基準日 2026-10-16</a:t>
            </a:r>
          </a:p>
          <a:p xmlns:a="http://schemas.openxmlformats.org/drawingml/2006/main">
            <a:r>
              <a:t/>
            </a:r>
          </a:p>
          <a:p xmlns:a="http://schemas.openxmlformats.org/drawingml/2006/main">
            <a:r>
              <a:t>三菱マテリアル株式会社</a:t>
            </a:r>
          </a:p>
          <a:p xmlns:a="http://schemas.openxmlformats.org/drawingml/2006/main">
            <a:r>
              <a:t>ブース W1065</a:t>
            </a:r>
          </a:p>
          <a:p xmlns:a="http://schemas.openxmlformats.org/drawingml/2006/main">
            <a:r>
              <a:t>https://www.jimtof.org/search/jp/ESdetails?e=8cRbffPwDP4</a:t>
            </a:r>
          </a:p>
          <a:p xmlns:a="http://schemas.openxmlformats.org/drawingml/2006/main">
            <a:r>
              <a:t>出展説明の収集基準日 2026-10-16</a:t>
            </a:r>
          </a:p>
          <a:p xmlns:a="http://schemas.openxmlformats.org/drawingml/2006/main">
            <a:r>
              <a:t/>
            </a:r>
          </a:p>
          <a:p xmlns:a="http://schemas.openxmlformats.org/drawingml/2006/main">
            <a:r>
              <a:t>京セラ株式会社</a:t>
            </a:r>
          </a:p>
          <a:p xmlns:a="http://schemas.openxmlformats.org/drawingml/2006/main">
            <a:r>
              <a:t>ブース W1046</a:t>
            </a:r>
          </a:p>
          <a:p xmlns:a="http://schemas.openxmlformats.org/drawingml/2006/main">
            <a:r>
              <a:t>https://www.jimtof.org/search/jp/ESdetails?e=E4SA18YM2G4</a:t>
            </a:r>
          </a:p>
          <a:p xmlns:a="http://schemas.openxmlformats.org/drawingml/2006/main">
            <a:r>
              <a:t>出展説明の収集基準日 2026-10-16</a:t>
            </a:r>
          </a:p>
          <a:p xmlns:a="http://schemas.openxmlformats.org/drawingml/2006/main">
            <a:r>
              <a:t/>
            </a:r>
          </a:p>
          <a:p xmlns:a="http://schemas.openxmlformats.org/drawingml/2006/main">
            <a:r>
              <a:t>株式会社タンガロイ</a:t>
            </a:r>
          </a:p>
          <a:p xmlns:a="http://schemas.openxmlformats.org/drawingml/2006/main">
            <a:r>
              <a:t>ブース W1090</a:t>
            </a:r>
          </a:p>
          <a:p xmlns:a="http://schemas.openxmlformats.org/drawingml/2006/main">
            <a:r>
              <a:t>https://www.jimtof.org/search/jp/ESdetails?e=VUyVyFPIn2Q</a:t>
            </a:r>
          </a:p>
          <a:p xmlns:a="http://schemas.openxmlformats.org/drawingml/2006/main">
            <a:r>
              <a:t>出展説明の収集基準日 2026-10-16</a:t>
            </a:r>
          </a:p>
          <a:p xmlns:a="http://schemas.openxmlformats.org/drawingml/2006/main">
            <a:r>
              <a:t/>
            </a:r>
          </a:p>
          <a:p xmlns:a="http://schemas.openxmlformats.org/drawingml/2006/main">
            <a:r>
              <a:t>株式会社ミツトヨ</a:t>
            </a:r>
          </a:p>
          <a:p xmlns:a="http://schemas.openxmlformats.org/drawingml/2006/main">
            <a:r>
              <a:t>ブース E3008 / E7085</a:t>
            </a:r>
          </a:p>
          <a:p xmlns:a="http://schemas.openxmlformats.org/drawingml/2006/main">
            <a:r>
              <a:t>https://www.jimtof.org/search/jp/ESdetails?e=a7y3JtW8DXM</a:t>
            </a:r>
          </a:p>
          <a:p xmlns:a="http://schemas.openxmlformats.org/drawingml/2006/main">
            <a:r>
              <a:t>出展説明の収集基準日 2026-10-16</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保存済みの公式出展情報に基づく。情報不足を技術・出展の不在と解釈せず、現地で内容と適用条件を補う。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
            </a:r>
          </a:p>
          <a:p xmlns:a="http://schemas.openxmlformats.org/drawingml/2006/main">
            <a:r>
              <a:t/>
            </a:r>
          </a:p>
          <a:p xmlns:a="http://schemas.openxmlformats.org/drawingml/2006/main">
            <a:r>
              <a:t>株式会社東京精密</a:t>
            </a:r>
          </a:p>
          <a:p xmlns:a="http://schemas.openxmlformats.org/drawingml/2006/main">
            <a:r>
              <a:t>ブース E7044</a:t>
            </a:r>
          </a:p>
          <a:p xmlns:a="http://schemas.openxmlformats.org/drawingml/2006/main">
            <a:r>
              <a:t>詳細URL未保存。主要33社台帳の保存情報から確認。</a:t>
            </a:r>
          </a:p>
          <a:p xmlns:a="http://schemas.openxmlformats.org/drawingml/2006/main">
            <a:r>
              <a:t>出展説明の収集基準日 2026-10-16</a:t>
            </a:r>
          </a:p>
          <a:p xmlns:a="http://schemas.openxmlformats.org/drawingml/2006/main">
            <a:r>
              <a:t/>
            </a:r>
          </a:p>
          <a:p xmlns:a="http://schemas.openxmlformats.org/drawingml/2006/main">
            <a:r>
              <a:t>レニショー株式会社</a:t>
            </a:r>
          </a:p>
          <a:p xmlns:a="http://schemas.openxmlformats.org/drawingml/2006/main">
            <a:r>
              <a:t>ブース E7089</a:t>
            </a:r>
          </a:p>
          <a:p xmlns:a="http://schemas.openxmlformats.org/drawingml/2006/main">
            <a:r>
              <a:t>https://www.jimtof.org/search/jp/ESdetails?e=pYGmVz5GC1c</a:t>
            </a:r>
          </a:p>
          <a:p xmlns:a="http://schemas.openxmlformats.org/drawingml/2006/main">
            <a:r>
              <a:t>出展説明の収集基準日 2026-10-16</a:t>
            </a:r>
          </a:p>
          <a:p xmlns:a="http://schemas.openxmlformats.org/drawingml/2006/main">
            <a:r>
              <a:t/>
            </a:r>
          </a:p>
          <a:p xmlns:a="http://schemas.openxmlformats.org/drawingml/2006/main">
            <a:r>
              <a:t>ハイデンハイン株式会社</a:t>
            </a:r>
          </a:p>
          <a:p xmlns:a="http://schemas.openxmlformats.org/drawingml/2006/main">
            <a:r>
              <a:t>ブース E7043</a:t>
            </a:r>
          </a:p>
          <a:p xmlns:a="http://schemas.openxmlformats.org/drawingml/2006/main">
            <a:r>
              <a:t>https://www.jimtof.org/search/jp/ESdetails?e=iohDR5yR9VA</a:t>
            </a:r>
          </a:p>
          <a:p xmlns:a="http://schemas.openxmlformats.org/drawingml/2006/main">
            <a:r>
              <a:t>出展説明の収集基準日 2026-10-16</a:t>
            </a:r>
          </a:p>
          <a:p xmlns:a="http://schemas.openxmlformats.org/drawingml/2006/main">
            <a:r>
              <a:t/>
            </a:r>
          </a:p>
          <a:p xmlns:a="http://schemas.openxmlformats.org/drawingml/2006/main">
            <a:r>
              <a:t>ベッコフオートメーション株式会社</a:t>
            </a:r>
          </a:p>
          <a:p xmlns:a="http://schemas.openxmlformats.org/drawingml/2006/main">
            <a:r>
              <a:t>ブース E2028</a:t>
            </a:r>
          </a:p>
          <a:p xmlns:a="http://schemas.openxmlformats.org/drawingml/2006/main">
            <a:r>
              <a:t>https://www.jimtof.org/search/jp/ESdetails?e=K7DqahO2h08</a:t>
            </a:r>
          </a:p>
          <a:p xmlns:a="http://schemas.openxmlformats.org/drawingml/2006/main">
            <a:r>
              <a:t>出展説明の収集基準日 2026-10-16</a:t>
            </a:r>
          </a:p>
          <a:p xmlns:a="http://schemas.openxmlformats.org/drawingml/2006/main">
            <a:r>
              <a:t/>
            </a:r>
          </a:p>
          <a:p xmlns:a="http://schemas.openxmlformats.org/drawingml/2006/main">
            <a:r>
              <a:t>Hexagon Manufacturing Intelligence株式会社</a:t>
            </a:r>
          </a:p>
          <a:p xmlns:a="http://schemas.openxmlformats.org/drawingml/2006/main">
            <a:r>
              <a:t>ブース E7035 / E2013</a:t>
            </a:r>
          </a:p>
          <a:p xmlns:a="http://schemas.openxmlformats.org/drawingml/2006/main">
            <a:r>
              <a:t>https://www.jimtof.org/search/jp/ESdetails?e=oUyVPjxvy-U</a:t>
            </a:r>
          </a:p>
          <a:p xmlns:a="http://schemas.openxmlformats.org/drawingml/2006/main">
            <a:r>
              <a:t>出展説明の収集基準日 2026-10-16</a:t>
            </a:r>
          </a:p>
          <a:p xmlns:a="http://schemas.openxmlformats.org/drawingml/2006/main">
            <a:r>
              <a:t/>
            </a:r>
          </a:p>
          <a:p xmlns:a="http://schemas.openxmlformats.org/drawingml/2006/main">
            <a:r>
              <a:t>住友電気工業株式会社</a:t>
            </a:r>
          </a:p>
          <a:p xmlns:a="http://schemas.openxmlformats.org/drawingml/2006/main">
            <a:r>
              <a:t>ブース W1027</a:t>
            </a:r>
          </a:p>
          <a:p xmlns:a="http://schemas.openxmlformats.org/drawingml/2006/main">
            <a:r>
              <a:t>https://www.jimtof.org/search/jp/ESdetails?e=fUD_CMl54Kw</a:t>
            </a:r>
          </a:p>
          <a:p xmlns:a="http://schemas.openxmlformats.org/drawingml/2006/main">
            <a:r>
              <a:t>出展説明の収集基準日 2026-10-16</a:t>
            </a:r>
          </a:p>
          <a:p xmlns:a="http://schemas.openxmlformats.org/drawingml/2006/main">
            <a:r>
              <a:t/>
            </a:r>
          </a:p>
          <a:p xmlns:a="http://schemas.openxmlformats.org/drawingml/2006/main">
            <a:r>
              <a:t>中村留精密工業株式会社</a:t>
            </a:r>
          </a:p>
          <a:p xmlns:a="http://schemas.openxmlformats.org/drawingml/2006/main">
            <a:r>
              <a:t>ブース E2027</a:t>
            </a:r>
          </a:p>
          <a:p xmlns:a="http://schemas.openxmlformats.org/drawingml/2006/main">
            <a:r>
              <a:t>https://www.jimtof.org/search/jp/ESdetails?e=C7A_2ZTDXNw</a:t>
            </a:r>
          </a:p>
          <a:p xmlns:a="http://schemas.openxmlformats.org/drawingml/2006/main">
            <a:r>
              <a:t>出展説明の収集基準日 2026-10-16</a:t>
            </a:r>
          </a:p>
          <a:p xmlns:a="http://schemas.openxmlformats.org/drawingml/2006/main">
            <a:r>
              <a:t/>
            </a:r>
          </a:p>
          <a:p xmlns:a="http://schemas.openxmlformats.org/drawingml/2006/main">
            <a:r>
              <a:t>株式会社FUJI</a:t>
            </a:r>
          </a:p>
          <a:p xmlns:a="http://schemas.openxmlformats.org/drawingml/2006/main">
            <a:r>
              <a:t>ブース E3021</a:t>
            </a:r>
          </a:p>
          <a:p xmlns:a="http://schemas.openxmlformats.org/drawingml/2006/main">
            <a:r>
              <a:t>https://www.jimtof.org/search/jp/ESdetails?e=xJlXi-VNzio</a:t>
            </a:r>
          </a:p>
          <a:p xmlns:a="http://schemas.openxmlformats.org/drawingml/2006/main">
            <a:r>
              <a:t>出展説明の収集基準日 2026-10-16</a:t>
            </a:r>
          </a:p>
          <a:p xmlns:a="http://schemas.openxmlformats.org/drawingml/2006/main">
            <a:r>
              <a:t/>
            </a:r>
          </a:p>
          <a:p xmlns:a="http://schemas.openxmlformats.org/drawingml/2006/main">
            <a:r>
              <a:t>株式会社TAKISAWA</a:t>
            </a:r>
          </a:p>
          <a:p xmlns:a="http://schemas.openxmlformats.org/drawingml/2006/main">
            <a:r>
              <a:t>ブース E3013</a:t>
            </a:r>
          </a:p>
          <a:p xmlns:a="http://schemas.openxmlformats.org/drawingml/2006/main">
            <a:r>
              <a:t>https://www.jimtof.org/search/jp/ESdetails?e=3dTDRAMwZpM</a:t>
            </a:r>
          </a:p>
          <a:p xmlns:a="http://schemas.openxmlformats.org/drawingml/2006/main">
            <a:r>
              <a:t>出展説明の収集基準日 2026-10-16</a:t>
            </a:r>
          </a:p>
          <a:p xmlns:a="http://schemas.openxmlformats.org/drawingml/2006/main">
            <a:r>
              <a:t/>
            </a:r>
          </a:p>
          <a:p xmlns:a="http://schemas.openxmlformats.org/drawingml/2006/main">
            <a:r>
              <a:t>オートデスク株式会社</a:t>
            </a:r>
          </a:p>
          <a:p xmlns:a="http://schemas.openxmlformats.org/drawingml/2006/main">
            <a:r>
              <a:t>ブース S3019</a:t>
            </a:r>
          </a:p>
          <a:p xmlns:a="http://schemas.openxmlformats.org/drawingml/2006/main">
            <a:r>
              <a:t>https://www.jimtof.org/search/jp/ESdetails?e=Y_kC6hMTghk</a:t>
            </a:r>
          </a:p>
          <a:p xmlns:a="http://schemas.openxmlformats.org/drawingml/2006/main">
            <a:r>
              <a:t>出展説明の収集基準日 2026-10-16</a:t>
            </a:r>
          </a:p>
          <a:p xmlns:a="http://schemas.openxmlformats.org/drawingml/2006/main">
            <a:r>
              <a:t/>
            </a:r>
          </a:p>
          <a:p xmlns:a="http://schemas.openxmlformats.org/drawingml/2006/main">
            <a:r>
              <a:t>株式会社ニコン</a:t>
            </a:r>
          </a:p>
          <a:p xmlns:a="http://schemas.openxmlformats.org/drawingml/2006/main">
            <a:r>
              <a:t>ブース E7001</a:t>
            </a:r>
          </a:p>
          <a:p xmlns:a="http://schemas.openxmlformats.org/drawingml/2006/main">
            <a:r>
              <a:t>https://www.jimtof.org/search/jp/ESdetails?e=lmqsWTyiVAY</a:t>
            </a:r>
          </a:p>
          <a:p xmlns:a="http://schemas.openxmlformats.org/drawingml/2006/main">
            <a:r>
              <a:t>出展説明の収集基準日 2026-10-16</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保存済みの公式出展情報に基づく。情報不足を技術・出展の不在と解釈せず、現地で内容と適用条件を補う。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Q01 / S01</a:t>
            </a:r>
          </a:p>
          <a:p xmlns:a="http://schemas.openxmlformats.org/drawingml/2006/main">
            <a:r>
              <a:t>産総研の公式説明</a:t>
            </a:r>
          </a:p>
          <a:p xmlns:a="http://schemas.openxmlformats.org/drawingml/2006/main">
            <a:r>
              <a:t>産総研 製造AX拠点を始動</a:t>
            </a:r>
          </a:p>
          <a:p xmlns:a="http://schemas.openxmlformats.org/drawingml/2006/main">
            <a:r>
              <a:t>公表日 2026-07-02</a:t>
            </a:r>
          </a:p>
          <a:p xmlns:a="http://schemas.openxmlformats.org/drawingml/2006/main">
            <a:r>
              <a:t>https://www.aist.go.jp/aist_j/news/pr20260702.html</a:t>
            </a:r>
          </a:p>
          <a:p xmlns:a="http://schemas.openxmlformats.org/drawingml/2006/main">
            <a:r>
              <a:t>掲載位置 産総研を核とした製造AX拠点</a:t>
            </a:r>
          </a:p>
          <a:p xmlns:a="http://schemas.openxmlformats.org/drawingml/2006/main">
            <a:r>
              <a:t>文脈の要約 拠点に期待される支援として、取得設計、匿名化・構造化、AI開発を説明する。</a:t>
            </a:r>
          </a:p>
          <a:p xmlns:a="http://schemas.openxmlformats.org/drawingml/2006/main">
            <a:r>
              <a:t>根拠にする論点 データ取得の役割</a:t>
            </a:r>
          </a:p>
          <a:p xmlns:a="http://schemas.openxmlformats.org/drawingml/2006/main">
            <a:r>
              <a:t>この一節からは言えないこと 期待される役割の説明であり、特定の取得技術の性能実証ではない。</a:t>
            </a:r>
          </a:p>
          <a:p xmlns:a="http://schemas.openxmlformats.org/drawingml/2006/main">
            <a:r>
              <a:t>確認 2026-10-22 原文テキストと照合</a:t>
            </a:r>
          </a:p>
          <a:p xmlns:a="http://schemas.openxmlformats.org/drawingml/2006/main">
            <a:r>
              <a:t/>
            </a:r>
          </a:p>
          <a:p xmlns:a="http://schemas.openxmlformats.org/drawingml/2006/main">
            <a:r>
              <a:t>Q02 / S02</a:t>
            </a:r>
          </a:p>
          <a:p xmlns:a="http://schemas.openxmlformats.org/drawingml/2006/main">
            <a:r>
              <a:t>DMG森精機の公式発表</a:t>
            </a:r>
          </a:p>
          <a:p xmlns:a="http://schemas.openxmlformats.org/drawingml/2006/main">
            <a:r>
              <a:t>DMG森精機 GENIAC事業に採択：生産設備データエコシステムと製造フィジカルAI基盤</a:t>
            </a:r>
          </a:p>
          <a:p xmlns:a="http://schemas.openxmlformats.org/drawingml/2006/main">
            <a:r>
              <a:t>公表日 2026-07-06</a:t>
            </a:r>
          </a:p>
          <a:p xmlns:a="http://schemas.openxmlformats.org/drawingml/2006/main">
            <a:r>
              <a:t>https://www.dmgmori.co.jp/corporate/news/2026/20260706_geniac.html</a:t>
            </a:r>
          </a:p>
          <a:p xmlns:a="http://schemas.openxmlformats.org/drawingml/2006/main">
            <a:r>
              <a:t>掲載位置 多目的AI開発基盤の説明</a:t>
            </a:r>
          </a:p>
          <a:p xmlns:a="http://schemas.openxmlformats.org/drawingml/2006/main">
            <a:r>
              <a:t>文脈の要約 異常検知から品質予測・条件最適化、生産セルへ広げる計画の中の表現。</a:t>
            </a:r>
          </a:p>
          <a:p xmlns:a="http://schemas.openxmlformats.org/drawingml/2006/main">
            <a:r>
              <a:t>根拠にする論点 循環する開発戦略</a:t>
            </a:r>
          </a:p>
          <a:p xmlns:a="http://schemas.openxmlformats.org/drawingml/2006/main">
            <a:r>
              <a:t>この一節からは言えないこと 構築を目指す仕組み。既に全用途で循環が成立したという実績ではない。</a:t>
            </a:r>
          </a:p>
          <a:p xmlns:a="http://schemas.openxmlformats.org/drawingml/2006/main">
            <a:r>
              <a:t>確認 2026-10-22 原文テキストと照合</a:t>
            </a:r>
          </a:p>
          <a:p xmlns:a="http://schemas.openxmlformats.org/drawingml/2006/main">
            <a:r>
              <a:t/>
            </a:r>
          </a:p>
          <a:p xmlns:a="http://schemas.openxmlformats.org/drawingml/2006/main">
            <a:r>
              <a:t>Q03 / S03</a:t>
            </a:r>
          </a:p>
          <a:p xmlns:a="http://schemas.openxmlformats.org/drawingml/2006/main">
            <a:r>
              <a:t>WALC社長 櫻井努氏の取材発言</a:t>
            </a:r>
          </a:p>
          <a:p xmlns:a="http://schemas.openxmlformats.org/drawingml/2006/main">
            <a:r>
              <a:t>MONOist DMG森精機が挑む工作機械のフィジカルAI</a:t>
            </a:r>
          </a:p>
          <a:p xmlns:a="http://schemas.openxmlformats.org/drawingml/2006/main">
            <a:r>
              <a:t>公表日 2026-07-08</a:t>
            </a:r>
          </a:p>
          <a:p xmlns:a="http://schemas.openxmlformats.org/drawingml/2006/main">
            <a:r>
              <a:t>https://monoist.itmedia.co.jp/mn/articles/2607/08/news026.html</a:t>
            </a:r>
          </a:p>
          <a:p xmlns:a="http://schemas.openxmlformats.org/drawingml/2006/main">
            <a:r>
              <a:t>掲載位置 最大1kHzの収集周期を説明する段落</a:t>
            </a:r>
          </a:p>
          <a:p xmlns:a="http://schemas.openxmlformats.org/drawingml/2006/main">
            <a:r>
              <a:t>文脈の要約 工具とワークが接する瞬間などを捉えるため、時間分解能と実装負担を検討した説明。</a:t>
            </a:r>
          </a:p>
          <a:p xmlns:a="http://schemas.openxmlformats.org/drawingml/2006/main">
            <a:r>
              <a:t>根拠にする論点 現象と測定周期</a:t>
            </a:r>
          </a:p>
          <a:p xmlns:a="http://schemas.openxmlformats.org/drawingml/2006/main">
            <a:r>
              <a:t>この一節からは言えないこと 短い条件節の抜粋。あらゆる加工現象に1kHzで十分という証拠にはしない。</a:t>
            </a:r>
          </a:p>
          <a:p xmlns:a="http://schemas.openxmlformats.org/drawingml/2006/main">
            <a:r>
              <a:t>確認 2026-10-22 原文テキストと照合</a:t>
            </a:r>
          </a:p>
          <a:p xmlns:a="http://schemas.openxmlformats.org/drawingml/2006/main">
            <a:r>
              <a:t/>
            </a:r>
          </a:p>
          <a:p xmlns:a="http://schemas.openxmlformats.org/drawingml/2006/main">
            <a:r>
              <a:t>Q04 / S04</a:t>
            </a:r>
          </a:p>
          <a:p xmlns:a="http://schemas.openxmlformats.org/drawingml/2006/main">
            <a:r>
              <a:t>ABEJAの公式説明</a:t>
            </a:r>
          </a:p>
          <a:p xmlns:a="http://schemas.openxmlformats.org/drawingml/2006/main">
            <a:r>
              <a:t>ABEJA マザックと製造現場のフィジカルAI実装に向けた業務連携</a:t>
            </a:r>
          </a:p>
          <a:p xmlns:a="http://schemas.openxmlformats.org/drawingml/2006/main">
            <a:r>
              <a:t>公表日 2026-10-16</a:t>
            </a:r>
          </a:p>
          <a:p xmlns:a="http://schemas.openxmlformats.org/drawingml/2006/main">
            <a:r>
              <a:t>https://www.abejainc.com/news/20261016/2</a:t>
            </a:r>
          </a:p>
          <a:p xmlns:a="http://schemas.openxmlformats.org/drawingml/2006/main">
            <a:r>
              <a:t>掲載位置 背景・製造業の課題</a:t>
            </a:r>
          </a:p>
          <a:p xmlns:a="http://schemas.openxmlformats.org/drawingml/2006/main">
            <a:r>
              <a:t>文脈の要約 工程設計・計画・段取りが熟練者へ依存する背景を説明する。</a:t>
            </a:r>
          </a:p>
          <a:p xmlns:a="http://schemas.openxmlformats.org/drawingml/2006/main">
            <a:r>
              <a:t>根拠にする論点 顧客ニーズ</a:t>
            </a:r>
          </a:p>
          <a:p xmlns:a="http://schemas.openxmlformats.org/drawingml/2006/main">
            <a:r>
              <a:t>この一節からは言えないこと 共同開発の背景認識。業界全体の導入率や定量的な需要規模ではない。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Q05 / S05</a:t>
            </a:r>
          </a:p>
          <a:p xmlns:a="http://schemas.openxmlformats.org/drawingml/2006/main">
            <a:r>
              <a:t>MONOistの記者説明。マザック共同開発を取材</a:t>
            </a:r>
          </a:p>
          <a:p xmlns:a="http://schemas.openxmlformats.org/drawingml/2006/main">
            <a:r>
              <a:t>MONOist 加工の工程設計をAIエージェントで自動化</a:t>
            </a:r>
          </a:p>
          <a:p xmlns:a="http://schemas.openxmlformats.org/drawingml/2006/main">
            <a:r>
              <a:t>公表日 2026-10-19</a:t>
            </a:r>
          </a:p>
          <a:p xmlns:a="http://schemas.openxmlformats.org/drawingml/2006/main">
            <a:r>
              <a:t>https://monoist.itmedia.co.jp/mn/articles/2610/19/news039_2.html</a:t>
            </a:r>
          </a:p>
          <a:p xmlns:a="http://schemas.openxmlformats.org/drawingml/2006/main">
            <a:r>
              <a:t>掲載位置 後編 MAZATROLとGコードを比較する段落</a:t>
            </a:r>
          </a:p>
          <a:p xmlns:a="http://schemas.openxmlformats.org/drawingml/2006/main">
            <a:r>
              <a:t>文脈の要約 対話プログラムの加工意図と判断結果を学習する方式を説明する。</a:t>
            </a:r>
          </a:p>
          <a:p xmlns:a="http://schemas.openxmlformats.org/drawingml/2006/main">
            <a:r>
              <a:t>根拠にする論点 加工意図の形式知化</a:t>
            </a:r>
          </a:p>
          <a:p xmlns:a="http://schemas.openxmlformats.org/drawingml/2006/main">
            <a:r>
              <a:t>この一節からは言えないこと 記者の説明からの抜粋で、発言者の直接発言ではない。</a:t>
            </a:r>
          </a:p>
          <a:p xmlns:a="http://schemas.openxmlformats.org/drawingml/2006/main">
            <a:r>
              <a:t>確認 2026-10-22 原文テキストと照合</a:t>
            </a:r>
          </a:p>
          <a:p xmlns:a="http://schemas.openxmlformats.org/drawingml/2006/main">
            <a:r>
              <a:t/>
            </a:r>
          </a:p>
          <a:p xmlns:a="http://schemas.openxmlformats.org/drawingml/2006/main">
            <a:r>
              <a:t>Q06 / S06</a:t>
            </a:r>
          </a:p>
          <a:p xmlns:a="http://schemas.openxmlformats.org/drawingml/2006/main">
            <a:r>
              <a:t>日立・ファナックの共同発表をファナックが掲載</a:t>
            </a:r>
          </a:p>
          <a:p xmlns:a="http://schemas.openxmlformats.org/drawingml/2006/main">
            <a:r>
              <a:t>ファナック・日立 フィジカルAI実装の共同事業化に向けた戦略的パートナーシップ</a:t>
            </a:r>
          </a:p>
          <a:p xmlns:a="http://schemas.openxmlformats.org/drawingml/2006/main">
            <a:r>
              <a:t>公表日 2026-09-30</a:t>
            </a:r>
          </a:p>
          <a:p xmlns:a="http://schemas.openxmlformats.org/drawingml/2006/main">
            <a:r>
              <a:t>https://www.fanuc.co.jp/ja/profile/pr/newsrelease/2026/news20260930.html</a:t>
            </a:r>
          </a:p>
          <a:p xmlns:a="http://schemas.openxmlformats.org/drawingml/2006/main">
            <a:r>
              <a:t>掲載位置 提携の説明・カスタマーゼロの段落</a:t>
            </a:r>
          </a:p>
          <a:p xmlns:a="http://schemas.openxmlformats.org/drawingml/2006/main">
            <a:r>
              <a:t>文脈の要約 日立の工場で共同実証し、現場課題へ柔軟に対応する実用化計画の一節。</a:t>
            </a:r>
          </a:p>
          <a:p xmlns:a="http://schemas.openxmlformats.org/drawingml/2006/main">
            <a:r>
              <a:t>根拠にする論点 現場での学習・適応</a:t>
            </a:r>
          </a:p>
          <a:p xmlns:a="http://schemas.openxmlformats.org/drawingml/2006/main">
            <a:r>
              <a:t>この一節からは言えないこと 将来の共同実証・実用化を説明する。全機能の達成実績とはしない。</a:t>
            </a:r>
          </a:p>
          <a:p xmlns:a="http://schemas.openxmlformats.org/drawingml/2006/main">
            <a:r>
              <a:t>確認 2026-10-22 原文テキストと照合</a:t>
            </a:r>
          </a:p>
          <a:p xmlns:a="http://schemas.openxmlformats.org/drawingml/2006/main">
            <a:r>
              <a:t/>
            </a:r>
          </a:p>
          <a:p xmlns:a="http://schemas.openxmlformats.org/drawingml/2006/main">
            <a:r>
              <a:t>Q07 / S07</a:t>
            </a:r>
          </a:p>
          <a:p xmlns:a="http://schemas.openxmlformats.org/drawingml/2006/main">
            <a:r>
              <a:t>ファナック 安部健一郎氏の取材発言</a:t>
            </a:r>
          </a:p>
          <a:p xmlns:a="http://schemas.openxmlformats.org/drawingml/2006/main">
            <a:r>
              <a:t>MONOist ファナックとフィジカルAI、現場主義の開発思想</a:t>
            </a:r>
          </a:p>
          <a:p xmlns:a="http://schemas.openxmlformats.org/drawingml/2006/main">
            <a:r>
              <a:t>公表日 2026-07-02</a:t>
            </a:r>
          </a:p>
          <a:p xmlns:a="http://schemas.openxmlformats.org/drawingml/2006/main">
            <a:r>
              <a:t>https://monoist.itmedia.co.jp/mn/articles/2607/02/news043.html</a:t>
            </a:r>
          </a:p>
          <a:p xmlns:a="http://schemas.openxmlformats.org/drawingml/2006/main">
            <a:r>
              <a:t>掲載位置 1頁 やりたいことの結果がフィジカルAIだった</a:t>
            </a:r>
          </a:p>
          <a:p xmlns:a="http://schemas.openxmlformats.org/drawingml/2006/main">
            <a:r>
              <a:t>文脈の要約 決められた反復動作に対し、環境を確認してAIの演算を用いるソリューションを説明する。</a:t>
            </a:r>
          </a:p>
          <a:p xmlns:a="http://schemas.openxmlformats.org/drawingml/2006/main">
            <a:r>
              <a:t>根拠にする論点 フィジカルAIの捉え方</a:t>
            </a:r>
          </a:p>
          <a:p xmlns:a="http://schemas.openxmlformats.org/drawingml/2006/main">
            <a:r>
              <a:t>この一節からは言えないこと 正式な業界規格の定義ではない。どの変化にどこまで対応できるかは個別に調べる。</a:t>
            </a:r>
          </a:p>
          <a:p xmlns:a="http://schemas.openxmlformats.org/drawingml/2006/main">
            <a:r>
              <a:t>確認 2026-10-22 原文テキストと照合</a:t>
            </a:r>
          </a:p>
          <a:p xmlns:a="http://schemas.openxmlformats.org/drawingml/2006/main">
            <a:r>
              <a:t/>
            </a:r>
          </a:p>
          <a:p xmlns:a="http://schemas.openxmlformats.org/drawingml/2006/main">
            <a:r>
              <a:t>Q08 / S08</a:t>
            </a:r>
          </a:p>
          <a:p xmlns:a="http://schemas.openxmlformats.org/drawingml/2006/main">
            <a:r>
              <a:t>ファナックの公式発表</a:t>
            </a:r>
          </a:p>
          <a:p xmlns:a="http://schemas.openxmlformats.org/drawingml/2006/main">
            <a:r>
              <a:t>ファナック Googleの技術を活用したAIエージェントがロボットを操る</a:t>
            </a:r>
          </a:p>
          <a:p xmlns:a="http://schemas.openxmlformats.org/drawingml/2006/main">
            <a:r>
              <a:t>公表日 2026-05-13</a:t>
            </a:r>
          </a:p>
          <a:p xmlns:a="http://schemas.openxmlformats.org/drawingml/2006/main">
            <a:r>
              <a:t>https://www.fanuc.co.jp/ja/profile/pr/newsrelease/2026/news20260513.html</a:t>
            </a:r>
          </a:p>
          <a:p xmlns:a="http://schemas.openxmlformats.org/drawingml/2006/main">
            <a:r>
              <a:t>掲載位置 Intrinsic・Flowstateとの連携を説明する段落</a:t>
            </a:r>
          </a:p>
          <a:p xmlns:a="http://schemas.openxmlformats.org/drawingml/2006/main">
            <a:r>
              <a:t>文脈の要約 オープンな開発環境とロボット制御の連携により構築を容易にする説明。</a:t>
            </a:r>
          </a:p>
          <a:p xmlns:a="http://schemas.openxmlformats.org/drawingml/2006/main">
            <a:r>
              <a:t>根拠にする論点 外部AIを取り込む基盤</a:t>
            </a:r>
          </a:p>
          <a:p xmlns:a="http://schemas.openxmlformats.org/drawingml/2006/main">
            <a:r>
              <a:t>この一節からは言えないこと 適応の具体的条件や成功率をこの表現だけで認定しない。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Q09 / S09</a:t>
            </a:r>
          </a:p>
          <a:p xmlns:a="http://schemas.openxmlformats.org/drawingml/2006/main">
            <a:r>
              <a:t>ファナックの公式説明</a:t>
            </a:r>
          </a:p>
          <a:p xmlns:a="http://schemas.openxmlformats.org/drawingml/2006/main">
            <a:r>
              <a:t>ファナック・富士通 フィジカルAIの社会実装に向けた事業検討</a:t>
            </a:r>
          </a:p>
          <a:p xmlns:a="http://schemas.openxmlformats.org/drawingml/2006/main">
            <a:r>
              <a:t>公表日 2026-07-16</a:t>
            </a:r>
          </a:p>
          <a:p xmlns:a="http://schemas.openxmlformats.org/drawingml/2006/main">
            <a:r>
              <a:t>https://www.fanuc.co.jp/ja/profile/pr/newsrelease/2026/news20260716.html</a:t>
            </a:r>
          </a:p>
          <a:p xmlns:a="http://schemas.openxmlformats.org/drawingml/2006/main">
            <a:r>
              <a:t>掲載位置 背景・フィジカルAIを説明する段落</a:t>
            </a:r>
          </a:p>
          <a:p xmlns:a="http://schemas.openxmlformats.org/drawingml/2006/main">
            <a:r>
              <a:t>文脈の要約 設備が状況を把握して判断・実行することを説明する。</a:t>
            </a:r>
          </a:p>
          <a:p xmlns:a="http://schemas.openxmlformats.org/drawingml/2006/main">
            <a:r>
              <a:t>根拠にする論点 フィジカルAIの捉え方</a:t>
            </a:r>
          </a:p>
          <a:p xmlns:a="http://schemas.openxmlformats.org/drawingml/2006/main">
            <a:r>
              <a:t>この一節からは言えないこと 最適性の数学的保証や特定製品の性能を示す表現ではない。</a:t>
            </a:r>
          </a:p>
          <a:p xmlns:a="http://schemas.openxmlformats.org/drawingml/2006/main">
            <a:r>
              <a:t>確認 2026-10-22 原文テキストと照合</a:t>
            </a:r>
          </a:p>
          <a:p xmlns:a="http://schemas.openxmlformats.org/drawingml/2006/main">
            <a:r>
              <a:t/>
            </a:r>
          </a:p>
          <a:p xmlns:a="http://schemas.openxmlformats.org/drawingml/2006/main">
            <a:r>
              <a:t>Q10 / S10</a:t>
            </a:r>
          </a:p>
          <a:p xmlns:a="http://schemas.openxmlformats.org/drawingml/2006/main">
            <a:r>
              <a:t>NECの公式説明</a:t>
            </a:r>
          </a:p>
          <a:p xmlns:a="http://schemas.openxmlformats.org/drawingml/2006/main">
            <a:r>
              <a:t>NEC AIネイティブに向けて進化する製造業変革コンセプトMX</a:t>
            </a:r>
          </a:p>
          <a:p xmlns:a="http://schemas.openxmlformats.org/drawingml/2006/main">
            <a:r>
              <a:t>公表日 2026-08-19</a:t>
            </a:r>
          </a:p>
          <a:p xmlns:a="http://schemas.openxmlformats.org/drawingml/2006/main">
            <a:r>
              <a:t>https://jpn.nec.com/manufacture/monozukuri/iot_mono/2026-08/02.html</a:t>
            </a:r>
          </a:p>
          <a:p xmlns:a="http://schemas.openxmlformats.org/drawingml/2006/main">
            <a:r>
              <a:t>掲載位置 サプライチェーンの説明</a:t>
            </a:r>
          </a:p>
          <a:p xmlns:a="http://schemas.openxmlformats.org/drawingml/2006/main">
            <a:r>
              <a:t>文脈の要約 変動を受けて代替案や調整を行う構想の中の一節。</a:t>
            </a:r>
          </a:p>
          <a:p xmlns:a="http://schemas.openxmlformats.org/drawingml/2006/main">
            <a:r>
              <a:t>根拠にする論点 工程・業務をまたぐ最適化</a:t>
            </a:r>
          </a:p>
          <a:p xmlns:a="http://schemas.openxmlformats.org/drawingml/2006/main">
            <a:r>
              <a:t>この一節からは言えないこと 後続の効果説明を含まない部分引用。自律交渉が全て製品化済みとはしない。</a:t>
            </a:r>
          </a:p>
          <a:p xmlns:a="http://schemas.openxmlformats.org/drawingml/2006/main">
            <a:r>
              <a:t>確認 2026-10-22 原文テキストと照合</a:t>
            </a:r>
          </a:p>
          <a:p xmlns:a="http://schemas.openxmlformats.org/drawingml/2006/main">
            <a:r>
              <a:t/>
            </a:r>
          </a:p>
          <a:p xmlns:a="http://schemas.openxmlformats.org/drawingml/2006/main">
            <a:r>
              <a:t>Q11 / S11</a:t>
            </a:r>
          </a:p>
          <a:p xmlns:a="http://schemas.openxmlformats.org/drawingml/2006/main">
            <a:r>
              <a:t>Siemensの公式ブログ</a:t>
            </a:r>
          </a:p>
          <a:p xmlns:a="http://schemas.openxmlformats.org/drawingml/2006/main">
            <a:r>
              <a:t>Siemens From agile to autonomous: adaptive production</a:t>
            </a:r>
          </a:p>
          <a:p xmlns:a="http://schemas.openxmlformats.org/drawingml/2006/main">
            <a:r>
              <a:t>公表日 2026-07-08</a:t>
            </a:r>
          </a:p>
          <a:p xmlns:a="http://schemas.openxmlformats.org/drawingml/2006/main">
            <a:r>
              <a:t>https://blogs.sw.siemens.com/nx-manufacturing/from-agile-to-autonomous-building-adaptive-production-with-digital-twins-and-industrial-ai/</a:t>
            </a:r>
          </a:p>
          <a:p xmlns:a="http://schemas.openxmlformats.org/drawingml/2006/main">
            <a:r>
              <a:t>掲載位置 Three principlesの1項目目</a:t>
            </a:r>
          </a:p>
          <a:p xmlns:a="http://schemas.openxmlformats.org/drawingml/2006/main">
            <a:r>
              <a:t>文脈の要約 過去のスナップショットだけでなく現在の状態を使う方針。</a:t>
            </a:r>
          </a:p>
          <a:p xmlns:a="http://schemas.openxmlformats.org/drawingml/2006/main">
            <a:r>
              <a:t>根拠にする論点 稼働中の状態に基づく判断</a:t>
            </a:r>
          </a:p>
          <a:p xmlns:a="http://schemas.openxmlformats.org/drawingml/2006/main">
            <a:r>
              <a:t>この一節からは言えないこと 製造AIに求める原則。特定の更新周期や全システムでの実現実績ではない。</a:t>
            </a:r>
          </a:p>
          <a:p xmlns:a="http://schemas.openxmlformats.org/drawingml/2006/main">
            <a:r>
              <a:t>確認 2026-10-22 原文テキストと照合</a:t>
            </a:r>
          </a:p>
          <a:p xmlns:a="http://schemas.openxmlformats.org/drawingml/2006/main">
            <a:r>
              <a:t/>
            </a:r>
          </a:p>
          <a:p xmlns:a="http://schemas.openxmlformats.org/drawingml/2006/main">
            <a:r>
              <a:t>Q12 / S12</a:t>
            </a:r>
          </a:p>
          <a:p xmlns:a="http://schemas.openxmlformats.org/drawingml/2006/main">
            <a:r>
              <a:t>Siemensの公式発表</a:t>
            </a:r>
          </a:p>
          <a:p xmlns:a="http://schemas.openxmlformats.org/drawingml/2006/main">
            <a:r>
              <a:t>Siemens CES 2026：産業用AI革命を加速するテクノロジー</a:t>
            </a:r>
          </a:p>
          <a:p xmlns:a="http://schemas.openxmlformats.org/drawingml/2006/main">
            <a:r>
              <a:t>公表日 2026-01-06</a:t>
            </a:r>
          </a:p>
          <a:p xmlns:a="http://schemas.openxmlformats.org/drawingml/2006/main">
            <a:r>
              <a:t>https://press.siemens.com/jp/ja/pressrelease/pr-20260106-1</a:t>
            </a:r>
          </a:p>
          <a:p xmlns:a="http://schemas.openxmlformats.org/drawingml/2006/main">
            <a:r>
              <a:t>掲載位置 Digital Twin Composerの説明</a:t>
            </a:r>
          </a:p>
          <a:p xmlns:a="http://schemas.openxmlformats.org/drawingml/2006/main">
            <a:r>
              <a:t>文脈の要約 仮想モデルと実時点のデータを組み合わせる製品説明の一節。</a:t>
            </a:r>
          </a:p>
          <a:p xmlns:a="http://schemas.openxmlformats.org/drawingml/2006/main">
            <a:r>
              <a:t>根拠にする論点 シミュレーションと判断</a:t>
            </a:r>
          </a:p>
          <a:p xmlns:a="http://schemas.openxmlformats.org/drawingml/2006/main">
            <a:r>
              <a:t>この一節からは言えないこと 製品の訴求。全加工現象の高精度再現を証明する文ではない。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Q13 / S13</a:t>
            </a:r>
          </a:p>
          <a:p xmlns:a="http://schemas.openxmlformats.org/drawingml/2006/main">
            <a:r>
              <a:t>マイクロソフト 鈴木靖隆氏の対談発言（東芝の媒体に掲載）</a:t>
            </a:r>
          </a:p>
          <a:p xmlns:a="http://schemas.openxmlformats.org/drawingml/2006/main">
            <a:r>
              <a:t>東芝／東芝・Microsoftの対談 製造現場の知見を生かしてAIエージェントを活用するには（2/2）</a:t>
            </a:r>
          </a:p>
          <a:p xmlns:a="http://schemas.openxmlformats.org/drawingml/2006/main">
            <a:r>
              <a:t>公表日 2026-03-06</a:t>
            </a:r>
          </a:p>
          <a:p xmlns:a="http://schemas.openxmlformats.org/drawingml/2006/main">
            <a:r>
              <a:t>https://www.global.toshiba/jp/company/digitalsolution/articles/digicon/2026/82-2.html</a:t>
            </a:r>
          </a:p>
          <a:p xmlns:a="http://schemas.openxmlformats.org/drawingml/2006/main">
            <a:r>
              <a:t>掲載位置 4 AIのパフォーマンスを十分に発揮させるために何をすべきか</a:t>
            </a:r>
          </a:p>
          <a:p xmlns:a="http://schemas.openxmlformats.org/drawingml/2006/main">
            <a:r>
              <a:t>文脈の要約 不良の起因が材料・設備・作業のどれかを考える時、周辺情報も必要という文脈。</a:t>
            </a:r>
          </a:p>
          <a:p xmlns:a="http://schemas.openxmlformats.org/drawingml/2006/main">
            <a:r>
              <a:t>根拠にする論点 判断の文脈となるデータ</a:t>
            </a:r>
          </a:p>
          <a:p xmlns:a="http://schemas.openxmlformats.org/drawingml/2006/main">
            <a:r>
              <a:t>この一節からは言えないこと 全ての診断で人の報告が必須だと一般化しない。</a:t>
            </a:r>
          </a:p>
          <a:p xmlns:a="http://schemas.openxmlformats.org/drawingml/2006/main">
            <a:r>
              <a:t>確認 2026-10-22 原文テキストと照合</a:t>
            </a:r>
          </a:p>
          <a:p xmlns:a="http://schemas.openxmlformats.org/drawingml/2006/main">
            <a:r>
              <a:t/>
            </a:r>
          </a:p>
          <a:p xmlns:a="http://schemas.openxmlformats.org/drawingml/2006/main">
            <a:r>
              <a:t>Q14 / S14</a:t>
            </a:r>
          </a:p>
          <a:p xmlns:a="http://schemas.openxmlformats.org/drawingml/2006/main">
            <a:r>
              <a:t>Hexagon公式ブログの執筆者による説明</a:t>
            </a:r>
          </a:p>
          <a:p xmlns:a="http://schemas.openxmlformats.org/drawingml/2006/main">
            <a:r>
              <a:t>Hexagon／製品技術担当者 The next step in CAM isn’t new. It’s already here.</a:t>
            </a:r>
          </a:p>
          <a:p xmlns:a="http://schemas.openxmlformats.org/drawingml/2006/main">
            <a:r>
              <a:t>公表日 2026-04-29</a:t>
            </a:r>
          </a:p>
          <a:p xmlns:a="http://schemas.openxmlformats.org/drawingml/2006/main">
            <a:r>
              <a:t>https://blog.manufacturing.hexagon.com/advanced-manufacturing/cam-software/the-next-step-in-cam-isnt-new-its-already-here/</a:t>
            </a:r>
          </a:p>
          <a:p xmlns:a="http://schemas.openxmlformats.org/drawingml/2006/main">
            <a:r>
              <a:t>掲載位置 熟練者の経験が個人に残る問題を説明する段落</a:t>
            </a:r>
          </a:p>
          <a:p xmlns:a="http://schemas.openxmlformats.org/drawingml/2006/main">
            <a:r>
              <a:t>文脈の要約 CAMの機能だけでなく、過去の考え方を次のプログラミングで使う課題を述べる。</a:t>
            </a:r>
          </a:p>
          <a:p xmlns:a="http://schemas.openxmlformats.org/drawingml/2006/main">
            <a:r>
              <a:t>根拠にする論点 判断理由の再利用</a:t>
            </a:r>
          </a:p>
          <a:p xmlns:a="http://schemas.openxmlformats.org/drawingml/2006/main">
            <a:r>
              <a:t>この一節からは言えないこと CAM一般への問題提起。全てのソフトに履歴保存がないという仕様確認ではない。</a:t>
            </a:r>
          </a:p>
          <a:p xmlns:a="http://schemas.openxmlformats.org/drawingml/2006/main">
            <a:r>
              <a:t>確認 2026-10-22 原文テキストと照合</a:t>
            </a:r>
          </a:p>
          <a:p xmlns:a="http://schemas.openxmlformats.org/drawingml/2006/main">
            <a:r>
              <a:t/>
            </a:r>
          </a:p>
          <a:p xmlns:a="http://schemas.openxmlformats.org/drawingml/2006/main">
            <a:r>
              <a:t>Q15 / S15</a:t>
            </a:r>
          </a:p>
          <a:p xmlns:a="http://schemas.openxmlformats.org/drawingml/2006/main">
            <a:r>
              <a:t>Hexagon公式ブログ Ryan Pembroke氏</a:t>
            </a:r>
          </a:p>
          <a:p xmlns:a="http://schemas.openxmlformats.org/drawingml/2006/main">
            <a:r>
              <a:t>Hexagon／製品担当者 Tailored vs Cloud AI: CAM automation path</a:t>
            </a:r>
          </a:p>
          <a:p xmlns:a="http://schemas.openxmlformats.org/drawingml/2006/main">
            <a:r>
              <a:t>公表日 2025-10-01</a:t>
            </a:r>
          </a:p>
          <a:p xmlns:a="http://schemas.openxmlformats.org/drawingml/2006/main">
            <a:r>
              <a:t>https://blog.manufacturing.hexagon.com/advanced-manufacturing/cam-software/tailored-vs-cloud-ai-choosing-the-right-cam-automation-path/</a:t>
            </a:r>
          </a:p>
          <a:p xmlns:a="http://schemas.openxmlformats.org/drawingml/2006/main">
            <a:r>
              <a:t>掲載位置 Cloud-based AI solutions</a:t>
            </a:r>
          </a:p>
          <a:p xmlns:a="http://schemas.openxmlformats.org/drawingml/2006/main">
            <a:r>
              <a:t>文脈の要約 標準的な反復工程の自動化と、変化する案件向けの学習活用を比較する。</a:t>
            </a:r>
          </a:p>
          <a:p xmlns:a="http://schemas.openxmlformats.org/drawingml/2006/main">
            <a:r>
              <a:t>根拠にする論点 生産条件に応じた方式選択</a:t>
            </a:r>
          </a:p>
          <a:p xmlns:a="http://schemas.openxmlformats.org/drawingml/2006/main">
            <a:r>
              <a:t>この一節からは言えないこと 同社の製品説明。任意の未知工程へ無調整で適用できるという意味ではない。</a:t>
            </a:r>
          </a:p>
          <a:p xmlns:a="http://schemas.openxmlformats.org/drawingml/2006/main">
            <a:r>
              <a:t>確認 2026-10-22 原文テキストと照合</a:t>
            </a:r>
          </a:p>
          <a:p xmlns:a="http://schemas.openxmlformats.org/drawingml/2006/main">
            <a:r>
              <a:t/>
            </a:r>
          </a:p>
          <a:p xmlns:a="http://schemas.openxmlformats.org/drawingml/2006/main">
            <a:r>
              <a:t>Q16 / S16</a:t>
            </a:r>
          </a:p>
          <a:p xmlns:a="http://schemas.openxmlformats.org/drawingml/2006/main">
            <a:r>
              <a:t>umatiの公式説明</a:t>
            </a:r>
          </a:p>
          <a:p xmlns:a="http://schemas.openxmlformats.org/drawingml/2006/main">
            <a:r>
              <a:t>umati About: vision, promise, mission</a:t>
            </a:r>
          </a:p>
          <a:p xmlns:a="http://schemas.openxmlformats.org/drawingml/2006/main">
            <a:r>
              <a:t>公表日 </a:t>
            </a:r>
          </a:p>
          <a:p xmlns:a="http://schemas.openxmlformats.org/drawingml/2006/main">
            <a:r>
              <a:t>https://umati.org/about/</a:t>
            </a:r>
          </a:p>
          <a:p xmlns:a="http://schemas.openxmlformats.org/drawingml/2006/main">
            <a:r>
              <a:t>掲載位置 the umati promise</a:t>
            </a:r>
          </a:p>
          <a:p xmlns:a="http://schemas.openxmlformats.org/drawingml/2006/main">
            <a:r>
              <a:t>文脈の要約 接続に加え、意味、通信要件、適合性を揃える活動。</a:t>
            </a:r>
          </a:p>
          <a:p xmlns:a="http://schemas.openxmlformats.org/drawingml/2006/main">
            <a:r>
              <a:t>根拠にする論点 データの意味の共通化</a:t>
            </a:r>
          </a:p>
          <a:p xmlns:a="http://schemas.openxmlformats.org/drawingml/2006/main">
            <a:r>
              <a:t>この一節からは言えないこと 引用は箇条書き中の名詞句。加工意図や全品質データまで標準化済みとはしない。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Q17 / S17</a:t>
            </a:r>
          </a:p>
          <a:p xmlns:a="http://schemas.openxmlformats.org/drawingml/2006/main">
            <a:r>
              <a:t>山善の解説記事の見出し</a:t>
            </a:r>
          </a:p>
          <a:p xmlns:a="http://schemas.openxmlformats.org/drawingml/2006/main">
            <a:r>
              <a:t>山善・ものづくり研究所 EMO2025から考える技術トレンドとJIMTOF2026の注目点</a:t>
            </a:r>
          </a:p>
          <a:p xmlns:a="http://schemas.openxmlformats.org/drawingml/2006/main">
            <a:r>
              <a:t>公表日 2026-02-19</a:t>
            </a:r>
          </a:p>
          <a:p xmlns:a="http://schemas.openxmlformats.org/drawingml/2006/main">
            <a:r>
              <a:t>https://monoken.yamazen.co.jp/blog/articles/jimtof/emo-hannover2025-report</a:t>
            </a:r>
          </a:p>
          <a:p xmlns:a="http://schemas.openxmlformats.org/drawingml/2006/main">
            <a:r>
              <a:t>掲載位置 注目①の見出し</a:t>
            </a:r>
          </a:p>
          <a:p xmlns:a="http://schemas.openxmlformats.org/drawingml/2006/main">
            <a:r>
              <a:t>文脈の要約 段取り・搬送・検査・人の動きまで含める着眼点。</a:t>
            </a:r>
          </a:p>
          <a:p xmlns:a="http://schemas.openxmlformats.org/drawingml/2006/main">
            <a:r>
              <a:t>根拠にする論点 工程全体を見る視点</a:t>
            </a:r>
          </a:p>
          <a:p xmlns:a="http://schemas.openxmlformats.org/drawingml/2006/main">
            <a:r>
              <a:t>この一節からは言えないこと 筆者の展示会解説。業界全体の統計的実証ではない。</a:t>
            </a:r>
          </a:p>
          <a:p xmlns:a="http://schemas.openxmlformats.org/drawingml/2006/main">
            <a:r>
              <a:t>確認 2026-10-22 原文テキストと照合</a:t>
            </a:r>
          </a:p>
          <a:p xmlns:a="http://schemas.openxmlformats.org/drawingml/2006/main">
            <a:r>
              <a:t/>
            </a:r>
          </a:p>
          <a:p xmlns:a="http://schemas.openxmlformats.org/drawingml/2006/main">
            <a:r>
              <a:t>Q18 / S18</a:t>
            </a:r>
          </a:p>
          <a:p xmlns:a="http://schemas.openxmlformats.org/drawingml/2006/main">
            <a:r>
              <a:t>Mono Que編集部の説明</a:t>
            </a:r>
          </a:p>
          <a:p xmlns:a="http://schemas.openxmlformats.org/drawingml/2006/main">
            <a:r>
              <a:t>Mono Que／日本物流新聞 JIMTOF2026：注目の出展内容を速報＆フカボリ</a:t>
            </a:r>
          </a:p>
          <a:p xmlns:a="http://schemas.openxmlformats.org/drawingml/2006/main">
            <a:r>
              <a:t>公表日 2026-09-29（更新2026-10-20）</a:t>
            </a:r>
          </a:p>
          <a:p xmlns:a="http://schemas.openxmlformats.org/drawingml/2006/main">
            <a:r>
              <a:t>https://monoque.jp/feature/contents/f9797930f725f7ac84f44b2030940395c12f5a47/</a:t>
            </a:r>
          </a:p>
          <a:p xmlns:a="http://schemas.openxmlformats.org/drawingml/2006/main">
            <a:r>
              <a:t>掲載位置 総論・展示方向の見通し</a:t>
            </a:r>
          </a:p>
          <a:p xmlns:a="http://schemas.openxmlformats.org/drawingml/2006/main">
            <a:r>
              <a:t>文脈の要約 特定の巨大テーマに一律に寄せず、工程集約や自動化の実利を期待する文脈。</a:t>
            </a:r>
          </a:p>
          <a:p xmlns:a="http://schemas.openxmlformats.org/drawingml/2006/main">
            <a:r>
              <a:t>根拠にする論点 顧客価値を軸にした展示</a:t>
            </a:r>
          </a:p>
          <a:p xmlns:a="http://schemas.openxmlformats.org/drawingml/2006/main">
            <a:r>
              <a:t>この一節からは言えないこと 展示会前の見通し。実際に見た報告ではない。</a:t>
            </a:r>
          </a:p>
          <a:p xmlns:a="http://schemas.openxmlformats.org/drawingml/2006/main">
            <a:r>
              <a:t>確認 2026-10-22 原文テキストと照合</a:t>
            </a:r>
          </a:p>
          <a:p xmlns:a="http://schemas.openxmlformats.org/drawingml/2006/main">
            <a:r>
              <a:t/>
            </a:r>
          </a:p>
          <a:p xmlns:a="http://schemas.openxmlformats.org/drawingml/2006/main">
            <a:r>
              <a:t>Q19 / S19</a:t>
            </a:r>
          </a:p>
          <a:p xmlns:a="http://schemas.openxmlformats.org/drawingml/2006/main">
            <a:r>
              <a:t>日本工作機械輸入協会 会長 金子一彦氏</a:t>
            </a:r>
          </a:p>
          <a:p xmlns:a="http://schemas.openxmlformats.org/drawingml/2006/main">
            <a:r>
              <a:t>日本工作機械輸入協会 JMTIA NEWS 223号：2026年年頭所感</a:t>
            </a:r>
          </a:p>
          <a:p xmlns:a="http://schemas.openxmlformats.org/drawingml/2006/main">
            <a:r>
              <a:t>公表日 2026</a:t>
            </a:r>
          </a:p>
          <a:p xmlns:a="http://schemas.openxmlformats.org/drawingml/2006/main">
            <a:r>
              <a:t>https://www.jmtia.gr.jp/uploads/photos1/286.pdf#page=3</a:t>
            </a:r>
          </a:p>
          <a:p xmlns:a="http://schemas.openxmlformats.org/drawingml/2006/main">
            <a:r>
              <a:t>掲載位置 印刷頁3 年頭所感</a:t>
            </a:r>
          </a:p>
          <a:p xmlns:a="http://schemas.openxmlformats.org/drawingml/2006/main">
            <a:r>
              <a:t>文脈の要約 人を減らすだけでなく、長期の安定性を見るという年頭所感。</a:t>
            </a:r>
          </a:p>
          <a:p xmlns:a="http://schemas.openxmlformats.org/drawingml/2006/main">
            <a:r>
              <a:t>根拠にする論点 自動化の目的</a:t>
            </a:r>
          </a:p>
          <a:p xmlns:a="http://schemas.openxmlformats.org/drawingml/2006/main">
            <a:r>
              <a:t>この一節からは言えないこと 同氏の認識。設備方式別の効果比較の実測値ではない。</a:t>
            </a:r>
          </a:p>
          <a:p xmlns:a="http://schemas.openxmlformats.org/drawingml/2006/main">
            <a:r>
              <a:t>確認 2026-10-22 原文テキストと照合</a:t>
            </a:r>
          </a:p>
          <a:p xmlns:a="http://schemas.openxmlformats.org/drawingml/2006/main">
            <a:r>
              <a:t/>
            </a:r>
          </a:p>
          <a:p xmlns:a="http://schemas.openxmlformats.org/drawingml/2006/main">
            <a:r>
              <a:t>Q20 / S20</a:t>
            </a:r>
          </a:p>
          <a:p xmlns:a="http://schemas.openxmlformats.org/drawingml/2006/main">
            <a:r>
              <a:t>日本総研の提言</a:t>
            </a:r>
          </a:p>
          <a:p xmlns:a="http://schemas.openxmlformats.org/drawingml/2006/main">
            <a:r>
              <a:t>日本総研 フィジカルAIを日本の勝ち筋にするために</a:t>
            </a:r>
          </a:p>
          <a:p xmlns:a="http://schemas.openxmlformats.org/drawingml/2006/main">
            <a:r>
              <a:t>公表日 2026-08-14</a:t>
            </a:r>
          </a:p>
          <a:p xmlns:a="http://schemas.openxmlformats.org/drawingml/2006/main">
            <a:r>
              <a:t>https://www.jri.co.jp/file/report/researchfocus/pdf/16904.pdf#page=26</a:t>
            </a:r>
          </a:p>
          <a:p xmlns:a="http://schemas.openxmlformats.org/drawingml/2006/main">
            <a:r>
              <a:t>掲載位置 本文PDF 印刷頁25 企業の対応策・供給側</a:t>
            </a:r>
          </a:p>
          <a:p xmlns:a="http://schemas.openxmlformats.org/drawingml/2006/main">
            <a:r>
              <a:t>文脈の要約 顧客課題への導入と運用データによる改良を結び付ける提言の一項目。</a:t>
            </a:r>
          </a:p>
          <a:p xmlns:a="http://schemas.openxmlformats.org/drawingml/2006/main">
            <a:r>
              <a:t>根拠にする論点 サービスとデータの循環</a:t>
            </a:r>
          </a:p>
          <a:p xmlns:a="http://schemas.openxmlformats.org/drawingml/2006/main">
            <a:r>
              <a:t>この一節からは言えないこと 提言であり、特定企業が達成した成果ではない。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Q21 / S21</a:t>
            </a:r>
          </a:p>
          <a:p xmlns:a="http://schemas.openxmlformats.org/drawingml/2006/main">
            <a:r>
              <a:t>KPMGの解説</a:t>
            </a:r>
          </a:p>
          <a:p xmlns:a="http://schemas.openxmlformats.org/drawingml/2006/main">
            <a:r>
              <a:t>KPMGコンサルティング フィジカルAIで変わるロボティクスの競争条件</a:t>
            </a:r>
          </a:p>
          <a:p xmlns:a="http://schemas.openxmlformats.org/drawingml/2006/main">
            <a:r>
              <a:t>公表日 2026-08-18</a:t>
            </a:r>
          </a:p>
          <a:p xmlns:a="http://schemas.openxmlformats.org/drawingml/2006/main">
            <a:r>
              <a:t>https://kpmg.com/jp/ja/insights/2026/08/ai-emergingtech-10.html</a:t>
            </a:r>
          </a:p>
          <a:p xmlns:a="http://schemas.openxmlformats.org/drawingml/2006/main">
            <a:r>
              <a:t>掲載位置 1 二つのループで構成されるフィジカルAI</a:t>
            </a:r>
          </a:p>
          <a:p xmlns:a="http://schemas.openxmlformats.org/drawingml/2006/main">
            <a:r>
              <a:t>文脈の要約 事前に設計した手順と対比し、実行のループとモデル更新を分けて説明する。</a:t>
            </a:r>
          </a:p>
          <a:p xmlns:a="http://schemas.openxmlformats.org/drawingml/2006/main">
            <a:r>
              <a:t>根拠にする論点 変化に対応するフィジカルAI</a:t>
            </a:r>
          </a:p>
          <a:p xmlns:a="http://schemas.openxmlformats.org/drawingml/2006/main">
            <a:r>
              <a:t>この一節からは言えないこと KPMGの整理。一般規格ではなく、本調査の作業定義を支える一つの見解。</a:t>
            </a:r>
          </a:p>
          <a:p xmlns:a="http://schemas.openxmlformats.org/drawingml/2006/main">
            <a:r>
              <a:t>確認 2026-10-22 原文テキストと照合</a:t>
            </a:r>
          </a:p>
          <a:p xmlns:a="http://schemas.openxmlformats.org/drawingml/2006/main">
            <a:r>
              <a:t/>
            </a:r>
          </a:p>
          <a:p xmlns:a="http://schemas.openxmlformats.org/drawingml/2006/main">
            <a:r>
              <a:t>Q22 / S22</a:t>
            </a:r>
          </a:p>
          <a:p xmlns:a="http://schemas.openxmlformats.org/drawingml/2006/main">
            <a:r>
              <a:t>オークマ公式JIMTOF2026特設ページ</a:t>
            </a:r>
          </a:p>
          <a:p xmlns:a="http://schemas.openxmlformats.org/drawingml/2006/main">
            <a:r>
              <a:t>オークマ JIMTOF2026特設サイト</a:t>
            </a:r>
          </a:p>
          <a:p xmlns:a="http://schemas.openxmlformats.org/drawingml/2006/main">
            <a:r>
              <a:t>公表日 </a:t>
            </a:r>
          </a:p>
          <a:p xmlns:a="http://schemas.openxmlformats.org/drawingml/2006/main">
            <a:r>
              <a:t>https://www.okuma.co.jp/english/show/jimtof/2026/</a:t>
            </a:r>
          </a:p>
          <a:p xmlns:a="http://schemas.openxmlformats.org/drawingml/2006/main">
            <a:r>
              <a:t>掲載位置 MU-350V + AWCの説明</a:t>
            </a:r>
          </a:p>
          <a:p xmlns:a="http://schemas.openxmlformats.org/drawingml/2006/main">
            <a:r>
              <a:t>文脈の要約 自動ワーク交換を伴う展示予定の訴求。</a:t>
            </a:r>
          </a:p>
          <a:p xmlns:a="http://schemas.openxmlformats.org/drawingml/2006/main">
            <a:r>
              <a:t>根拠にする論点 多品種少量への自動化</a:t>
            </a:r>
          </a:p>
          <a:p xmlns:a="http://schemas.openxmlformats.org/drawingml/2006/main">
            <a:r>
              <a:t>この一節からは言えないこと AI使用や未知対象への適応の証拠ではない。</a:t>
            </a:r>
          </a:p>
          <a:p xmlns:a="http://schemas.openxmlformats.org/drawingml/2006/main">
            <a:r>
              <a:t>確認 2026-10-22 原文テキストと照合</a:t>
            </a:r>
          </a:p>
          <a:p xmlns:a="http://schemas.openxmlformats.org/drawingml/2006/main">
            <a:r>
              <a:t/>
            </a:r>
          </a:p>
          <a:p xmlns:a="http://schemas.openxmlformats.org/drawingml/2006/main">
            <a:r>
              <a:t>Q23 / S23</a:t>
            </a:r>
          </a:p>
          <a:p xmlns:a="http://schemas.openxmlformats.org/drawingml/2006/main">
            <a:r>
              <a:t>安川電機の公式経営資料</a:t>
            </a:r>
          </a:p>
          <a:p xmlns:a="http://schemas.openxmlformats.org/drawingml/2006/main">
            <a:r>
              <a:t>安川電機 決算補足説明資料：AIロボティクス領域拡大</a:t>
            </a:r>
          </a:p>
          <a:p xmlns:a="http://schemas.openxmlformats.org/drawingml/2006/main">
            <a:r>
              <a:t>公表日 2026-01-09</a:t>
            </a:r>
          </a:p>
          <a:p xmlns:a="http://schemas.openxmlformats.org/drawingml/2006/main">
            <a:r>
              <a:t>https://www.yaskawa.co.jp/wp-content/uploads/2026/01/20260109_haihu.pdf#page=16</a:t>
            </a:r>
          </a:p>
          <a:p xmlns:a="http://schemas.openxmlformats.org/drawingml/2006/main">
            <a:r>
              <a:t>掲載位置 印刷頁15 AIロボティクス領域の拡大に向けた取組み</a:t>
            </a:r>
          </a:p>
          <a:p xmlns:a="http://schemas.openxmlformats.org/drawingml/2006/main">
            <a:r>
              <a:t>文脈の要約 同社がAIロボティクスを説明する表現。設計変更と実演学習の例が続く。</a:t>
            </a:r>
          </a:p>
          <a:p xmlns:a="http://schemas.openxmlformats.org/drawingml/2006/main">
            <a:r>
              <a:t>根拠にする論点 AIの判断を動作へつなぐ</a:t>
            </a:r>
          </a:p>
          <a:p xmlns:a="http://schemas.openxmlformats.org/drawingml/2006/main">
            <a:r>
              <a:t>この一節からは言えないこと 同社のAIロボティクスの表現であり、全社共通のPhysical AI定義ではない。</a:t>
            </a:r>
          </a:p>
          <a:p xmlns:a="http://schemas.openxmlformats.org/drawingml/2006/main">
            <a:r>
              <a:t>確認 2026-10-22 原文テキストと照合</a:t>
            </a:r>
          </a:p>
          <a:p xmlns:a="http://schemas.openxmlformats.org/drawingml/2006/main">
            <a:r>
              <a:t/>
            </a:r>
          </a:p>
          <a:p xmlns:a="http://schemas.openxmlformats.org/drawingml/2006/main">
            <a:r>
              <a:t>Q24 / S24</a:t>
            </a:r>
          </a:p>
          <a:p xmlns:a="http://schemas.openxmlformats.org/drawingml/2006/main">
            <a:r>
              <a:t>DMG森精機 森雅彦氏の取材発言</a:t>
            </a:r>
          </a:p>
          <a:p xmlns:a="http://schemas.openxmlformats.org/drawingml/2006/main">
            <a:r>
              <a:t>MONOist 工作機械のソフトウェアデファインド化とMX</a:t>
            </a:r>
          </a:p>
          <a:p xmlns:a="http://schemas.openxmlformats.org/drawingml/2006/main">
            <a:r>
              <a:t>公表日 2025-09-26</a:t>
            </a:r>
          </a:p>
          <a:p xmlns:a="http://schemas.openxmlformats.org/drawingml/2006/main">
            <a:r>
              <a:t>https://monoist.itmedia.co.jp/mn/articles/2509/27/news004_2.html</a:t>
            </a:r>
          </a:p>
          <a:p xmlns:a="http://schemas.openxmlformats.org/drawingml/2006/main">
            <a:r>
              <a:t>掲載位置 後編 シミュレーションとAIに関する回答</a:t>
            </a:r>
          </a:p>
          <a:p xmlns:a="http://schemas.openxmlformats.org/drawingml/2006/main">
            <a:r>
              <a:t>文脈の要約 研究論文への言及として、モデルを土台にAIを使う方法へ関心を示す。</a:t>
            </a:r>
          </a:p>
          <a:p xmlns:a="http://schemas.openxmlformats.org/drawingml/2006/main">
            <a:r>
              <a:t>根拠にする論点 物理モデルとAIの組合せ</a:t>
            </a:r>
          </a:p>
          <a:p xmlns:a="http://schemas.openxmlformats.org/drawingml/2006/main">
            <a:r>
              <a:t>この一節からは言えないこと 技術への関心を述べた条件節。特定の自社実装の達成証明ではない。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Q25 / S25</a:t>
            </a:r>
          </a:p>
          <a:p xmlns:a="http://schemas.openxmlformats.org/drawingml/2006/main">
            <a:r>
              <a:t>DMG森精機 森雅彦氏の取材発言</a:t>
            </a:r>
          </a:p>
          <a:p xmlns:a="http://schemas.openxmlformats.org/drawingml/2006/main">
            <a:r>
              <a:t>MONOist 工作機械の各ユーザーにAIエージェントを</a:t>
            </a:r>
          </a:p>
          <a:p xmlns:a="http://schemas.openxmlformats.org/drawingml/2006/main">
            <a:r>
              <a:t>公表日 2026-06-15</a:t>
            </a:r>
          </a:p>
          <a:p xmlns:a="http://schemas.openxmlformats.org/drawingml/2006/main">
            <a:r>
              <a:t>https://monoist.itmedia.co.jp/mn/articles/2606/15/news047_2.html</a:t>
            </a:r>
          </a:p>
          <a:p xmlns:a="http://schemas.openxmlformats.org/drawingml/2006/main">
            <a:r>
              <a:t>掲載位置 後編 工作機械の各ユーザーにAIエージェントを</a:t>
            </a:r>
          </a:p>
          <a:p xmlns:a="http://schemas.openxmlformats.org/drawingml/2006/main">
            <a:r>
              <a:t>文脈の要約 プログラミング、工具選択、ワーク保持などの支援を展望する。</a:t>
            </a:r>
          </a:p>
          <a:p xmlns:a="http://schemas.openxmlformats.org/drawingml/2006/main">
            <a:r>
              <a:t>根拠にする論点 顧客別の継続支援</a:t>
            </a:r>
          </a:p>
          <a:p xmlns:a="http://schemas.openxmlformats.org/drawingml/2006/main">
            <a:r>
              <a:t>この一節からは言えないこと 将来の方向性。全顧客への提供済みという意味ではない。</a:t>
            </a:r>
          </a:p>
          <a:p xmlns:a="http://schemas.openxmlformats.org/drawingml/2006/main">
            <a:r>
              <a:t>確認 2026-10-22 原文テキストと照合</a:t>
            </a:r>
          </a:p>
          <a:p xmlns:a="http://schemas.openxmlformats.org/drawingml/2006/main">
            <a:r>
              <a:t/>
            </a:r>
          </a:p>
          <a:p xmlns:a="http://schemas.openxmlformats.org/drawingml/2006/main">
            <a:r>
              <a:t>Q26 / S26</a:t>
            </a:r>
          </a:p>
          <a:p xmlns:a="http://schemas.openxmlformats.org/drawingml/2006/main">
            <a:r>
              <a:t>DMG森精機の公式製品発表</a:t>
            </a:r>
          </a:p>
          <a:p xmlns:a="http://schemas.openxmlformats.org/drawingml/2006/main">
            <a:r>
              <a:t>DMG森精機 CELOS ClubにCondition Agentを搭載</a:t>
            </a:r>
          </a:p>
          <a:p xmlns:a="http://schemas.openxmlformats.org/drawingml/2006/main">
            <a:r>
              <a:t>公表日 2026-07-06</a:t>
            </a:r>
          </a:p>
          <a:p xmlns:a="http://schemas.openxmlformats.org/drawingml/2006/main">
            <a:r>
              <a:t>https://www.dmgmori.co.jp/corporate/news/2026/20260706_conditionagent.html</a:t>
            </a:r>
          </a:p>
          <a:p xmlns:a="http://schemas.openxmlformats.org/drawingml/2006/main">
            <a:r>
              <a:t>掲載位置 Condition Agentの診断方法</a:t>
            </a:r>
          </a:p>
          <a:p xmlns:a="http://schemas.openxmlformats.org/drawingml/2006/main">
            <a:r>
              <a:t>文脈の要約 専用の動作でデータを得てクラウド分析する方式の説明。</a:t>
            </a:r>
          </a:p>
          <a:p xmlns:a="http://schemas.openxmlformats.org/drawingml/2006/main">
            <a:r>
              <a:t>根拠にする論点 取得条件を作る診断</a:t>
            </a:r>
          </a:p>
          <a:p xmlns:a="http://schemas.openxmlformats.org/drawingml/2006/main">
            <a:r>
              <a:t>この一節からは言えないこと 診断方法の部分引用。全ての加工ログが同じ方法で取られるわけではない。</a:t>
            </a:r>
          </a:p>
          <a:p xmlns:a="http://schemas.openxmlformats.org/drawingml/2006/main">
            <a:r>
              <a:t>確認 2026-10-22 原文テキストと照合</a:t>
            </a:r>
          </a:p>
          <a:p xmlns:a="http://schemas.openxmlformats.org/drawingml/2006/main">
            <a:r>
              <a:t/>
            </a:r>
          </a:p>
          <a:p xmlns:a="http://schemas.openxmlformats.org/drawingml/2006/main">
            <a:r>
              <a:t>Q27 / S27</a:t>
            </a:r>
          </a:p>
          <a:p xmlns:a="http://schemas.openxmlformats.org/drawingml/2006/main">
            <a:r>
              <a:t>DMG森精機の公式決算説明</a:t>
            </a:r>
          </a:p>
          <a:p xmlns:a="http://schemas.openxmlformats.org/drawingml/2006/main">
            <a:r>
              <a:t>DMG森精機 2026年度上半期決算リリース</a:t>
            </a:r>
          </a:p>
          <a:p xmlns:a="http://schemas.openxmlformats.org/drawingml/2006/main">
            <a:r>
              <a:t>公表日 2026-08-04</a:t>
            </a:r>
          </a:p>
          <a:p xmlns:a="http://schemas.openxmlformats.org/drawingml/2006/main">
            <a:r>
              <a:t>https://www.dmgmori.co.jp/corporate/ir/ir_news/2026/20260804_release.html</a:t>
            </a:r>
          </a:p>
          <a:p xmlns:a="http://schemas.openxmlformats.org/drawingml/2006/main">
            <a:r>
              <a:t>掲載位置 2028年度にピーク利益を更新計画</a:t>
            </a:r>
          </a:p>
          <a:p xmlns:a="http://schemas.openxmlformats.org/drawingml/2006/main">
            <a:r>
              <a:t>文脈の要約 直販・直MROを基盤とする高付加価値製品とMRO事業の収益性を説明する。</a:t>
            </a:r>
          </a:p>
          <a:p xmlns:a="http://schemas.openxmlformats.org/drawingml/2006/main">
            <a:r>
              <a:t>根拠にする論点 収益モデル</a:t>
            </a:r>
          </a:p>
          <a:p xmlns:a="http://schemas.openxmlformats.org/drawingml/2006/main">
            <a:r>
              <a:t>この一節からは言えないこと AI単独、サブスク単独の利益率を示す引用ではない。</a:t>
            </a:r>
          </a:p>
          <a:p xmlns:a="http://schemas.openxmlformats.org/drawingml/2006/main">
            <a:r>
              <a:t>確認 2026-10-22 原文テキストと照合</a:t>
            </a:r>
          </a:p>
          <a:p xmlns:a="http://schemas.openxmlformats.org/drawingml/2006/main">
            <a:r>
              <a:t/>
            </a:r>
          </a:p>
          <a:p xmlns:a="http://schemas.openxmlformats.org/drawingml/2006/main">
            <a:r>
              <a:t>Q28 / S28</a:t>
            </a:r>
          </a:p>
          <a:p xmlns:a="http://schemas.openxmlformats.org/drawingml/2006/main">
            <a:r>
              <a:t>DMG森精機 統合報告書2022</a:t>
            </a:r>
          </a:p>
          <a:p xmlns:a="http://schemas.openxmlformats.org/drawingml/2006/main">
            <a:r>
              <a:t>DMG森精機 統合報告書2022：サービス・デジタル垂直統合</a:t>
            </a:r>
          </a:p>
          <a:p xmlns:a="http://schemas.openxmlformats.org/drawingml/2006/main">
            <a:r>
              <a:t>公表日 </a:t>
            </a:r>
          </a:p>
          <a:p xmlns:a="http://schemas.openxmlformats.org/drawingml/2006/main">
            <a:r>
              <a:t>https://www.dmgmori.co.jp/corporate/ir/ir_library/pdf/2022_ar_j.pdf#page=66</a:t>
            </a:r>
          </a:p>
          <a:p xmlns:a="http://schemas.openxmlformats.org/drawingml/2006/main">
            <a:r>
              <a:t>掲載位置 印刷頁65 テクニウムの紹介見出し</a:t>
            </a:r>
          </a:p>
          <a:p xmlns:a="http://schemas.openxmlformats.org/drawingml/2006/main">
            <a:r>
              <a:t>文脈の要約 保有機・修理・部品・学習などのデジタル接点を説明する章。</a:t>
            </a:r>
          </a:p>
          <a:p xmlns:a="http://schemas.openxmlformats.org/drawingml/2006/main">
            <a:r>
              <a:t>根拠にする論点 継続サービスの提供体制</a:t>
            </a:r>
          </a:p>
          <a:p xmlns:a="http://schemas.openxmlformats.org/drawingml/2006/main">
            <a:r>
              <a:t>この一節からは言えないこと 見出し。2026年のAI機能の性能や料金の根拠ではない。</a:t>
            </a:r>
          </a:p>
          <a:p xmlns:a="http://schemas.openxmlformats.org/drawingml/2006/main">
            <a:r>
              <a:t>確認 2026-10-22 PDF画像で原文照合（前回精読時の画像）</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Q29 / S29</a:t>
            </a:r>
          </a:p>
          <a:p xmlns:a="http://schemas.openxmlformats.org/drawingml/2006/main">
            <a:r>
              <a:t>DMG森精機 統合報告書2025</a:t>
            </a:r>
          </a:p>
          <a:p xmlns:a="http://schemas.openxmlformats.org/drawingml/2006/main">
            <a:r>
              <a:t>DMG森精機 統合報告書2025ダイジェスト：MROと開発の連環</a:t>
            </a:r>
          </a:p>
          <a:p xmlns:a="http://schemas.openxmlformats.org/drawingml/2006/main">
            <a:r>
              <a:t>公表日 2026</a:t>
            </a:r>
          </a:p>
          <a:p xmlns:a="http://schemas.openxmlformats.org/drawingml/2006/main">
            <a:r>
              <a:t>https://www.dmgmori.co.jp/corporate/ir/ir_library/pdf/2025_ir_digest_j.pdf#page=26</a:t>
            </a:r>
          </a:p>
          <a:p xmlns:a="http://schemas.openxmlformats.org/drawingml/2006/main">
            <a:r>
              <a:t>掲載位置 印刷頁25 PPRの図中の説明</a:t>
            </a:r>
          </a:p>
          <a:p xmlns:a="http://schemas.openxmlformats.org/drawingml/2006/main">
            <a:r>
              <a:t>文脈の要約 不具合を原因調査、対策・改善、製品への展開へつなぐPPRの説明。</a:t>
            </a:r>
          </a:p>
          <a:p xmlns:a="http://schemas.openxmlformats.org/drawingml/2006/main">
            <a:r>
              <a:t>根拠にする論点 修理知識を開発へ還流</a:t>
            </a:r>
          </a:p>
          <a:p xmlns:a="http://schemas.openxmlformats.org/drawingml/2006/main">
            <a:r>
              <a:t>この一節からは言えないこと 既存の改善体制。PPR自体を生成AIの新機能とはしない。</a:t>
            </a:r>
          </a:p>
          <a:p xmlns:a="http://schemas.openxmlformats.org/drawingml/2006/main">
            <a:r>
              <a:t>確認 2026-10-22 PDF画像で原文照合（前回精読時の画像）</a:t>
            </a:r>
          </a:p>
          <a:p xmlns:a="http://schemas.openxmlformats.org/drawingml/2006/main">
            <a:r>
              <a:t/>
            </a:r>
          </a:p>
          <a:p xmlns:a="http://schemas.openxmlformats.org/drawingml/2006/main">
            <a:r>
              <a:t>Q30 / S30</a:t>
            </a:r>
          </a:p>
          <a:p xmlns:a="http://schemas.openxmlformats.org/drawingml/2006/main">
            <a:r>
              <a:t>FingerVisionの説明をGENIAC公式ページに掲載</a:t>
            </a:r>
          </a:p>
          <a:p xmlns:a="http://schemas.openxmlformats.org/drawingml/2006/main">
            <a:r>
              <a:t>経済産業省・GENIAC データエコシステム採択事業者（第4期）</a:t>
            </a:r>
          </a:p>
          <a:p xmlns:a="http://schemas.openxmlformats.org/drawingml/2006/main">
            <a:r>
              <a:t>公表日 </a:t>
            </a:r>
          </a:p>
          <a:p xmlns:a="http://schemas.openxmlformats.org/drawingml/2006/main">
            <a:r>
              <a:t>https://geniac.meti.go.jp/selection_4/data/index.html</a:t>
            </a:r>
          </a:p>
          <a:p xmlns:a="http://schemas.openxmlformats.org/drawingml/2006/main">
            <a:r>
              <a:t>掲載位置 FingerVisionの採択事業説明</a:t>
            </a:r>
          </a:p>
          <a:p xmlns:a="http://schemas.openxmlformats.org/drawingml/2006/main">
            <a:r>
              <a:t>文脈の要約 視覚・触覚・言語・動作を統合するモデルとデータセットの開発計画。</a:t>
            </a:r>
          </a:p>
          <a:p xmlns:a="http://schemas.openxmlformats.org/drawingml/2006/main">
            <a:r>
              <a:t>根拠にする論点 視触覚データと適用領域</a:t>
            </a:r>
          </a:p>
          <a:p xmlns:a="http://schemas.openxmlformats.org/drawingml/2006/main">
            <a:r>
              <a:t>この一節からは言えないこと 採択時の開発目標。JIMTOFでの実演・量産稼働の確認ではない。</a:t>
            </a:r>
          </a:p>
          <a:p xmlns:a="http://schemas.openxmlformats.org/drawingml/2006/main">
            <a:r>
              <a:t>確認 2026-10-22 原文テキストと照合</a:t>
            </a:r>
          </a:p>
          <a:p xmlns:a="http://schemas.openxmlformats.org/drawingml/2006/main">
            <a:r>
              <a:t/>
            </a:r>
          </a:p>
          <a:p xmlns:a="http://schemas.openxmlformats.org/drawingml/2006/main">
            <a:r>
              <a:t>Q31 / S31</a:t>
            </a:r>
          </a:p>
          <a:p xmlns:a="http://schemas.openxmlformats.org/drawingml/2006/main">
            <a:r>
              <a:t>三菱電機の公式研究発表</a:t>
            </a:r>
          </a:p>
          <a:p xmlns:a="http://schemas.openxmlformats.org/drawingml/2006/main">
            <a:r>
              <a:t>三菱電機・アーヘン工科大学 CNC上で加工誤差を補正するエッジデジタルツイン</a:t>
            </a:r>
          </a:p>
          <a:p xmlns:a="http://schemas.openxmlformats.org/drawingml/2006/main">
            <a:r>
              <a:t>公表日 2026-03-25</a:t>
            </a:r>
          </a:p>
          <a:p xmlns:a="http://schemas.openxmlformats.org/drawingml/2006/main">
            <a:r>
              <a:t>https://www.mitsubishielectric.co.jp/ja/pr/2026/0325/</a:t>
            </a:r>
          </a:p>
          <a:p xmlns:a="http://schemas.openxmlformats.org/drawingml/2006/main">
            <a:r>
              <a:t>掲載位置 独自の設計手法を説明する段落</a:t>
            </a:r>
          </a:p>
          <a:p xmlns:a="http://schemas.openxmlformats.org/drawingml/2006/main">
            <a:r>
              <a:t>文脈の要約 必要な信号を選び、CNC上で誤差推定・補正するためのモデル構成。</a:t>
            </a:r>
          </a:p>
          <a:p xmlns:a="http://schemas.openxmlformats.org/drawingml/2006/main">
            <a:r>
              <a:t>根拠にする論点 リアルタイムで使う物理モデル</a:t>
            </a:r>
          </a:p>
          <a:p xmlns:a="http://schemas.openxmlformats.org/drawingml/2006/main">
            <a:r>
              <a:t>この一節からは言えないこと 研究実証。任意の機械・加工条件で同じ性能になるとはしない。</a:t>
            </a:r>
          </a:p>
          <a:p xmlns:a="http://schemas.openxmlformats.org/drawingml/2006/main">
            <a:r>
              <a:t>確認 2026-10-22 原文テキストと照合</a:t>
            </a:r>
          </a:p>
          <a:p xmlns:a="http://schemas.openxmlformats.org/drawingml/2006/main">
            <a:r>
              <a:t/>
            </a:r>
          </a:p>
          <a:p xmlns:a="http://schemas.openxmlformats.org/drawingml/2006/main">
            <a:r>
              <a:t>Q32 / S32</a:t>
            </a:r>
          </a:p>
          <a:p xmlns:a="http://schemas.openxmlformats.org/drawingml/2006/main">
            <a:r>
              <a:t>Mono Que編集部の取材記述</a:t>
            </a:r>
          </a:p>
          <a:p xmlns:a="http://schemas.openxmlformats.org/drawingml/2006/main">
            <a:r>
              <a:t>Mono Que／日本物流新聞・企業取材 イワタツール：JIMTOFで多企業による多様な提案</a:t>
            </a:r>
          </a:p>
          <a:p xmlns:a="http://schemas.openxmlformats.org/drawingml/2006/main">
            <a:r>
              <a:t>公表日 2026-10-09</a:t>
            </a:r>
          </a:p>
          <a:p xmlns:a="http://schemas.openxmlformats.org/drawingml/2006/main">
            <a:r>
              <a:t>https://monoque.jp/news/7299bcaab1e600d161b3837c77fb9d51cb916563/</a:t>
            </a:r>
          </a:p>
          <a:p xmlns:a="http://schemas.openxmlformats.org/drawingml/2006/main">
            <a:r>
              <a:t>掲載位置 ロボット切削とBRIDGE開発の段落</a:t>
            </a:r>
          </a:p>
          <a:p xmlns:a="http://schemas.openxmlformats.org/drawingml/2006/main">
            <a:r>
              <a:t>文脈の要約 イワタツールとトライ各社のロボット切削の展示予定・開発を説明する。</a:t>
            </a:r>
          </a:p>
          <a:p xmlns:a="http://schemas.openxmlformats.org/drawingml/2006/main">
            <a:r>
              <a:t>根拠にする論点 加工動作の生成</a:t>
            </a:r>
          </a:p>
          <a:p xmlns:a="http://schemas.openxmlformats.org/drawingml/2006/main">
            <a:r>
              <a:t>この一節からは言えないこと 記者の説明。発言者の直接発言や性能比較値ではない。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Q33 / S33</a:t>
            </a:r>
          </a:p>
          <a:p xmlns:a="http://schemas.openxmlformats.org/drawingml/2006/main">
            <a:r>
              <a:t>オムロンの対談本文中の説明</a:t>
            </a:r>
          </a:p>
          <a:p xmlns:a="http://schemas.openxmlformats.org/drawingml/2006/main">
            <a:r>
              <a:t>オムロン IT-OT融合が切り拓く製造業のDX</a:t>
            </a:r>
          </a:p>
          <a:p xmlns:a="http://schemas.openxmlformats.org/drawingml/2006/main">
            <a:r>
              <a:t>公表日 2026-09-18</a:t>
            </a:r>
          </a:p>
          <a:p xmlns:a="http://schemas.openxmlformats.org/drawingml/2006/main">
            <a:r>
              <a:t>https://www.omron.com/jp/ja/edge-link/news/769.html</a:t>
            </a:r>
          </a:p>
          <a:p xmlns:a="http://schemas.openxmlformats.org/drawingml/2006/main">
            <a:r>
              <a:t>掲載位置 i-BELT Hubの説明</a:t>
            </a:r>
          </a:p>
          <a:p xmlns:a="http://schemas.openxmlformats.org/drawingml/2006/main">
            <a:r>
              <a:t>文脈の要約 複数の情報を整理して、現場や管理者の判断で利用する構成。</a:t>
            </a:r>
          </a:p>
          <a:p xmlns:a="http://schemas.openxmlformats.org/drawingml/2006/main">
            <a:r>
              <a:t>根拠にする論点 業務と現象を結ぶデータ</a:t>
            </a:r>
          </a:p>
          <a:p xmlns:a="http://schemas.openxmlformats.org/drawingml/2006/main">
            <a:r>
              <a:t>この一節からは言えないこと 特定のデータ項目全てに共通の意味が既に付いたという業界全体の実績ではない。</a:t>
            </a:r>
          </a:p>
          <a:p xmlns:a="http://schemas.openxmlformats.org/drawingml/2006/main">
            <a:r>
              <a:t>確認 2026-10-22 原文テキストと照合</a:t>
            </a:r>
          </a:p>
          <a:p xmlns:a="http://schemas.openxmlformats.org/drawingml/2006/main">
            <a:r>
              <a:t/>
            </a:r>
          </a:p>
          <a:p xmlns:a="http://schemas.openxmlformats.org/drawingml/2006/main">
            <a:r>
              <a:t>Q34 / S34</a:t>
            </a:r>
          </a:p>
          <a:p xmlns:a="http://schemas.openxmlformats.org/drawingml/2006/main">
            <a:r>
              <a:t>大和総研の分析</a:t>
            </a:r>
          </a:p>
          <a:p xmlns:a="http://schemas.openxmlformats.org/drawingml/2006/main">
            <a:r>
              <a:t>大和総研 フィジカルAIの社会実装に向けた課題</a:t>
            </a:r>
          </a:p>
          <a:p xmlns:a="http://schemas.openxmlformats.org/drawingml/2006/main">
            <a:r>
              <a:t>公表日 2026-04-24</a:t>
            </a:r>
          </a:p>
          <a:p xmlns:a="http://schemas.openxmlformats.org/drawingml/2006/main">
            <a:r>
              <a:t>https://www.dir.co.jp/report/research/economics/japan/20260424_025726.html</a:t>
            </a:r>
          </a:p>
          <a:p xmlns:a="http://schemas.openxmlformats.org/drawingml/2006/main">
            <a:r>
              <a:t>掲載位置 掲載ページ 要約・導入段階の説明</a:t>
            </a:r>
          </a:p>
          <a:p xmlns:a="http://schemas.openxmlformats.org/drawingml/2006/main">
            <a:r>
              <a:t>文脈の要約 現場の違いが導入・継続改善の負担になるという問題提起。</a:t>
            </a:r>
          </a:p>
          <a:p xmlns:a="http://schemas.openxmlformats.org/drawingml/2006/main">
            <a:r>
              <a:t>根拠にする論点 横展開の課題</a:t>
            </a:r>
          </a:p>
          <a:p xmlns:a="http://schemas.openxmlformats.org/drawingml/2006/main">
            <a:r>
              <a:t>この一節からは言えないこと 技術の普及率や導入費用の定量結果ではない。</a:t>
            </a:r>
          </a:p>
          <a:p xmlns:a="http://schemas.openxmlformats.org/drawingml/2006/main">
            <a:r>
              <a:t>確認 2026-10-22 原文テキストと照合</a:t>
            </a:r>
          </a:p>
          <a:p xmlns:a="http://schemas.openxmlformats.org/drawingml/2006/main">
            <a:r>
              <a:t/>
            </a:r>
          </a:p>
          <a:p xmlns:a="http://schemas.openxmlformats.org/drawingml/2006/main">
            <a:r>
              <a:t>Q35 / S35</a:t>
            </a:r>
          </a:p>
          <a:p xmlns:a="http://schemas.openxmlformats.org/drawingml/2006/main">
            <a:r>
              <a:t>Beckhoff公式技術文書</a:t>
            </a:r>
          </a:p>
          <a:p xmlns:a="http://schemas.openxmlformats.org/drawingml/2006/main">
            <a:r>
              <a:t>Beckhoff TwinCAT Machine Learning Creator: Workflows for users</a:t>
            </a:r>
          </a:p>
          <a:p xmlns:a="http://schemas.openxmlformats.org/drawingml/2006/main">
            <a:r>
              <a:t>公表日 未記載</a:t>
            </a:r>
          </a:p>
          <a:p xmlns:a="http://schemas.openxmlformats.org/drawingml/2006/main">
            <a:r>
              <a:t>https://infosys.beckhoff.com/content/1033/te3850_tc3_machine_learning_creator/21561799691.html</a:t>
            </a:r>
          </a:p>
          <a:p xmlns:a="http://schemas.openxmlformats.org/drawingml/2006/main">
            <a:r>
              <a:t>掲載位置 Export model</a:t>
            </a:r>
          </a:p>
          <a:p xmlns:a="http://schemas.openxmlformats.org/drawingml/2006/main">
            <a:r>
              <a:t>文脈の要約 学習・評価の後にモデルと統合用情報を出力する製品機能。</a:t>
            </a:r>
          </a:p>
          <a:p xmlns:a="http://schemas.openxmlformats.org/drawingml/2006/main">
            <a:r>
              <a:t>根拠にする論点 学習から制御環境への組込み</a:t>
            </a:r>
          </a:p>
          <a:p xmlns:a="http://schemas.openxmlformats.org/drawingml/2006/main">
            <a:r>
              <a:t>この一節からは言えないこと 画像向けワークフローの説明。全製造現象を扱うデータ整備機能ではない。</a:t>
            </a:r>
          </a:p>
          <a:p xmlns:a="http://schemas.openxmlformats.org/drawingml/2006/main">
            <a:r>
              <a:t>確認 2026-10-22 原文テキストと照合</a:t>
            </a:r>
          </a:p>
          <a:p xmlns:a="http://schemas.openxmlformats.org/drawingml/2006/main">
            <a:r>
              <a:t/>
            </a:r>
          </a:p>
          <a:p xmlns:a="http://schemas.openxmlformats.org/drawingml/2006/main">
            <a:r>
              <a:t>Q36 / S36</a:t>
            </a:r>
          </a:p>
          <a:p xmlns:a="http://schemas.openxmlformats.org/drawingml/2006/main">
            <a:r>
              <a:t>Beckhoff公式ライセンス説明</a:t>
            </a:r>
          </a:p>
          <a:p xmlns:a="http://schemas.openxmlformats.org/drawingml/2006/main">
            <a:r>
              <a:t>Beckhoff TwinCAT Machine Learning Creator: Licensing</a:t>
            </a:r>
          </a:p>
          <a:p xmlns:a="http://schemas.openxmlformats.org/drawingml/2006/main">
            <a:r>
              <a:t>公表日 未記載</a:t>
            </a:r>
          </a:p>
          <a:p xmlns:a="http://schemas.openxmlformats.org/drawingml/2006/main">
            <a:r>
              <a:t>https://infosys.beckhoff.com/content/1033/te3850_tc3_machine_learning_creator/21561794187.html</a:t>
            </a:r>
          </a:p>
          <a:p xmlns:a="http://schemas.openxmlformats.org/drawingml/2006/main">
            <a:r>
              <a:t>掲載位置 Overviewの冒頭</a:t>
            </a:r>
          </a:p>
          <a:p xmlns:a="http://schemas.openxmlformats.org/drawingml/2006/main">
            <a:r>
              <a:t>文脈の要約 契約期間、計算時間、持ち出し範囲が設定されるサービス。</a:t>
            </a:r>
          </a:p>
          <a:p xmlns:a="http://schemas.openxmlformats.org/drawingml/2006/main">
            <a:r>
              <a:t>根拠にする論点 基盤利用と課金</a:t>
            </a:r>
          </a:p>
          <a:p xmlns:a="http://schemas.openxmlformats.org/drawingml/2006/main">
            <a:r>
              <a:t>この一節からは言えないこと 料金方式の根拠。顧客効果や利益率の証拠ではない。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Q37 / S37</a:t>
            </a:r>
          </a:p>
          <a:p xmlns:a="http://schemas.openxmlformats.org/drawingml/2006/main">
            <a:r>
              <a:t>産総研コンソーシアムの公式案内</a:t>
            </a:r>
          </a:p>
          <a:p xmlns:a="http://schemas.openxmlformats.org/drawingml/2006/main">
            <a:r>
              <a:t>産総研 MOCO ものづくり創造コンソーシアム 入会案内</a:t>
            </a:r>
          </a:p>
          <a:p xmlns:a="http://schemas.openxmlformats.org/drawingml/2006/main">
            <a:r>
              <a:t>公表日 未記載（2026年5月版会則へのリンクあり）</a:t>
            </a:r>
          </a:p>
          <a:p xmlns:a="http://schemas.openxmlformats.org/drawingml/2006/main">
            <a:r>
              <a:t>https://unit.aist.go.jp/cmt-ri/moco/ja/join/index.html</a:t>
            </a:r>
          </a:p>
          <a:p xmlns:a="http://schemas.openxmlformats.org/drawingml/2006/main">
            <a:r>
              <a:t>掲載位置 入会方法</a:t>
            </a:r>
          </a:p>
          <a:p xmlns:a="http://schemas.openxmlformats.org/drawingml/2006/main">
            <a:r>
              <a:t>文脈の要約 会員区分や申込みを説明する実務案内。</a:t>
            </a:r>
          </a:p>
          <a:p xmlns:a="http://schemas.openxmlformats.org/drawingml/2006/main">
            <a:r>
              <a:t>根拠にする論点 連携窓口</a:t>
            </a:r>
          </a:p>
          <a:p xmlns:a="http://schemas.openxmlformats.org/drawingml/2006/main">
            <a:r>
              <a:t>この一節からは言えないこと 潮流・技術性能の根拠ではなく、相談の入口。入会によるデータ利用権を意味しない。</a:t>
            </a:r>
          </a:p>
          <a:p xmlns:a="http://schemas.openxmlformats.org/drawingml/2006/main">
            <a:r>
              <a:t>確認 2026-10-22 原文テキストと照合</a:t>
            </a:r>
          </a:p>
          <a:p xmlns:a="http://schemas.openxmlformats.org/drawingml/2006/main">
            <a:r>
              <a:t/>
            </a:r>
          </a:p>
          <a:p xmlns:a="http://schemas.openxmlformats.org/drawingml/2006/main">
            <a:r>
              <a:t>Q38 / S38</a:t>
            </a:r>
          </a:p>
          <a:p xmlns:a="http://schemas.openxmlformats.org/drawingml/2006/main">
            <a:r>
              <a:t>産総研の公式研究発表</a:t>
            </a:r>
          </a:p>
          <a:p xmlns:a="http://schemas.openxmlformats.org/drawingml/2006/main">
            <a:r>
              <a:t>産総研 少数データから短時間で現場環境に応じた最適加工条件を決定</a:t>
            </a:r>
          </a:p>
          <a:p xmlns:a="http://schemas.openxmlformats.org/drawingml/2006/main">
            <a:r>
              <a:t>公表日 2022-01-17</a:t>
            </a:r>
          </a:p>
          <a:p xmlns:a="http://schemas.openxmlformats.org/drawingml/2006/main">
            <a:r>
              <a:t>https://www.aist.go.jp/aist_j/press_release/pr2022/pr20220117/pr20220117.html</a:t>
            </a:r>
          </a:p>
          <a:p xmlns:a="http://schemas.openxmlformats.org/drawingml/2006/main">
            <a:r>
              <a:t>掲載位置 概要・研究の狙い</a:t>
            </a:r>
          </a:p>
          <a:p xmlns:a="http://schemas.openxmlformats.org/drawingml/2006/main">
            <a:r>
              <a:t>文脈の要約 スピニング加工の複数寸法を満たす条件を求める研究。</a:t>
            </a:r>
          </a:p>
          <a:p xmlns:a="http://schemas.openxmlformats.org/drawingml/2006/main">
            <a:r>
              <a:t>根拠にする論点 要求品質から条件を決める</a:t>
            </a:r>
          </a:p>
          <a:p xmlns:a="http://schemas.openxmlformats.org/drawingml/2006/main">
            <a:r>
              <a:t>この一節からは言えないこと 特定の加工での実証。あらゆる加工の条件決定を解決したという意味ではない。</a:t>
            </a:r>
          </a:p>
          <a:p xmlns:a="http://schemas.openxmlformats.org/drawingml/2006/main">
            <a:r>
              <a:t>確認 2026-10-22 原文テキストと照合</a:t>
            </a:r>
          </a:p>
          <a:p xmlns:a="http://schemas.openxmlformats.org/drawingml/2006/main">
            <a:r>
              <a:t/>
            </a:r>
          </a:p>
          <a:p xmlns:a="http://schemas.openxmlformats.org/drawingml/2006/main">
            <a:r>
              <a:t>Q39 / S39</a:t>
            </a:r>
          </a:p>
          <a:p xmlns:a="http://schemas.openxmlformats.org/drawingml/2006/main">
            <a:r>
              <a:t>産総研 製造基盤技術研究部門の説明</a:t>
            </a:r>
          </a:p>
          <a:p xmlns:a="http://schemas.openxmlformats.org/drawingml/2006/main">
            <a:r>
              <a:t>産総研 製造基盤技術研究部門 Digital Manufacturing デジタルものづくり</a:t>
            </a:r>
          </a:p>
          <a:p xmlns:a="http://schemas.openxmlformats.org/drawingml/2006/main">
            <a:r>
              <a:t>公表日 未記載</a:t>
            </a:r>
          </a:p>
          <a:p xmlns:a="http://schemas.openxmlformats.org/drawingml/2006/main">
            <a:r>
              <a:t>https://unit.aist.go.jp/cmt-ri/research-topics/digital-manufacturing.htm</a:t>
            </a:r>
          </a:p>
          <a:p xmlns:a="http://schemas.openxmlformats.org/drawingml/2006/main">
            <a:r>
              <a:t>掲載位置 研究の特色に関連する説明</a:t>
            </a:r>
          </a:p>
          <a:p xmlns:a="http://schemas.openxmlformats.org/drawingml/2006/main">
            <a:r>
              <a:t>文脈の要約 モデル化・データ化と利用技術を加工の高度化へつなぐ考え方。</a:t>
            </a:r>
          </a:p>
          <a:p xmlns:a="http://schemas.openxmlformats.org/drawingml/2006/main">
            <a:r>
              <a:t>根拠にする論点 現象理解とモデル化</a:t>
            </a:r>
          </a:p>
          <a:p xmlns:a="http://schemas.openxmlformats.org/drawingml/2006/main">
            <a:r>
              <a:t>この一節からは言えないこと 研究方針を示す表現。個別のモデル精度を保証するものではない。</a:t>
            </a:r>
          </a:p>
          <a:p xmlns:a="http://schemas.openxmlformats.org/drawingml/2006/main">
            <a:r>
              <a:t>確認 2026-10-22 原文テキストと照合</a:t>
            </a:r>
          </a:p>
          <a:p xmlns:a="http://schemas.openxmlformats.org/drawingml/2006/main">
            <a:r>
              <a:t/>
            </a:r>
          </a:p>
          <a:p xmlns:a="http://schemas.openxmlformats.org/drawingml/2006/main">
            <a:r>
              <a:t>Q40 / S40</a:t>
            </a:r>
          </a:p>
          <a:p xmlns:a="http://schemas.openxmlformats.org/drawingml/2006/main">
            <a:r>
              <a:t>三菱電機・MERLの公式研究発表</a:t>
            </a:r>
          </a:p>
          <a:p xmlns:a="http://schemas.openxmlformats.org/drawingml/2006/main">
            <a:r>
              <a:t>三菱電機 少量の学習データで機器の劣化を高精度に推定する物理モデル組み込みAIを開発</a:t>
            </a:r>
          </a:p>
          <a:p xmlns:a="http://schemas.openxmlformats.org/drawingml/2006/main">
            <a:r>
              <a:t>公表日 2025-12-10</a:t>
            </a:r>
          </a:p>
          <a:p xmlns:a="http://schemas.openxmlformats.org/drawingml/2006/main">
            <a:r>
              <a:t>https://www.mitsubishielectric.co.jp/ja/pr/2025/pdf/1210.pdf#page=2</a:t>
            </a:r>
          </a:p>
          <a:p xmlns:a="http://schemas.openxmlformats.org/drawingml/2006/main">
            <a:r>
              <a:t>掲載位置 印刷頁2 開発の特長1</a:t>
            </a:r>
          </a:p>
          <a:p xmlns:a="http://schemas.openxmlformats.org/drawingml/2006/main">
            <a:r>
              <a:t>文脈の要約 設計仕様に基づく物理モデルへ、個体差や環境条件を実測から補う方式。</a:t>
            </a:r>
          </a:p>
          <a:p xmlns:a="http://schemas.openxmlformats.org/drawingml/2006/main">
            <a:r>
              <a:t>根拠にする論点 物理知識と実測の役割分担</a:t>
            </a:r>
          </a:p>
          <a:p xmlns:a="http://schemas.openxmlformats.org/drawingml/2006/main">
            <a:r>
              <a:t>この一節からは言えないこと 方式の一節。少量データでよい範囲を全てのフィジカルAIへ一般化しない。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Q41 / D01</a:t>
            </a:r>
          </a:p>
          <a:p xmlns:a="http://schemas.openxmlformats.org/drawingml/2006/main">
            <a:r>
              <a:t>NVIDIA公式教材</a:t>
            </a:r>
          </a:p>
          <a:p xmlns:a="http://schemas.openxmlformats.org/drawingml/2006/main">
            <a:r>
              <a:t>NVIDIA NVIDIA Physical AI学習教材</a:t>
            </a:r>
          </a:p>
          <a:p xmlns:a="http://schemas.openxmlformats.org/drawingml/2006/main">
            <a:r>
              <a:t>公表日 未記載</a:t>
            </a:r>
          </a:p>
          <a:p xmlns:a="http://schemas.openxmlformats.org/drawingml/2006/main">
            <a:r>
              <a:t>https://docs.nvidia.com/learning/physical-ai/sim-to-real-so-101/latest/01-overview.html</a:t>
            </a:r>
          </a:p>
          <a:p xmlns:a="http://schemas.openxmlformats.org/drawingml/2006/main">
            <a:r>
              <a:t>掲載位置 What Is Physical AI? の4項目目</a:t>
            </a:r>
          </a:p>
          <a:p xmlns:a="http://schemas.openxmlformats.org/drawingml/2006/main">
            <a:r>
              <a:t>文脈の要約 知覚、物理・空間の理解、実行、環境の変動への適応を説明する。</a:t>
            </a:r>
          </a:p>
          <a:p xmlns:a="http://schemas.openxmlformats.org/drawingml/2006/main">
            <a:r>
              <a:t>根拠にする論点 現実環境の不確実性への対応</a:t>
            </a:r>
          </a:p>
          <a:p xmlns:a="http://schemas.openxmlformats.org/drawingml/2006/main">
            <a:r>
              <a:t>この一節からは言えないこと 教材の能力整理。工業用システムの性能証明ではない。</a:t>
            </a:r>
          </a:p>
          <a:p xmlns:a="http://schemas.openxmlformats.org/drawingml/2006/main">
            <a:r>
              <a:t>確認 2026-10-22 原文テキストと照合</a:t>
            </a:r>
          </a:p>
          <a:p xmlns:a="http://schemas.openxmlformats.org/drawingml/2006/main">
            <a:r>
              <a:t/>
            </a:r>
          </a:p>
          <a:p xmlns:a="http://schemas.openxmlformats.org/drawingml/2006/main">
            <a:r>
              <a:t>Q42 / A08</a:t>
            </a:r>
          </a:p>
          <a:p xmlns:a="http://schemas.openxmlformats.org/drawingml/2006/main">
            <a:r>
              <a:t>富士通の公式発表</a:t>
            </a:r>
          </a:p>
          <a:p xmlns:a="http://schemas.openxmlformats.org/drawingml/2006/main">
            <a:r>
              <a:t>富士通 富士通 ロボット産業界各社との事業検討</a:t>
            </a:r>
          </a:p>
          <a:p xmlns:a="http://schemas.openxmlformats.org/drawingml/2006/main">
            <a:r>
              <a:t>公表日 2026-07-16</a:t>
            </a:r>
          </a:p>
          <a:p xmlns:a="http://schemas.openxmlformats.org/drawingml/2006/main">
            <a:r>
              <a:t>https://global.fujitsu/ja-jp/pr/news/2026/07/16-01</a:t>
            </a:r>
          </a:p>
          <a:p xmlns:a="http://schemas.openxmlformats.org/drawingml/2006/main">
            <a:r>
              <a:t>掲載位置 工場向けソリューション</a:t>
            </a:r>
          </a:p>
          <a:p xmlns:a="http://schemas.openxmlformats.org/drawingml/2006/main">
            <a:r>
              <a:t>文脈の要約 変動と現場状況を加味する工場向け構想を説明する。</a:t>
            </a:r>
          </a:p>
          <a:p xmlns:a="http://schemas.openxmlformats.org/drawingml/2006/main">
            <a:r>
              <a:t>根拠にする論点 計画と実行を結ぶ方向性</a:t>
            </a:r>
          </a:p>
          <a:p xmlns:a="http://schemas.openxmlformats.org/drawingml/2006/main">
            <a:r>
              <a:t>この一節からは言えないこと 事業検討の開始。完成システムの稼働実績ではない。</a:t>
            </a:r>
          </a:p>
          <a:p xmlns:a="http://schemas.openxmlformats.org/drawingml/2006/main">
            <a:r>
              <a:t>確認 2026-10-22 原文テキストと照合</a:t>
            </a:r>
          </a:p>
          <a:p xmlns:a="http://schemas.openxmlformats.org/drawingml/2006/main">
            <a:r>
              <a:t/>
            </a:r>
          </a:p>
          <a:p xmlns:a="http://schemas.openxmlformats.org/drawingml/2006/main">
            <a:r>
              <a:t>Q43 / A11</a:t>
            </a:r>
          </a:p>
          <a:p xmlns:a="http://schemas.openxmlformats.org/drawingml/2006/main">
            <a:r>
              <a:t>テクニウム公式のサービス案内</a:t>
            </a:r>
          </a:p>
          <a:p xmlns:a="http://schemas.openxmlformats.org/drawingml/2006/main">
            <a:r>
              <a:t>テクニウム CELOS Club サービスの特長</a:t>
            </a:r>
          </a:p>
          <a:p xmlns:a="http://schemas.openxmlformats.org/drawingml/2006/main">
            <a:r>
              <a:t>公表日 未記載</a:t>
            </a:r>
          </a:p>
          <a:p xmlns:a="http://schemas.openxmlformats.org/drawingml/2006/main">
            <a:r>
              <a:t>https://www.technium.net/celosclub/feature/</a:t>
            </a:r>
          </a:p>
          <a:p xmlns:a="http://schemas.openxmlformats.org/drawingml/2006/main">
            <a:r>
              <a:t>掲載位置 ご利用期間</a:t>
            </a:r>
          </a:p>
          <a:p xmlns:a="http://schemas.openxmlformats.org/drawingml/2006/main">
            <a:r>
              <a:t>文脈の要約 納入後の利用期間と、その後の更新を説明する。</a:t>
            </a:r>
          </a:p>
          <a:p xmlns:a="http://schemas.openxmlformats.org/drawingml/2006/main">
            <a:r>
              <a:t>根拠にする論点 継続契約の仕組み</a:t>
            </a:r>
          </a:p>
          <a:p xmlns:a="http://schemas.openxmlformats.org/drawingml/2006/main">
            <a:r>
              <a:t>この一節からは言えないこと AIの精度向上が更新率や利益を上げた証拠ではない。</a:t>
            </a:r>
          </a:p>
          <a:p xmlns:a="http://schemas.openxmlformats.org/drawingml/2006/main">
            <a:r>
              <a:t>確認 2026-10-22 原文テキストと照合</a:t>
            </a:r>
          </a:p>
          <a:p xmlns:a="http://schemas.openxmlformats.org/drawingml/2006/main">
            <a:r>
              <a:t/>
            </a:r>
          </a:p>
          <a:p xmlns:a="http://schemas.openxmlformats.org/drawingml/2006/main">
            <a:r>
              <a:t>Q44 / A01</a:t>
            </a:r>
          </a:p>
          <a:p xmlns:a="http://schemas.openxmlformats.org/drawingml/2006/main">
            <a:r>
              <a:t>Third Wave Systemsの公式サービス説明</a:t>
            </a:r>
          </a:p>
          <a:p xmlns:a="http://schemas.openxmlformats.org/drawingml/2006/main">
            <a:r>
              <a:t>Third Wave Systems Engineering Services</a:t>
            </a:r>
          </a:p>
          <a:p xmlns:a="http://schemas.openxmlformats.org/drawingml/2006/main">
            <a:r>
              <a:t>公表日 未記載</a:t>
            </a:r>
          </a:p>
          <a:p xmlns:a="http://schemas.openxmlformats.org/drawingml/2006/main">
            <a:r>
              <a:t>https://thirdwavesys.com/engineering/engineering-services/</a:t>
            </a:r>
          </a:p>
          <a:p xmlns:a="http://schemas.openxmlformats.org/drawingml/2006/main">
            <a:r>
              <a:t>掲載位置 Material Modeling Services</a:t>
            </a:r>
          </a:p>
          <a:p xmlns:a="http://schemas.openxmlformats.org/drawingml/2006/main">
            <a:r>
              <a:t>文脈の要約 材料試験と構成則の作成後に行う、シミュレーションと実加工の照合を説明する。</a:t>
            </a:r>
          </a:p>
          <a:p xmlns:a="http://schemas.openxmlformats.org/drawingml/2006/main">
            <a:r>
              <a:t>根拠にする論点 実測でモデルを検証する仕事</a:t>
            </a:r>
          </a:p>
          <a:p xmlns:a="http://schemas.openxmlformats.org/drawingml/2006/main">
            <a:r>
              <a:t>この一節からは言えないこと あらゆる条件での精度保証ではない。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JIMTOF2026 事前調査 2026年10月22日</a:t>
            </a:r>
          </a:p>
          <a:p xmlns:a="http://schemas.openxmlformats.org/drawingml/2006/main">
            <a:r>
              <a:t>公開資料に基づく整理。現地未確認。本文の要約・分析と、引用欄の原文を区別。</a:t>
            </a:r>
          </a:p>
          <a:p xmlns:a="http://schemas.openxmlformats.org/drawingml/2006/main">
            <a:r>
              <a:t/>
            </a:r>
          </a:p>
          <a:p xmlns:a="http://schemas.openxmlformats.org/drawingml/2006/main">
            <a:r>
              <a:t>Q45 / A10</a:t>
            </a:r>
          </a:p>
          <a:p xmlns:a="http://schemas.openxmlformats.org/drawingml/2006/main">
            <a:r>
              <a:t>採択事業者による計画をGENIAC公式資料に掲載</a:t>
            </a:r>
          </a:p>
          <a:p xmlns:a="http://schemas.openxmlformats.org/drawingml/2006/main">
            <a:r>
              <a:t>経済産業省GENIAC GENIAC データエコシステム開発概要</a:t>
            </a:r>
          </a:p>
          <a:p xmlns:a="http://schemas.openxmlformats.org/drawingml/2006/main">
            <a:r>
              <a:t>公表日 未記載</a:t>
            </a:r>
          </a:p>
          <a:p xmlns:a="http://schemas.openxmlformats.org/drawingml/2006/main">
            <a:r>
              <a:t>https://geniac.meti.go.jp/selection_4/asset/pdf/800057700.pdf#page=13</a:t>
            </a:r>
          </a:p>
          <a:p xmlns:a="http://schemas.openxmlformats.org/drawingml/2006/main">
            <a:r>
              <a:t>掲載位置 印刷頁13 小松製作所・産総研の概要</a:t>
            </a:r>
          </a:p>
          <a:p xmlns:a="http://schemas.openxmlformats.org/drawingml/2006/main">
            <a:r>
              <a:t>文脈の要約 設備単位を超えた工場の計画と実績の関係を構造化する計画。</a:t>
            </a:r>
          </a:p>
          <a:p xmlns:a="http://schemas.openxmlformats.org/drawingml/2006/main">
            <a:r>
              <a:t>根拠にする論点 工場の判断を記録する対象</a:t>
            </a:r>
          </a:p>
          <a:p xmlns:a="http://schemas.openxmlformats.org/drawingml/2006/main">
            <a:r>
              <a:t>この一節からは言えないこと 目標のデータセット。取得・整備が全て完了したという実績ではない。</a:t>
            </a:r>
          </a:p>
          <a:p xmlns:a="http://schemas.openxmlformats.org/drawingml/2006/main">
            <a:r>
              <a:t>確認 2026-10-22 原文テキストと照合</a:t>
            </a:r>
          </a:p>
          <a:p xmlns:a="http://schemas.openxmlformats.org/drawingml/2006/main">
            <a:r>
              <a:t/>
            </a:r>
          </a:p>
          <a:p xmlns:a="http://schemas.openxmlformats.org/drawingml/2006/main">
            <a:r>
              <a:t>Q46 / A09</a:t>
            </a:r>
          </a:p>
          <a:p xmlns:a="http://schemas.openxmlformats.org/drawingml/2006/main">
            <a:r>
              <a:t>東芝デジタルソリューションズ 岡本賢司氏の対談発言</a:t>
            </a:r>
          </a:p>
          <a:p xmlns:a="http://schemas.openxmlformats.org/drawingml/2006/main">
            <a:r>
              <a:t>東芝 製造現場の知見を生かしてAIエージェントを活用するには 前編</a:t>
            </a:r>
          </a:p>
          <a:p xmlns:a="http://schemas.openxmlformats.org/drawingml/2006/main">
            <a:r>
              <a:t>公表日 2026-03-06</a:t>
            </a:r>
          </a:p>
          <a:p xmlns:a="http://schemas.openxmlformats.org/drawingml/2006/main">
            <a:r>
              <a:t>https://www.global.toshiba/jp/company/digitalsolution/articles/digicon/2026/82-1.html</a:t>
            </a:r>
          </a:p>
          <a:p xmlns:a="http://schemas.openxmlformats.org/drawingml/2006/main">
            <a:r>
              <a:t>掲載位置 2 AIマルチエージェントの開発事例</a:t>
            </a:r>
          </a:p>
          <a:p xmlns:a="http://schemas.openxmlformats.org/drawingml/2006/main">
            <a:r>
              <a:t>文脈の要約 分析計画や条件の指定と、既存プログラムでの計算を分担する説明。</a:t>
            </a:r>
          </a:p>
          <a:p xmlns:a="http://schemas.openxmlformats.org/drawingml/2006/main">
            <a:r>
              <a:t>根拠にする論点 エージェントと数値計算の分担</a:t>
            </a:r>
          </a:p>
          <a:p xmlns:a="http://schemas.openxmlformats.org/drawingml/2006/main">
            <a:r>
              <a:t>この一節からは言えないこと AIが計算式を自由に生成する方式の根拠にはしない。</a:t>
            </a:r>
          </a:p>
          <a:p xmlns:a="http://schemas.openxmlformats.org/drawingml/2006/main">
            <a:r>
              <a:t>確認 2026-10-22 原文テキストと照合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留保 掲載位置・原典URL・前後関係は各Q番号のリンクとノートで確認できる。代表的な抜粋であり、全文の代わりではない。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38a548dd5549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68ac7c884342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238be7c42548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36e9e601dd4d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0243dce65044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aa134f1a064e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DEBABF-D540-44EF-B2E8-5ABC72CA182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D5788D5-FE53-4208-B82B-896DCAB55D3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C0DCE8-187B-4F7A-A2EA-42939386C33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C929E1-6FDD-46E1-8DCB-14217AD5862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57A894-190C-4C81-9213-203CF5E58DE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CA0D5B-6AC3-4D7A-834D-9FD55EC0965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B0E8A3-71BD-4714-895C-02772C5DF7A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381850-E644-40D3-8603-971D06C709FE}"/>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AB7DEA-7627-4E9F-A485-4D51844FBA5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5376D7-B5B6-4846-AD93-E8FA60B2AED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8627acb6bd43c4" /><Relationship Type="http://schemas.openxmlformats.org/officeDocument/2006/relationships/slideLayout" Target="/ppt/slideLayouts/slideLayout1.xml" Id="R3220aebaa54245ed" /><Relationship Type="http://schemas.openxmlformats.org/officeDocument/2006/relationships/slideLayout" Target="/ppt/slideLayouts/slideLayout2.xml" Id="R110ef925729247af" /><Relationship Type="http://schemas.openxmlformats.org/officeDocument/2006/relationships/slideLayout" Target="/ppt/slideLayouts/slideLayout3.xml" Id="Rb20489f185604b0b" /><Relationship Type="http://schemas.openxmlformats.org/officeDocument/2006/relationships/slideLayout" Target="/ppt/slideLayouts/slideLayout4.xml" Id="Re49b47fa3019421a" /><Relationship Type="http://schemas.openxmlformats.org/officeDocument/2006/relationships/slideLayout" Target="/ppt/slideLayouts/slideLayout5.xml" Id="R9b0a7c1ac6804d48" /><Relationship Type="http://schemas.openxmlformats.org/officeDocument/2006/relationships/slideLayout" Target="/ppt/slideLayouts/slideLayout6.xml" Id="R7c0986e994e54d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20aebaa54245ed"/>
    <p:sldLayoutId xmlns:r="http://schemas.openxmlformats.org/officeDocument/2006/relationships" id="2147483650" r:id="R110ef925729247af"/>
    <p:sldLayoutId xmlns:r="http://schemas.openxmlformats.org/officeDocument/2006/relationships" id="2147483651" r:id="Rb20489f185604b0b"/>
    <p:sldLayoutId xmlns:r="http://schemas.openxmlformats.org/officeDocument/2006/relationships" id="2147483652" r:id="Re49b47fa3019421a"/>
    <p:sldLayoutId xmlns:r="http://schemas.openxmlformats.org/officeDocument/2006/relationships" id="2147483653" r:id="R9b0a7c1ac6804d48"/>
    <p:sldLayoutId xmlns:r="http://schemas.openxmlformats.org/officeDocument/2006/relationships" id="2147483654" r:id="R7c0986e994e54d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c5ee21e9e26487c" /><Relationship Type="http://schemas.openxmlformats.org/officeDocument/2006/relationships/hyperlink" Target="https://monoist.itmedia.co.jp/mn/articles/2610/19/news039_2.html" TargetMode="External" Id="R15d5b5acee944361" /><Relationship Type="http://schemas.openxmlformats.org/officeDocument/2006/relationships/hyperlink" Target="https://www.fanuc.co.jp/ja/profile/pr/newsrelease/2026/news20260930.html" TargetMode="External" Id="Rd2fb73db1ebd403d" /><Relationship Type="http://schemas.openxmlformats.org/officeDocument/2006/relationships/hyperlink" Target="https://blogs.sw.siemens.com/nx-manufacturing/from-agile-to-autonomous-building-adaptive-production-with-digital-twins-and-industrial-ai/" TargetMode="External" Id="R2c7626ce3ef747b0" /><Relationship Type="http://schemas.openxmlformats.org/officeDocument/2006/relationships/hyperlink" Target="https://www.mitsubishielectric.co.jp/ja/pr/2026/0325/" TargetMode="External" Id="Rce053f2bde7146b1" /><Relationship Type="http://schemas.openxmlformats.org/officeDocument/2006/relationships/hyperlink" Target="https://global.fujitsu/ja-jp/pr/news/2026/07/16-01" TargetMode="External" Id="R73525e01760a407e" /><Relationship Type="http://schemas.openxmlformats.org/officeDocument/2006/relationships/notesSlide" Target="/ppt/notesSlides/notesSlide1.xml" Id="R161d783ac04f49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10f89f0b9848db" /><Relationship Type="http://schemas.openxmlformats.org/officeDocument/2006/relationships/hyperlink" Target="https://www.dmgmori.co.jp/corporate/news/2026/20260706_geniac.html" TargetMode="External" Id="R79f530be049044cc" /><Relationship Type="http://schemas.openxmlformats.org/officeDocument/2006/relationships/hyperlink" Target="https://www.abejainc.com/news/20261016/2" TargetMode="External" Id="R85e65bb5db1049b0" /><Relationship Type="http://schemas.openxmlformats.org/officeDocument/2006/relationships/hyperlink" Target="https://monoist.itmedia.co.jp/mn/articles/2610/19/news039_2.html" TargetMode="External" Id="Rf46e05c7a23e4fc2" /><Relationship Type="http://schemas.openxmlformats.org/officeDocument/2006/relationships/hyperlink" Target="https://www.fanuc.co.jp/ja/profile/pr/newsrelease/2026/news20260930.html" TargetMode="External" Id="R08dec7a3d2524136" /><Relationship Type="http://schemas.openxmlformats.org/officeDocument/2006/relationships/hyperlink" Target="https://monoist.itmedia.co.jp/mn/articles/2607/02/news043.html" TargetMode="External" Id="R97d7940d783a4ca0" /><Relationship Type="http://schemas.openxmlformats.org/officeDocument/2006/relationships/notesSlide" Target="/ppt/notesSlides/notesSlide2.xml" Id="Rd5fa596ebc5646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a448b3ab9545ed" /><Relationship Type="http://schemas.openxmlformats.org/officeDocument/2006/relationships/hyperlink" Target="https://www.aist.go.jp/aist_j/news/pr20260702.html" TargetMode="External" Id="R78a25478db274647" /><Relationship Type="http://schemas.openxmlformats.org/officeDocument/2006/relationships/hyperlink" Target="https://monoist.itmedia.co.jp/mn/articles/2610/19/news039_2.html" TargetMode="External" Id="R5277dc408d57457c" /><Relationship Type="http://schemas.openxmlformats.org/officeDocument/2006/relationships/hyperlink" Target="https://kpmg.com/jp/ja/insights/2026/08/ai-emergingtech-10.html" TargetMode="External" Id="R6cf04bf10dd24642" /><Relationship Type="http://schemas.openxmlformats.org/officeDocument/2006/relationships/hyperlink" Target="https://monoist.itmedia.co.jp/mn/articles/2509/27/news004_2.html" TargetMode="External" Id="R8548819182c54473" /><Relationship Type="http://schemas.openxmlformats.org/officeDocument/2006/relationships/hyperlink" Target="https://www.dmgmori.co.jp/corporate/news/2026/20260706_conditionagent.html" TargetMode="External" Id="Re644473241994d7c" /><Relationship Type="http://schemas.openxmlformats.org/officeDocument/2006/relationships/hyperlink" Target="https://thirdwavesys.com/engineering/engineering-services/" TargetMode="External" Id="R292d03f6ce564b1a" /><Relationship Type="http://schemas.openxmlformats.org/officeDocument/2006/relationships/hyperlink" Target="https://www.global.toshiba/jp/company/digitalsolution/articles/digicon/2026/82-1.html" TargetMode="External" Id="Rc2a0e069b8334358" /><Relationship Type="http://schemas.openxmlformats.org/officeDocument/2006/relationships/notesSlide" Target="/ppt/notesSlides/notesSlide3.xml" Id="R3e9d7273328e4c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ebdfb931974eda" /><Relationship Type="http://schemas.openxmlformats.org/officeDocument/2006/relationships/hyperlink" Target="https://www.aist.go.jp/aist_j/news/pr20260702.html" TargetMode="External" Id="R9cdcf7f9221b411e" /><Relationship Type="http://schemas.openxmlformats.org/officeDocument/2006/relationships/hyperlink" Target="https://docs.nvidia.com/learning/physical-ai/sim-to-real-so-101/latest/01-overview.html" TargetMode="External" Id="R50c14fbb16504469" /><Relationship Type="http://schemas.openxmlformats.org/officeDocument/2006/relationships/notesSlide" Target="/ppt/notesSlides/notesSlide4.xml" Id="R5438551f614447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9d502aa99b94326" /><Relationship Type="http://schemas.openxmlformats.org/officeDocument/2006/relationships/chart" Target="/ppt/slides/charts/chart1.xml" Id="R9bc2cc4a08fc4376" /><Relationship Type="http://schemas.openxmlformats.org/officeDocument/2006/relationships/notesSlide" Target="/ppt/notesSlides/notesSlide5.xml" Id="Re10169d5b0de40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bc7af7709e24563" /><Relationship Type="http://schemas.openxmlformats.org/officeDocument/2006/relationships/hyperlink" Target="https://www.dmgmori.co.jp/corporate/news/2026/20260706_geniac.html" TargetMode="External" Id="R50073176854d4b5b" /><Relationship Type="http://schemas.openxmlformats.org/officeDocument/2006/relationships/hyperlink" Target="https://www.abejainc.com/news/20261016/2" TargetMode="External" Id="R903366ac082a447c" /><Relationship Type="http://schemas.openxmlformats.org/officeDocument/2006/relationships/hyperlink" Target="https://monoist.itmedia.co.jp/mn/articles/2610/19/news039_2.html" TargetMode="External" Id="Rd911188c3118494d" /><Relationship Type="http://schemas.openxmlformats.org/officeDocument/2006/relationships/hyperlink" Target="https://www.fanuc.co.jp/ja/profile/pr/newsrelease/2026/news20260930.html" TargetMode="External" Id="Rc86592c9a01b47be" /><Relationship Type="http://schemas.openxmlformats.org/officeDocument/2006/relationships/notesSlide" Target="/ppt/notesSlides/notesSlide6.xml" Id="R628ab3d4192944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d419c07444e404f" /><Relationship Type="http://schemas.openxmlformats.org/officeDocument/2006/relationships/hyperlink" Target="https://www.dmgmori.co.jp/corporate/news/2026/20260706_geniac.html" TargetMode="External" Id="R1c54eb9f44e348cd" /><Relationship Type="http://schemas.openxmlformats.org/officeDocument/2006/relationships/hyperlink" Target="https://monoist.itmedia.co.jp/mn/articles/2606/15/news047_2.html" TargetMode="External" Id="Rf7651632b9eb48df" /><Relationship Type="http://schemas.openxmlformats.org/officeDocument/2006/relationships/hyperlink" Target="https://www.dmgmori.co.jp/corporate/news/2026/20260706_conditionagent.html" TargetMode="External" Id="Rfdd5eff0b9b34dc9" /><Relationship Type="http://schemas.openxmlformats.org/officeDocument/2006/relationships/hyperlink" Target="https://www.dmgmori.co.jp/corporate/ir/ir_library/pdf/2022_ar_j.pdf#page=66" TargetMode="External" Id="R3c24c5c199294b55" /><Relationship Type="http://schemas.openxmlformats.org/officeDocument/2006/relationships/hyperlink" Target="https://www.dmgmori.co.jp/corporate/ir/ir_library/pdf/2025_ir_digest_j.pdf#page=26" TargetMode="External" Id="R8dbcff0521264b98" /><Relationship Type="http://schemas.openxmlformats.org/officeDocument/2006/relationships/hyperlink" Target="https://www.technium.net/celosclub/feature/" TargetMode="External" Id="R27441084b7b24712" /><Relationship Type="http://schemas.openxmlformats.org/officeDocument/2006/relationships/notesSlide" Target="/ppt/notesSlides/notesSlide7.xml" Id="Rab03f938f3854a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58a16765054f87" /><Relationship Type="http://schemas.openxmlformats.org/officeDocument/2006/relationships/hyperlink" Target="https://www.abejainc.com/news/20261016/2" TargetMode="External" Id="Ra8a3732f861b404c" /><Relationship Type="http://schemas.openxmlformats.org/officeDocument/2006/relationships/hyperlink" Target="https://monoist.itmedia.co.jp/mn/articles/2610/19/news039_2.html" TargetMode="External" Id="R845c3b3d944149a6" /><Relationship Type="http://schemas.openxmlformats.org/officeDocument/2006/relationships/notesSlide" Target="/ppt/notesSlides/notesSlide8.xml" Id="R840a46cfd4a140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0d606e236f4fd8" /><Relationship Type="http://schemas.openxmlformats.org/officeDocument/2006/relationships/hyperlink" Target="https://www.fanuc.co.jp/ja/profile/pr/newsrelease/2026/news20260930.html" TargetMode="External" Id="R3843cb5420164707" /><Relationship Type="http://schemas.openxmlformats.org/officeDocument/2006/relationships/hyperlink" Target="https://monoist.itmedia.co.jp/mn/articles/2607/02/news043.html" TargetMode="External" Id="R2983c7e49726477f" /><Relationship Type="http://schemas.openxmlformats.org/officeDocument/2006/relationships/hyperlink" Target="https://www.fanuc.co.jp/ja/profile/pr/newsrelease/2026/news20260513.html" TargetMode="External" Id="Rdf272fdfe1594ffe" /><Relationship Type="http://schemas.openxmlformats.org/officeDocument/2006/relationships/hyperlink" Target="https://www.fanuc.co.jp/ja/profile/pr/newsrelease/2026/news20260716.html" TargetMode="External" Id="R681bb676291f4d60" /><Relationship Type="http://schemas.openxmlformats.org/officeDocument/2006/relationships/hyperlink" Target="https://global.fujitsu/ja-jp/pr/news/2026/07/16-01" TargetMode="External" Id="R49c5efaaf5d544ce" /><Relationship Type="http://schemas.openxmlformats.org/officeDocument/2006/relationships/notesSlide" Target="/ppt/notesSlides/notesSlide9.xml" Id="Rb66ce0c88d164c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8427cee6d744104" /><Relationship Type="http://schemas.openxmlformats.org/officeDocument/2006/relationships/hyperlink" Target="https://monoist.itmedia.co.jp/mn/articles/2607/02/news043.html" TargetMode="External" Id="Rc606d7b6f35c49eb" /><Relationship Type="http://schemas.openxmlformats.org/officeDocument/2006/relationships/hyperlink" Target="https://www.fanuc.co.jp/ja/profile/pr/newsrelease/2026/news20260716.html" TargetMode="External" Id="R54e05b71a1fb4c0f" /><Relationship Type="http://schemas.openxmlformats.org/officeDocument/2006/relationships/hyperlink" Target="https://kpmg.com/jp/ja/insights/2026/08/ai-emergingtech-10.html" TargetMode="External" Id="R034f94cbfc0544fc" /><Relationship Type="http://schemas.openxmlformats.org/officeDocument/2006/relationships/hyperlink" Target="https://docs.nvidia.com/learning/physical-ai/sim-to-real-so-101/latest/01-overview.html" TargetMode="External" Id="R22461833a37f4bf9" /><Relationship Type="http://schemas.openxmlformats.org/officeDocument/2006/relationships/notesSlide" Target="/ppt/notesSlides/notesSlide10.xml" Id="Raff76add822942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31adf00b6d34253" /><Relationship Type="http://schemas.openxmlformats.org/officeDocument/2006/relationships/hyperlink" Target="https://monoist.itmedia.co.jp/mn/articles/2607/02/news043.html" TargetMode="External" Id="Rb317dc6339a244c8" /><Relationship Type="http://schemas.openxmlformats.org/officeDocument/2006/relationships/hyperlink" Target="https://www.fanuc.co.jp/ja/profile/pr/newsrelease/2026/news20260716.html" TargetMode="External" Id="Re7603b3f1fa84d7b" /><Relationship Type="http://schemas.openxmlformats.org/officeDocument/2006/relationships/hyperlink" Target="https://kpmg.com/jp/ja/insights/2026/08/ai-emergingtech-10.html" TargetMode="External" Id="Ref880f39753f43c9" /><Relationship Type="http://schemas.openxmlformats.org/officeDocument/2006/relationships/hyperlink" Target="https://www.mitsubishielectric.co.jp/ja/pr/2026/0325/" TargetMode="External" Id="R302a59a99b0b469b" /><Relationship Type="http://schemas.openxmlformats.org/officeDocument/2006/relationships/hyperlink" Target="https://docs.nvidia.com/learning/physical-ai/sim-to-real-so-101/latest/01-overview.html" TargetMode="External" Id="R82196fc0dd4c4326" /><Relationship Type="http://schemas.openxmlformats.org/officeDocument/2006/relationships/notesSlide" Target="/ppt/notesSlides/notesSlide11.xml" Id="Ref7176c9b97941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16614d1149e428f" /><Relationship Type="http://schemas.openxmlformats.org/officeDocument/2006/relationships/hyperlink" Target="https://monoist.itmedia.co.jp/mn/articles/2610/19/news039_2.html" TargetMode="External" Id="Rb76260efc3664fad" /><Relationship Type="http://schemas.openxmlformats.org/officeDocument/2006/relationships/hyperlink" Target="https://www.global.toshiba/jp/company/digitalsolution/articles/digicon/2026/82-2.html" TargetMode="External" Id="R6a158b057d114c4b" /><Relationship Type="http://schemas.openxmlformats.org/officeDocument/2006/relationships/hyperlink" Target="https://blog.manufacturing.hexagon.com/advanced-manufacturing/cam-software/the-next-step-in-cam-isnt-new-its-already-here/" TargetMode="External" Id="R3439b7b6796e4c1c" /><Relationship Type="http://schemas.openxmlformats.org/officeDocument/2006/relationships/hyperlink" Target="https://www.yaskawa.co.jp/wp-content/uploads/2026/01/20260109_haihu.pdf#page=16" TargetMode="External" Id="R9542a82d7f2a4dd5" /><Relationship Type="http://schemas.openxmlformats.org/officeDocument/2006/relationships/hyperlink" Target="https://www.dmgmori.co.jp/corporate/ir/ir_library/pdf/2025_ir_digest_j.pdf#page=26" TargetMode="External" Id="R1927a43cfe4d4fdb" /><Relationship Type="http://schemas.openxmlformats.org/officeDocument/2006/relationships/hyperlink" Target="https://geniac.meti.go.jp/selection_4/data/index.html" TargetMode="External" Id="Rcb97170a2a494beb" /><Relationship Type="http://schemas.openxmlformats.org/officeDocument/2006/relationships/hyperlink" Target="https://www.global.toshiba/jp/company/digitalsolution/articles/digicon/2026/82-1.html" TargetMode="External" Id="Rcfe0f6bd5500477d" /><Relationship Type="http://schemas.openxmlformats.org/officeDocument/2006/relationships/notesSlide" Target="/ppt/notesSlides/notesSlide12.xml" Id="Rb8a98256c3cc4e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e117b72e28b41c9" /><Relationship Type="http://schemas.openxmlformats.org/officeDocument/2006/relationships/hyperlink" Target="https://www.aist.go.jp/aist_j/news/pr20260702.html" TargetMode="External" Id="R66b9b25dac5b4f74" /><Relationship Type="http://schemas.openxmlformats.org/officeDocument/2006/relationships/hyperlink" Target="https://monoist.itmedia.co.jp/mn/articles/2607/08/news026.html" TargetMode="External" Id="Re8da7923358c445e" /><Relationship Type="http://schemas.openxmlformats.org/officeDocument/2006/relationships/hyperlink" Target="https://umati.org/about/" TargetMode="External" Id="R78237ada51a94638" /><Relationship Type="http://schemas.openxmlformats.org/officeDocument/2006/relationships/hyperlink" Target="https://unit.aist.go.jp/cmt-ri/research-topics/digital-manufacturing.htm" TargetMode="External" Id="Rdc61939c9c9040ff" /><Relationship Type="http://schemas.openxmlformats.org/officeDocument/2006/relationships/hyperlink" Target="https://geniac.meti.go.jp/selection_4/asset/pdf/800057700.pdf#page=13" TargetMode="External" Id="Ra0027a08785244b7" /><Relationship Type="http://schemas.openxmlformats.org/officeDocument/2006/relationships/hyperlink" Target="https://www.ipt.fraunhofer.de/en/projects/dpart.html" TargetMode="External" Id="Rf5559fa2cc714dcd" /><Relationship Type="http://schemas.openxmlformats.org/officeDocument/2006/relationships/hyperlink" Target="https://www.ipt.fraunhofer.de/en/projects/fl-in-nrw.html" TargetMode="External" Id="R0f1818736e934faa" /><Relationship Type="http://schemas.openxmlformats.org/officeDocument/2006/relationships/notesSlide" Target="/ppt/notesSlides/notesSlide13.xml" Id="R518574e46b644e5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54355798aff4834" /><Relationship Type="http://schemas.openxmlformats.org/officeDocument/2006/relationships/hyperlink" Target="https://press.siemens.com/jp/ja/pressrelease/pr-20260106-1" TargetMode="External" Id="R5f02e55f1a4e4346" /><Relationship Type="http://schemas.openxmlformats.org/officeDocument/2006/relationships/hyperlink" Target="https://monoist.itmedia.co.jp/mn/articles/2509/27/news004_2.html" TargetMode="External" Id="Redd043f03d13498a" /><Relationship Type="http://schemas.openxmlformats.org/officeDocument/2006/relationships/hyperlink" Target="https://www.mitsubishielectric.co.jp/ja/pr/2026/0325/" TargetMode="External" Id="Rf0e8359fa03e40ca" /><Relationship Type="http://schemas.openxmlformats.org/officeDocument/2006/relationships/hyperlink" Target="https://www.mitsubishielectric.co.jp/ja/pr/2025/pdf/1210.pdf#page=2" TargetMode="External" Id="R4ea2041449d345eb" /><Relationship Type="http://schemas.openxmlformats.org/officeDocument/2006/relationships/hyperlink" Target="https://thirdwavesys.com/engineering/engineering-services/" TargetMode="External" Id="Rf83dceff207146f6" /><Relationship Type="http://schemas.openxmlformats.org/officeDocument/2006/relationships/hyperlink" Target="https://thirdwavesys.com/machining-modeling/advantedge/" TargetMode="External" Id="R926afc7c92a24a27" /><Relationship Type="http://schemas.openxmlformats.org/officeDocument/2006/relationships/hyperlink" Target="https://www.ipt.fraunhofer.de/en/projects/femmeetsdr.html" TargetMode="External" Id="Rdcc23e57a3b14836" /><Relationship Type="http://schemas.openxmlformats.org/officeDocument/2006/relationships/hyperlink" Target="https://www.technium.net/cam/ncsimulation/" TargetMode="External" Id="R0026d3158ff2439f" /><Relationship Type="http://schemas.openxmlformats.org/officeDocument/2006/relationships/notesSlide" Target="/ppt/notesSlides/notesSlide14.xml" Id="R8014816971ed45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8cddbc26a9c4d79" /><Relationship Type="http://schemas.openxmlformats.org/officeDocument/2006/relationships/hyperlink" Target="https://jpn.nec.com/manufacture/monozukuri/iot_mono/2026-08/02.html" TargetMode="External" Id="R81d82e33ac1c499c" /><Relationship Type="http://schemas.openxmlformats.org/officeDocument/2006/relationships/hyperlink" Target="https://blogs.sw.siemens.com/nx-manufacturing/from-agile-to-autonomous-building-adaptive-production-with-digital-twins-and-industrial-ai/" TargetMode="External" Id="Rbce88db19e3142b8" /><Relationship Type="http://schemas.openxmlformats.org/officeDocument/2006/relationships/hyperlink" Target="https://umati.org/about/" TargetMode="External" Id="R4f0efaded67a471d" /><Relationship Type="http://schemas.openxmlformats.org/officeDocument/2006/relationships/hyperlink" Target="https://monoken.yamazen.co.jp/blog/articles/jimtof/emo-hannover2025-report" TargetMode="External" Id="Rbaead8c783364995" /><Relationship Type="http://schemas.openxmlformats.org/officeDocument/2006/relationships/hyperlink" Target="https://www.omron.com/jp/ja/edge-link/news/769.html" TargetMode="External" Id="R22910f55cd514840" /><Relationship Type="http://schemas.openxmlformats.org/officeDocument/2006/relationships/hyperlink" Target="https://global.fujitsu/ja-jp/pr/news/2026/07/16-01" TargetMode="External" Id="R6397c204ba22429b" /><Relationship Type="http://schemas.openxmlformats.org/officeDocument/2006/relationships/hyperlink" Target="https://geniac.meti.go.jp/selection_4/asset/pdf/800057700.pdf#page=13" TargetMode="External" Id="R3ec62217cea84395" /><Relationship Type="http://schemas.openxmlformats.org/officeDocument/2006/relationships/notesSlide" Target="/ppt/notesSlides/notesSlide15.xml" Id="Rfb4a8521ce4848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14845d81cdb4535" /><Relationship Type="http://schemas.openxmlformats.org/officeDocument/2006/relationships/hyperlink" Target="https://www.dmgmori.co.jp/corporate/news/2026/20260706_geniac.html" TargetMode="External" Id="Rb3bf3ffcc05b4857" /><Relationship Type="http://schemas.openxmlformats.org/officeDocument/2006/relationships/hyperlink" Target="https://monoist.itmedia.co.jp/mn/articles/2606/15/news047_2.html" TargetMode="External" Id="R791271f3c9ba45d7" /><Relationship Type="http://schemas.openxmlformats.org/officeDocument/2006/relationships/hyperlink" Target="https://www.dmgmori.co.jp/corporate/news/2026/20260706_conditionagent.html" TargetMode="External" Id="Re4d31271bc034cdb" /><Relationship Type="http://schemas.openxmlformats.org/officeDocument/2006/relationships/hyperlink" Target="https://www.dmgmori.co.jp/corporate/ir/ir_news/2026/20260804_release.html" TargetMode="External" Id="Re17f29a6d04e4cd6" /><Relationship Type="http://schemas.openxmlformats.org/officeDocument/2006/relationships/hyperlink" Target="https://www.dmgmori.co.jp/corporate/ir/ir_library/pdf/2025_ir_digest_j.pdf#page=26" TargetMode="External" Id="Re1d17c3e0a62424f" /><Relationship Type="http://schemas.openxmlformats.org/officeDocument/2006/relationships/hyperlink" Target="https://infosys.beckhoff.com/content/1033/te3850_tc3_machine_learning_creator/21561794187.html" TargetMode="External" Id="Rc2b755becfa4441c" /><Relationship Type="http://schemas.openxmlformats.org/officeDocument/2006/relationships/hyperlink" Target="https://www.technium.net/celosclub/feature/" TargetMode="External" Id="R0b141b9005ba4cff" /><Relationship Type="http://schemas.openxmlformats.org/officeDocument/2006/relationships/notesSlide" Target="/ppt/notesSlides/notesSlide16.xml" Id="R3d026518e6184c8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45a7a1b294f4de8" /><Relationship Type="http://schemas.openxmlformats.org/officeDocument/2006/relationships/hyperlink" Target="https://monoist.itmedia.co.jp/mn/articles/2610/19/news039_2.html" TargetMode="External" Id="Rc97b7b74ba5640df" /><Relationship Type="http://schemas.openxmlformats.org/officeDocument/2006/relationships/hyperlink" Target="https://jpn.nec.com/manufacture/monozukuri/iot_mono/2026-08/02.html" TargetMode="External" Id="R658e72faa0d548d9" /><Relationship Type="http://schemas.openxmlformats.org/officeDocument/2006/relationships/hyperlink" Target="https://blog.manufacturing.hexagon.com/advanced-manufacturing/cam-software/the-next-step-in-cam-isnt-new-its-already-here/" TargetMode="External" Id="R45bf55d65c834f56" /><Relationship Type="http://schemas.openxmlformats.org/officeDocument/2006/relationships/hyperlink" Target="https://monoist.itmedia.co.jp/mn/articles/2606/15/news047_2.html" TargetMode="External" Id="R1e360fec3aed46c4" /><Relationship Type="http://schemas.openxmlformats.org/officeDocument/2006/relationships/hyperlink" Target="https://www.aist.go.jp/aist_j/press_release/pr2022/pr20220117/pr20220117.html" TargetMode="External" Id="R63f27f027bf94a89" /><Relationship Type="http://schemas.openxmlformats.org/officeDocument/2006/relationships/hyperlink" Target="https://global.fujitsu/ja-jp/pr/news/2026/07/16-01" TargetMode="External" Id="R4ef5e84b35f446c6" /><Relationship Type="http://schemas.openxmlformats.org/officeDocument/2006/relationships/hyperlink" Target="https://geniac.meti.go.jp/selection_4/asset/pdf/800057700.pdf#page=13" TargetMode="External" Id="R8002bf5261fa41b8" /><Relationship Type="http://schemas.openxmlformats.org/officeDocument/2006/relationships/notesSlide" Target="/ppt/notesSlides/notesSlide17.xml" Id="R8f5b7465f5d24e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4feec2320604507" /><Relationship Type="http://schemas.openxmlformats.org/officeDocument/2006/relationships/hyperlink" Target="https://www.fanuc.co.jp/ja/profile/pr/newsrelease/2026/news20260930.html" TargetMode="External" Id="R0d5a7cd57bae448b" /><Relationship Type="http://schemas.openxmlformats.org/officeDocument/2006/relationships/hyperlink" Target="https://monoist.itmedia.co.jp/mn/articles/2607/02/news043.html" TargetMode="External" Id="R9c637642986849bd" /><Relationship Type="http://schemas.openxmlformats.org/officeDocument/2006/relationships/hyperlink" Target="https://www.okuma.co.jp/english/show/jimtof/2026/" TargetMode="External" Id="Rda9565cd41c14a24" /><Relationship Type="http://schemas.openxmlformats.org/officeDocument/2006/relationships/hyperlink" Target="https://www.yaskawa.co.jp/wp-content/uploads/2026/01/20260109_haihu.pdf#page=16" TargetMode="External" Id="Rd19087e6295345d4" /><Relationship Type="http://schemas.openxmlformats.org/officeDocument/2006/relationships/hyperlink" Target="https://geniac.meti.go.jp/selection_4/data/index.html" TargetMode="External" Id="R335bcffe397c402f" /><Relationship Type="http://schemas.openxmlformats.org/officeDocument/2006/relationships/hyperlink" Target="https://www.mitsubishielectric.co.jp/ja/pr/2026/0325/" TargetMode="External" Id="Re50b716b7b6942f1" /><Relationship Type="http://schemas.openxmlformats.org/officeDocument/2006/relationships/hyperlink" Target="https://monoque.jp/news/7299bcaab1e600d161b3837c77fb9d51cb916563/" TargetMode="External" Id="R5f8b0cf27df74456" /><Relationship Type="http://schemas.openxmlformats.org/officeDocument/2006/relationships/hyperlink" Target="https://www.hitachi.com/en/press/articles/2026/03/0323b/" TargetMode="External" Id="Rd2c45c1a45ef4c9b" /><Relationship Type="http://schemas.openxmlformats.org/officeDocument/2006/relationships/notesSlide" Target="/ppt/notesSlides/notesSlide18.xml" Id="Re446272053454b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fa9bf009e234ab7" /><Relationship Type="http://schemas.openxmlformats.org/officeDocument/2006/relationships/hyperlink" Target="https://www.global.toshiba/jp/company/digitalsolution/articles/digicon/2026/82-2.html" TargetMode="External" Id="R690fa64e1b044af2" /><Relationship Type="http://schemas.openxmlformats.org/officeDocument/2006/relationships/hyperlink" Target="https://www.dmgmori.co.jp/corporate/news/2026/20260706_conditionagent.html" TargetMode="External" Id="R79362d2421924b79" /><Relationship Type="http://schemas.openxmlformats.org/officeDocument/2006/relationships/hyperlink" Target="https://www.dmgmori.co.jp/corporate/ir/ir_library/pdf/2025_ir_digest_j.pdf#page=26" TargetMode="External" Id="R5e71c5b12b884e94" /><Relationship Type="http://schemas.openxmlformats.org/officeDocument/2006/relationships/hyperlink" Target="https://www.omron.com/jp/ja/edge-link/news/769.html" TargetMode="External" Id="R1ba4d6268ab6467c" /><Relationship Type="http://schemas.openxmlformats.org/officeDocument/2006/relationships/hyperlink" Target="https://infosys.beckhoff.com/content/1033/te3850_tc3_machine_learning_creator/21561799691.html" TargetMode="External" Id="R63a3ee0853d84f2b" /><Relationship Type="http://schemas.openxmlformats.org/officeDocument/2006/relationships/hyperlink" Target="https://www.global.toshiba/jp/company/digitalsolution/articles/digicon/2026/82-1.html" TargetMode="External" Id="R5bdbe9007e554ece" /><Relationship Type="http://schemas.openxmlformats.org/officeDocument/2006/relationships/notesSlide" Target="/ppt/notesSlides/notesSlide19.xml" Id="R29adf272133246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6f3311ea41e452a" /><Relationship Type="http://schemas.openxmlformats.org/officeDocument/2006/relationships/hyperlink" Target="https://www.aist.go.jp/aist_j/news/pr20260702.html" TargetMode="External" Id="R1c090006688a4b58" /><Relationship Type="http://schemas.openxmlformats.org/officeDocument/2006/relationships/hyperlink" Target="https://monoist.itmedia.co.jp/mn/articles/2610/19/news039_2.html" TargetMode="External" Id="R18994a903a6f4130" /><Relationship Type="http://schemas.openxmlformats.org/officeDocument/2006/relationships/hyperlink" Target="https://blogs.sw.siemens.com/nx-manufacturing/from-agile-to-autonomous-building-adaptive-production-with-digital-twins-and-industrial-ai/" TargetMode="External" Id="Rdbf61b63009b4652" /><Relationship Type="http://schemas.openxmlformats.org/officeDocument/2006/relationships/hyperlink" Target="https://blog.manufacturing.hexagon.com/advanced-manufacturing/cam-software/the-next-step-in-cam-isnt-new-its-already-here/" TargetMode="External" Id="R5dfb26fa27f14dea" /><Relationship Type="http://schemas.openxmlformats.org/officeDocument/2006/relationships/hyperlink" Target="https://umati.org/about/" TargetMode="External" Id="Red11d12e61fd4838" /><Relationship Type="http://schemas.openxmlformats.org/officeDocument/2006/relationships/hyperlink" Target="https://infosys.beckhoff.com/content/1033/te3850_tc3_machine_learning_creator/21561799691.html" TargetMode="External" Id="R3995d323e0bc4830" /><Relationship Type="http://schemas.openxmlformats.org/officeDocument/2006/relationships/hyperlink" Target="https://unit.aist.go.jp/cmt-ri/research-topics/digital-manufacturing.htm" TargetMode="External" Id="Re84d0fc86f984ace" /><Relationship Type="http://schemas.openxmlformats.org/officeDocument/2006/relationships/hyperlink" Target="https://global.fujitsu/ja-jp/pr/news/2026/07/16-01" TargetMode="External" Id="Rab553ce61bc248a9" /><Relationship Type="http://schemas.openxmlformats.org/officeDocument/2006/relationships/hyperlink" Target="https://geniac.meti.go.jp/selection_4/asset/pdf/800057700.pdf#page=13" TargetMode="External" Id="R3a54481507c644a8" /><Relationship Type="http://schemas.openxmlformats.org/officeDocument/2006/relationships/notesSlide" Target="/ppt/notesSlides/notesSlide20.xml" Id="Rd655fa179e6c4d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70f7eafd6b34b72" /><Relationship Type="http://schemas.openxmlformats.org/officeDocument/2006/relationships/hyperlink" Target="https://thirdwavesys.com/engineering/engineering-services/" TargetMode="External" Id="R2c3118bdf5fd4ff4" /><Relationship Type="http://schemas.openxmlformats.org/officeDocument/2006/relationships/hyperlink" Target="https://thirdwavesys.com/machining-modeling/advantedge/" TargetMode="External" Id="Rb04c6446f55e497d" /><Relationship Type="http://schemas.openxmlformats.org/officeDocument/2006/relationships/hyperlink" Target="https://www.ipt.fraunhofer.de/en/projects/femmeetsdr.html" TargetMode="External" Id="R3ebf6de2f1b04ba3" /><Relationship Type="http://schemas.openxmlformats.org/officeDocument/2006/relationships/hyperlink" Target="https://www.ipt.fraunhofer.de/en/projects/dpart.html" TargetMode="External" Id="R54f617ad2db04766" /><Relationship Type="http://schemas.openxmlformats.org/officeDocument/2006/relationships/hyperlink" Target="https://www.technium.net/cam/ncsimulation/" TargetMode="External" Id="R65f6557c86a74a59" /><Relationship Type="http://schemas.openxmlformats.org/officeDocument/2006/relationships/hyperlink" Target="https://www.ipt.fraunhofer.de/en/projects/fl-in-nrw.html" TargetMode="External" Id="R08fccce17fa942a1" /><Relationship Type="http://schemas.openxmlformats.org/officeDocument/2006/relationships/notesSlide" Target="/ppt/notesSlides/notesSlide21.xml" Id="Re794a29368f24ca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626e2f704134ed0" /><Relationship Type="http://schemas.openxmlformats.org/officeDocument/2006/relationships/hyperlink" Target="https://www.hitachi.com/en/press/articles/2026/03/0323b/" TargetMode="External" Id="R4dcc27fd08cd4b5e" /><Relationship Type="http://schemas.openxmlformats.org/officeDocument/2006/relationships/hyperlink" Target="https://global.fujitsu/ja-jp/pr/news/2026/07/16-01" TargetMode="External" Id="Ra65c60aa71ad40ae" /><Relationship Type="http://schemas.openxmlformats.org/officeDocument/2006/relationships/hyperlink" Target="https://www.global.toshiba/jp/company/digitalsolution/articles/digicon/2026/82-1.html" TargetMode="External" Id="R5ecc9cf205714f94" /><Relationship Type="http://schemas.openxmlformats.org/officeDocument/2006/relationships/hyperlink" Target="https://geniac.meti.go.jp/selection_4/asset/pdf/800057700.pdf" TargetMode="External" Id="R056d6e04ddfc417c" /><Relationship Type="http://schemas.openxmlformats.org/officeDocument/2006/relationships/hyperlink" Target="https://www.technium.net/celosclub/feature/" TargetMode="External" Id="Raf3968cf94a84312" /><Relationship Type="http://schemas.openxmlformats.org/officeDocument/2006/relationships/notesSlide" Target="/ppt/notesSlides/notesSlide22.xml" Id="R0c829a2e0739414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a92eaa86934468e" /><Relationship Type="http://schemas.openxmlformats.org/officeDocument/2006/relationships/hyperlink" Target="https://www.aist.go.jp/aist_j/news/pr20260702.html" TargetMode="External" Id="R541f3e85362d4558" /><Relationship Type="http://schemas.openxmlformats.org/officeDocument/2006/relationships/hyperlink" Target="https://monoist.itmedia.co.jp/mn/articles/2610/19/news039_2.html" TargetMode="External" Id="R7e84e87e1c5e4bc7" /><Relationship Type="http://schemas.openxmlformats.org/officeDocument/2006/relationships/hyperlink" Target="https://kpmg.com/jp/ja/insights/2026/08/ai-emergingtech-10.html" TargetMode="External" Id="Rfd620af0eb834575" /><Relationship Type="http://schemas.openxmlformats.org/officeDocument/2006/relationships/hyperlink" Target="https://monoist.itmedia.co.jp/mn/articles/2509/27/news004_2.html" TargetMode="External" Id="Ra8c2205865eb4a9d" /><Relationship Type="http://schemas.openxmlformats.org/officeDocument/2006/relationships/hyperlink" Target="https://www.dir.co.jp/report/research/economics/japan/20260424_025726.html" TargetMode="External" Id="R1393e83699be48c2" /><Relationship Type="http://schemas.openxmlformats.org/officeDocument/2006/relationships/hyperlink" Target="https://thirdwavesys.com/engineering/engineering-services/" TargetMode="External" Id="R26cf53a0d3fe48d0" /><Relationship Type="http://schemas.openxmlformats.org/officeDocument/2006/relationships/hyperlink" Target="https://www.global.toshiba/jp/company/digitalsolution/articles/digicon/2026/82-1.html" TargetMode="External" Id="R536a36b784b84ba8" /><Relationship Type="http://schemas.openxmlformats.org/officeDocument/2006/relationships/notesSlide" Target="/ppt/notesSlides/notesSlide23.xml" Id="R86bcf7a54b8b4c9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076e2db87a14f07" /><Relationship Type="http://schemas.openxmlformats.org/officeDocument/2006/relationships/notesSlide" Target="/ppt/notesSlides/notesSlide24.xml" Id="Rc7db9d66928b4cd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475e6d7c24b4cb6" /><Relationship Type="http://schemas.openxmlformats.org/officeDocument/2006/relationships/notesSlide" Target="/ppt/notesSlides/notesSlide25.xml" Id="R12b329ce197f4f1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dc4b95db3ac4057" /><Relationship Type="http://schemas.openxmlformats.org/officeDocument/2006/relationships/notesSlide" Target="/ppt/notesSlides/notesSlide26.xml" Id="R9c646f8ee4a6466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dc9b1e564c6478e" /><Relationship Type="http://schemas.openxmlformats.org/officeDocument/2006/relationships/notesSlide" Target="/ppt/notesSlides/notesSlide27.xml" Id="R12291e666d26453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1de89c271de4d61" /><Relationship Type="http://schemas.openxmlformats.org/officeDocument/2006/relationships/notesSlide" Target="/ppt/notesSlides/notesSlide28.xml" Id="R2c3ee7704855454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86818788db84e88" /><Relationship Type="http://schemas.openxmlformats.org/officeDocument/2006/relationships/hyperlink" Target="https://www.aist.go.jp/aist_j/news/pr20260702.html" TargetMode="External" Id="R821891deb56749c1" /><Relationship Type="http://schemas.openxmlformats.org/officeDocument/2006/relationships/hyperlink" Target="https://www.dmgmori.co.jp/corporate/news/2026/20260706_geniac.html" TargetMode="External" Id="Re7ce36c63e994edb" /><Relationship Type="http://schemas.openxmlformats.org/officeDocument/2006/relationships/hyperlink" Target="https://monoist.itmedia.co.jp/mn/articles/2607/08/news026.html" TargetMode="External" Id="R3a564656820d4ff8" /><Relationship Type="http://schemas.openxmlformats.org/officeDocument/2006/relationships/hyperlink" Target="https://www.abejainc.com/news/20261016/2" TargetMode="External" Id="R0b56f071ddab4fe5" /><Relationship Type="http://schemas.openxmlformats.org/officeDocument/2006/relationships/hyperlink" Target="https://www.aist.go.jp/aist_j/news/pr20260702.html" TargetMode="External" Id="R32998a59934448dc" /><Relationship Type="http://schemas.openxmlformats.org/officeDocument/2006/relationships/hyperlink" Target="https://www.dmgmori.co.jp/corporate/news/2026/20260706_geniac.html" TargetMode="External" Id="R98458b25be864c0b" /><Relationship Type="http://schemas.openxmlformats.org/officeDocument/2006/relationships/hyperlink" Target="https://monoist.itmedia.co.jp/mn/articles/2607/08/news026.html" TargetMode="External" Id="Rb9573b3173d649f0" /><Relationship Type="http://schemas.openxmlformats.org/officeDocument/2006/relationships/hyperlink" Target="https://www.abejainc.com/news/20261016/2" TargetMode="External" Id="R44c0448d52994da4" /><Relationship Type="http://schemas.openxmlformats.org/officeDocument/2006/relationships/notesSlide" Target="/ppt/notesSlides/notesSlide29.xml" Id="R921329c73ad9413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7dfcb6287b948e7" /><Relationship Type="http://schemas.openxmlformats.org/officeDocument/2006/relationships/hyperlink" Target="https://monoist.itmedia.co.jp/mn/articles/2610/19/news039_2.html" TargetMode="External" Id="Rf9dfb8f9ace64fc6" /><Relationship Type="http://schemas.openxmlformats.org/officeDocument/2006/relationships/hyperlink" Target="https://www.fanuc.co.jp/ja/profile/pr/newsrelease/2026/news20260930.html" TargetMode="External" Id="R9170ad8eb61f4b79" /><Relationship Type="http://schemas.openxmlformats.org/officeDocument/2006/relationships/hyperlink" Target="https://monoist.itmedia.co.jp/mn/articles/2607/02/news043.html" TargetMode="External" Id="R35e8605cff8042e3" /><Relationship Type="http://schemas.openxmlformats.org/officeDocument/2006/relationships/hyperlink" Target="https://www.fanuc.co.jp/ja/profile/pr/newsrelease/2026/news20260513.html" TargetMode="External" Id="Ra21d491f01204c05" /><Relationship Type="http://schemas.openxmlformats.org/officeDocument/2006/relationships/hyperlink" Target="https://monoist.itmedia.co.jp/mn/articles/2610/19/news039_2.html" TargetMode="External" Id="R9abc0f02759f4713" /><Relationship Type="http://schemas.openxmlformats.org/officeDocument/2006/relationships/hyperlink" Target="https://www.fanuc.co.jp/ja/profile/pr/newsrelease/2026/news20260930.html" TargetMode="External" Id="Rcfc4f340683f43b2" /><Relationship Type="http://schemas.openxmlformats.org/officeDocument/2006/relationships/hyperlink" Target="https://monoist.itmedia.co.jp/mn/articles/2607/02/news043.html" TargetMode="External" Id="R6b7bd240cd1a473f" /><Relationship Type="http://schemas.openxmlformats.org/officeDocument/2006/relationships/hyperlink" Target="https://www.fanuc.co.jp/ja/profile/pr/newsrelease/2026/news20260513.html" TargetMode="External" Id="R563b7927eab04121" /><Relationship Type="http://schemas.openxmlformats.org/officeDocument/2006/relationships/notesSlide" Target="/ppt/notesSlides/notesSlide30.xml" Id="R24a916a746f3467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a14cf066f634033" /><Relationship Type="http://schemas.openxmlformats.org/officeDocument/2006/relationships/hyperlink" Target="https://www.fanuc.co.jp/ja/profile/pr/newsrelease/2026/news20260716.html" TargetMode="External" Id="Rbe7e4954dbd841d8" /><Relationship Type="http://schemas.openxmlformats.org/officeDocument/2006/relationships/hyperlink" Target="https://jpn.nec.com/manufacture/monozukuri/iot_mono/2026-08/02.html" TargetMode="External" Id="R637620add30e4022" /><Relationship Type="http://schemas.openxmlformats.org/officeDocument/2006/relationships/hyperlink" Target="https://blogs.sw.siemens.com/nx-manufacturing/from-agile-to-autonomous-building-adaptive-production-with-digital-twins-and-industrial-ai/" TargetMode="External" Id="Ra12cc954a65b48b2" /><Relationship Type="http://schemas.openxmlformats.org/officeDocument/2006/relationships/hyperlink" Target="https://press.siemens.com/jp/ja/pressrelease/pr-20260106-1" TargetMode="External" Id="Rf4c938cbcd904301" /><Relationship Type="http://schemas.openxmlformats.org/officeDocument/2006/relationships/hyperlink" Target="https://www.fanuc.co.jp/ja/profile/pr/newsrelease/2026/news20260716.html" TargetMode="External" Id="R5c34e208ab9541d6" /><Relationship Type="http://schemas.openxmlformats.org/officeDocument/2006/relationships/hyperlink" Target="https://jpn.nec.com/manufacture/monozukuri/iot_mono/2026-08/02.html" TargetMode="External" Id="R55e51cca26294240" /><Relationship Type="http://schemas.openxmlformats.org/officeDocument/2006/relationships/hyperlink" Target="https://blogs.sw.siemens.com/nx-manufacturing/from-agile-to-autonomous-building-adaptive-production-with-digital-twins-and-industrial-ai/" TargetMode="External" Id="R2ed539af06fe477c" /><Relationship Type="http://schemas.openxmlformats.org/officeDocument/2006/relationships/hyperlink" Target="https://press.siemens.com/jp/ja/pressrelease/pr-20260106-1" TargetMode="External" Id="Rd64be6ddb1ae49f9" /><Relationship Type="http://schemas.openxmlformats.org/officeDocument/2006/relationships/notesSlide" Target="/ppt/notesSlides/notesSlide31.xml" Id="R40d904e398af4e3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dc1fd9f325d41e4" /><Relationship Type="http://schemas.openxmlformats.org/officeDocument/2006/relationships/hyperlink" Target="https://www.global.toshiba/jp/company/digitalsolution/articles/digicon/2026/82-2.html" TargetMode="External" Id="R189df8d5dca24eb1" /><Relationship Type="http://schemas.openxmlformats.org/officeDocument/2006/relationships/hyperlink" Target="https://blog.manufacturing.hexagon.com/advanced-manufacturing/cam-software/the-next-step-in-cam-isnt-new-its-already-here/" TargetMode="External" Id="R87896f9a2ac34c1e" /><Relationship Type="http://schemas.openxmlformats.org/officeDocument/2006/relationships/hyperlink" Target="https://blog.manufacturing.hexagon.com/advanced-manufacturing/cam-software/tailored-vs-cloud-ai-choosing-the-right-cam-automation-path/" TargetMode="External" Id="R31f42b4f454047e9" /><Relationship Type="http://schemas.openxmlformats.org/officeDocument/2006/relationships/hyperlink" Target="https://umati.org/about/" TargetMode="External" Id="R9067879ae771486d" /><Relationship Type="http://schemas.openxmlformats.org/officeDocument/2006/relationships/hyperlink" Target="https://www.global.toshiba/jp/company/digitalsolution/articles/digicon/2026/82-2.html" TargetMode="External" Id="R12002ca77d4149a1" /><Relationship Type="http://schemas.openxmlformats.org/officeDocument/2006/relationships/hyperlink" Target="https://blog.manufacturing.hexagon.com/advanced-manufacturing/cam-software/the-next-step-in-cam-isnt-new-its-already-here/" TargetMode="External" Id="Rdd1c1a5f970a43bd" /><Relationship Type="http://schemas.openxmlformats.org/officeDocument/2006/relationships/hyperlink" Target="https://blog.manufacturing.hexagon.com/advanced-manufacturing/cam-software/tailored-vs-cloud-ai-choosing-the-right-cam-automation-path/" TargetMode="External" Id="R3245cbd5fd774592" /><Relationship Type="http://schemas.openxmlformats.org/officeDocument/2006/relationships/hyperlink" Target="https://umati.org/about/" TargetMode="External" Id="R17fd67d9bf1443a8" /><Relationship Type="http://schemas.openxmlformats.org/officeDocument/2006/relationships/notesSlide" Target="/ppt/notesSlides/notesSlide32.xml" Id="Raadc7f7881ae494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74418cd85cb4030" /><Relationship Type="http://schemas.openxmlformats.org/officeDocument/2006/relationships/hyperlink" Target="https://monoken.yamazen.co.jp/blog/articles/jimtof/emo-hannover2025-report" TargetMode="External" Id="Rb129d627682c4281" /><Relationship Type="http://schemas.openxmlformats.org/officeDocument/2006/relationships/hyperlink" Target="https://monoque.jp/feature/contents/f9797930f725f7ac84f44b2030940395c12f5a47/" TargetMode="External" Id="Rd8222d45826e46c4" /><Relationship Type="http://schemas.openxmlformats.org/officeDocument/2006/relationships/hyperlink" Target="https://www.jmtia.gr.jp/uploads/photos1/286.pdf#page=3" TargetMode="External" Id="Red0659ba8d4444c9" /><Relationship Type="http://schemas.openxmlformats.org/officeDocument/2006/relationships/hyperlink" Target="https://www.jri.co.jp/file/report/researchfocus/pdf/16904.pdf#page=26" TargetMode="External" Id="Rf38c0d72619843b8" /><Relationship Type="http://schemas.openxmlformats.org/officeDocument/2006/relationships/hyperlink" Target="https://monoken.yamazen.co.jp/blog/articles/jimtof/emo-hannover2025-report" TargetMode="External" Id="Rdce9cf5644774be2" /><Relationship Type="http://schemas.openxmlformats.org/officeDocument/2006/relationships/hyperlink" Target="https://monoque.jp/feature/contents/f9797930f725f7ac84f44b2030940395c12f5a47/" TargetMode="External" Id="R8119ed1b8018498e" /><Relationship Type="http://schemas.openxmlformats.org/officeDocument/2006/relationships/hyperlink" Target="https://www.jmtia.gr.jp/uploads/photos1/286.pdf#page=3" TargetMode="External" Id="Ra15e444171734918" /><Relationship Type="http://schemas.openxmlformats.org/officeDocument/2006/relationships/hyperlink" Target="https://www.jri.co.jp/file/report/researchfocus/pdf/16904.pdf#page=26" TargetMode="External" Id="R94144ea416d842cf" /><Relationship Type="http://schemas.openxmlformats.org/officeDocument/2006/relationships/notesSlide" Target="/ppt/notesSlides/notesSlide33.xml" Id="R1ded48e66e54417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97901b6909f4015" /><Relationship Type="http://schemas.openxmlformats.org/officeDocument/2006/relationships/hyperlink" Target="https://kpmg.com/jp/ja/insights/2026/08/ai-emergingtech-10.html" TargetMode="External" Id="Rb0c4d3e9ee41446f" /><Relationship Type="http://schemas.openxmlformats.org/officeDocument/2006/relationships/hyperlink" Target="https://www.okuma.co.jp/english/show/jimtof/2026/" TargetMode="External" Id="R28b6e44a72d54d6a" /><Relationship Type="http://schemas.openxmlformats.org/officeDocument/2006/relationships/hyperlink" Target="https://www.yaskawa.co.jp/wp-content/uploads/2026/01/20260109_haihu.pdf#page=16" TargetMode="External" Id="R688c54130aa542bc" /><Relationship Type="http://schemas.openxmlformats.org/officeDocument/2006/relationships/hyperlink" Target="https://monoist.itmedia.co.jp/mn/articles/2509/27/news004_2.html" TargetMode="External" Id="R63ce9dff3ba146c4" /><Relationship Type="http://schemas.openxmlformats.org/officeDocument/2006/relationships/hyperlink" Target="https://kpmg.com/jp/ja/insights/2026/08/ai-emergingtech-10.html" TargetMode="External" Id="R87857dadf1f24f42" /><Relationship Type="http://schemas.openxmlformats.org/officeDocument/2006/relationships/hyperlink" Target="https://www.okuma.co.jp/english/show/jimtof/2026/" TargetMode="External" Id="R3e40dfe4761e47aa" /><Relationship Type="http://schemas.openxmlformats.org/officeDocument/2006/relationships/hyperlink" Target="https://www.yaskawa.co.jp/wp-content/uploads/2026/01/20260109_haihu.pdf#page=16" TargetMode="External" Id="R7af5be1de5774183" /><Relationship Type="http://schemas.openxmlformats.org/officeDocument/2006/relationships/hyperlink" Target="https://monoist.itmedia.co.jp/mn/articles/2509/27/news004_2.html" TargetMode="External" Id="Rab406b85478c42ef" /><Relationship Type="http://schemas.openxmlformats.org/officeDocument/2006/relationships/notesSlide" Target="/ppt/notesSlides/notesSlide34.xml" Id="R178aa7a250f0423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f21ae6926124660" /><Relationship Type="http://schemas.openxmlformats.org/officeDocument/2006/relationships/hyperlink" Target="https://monoist.itmedia.co.jp/mn/articles/2606/15/news047_2.html" TargetMode="External" Id="R9c9054cbcbf74fb9" /><Relationship Type="http://schemas.openxmlformats.org/officeDocument/2006/relationships/hyperlink" Target="https://www.dmgmori.co.jp/corporate/news/2026/20260706_conditionagent.html" TargetMode="External" Id="R211dc65cdf184335" /><Relationship Type="http://schemas.openxmlformats.org/officeDocument/2006/relationships/hyperlink" Target="https://www.dmgmori.co.jp/corporate/ir/ir_news/2026/20260804_release.html" TargetMode="External" Id="R9b75295767aa4bc2" /><Relationship Type="http://schemas.openxmlformats.org/officeDocument/2006/relationships/hyperlink" Target="https://www.dmgmori.co.jp/corporate/ir/ir_library/pdf/2022_ar_j.pdf#page=66" TargetMode="External" Id="Rdf33165f6b034a9a" /><Relationship Type="http://schemas.openxmlformats.org/officeDocument/2006/relationships/hyperlink" Target="https://monoist.itmedia.co.jp/mn/articles/2606/15/news047_2.html" TargetMode="External" Id="Rbcbdf7d89f72483f" /><Relationship Type="http://schemas.openxmlformats.org/officeDocument/2006/relationships/hyperlink" Target="https://www.dmgmori.co.jp/corporate/news/2026/20260706_conditionagent.html" TargetMode="External" Id="R9e5f010e464847ed" /><Relationship Type="http://schemas.openxmlformats.org/officeDocument/2006/relationships/hyperlink" Target="https://www.dmgmori.co.jp/corporate/ir/ir_news/2026/20260804_release.html" TargetMode="External" Id="R89b7884c00eb4177" /><Relationship Type="http://schemas.openxmlformats.org/officeDocument/2006/relationships/hyperlink" Target="https://www.dmgmori.co.jp/corporate/ir/ir_library/pdf/2022_ar_j.pdf#page=66" TargetMode="External" Id="R5f047659207747be" /><Relationship Type="http://schemas.openxmlformats.org/officeDocument/2006/relationships/notesSlide" Target="/ppt/notesSlides/notesSlide35.xml" Id="R1bbb2078f03f4e3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2e88289194449f1" /><Relationship Type="http://schemas.openxmlformats.org/officeDocument/2006/relationships/hyperlink" Target="https://www.dmgmori.co.jp/corporate/ir/ir_library/pdf/2025_ir_digest_j.pdf#page=26" TargetMode="External" Id="Rfc1a3e613570425b" /><Relationship Type="http://schemas.openxmlformats.org/officeDocument/2006/relationships/hyperlink" Target="https://geniac.meti.go.jp/selection_4/data/index.html" TargetMode="External" Id="Rf5df8ff4de24478f" /><Relationship Type="http://schemas.openxmlformats.org/officeDocument/2006/relationships/hyperlink" Target="https://www.mitsubishielectric.co.jp/ja/pr/2026/0325/" TargetMode="External" Id="R6b55999a3a0c4db1" /><Relationship Type="http://schemas.openxmlformats.org/officeDocument/2006/relationships/hyperlink" Target="https://monoque.jp/news/7299bcaab1e600d161b3837c77fb9d51cb916563/" TargetMode="External" Id="Rf1ebf7b8959346bc" /><Relationship Type="http://schemas.openxmlformats.org/officeDocument/2006/relationships/hyperlink" Target="https://www.dmgmori.co.jp/corporate/ir/ir_library/pdf/2025_ir_digest_j.pdf#page=26" TargetMode="External" Id="R0adc6855c4c442f5" /><Relationship Type="http://schemas.openxmlformats.org/officeDocument/2006/relationships/hyperlink" Target="https://geniac.meti.go.jp/selection_4/data/index.html" TargetMode="External" Id="Rb4e518a599774cf2" /><Relationship Type="http://schemas.openxmlformats.org/officeDocument/2006/relationships/hyperlink" Target="https://www.mitsubishielectric.co.jp/ja/pr/2026/0325/" TargetMode="External" Id="R20d89e6bdfef421e" /><Relationship Type="http://schemas.openxmlformats.org/officeDocument/2006/relationships/hyperlink" Target="https://monoque.jp/news/7299bcaab1e600d161b3837c77fb9d51cb916563/" TargetMode="External" Id="R6cf16f95ae044971" /><Relationship Type="http://schemas.openxmlformats.org/officeDocument/2006/relationships/notesSlide" Target="/ppt/notesSlides/notesSlide36.xml" Id="R8e1737d63a974de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aa14504f87743cd" /><Relationship Type="http://schemas.openxmlformats.org/officeDocument/2006/relationships/hyperlink" Target="https://www.omron.com/jp/ja/edge-link/news/769.html" TargetMode="External" Id="R271d86dbe97e4235" /><Relationship Type="http://schemas.openxmlformats.org/officeDocument/2006/relationships/hyperlink" Target="https://www.dir.co.jp/report/research/economics/japan/20260424_025726.html" TargetMode="External" Id="R23079fd6a2b743f5" /><Relationship Type="http://schemas.openxmlformats.org/officeDocument/2006/relationships/hyperlink" Target="https://infosys.beckhoff.com/content/1033/te3850_tc3_machine_learning_creator/21561799691.html" TargetMode="External" Id="R9d42223bcd734b02" /><Relationship Type="http://schemas.openxmlformats.org/officeDocument/2006/relationships/hyperlink" Target="https://infosys.beckhoff.com/content/1033/te3850_tc3_machine_learning_creator/21561794187.html" TargetMode="External" Id="R613f819285564ed7" /><Relationship Type="http://schemas.openxmlformats.org/officeDocument/2006/relationships/hyperlink" Target="https://www.omron.com/jp/ja/edge-link/news/769.html" TargetMode="External" Id="R24a7fc149d744de5" /><Relationship Type="http://schemas.openxmlformats.org/officeDocument/2006/relationships/hyperlink" Target="https://www.dir.co.jp/report/research/economics/japan/20260424_025726.html" TargetMode="External" Id="R5ce71793e3a64d48" /><Relationship Type="http://schemas.openxmlformats.org/officeDocument/2006/relationships/hyperlink" Target="https://infosys.beckhoff.com/content/1033/te3850_tc3_machine_learning_creator/21561799691.html" TargetMode="External" Id="Rc8a864e8da354873" /><Relationship Type="http://schemas.openxmlformats.org/officeDocument/2006/relationships/hyperlink" Target="https://infosys.beckhoff.com/content/1033/te3850_tc3_machine_learning_creator/21561794187.html" TargetMode="External" Id="Rf127408e91e04ec3" /><Relationship Type="http://schemas.openxmlformats.org/officeDocument/2006/relationships/notesSlide" Target="/ppt/notesSlides/notesSlide37.xml" Id="Rcbb33b070fc94f5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39828ae61a34bca" /><Relationship Type="http://schemas.openxmlformats.org/officeDocument/2006/relationships/hyperlink" Target="https://unit.aist.go.jp/cmt-ri/moco/ja/join/index.html" TargetMode="External" Id="R9523b5e676b54030" /><Relationship Type="http://schemas.openxmlformats.org/officeDocument/2006/relationships/hyperlink" Target="https://www.aist.go.jp/aist_j/press_release/pr2022/pr20220117/pr20220117.html" TargetMode="External" Id="Ref2f1b2c0b05482c" /><Relationship Type="http://schemas.openxmlformats.org/officeDocument/2006/relationships/hyperlink" Target="https://unit.aist.go.jp/cmt-ri/research-topics/digital-manufacturing.htm" TargetMode="External" Id="R7657c1886d724958" /><Relationship Type="http://schemas.openxmlformats.org/officeDocument/2006/relationships/hyperlink" Target="https://www.mitsubishielectric.co.jp/ja/pr/2025/pdf/1210.pdf#page=2" TargetMode="External" Id="R346df867105a4bfe" /><Relationship Type="http://schemas.openxmlformats.org/officeDocument/2006/relationships/hyperlink" Target="https://unit.aist.go.jp/cmt-ri/moco/ja/join/index.html" TargetMode="External" Id="Rb748ab05658c4a74" /><Relationship Type="http://schemas.openxmlformats.org/officeDocument/2006/relationships/hyperlink" Target="https://www.aist.go.jp/aist_j/press_release/pr2022/pr20220117/pr20220117.html" TargetMode="External" Id="R3f665054ea2d4431" /><Relationship Type="http://schemas.openxmlformats.org/officeDocument/2006/relationships/hyperlink" Target="https://unit.aist.go.jp/cmt-ri/research-topics/digital-manufacturing.htm" TargetMode="External" Id="R7fc63dd6a4f545f2" /><Relationship Type="http://schemas.openxmlformats.org/officeDocument/2006/relationships/hyperlink" Target="https://www.mitsubishielectric.co.jp/ja/pr/2025/pdf/1210.pdf#page=2" TargetMode="External" Id="Rac703c338557447c" /><Relationship Type="http://schemas.openxmlformats.org/officeDocument/2006/relationships/notesSlide" Target="/ppt/notesSlides/notesSlide38.xml" Id="R50d824ad9ac9493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14ba93af3d54e7e" /><Relationship Type="http://schemas.openxmlformats.org/officeDocument/2006/relationships/hyperlink" Target="https://docs.nvidia.com/learning/physical-ai/sim-to-real-so-101/latest/01-overview.html" TargetMode="External" Id="R7b099d68dd6445e8" /><Relationship Type="http://schemas.openxmlformats.org/officeDocument/2006/relationships/hyperlink" Target="https://global.fujitsu/ja-jp/pr/news/2026/07/16-01" TargetMode="External" Id="Rc8811f495a904f4a" /><Relationship Type="http://schemas.openxmlformats.org/officeDocument/2006/relationships/hyperlink" Target="https://www.technium.net/celosclub/feature/" TargetMode="External" Id="R33c943b2bd8f4903" /><Relationship Type="http://schemas.openxmlformats.org/officeDocument/2006/relationships/hyperlink" Target="https://thirdwavesys.com/engineering/engineering-services/" TargetMode="External" Id="R519342357e2f4671" /><Relationship Type="http://schemas.openxmlformats.org/officeDocument/2006/relationships/hyperlink" Target="https://docs.nvidia.com/learning/physical-ai/sim-to-real-so-101/latest/01-overview.html" TargetMode="External" Id="R850c65ed5ddc4cc0" /><Relationship Type="http://schemas.openxmlformats.org/officeDocument/2006/relationships/hyperlink" Target="https://global.fujitsu/ja-jp/pr/news/2026/07/16-01" TargetMode="External" Id="Rdba8af1fec474ae0" /><Relationship Type="http://schemas.openxmlformats.org/officeDocument/2006/relationships/hyperlink" Target="https://www.technium.net/celosclub/feature/" TargetMode="External" Id="Rd1cd8810545743ec" /><Relationship Type="http://schemas.openxmlformats.org/officeDocument/2006/relationships/hyperlink" Target="https://thirdwavesys.com/engineering/engineering-services/" TargetMode="External" Id="R2dca8d2fbbfa4275" /><Relationship Type="http://schemas.openxmlformats.org/officeDocument/2006/relationships/notesSlide" Target="/ppt/notesSlides/notesSlide39.xml" Id="R2c76e62251d3426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1ed190ac72346c5" /><Relationship Type="http://schemas.openxmlformats.org/officeDocument/2006/relationships/hyperlink" Target="https://geniac.meti.go.jp/selection_4/asset/pdf/800057700.pdf#page=13" TargetMode="External" Id="Rf678572c7ecb400b" /><Relationship Type="http://schemas.openxmlformats.org/officeDocument/2006/relationships/hyperlink" Target="https://www.global.toshiba/jp/company/digitalsolution/articles/digicon/2026/82-1.html" TargetMode="External" Id="R2cc1bd960cb14354" /><Relationship Type="http://schemas.openxmlformats.org/officeDocument/2006/relationships/hyperlink" Target="https://geniac.meti.go.jp/selection_4/asset/pdf/800057700.pdf#page=13" TargetMode="External" Id="R2af7942dd8084e16" /><Relationship Type="http://schemas.openxmlformats.org/officeDocument/2006/relationships/hyperlink" Target="https://www.global.toshiba/jp/company/digitalsolution/articles/digicon/2026/82-1.html" TargetMode="External" Id="Rad84107ab6264d12" /><Relationship Type="http://schemas.openxmlformats.org/officeDocument/2006/relationships/notesSlide" Target="/ppt/notesSlides/notesSlide40.xml" Id="R54329d806570421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2024年</c:v>
          </c:tx>
          <c:spPr>
            <a:solidFill xmlns:a="http://schemas.openxmlformats.org/drawingml/2006/main">
              <a:srgbClr val="91ABB5"/>
            </a:solidFill>
          </c:spPr>
          <c:invertIfNegative val="0"/>
          <c:cat>
            <c:strRef>
              <c:f>'Chart Data'!$A$2:$A$9</c:f>
              <c:strCache>
                <c:ptCount val="8"/>
                <c:pt idx="0">
                  <c:v>AI明示</c:v>
                </c:pt>
                <c:pt idx="1">
                  <c:v>生成AIとエージェント</c:v>
                </c:pt>
                <c:pt idx="2">
                  <c:v>フィジカルAI明示</c:v>
                </c:pt>
                <c:pt idx="3">
                  <c:v>自動化と省人化</c:v>
                </c:pt>
                <c:pt idx="4">
                  <c:v>設計製造のデジタル化</c:v>
                </c:pt>
                <c:pt idx="5">
                  <c:v>工場運用とデータ連携</c:v>
                </c:pt>
                <c:pt idx="6">
                  <c:v>状態監視と補正</c:v>
                </c:pt>
                <c:pt idx="7">
                  <c:v>自律の明示</c:v>
                </c:pt>
              </c:strCache>
            </c:strRef>
          </c:cat>
          <c:val>
            <c:numRef>
              <c:f>'Chart Data'!$B$2:$B$9</c:f>
              <c:numCache>
                <c:formatCode>General</c:formatCode>
                <c:ptCount val="8"/>
                <c:pt idx="0">
                  <c:v>22</c:v>
                </c:pt>
                <c:pt idx="1">
                  <c:v>0</c:v>
                </c:pt>
                <c:pt idx="2">
                  <c:v>0</c:v>
                </c:pt>
                <c:pt idx="3">
                  <c:v>172</c:v>
                </c:pt>
                <c:pt idx="4">
                  <c:v>43</c:v>
                </c:pt>
                <c:pt idx="5">
                  <c:v>59</c:v>
                </c:pt>
                <c:pt idx="6">
                  <c:v>31</c:v>
                </c:pt>
                <c:pt idx="7">
                  <c:v>4</c:v>
                </c:pt>
              </c:numCache>
            </c:numRef>
          </c:val>
        </c:ser>
        <c:ser>
          <c:idx val="1"/>
          <c:order val="1"/>
          <c:tx>
            <c:v>2026年</c:v>
          </c:tx>
          <c:spPr>
            <a:solidFill xmlns:a="http://schemas.openxmlformats.org/drawingml/2006/main">
              <a:srgbClr val="117D83"/>
            </a:solidFill>
          </c:spPr>
          <c:invertIfNegative val="0"/>
          <c:cat>
            <c:strRef>
              <c:f>'Chart Data'!$C$2:$C$9</c:f>
              <c:strCache>
                <c:ptCount val="8"/>
                <c:pt idx="0">
                  <c:v>AI明示</c:v>
                </c:pt>
                <c:pt idx="1">
                  <c:v>生成AIとエージェント</c:v>
                </c:pt>
                <c:pt idx="2">
                  <c:v>フィジカルAI明示</c:v>
                </c:pt>
                <c:pt idx="3">
                  <c:v>自動化と省人化</c:v>
                </c:pt>
                <c:pt idx="4">
                  <c:v>設計製造のデジタル化</c:v>
                </c:pt>
                <c:pt idx="5">
                  <c:v>工場運用とデータ連携</c:v>
                </c:pt>
                <c:pt idx="6">
                  <c:v>状態監視と補正</c:v>
                </c:pt>
                <c:pt idx="7">
                  <c:v>自律の明示</c:v>
                </c:pt>
              </c:strCache>
            </c:strRef>
          </c:cat>
          <c:val>
            <c:numRef>
              <c:f>'Chart Data'!$D$2:$D$9</c:f>
              <c:numCache>
                <c:formatCode>General</c:formatCode>
                <c:ptCount val="8"/>
                <c:pt idx="0">
                  <c:v>40</c:v>
                </c:pt>
                <c:pt idx="1">
                  <c:v>5</c:v>
                </c:pt>
                <c:pt idx="2">
                  <c:v>7</c:v>
                </c:pt>
                <c:pt idx="3">
                  <c:v>193</c:v>
                </c:pt>
                <c:pt idx="4">
                  <c:v>39</c:v>
                </c:pt>
                <c:pt idx="5">
                  <c:v>57</c:v>
                </c:pt>
                <c:pt idx="6">
                  <c:v>26</c:v>
                </c:pt>
                <c:pt idx="7">
                  <c:v>6</c:v>
                </c:pt>
              </c:numCache>
            </c:numRef>
          </c:val>
        </c:ser>
        <c:dLbls>
          <c:txPr>
            <a:bodyPr xmlns:a="http://schemas.openxmlformats.org/drawingml/2006/main" anchorCtr="1"/>
            <a:lstStyle xmlns:a="http://schemas.openxmlformats.org/drawingml/2006/main"/>
            <a:p xmlns:a="http://schemas.openxmlformats.org/drawingml/2006/main">
              <a:pPr>
                <a:defRPr sz="1800">
                  <a:latin typeface="Noto Sans JP"/>
                  <a:ea typeface="Noto Sans JP"/>
                  <a:cs typeface="Noto Sans JP"/>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Noto Sans JP"/>
                <a:ea typeface="Noto Sans JP"/>
                <a:cs typeface="Noto Sans JP"/>
              </a:defRPr>
            </a:pPr>
          </a:p>
        </c:txPr>
        <c:crossAx val="48672768"/>
      </c:catAx>
      <c:valAx>
        <c:axId val="48672768"/>
        <c:scaling>
          <c:orientation val="minMax"/>
          <c:max val="220"/>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Noto Sans JP"/>
                <a:ea typeface="Noto Sans JP"/>
                <a:cs typeface="Noto Sans JP"/>
              </a:defRPr>
            </a:pPr>
          </a:p>
        </c:txPr>
        <c:crossAx val="48650112"/>
        <c:crossBetween val="between"/>
      </c:valAx>
      <c:spPr>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75">
              <a:latin typeface="Noto Sans JP"/>
              <a:ea typeface="Noto Sans JP"/>
              <a:cs typeface="Noto Sans JP"/>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41AC81DC-A542-4803-A20F-82810C2DDDA1}"/>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AI・自動化の対象は、工程をまたぐ判断へ広がる</a:t>
            </a:r>
          </a:p>
        </p:txBody>
      </p:sp>
      <p:sp>
        <p:nvSpPr>
          <p:cNvPr id="2" name="context">
            <a:extLst xmlns:a="http://schemas.openxmlformats.org/drawingml/2006/main">
              <a:ext uri="{FF2B5EF4-FFF2-40B4-BE49-F238E27FC236}">
                <a16:creationId xmlns:a16="http://schemas.microsoft.com/office/drawing/2014/main" id="{F9679232-441B-4ADD-BBA9-F6069FBF531D}"/>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JIMTOF2026 事前調査。2026年10月22日時点の公開資料から、各社が向かう方向を読む。</a:t>
            </a:r>
          </a:p>
        </p:txBody>
      </p:sp>
      <p:sp>
        <p:nvSpPr>
          <p:cNvPr id="3" name="main-thesis">
            <a:extLst xmlns:a="http://schemas.openxmlformats.org/drawingml/2006/main">
              <a:ext uri="{FF2B5EF4-FFF2-40B4-BE49-F238E27FC236}">
                <a16:creationId xmlns:a16="http://schemas.microsoft.com/office/drawing/2014/main" id="{40061EF3-27D0-4902-AD05-D0EA6C995A00}"/>
              </a:ext>
            </a:extLst>
          </p:cNvPr>
          <p:cNvSpPr>
            <a:spLocks xmlns:a="http://schemas.openxmlformats.org/drawingml/2006/main" noGrp="1"/>
          </p:cNvSpPr>
          <p:nvPr/>
        </p:nvSpPr>
        <p:spPr>
          <a:xfrm xmlns:a="http://schemas.openxmlformats.org/drawingml/2006/main">
            <a:off x="838200" y="2647950"/>
            <a:ext cx="164782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17D83"/>
                </a:solidFill>
                <a:latin typeface="Noto Sans JP"/>
                <a:ea typeface="Noto Sans JP"/>
                <a:cs typeface="Noto Sans JP"/>
              </a:defRPr>
            </a:defPPr>
            <a:lvl1pPr>
              <a:defRPr sz="3825" b="1">
                <a:solidFill>
                  <a:srgbClr val="117D83"/>
                </a:solidFill>
                <a:latin typeface="Noto Sans JP"/>
                <a:ea typeface="Noto Sans JP"/>
                <a:cs typeface="Noto Sans JP"/>
              </a:defRPr>
            </a:lvl1pPr>
            <a:lvl2pPr>
              <a:defRPr sz="3825" b="1">
                <a:solidFill>
                  <a:srgbClr val="117D83"/>
                </a:solidFill>
                <a:latin typeface="Noto Sans JP"/>
                <a:ea typeface="Noto Sans JP"/>
                <a:cs typeface="Noto Sans JP"/>
              </a:defRPr>
            </a:lvl2pPr>
            <a:lvl3pPr>
              <a:defRPr sz="3825" b="1">
                <a:solidFill>
                  <a:srgbClr val="117D83"/>
                </a:solidFill>
                <a:latin typeface="Noto Sans JP"/>
                <a:ea typeface="Noto Sans JP"/>
                <a:cs typeface="Noto Sans JP"/>
              </a:defRPr>
            </a:lvl3pPr>
            <a:lvl4pPr>
              <a:defRPr sz="3825" b="1">
                <a:solidFill>
                  <a:srgbClr val="117D83"/>
                </a:solidFill>
                <a:latin typeface="Noto Sans JP"/>
                <a:ea typeface="Noto Sans JP"/>
                <a:cs typeface="Noto Sans JP"/>
              </a:defRPr>
            </a:lvl4pPr>
            <a:lvl5pPr>
              <a:defRPr sz="3825" b="1">
                <a:solidFill>
                  <a:srgbClr val="117D83"/>
                </a:solidFill>
                <a:latin typeface="Noto Sans JP"/>
                <a:ea typeface="Noto Sans JP"/>
                <a:cs typeface="Noto Sans JP"/>
              </a:defRPr>
            </a:lvl5pPr>
            <a:lvl6pPr>
              <a:defRPr sz="3825" b="1">
                <a:solidFill>
                  <a:srgbClr val="117D83"/>
                </a:solidFill>
                <a:latin typeface="Noto Sans JP"/>
                <a:ea typeface="Noto Sans JP"/>
                <a:cs typeface="Noto Sans JP"/>
              </a:defRPr>
            </a:lvl6pPr>
            <a:lvl7pPr>
              <a:defRPr sz="3825" b="1">
                <a:solidFill>
                  <a:srgbClr val="117D83"/>
                </a:solidFill>
                <a:latin typeface="Noto Sans JP"/>
                <a:ea typeface="Noto Sans JP"/>
                <a:cs typeface="Noto Sans JP"/>
              </a:defRPr>
            </a:lvl7pPr>
            <a:lvl8pPr>
              <a:defRPr sz="3825" b="1">
                <a:solidFill>
                  <a:srgbClr val="117D83"/>
                </a:solidFill>
                <a:latin typeface="Noto Sans JP"/>
                <a:ea typeface="Noto Sans JP"/>
                <a:cs typeface="Noto Sans JP"/>
              </a:defRPr>
            </a:lvl8pPr>
            <a:lvl9pPr>
              <a:defRPr sz="3825" b="1">
                <a:solidFill>
                  <a:srgbClr val="117D83"/>
                </a:solidFill>
                <a:latin typeface="Noto Sans JP"/>
                <a:ea typeface="Noto Sans JP"/>
                <a:cs typeface="Noto Sans JP"/>
              </a:defRPr>
            </a:lvl9pPr>
          </a:lstStyle>
          <a:p xmlns:a="http://schemas.openxmlformats.org/drawingml/2006/main">
            <a:pPr>
              <a:lnSpc>
                <a:spcPct val="108000"/>
              </a:lnSpc>
              <a:buNone/>
              <a:defRPr sz="3825" b="1">
                <a:solidFill>
                  <a:srgbClr val="117D83"/>
                </a:solidFill>
                <a:latin typeface="Noto Sans JP"/>
                <a:ea typeface="Noto Sans JP"/>
                <a:cs typeface="Noto Sans JP"/>
              </a:defRPr>
            </a:pPr>
            <a:r>
              <a:rPr sz="3825" b="1">
                <a:solidFill>
                  <a:srgbClr val="117D83"/>
                </a:solidFill>
                <a:latin typeface="Noto Sans JP"/>
                <a:ea typeface="Noto Sans JP"/>
                <a:cs typeface="Noto Sans JP"/>
              </a:rPr>
              <a:t>個々の工程を高度化しながら、</a:t>
            </a:r>
          </a:p>
          <a:p xmlns:a="http://schemas.openxmlformats.org/drawingml/2006/main">
            <a:pPr>
              <a:lnSpc>
                <a:spcPct val="108000"/>
              </a:lnSpc>
              <a:buNone/>
              <a:defRPr sz="3825" b="1">
                <a:solidFill>
                  <a:srgbClr val="117D83"/>
                </a:solidFill>
                <a:latin typeface="Noto Sans JP"/>
                <a:ea typeface="Noto Sans JP"/>
                <a:cs typeface="Noto Sans JP"/>
              </a:defRPr>
            </a:pPr>
            <a:r>
              <a:rPr sz="3825" b="1">
                <a:solidFill>
                  <a:srgbClr val="117D83"/>
                </a:solidFill>
                <a:latin typeface="Noto Sans JP"/>
                <a:ea typeface="Noto Sans JP"/>
                <a:cs typeface="Noto Sans JP"/>
              </a:rPr>
              <a:t>設計・加工・計測・計画の判断をつなぐ</a:t>
            </a:r>
          </a:p>
        </p:txBody>
      </p:sp>
      <p:graphicFrame>
        <p:nvGraphicFramePr>
          <p:cNvPr id="4" name="">
            <a:extLst xmlns:a="http://schemas.openxmlformats.org/drawingml/2006/main">
              <a:ext uri="{FF2B5EF4-FFF2-40B4-BE49-F238E27FC236}">
                <a16:creationId xmlns:a16="http://schemas.microsoft.com/office/drawing/2014/main" id="{2038849C-E4E9-431B-BF5F-602578E261E1}"/>
              </a:ext>
            </a:extLst>
          </p:cNvPr>
          <p:cNvGraphicFramePr/>
          <p:nvPr/>
        </p:nvGraphicFramePr>
        <p:xfrm>
          <a:off xmlns:a="http://schemas.openxmlformats.org/drawingml/2006/main" x="819150" y="4286250"/>
          <a:ext xmlns:a="http://schemas.openxmlformats.org/drawingml/2006/main" cx="16649700" cy="4533900"/>
        </p:xfrm>
        <a:graphic xmlns:a="http://schemas.openxmlformats.org/drawingml/2006/main">
          <a:graphicData uri="http://schemas.openxmlformats.org/drawingml/2006/table">
            <a:tbl>
              <a:tblPr/>
              <a:tblGrid>
                <a:gridCol w="3333750"/>
                <a:gridCol w="6096000"/>
                <a:gridCol w="7219950"/>
              </a:tblGrid>
              <a:tr h="647700">
                <a:tc>
                  <a:txBody>
                    <a:bodyPr wrap="none" lIns="104775" tIns="104775" rIns="104775" bIns="104775">
                      <a:noAutofit/>
                    </a:bodyPr>
                    <a:lstStyle/>
                    <a:p>
                      <a:pPr>
                        <a:lnSpc>
                          <a:spcPct val="108000"/>
                        </a:lnSpc>
                        <a:buNone/>
                      </a:pPr>
                      <a:r>
                        <a:rPr sz="2400" b="1">
                          <a:solidFill>
                            <a:srgbClr val="FFFFFF"/>
                          </a:solidFill>
                          <a:latin typeface="Noto Sans JP"/>
                          <a:ea typeface="Noto Sans JP"/>
                          <a:cs typeface="Noto Sans JP"/>
                        </a:rPr>
                        <a:t>開発の対象</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400" b="1">
                          <a:solidFill>
                            <a:srgbClr val="FFFFFF"/>
                          </a:solidFill>
                          <a:latin typeface="Noto Sans JP"/>
                          <a:ea typeface="Noto Sans JP"/>
                          <a:cs typeface="Noto Sans JP"/>
                        </a:rPr>
                        <a:t>顧客の仕事</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400" b="1">
                          <a:solidFill>
                            <a:srgbClr val="FFFFFF"/>
                          </a:solidFill>
                          <a:latin typeface="Noto Sans JP"/>
                          <a:ea typeface="Noto Sans JP"/>
                          <a:cs typeface="Noto Sans JP"/>
                        </a:rPr>
                        <a:t>資料に見える方向</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295400">
                <a:tc>
                  <a:txBody>
                    <a:bodyPr wrap="none" lIns="104775" tIns="104775" rIns="104775" bIns="104775">
                      <a:noAutofit/>
                    </a:bodyPr>
                    <a:lstStyle/>
                    <a:p>
                      <a:pPr>
                        <a:lnSpc>
                          <a:spcPct val="108000"/>
                        </a:lnSpc>
                        <a:buNone/>
                      </a:pPr>
                      <a:r>
                        <a:rPr sz="2400" b="1">
                          <a:solidFill>
                            <a:srgbClr val="183C4D"/>
                          </a:solidFill>
                          <a:latin typeface="Noto Sans JP"/>
                          <a:ea typeface="Noto Sans JP"/>
                          <a:cs typeface="Noto Sans JP"/>
                        </a:rPr>
                        <a:t>個別工程の高度化</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400" b="0">
                          <a:solidFill>
                            <a:srgbClr val="183C4D"/>
                          </a:solidFill>
                          <a:latin typeface="Noto Sans JP"/>
                          <a:ea typeface="Noto Sans JP"/>
                          <a:cs typeface="Noto Sans JP"/>
                        </a:rPr>
                        <a:t>加工条件、誤差補正</a:t>
                      </a:r>
                    </a:p>
                    <a:p>
                      <a:pPr>
                        <a:lnSpc>
                          <a:spcPct val="108000"/>
                        </a:lnSpc>
                        <a:buNone/>
                      </a:pPr>
                      <a:r>
                        <a:rPr sz="2400" b="0">
                          <a:solidFill>
                            <a:srgbClr val="183C4D"/>
                          </a:solidFill>
                          <a:latin typeface="Noto Sans JP"/>
                          <a:ea typeface="Noto Sans JP"/>
                          <a:cs typeface="Noto Sans JP"/>
                        </a:rPr>
                        <a:t>品質判定、診断</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400" b="0">
                          <a:solidFill>
                            <a:srgbClr val="183C4D"/>
                          </a:solidFill>
                          <a:latin typeface="Noto Sans JP"/>
                          <a:ea typeface="Noto Sans JP"/>
                          <a:cs typeface="Noto Sans JP"/>
                        </a:rPr>
                        <a:t>物理モデルと実測を使い、精度と安定性を高める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295400">
                <a:tc>
                  <a:txBody>
                    <a:bodyPr wrap="none" lIns="104775" tIns="104775" rIns="104775" bIns="104775">
                      <a:noAutofit/>
                    </a:bodyPr>
                    <a:lstStyle/>
                    <a:p>
                      <a:pPr>
                        <a:lnSpc>
                          <a:spcPct val="108000"/>
                        </a:lnSpc>
                        <a:buNone/>
                      </a:pPr>
                      <a:r>
                        <a:rPr sz="2400" b="1">
                          <a:solidFill>
                            <a:srgbClr val="183C4D"/>
                          </a:solidFill>
                          <a:latin typeface="Noto Sans JP"/>
                          <a:ea typeface="Noto Sans JP"/>
                          <a:cs typeface="Noto Sans JP"/>
                        </a:rPr>
                        <a:t>変更への対応</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400" b="0">
                          <a:solidFill>
                            <a:srgbClr val="183C4D"/>
                          </a:solidFill>
                          <a:latin typeface="Noto Sans JP"/>
                          <a:ea typeface="Noto Sans JP"/>
                          <a:cs typeface="Noto Sans JP"/>
                        </a:rPr>
                        <a:t>工程設計、段取り替え、把持・動作の変更</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400" b="0">
                          <a:solidFill>
                            <a:srgbClr val="183C4D"/>
                          </a:solidFill>
                          <a:latin typeface="Noto Sans JP"/>
                          <a:ea typeface="Noto Sans JP"/>
                          <a:cs typeface="Noto Sans JP"/>
                        </a:rPr>
                        <a:t>加工意図や現場の状態を使い、人の判断・調整を</a:t>
                      </a:r>
                    </a:p>
                    <a:p>
                      <a:pPr>
                        <a:lnSpc>
                          <a:spcPct val="108000"/>
                        </a:lnSpc>
                        <a:buNone/>
                      </a:pPr>
                      <a:r>
                        <a:rPr sz="2400" b="0">
                          <a:solidFill>
                            <a:srgbClr val="183C4D"/>
                          </a:solidFill>
                          <a:latin typeface="Noto Sans JP"/>
                          <a:ea typeface="Noto Sans JP"/>
                          <a:cs typeface="Noto Sans JP"/>
                        </a:rPr>
                        <a:t>支援する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295400">
                <a:tc>
                  <a:txBody>
                    <a:bodyPr wrap="none" lIns="104775" tIns="104775" rIns="104775" bIns="104775">
                      <a:noAutofit/>
                    </a:bodyPr>
                    <a:lstStyle/>
                    <a:p>
                      <a:pPr>
                        <a:lnSpc>
                          <a:spcPct val="108000"/>
                        </a:lnSpc>
                        <a:buNone/>
                      </a:pPr>
                      <a:r>
                        <a:rPr sz="2400" b="1">
                          <a:solidFill>
                            <a:srgbClr val="183C4D"/>
                          </a:solidFill>
                          <a:latin typeface="Noto Sans JP"/>
                          <a:ea typeface="Noto Sans JP"/>
                          <a:cs typeface="Noto Sans JP"/>
                        </a:rPr>
                        <a:t>工程間の判断</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400" b="0">
                          <a:solidFill>
                            <a:srgbClr val="183C4D"/>
                          </a:solidFill>
                          <a:latin typeface="Noto Sans JP"/>
                          <a:ea typeface="Noto Sans JP"/>
                          <a:cs typeface="Noto Sans JP"/>
                        </a:rPr>
                        <a:t>生産計画の修正と実行</a:t>
                      </a:r>
                    </a:p>
                    <a:p>
                      <a:pPr>
                        <a:lnSpc>
                          <a:spcPct val="108000"/>
                        </a:lnSpc>
                        <a:buNone/>
                      </a:pPr>
                      <a:r>
                        <a:rPr sz="2400" b="0">
                          <a:solidFill>
                            <a:srgbClr val="183C4D"/>
                          </a:solidFill>
                          <a:latin typeface="Noto Sans JP"/>
                          <a:ea typeface="Noto Sans JP"/>
                          <a:cs typeface="Noto Sans JP"/>
                        </a:rPr>
                        <a:t>品質・保全との調整</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400" b="0">
                          <a:solidFill>
                            <a:srgbClr val="183C4D"/>
                          </a:solidFill>
                          <a:latin typeface="Noto Sans JP"/>
                          <a:ea typeface="Noto Sans JP"/>
                          <a:cs typeface="Noto Sans JP"/>
                        </a:rPr>
                        <a:t>設計・工程・稼働状態をつなぎ、前後工程の制約</a:t>
                      </a:r>
                    </a:p>
                    <a:p>
                      <a:pPr>
                        <a:lnSpc>
                          <a:spcPct val="108000"/>
                        </a:lnSpc>
                        <a:buNone/>
                      </a:pPr>
                      <a:r>
                        <a:rPr sz="2400" b="0">
                          <a:solidFill>
                            <a:srgbClr val="183C4D"/>
                          </a:solidFill>
                          <a:latin typeface="Noto Sans JP"/>
                          <a:ea typeface="Noto Sans JP"/>
                          <a:cs typeface="Noto Sans JP"/>
                        </a:rPr>
                        <a:t>を扱う</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5" name="ref-Q05">
            <a:extLst xmlns:a="http://schemas.openxmlformats.org/drawingml/2006/main">
              <a:ext uri="{FF2B5EF4-FFF2-40B4-BE49-F238E27FC236}">
                <a16:creationId xmlns:a16="http://schemas.microsoft.com/office/drawing/2014/main" id="{46817F23-0BBA-4154-B1C3-E04CF46B0858}"/>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15d5b5acee944361"/>
              </a:rPr>
              <a:t>Q05 p.30</a:t>
            </a:r>
          </a:p>
        </p:txBody>
      </p:sp>
      <p:sp>
        <p:nvSpPr>
          <p:cNvPr id="6" name="ref-Q06">
            <a:extLst xmlns:a="http://schemas.openxmlformats.org/drawingml/2006/main">
              <a:ext uri="{FF2B5EF4-FFF2-40B4-BE49-F238E27FC236}">
                <a16:creationId xmlns:a16="http://schemas.microsoft.com/office/drawing/2014/main" id="{2E6E1189-28AE-422B-B52E-859496778295}"/>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2fb73db1ebd403d"/>
              </a:rPr>
              <a:t>Q06 p.30</a:t>
            </a:r>
          </a:p>
        </p:txBody>
      </p:sp>
      <p:sp>
        <p:nvSpPr>
          <p:cNvPr id="7" name="ref-Q11">
            <a:extLst xmlns:a="http://schemas.openxmlformats.org/drawingml/2006/main">
              <a:ext uri="{FF2B5EF4-FFF2-40B4-BE49-F238E27FC236}">
                <a16:creationId xmlns:a16="http://schemas.microsoft.com/office/drawing/2014/main" id="{3EB4C41E-57F0-4425-AA95-67AFEC32D628}"/>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c7626ce3ef747b0"/>
              </a:rPr>
              <a:t>Q11 p.31</a:t>
            </a:r>
          </a:p>
        </p:txBody>
      </p:sp>
      <p:sp>
        <p:nvSpPr>
          <p:cNvPr id="8" name="ref-Q31">
            <a:extLst xmlns:a="http://schemas.openxmlformats.org/drawingml/2006/main">
              <a:ext uri="{FF2B5EF4-FFF2-40B4-BE49-F238E27FC236}">
                <a16:creationId xmlns:a16="http://schemas.microsoft.com/office/drawing/2014/main" id="{FC9DAEC4-56BF-4AE8-8F93-80F43CA47598}"/>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ce053f2bde7146b1"/>
              </a:rPr>
              <a:t>Q31 p.36</a:t>
            </a:r>
          </a:p>
        </p:txBody>
      </p:sp>
      <p:sp>
        <p:nvSpPr>
          <p:cNvPr id="9" name="ref-Q42">
            <a:extLst xmlns:a="http://schemas.openxmlformats.org/drawingml/2006/main">
              <a:ext uri="{FF2B5EF4-FFF2-40B4-BE49-F238E27FC236}">
                <a16:creationId xmlns:a16="http://schemas.microsoft.com/office/drawing/2014/main" id="{B93F5A98-8343-46F1-B4CB-6C4F77318FB7}"/>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73525e01760a407e"/>
              </a:rPr>
              <a:t>Q42 p.39</a:t>
            </a:r>
          </a:p>
        </p:txBody>
      </p:sp>
      <p:sp>
        <p:nvSpPr>
          <p:cNvPr id="10" name="disclosure">
            <a:extLst xmlns:a="http://schemas.openxmlformats.org/drawingml/2006/main">
              <a:ext uri="{FF2B5EF4-FFF2-40B4-BE49-F238E27FC236}">
                <a16:creationId xmlns:a16="http://schemas.microsoft.com/office/drawing/2014/main" id="{148F2A17-B04E-4BE0-B95F-20F41EA1B625}"/>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複数の企業方針・研究・製品説明に基づく分析。工場全体の自律運用が普及済みという結論ではない。</a:t>
            </a:r>
          </a:p>
        </p:txBody>
      </p:sp>
      <p:sp>
        <p:nvSpPr>
          <p:cNvPr id="11" name="page">
            <a:extLst xmlns:a="http://schemas.openxmlformats.org/drawingml/2006/main">
              <a:ext uri="{FF2B5EF4-FFF2-40B4-BE49-F238E27FC236}">
                <a16:creationId xmlns:a16="http://schemas.microsoft.com/office/drawing/2014/main" id="{3BB0BA4A-C543-41D7-A407-07A4BA74309E}"/>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01 / 40</a:t>
            </a:r>
          </a:p>
        </p:txBody>
      </p:sp>
    </p:spTree>
    <p:extLst>
      <p:ext uri="{BB962C8B-B14F-4D97-AF65-F5344CB8AC3E}">
        <p14:creationId xmlns:p14="http://schemas.microsoft.com/office/powerpoint/2010/main" val="3376138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0C989142-87F4-4008-8EF8-DEBA6B207F67}"/>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各社はデータ・技能・実証現場から判断と実行を育てる</a:t>
            </a:r>
          </a:p>
        </p:txBody>
      </p:sp>
      <p:sp>
        <p:nvSpPr>
          <p:cNvPr id="2" name="context">
            <a:extLst xmlns:a="http://schemas.openxmlformats.org/drawingml/2006/main">
              <a:ext uri="{FF2B5EF4-FFF2-40B4-BE49-F238E27FC236}">
                <a16:creationId xmlns:a16="http://schemas.microsoft.com/office/drawing/2014/main" id="{25E94551-94E1-483B-A97D-DD30020FFF25}"/>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共通するのは、現場の情報をモデルと顧客の仕事へ戻す開発。持ち寄る資産と実用化の段階は異なる。</a:t>
            </a:r>
          </a:p>
        </p:txBody>
      </p:sp>
      <p:graphicFrame>
        <p:nvGraphicFramePr>
          <p:cNvPr id="3" name="">
            <a:extLst xmlns:a="http://schemas.openxmlformats.org/drawingml/2006/main">
              <a:ext uri="{FF2B5EF4-FFF2-40B4-BE49-F238E27FC236}">
                <a16:creationId xmlns:a16="http://schemas.microsoft.com/office/drawing/2014/main" id="{EF2F63D3-C4B6-40BA-8242-A85CCC6E18A5}"/>
              </a:ext>
            </a:extLst>
          </p:cNvPr>
          <p:cNvGraphicFramePr/>
          <p:nvPr/>
        </p:nvGraphicFramePr>
        <p:xfrm>
          <a:off xmlns:a="http://schemas.openxmlformats.org/drawingml/2006/main" x="819150" y="2571750"/>
          <a:ext xmlns:a="http://schemas.openxmlformats.org/drawingml/2006/main" cx="16649700" cy="6191250"/>
        </p:xfrm>
        <a:graphic xmlns:a="http://schemas.openxmlformats.org/drawingml/2006/main">
          <a:graphicData uri="http://schemas.openxmlformats.org/drawingml/2006/table">
            <a:tbl>
              <a:tblPr/>
              <a:tblGrid>
                <a:gridCol w="2667000"/>
                <a:gridCol w="4810125"/>
                <a:gridCol w="4429125"/>
                <a:gridCol w="4743450"/>
              </a:tblGrid>
              <a:tr h="762000">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企業・連携</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開発の入口と仕事</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持ち寄る資産</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比較で見る論点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809750">
                <a:tc>
                  <a:txBody>
                    <a:bodyPr wrap="none" lIns="104775" tIns="104775" rIns="104775" bIns="104775">
                      <a:noAutofit/>
                    </a:bodyPr>
                    <a:lstStyle/>
                    <a:p>
                      <a:pPr>
                        <a:lnSpc>
                          <a:spcPct val="108000"/>
                        </a:lnSpc>
                        <a:buNone/>
                      </a:pPr>
                      <a:r>
                        <a:rPr sz="2250" b="1">
                          <a:solidFill>
                            <a:srgbClr val="183C4D"/>
                          </a:solidFill>
                          <a:latin typeface="Noto Sans JP"/>
                          <a:ea typeface="Noto Sans JP"/>
                          <a:cs typeface="Noto Sans JP"/>
                        </a:rPr>
                        <a:t>DMG森精機</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設備・工程・品質を使うAI基盤</a:t>
                      </a:r>
                    </a:p>
                    <a:p>
                      <a:pPr>
                        <a:lnSpc>
                          <a:spcPct val="108000"/>
                        </a:lnSpc>
                        <a:buNone/>
                      </a:pPr>
                      <a:r>
                        <a:rPr sz="2250" b="0">
                          <a:solidFill>
                            <a:srgbClr val="183C4D"/>
                          </a:solidFill>
                          <a:latin typeface="Noto Sans JP"/>
                          <a:ea typeface="Noto Sans JP"/>
                          <a:cs typeface="Noto Sans JP"/>
                        </a:rPr>
                        <a:t>診断、条件最適化、顧客別支援</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販売済み設備、加工・修理知識</a:t>
                      </a:r>
                    </a:p>
                    <a:p>
                      <a:pPr>
                        <a:lnSpc>
                          <a:spcPct val="108000"/>
                        </a:lnSpc>
                        <a:buNone/>
                      </a:pPr>
                      <a:r>
                        <a:rPr sz="2250" b="0">
                          <a:solidFill>
                            <a:srgbClr val="183C4D"/>
                          </a:solidFill>
                          <a:latin typeface="Noto Sans JP"/>
                          <a:ea typeface="Noto Sans JP"/>
                          <a:cs typeface="Noto Sans JP"/>
                        </a:rPr>
                        <a:t>継続サービスの接点</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顧客へ何を返すか</a:t>
                      </a:r>
                    </a:p>
                    <a:p>
                      <a:pPr>
                        <a:lnSpc>
                          <a:spcPct val="108000"/>
                        </a:lnSpc>
                        <a:buNone/>
                      </a:pPr>
                      <a:r>
                        <a:rPr sz="2250" b="0">
                          <a:solidFill>
                            <a:srgbClr val="183C4D"/>
                          </a:solidFill>
                          <a:latin typeface="Noto Sans JP"/>
                          <a:ea typeface="Noto Sans JP"/>
                          <a:cs typeface="Noto Sans JP"/>
                        </a:rPr>
                        <a:t>用途が変わると何が不足するか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809750">
                <a:tc>
                  <a:txBody>
                    <a:bodyPr wrap="none" lIns="104775" tIns="104775" rIns="104775" bIns="104775">
                      <a:noAutofit/>
                    </a:bodyPr>
                    <a:lstStyle/>
                    <a:p>
                      <a:pPr>
                        <a:lnSpc>
                          <a:spcPct val="108000"/>
                        </a:lnSpc>
                        <a:buNone/>
                      </a:pPr>
                      <a:r>
                        <a:rPr sz="2250" b="1">
                          <a:solidFill>
                            <a:srgbClr val="183C4D"/>
                          </a:solidFill>
                          <a:latin typeface="Noto Sans JP"/>
                          <a:ea typeface="Noto Sans JP"/>
                          <a:cs typeface="Noto Sans JP"/>
                        </a:rPr>
                        <a:t>マザック／ABEJA</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加工意図と計画修正を学ぶ</a:t>
                      </a:r>
                    </a:p>
                    <a:p>
                      <a:pPr>
                        <a:lnSpc>
                          <a:spcPct val="108000"/>
                        </a:lnSpc>
                        <a:buNone/>
                      </a:pPr>
                      <a:r>
                        <a:rPr sz="2250" b="0">
                          <a:solidFill>
                            <a:srgbClr val="183C4D"/>
                          </a:solidFill>
                          <a:latin typeface="Noto Sans JP"/>
                          <a:ea typeface="Noto Sans JP"/>
                          <a:cs typeface="Noto Sans JP"/>
                        </a:rPr>
                        <a:t>工程設計・生産計画・ロボット</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MAZATROL、熟練判断の文脈</a:t>
                      </a:r>
                    </a:p>
                    <a:p>
                      <a:pPr>
                        <a:lnSpc>
                          <a:spcPct val="108000"/>
                        </a:lnSpc>
                        <a:buNone/>
                      </a:pPr>
                      <a:r>
                        <a:rPr sz="2250" b="0">
                          <a:solidFill>
                            <a:srgbClr val="183C4D"/>
                          </a:solidFill>
                          <a:latin typeface="Noto Sans JP"/>
                          <a:ea typeface="Noto Sans JP"/>
                          <a:cs typeface="Noto Sans JP"/>
                        </a:rPr>
                        <a:t>自社工場とAI開発基盤</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どの条件・理由・結果を残すか</a:t>
                      </a:r>
                    </a:p>
                    <a:p>
                      <a:pPr>
                        <a:lnSpc>
                          <a:spcPct val="108000"/>
                        </a:lnSpc>
                        <a:buNone/>
                      </a:pPr>
                      <a:r>
                        <a:rPr sz="2250" b="0">
                          <a:solidFill>
                            <a:srgbClr val="183C4D"/>
                          </a:solidFill>
                          <a:latin typeface="Noto Sans JP"/>
                          <a:ea typeface="Noto Sans JP"/>
                          <a:cs typeface="Noto Sans JP"/>
                        </a:rPr>
                        <a:t>判断の再現と最適化の違い</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809750">
                <a:tc>
                  <a:txBody>
                    <a:bodyPr wrap="none" lIns="104775" tIns="104775" rIns="104775" bIns="104775">
                      <a:noAutofit/>
                    </a:bodyPr>
                    <a:lstStyle/>
                    <a:p>
                      <a:pPr>
                        <a:lnSpc>
                          <a:spcPct val="108000"/>
                        </a:lnSpc>
                        <a:buNone/>
                      </a:pPr>
                      <a:r>
                        <a:rPr sz="2250" b="1">
                          <a:solidFill>
                            <a:srgbClr val="183C4D"/>
                          </a:solidFill>
                          <a:latin typeface="Noto Sans JP"/>
                          <a:ea typeface="Noto Sans JP"/>
                          <a:cs typeface="Noto Sans JP"/>
                        </a:rPr>
                        <a:t>ファナック／日立</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変化する作業へ実機を適応</a:t>
                      </a:r>
                    </a:p>
                    <a:p>
                      <a:pPr>
                        <a:lnSpc>
                          <a:spcPct val="108000"/>
                        </a:lnSpc>
                        <a:buNone/>
                      </a:pPr>
                      <a:r>
                        <a:rPr sz="2250" b="0">
                          <a:solidFill>
                            <a:srgbClr val="183C4D"/>
                          </a:solidFill>
                          <a:latin typeface="Noto Sans JP"/>
                          <a:ea typeface="Noto Sans JP"/>
                          <a:cs typeface="Noto Sans JP"/>
                        </a:rPr>
                        <a:t>形状・品種変更と段取り替え</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ロボット・制御、現場知識</a:t>
                      </a:r>
                    </a:p>
                    <a:p>
                      <a:pPr>
                        <a:lnSpc>
                          <a:spcPct val="108000"/>
                        </a:lnSpc>
                        <a:buNone/>
                      </a:pPr>
                      <a:r>
                        <a:rPr sz="2250" b="0">
                          <a:solidFill>
                            <a:srgbClr val="183C4D"/>
                          </a:solidFill>
                          <a:latin typeface="Noto Sans JP"/>
                          <a:ea typeface="Noto Sans JP"/>
                          <a:cs typeface="Noto Sans JP"/>
                        </a:rPr>
                        <a:t>日立の実証工場と展開先</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共通技術と工場固有の適応</a:t>
                      </a:r>
                    </a:p>
                    <a:p>
                      <a:pPr>
                        <a:lnSpc>
                          <a:spcPct val="108000"/>
                        </a:lnSpc>
                        <a:buNone/>
                      </a:pPr>
                      <a:r>
                        <a:rPr sz="2250" b="0">
                          <a:solidFill>
                            <a:srgbClr val="183C4D"/>
                          </a:solidFill>
                          <a:latin typeface="Noto Sans JP"/>
                          <a:ea typeface="Noto Sans JP"/>
                          <a:cs typeface="Noto Sans JP"/>
                        </a:rPr>
                        <a:t>速度・品質を含む実用性</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ref-Q02">
            <a:extLst xmlns:a="http://schemas.openxmlformats.org/drawingml/2006/main">
              <a:ext uri="{FF2B5EF4-FFF2-40B4-BE49-F238E27FC236}">
                <a16:creationId xmlns:a16="http://schemas.microsoft.com/office/drawing/2014/main" id="{DD58670A-6B8B-4817-B221-2272703059A1}"/>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79f530be049044cc"/>
              </a:rPr>
              <a:t>Q02 p.29</a:t>
            </a:r>
          </a:p>
        </p:txBody>
      </p:sp>
      <p:sp>
        <p:nvSpPr>
          <p:cNvPr id="5" name="ref-Q04">
            <a:extLst xmlns:a="http://schemas.openxmlformats.org/drawingml/2006/main">
              <a:ext uri="{FF2B5EF4-FFF2-40B4-BE49-F238E27FC236}">
                <a16:creationId xmlns:a16="http://schemas.microsoft.com/office/drawing/2014/main" id="{638E6E5C-D023-4AEF-B0BF-135C03FF0BB1}"/>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5e65bb5db1049b0"/>
              </a:rPr>
              <a:t>Q04 p.29</a:t>
            </a:r>
          </a:p>
        </p:txBody>
      </p:sp>
      <p:sp>
        <p:nvSpPr>
          <p:cNvPr id="6" name="ref-Q05">
            <a:extLst xmlns:a="http://schemas.openxmlformats.org/drawingml/2006/main">
              <a:ext uri="{FF2B5EF4-FFF2-40B4-BE49-F238E27FC236}">
                <a16:creationId xmlns:a16="http://schemas.microsoft.com/office/drawing/2014/main" id="{03CD02DF-022A-4283-BB48-DCBDBDD544A3}"/>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f46e05c7a23e4fc2"/>
              </a:rPr>
              <a:t>Q05 p.30</a:t>
            </a:r>
          </a:p>
        </p:txBody>
      </p:sp>
      <p:sp>
        <p:nvSpPr>
          <p:cNvPr id="7" name="ref-Q06">
            <a:extLst xmlns:a="http://schemas.openxmlformats.org/drawingml/2006/main">
              <a:ext uri="{FF2B5EF4-FFF2-40B4-BE49-F238E27FC236}">
                <a16:creationId xmlns:a16="http://schemas.microsoft.com/office/drawing/2014/main" id="{479ED316-1C04-41CA-BD79-3ABA5ADF62E8}"/>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08dec7a3d2524136"/>
              </a:rPr>
              <a:t>Q06 p.30</a:t>
            </a:r>
          </a:p>
        </p:txBody>
      </p:sp>
      <p:sp>
        <p:nvSpPr>
          <p:cNvPr id="8" name="ref-Q07">
            <a:extLst xmlns:a="http://schemas.openxmlformats.org/drawingml/2006/main">
              <a:ext uri="{FF2B5EF4-FFF2-40B4-BE49-F238E27FC236}">
                <a16:creationId xmlns:a16="http://schemas.microsoft.com/office/drawing/2014/main" id="{5703AA16-218D-4E38-8DFB-1B412FBA2F7E}"/>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97d7940d783a4ca0"/>
              </a:rPr>
              <a:t>Q07 p.30</a:t>
            </a:r>
          </a:p>
        </p:txBody>
      </p:sp>
      <p:sp>
        <p:nvSpPr>
          <p:cNvPr id="9" name="disclosure">
            <a:extLst xmlns:a="http://schemas.openxmlformats.org/drawingml/2006/main">
              <a:ext uri="{FF2B5EF4-FFF2-40B4-BE49-F238E27FC236}">
                <a16:creationId xmlns:a16="http://schemas.microsoft.com/office/drawing/2014/main" id="{612225F2-9243-43B1-9512-23282090D74C}"/>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多目的AI・共同実証等の計画と、既存製品を区別する。AI単独の収益効果や全機能の顧客提供を確認したものではない。</a:t>
            </a:r>
          </a:p>
        </p:txBody>
      </p:sp>
      <p:sp>
        <p:nvSpPr>
          <p:cNvPr id="10" name="page">
            <a:extLst xmlns:a="http://schemas.openxmlformats.org/drawingml/2006/main">
              <a:ext uri="{FF2B5EF4-FFF2-40B4-BE49-F238E27FC236}">
                <a16:creationId xmlns:a16="http://schemas.microsoft.com/office/drawing/2014/main" id="{6FCF1A63-697A-4E3A-B64B-C52D55DAD57A}"/>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02 / 40</a:t>
            </a:r>
          </a:p>
        </p:txBody>
      </p:sp>
    </p:spTree>
    <p:extLst>
      <p:ext uri="{BB962C8B-B14F-4D97-AF65-F5344CB8AC3E}">
        <p14:creationId xmlns:p14="http://schemas.microsoft.com/office/powerpoint/2010/main" val="16516205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eading">
            <a:extLst xmlns:a="http://schemas.openxmlformats.org/drawingml/2006/main">
              <a:ext uri="{FF2B5EF4-FFF2-40B4-BE49-F238E27FC236}">
                <a16:creationId xmlns:a16="http://schemas.microsoft.com/office/drawing/2014/main" id="{80F1CA94-33FD-4755-B26B-F1625B96C81D}"/>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開発の焦点は、顧客条件への適応と効果の検証</a:t>
            </a:r>
          </a:p>
        </p:txBody>
      </p:sp>
      <p:sp>
        <p:nvSpPr>
          <p:cNvPr id="2" name="context">
            <a:extLst xmlns:a="http://schemas.openxmlformats.org/drawingml/2006/main">
              <a:ext uri="{FF2B5EF4-FFF2-40B4-BE49-F238E27FC236}">
                <a16:creationId xmlns:a16="http://schemas.microsoft.com/office/drawing/2014/main" id="{23A579AD-7AA8-4245-ADDD-AEBF9ECFB61A}"/>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顧客向けサービスの候補。自社の現象・計測・顧客接点を、既存基盤との協業で生かせるかを確かめる。</a:t>
            </a:r>
          </a:p>
        </p:txBody>
      </p:sp>
      <p:graphicFrame>
        <p:nvGraphicFramePr>
          <p:cNvPr id="3" name="">
            <a:extLst xmlns:a="http://schemas.openxmlformats.org/drawingml/2006/main">
              <a:ext uri="{FF2B5EF4-FFF2-40B4-BE49-F238E27FC236}">
                <a16:creationId xmlns:a16="http://schemas.microsoft.com/office/drawing/2014/main" id="{E02345BC-A250-4E9E-9817-110EDA29FE8E}"/>
              </a:ext>
            </a:extLst>
          </p:cNvPr>
          <p:cNvGraphicFramePr/>
          <p:nvPr/>
        </p:nvGraphicFramePr>
        <p:xfrm>
          <a:off xmlns:a="http://schemas.openxmlformats.org/drawingml/2006/main" x="819150" y="2571750"/>
          <a:ext xmlns:a="http://schemas.openxmlformats.org/drawingml/2006/main" cx="16649700" cy="6153150"/>
        </p:xfrm>
        <a:graphic xmlns:a="http://schemas.openxmlformats.org/drawingml/2006/main">
          <a:graphicData uri="http://schemas.openxmlformats.org/drawingml/2006/table">
            <a:tbl>
              <a:tblPr/>
              <a:tblGrid>
                <a:gridCol w="3571875"/>
                <a:gridCol w="6858000"/>
                <a:gridCol w="6219825"/>
              </a:tblGrid>
              <a:tr h="704850">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顧客が困る仕事</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提供するサービス候補</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着手前に確かめる条件</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362075">
                <a:tc>
                  <a:txBody>
                    <a:bodyPr wrap="none" lIns="104775" tIns="104775" rIns="104775" bIns="104775">
                      <a:noAutofit/>
                    </a:bodyPr>
                    <a:lstStyle/>
                    <a:p>
                      <a:pPr>
                        <a:lnSpc>
                          <a:spcPct val="108000"/>
                        </a:lnSpc>
                        <a:buNone/>
                      </a:pPr>
                      <a:r>
                        <a:rPr sz="2250" b="1">
                          <a:solidFill>
                            <a:srgbClr val="183C4D"/>
                          </a:solidFill>
                          <a:latin typeface="Noto Sans JP"/>
                          <a:ea typeface="Noto Sans JP"/>
                          <a:cs typeface="Noto Sans JP"/>
                        </a:rPr>
                        <a:t>取得しても開発に</a:t>
                      </a:r>
                    </a:p>
                    <a:p>
                      <a:pPr>
                        <a:lnSpc>
                          <a:spcPct val="108000"/>
                        </a:lnSpc>
                        <a:buNone/>
                      </a:pPr>
                      <a:r>
                        <a:rPr sz="2250" b="1">
                          <a:solidFill>
                            <a:srgbClr val="183C4D"/>
                          </a:solidFill>
                          <a:latin typeface="Noto Sans JP"/>
                          <a:ea typeface="Noto Sans JP"/>
                          <a:cs typeface="Noto Sans JP"/>
                        </a:rPr>
                        <a:t>使えない</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測定・同期・条件・品質の対応を設計</a:t>
                      </a:r>
                    </a:p>
                    <a:p>
                      <a:pPr>
                        <a:lnSpc>
                          <a:spcPct val="108000"/>
                        </a:lnSpc>
                        <a:buNone/>
                      </a:pPr>
                      <a:r>
                        <a:rPr sz="2250" b="0">
                          <a:solidFill>
                            <a:srgbClr val="183C4D"/>
                          </a:solidFill>
                          <a:latin typeface="Noto Sans JP"/>
                          <a:ea typeface="Noto Sans JP"/>
                          <a:cs typeface="Noto Sans JP"/>
                        </a:rPr>
                        <a:t>学習と検証に使えるデータを渡す</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対象現象の専門性と測定手段</a:t>
                      </a:r>
                    </a:p>
                    <a:p>
                      <a:pPr>
                        <a:lnSpc>
                          <a:spcPct val="108000"/>
                        </a:lnSpc>
                        <a:buNone/>
                      </a:pPr>
                      <a:r>
                        <a:rPr sz="2250" b="0">
                          <a:solidFill>
                            <a:srgbClr val="183C4D"/>
                          </a:solidFill>
                          <a:latin typeface="Noto Sans JP"/>
                          <a:ea typeface="Noto Sans JP"/>
                          <a:cs typeface="Noto Sans JP"/>
                        </a:rPr>
                        <a:t>既存の収集基盤に追加する価値</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62075">
                <a:tc>
                  <a:txBody>
                    <a:bodyPr wrap="none" lIns="104775" tIns="104775" rIns="104775" bIns="104775">
                      <a:noAutofit/>
                    </a:bodyPr>
                    <a:lstStyle/>
                    <a:p>
                      <a:pPr>
                        <a:lnSpc>
                          <a:spcPct val="108000"/>
                        </a:lnSpc>
                        <a:buNone/>
                      </a:pPr>
                      <a:r>
                        <a:rPr sz="2250" b="1">
                          <a:solidFill>
                            <a:srgbClr val="183C4D"/>
                          </a:solidFill>
                          <a:latin typeface="Noto Sans JP"/>
                          <a:ea typeface="Noto Sans JP"/>
                          <a:cs typeface="Noto Sans JP"/>
                        </a:rPr>
                        <a:t>モデルが顧客の</a:t>
                      </a:r>
                    </a:p>
                    <a:p>
                      <a:pPr>
                        <a:lnSpc>
                          <a:spcPct val="108000"/>
                        </a:lnSpc>
                        <a:buNone/>
                      </a:pPr>
                      <a:r>
                        <a:rPr sz="2250" b="1">
                          <a:solidFill>
                            <a:srgbClr val="183C4D"/>
                          </a:solidFill>
                          <a:latin typeface="Noto Sans JP"/>
                          <a:ea typeface="Noto Sans JP"/>
                          <a:cs typeface="Noto Sans JP"/>
                        </a:rPr>
                        <a:t>設備に合わない</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材料・工程モデルの同定、校正</a:t>
                      </a:r>
                    </a:p>
                    <a:p>
                      <a:pPr>
                        <a:lnSpc>
                          <a:spcPct val="108000"/>
                        </a:lnSpc>
                        <a:buNone/>
                      </a:pPr>
                      <a:r>
                        <a:rPr sz="2250" b="0">
                          <a:solidFill>
                            <a:srgbClr val="183C4D"/>
                          </a:solidFill>
                          <a:latin typeface="Noto Sans JP"/>
                          <a:ea typeface="Noto Sans JP"/>
                          <a:cs typeface="Noto Sans JP"/>
                        </a:rPr>
                        <a:t>適用範囲と計算時間を検証する</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既存解析サービスとの差</a:t>
                      </a:r>
                    </a:p>
                    <a:p>
                      <a:pPr>
                        <a:lnSpc>
                          <a:spcPct val="108000"/>
                        </a:lnSpc>
                        <a:buNone/>
                      </a:pPr>
                      <a:r>
                        <a:rPr sz="2250" b="0">
                          <a:solidFill>
                            <a:srgbClr val="183C4D"/>
                          </a:solidFill>
                          <a:latin typeface="Noto Sans JP"/>
                          <a:ea typeface="Noto Sans JP"/>
                          <a:cs typeface="Noto Sans JP"/>
                        </a:rPr>
                        <a:t>得意材料・加工法で残る不足</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362075">
                <a:tc>
                  <a:txBody>
                    <a:bodyPr wrap="none" lIns="104775" tIns="104775" rIns="104775" bIns="104775">
                      <a:noAutofit/>
                    </a:bodyPr>
                    <a:lstStyle/>
                    <a:p>
                      <a:pPr>
                        <a:lnSpc>
                          <a:spcPct val="108000"/>
                        </a:lnSpc>
                        <a:buNone/>
                      </a:pPr>
                      <a:r>
                        <a:rPr sz="2250" b="1">
                          <a:solidFill>
                            <a:srgbClr val="183C4D"/>
                          </a:solidFill>
                          <a:latin typeface="Noto Sans JP"/>
                          <a:ea typeface="Noto Sans JP"/>
                          <a:cs typeface="Noto Sans JP"/>
                        </a:rPr>
                        <a:t>判断が熟練者に集中する</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意図・制約・修正・結果を記録</a:t>
                      </a:r>
                    </a:p>
                    <a:p>
                      <a:pPr>
                        <a:lnSpc>
                          <a:spcPct val="108000"/>
                        </a:lnSpc>
                        <a:buNone/>
                      </a:pPr>
                      <a:r>
                        <a:rPr sz="2250" b="0">
                          <a:solidFill>
                            <a:srgbClr val="183C4D"/>
                          </a:solidFill>
                          <a:latin typeface="Noto Sans JP"/>
                          <a:ea typeface="Noto Sans JP"/>
                          <a:cs typeface="Noto Sans JP"/>
                        </a:rPr>
                        <a:t>既存の計算と過去経験を再利用</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入力負担、正しい再利用の条件</a:t>
                      </a:r>
                    </a:p>
                    <a:p>
                      <a:pPr>
                        <a:lnSpc>
                          <a:spcPct val="108000"/>
                        </a:lnSpc>
                        <a:buNone/>
                      </a:pPr>
                      <a:r>
                        <a:rPr sz="2250" b="0">
                          <a:solidFill>
                            <a:srgbClr val="183C4D"/>
                          </a:solidFill>
                          <a:latin typeface="Noto Sans JP"/>
                          <a:ea typeface="Noto Sans JP"/>
                          <a:cs typeface="Noto Sans JP"/>
                        </a:rPr>
                        <a:t>人が承認する範囲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62075">
                <a:tc>
                  <a:txBody>
                    <a:bodyPr wrap="none" lIns="104775" tIns="104775" rIns="104775" bIns="104775">
                      <a:noAutofit/>
                    </a:bodyPr>
                    <a:lstStyle/>
                    <a:p>
                      <a:pPr>
                        <a:lnSpc>
                          <a:spcPct val="108000"/>
                        </a:lnSpc>
                        <a:buNone/>
                      </a:pPr>
                      <a:r>
                        <a:rPr sz="2250" b="1">
                          <a:solidFill>
                            <a:srgbClr val="183C4D"/>
                          </a:solidFill>
                          <a:latin typeface="Noto Sans JP"/>
                          <a:ea typeface="Noto Sans JP"/>
                          <a:cs typeface="Noto Sans JP"/>
                        </a:rPr>
                        <a:t>品種変更や例外で止まる</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適応・復帰の手順と比較試験</a:t>
                      </a:r>
                    </a:p>
                    <a:p>
                      <a:pPr>
                        <a:lnSpc>
                          <a:spcPct val="108000"/>
                        </a:lnSpc>
                        <a:buNone/>
                      </a:pPr>
                      <a:r>
                        <a:rPr sz="2250" b="0">
                          <a:solidFill>
                            <a:srgbClr val="183C4D"/>
                          </a:solidFill>
                          <a:latin typeface="Noto Sans JP"/>
                          <a:ea typeface="Noto Sans JP"/>
                          <a:cs typeface="Noto Sans JP"/>
                        </a:rPr>
                        <a:t>失敗を次の改善へ戻す</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再教示・介入と停止損失の削減</a:t>
                      </a:r>
                    </a:p>
                    <a:p>
                      <a:pPr>
                        <a:lnSpc>
                          <a:spcPct val="108000"/>
                        </a:lnSpc>
                        <a:buNone/>
                      </a:pPr>
                      <a:r>
                        <a:rPr sz="2250" b="0">
                          <a:solidFill>
                            <a:srgbClr val="183C4D"/>
                          </a:solidFill>
                          <a:latin typeface="Noto Sans JP"/>
                          <a:ea typeface="Noto Sans JP"/>
                          <a:cs typeface="Noto Sans JP"/>
                        </a:rPr>
                        <a:t>導入・運用費用とデータ権利</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Q01">
            <a:extLst xmlns:a="http://schemas.openxmlformats.org/drawingml/2006/main">
              <a:ext uri="{FF2B5EF4-FFF2-40B4-BE49-F238E27FC236}">
                <a16:creationId xmlns:a16="http://schemas.microsoft.com/office/drawing/2014/main" id="{5DF0D917-9EE9-41C0-9711-7845695A1CB2}"/>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78a25478db274647"/>
              </a:rPr>
              <a:t>Q01 p.29</a:t>
            </a:r>
          </a:p>
        </p:txBody>
      </p:sp>
      <p:sp>
        <p:nvSpPr>
          <p:cNvPr id="5" name="ref-Q05">
            <a:extLst xmlns:a="http://schemas.openxmlformats.org/drawingml/2006/main">
              <a:ext uri="{FF2B5EF4-FFF2-40B4-BE49-F238E27FC236}">
                <a16:creationId xmlns:a16="http://schemas.microsoft.com/office/drawing/2014/main" id="{1DF01935-06C2-4769-BA5E-135C5D04303B}"/>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277dc408d57457c"/>
              </a:rPr>
              <a:t>Q05 p.30</a:t>
            </a:r>
          </a:p>
        </p:txBody>
      </p:sp>
      <p:sp>
        <p:nvSpPr>
          <p:cNvPr id="6" name="ref-Q21">
            <a:extLst xmlns:a="http://schemas.openxmlformats.org/drawingml/2006/main">
              <a:ext uri="{FF2B5EF4-FFF2-40B4-BE49-F238E27FC236}">
                <a16:creationId xmlns:a16="http://schemas.microsoft.com/office/drawing/2014/main" id="{FAE4DEA3-FA3E-4F78-A835-37D4D5295DEE}"/>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cf04bf10dd24642"/>
              </a:rPr>
              <a:t>Q21 p.34</a:t>
            </a:r>
          </a:p>
        </p:txBody>
      </p:sp>
      <p:sp>
        <p:nvSpPr>
          <p:cNvPr id="7" name="ref-Q24">
            <a:extLst xmlns:a="http://schemas.openxmlformats.org/drawingml/2006/main">
              <a:ext uri="{FF2B5EF4-FFF2-40B4-BE49-F238E27FC236}">
                <a16:creationId xmlns:a16="http://schemas.microsoft.com/office/drawing/2014/main" id="{45E8F176-3411-4DDE-A679-D8D9E327DA5F}"/>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548819182c54473"/>
              </a:rPr>
              <a:t>Q24 p.34</a:t>
            </a:r>
          </a:p>
        </p:txBody>
      </p:sp>
      <p:sp>
        <p:nvSpPr>
          <p:cNvPr id="8" name="ref-Q26">
            <a:extLst xmlns:a="http://schemas.openxmlformats.org/drawingml/2006/main">
              <a:ext uri="{FF2B5EF4-FFF2-40B4-BE49-F238E27FC236}">
                <a16:creationId xmlns:a16="http://schemas.microsoft.com/office/drawing/2014/main" id="{33E0DB10-193E-46E3-A0F2-6F38D7952E33}"/>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644473241994d7c"/>
              </a:rPr>
              <a:t>Q26 p.35</a:t>
            </a:r>
          </a:p>
        </p:txBody>
      </p:sp>
      <p:sp>
        <p:nvSpPr>
          <p:cNvPr id="9" name="ref-Q44">
            <a:extLst xmlns:a="http://schemas.openxmlformats.org/drawingml/2006/main">
              <a:ext uri="{FF2B5EF4-FFF2-40B4-BE49-F238E27FC236}">
                <a16:creationId xmlns:a16="http://schemas.microsoft.com/office/drawing/2014/main" id="{B53044E2-6E8D-4383-94D5-7CBD7678A431}"/>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92d03f6ce564b1a"/>
              </a:rPr>
              <a:t>Q44 p.39</a:t>
            </a:r>
          </a:p>
        </p:txBody>
      </p:sp>
      <p:sp>
        <p:nvSpPr>
          <p:cNvPr id="10" name="ref-Q46">
            <a:extLst xmlns:a="http://schemas.openxmlformats.org/drawingml/2006/main">
              <a:ext uri="{FF2B5EF4-FFF2-40B4-BE49-F238E27FC236}">
                <a16:creationId xmlns:a16="http://schemas.microsoft.com/office/drawing/2014/main" id="{68A52A4C-EBDF-4D20-A004-4A0479882FAF}"/>
              </a:ext>
            </a:extLst>
          </p:cNvPr>
          <p:cNvSpPr>
            <a:spLocks xmlns:a="http://schemas.openxmlformats.org/drawingml/2006/main" noGrp="1"/>
          </p:cNvSpPr>
          <p:nvPr/>
        </p:nvSpPr>
        <p:spPr>
          <a:xfrm xmlns:a="http://schemas.openxmlformats.org/drawingml/2006/main">
            <a:off x="90106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c2a0e069b8334358"/>
              </a:rPr>
              <a:t>Q46 p.40</a:t>
            </a:r>
          </a:p>
        </p:txBody>
      </p:sp>
      <p:sp>
        <p:nvSpPr>
          <p:cNvPr id="11" name="disclosure">
            <a:extLst xmlns:a="http://schemas.openxmlformats.org/drawingml/2006/main">
              <a:ext uri="{FF2B5EF4-FFF2-40B4-BE49-F238E27FC236}">
                <a16:creationId xmlns:a16="http://schemas.microsoft.com/office/drawing/2014/main" id="{C2E1349E-F393-4D0C-B927-9879D694A756}"/>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開発候補は仮説。自社能力・未充足需要・支払意思を照合し、顧客の品質・準備時間・停止損失で判断する。</a:t>
            </a:r>
          </a:p>
        </p:txBody>
      </p:sp>
      <p:sp>
        <p:nvSpPr>
          <p:cNvPr id="12" name="page">
            <a:extLst xmlns:a="http://schemas.openxmlformats.org/drawingml/2006/main">
              <a:ext uri="{FF2B5EF4-FFF2-40B4-BE49-F238E27FC236}">
                <a16:creationId xmlns:a16="http://schemas.microsoft.com/office/drawing/2014/main" id="{EA1CBB64-812D-401E-AF94-056FD91BB02F}"/>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03 / 40</a:t>
            </a:r>
          </a:p>
        </p:txBody>
      </p:sp>
    </p:spTree>
    <p:extLst>
      <p:ext uri="{BB962C8B-B14F-4D97-AF65-F5344CB8AC3E}">
        <p14:creationId xmlns:p14="http://schemas.microsoft.com/office/powerpoint/2010/main" val="17963203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heading">
            <a:extLst xmlns:a="http://schemas.openxmlformats.org/drawingml/2006/main">
              <a:ext uri="{FF2B5EF4-FFF2-40B4-BE49-F238E27FC236}">
                <a16:creationId xmlns:a16="http://schemas.microsoft.com/office/drawing/2014/main" id="{1EAFA06F-0726-41D5-BDCE-3D974AA5F1B3}"/>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調査の範囲と、根拠の読み方</a:t>
            </a:r>
          </a:p>
        </p:txBody>
      </p:sp>
      <p:sp>
        <p:nvSpPr>
          <p:cNvPr id="2" name="context">
            <a:extLst xmlns:a="http://schemas.openxmlformats.org/drawingml/2006/main">
              <a:ext uri="{FF2B5EF4-FFF2-40B4-BE49-F238E27FC236}">
                <a16:creationId xmlns:a16="http://schemas.microsoft.com/office/drawing/2014/main" id="{2519EF62-39E0-4494-BD45-80CF26678AC5}"/>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全出展者の照合を土台に、戦略資料・原文・技術の役割を比較。確認した深さを揃えて読む。</a:t>
            </a:r>
          </a:p>
        </p:txBody>
      </p:sp>
      <p:graphicFrame>
        <p:nvGraphicFramePr>
          <p:cNvPr id="3" name="">
            <a:extLst xmlns:a="http://schemas.openxmlformats.org/drawingml/2006/main">
              <a:ext uri="{FF2B5EF4-FFF2-40B4-BE49-F238E27FC236}">
                <a16:creationId xmlns:a16="http://schemas.microsoft.com/office/drawing/2014/main" id="{162E421F-B01E-48D8-A60B-5F4A127C574F}"/>
              </a:ext>
            </a:extLst>
          </p:cNvPr>
          <p:cNvGraphicFramePr/>
          <p:nvPr/>
        </p:nvGraphicFramePr>
        <p:xfrm>
          <a:off xmlns:a="http://schemas.openxmlformats.org/drawingml/2006/main" x="819150" y="2571750"/>
          <a:ext xmlns:a="http://schemas.openxmlformats.org/drawingml/2006/main" cx="16649700" cy="6191250"/>
        </p:xfrm>
        <a:graphic xmlns:a="http://schemas.openxmlformats.org/drawingml/2006/main">
          <a:graphicData uri="http://schemas.openxmlformats.org/drawingml/2006/table">
            <a:tbl>
              <a:tblPr/>
              <a:tblGrid>
                <a:gridCol w="3333750"/>
                <a:gridCol w="6191250"/>
                <a:gridCol w="7124700"/>
              </a:tblGrid>
              <a:tr h="666750">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調査の層</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対象</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読み取れることと限界</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原文と精読</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元の40資料、追加11資料、定義教材</a:t>
                      </a:r>
                    </a:p>
                    <a:p>
                      <a:pPr>
                        <a:lnSpc>
                          <a:spcPct val="108000"/>
                        </a:lnSpc>
                        <a:buNone/>
                      </a:pPr>
                      <a:r>
                        <a:rPr sz="2100" b="0">
                          <a:solidFill>
                            <a:srgbClr val="183C4D"/>
                          </a:solidFill>
                          <a:latin typeface="Noto Sans JP"/>
                          <a:ea typeface="Noto Sans JP"/>
                          <a:cs typeface="Noto Sans JP"/>
                        </a:rPr>
                        <a:t>原文の短い抜粋は46件</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追加6抜粋のうち5資料は追加11資料と重複</a:t>
                      </a:r>
                    </a:p>
                    <a:p>
                      <a:pPr>
                        <a:lnSpc>
                          <a:spcPct val="108000"/>
                        </a:lnSpc>
                        <a:buNone/>
                      </a:pPr>
                      <a:r>
                        <a:rPr sz="2100" b="0">
                          <a:solidFill>
                            <a:srgbClr val="183C4D"/>
                          </a:solidFill>
                          <a:latin typeface="Noto Sans JP"/>
                          <a:ea typeface="Noto Sans JP"/>
                          <a:cs typeface="Noto Sans JP"/>
                        </a:rPr>
                        <a:t>件数を足して新規資料数にはしない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全出展者の照合</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2024・2026年の2,427掲載行</a:t>
                      </a:r>
                    </a:p>
                    <a:p>
                      <a:pPr>
                        <a:lnSpc>
                          <a:spcPct val="108000"/>
                        </a:lnSpc>
                        <a:buNone/>
                      </a:pPr>
                      <a:r>
                        <a:rPr sz="2100" b="0">
                          <a:solidFill>
                            <a:srgbClr val="183C4D"/>
                          </a:solidFill>
                          <a:latin typeface="Noto Sans JP"/>
                          <a:ea typeface="Noto Sans JP"/>
                          <a:cs typeface="Noto Sans JP"/>
                        </a:rPr>
                        <a:t>両年に説明文がある同名538件</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掲載行はユニーク企業数ではない</a:t>
                      </a:r>
                    </a:p>
                    <a:p>
                      <a:pPr>
                        <a:lnSpc>
                          <a:spcPct val="108000"/>
                        </a:lnSpc>
                        <a:buNone/>
                      </a:pPr>
                      <a:r>
                        <a:rPr sz="2100" b="0">
                          <a:solidFill>
                            <a:srgbClr val="183C4D"/>
                          </a:solidFill>
                          <a:latin typeface="Noto Sans JP"/>
                          <a:ea typeface="Noto Sans JP"/>
                          <a:cs typeface="Noto Sans JP"/>
                        </a:rPr>
                        <a:t>文言比較は業界の技術採用率ではない</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既存の技術台帳</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344技術、主要33社</a:t>
                      </a:r>
                    </a:p>
                    <a:p>
                      <a:pPr>
                        <a:lnSpc>
                          <a:spcPct val="108000"/>
                        </a:lnSpc>
                        <a:buNone/>
                      </a:pPr>
                      <a:r>
                        <a:rPr sz="2100" b="0">
                          <a:solidFill>
                            <a:srgbClr val="183C4D"/>
                          </a:solidFill>
                          <a:latin typeface="Noto Sans JP"/>
                          <a:ea typeface="Noto Sans JP"/>
                          <a:cs typeface="Noto Sans JP"/>
                        </a:rPr>
                        <a:t>詳細57、個別タスク33、一次分類254</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確認深度が混在する</a:t>
                      </a:r>
                    </a:p>
                    <a:p>
                      <a:pPr>
                        <a:lnSpc>
                          <a:spcPct val="108000"/>
                        </a:lnSpc>
                        <a:buNone/>
                      </a:pPr>
                      <a:r>
                        <a:rPr sz="2100" b="0">
                          <a:solidFill>
                            <a:srgbClr val="183C4D"/>
                          </a:solidFill>
                          <a:latin typeface="Noto Sans JP"/>
                          <a:ea typeface="Noto Sans JP"/>
                          <a:cs typeface="Noto Sans JP"/>
                        </a:rPr>
                        <a:t>今回の14タスクへの全面再分類は未実施</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本資料の根拠</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原文はQ番号、追加調査はA番号</a:t>
                      </a:r>
                    </a:p>
                    <a:p>
                      <a:pPr>
                        <a:lnSpc>
                          <a:spcPct val="108000"/>
                        </a:lnSpc>
                        <a:buNone/>
                      </a:pPr>
                      <a:r>
                        <a:rPr sz="2100" b="0">
                          <a:solidFill>
                            <a:srgbClr val="183C4D"/>
                          </a:solidFill>
                          <a:latin typeface="Noto Sans JP"/>
                          <a:ea typeface="Noto Sans JP"/>
                          <a:cs typeface="Noto Sans JP"/>
                        </a:rPr>
                        <a:t>原文46件は後半の12枚に掲載</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本文は要約・分析、引用欄は原文</a:t>
                      </a:r>
                    </a:p>
                    <a:p>
                      <a:pPr>
                        <a:lnSpc>
                          <a:spcPct val="108000"/>
                        </a:lnSpc>
                        <a:buNone/>
                      </a:pPr>
                      <a:r>
                        <a:rPr sz="2100" b="0">
                          <a:solidFill>
                            <a:srgbClr val="183C4D"/>
                          </a:solidFill>
                          <a:latin typeface="Noto Sans JP"/>
                          <a:ea typeface="Noto Sans JP"/>
                          <a:cs typeface="Noto Sans JP"/>
                        </a:rPr>
                        <a:t>出典URL・掲載位置・留保はノートにも記載</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Q01">
            <a:extLst xmlns:a="http://schemas.openxmlformats.org/drawingml/2006/main">
              <a:ext uri="{FF2B5EF4-FFF2-40B4-BE49-F238E27FC236}">
                <a16:creationId xmlns:a16="http://schemas.microsoft.com/office/drawing/2014/main" id="{0C48D4B4-4182-44FC-8389-3C11B9505A0B}"/>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9cdcf7f9221b411e"/>
              </a:rPr>
              <a:t>Q01 p.29</a:t>
            </a:r>
          </a:p>
        </p:txBody>
      </p:sp>
      <p:sp>
        <p:nvSpPr>
          <p:cNvPr id="5" name="ref-Q41">
            <a:extLst xmlns:a="http://schemas.openxmlformats.org/drawingml/2006/main">
              <a:ext uri="{FF2B5EF4-FFF2-40B4-BE49-F238E27FC236}">
                <a16:creationId xmlns:a16="http://schemas.microsoft.com/office/drawing/2014/main" id="{71C54DBC-FB23-498D-83E3-48412289E8A2}"/>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0c14fbb16504469"/>
              </a:rPr>
              <a:t>Q41 p.39</a:t>
            </a:r>
          </a:p>
        </p:txBody>
      </p:sp>
      <p:sp>
        <p:nvSpPr>
          <p:cNvPr id="6" name="disclosure">
            <a:extLst xmlns:a="http://schemas.openxmlformats.org/drawingml/2006/main">
              <a:ext uri="{FF2B5EF4-FFF2-40B4-BE49-F238E27FC236}">
                <a16:creationId xmlns:a16="http://schemas.microsoft.com/office/drawing/2014/main" id="{36A18051-9E4F-44B6-AD23-75DF064818C8}"/>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現地調査前の公開情報整理。原文44件をテキスト、2件をPDF画像で照合。重要文を全て抽出し尽くした状態ではない。</a:t>
            </a:r>
          </a:p>
        </p:txBody>
      </p:sp>
      <p:sp>
        <p:nvSpPr>
          <p:cNvPr id="7" name="page">
            <a:extLst xmlns:a="http://schemas.openxmlformats.org/drawingml/2006/main">
              <a:ext uri="{FF2B5EF4-FFF2-40B4-BE49-F238E27FC236}">
                <a16:creationId xmlns:a16="http://schemas.microsoft.com/office/drawing/2014/main" id="{66C3674D-B50E-4C33-A2EA-2CE92D48CFC6}"/>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04 / 40</a:t>
            </a:r>
          </a:p>
        </p:txBody>
      </p:sp>
    </p:spTree>
    <p:extLst>
      <p:ext uri="{BB962C8B-B14F-4D97-AF65-F5344CB8AC3E}">
        <p14:creationId xmlns:p14="http://schemas.microsoft.com/office/powerpoint/2010/main" val="2710712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9ACDE3FE-049E-4117-A19E-3525D8590C8A}"/>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公開説明でのAIの明示と、従来から続く自動化</a:t>
            </a:r>
          </a:p>
        </p:txBody>
      </p:sp>
      <p:sp>
        <p:nvSpPr>
          <p:cNvPr id="2" name="context">
            <a:extLst xmlns:a="http://schemas.openxmlformats.org/drawingml/2006/main">
              <a:ext uri="{FF2B5EF4-FFF2-40B4-BE49-F238E27FC236}">
                <a16:creationId xmlns:a16="http://schemas.microsoft.com/office/drawing/2014/main" id="{C1DEB716-A8EA-4943-BC05-A2936B789E01}"/>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両年に説明文がある同名538件を比較。AIの明示は22件から40件、自動化・省人化は172件から193件。</a:t>
            </a:r>
          </a:p>
        </p:txBody>
      </p:sp>
      <p:graphicFrame>
        <p:nvGraphicFramePr>
          <p:cNvPr id="3" name="Chart">
            <a:extLst xmlns:a="http://schemas.openxmlformats.org/drawingml/2006/main">
              <a:ext uri="{FF2B5EF4-FFF2-40B4-BE49-F238E27FC236}">
                <a16:creationId xmlns:a16="http://schemas.microsoft.com/office/drawing/2014/main" id="{435A10A0-C93B-4A26-96F9-DDA889558217}"/>
              </a:ext>
            </a:extLst>
          </p:cNvPr>
          <p:cNvGraphicFramePr/>
          <p:nvPr/>
        </p:nvGraphicFramePr>
        <p:xfrm>
          <a:off xmlns:a="http://schemas.openxmlformats.org/drawingml/2006/main" x="876300" y="2686050"/>
          <a:ext xmlns:a="http://schemas.openxmlformats.org/drawingml/2006/main" cx="16497300" cy="6086475"/>
        </p:xfrm>
        <a:graphic xmlns:a="http://schemas.openxmlformats.org/drawingml/2006/main">
          <a:graphicData uri="http://schemas.openxmlformats.org/drawingml/2006/chart">
            <c:chart xmlns:r="http://schemas.openxmlformats.org/officeDocument/2006/relationships" xmlns:c="http://schemas.openxmlformats.org/drawingml/2006/chart" r:id="R9bc2cc4a08fc4376"/>
          </a:graphicData>
        </a:graphic>
      </p:graphicFrame>
      <p:sp>
        <p:nvSpPr>
          <p:cNvPr id="4" name="disclosure">
            <a:extLst xmlns:a="http://schemas.openxmlformats.org/drawingml/2006/main">
              <a:ext uri="{FF2B5EF4-FFF2-40B4-BE49-F238E27FC236}">
                <a16:creationId xmlns:a16="http://schemas.microsoft.com/office/drawing/2014/main" id="{2A35951F-37CF-4091-8FE3-78D3311A6A40}"/>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単位は名称キーの明示件数。重複分類あり。説明量・展示対象の変化も含み、採用率や新機能数・性能向上を示さない。</a:t>
            </a:r>
          </a:p>
        </p:txBody>
      </p:sp>
      <p:sp>
        <p:nvSpPr>
          <p:cNvPr id="5" name="page">
            <a:extLst xmlns:a="http://schemas.openxmlformats.org/drawingml/2006/main">
              <a:ext uri="{FF2B5EF4-FFF2-40B4-BE49-F238E27FC236}">
                <a16:creationId xmlns:a16="http://schemas.microsoft.com/office/drawing/2014/main" id="{2C9892BC-534C-4F62-979C-E50BEDD5A8E9}"/>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05 / 40</a:t>
            </a:r>
          </a:p>
        </p:txBody>
      </p:sp>
    </p:spTree>
    <p:extLst>
      <p:ext uri="{BB962C8B-B14F-4D97-AF65-F5344CB8AC3E}">
        <p14:creationId xmlns:p14="http://schemas.microsoft.com/office/powerpoint/2010/main" val="17722964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ading">
            <a:extLst xmlns:a="http://schemas.openxmlformats.org/drawingml/2006/main">
              <a:ext uri="{FF2B5EF4-FFF2-40B4-BE49-F238E27FC236}">
                <a16:creationId xmlns:a16="http://schemas.microsoft.com/office/drawing/2014/main" id="{BB5673DA-527B-4C90-A1EF-F136D457EEA3}"/>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主要3社の開発戦略と実用化の段階</a:t>
            </a:r>
          </a:p>
        </p:txBody>
      </p:sp>
      <p:sp>
        <p:nvSpPr>
          <p:cNvPr id="2" name="context">
            <a:extLst xmlns:a="http://schemas.openxmlformats.org/drawingml/2006/main">
              <a:ext uri="{FF2B5EF4-FFF2-40B4-BE49-F238E27FC236}">
                <a16:creationId xmlns:a16="http://schemas.microsoft.com/office/drawing/2014/main" id="{5FB5078A-C3CC-4C88-A021-EB2A0EBB03BB}"/>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同じ「製造AI」でも、対象の仕事、データ、持ち寄る資産、目標時期を区別する。</a:t>
            </a:r>
          </a:p>
        </p:txBody>
      </p:sp>
      <p:graphicFrame>
        <p:nvGraphicFramePr>
          <p:cNvPr id="3" name="">
            <a:extLst xmlns:a="http://schemas.openxmlformats.org/drawingml/2006/main">
              <a:ext uri="{FF2B5EF4-FFF2-40B4-BE49-F238E27FC236}">
                <a16:creationId xmlns:a16="http://schemas.microsoft.com/office/drawing/2014/main" id="{27EB33B1-6498-4046-BEAD-6C3B07B3B6E8}"/>
              </a:ext>
            </a:extLst>
          </p:cNvPr>
          <p:cNvGraphicFramePr/>
          <p:nvPr/>
        </p:nvGraphicFramePr>
        <p:xfrm>
          <a:off xmlns:a="http://schemas.openxmlformats.org/drawingml/2006/main" x="819150" y="2571750"/>
          <a:ext xmlns:a="http://schemas.openxmlformats.org/drawingml/2006/main" cx="16649700" cy="6000750"/>
        </p:xfrm>
        <a:graphic xmlns:a="http://schemas.openxmlformats.org/drawingml/2006/main">
          <a:graphicData uri="http://schemas.openxmlformats.org/drawingml/2006/table">
            <a:tbl>
              <a:tblPr/>
              <a:tblGrid>
                <a:gridCol w="2667000"/>
                <a:gridCol w="4953000"/>
                <a:gridCol w="4667250"/>
                <a:gridCol w="4362450"/>
              </a:tblGrid>
              <a:tr h="714375">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主体</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対象・データ</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実用化の段階</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追加で確認すること</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762125">
                <a:tc>
                  <a:txBody>
                    <a:bodyPr wrap="none" lIns="104775" tIns="104775" rIns="104775" bIns="104775">
                      <a:noAutofit/>
                    </a:bodyPr>
                    <a:lstStyle/>
                    <a:p>
                      <a:pPr>
                        <a:lnSpc>
                          <a:spcPct val="108000"/>
                        </a:lnSpc>
                        <a:buNone/>
                      </a:pPr>
                      <a:r>
                        <a:rPr sz="2175" b="1">
                          <a:solidFill>
                            <a:srgbClr val="183C4D"/>
                          </a:solidFill>
                          <a:latin typeface="Noto Sans JP"/>
                          <a:ea typeface="Noto Sans JP"/>
                          <a:cs typeface="Noto Sans JP"/>
                        </a:rPr>
                        <a:t>DMG森精機</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設備・工程・品質と周辺機器</a:t>
                      </a:r>
                    </a:p>
                    <a:p>
                      <a:pPr>
                        <a:lnSpc>
                          <a:spcPct val="108000"/>
                        </a:lnSpc>
                        <a:buNone/>
                      </a:pPr>
                      <a:r>
                        <a:rPr sz="2175" b="0">
                          <a:solidFill>
                            <a:srgbClr val="183C4D"/>
                          </a:solidFill>
                          <a:latin typeface="Noto Sans JP"/>
                          <a:ea typeface="Noto Sans JP"/>
                          <a:cs typeface="Noto Sans JP"/>
                        </a:rPr>
                        <a:t>異常検知から条件・セルへ展開</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多目的AI基盤は整備計画</a:t>
                      </a:r>
                    </a:p>
                    <a:p>
                      <a:pPr>
                        <a:lnSpc>
                          <a:spcPct val="108000"/>
                        </a:lnSpc>
                        <a:buNone/>
                      </a:pPr>
                      <a:r>
                        <a:rPr sz="2175" b="0">
                          <a:solidFill>
                            <a:srgbClr val="183C4D"/>
                          </a:solidFill>
                          <a:latin typeface="Noto Sans JP"/>
                          <a:ea typeface="Noto Sans JP"/>
                          <a:cs typeface="Noto Sans JP"/>
                        </a:rPr>
                        <a:t>診断製品、顧客別支援の展望</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共有データの利用条件と権利</a:t>
                      </a:r>
                    </a:p>
                    <a:p>
                      <a:pPr>
                        <a:lnSpc>
                          <a:spcPct val="108000"/>
                        </a:lnSpc>
                        <a:buNone/>
                      </a:pPr>
                      <a:r>
                        <a:rPr sz="2175" b="0">
                          <a:solidFill>
                            <a:srgbClr val="183C4D"/>
                          </a:solidFill>
                          <a:latin typeface="Noto Sans JP"/>
                          <a:ea typeface="Noto Sans JP"/>
                          <a:cs typeface="Noto Sans JP"/>
                        </a:rPr>
                        <a:t>用途間で転用できるモデル</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762125">
                <a:tc>
                  <a:txBody>
                    <a:bodyPr wrap="none" lIns="104775" tIns="104775" rIns="104775" bIns="104775">
                      <a:noAutofit/>
                    </a:bodyPr>
                    <a:lstStyle/>
                    <a:p>
                      <a:pPr>
                        <a:lnSpc>
                          <a:spcPct val="108000"/>
                        </a:lnSpc>
                        <a:buNone/>
                      </a:pPr>
                      <a:r>
                        <a:rPr sz="2175" b="1">
                          <a:solidFill>
                            <a:srgbClr val="183C4D"/>
                          </a:solidFill>
                          <a:latin typeface="Noto Sans JP"/>
                          <a:ea typeface="Noto Sans JP"/>
                          <a:cs typeface="Noto Sans JP"/>
                        </a:rPr>
                        <a:t>マザック／ABEJA</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加工意図、人の計画修正</a:t>
                      </a:r>
                    </a:p>
                    <a:p>
                      <a:pPr>
                        <a:lnSpc>
                          <a:spcPct val="108000"/>
                        </a:lnSpc>
                        <a:buNone/>
                      </a:pPr>
                      <a:r>
                        <a:rPr sz="2175" b="0">
                          <a:solidFill>
                            <a:srgbClr val="183C4D"/>
                          </a:solidFill>
                          <a:latin typeface="Noto Sans JP"/>
                          <a:ea typeface="Noto Sans JP"/>
                          <a:cs typeface="Noto Sans JP"/>
                        </a:rPr>
                        <a:t>その時の設備・在庫等の文脈</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共同開発</a:t>
                      </a:r>
                    </a:p>
                    <a:p>
                      <a:pPr>
                        <a:lnSpc>
                          <a:spcPct val="108000"/>
                        </a:lnSpc>
                        <a:buNone/>
                      </a:pPr>
                      <a:r>
                        <a:rPr sz="2175" b="0">
                          <a:solidFill>
                            <a:srgbClr val="183C4D"/>
                          </a:solidFill>
                          <a:latin typeface="Noto Sans JP"/>
                          <a:ea typeface="Noto Sans JP"/>
                          <a:cs typeface="Noto Sans JP"/>
                        </a:rPr>
                        <a:t>取材では2028年度の市場投入目標</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経験を一件とする単位</a:t>
                      </a:r>
                    </a:p>
                    <a:p>
                      <a:pPr>
                        <a:lnSpc>
                          <a:spcPct val="108000"/>
                        </a:lnSpc>
                        <a:buNone/>
                      </a:pPr>
                      <a:r>
                        <a:rPr sz="2175" b="0">
                          <a:solidFill>
                            <a:srgbClr val="183C4D"/>
                          </a:solidFill>
                          <a:latin typeface="Noto Sans JP"/>
                          <a:ea typeface="Noto Sans JP"/>
                          <a:cs typeface="Noto Sans JP"/>
                        </a:rPr>
                        <a:t>人の選択・結果と不採用案</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762125">
                <a:tc>
                  <a:txBody>
                    <a:bodyPr wrap="none" lIns="104775" tIns="104775" rIns="104775" bIns="104775">
                      <a:noAutofit/>
                    </a:bodyPr>
                    <a:lstStyle/>
                    <a:p>
                      <a:pPr>
                        <a:lnSpc>
                          <a:spcPct val="108000"/>
                        </a:lnSpc>
                        <a:buNone/>
                      </a:pPr>
                      <a:r>
                        <a:rPr sz="2175" b="1">
                          <a:solidFill>
                            <a:srgbClr val="183C4D"/>
                          </a:solidFill>
                          <a:latin typeface="Noto Sans JP"/>
                          <a:ea typeface="Noto Sans JP"/>
                          <a:cs typeface="Noto Sans JP"/>
                        </a:rPr>
                        <a:t>ファナック／日立</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形状・品種変更、段取り</a:t>
                      </a:r>
                    </a:p>
                    <a:p>
                      <a:pPr>
                        <a:lnSpc>
                          <a:spcPct val="108000"/>
                        </a:lnSpc>
                        <a:buNone/>
                      </a:pPr>
                      <a:r>
                        <a:rPr sz="2175" b="0">
                          <a:solidFill>
                            <a:srgbClr val="183C4D"/>
                          </a:solidFill>
                          <a:latin typeface="Noto Sans JP"/>
                          <a:ea typeface="Noto Sans JP"/>
                          <a:cs typeface="Noto Sans JP"/>
                        </a:rPr>
                        <a:t>実機での認識・動作・品質</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日立の工場で共同実証</a:t>
                      </a:r>
                    </a:p>
                    <a:p>
                      <a:pPr>
                        <a:lnSpc>
                          <a:spcPct val="108000"/>
                        </a:lnSpc>
                        <a:buNone/>
                      </a:pPr>
                      <a:r>
                        <a:rPr sz="2175" b="0">
                          <a:solidFill>
                            <a:srgbClr val="183C4D"/>
                          </a:solidFill>
                          <a:latin typeface="Noto Sans JP"/>
                          <a:ea typeface="Noto Sans JP"/>
                          <a:cs typeface="Noto Sans JP"/>
                        </a:rPr>
                        <a:t>2027年度までの技術確立を目指す</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工場固有の適応と横展開</a:t>
                      </a:r>
                    </a:p>
                    <a:p>
                      <a:pPr>
                        <a:lnSpc>
                          <a:spcPct val="108000"/>
                        </a:lnSpc>
                        <a:buNone/>
                      </a:pPr>
                      <a:r>
                        <a:rPr sz="2175" b="0">
                          <a:solidFill>
                            <a:srgbClr val="183C4D"/>
                          </a:solidFill>
                          <a:latin typeface="Noto Sans JP"/>
                          <a:ea typeface="Noto Sans JP"/>
                          <a:cs typeface="Noto Sans JP"/>
                        </a:rPr>
                        <a:t>実際に測る条件と成果</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ref-Q02">
            <a:extLst xmlns:a="http://schemas.openxmlformats.org/drawingml/2006/main">
              <a:ext uri="{FF2B5EF4-FFF2-40B4-BE49-F238E27FC236}">
                <a16:creationId xmlns:a16="http://schemas.microsoft.com/office/drawing/2014/main" id="{A4285E3B-CBD4-48B5-B09E-BF4411BA8801}"/>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0073176854d4b5b"/>
              </a:rPr>
              <a:t>Q02 p.29</a:t>
            </a:r>
          </a:p>
        </p:txBody>
      </p:sp>
      <p:sp>
        <p:nvSpPr>
          <p:cNvPr id="5" name="ref-Q04">
            <a:extLst xmlns:a="http://schemas.openxmlformats.org/drawingml/2006/main">
              <a:ext uri="{FF2B5EF4-FFF2-40B4-BE49-F238E27FC236}">
                <a16:creationId xmlns:a16="http://schemas.microsoft.com/office/drawing/2014/main" id="{73B27DF2-AB9D-437A-908B-53C6377A0EA1}"/>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903366ac082a447c"/>
              </a:rPr>
              <a:t>Q04 p.29</a:t>
            </a:r>
          </a:p>
        </p:txBody>
      </p:sp>
      <p:sp>
        <p:nvSpPr>
          <p:cNvPr id="6" name="ref-Q05">
            <a:extLst xmlns:a="http://schemas.openxmlformats.org/drawingml/2006/main">
              <a:ext uri="{FF2B5EF4-FFF2-40B4-BE49-F238E27FC236}">
                <a16:creationId xmlns:a16="http://schemas.microsoft.com/office/drawing/2014/main" id="{1EA6FAFF-2415-470B-84A3-A897D9D28443}"/>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911188c3118494d"/>
              </a:rPr>
              <a:t>Q05 p.30</a:t>
            </a:r>
          </a:p>
        </p:txBody>
      </p:sp>
      <p:sp>
        <p:nvSpPr>
          <p:cNvPr id="7" name="ref-Q06">
            <a:extLst xmlns:a="http://schemas.openxmlformats.org/drawingml/2006/main">
              <a:ext uri="{FF2B5EF4-FFF2-40B4-BE49-F238E27FC236}">
                <a16:creationId xmlns:a16="http://schemas.microsoft.com/office/drawing/2014/main" id="{4B09F317-AC95-4289-A6F1-F5B5E4E1581B}"/>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c86592c9a01b47be"/>
              </a:rPr>
              <a:t>Q06 p.30</a:t>
            </a:r>
          </a:p>
        </p:txBody>
      </p:sp>
      <p:sp>
        <p:nvSpPr>
          <p:cNvPr id="8" name="disclosure">
            <a:extLst xmlns:a="http://schemas.openxmlformats.org/drawingml/2006/main">
              <a:ext uri="{FF2B5EF4-FFF2-40B4-BE49-F238E27FC236}">
                <a16:creationId xmlns:a16="http://schemas.microsoft.com/office/drawing/2014/main" id="{A2FF1118-2014-40AB-ACA0-D9DBD1E5EEE4}"/>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計画・研究・商品・展示予定を区別。データを収集済み、共同技術を全顧客へ提供済みとは扱わない。</a:t>
            </a:r>
          </a:p>
        </p:txBody>
      </p:sp>
      <p:sp>
        <p:nvSpPr>
          <p:cNvPr id="9" name="page">
            <a:extLst xmlns:a="http://schemas.openxmlformats.org/drawingml/2006/main">
              <a:ext uri="{FF2B5EF4-FFF2-40B4-BE49-F238E27FC236}">
                <a16:creationId xmlns:a16="http://schemas.microsoft.com/office/drawing/2014/main" id="{B2D2DE10-DF32-45C3-BCB7-412DF8CDA561}"/>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06 / 40</a:t>
            </a:r>
          </a:p>
        </p:txBody>
      </p:sp>
    </p:spTree>
    <p:extLst>
      <p:ext uri="{BB962C8B-B14F-4D97-AF65-F5344CB8AC3E}">
        <p14:creationId xmlns:p14="http://schemas.microsoft.com/office/powerpoint/2010/main" val="11008139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4D6069C5-7037-42D8-A3E9-7327DB8EAA6A}"/>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DMG森精機のデータと、納入後の顧客接点</a:t>
            </a:r>
          </a:p>
        </p:txBody>
      </p:sp>
      <p:sp>
        <p:nvSpPr>
          <p:cNvPr id="2" name="context">
            <a:extLst xmlns:a="http://schemas.openxmlformats.org/drawingml/2006/main">
              <a:ext uri="{FF2B5EF4-FFF2-40B4-BE49-F238E27FC236}">
                <a16:creationId xmlns:a16="http://schemas.microsoft.com/office/drawing/2014/main" id="{2E2525D6-8708-49D7-995B-6797A17BECD7}"/>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データの量だけでなく、取得する場、診断・提案の方法、結果を開発へ戻す接点を合わせて見る。</a:t>
            </a:r>
          </a:p>
        </p:txBody>
      </p:sp>
      <p:graphicFrame>
        <p:nvGraphicFramePr>
          <p:cNvPr id="3" name="">
            <a:extLst xmlns:a="http://schemas.openxmlformats.org/drawingml/2006/main">
              <a:ext uri="{FF2B5EF4-FFF2-40B4-BE49-F238E27FC236}">
                <a16:creationId xmlns:a16="http://schemas.microsoft.com/office/drawing/2014/main" id="{25B59B15-D086-4294-BE80-AAEE4A486469}"/>
              </a:ext>
            </a:extLst>
          </p:cNvPr>
          <p:cNvGraphicFramePr/>
          <p:nvPr/>
        </p:nvGraphicFramePr>
        <p:xfrm>
          <a:off xmlns:a="http://schemas.openxmlformats.org/drawingml/2006/main" x="819150" y="2571750"/>
          <a:ext xmlns:a="http://schemas.openxmlformats.org/drawingml/2006/main" cx="16649700" cy="6191250"/>
        </p:xfrm>
        <a:graphic xmlns:a="http://schemas.openxmlformats.org/drawingml/2006/main">
          <a:graphicData uri="http://schemas.openxmlformats.org/drawingml/2006/table">
            <a:tbl>
              <a:tblPr/>
              <a:tblGrid>
                <a:gridCol w="3238500"/>
                <a:gridCol w="4476750"/>
                <a:gridCol w="4476750"/>
                <a:gridCol w="4457700"/>
              </a:tblGrid>
              <a:tr h="666750">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仕組み</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資料が説明すること</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顧客の仕事との関係</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調査の問い</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生産設備のAI基盤</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設備・工程・品質等の収集</a:t>
                      </a:r>
                    </a:p>
                    <a:p>
                      <a:pPr>
                        <a:lnSpc>
                          <a:spcPct val="108000"/>
                        </a:lnSpc>
                        <a:buNone/>
                      </a:pPr>
                      <a:r>
                        <a:rPr sz="2100" b="0">
                          <a:solidFill>
                            <a:srgbClr val="183C4D"/>
                          </a:solidFill>
                          <a:latin typeface="Noto Sans JP"/>
                          <a:ea typeface="Noto Sans JP"/>
                          <a:cs typeface="Noto Sans JP"/>
                        </a:rPr>
                        <a:t>複数用途へ広げる計画</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異常検知、品質予測</a:t>
                      </a:r>
                    </a:p>
                    <a:p>
                      <a:pPr>
                        <a:lnSpc>
                          <a:spcPct val="108000"/>
                        </a:lnSpc>
                        <a:buNone/>
                      </a:pPr>
                      <a:r>
                        <a:rPr sz="2100" b="0">
                          <a:solidFill>
                            <a:srgbClr val="183C4D"/>
                          </a:solidFill>
                          <a:latin typeface="Noto Sans JP"/>
                          <a:ea typeface="Noto Sans JP"/>
                          <a:cs typeface="Noto Sans JP"/>
                        </a:rPr>
                        <a:t>条件最適化、セルの運用</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用途が変わる時の観測不足</a:t>
                      </a:r>
                    </a:p>
                    <a:p>
                      <a:pPr>
                        <a:lnSpc>
                          <a:spcPct val="108000"/>
                        </a:lnSpc>
                        <a:buNone/>
                      </a:pPr>
                      <a:r>
                        <a:rPr sz="2100" b="0">
                          <a:solidFill>
                            <a:srgbClr val="183C4D"/>
                          </a:solidFill>
                          <a:latin typeface="Noto Sans JP"/>
                          <a:ea typeface="Noto Sans JP"/>
                          <a:cs typeface="Noto Sans JP"/>
                        </a:rPr>
                        <a:t>データ提供を続ける理由</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Condition Agent</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診断専用NCを実行</a:t>
                      </a:r>
                    </a:p>
                    <a:p>
                      <a:pPr>
                        <a:lnSpc>
                          <a:spcPct val="108000"/>
                        </a:lnSpc>
                        <a:buNone/>
                      </a:pPr>
                      <a:r>
                        <a:rPr sz="2100" b="0">
                          <a:solidFill>
                            <a:srgbClr val="183C4D"/>
                          </a:solidFill>
                          <a:latin typeface="Noto Sans JP"/>
                          <a:ea typeface="Noto Sans JP"/>
                          <a:cs typeface="Noto Sans JP"/>
                        </a:rPr>
                        <a:t>クラウドで状態を分析</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比較できる条件で診断</a:t>
                      </a:r>
                    </a:p>
                    <a:p>
                      <a:pPr>
                        <a:lnSpc>
                          <a:spcPct val="108000"/>
                        </a:lnSpc>
                        <a:buNone/>
                      </a:pPr>
                      <a:r>
                        <a:rPr sz="2100" b="0">
                          <a:solidFill>
                            <a:srgbClr val="183C4D"/>
                          </a:solidFill>
                          <a:latin typeface="Noto Sans JP"/>
                          <a:ea typeface="Noto Sans JP"/>
                          <a:cs typeface="Noto Sans JP"/>
                        </a:rPr>
                        <a:t>保全の判断を支援</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誤警報・見逃し・診断時間</a:t>
                      </a:r>
                    </a:p>
                    <a:p>
                      <a:pPr>
                        <a:lnSpc>
                          <a:spcPct val="108000"/>
                        </a:lnSpc>
                        <a:buNone/>
                      </a:pPr>
                      <a:r>
                        <a:rPr sz="2100" b="0">
                          <a:solidFill>
                            <a:srgbClr val="183C4D"/>
                          </a:solidFill>
                          <a:latin typeface="Noto Sans JP"/>
                          <a:ea typeface="Noto Sans JP"/>
                          <a:cs typeface="Noto Sans JP"/>
                        </a:rPr>
                        <a:t>部品手配と復旧への接続</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顧客別エージェント</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加工・修理の知識を活用</a:t>
                      </a:r>
                    </a:p>
                    <a:p>
                      <a:pPr>
                        <a:lnSpc>
                          <a:spcPct val="108000"/>
                        </a:lnSpc>
                        <a:buNone/>
                      </a:pPr>
                      <a:r>
                        <a:rPr sz="2100" b="0">
                          <a:solidFill>
                            <a:srgbClr val="183C4D"/>
                          </a:solidFill>
                          <a:latin typeface="Noto Sans JP"/>
                          <a:ea typeface="Noto Sans JP"/>
                          <a:cs typeface="Noto Sans JP"/>
                        </a:rPr>
                        <a:t>顧客ごとの支援を展望</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工具、条件、保持等の提案</a:t>
                      </a:r>
                    </a:p>
                    <a:p>
                      <a:pPr>
                        <a:lnSpc>
                          <a:spcPct val="108000"/>
                        </a:lnSpc>
                        <a:buNone/>
                      </a:pPr>
                      <a:r>
                        <a:rPr sz="2100" b="0">
                          <a:solidFill>
                            <a:srgbClr val="183C4D"/>
                          </a:solidFill>
                          <a:latin typeface="Noto Sans JP"/>
                          <a:ea typeface="Noto Sans JP"/>
                          <a:cs typeface="Noto Sans JP"/>
                        </a:rPr>
                        <a:t>対処後の学びの取得</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提案の採否・結果・理由</a:t>
                      </a:r>
                    </a:p>
                    <a:p>
                      <a:pPr>
                        <a:lnSpc>
                          <a:spcPct val="108000"/>
                        </a:lnSpc>
                        <a:buNone/>
                      </a:pPr>
                      <a:r>
                        <a:rPr sz="2100" b="0">
                          <a:solidFill>
                            <a:srgbClr val="183C4D"/>
                          </a:solidFill>
                          <a:latin typeface="Noto Sans JP"/>
                          <a:ea typeface="Noto Sans JP"/>
                          <a:cs typeface="Noto Sans JP"/>
                        </a:rPr>
                        <a:t>別顧客へ共有できる条件</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PPR・継続サービス</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不具合・修理を改善へ戻す</a:t>
                      </a:r>
                    </a:p>
                    <a:p>
                      <a:pPr>
                        <a:lnSpc>
                          <a:spcPct val="108000"/>
                        </a:lnSpc>
                        <a:buNone/>
                      </a:pPr>
                      <a:r>
                        <a:rPr sz="2100" b="0">
                          <a:solidFill>
                            <a:srgbClr val="183C4D"/>
                          </a:solidFill>
                          <a:latin typeface="Noto Sans JP"/>
                          <a:ea typeface="Noto Sans JP"/>
                          <a:cs typeface="Noto Sans JP"/>
                        </a:rPr>
                        <a:t>利用継続の契約接点がある</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復旧と設計改良</a:t>
                      </a:r>
                    </a:p>
                    <a:p>
                      <a:pPr>
                        <a:lnSpc>
                          <a:spcPct val="108000"/>
                        </a:lnSpc>
                        <a:buNone/>
                      </a:pPr>
                      <a:r>
                        <a:rPr sz="2100" b="0">
                          <a:solidFill>
                            <a:srgbClr val="183C4D"/>
                          </a:solidFill>
                          <a:latin typeface="Noto Sans JP"/>
                          <a:ea typeface="Noto Sans JP"/>
                          <a:cs typeface="Noto Sans JP"/>
                        </a:rPr>
                        <a:t>更新して価値を届ける</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AI指標、停止損失、更新意向</a:t>
                      </a:r>
                    </a:p>
                    <a:p>
                      <a:pPr>
                        <a:lnSpc>
                          <a:spcPct val="108000"/>
                        </a:lnSpc>
                        <a:buNone/>
                      </a:pPr>
                      <a:r>
                        <a:rPr sz="2100" b="0">
                          <a:solidFill>
                            <a:srgbClr val="183C4D"/>
                          </a:solidFill>
                          <a:latin typeface="Noto Sans JP"/>
                          <a:ea typeface="Noto Sans JP"/>
                          <a:cs typeface="Noto Sans JP"/>
                        </a:rPr>
                        <a:t>提供側の運用費用</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Q02">
            <a:extLst xmlns:a="http://schemas.openxmlformats.org/drawingml/2006/main">
              <a:ext uri="{FF2B5EF4-FFF2-40B4-BE49-F238E27FC236}">
                <a16:creationId xmlns:a16="http://schemas.microsoft.com/office/drawing/2014/main" id="{25587B06-D151-415A-85FC-2728F16A6C0C}"/>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1c54eb9f44e348cd"/>
              </a:rPr>
              <a:t>Q02 p.29</a:t>
            </a:r>
          </a:p>
        </p:txBody>
      </p:sp>
      <p:sp>
        <p:nvSpPr>
          <p:cNvPr id="5" name="ref-Q25">
            <a:extLst xmlns:a="http://schemas.openxmlformats.org/drawingml/2006/main">
              <a:ext uri="{FF2B5EF4-FFF2-40B4-BE49-F238E27FC236}">
                <a16:creationId xmlns:a16="http://schemas.microsoft.com/office/drawing/2014/main" id="{0CF9C2B2-B34C-4F9E-826D-2B7019C7A284}"/>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f7651632b9eb48df"/>
              </a:rPr>
              <a:t>Q25 p.35</a:t>
            </a:r>
          </a:p>
        </p:txBody>
      </p:sp>
      <p:sp>
        <p:nvSpPr>
          <p:cNvPr id="6" name="ref-Q26">
            <a:extLst xmlns:a="http://schemas.openxmlformats.org/drawingml/2006/main">
              <a:ext uri="{FF2B5EF4-FFF2-40B4-BE49-F238E27FC236}">
                <a16:creationId xmlns:a16="http://schemas.microsoft.com/office/drawing/2014/main" id="{A0D86E08-7012-4709-BDD8-4B7AB1384E09}"/>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fdd5eff0b9b34dc9"/>
              </a:rPr>
              <a:t>Q26 p.35</a:t>
            </a:r>
          </a:p>
        </p:txBody>
      </p:sp>
      <p:sp>
        <p:nvSpPr>
          <p:cNvPr id="7" name="ref-Q28">
            <a:extLst xmlns:a="http://schemas.openxmlformats.org/drawingml/2006/main">
              <a:ext uri="{FF2B5EF4-FFF2-40B4-BE49-F238E27FC236}">
                <a16:creationId xmlns:a16="http://schemas.microsoft.com/office/drawing/2014/main" id="{81FD4877-0F9D-49E2-ACE8-7CA983AFF71A}"/>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c24c5c199294b55"/>
              </a:rPr>
              <a:t>Q28 p.35</a:t>
            </a:r>
          </a:p>
        </p:txBody>
      </p:sp>
      <p:sp>
        <p:nvSpPr>
          <p:cNvPr id="8" name="ref-Q29">
            <a:extLst xmlns:a="http://schemas.openxmlformats.org/drawingml/2006/main">
              <a:ext uri="{FF2B5EF4-FFF2-40B4-BE49-F238E27FC236}">
                <a16:creationId xmlns:a16="http://schemas.microsoft.com/office/drawing/2014/main" id="{8DD2C9F4-CEE8-4456-82EE-33F431D89C59}"/>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dbcff0521264b98"/>
              </a:rPr>
              <a:t>Q29 p.36</a:t>
            </a:r>
          </a:p>
        </p:txBody>
      </p:sp>
      <p:sp>
        <p:nvSpPr>
          <p:cNvPr id="9" name="ref-Q43">
            <a:extLst xmlns:a="http://schemas.openxmlformats.org/drawingml/2006/main">
              <a:ext uri="{FF2B5EF4-FFF2-40B4-BE49-F238E27FC236}">
                <a16:creationId xmlns:a16="http://schemas.microsoft.com/office/drawing/2014/main" id="{EDCF24B1-89B9-49D9-9614-F3391EFBE01C}"/>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7441084b7b24712"/>
              </a:rPr>
              <a:t>Q43 p.39</a:t>
            </a:r>
          </a:p>
        </p:txBody>
      </p:sp>
      <p:sp>
        <p:nvSpPr>
          <p:cNvPr id="10" name="disclosure">
            <a:extLst xmlns:a="http://schemas.openxmlformats.org/drawingml/2006/main">
              <a:ext uri="{FF2B5EF4-FFF2-40B4-BE49-F238E27FC236}">
                <a16:creationId xmlns:a16="http://schemas.microsoft.com/office/drawing/2014/main" id="{A37474F6-DF56-41DA-A291-CE8E37A7CB6E}"/>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既存の改善・サービス体制と、2026年の新しいAI開発を区別。継続契約の仕組みだけでAIの増益効果を断定しない。</a:t>
            </a:r>
          </a:p>
        </p:txBody>
      </p:sp>
      <p:sp>
        <p:nvSpPr>
          <p:cNvPr id="11" name="page">
            <a:extLst xmlns:a="http://schemas.openxmlformats.org/drawingml/2006/main">
              <a:ext uri="{FF2B5EF4-FFF2-40B4-BE49-F238E27FC236}">
                <a16:creationId xmlns:a16="http://schemas.microsoft.com/office/drawing/2014/main" id="{D2CCD54C-0D29-4F38-AC9E-984D14322B10}"/>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07 / 40</a:t>
            </a:r>
          </a:p>
        </p:txBody>
      </p:sp>
    </p:spTree>
    <p:extLst>
      <p:ext uri="{BB962C8B-B14F-4D97-AF65-F5344CB8AC3E}">
        <p14:creationId xmlns:p14="http://schemas.microsoft.com/office/powerpoint/2010/main" val="7132334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heading">
            <a:extLst xmlns:a="http://schemas.openxmlformats.org/drawingml/2006/main">
              <a:ext uri="{FF2B5EF4-FFF2-40B4-BE49-F238E27FC236}">
                <a16:creationId xmlns:a16="http://schemas.microsoft.com/office/drawing/2014/main" id="{272FF9A0-ACAB-4A7C-9DD0-FAAA263C40E8}"/>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マザックの加工意図と、生産計画の学習</a:t>
            </a:r>
          </a:p>
        </p:txBody>
      </p:sp>
      <p:sp>
        <p:nvSpPr>
          <p:cNvPr id="2" name="context">
            <a:extLst xmlns:a="http://schemas.openxmlformats.org/drawingml/2006/main">
              <a:ext uri="{FF2B5EF4-FFF2-40B4-BE49-F238E27FC236}">
                <a16:creationId xmlns:a16="http://schemas.microsoft.com/office/drawing/2014/main" id="{34A9E4AE-B0CC-4EAE-B453-FDA227194E6D}"/>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形式知化する対象は、最終の実行コードに加え、何を目的に、どの状況で選んだかという判断の文脈。</a:t>
            </a:r>
          </a:p>
        </p:txBody>
      </p:sp>
      <p:graphicFrame>
        <p:nvGraphicFramePr>
          <p:cNvPr id="3" name="">
            <a:extLst xmlns:a="http://schemas.openxmlformats.org/drawingml/2006/main">
              <a:ext uri="{FF2B5EF4-FFF2-40B4-BE49-F238E27FC236}">
                <a16:creationId xmlns:a16="http://schemas.microsoft.com/office/drawing/2014/main" id="{01A398F3-2E05-4FB1-9545-A42503E46930}"/>
              </a:ext>
            </a:extLst>
          </p:cNvPr>
          <p:cNvGraphicFramePr/>
          <p:nvPr/>
        </p:nvGraphicFramePr>
        <p:xfrm>
          <a:off xmlns:a="http://schemas.openxmlformats.org/drawingml/2006/main" x="819150" y="2571750"/>
          <a:ext xmlns:a="http://schemas.openxmlformats.org/drawingml/2006/main" cx="16649700" cy="6143625"/>
        </p:xfrm>
        <a:graphic xmlns:a="http://schemas.openxmlformats.org/drawingml/2006/main">
          <a:graphicData uri="http://schemas.openxmlformats.org/drawingml/2006/table">
            <a:tbl>
              <a:tblPr/>
              <a:tblGrid>
                <a:gridCol w="3048000"/>
                <a:gridCol w="4762500"/>
                <a:gridCol w="4476750"/>
                <a:gridCol w="4362450"/>
              </a:tblGrid>
              <a:tr h="714375">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対象</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既存の記録・情報</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学習・再利用する判断</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250" b="1">
                          <a:solidFill>
                            <a:srgbClr val="FFFFFF"/>
                          </a:solidFill>
                          <a:latin typeface="Noto Sans JP"/>
                          <a:ea typeface="Noto Sans JP"/>
                          <a:cs typeface="Noto Sans JP"/>
                        </a:rPr>
                        <a:t>残る確認点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809750">
                <a:tc>
                  <a:txBody>
                    <a:bodyPr wrap="none" lIns="104775" tIns="104775" rIns="104775" bIns="104775">
                      <a:noAutofit/>
                    </a:bodyPr>
                    <a:lstStyle/>
                    <a:p>
                      <a:pPr>
                        <a:lnSpc>
                          <a:spcPct val="108000"/>
                        </a:lnSpc>
                        <a:buNone/>
                      </a:pPr>
                      <a:r>
                        <a:rPr sz="2250" b="1">
                          <a:solidFill>
                            <a:srgbClr val="183C4D"/>
                          </a:solidFill>
                          <a:latin typeface="Noto Sans JP"/>
                          <a:ea typeface="Noto Sans JP"/>
                          <a:cs typeface="Noto Sans JP"/>
                        </a:rPr>
                        <a:t>加工方法の選択</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MAZATROLの対話情報</a:t>
                      </a:r>
                    </a:p>
                    <a:p>
                      <a:pPr>
                        <a:lnSpc>
                          <a:spcPct val="108000"/>
                        </a:lnSpc>
                        <a:buNone/>
                      </a:pPr>
                      <a:r>
                        <a:rPr sz="2250" b="0">
                          <a:solidFill>
                            <a:srgbClr val="183C4D"/>
                          </a:solidFill>
                          <a:latin typeface="Noto Sans JP"/>
                          <a:ea typeface="Noto Sans JP"/>
                          <a:cs typeface="Noto Sans JP"/>
                        </a:rPr>
                        <a:t>形状、工程、工具・条件</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何をどう加工したいか</a:t>
                      </a:r>
                    </a:p>
                    <a:p>
                      <a:pPr>
                        <a:lnSpc>
                          <a:spcPct val="108000"/>
                        </a:lnSpc>
                        <a:buNone/>
                      </a:pPr>
                      <a:r>
                        <a:rPr sz="2250" b="0">
                          <a:solidFill>
                            <a:srgbClr val="183C4D"/>
                          </a:solidFill>
                          <a:latin typeface="Noto Sans JP"/>
                          <a:ea typeface="Noto Sans JP"/>
                          <a:cs typeface="Noto Sans JP"/>
                        </a:rPr>
                        <a:t>工程・条件を選ぶ手掛かり</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選択理由と不採用案</a:t>
                      </a:r>
                    </a:p>
                    <a:p>
                      <a:pPr>
                        <a:lnSpc>
                          <a:spcPct val="108000"/>
                        </a:lnSpc>
                        <a:buNone/>
                      </a:pPr>
                      <a:r>
                        <a:rPr sz="2250" b="0">
                          <a:solidFill>
                            <a:srgbClr val="183C4D"/>
                          </a:solidFill>
                          <a:latin typeface="Noto Sans JP"/>
                          <a:ea typeface="Noto Sans JP"/>
                          <a:cs typeface="Noto Sans JP"/>
                        </a:rPr>
                        <a:t>品質結果との対応</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809750">
                <a:tc>
                  <a:txBody>
                    <a:bodyPr wrap="none" lIns="104775" tIns="104775" rIns="104775" bIns="104775">
                      <a:noAutofit/>
                    </a:bodyPr>
                    <a:lstStyle/>
                    <a:p>
                      <a:pPr>
                        <a:lnSpc>
                          <a:spcPct val="108000"/>
                        </a:lnSpc>
                        <a:buNone/>
                      </a:pPr>
                      <a:r>
                        <a:rPr sz="2250" b="1">
                          <a:solidFill>
                            <a:srgbClr val="183C4D"/>
                          </a:solidFill>
                          <a:latin typeface="Noto Sans JP"/>
                          <a:ea typeface="Noto Sans JP"/>
                          <a:cs typeface="Noto Sans JP"/>
                        </a:rPr>
                        <a:t>生産計画の修正</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人が変更した指示</a:t>
                      </a:r>
                    </a:p>
                    <a:p>
                      <a:pPr>
                        <a:lnSpc>
                          <a:spcPct val="108000"/>
                        </a:lnSpc>
                        <a:buNone/>
                      </a:pPr>
                      <a:r>
                        <a:rPr sz="2250" b="0">
                          <a:solidFill>
                            <a:srgbClr val="183C4D"/>
                          </a:solidFill>
                          <a:latin typeface="Noto Sans JP"/>
                          <a:ea typeface="Noto Sans JP"/>
                          <a:cs typeface="Noto Sans JP"/>
                        </a:rPr>
                        <a:t>設備状態や在庫の変化</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状況に応じた計画変更</a:t>
                      </a:r>
                    </a:p>
                    <a:p>
                      <a:pPr>
                        <a:lnSpc>
                          <a:spcPct val="108000"/>
                        </a:lnSpc>
                        <a:buNone/>
                      </a:pPr>
                      <a:r>
                        <a:rPr sz="2250" b="0">
                          <a:solidFill>
                            <a:srgbClr val="183C4D"/>
                          </a:solidFill>
                          <a:latin typeface="Noto Sans JP"/>
                          <a:ea typeface="Noto Sans JP"/>
                          <a:cs typeface="Noto Sans JP"/>
                        </a:rPr>
                        <a:t>現場の制約の扱い</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未記録の制約と優先順位</a:t>
                      </a:r>
                    </a:p>
                    <a:p>
                      <a:pPr>
                        <a:lnSpc>
                          <a:spcPct val="108000"/>
                        </a:lnSpc>
                        <a:buNone/>
                      </a:pPr>
                      <a:r>
                        <a:rPr sz="2250" b="0">
                          <a:solidFill>
                            <a:srgbClr val="183C4D"/>
                          </a:solidFill>
                          <a:latin typeface="Noto Sans JP"/>
                          <a:ea typeface="Noto Sans JP"/>
                          <a:cs typeface="Noto Sans JP"/>
                        </a:rPr>
                        <a:t>判断時に見えていた情報</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809750">
                <a:tc>
                  <a:txBody>
                    <a:bodyPr wrap="none" lIns="104775" tIns="104775" rIns="104775" bIns="104775">
                      <a:noAutofit/>
                    </a:bodyPr>
                    <a:lstStyle/>
                    <a:p>
                      <a:pPr>
                        <a:lnSpc>
                          <a:spcPct val="108000"/>
                        </a:lnSpc>
                        <a:buNone/>
                      </a:pPr>
                      <a:r>
                        <a:rPr sz="2250" b="1">
                          <a:solidFill>
                            <a:srgbClr val="183C4D"/>
                          </a:solidFill>
                          <a:latin typeface="Noto Sans JP"/>
                          <a:ea typeface="Noto Sans JP"/>
                          <a:cs typeface="Noto Sans JP"/>
                        </a:rPr>
                        <a:t>ロボットと実機検証</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作業・学習の環境</a:t>
                      </a:r>
                    </a:p>
                    <a:p>
                      <a:pPr>
                        <a:lnSpc>
                          <a:spcPct val="108000"/>
                        </a:lnSpc>
                        <a:buNone/>
                      </a:pPr>
                      <a:r>
                        <a:rPr sz="2250" b="0">
                          <a:solidFill>
                            <a:srgbClr val="183C4D"/>
                          </a:solidFill>
                          <a:latin typeface="Noto Sans JP"/>
                          <a:ea typeface="Noto Sans JP"/>
                          <a:cs typeface="Noto Sans JP"/>
                        </a:rPr>
                        <a:t>自社工場での試験と評価</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考える部分と実行の接続</a:t>
                      </a:r>
                    </a:p>
                    <a:p>
                      <a:pPr>
                        <a:lnSpc>
                          <a:spcPct val="108000"/>
                        </a:lnSpc>
                        <a:buNone/>
                      </a:pPr>
                      <a:r>
                        <a:rPr sz="2250" b="0">
                          <a:solidFill>
                            <a:srgbClr val="183C4D"/>
                          </a:solidFill>
                          <a:latin typeface="Noto Sans JP"/>
                          <a:ea typeface="Noto Sans JP"/>
                          <a:cs typeface="Noto Sans JP"/>
                        </a:rPr>
                        <a:t>人の介在を含む開発</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250" b="0">
                          <a:solidFill>
                            <a:srgbClr val="183C4D"/>
                          </a:solidFill>
                          <a:latin typeface="Noto Sans JP"/>
                          <a:ea typeface="Noto Sans JP"/>
                          <a:cs typeface="Noto Sans JP"/>
                        </a:rPr>
                        <a:t>学習・評価の単位</a:t>
                      </a:r>
                    </a:p>
                    <a:p>
                      <a:pPr>
                        <a:lnSpc>
                          <a:spcPct val="108000"/>
                        </a:lnSpc>
                        <a:buNone/>
                      </a:pPr>
                      <a:r>
                        <a:rPr sz="2250" b="0">
                          <a:solidFill>
                            <a:srgbClr val="183C4D"/>
                          </a:solidFill>
                          <a:latin typeface="Noto Sans JP"/>
                          <a:ea typeface="Noto Sans JP"/>
                          <a:cs typeface="Noto Sans JP"/>
                        </a:rPr>
                        <a:t>顧客への適応と提供形態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ref-Q04">
            <a:extLst xmlns:a="http://schemas.openxmlformats.org/drawingml/2006/main">
              <a:ext uri="{FF2B5EF4-FFF2-40B4-BE49-F238E27FC236}">
                <a16:creationId xmlns:a16="http://schemas.microsoft.com/office/drawing/2014/main" id="{5EBEBC33-024D-447B-B77F-4D9D80899FF4}"/>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a8a3732f861b404c"/>
              </a:rPr>
              <a:t>Q04 p.29</a:t>
            </a:r>
          </a:p>
        </p:txBody>
      </p:sp>
      <p:sp>
        <p:nvSpPr>
          <p:cNvPr id="5" name="ref-Q05">
            <a:extLst xmlns:a="http://schemas.openxmlformats.org/drawingml/2006/main">
              <a:ext uri="{FF2B5EF4-FFF2-40B4-BE49-F238E27FC236}">
                <a16:creationId xmlns:a16="http://schemas.microsoft.com/office/drawing/2014/main" id="{2ABB4DF7-0131-420F-93F2-7C441E4AB039}"/>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45c3b3d944149a6"/>
              </a:rPr>
              <a:t>Q05 p.30</a:t>
            </a:r>
          </a:p>
        </p:txBody>
      </p:sp>
      <p:sp>
        <p:nvSpPr>
          <p:cNvPr id="6" name="disclosure">
            <a:extLst xmlns:a="http://schemas.openxmlformats.org/drawingml/2006/main">
              <a:ext uri="{FF2B5EF4-FFF2-40B4-BE49-F238E27FC236}">
                <a16:creationId xmlns:a16="http://schemas.microsoft.com/office/drawing/2014/main" id="{7DA55E76-69DA-441E-98D3-341D545455D8}"/>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人の選択を再現することと、その選択が最適だと保証することは別。共同開発の目標を提供済み機能へ読み替えない。</a:t>
            </a:r>
          </a:p>
        </p:txBody>
      </p:sp>
      <p:sp>
        <p:nvSpPr>
          <p:cNvPr id="7" name="page">
            <a:extLst xmlns:a="http://schemas.openxmlformats.org/drawingml/2006/main">
              <a:ext uri="{FF2B5EF4-FFF2-40B4-BE49-F238E27FC236}">
                <a16:creationId xmlns:a16="http://schemas.microsoft.com/office/drawing/2014/main" id="{625763BF-E427-4CDA-83A2-979839357A6D}"/>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08 / 40</a:t>
            </a:r>
          </a:p>
        </p:txBody>
      </p:sp>
    </p:spTree>
    <p:extLst>
      <p:ext uri="{BB962C8B-B14F-4D97-AF65-F5344CB8AC3E}">
        <p14:creationId xmlns:p14="http://schemas.microsoft.com/office/powerpoint/2010/main" val="10262153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98A31C6D-14DD-46FA-A632-A6F2C8B10CE7}"/>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ファナックの協業と、実機へ適応する役割</a:t>
            </a:r>
          </a:p>
        </p:txBody>
      </p:sp>
      <p:sp>
        <p:nvSpPr>
          <p:cNvPr id="2" name="context">
            <a:extLst xmlns:a="http://schemas.openxmlformats.org/drawingml/2006/main">
              <a:ext uri="{FF2B5EF4-FFF2-40B4-BE49-F238E27FC236}">
                <a16:creationId xmlns:a16="http://schemas.microsoft.com/office/drawing/2014/main" id="{D9B48F92-BF80-4886-A2D8-CA2403F8F3D1}"/>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実証工場、外部開発環境、工場の業務連携は、それぞれ異なる分断を埋める。</a:t>
            </a:r>
          </a:p>
        </p:txBody>
      </p:sp>
      <p:graphicFrame>
        <p:nvGraphicFramePr>
          <p:cNvPr id="3" name="">
            <a:extLst xmlns:a="http://schemas.openxmlformats.org/drawingml/2006/main">
              <a:ext uri="{FF2B5EF4-FFF2-40B4-BE49-F238E27FC236}">
                <a16:creationId xmlns:a16="http://schemas.microsoft.com/office/drawing/2014/main" id="{36D1F3E0-B609-476E-B77D-C7F425F02D8F}"/>
              </a:ext>
            </a:extLst>
          </p:cNvPr>
          <p:cNvGraphicFramePr/>
          <p:nvPr/>
        </p:nvGraphicFramePr>
        <p:xfrm>
          <a:off xmlns:a="http://schemas.openxmlformats.org/drawingml/2006/main" x="819150" y="2571750"/>
          <a:ext xmlns:a="http://schemas.openxmlformats.org/drawingml/2006/main" cx="16649700" cy="6143625"/>
        </p:xfrm>
        <a:graphic xmlns:a="http://schemas.openxmlformats.org/drawingml/2006/main">
          <a:graphicData uri="http://schemas.openxmlformats.org/drawingml/2006/table">
            <a:tbl>
              <a:tblPr/>
              <a:tblGrid>
                <a:gridCol w="3143250"/>
                <a:gridCol w="4476750"/>
                <a:gridCol w="4572000"/>
                <a:gridCol w="4457700"/>
              </a:tblGrid>
              <a:tr h="714375">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連携・取り組み</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持ち寄る資産</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対象とする接点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確認する段階・条件</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809750">
                <a:tc>
                  <a:txBody>
                    <a:bodyPr wrap="none" lIns="104775" tIns="104775" rIns="104775" bIns="104775">
                      <a:noAutofit/>
                    </a:bodyPr>
                    <a:lstStyle/>
                    <a:p>
                      <a:pPr>
                        <a:lnSpc>
                          <a:spcPct val="108000"/>
                        </a:lnSpc>
                        <a:buNone/>
                      </a:pPr>
                      <a:r>
                        <a:rPr sz="2175" b="1">
                          <a:solidFill>
                            <a:srgbClr val="183C4D"/>
                          </a:solidFill>
                          <a:latin typeface="Noto Sans JP"/>
                          <a:ea typeface="Noto Sans JP"/>
                          <a:cs typeface="Noto Sans JP"/>
                        </a:rPr>
                        <a:t>日立との共同実証</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日立のAI・現場知識</a:t>
                      </a:r>
                    </a:p>
                    <a:p>
                      <a:pPr>
                        <a:lnSpc>
                          <a:spcPct val="108000"/>
                        </a:lnSpc>
                        <a:buNone/>
                      </a:pPr>
                      <a:r>
                        <a:rPr sz="2175" b="0">
                          <a:solidFill>
                            <a:srgbClr val="183C4D"/>
                          </a:solidFill>
                          <a:latin typeface="Noto Sans JP"/>
                          <a:ea typeface="Noto Sans JP"/>
                          <a:cs typeface="Noto Sans JP"/>
                        </a:rPr>
                        <a:t>ファナックのロボット・制御</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形状・品種変更と段取り</a:t>
                      </a:r>
                    </a:p>
                    <a:p>
                      <a:pPr>
                        <a:lnSpc>
                          <a:spcPct val="108000"/>
                        </a:lnSpc>
                        <a:buNone/>
                      </a:pPr>
                      <a:r>
                        <a:rPr sz="2175" b="0">
                          <a:solidFill>
                            <a:srgbClr val="183C4D"/>
                          </a:solidFill>
                          <a:latin typeface="Noto Sans JP"/>
                          <a:ea typeface="Noto Sans JP"/>
                          <a:cs typeface="Noto Sans JP"/>
                        </a:rPr>
                        <a:t>認識・動作・タクト・品質</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日立グループがカスタマーゼロ</a:t>
                      </a:r>
                    </a:p>
                    <a:p>
                      <a:pPr>
                        <a:lnSpc>
                          <a:spcPct val="108000"/>
                        </a:lnSpc>
                        <a:buNone/>
                      </a:pPr>
                      <a:r>
                        <a:rPr sz="2175" b="0">
                          <a:solidFill>
                            <a:srgbClr val="183C4D"/>
                          </a:solidFill>
                          <a:latin typeface="Noto Sans JP"/>
                          <a:ea typeface="Noto Sans JP"/>
                          <a:cs typeface="Noto Sans JP"/>
                        </a:rPr>
                        <a:t>共通技術と工場固有の適応</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809750">
                <a:tc>
                  <a:txBody>
                    <a:bodyPr wrap="none" lIns="104775" tIns="104775" rIns="104775" bIns="104775">
                      <a:noAutofit/>
                    </a:bodyPr>
                    <a:lstStyle/>
                    <a:p>
                      <a:pPr>
                        <a:lnSpc>
                          <a:spcPct val="108000"/>
                        </a:lnSpc>
                        <a:buNone/>
                      </a:pPr>
                      <a:r>
                        <a:rPr sz="2175" b="1">
                          <a:solidFill>
                            <a:srgbClr val="183C4D"/>
                          </a:solidFill>
                          <a:latin typeface="Noto Sans JP"/>
                          <a:ea typeface="Noto Sans JP"/>
                          <a:cs typeface="Noto Sans JP"/>
                        </a:rPr>
                        <a:t>Google・Intrinsic等</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外部開発者が使う環境</a:t>
                      </a:r>
                    </a:p>
                    <a:p>
                      <a:pPr>
                        <a:lnSpc>
                          <a:spcPct val="108000"/>
                        </a:lnSpc>
                        <a:buNone/>
                      </a:pPr>
                      <a:r>
                        <a:rPr sz="2175" b="0">
                          <a:solidFill>
                            <a:srgbClr val="183C4D"/>
                          </a:solidFill>
                          <a:latin typeface="Noto Sans JP"/>
                          <a:ea typeface="Noto Sans JP"/>
                          <a:cs typeface="Noto Sans JP"/>
                        </a:rPr>
                        <a:t>ロボットと開いた接続</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AIの判断を実機の動作へ</a:t>
                      </a:r>
                    </a:p>
                    <a:p>
                      <a:pPr>
                        <a:lnSpc>
                          <a:spcPct val="108000"/>
                        </a:lnSpc>
                        <a:buNone/>
                      </a:pPr>
                      <a:r>
                        <a:rPr sz="2175" b="0">
                          <a:solidFill>
                            <a:srgbClr val="183C4D"/>
                          </a:solidFill>
                          <a:latin typeface="Noto Sans JP"/>
                          <a:ea typeface="Noto Sans JP"/>
                          <a:cs typeface="Noto Sans JP"/>
                        </a:rPr>
                        <a:t>応用開発の裾野を広げる</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接続可能と実用性を区別</a:t>
                      </a:r>
                    </a:p>
                    <a:p>
                      <a:pPr>
                        <a:lnSpc>
                          <a:spcPct val="108000"/>
                        </a:lnSpc>
                        <a:buNone/>
                      </a:pPr>
                      <a:r>
                        <a:rPr sz="2175" b="0">
                          <a:solidFill>
                            <a:srgbClr val="183C4D"/>
                          </a:solidFill>
                          <a:latin typeface="Noto Sans JP"/>
                          <a:ea typeface="Noto Sans JP"/>
                          <a:cs typeface="Noto Sans JP"/>
                        </a:rPr>
                        <a:t>学習動作の可搬性と検証</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809750">
                <a:tc>
                  <a:txBody>
                    <a:bodyPr wrap="none" lIns="104775" tIns="104775" rIns="104775" bIns="104775">
                      <a:noAutofit/>
                    </a:bodyPr>
                    <a:lstStyle/>
                    <a:p>
                      <a:pPr>
                        <a:lnSpc>
                          <a:spcPct val="108000"/>
                        </a:lnSpc>
                        <a:buNone/>
                      </a:pPr>
                      <a:r>
                        <a:rPr sz="2175" b="1">
                          <a:solidFill>
                            <a:srgbClr val="183C4D"/>
                          </a:solidFill>
                          <a:latin typeface="Noto Sans JP"/>
                          <a:ea typeface="Noto Sans JP"/>
                          <a:cs typeface="Noto Sans JP"/>
                        </a:rPr>
                        <a:t>富士通との事業検討</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AI基盤、業務・協調制御</a:t>
                      </a:r>
                    </a:p>
                    <a:p>
                      <a:pPr>
                        <a:lnSpc>
                          <a:spcPct val="108000"/>
                        </a:lnSpc>
                        <a:buNone/>
                      </a:pPr>
                      <a:r>
                        <a:rPr sz="2175" b="0">
                          <a:solidFill>
                            <a:srgbClr val="183C4D"/>
                          </a:solidFill>
                          <a:latin typeface="Noto Sans JP"/>
                          <a:ea typeface="Noto Sans JP"/>
                          <a:cs typeface="Noto Sans JP"/>
                        </a:rPr>
                        <a:t>ファナック等の実行技術</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音声指示・キッティング</a:t>
                      </a:r>
                    </a:p>
                    <a:p>
                      <a:pPr>
                        <a:lnSpc>
                          <a:spcPct val="108000"/>
                        </a:lnSpc>
                        <a:buNone/>
                      </a:pPr>
                      <a:r>
                        <a:rPr sz="2175" b="0">
                          <a:solidFill>
                            <a:srgbClr val="183C4D"/>
                          </a:solidFill>
                          <a:latin typeface="Noto Sans JP"/>
                          <a:ea typeface="Noto Sans JP"/>
                          <a:cs typeface="Noto Sans JP"/>
                        </a:rPr>
                        <a:t>計画と現場適応の接続</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計画全体は富士通側資料も確認</a:t>
                      </a:r>
                    </a:p>
                    <a:p>
                      <a:pPr>
                        <a:lnSpc>
                          <a:spcPct val="108000"/>
                        </a:lnSpc>
                        <a:buNone/>
                      </a:pPr>
                      <a:r>
                        <a:rPr sz="2175" b="0">
                          <a:solidFill>
                            <a:srgbClr val="183C4D"/>
                          </a:solidFill>
                          <a:latin typeface="Noto Sans JP"/>
                          <a:ea typeface="Noto Sans JP"/>
                          <a:cs typeface="Noto Sans JP"/>
                        </a:rPr>
                        <a:t>完成・稼働済みの主張ではない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ref-Q06">
            <a:extLst xmlns:a="http://schemas.openxmlformats.org/drawingml/2006/main">
              <a:ext uri="{FF2B5EF4-FFF2-40B4-BE49-F238E27FC236}">
                <a16:creationId xmlns:a16="http://schemas.microsoft.com/office/drawing/2014/main" id="{7A26F3EA-7C50-45D2-8C33-441C21CDFEF5}"/>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843cb5420164707"/>
              </a:rPr>
              <a:t>Q06 p.30</a:t>
            </a:r>
          </a:p>
        </p:txBody>
      </p:sp>
      <p:sp>
        <p:nvSpPr>
          <p:cNvPr id="5" name="ref-Q07">
            <a:extLst xmlns:a="http://schemas.openxmlformats.org/drawingml/2006/main">
              <a:ext uri="{FF2B5EF4-FFF2-40B4-BE49-F238E27FC236}">
                <a16:creationId xmlns:a16="http://schemas.microsoft.com/office/drawing/2014/main" id="{6ED07707-A274-4880-A0BC-400C61FE47A3}"/>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983c7e49726477f"/>
              </a:rPr>
              <a:t>Q07 p.30</a:t>
            </a:r>
          </a:p>
        </p:txBody>
      </p:sp>
      <p:sp>
        <p:nvSpPr>
          <p:cNvPr id="6" name="ref-Q08">
            <a:extLst xmlns:a="http://schemas.openxmlformats.org/drawingml/2006/main">
              <a:ext uri="{FF2B5EF4-FFF2-40B4-BE49-F238E27FC236}">
                <a16:creationId xmlns:a16="http://schemas.microsoft.com/office/drawing/2014/main" id="{475702B1-A13F-4215-89E0-5476A09CDC01}"/>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f272fdfe1594ffe"/>
              </a:rPr>
              <a:t>Q08 p.30</a:t>
            </a:r>
          </a:p>
        </p:txBody>
      </p:sp>
      <p:sp>
        <p:nvSpPr>
          <p:cNvPr id="7" name="ref-Q09">
            <a:extLst xmlns:a="http://schemas.openxmlformats.org/drawingml/2006/main">
              <a:ext uri="{FF2B5EF4-FFF2-40B4-BE49-F238E27FC236}">
                <a16:creationId xmlns:a16="http://schemas.microsoft.com/office/drawing/2014/main" id="{ACE98C2B-59F0-4EBF-BD27-1EF077C3CC3F}"/>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81bb676291f4d60"/>
              </a:rPr>
              <a:t>Q09 p.31</a:t>
            </a:r>
          </a:p>
        </p:txBody>
      </p:sp>
      <p:sp>
        <p:nvSpPr>
          <p:cNvPr id="8" name="ref-Q42">
            <a:extLst xmlns:a="http://schemas.openxmlformats.org/drawingml/2006/main">
              <a:ext uri="{FF2B5EF4-FFF2-40B4-BE49-F238E27FC236}">
                <a16:creationId xmlns:a16="http://schemas.microsoft.com/office/drawing/2014/main" id="{77B7DD38-E557-4E93-B027-C4F1892B6955}"/>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49c5efaaf5d544ce"/>
              </a:rPr>
              <a:t>Q42 p.39</a:t>
            </a:r>
          </a:p>
        </p:txBody>
      </p:sp>
      <p:sp>
        <p:nvSpPr>
          <p:cNvPr id="9" name="disclosure">
            <a:extLst xmlns:a="http://schemas.openxmlformats.org/drawingml/2006/main">
              <a:ext uri="{FF2B5EF4-FFF2-40B4-BE49-F238E27FC236}">
                <a16:creationId xmlns:a16="http://schemas.microsoft.com/office/drawing/2014/main" id="{8627B7D3-77DC-4FAE-82FD-6C7A9DF6041B}"/>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日立の別の技術発表にある全機能が、共同システムへ搭載されるとは確認していない。提携先ごとの役割と開発段階を読む。</a:t>
            </a:r>
          </a:p>
        </p:txBody>
      </p:sp>
      <p:sp>
        <p:nvSpPr>
          <p:cNvPr id="10" name="page">
            <a:extLst xmlns:a="http://schemas.openxmlformats.org/drawingml/2006/main">
              <a:ext uri="{FF2B5EF4-FFF2-40B4-BE49-F238E27FC236}">
                <a16:creationId xmlns:a16="http://schemas.microsoft.com/office/drawing/2014/main" id="{91341777-5B08-45CA-B4D5-86697F04C252}"/>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09 / 40</a:t>
            </a:r>
          </a:p>
        </p:txBody>
      </p:sp>
    </p:spTree>
    <p:extLst>
      <p:ext uri="{BB962C8B-B14F-4D97-AF65-F5344CB8AC3E}">
        <p14:creationId xmlns:p14="http://schemas.microsoft.com/office/powerpoint/2010/main" val="6038329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9C11CE15-3DF6-44D8-B1E9-781CA8B29130}"/>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フィジカルAIの作業定義と、報告の確認項目</a:t>
            </a:r>
          </a:p>
        </p:txBody>
      </p:sp>
      <p:sp>
        <p:nvSpPr>
          <p:cNvPr id="2" name="context">
            <a:extLst xmlns:a="http://schemas.openxmlformats.org/drawingml/2006/main">
              <a:ext uri="{FF2B5EF4-FFF2-40B4-BE49-F238E27FC236}">
                <a16:creationId xmlns:a16="http://schemas.microsoft.com/office/drawing/2014/main" id="{38F449A0-26FB-4124-ACBA-B50D5DB0A129}"/>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メーカー呼称、技術の仕組み、実機検証、現地観察を独立して記録する。</a:t>
            </a:r>
          </a:p>
        </p:txBody>
      </p:sp>
      <p:sp>
        <p:nvSpPr>
          <p:cNvPr id="3" name="definition-label">
            <a:extLst xmlns:a="http://schemas.openxmlformats.org/drawingml/2006/main">
              <a:ext uri="{FF2B5EF4-FFF2-40B4-BE49-F238E27FC236}">
                <a16:creationId xmlns:a16="http://schemas.microsoft.com/office/drawing/2014/main" id="{FBB1EBFB-7F6F-4EB8-BD2F-DB900DD1DD4C}"/>
              </a:ext>
            </a:extLst>
          </p:cNvPr>
          <p:cNvSpPr>
            <a:spLocks xmlns:a="http://schemas.openxmlformats.org/drawingml/2006/main" noGrp="1"/>
          </p:cNvSpPr>
          <p:nvPr/>
        </p:nvSpPr>
        <p:spPr>
          <a:xfrm xmlns:a="http://schemas.openxmlformats.org/drawingml/2006/main">
            <a:off x="838200" y="2600325"/>
            <a:ext cx="1619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17D83"/>
                </a:solidFill>
                <a:latin typeface="Noto Sans JP"/>
                <a:ea typeface="Noto Sans JP"/>
                <a:cs typeface="Noto Sans JP"/>
              </a:defRPr>
            </a:defPPr>
            <a:lvl1pPr>
              <a:defRPr sz="2175" b="1">
                <a:solidFill>
                  <a:srgbClr val="117D83"/>
                </a:solidFill>
                <a:latin typeface="Noto Sans JP"/>
                <a:ea typeface="Noto Sans JP"/>
                <a:cs typeface="Noto Sans JP"/>
              </a:defRPr>
            </a:lvl1pPr>
            <a:lvl2pPr>
              <a:defRPr sz="2175" b="1">
                <a:solidFill>
                  <a:srgbClr val="117D83"/>
                </a:solidFill>
                <a:latin typeface="Noto Sans JP"/>
                <a:ea typeface="Noto Sans JP"/>
                <a:cs typeface="Noto Sans JP"/>
              </a:defRPr>
            </a:lvl2pPr>
            <a:lvl3pPr>
              <a:defRPr sz="2175" b="1">
                <a:solidFill>
                  <a:srgbClr val="117D83"/>
                </a:solidFill>
                <a:latin typeface="Noto Sans JP"/>
                <a:ea typeface="Noto Sans JP"/>
                <a:cs typeface="Noto Sans JP"/>
              </a:defRPr>
            </a:lvl3pPr>
            <a:lvl4pPr>
              <a:defRPr sz="2175" b="1">
                <a:solidFill>
                  <a:srgbClr val="117D83"/>
                </a:solidFill>
                <a:latin typeface="Noto Sans JP"/>
                <a:ea typeface="Noto Sans JP"/>
                <a:cs typeface="Noto Sans JP"/>
              </a:defRPr>
            </a:lvl4pPr>
            <a:lvl5pPr>
              <a:defRPr sz="2175" b="1">
                <a:solidFill>
                  <a:srgbClr val="117D83"/>
                </a:solidFill>
                <a:latin typeface="Noto Sans JP"/>
                <a:ea typeface="Noto Sans JP"/>
                <a:cs typeface="Noto Sans JP"/>
              </a:defRPr>
            </a:lvl5pPr>
            <a:lvl6pPr>
              <a:defRPr sz="2175" b="1">
                <a:solidFill>
                  <a:srgbClr val="117D83"/>
                </a:solidFill>
                <a:latin typeface="Noto Sans JP"/>
                <a:ea typeface="Noto Sans JP"/>
                <a:cs typeface="Noto Sans JP"/>
              </a:defRPr>
            </a:lvl6pPr>
            <a:lvl7pPr>
              <a:defRPr sz="2175" b="1">
                <a:solidFill>
                  <a:srgbClr val="117D83"/>
                </a:solidFill>
                <a:latin typeface="Noto Sans JP"/>
                <a:ea typeface="Noto Sans JP"/>
                <a:cs typeface="Noto Sans JP"/>
              </a:defRPr>
            </a:lvl7pPr>
            <a:lvl8pPr>
              <a:defRPr sz="2175" b="1">
                <a:solidFill>
                  <a:srgbClr val="117D83"/>
                </a:solidFill>
                <a:latin typeface="Noto Sans JP"/>
                <a:ea typeface="Noto Sans JP"/>
                <a:cs typeface="Noto Sans JP"/>
              </a:defRPr>
            </a:lvl8pPr>
            <a:lvl9pPr>
              <a:defRPr sz="2175" b="1">
                <a:solidFill>
                  <a:srgbClr val="117D83"/>
                </a:solidFill>
                <a:latin typeface="Noto Sans JP"/>
                <a:ea typeface="Noto Sans JP"/>
                <a:cs typeface="Noto Sans JP"/>
              </a:defRPr>
            </a:lvl9pPr>
          </a:lstStyle>
          <a:p xmlns:a="http://schemas.openxmlformats.org/drawingml/2006/main">
            <a:pPr>
              <a:lnSpc>
                <a:spcPct val="108000"/>
              </a:lnSpc>
              <a:buNone/>
              <a:defRPr sz="2175" b="1">
                <a:solidFill>
                  <a:srgbClr val="117D83"/>
                </a:solidFill>
                <a:latin typeface="Noto Sans JP"/>
                <a:ea typeface="Noto Sans JP"/>
                <a:cs typeface="Noto Sans JP"/>
              </a:defRPr>
            </a:pPr>
            <a:r>
              <a:rPr sz="2175" b="1">
                <a:solidFill>
                  <a:srgbClr val="117D83"/>
                </a:solidFill>
                <a:latin typeface="Noto Sans JP"/>
                <a:ea typeface="Noto Sans JP"/>
                <a:cs typeface="Noto Sans JP"/>
              </a:rPr>
              <a:t>本調査の作業定義</a:t>
            </a:r>
          </a:p>
        </p:txBody>
      </p:sp>
      <p:sp>
        <p:nvSpPr>
          <p:cNvPr id="4" name="working-definition">
            <a:extLst xmlns:a="http://schemas.openxmlformats.org/drawingml/2006/main">
              <a:ext uri="{FF2B5EF4-FFF2-40B4-BE49-F238E27FC236}">
                <a16:creationId xmlns:a16="http://schemas.microsoft.com/office/drawing/2014/main" id="{4FB00D78-86B6-4F99-BD05-EE80F7A467F3}"/>
              </a:ext>
            </a:extLst>
          </p:cNvPr>
          <p:cNvSpPr>
            <a:spLocks xmlns:a="http://schemas.openxmlformats.org/drawingml/2006/main" noGrp="1"/>
          </p:cNvSpPr>
          <p:nvPr/>
        </p:nvSpPr>
        <p:spPr>
          <a:xfrm xmlns:a="http://schemas.openxmlformats.org/drawingml/2006/main">
            <a:off x="838200" y="3105150"/>
            <a:ext cx="16573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75" b="1">
                <a:solidFill>
                  <a:srgbClr val="183C4D"/>
                </a:solidFill>
                <a:latin typeface="Noto Sans JP"/>
                <a:ea typeface="Noto Sans JP"/>
                <a:cs typeface="Noto Sans JP"/>
              </a:defRPr>
            </a:defPPr>
            <a:lvl1pPr>
              <a:defRPr sz="2475" b="1">
                <a:solidFill>
                  <a:srgbClr val="183C4D"/>
                </a:solidFill>
                <a:latin typeface="Noto Sans JP"/>
                <a:ea typeface="Noto Sans JP"/>
                <a:cs typeface="Noto Sans JP"/>
              </a:defRPr>
            </a:lvl1pPr>
            <a:lvl2pPr>
              <a:defRPr sz="2475" b="1">
                <a:solidFill>
                  <a:srgbClr val="183C4D"/>
                </a:solidFill>
                <a:latin typeface="Noto Sans JP"/>
                <a:ea typeface="Noto Sans JP"/>
                <a:cs typeface="Noto Sans JP"/>
              </a:defRPr>
            </a:lvl2pPr>
            <a:lvl3pPr>
              <a:defRPr sz="2475" b="1">
                <a:solidFill>
                  <a:srgbClr val="183C4D"/>
                </a:solidFill>
                <a:latin typeface="Noto Sans JP"/>
                <a:ea typeface="Noto Sans JP"/>
                <a:cs typeface="Noto Sans JP"/>
              </a:defRPr>
            </a:lvl3pPr>
            <a:lvl4pPr>
              <a:defRPr sz="2475" b="1">
                <a:solidFill>
                  <a:srgbClr val="183C4D"/>
                </a:solidFill>
                <a:latin typeface="Noto Sans JP"/>
                <a:ea typeface="Noto Sans JP"/>
                <a:cs typeface="Noto Sans JP"/>
              </a:defRPr>
            </a:lvl4pPr>
            <a:lvl5pPr>
              <a:defRPr sz="2475" b="1">
                <a:solidFill>
                  <a:srgbClr val="183C4D"/>
                </a:solidFill>
                <a:latin typeface="Noto Sans JP"/>
                <a:ea typeface="Noto Sans JP"/>
                <a:cs typeface="Noto Sans JP"/>
              </a:defRPr>
            </a:lvl5pPr>
            <a:lvl6pPr>
              <a:defRPr sz="2475" b="1">
                <a:solidFill>
                  <a:srgbClr val="183C4D"/>
                </a:solidFill>
                <a:latin typeface="Noto Sans JP"/>
                <a:ea typeface="Noto Sans JP"/>
                <a:cs typeface="Noto Sans JP"/>
              </a:defRPr>
            </a:lvl6pPr>
            <a:lvl7pPr>
              <a:defRPr sz="2475" b="1">
                <a:solidFill>
                  <a:srgbClr val="183C4D"/>
                </a:solidFill>
                <a:latin typeface="Noto Sans JP"/>
                <a:ea typeface="Noto Sans JP"/>
                <a:cs typeface="Noto Sans JP"/>
              </a:defRPr>
            </a:lvl7pPr>
            <a:lvl8pPr>
              <a:defRPr sz="2475" b="1">
                <a:solidFill>
                  <a:srgbClr val="183C4D"/>
                </a:solidFill>
                <a:latin typeface="Noto Sans JP"/>
                <a:ea typeface="Noto Sans JP"/>
                <a:cs typeface="Noto Sans JP"/>
              </a:defRPr>
            </a:lvl8pPr>
            <a:lvl9pPr>
              <a:defRPr sz="2475" b="1">
                <a:solidFill>
                  <a:srgbClr val="183C4D"/>
                </a:solidFill>
                <a:latin typeface="Noto Sans JP"/>
                <a:ea typeface="Noto Sans JP"/>
                <a:cs typeface="Noto Sans JP"/>
              </a:defRPr>
            </a:lvl9pPr>
          </a:lstStyle>
          <a:p xmlns:a="http://schemas.openxmlformats.org/drawingml/2006/main">
            <a:pPr>
              <a:lnSpc>
                <a:spcPct val="108000"/>
              </a:lnSpc>
              <a:buNone/>
              <a:defRPr sz="2475" b="1">
                <a:solidFill>
                  <a:srgbClr val="183C4D"/>
                </a:solidFill>
                <a:latin typeface="Noto Sans JP"/>
                <a:ea typeface="Noto Sans JP"/>
                <a:cs typeface="Noto Sans JP"/>
              </a:defRPr>
            </a:pPr>
            <a:r>
              <a:rPr sz="2475" b="1">
                <a:solidFill>
                  <a:srgbClr val="183C4D"/>
                </a:solidFill>
                <a:latin typeface="Noto Sans JP"/>
                <a:ea typeface="Noto Sans JP"/>
                <a:cs typeface="Noto Sans JP"/>
              </a:rPr>
              <a:t>物理世界の状態を捉え、学習モデルを含むAIが状態・目的に応じて判断や動作を選び、物理世界で実行する</a:t>
            </a:r>
          </a:p>
          <a:p xmlns:a="http://schemas.openxmlformats.org/drawingml/2006/main">
            <a:pPr>
              <a:lnSpc>
                <a:spcPct val="108000"/>
              </a:lnSpc>
              <a:buNone/>
              <a:defRPr sz="2475" b="1">
                <a:solidFill>
                  <a:srgbClr val="183C4D"/>
                </a:solidFill>
                <a:latin typeface="Noto Sans JP"/>
                <a:ea typeface="Noto Sans JP"/>
                <a:cs typeface="Noto Sans JP"/>
              </a:defRPr>
            </a:pPr>
            <a:r>
              <a:rPr sz="2475" b="1">
                <a:solidFill>
                  <a:srgbClr val="183C4D"/>
                </a:solidFill>
                <a:latin typeface="Noto Sans JP"/>
                <a:ea typeface="Noto Sans JP"/>
                <a:cs typeface="Noto Sans JP"/>
              </a:rPr>
              <a:t>仕組み。条件変化や不確実性への対応能力を具体的に確認できるものを重点対象にする。</a:t>
            </a:r>
          </a:p>
        </p:txBody>
      </p:sp>
      <p:graphicFrame>
        <p:nvGraphicFramePr>
          <p:cNvPr id="5" name="">
            <a:extLst xmlns:a="http://schemas.openxmlformats.org/drawingml/2006/main">
              <a:ext uri="{FF2B5EF4-FFF2-40B4-BE49-F238E27FC236}">
                <a16:creationId xmlns:a16="http://schemas.microsoft.com/office/drawing/2014/main" id="{7136DC44-0E08-4034-B0A5-06D4A0EBA8D2}"/>
              </a:ext>
            </a:extLst>
          </p:cNvPr>
          <p:cNvGraphicFramePr/>
          <p:nvPr/>
        </p:nvGraphicFramePr>
        <p:xfrm>
          <a:off xmlns:a="http://schemas.openxmlformats.org/drawingml/2006/main" x="819150" y="5133975"/>
          <a:ext xmlns:a="http://schemas.openxmlformats.org/drawingml/2006/main" cx="16649700" cy="3667125"/>
        </p:xfrm>
        <a:graphic xmlns:a="http://schemas.openxmlformats.org/drawingml/2006/main">
          <a:graphicData uri="http://schemas.openxmlformats.org/drawingml/2006/table">
            <a:tbl>
              <a:tblPr/>
              <a:tblGrid>
                <a:gridCol w="4095750"/>
                <a:gridCol w="12553950"/>
              </a:tblGrid>
              <a:tr h="619125">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確認する欄</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根拠として残すこと</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762000">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メーカー呼称</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誰が何をフィジカルAIと呼ぶか。原文と出典を残す。</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762000">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方式と適応範囲</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入力、AIが選ぶ判断、変える動作、変化する条件を確認する。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762000">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実機検証</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比較条件、成功・介入・復帰、時間と品質、適用外を確認する。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762000">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現地観察</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見た条件と結果、説明を聞いた範囲、販売・研究の段階を分ける。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6" name="ref-Q07">
            <a:extLst xmlns:a="http://schemas.openxmlformats.org/drawingml/2006/main">
              <a:ext uri="{FF2B5EF4-FFF2-40B4-BE49-F238E27FC236}">
                <a16:creationId xmlns:a16="http://schemas.microsoft.com/office/drawing/2014/main" id="{3FE34A24-D157-4A7A-B075-153B8AC8296E}"/>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c606d7b6f35c49eb"/>
              </a:rPr>
              <a:t>Q07 p.30</a:t>
            </a:r>
          </a:p>
        </p:txBody>
      </p:sp>
      <p:sp>
        <p:nvSpPr>
          <p:cNvPr id="7" name="ref-Q09">
            <a:extLst xmlns:a="http://schemas.openxmlformats.org/drawingml/2006/main">
              <a:ext uri="{FF2B5EF4-FFF2-40B4-BE49-F238E27FC236}">
                <a16:creationId xmlns:a16="http://schemas.microsoft.com/office/drawing/2014/main" id="{FC0BEF70-D817-4807-865A-C7B798F4D8BC}"/>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4e05b71a1fb4c0f"/>
              </a:rPr>
              <a:t>Q09 p.31</a:t>
            </a:r>
          </a:p>
        </p:txBody>
      </p:sp>
      <p:sp>
        <p:nvSpPr>
          <p:cNvPr id="8" name="ref-Q21">
            <a:extLst xmlns:a="http://schemas.openxmlformats.org/drawingml/2006/main">
              <a:ext uri="{FF2B5EF4-FFF2-40B4-BE49-F238E27FC236}">
                <a16:creationId xmlns:a16="http://schemas.microsoft.com/office/drawing/2014/main" id="{5342C7BB-32B9-4D16-AB4F-4F29227AC4EA}"/>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034f94cbfc0544fc"/>
              </a:rPr>
              <a:t>Q21 p.34</a:t>
            </a:r>
          </a:p>
        </p:txBody>
      </p:sp>
      <p:sp>
        <p:nvSpPr>
          <p:cNvPr id="9" name="ref-Q41">
            <a:extLst xmlns:a="http://schemas.openxmlformats.org/drawingml/2006/main">
              <a:ext uri="{FF2B5EF4-FFF2-40B4-BE49-F238E27FC236}">
                <a16:creationId xmlns:a16="http://schemas.microsoft.com/office/drawing/2014/main" id="{85A5D315-4B88-4261-9B7A-6F3446579D8A}"/>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2461833a37f4bf9"/>
              </a:rPr>
              <a:t>Q41 p.39</a:t>
            </a:r>
          </a:p>
        </p:txBody>
      </p:sp>
      <p:sp>
        <p:nvSpPr>
          <p:cNvPr id="10" name="disclosure">
            <a:extLst xmlns:a="http://schemas.openxmlformats.org/drawingml/2006/main">
              <a:ext uri="{FF2B5EF4-FFF2-40B4-BE49-F238E27FC236}">
                <a16:creationId xmlns:a16="http://schemas.microsoft.com/office/drawing/2014/main" id="{3DF8F709-9471-4B2C-ACE8-23A5E670B627}"/>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本調査が複数資料を合わせた作業定義。共通規格ではない。VLA・基盤モデル等の全項目や、その場の再学習を必須条件にはしない。</a:t>
            </a:r>
          </a:p>
        </p:txBody>
      </p:sp>
      <p:sp>
        <p:nvSpPr>
          <p:cNvPr id="11" name="page">
            <a:extLst xmlns:a="http://schemas.openxmlformats.org/drawingml/2006/main">
              <a:ext uri="{FF2B5EF4-FFF2-40B4-BE49-F238E27FC236}">
                <a16:creationId xmlns:a16="http://schemas.microsoft.com/office/drawing/2014/main" id="{F40E3222-7BFB-4DB7-B63F-F5D044FB7DF2}"/>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10 / 40</a:t>
            </a:r>
          </a:p>
        </p:txBody>
      </p:sp>
    </p:spTree>
    <p:extLst>
      <p:ext uri="{BB962C8B-B14F-4D97-AF65-F5344CB8AC3E}">
        <p14:creationId xmlns:p14="http://schemas.microsoft.com/office/powerpoint/2010/main" val="10581676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5AC3E95F-DF18-4114-AB60-BDCF27E12B90}"/>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固定設置のピッキングと、変化への対応</a:t>
            </a:r>
          </a:p>
        </p:txBody>
      </p:sp>
      <p:sp>
        <p:nvSpPr>
          <p:cNvPr id="2" name="context">
            <a:extLst xmlns:a="http://schemas.openxmlformats.org/drawingml/2006/main">
              <a:ext uri="{FF2B5EF4-FFF2-40B4-BE49-F238E27FC236}">
                <a16:creationId xmlns:a16="http://schemas.microsoft.com/office/drawing/2014/main" id="{95C9EA36-F258-42D7-97B2-84E4F19AA4C8}"/>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以下は評価方法を説明する仮想例。JIMTOFで実際に確認した展示の判定ではない。</a:t>
            </a:r>
          </a:p>
        </p:txBody>
      </p:sp>
      <p:graphicFrame>
        <p:nvGraphicFramePr>
          <p:cNvPr id="3" name="">
            <a:extLst xmlns:a="http://schemas.openxmlformats.org/drawingml/2006/main">
              <a:ext uri="{FF2B5EF4-FFF2-40B4-BE49-F238E27FC236}">
                <a16:creationId xmlns:a16="http://schemas.microsoft.com/office/drawing/2014/main" id="{0D11857F-3FB1-40A8-9F7F-8CDF32022E90}"/>
              </a:ext>
            </a:extLst>
          </p:cNvPr>
          <p:cNvGraphicFramePr/>
          <p:nvPr/>
        </p:nvGraphicFramePr>
        <p:xfrm>
          <a:off xmlns:a="http://schemas.openxmlformats.org/drawingml/2006/main" x="819150" y="2571750"/>
          <a:ext xmlns:a="http://schemas.openxmlformats.org/drawingml/2006/main" cx="16649700" cy="6096000"/>
        </p:xfrm>
        <a:graphic xmlns:a="http://schemas.openxmlformats.org/drawingml/2006/main">
          <a:graphicData uri="http://schemas.openxmlformats.org/drawingml/2006/table">
            <a:tbl>
              <a:tblPr/>
              <a:tblGrid>
                <a:gridCol w="5619750"/>
                <a:gridCol w="4953000"/>
                <a:gridCol w="6076950"/>
              </a:tblGrid>
              <a:tr h="619125">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例</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いったんの整理</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技術・新規性を確かめる問い</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09537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撮像し、登録済み経路を位置補正</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従来型の自動化でも成立</a:t>
                      </a:r>
                    </a:p>
                    <a:p>
                      <a:pPr>
                        <a:lnSpc>
                          <a:spcPct val="108000"/>
                        </a:lnSpc>
                        <a:buNone/>
                      </a:pPr>
                      <a:r>
                        <a:rPr sz="2025" b="0">
                          <a:solidFill>
                            <a:srgbClr val="183C4D"/>
                          </a:solidFill>
                          <a:latin typeface="Noto Sans JP"/>
                          <a:ea typeface="Noto Sans JP"/>
                          <a:cs typeface="Noto Sans JP"/>
                        </a:rPr>
                        <a:t>AIの使用と進歩は別途確認</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認識と経路生成の方式</a:t>
                      </a:r>
                    </a:p>
                    <a:p>
                      <a:pPr>
                        <a:lnSpc>
                          <a:spcPct val="108000"/>
                        </a:lnSpc>
                        <a:buNone/>
                      </a:pPr>
                      <a:r>
                        <a:rPr sz="2025" b="0">
                          <a:solidFill>
                            <a:srgbClr val="183C4D"/>
                          </a:solidFill>
                          <a:latin typeface="Noto Sans JP"/>
                          <a:ea typeface="Noto Sans JP"/>
                          <a:cs typeface="Noto Sans JP"/>
                        </a:rPr>
                        <a:t>以前の製品との違い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09537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固定アームが滑り等で再試行</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同じ設置・ワークでも</a:t>
                      </a:r>
                    </a:p>
                    <a:p>
                      <a:pPr>
                        <a:lnSpc>
                          <a:spcPct val="108000"/>
                        </a:lnSpc>
                        <a:buNone/>
                      </a:pPr>
                      <a:r>
                        <a:rPr sz="2025" b="0">
                          <a:solidFill>
                            <a:srgbClr val="183C4D"/>
                          </a:solidFill>
                          <a:latin typeface="Noto Sans JP"/>
                          <a:ea typeface="Noto Sans JP"/>
                          <a:cs typeface="Noto Sans JP"/>
                        </a:rPr>
                        <a:t>適応能力の候補になる</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AIが変える動作、失敗検知</a:t>
                      </a:r>
                    </a:p>
                    <a:p>
                      <a:pPr>
                        <a:lnSpc>
                          <a:spcPct val="108000"/>
                        </a:lnSpc>
                        <a:buNone/>
                      </a:pPr>
                      <a:r>
                        <a:rPr sz="2025" b="0">
                          <a:solidFill>
                            <a:srgbClr val="183C4D"/>
                          </a:solidFill>
                          <a:latin typeface="Noto Sans JP"/>
                          <a:ea typeface="Noto Sans JP"/>
                          <a:cs typeface="Noto Sans JP"/>
                        </a:rPr>
                        <a:t>復帰と試験条件、介入率</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09537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音声で登録作業を呼び出す</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指示入力の改善</a:t>
                      </a:r>
                    </a:p>
                    <a:p>
                      <a:pPr>
                        <a:lnSpc>
                          <a:spcPct val="108000"/>
                        </a:lnSpc>
                        <a:buNone/>
                      </a:pPr>
                      <a:r>
                        <a:rPr sz="2025" b="0">
                          <a:solidFill>
                            <a:srgbClr val="183C4D"/>
                          </a:solidFill>
                          <a:latin typeface="Noto Sans JP"/>
                          <a:ea typeface="Noto Sans JP"/>
                          <a:cs typeface="Noto Sans JP"/>
                        </a:rPr>
                        <a:t>新しい作業への汎化は未確認</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言い換え理解と動作生成</a:t>
                      </a:r>
                    </a:p>
                    <a:p>
                      <a:pPr>
                        <a:lnSpc>
                          <a:spcPct val="108000"/>
                        </a:lnSpc>
                        <a:buNone/>
                      </a:pPr>
                      <a:r>
                        <a:rPr sz="2025" b="0">
                          <a:solidFill>
                            <a:srgbClr val="183C4D"/>
                          </a:solidFill>
                          <a:latin typeface="Noto Sans JP"/>
                          <a:ea typeface="Noto Sans JP"/>
                          <a:cs typeface="Noto Sans JP"/>
                        </a:rPr>
                        <a:t>作業範囲と再教示</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09537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新しい形状へ再教示を抑えて対応</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汎化を主張する候補</a:t>
                      </a:r>
                    </a:p>
                    <a:p>
                      <a:pPr>
                        <a:lnSpc>
                          <a:spcPct val="108000"/>
                        </a:lnSpc>
                        <a:buNone/>
                      </a:pPr>
                      <a:r>
                        <a:rPr sz="2025" b="0">
                          <a:solidFill>
                            <a:srgbClr val="183C4D"/>
                          </a:solidFill>
                          <a:latin typeface="Noto Sans JP"/>
                          <a:ea typeface="Noto Sans JP"/>
                          <a:cs typeface="Noto Sans JP"/>
                        </a:rPr>
                        <a:t>比較条件を確認する</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初めての範囲、学習データ</a:t>
                      </a:r>
                    </a:p>
                    <a:p>
                      <a:pPr>
                        <a:lnSpc>
                          <a:spcPct val="108000"/>
                        </a:lnSpc>
                        <a:buNone/>
                      </a:pPr>
                      <a:r>
                        <a:rPr sz="2025" b="0">
                          <a:solidFill>
                            <a:srgbClr val="183C4D"/>
                          </a:solidFill>
                          <a:latin typeface="Noto Sans JP"/>
                          <a:ea typeface="Noto Sans JP"/>
                          <a:cs typeface="Noto Sans JP"/>
                        </a:rPr>
                        <a:t>調整時間、人の介入</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09537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加工中に状態から条件を変更</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加工の適応的な判断・実行</a:t>
                      </a:r>
                    </a:p>
                    <a:p>
                      <a:pPr>
                        <a:lnSpc>
                          <a:spcPct val="108000"/>
                        </a:lnSpc>
                        <a:buNone/>
                      </a:pPr>
                      <a:r>
                        <a:rPr sz="2025" b="0">
                          <a:solidFill>
                            <a:srgbClr val="183C4D"/>
                          </a:solidFill>
                          <a:latin typeface="Noto Sans JP"/>
                          <a:ea typeface="Noto Sans JP"/>
                          <a:cs typeface="Noto Sans JP"/>
                        </a:rPr>
                        <a:t>として調べる</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モデルとAI・制御の分担</a:t>
                      </a:r>
                    </a:p>
                    <a:p>
                      <a:pPr>
                        <a:lnSpc>
                          <a:spcPct val="108000"/>
                        </a:lnSpc>
                        <a:buNone/>
                      </a:pPr>
                      <a:r>
                        <a:rPr sz="2025" b="0">
                          <a:solidFill>
                            <a:srgbClr val="183C4D"/>
                          </a:solidFill>
                          <a:latin typeface="Noto Sans JP"/>
                          <a:ea typeface="Noto Sans JP"/>
                          <a:cs typeface="Noto Sans JP"/>
                        </a:rPr>
                        <a:t>安定性と適用範囲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ref-Q07">
            <a:extLst xmlns:a="http://schemas.openxmlformats.org/drawingml/2006/main">
              <a:ext uri="{FF2B5EF4-FFF2-40B4-BE49-F238E27FC236}">
                <a16:creationId xmlns:a16="http://schemas.microsoft.com/office/drawing/2014/main" id="{FFA13CE3-A5EE-4F9D-81B6-5FE24CA9EBCC}"/>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b317dc6339a244c8"/>
              </a:rPr>
              <a:t>Q07 p.30</a:t>
            </a:r>
          </a:p>
        </p:txBody>
      </p:sp>
      <p:sp>
        <p:nvSpPr>
          <p:cNvPr id="5" name="ref-Q09">
            <a:extLst xmlns:a="http://schemas.openxmlformats.org/drawingml/2006/main">
              <a:ext uri="{FF2B5EF4-FFF2-40B4-BE49-F238E27FC236}">
                <a16:creationId xmlns:a16="http://schemas.microsoft.com/office/drawing/2014/main" id="{4ABAEB1E-4A73-4210-A94C-AAD699BA2062}"/>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7603b3f1fa84d7b"/>
              </a:rPr>
              <a:t>Q09 p.31</a:t>
            </a:r>
          </a:p>
        </p:txBody>
      </p:sp>
      <p:sp>
        <p:nvSpPr>
          <p:cNvPr id="6" name="ref-Q21">
            <a:extLst xmlns:a="http://schemas.openxmlformats.org/drawingml/2006/main">
              <a:ext uri="{FF2B5EF4-FFF2-40B4-BE49-F238E27FC236}">
                <a16:creationId xmlns:a16="http://schemas.microsoft.com/office/drawing/2014/main" id="{D5F8872A-0AD5-4780-ABDD-6F319FB40429}"/>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f880f39753f43c9"/>
              </a:rPr>
              <a:t>Q21 p.34</a:t>
            </a:r>
          </a:p>
        </p:txBody>
      </p:sp>
      <p:sp>
        <p:nvSpPr>
          <p:cNvPr id="7" name="ref-Q31">
            <a:extLst xmlns:a="http://schemas.openxmlformats.org/drawingml/2006/main">
              <a:ext uri="{FF2B5EF4-FFF2-40B4-BE49-F238E27FC236}">
                <a16:creationId xmlns:a16="http://schemas.microsoft.com/office/drawing/2014/main" id="{0C2B33E9-F751-4C04-89A1-F16A876F6381}"/>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02a59a99b0b469b"/>
              </a:rPr>
              <a:t>Q31 p.36</a:t>
            </a:r>
          </a:p>
        </p:txBody>
      </p:sp>
      <p:sp>
        <p:nvSpPr>
          <p:cNvPr id="8" name="ref-Q41">
            <a:extLst xmlns:a="http://schemas.openxmlformats.org/drawingml/2006/main">
              <a:ext uri="{FF2B5EF4-FFF2-40B4-BE49-F238E27FC236}">
                <a16:creationId xmlns:a16="http://schemas.microsoft.com/office/drawing/2014/main" id="{A142AD17-09F5-4796-BBEC-359BFC4C6A0E}"/>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2196fc0dd4c4326"/>
              </a:rPr>
              <a:t>Q41 p.39</a:t>
            </a:r>
          </a:p>
        </p:txBody>
      </p:sp>
      <p:sp>
        <p:nvSpPr>
          <p:cNvPr id="9" name="disclosure">
            <a:extLst xmlns:a="http://schemas.openxmlformats.org/drawingml/2006/main">
              <a:ext uri="{FF2B5EF4-FFF2-40B4-BE49-F238E27FC236}">
                <a16:creationId xmlns:a16="http://schemas.microsoft.com/office/drawing/2014/main" id="{33C83FD7-B40B-4CD4-9B89-87B77462C762}"/>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固定設置や単一ワークだけで除外しない。AIという呼称だけで未知条件への対応や最新性を認めない。</a:t>
            </a:r>
          </a:p>
        </p:txBody>
      </p:sp>
      <p:sp>
        <p:nvSpPr>
          <p:cNvPr id="10" name="page">
            <a:extLst xmlns:a="http://schemas.openxmlformats.org/drawingml/2006/main">
              <a:ext uri="{FF2B5EF4-FFF2-40B4-BE49-F238E27FC236}">
                <a16:creationId xmlns:a16="http://schemas.microsoft.com/office/drawing/2014/main" id="{30D5736A-3105-4E72-B34C-F8039F3415D2}"/>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11 / 40</a:t>
            </a:r>
          </a:p>
        </p:txBody>
      </p:sp>
    </p:spTree>
    <p:extLst>
      <p:ext uri="{BB962C8B-B14F-4D97-AF65-F5344CB8AC3E}">
        <p14:creationId xmlns:p14="http://schemas.microsoft.com/office/powerpoint/2010/main" val="4678540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eading">
            <a:extLst xmlns:a="http://schemas.openxmlformats.org/drawingml/2006/main">
              <a:ext uri="{FF2B5EF4-FFF2-40B4-BE49-F238E27FC236}">
                <a16:creationId xmlns:a16="http://schemas.microsoft.com/office/drawing/2014/main" id="{881D1584-F1DA-492C-A861-B1CD7A423E39}"/>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熟練知として残す、判断の前提と手順</a:t>
            </a:r>
          </a:p>
        </p:txBody>
      </p:sp>
      <p:sp>
        <p:nvSpPr>
          <p:cNvPr id="2" name="context">
            <a:extLst xmlns:a="http://schemas.openxmlformats.org/drawingml/2006/main">
              <a:ext uri="{FF2B5EF4-FFF2-40B4-BE49-F238E27FC236}">
                <a16:creationId xmlns:a16="http://schemas.microsoft.com/office/drawing/2014/main" id="{FD2521F2-B3B3-4682-BBAB-119C2D835C2D}"/>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答えを保存するだけでなく、何を一件の経験とし、どの条件なら再利用できるかを具体化する。</a:t>
            </a:r>
          </a:p>
        </p:txBody>
      </p:sp>
      <p:graphicFrame>
        <p:nvGraphicFramePr>
          <p:cNvPr id="3" name="">
            <a:extLst xmlns:a="http://schemas.openxmlformats.org/drawingml/2006/main">
              <a:ext uri="{FF2B5EF4-FFF2-40B4-BE49-F238E27FC236}">
                <a16:creationId xmlns:a16="http://schemas.microsoft.com/office/drawing/2014/main" id="{6A3B584F-47B8-40A3-A7A4-221F56E62409}"/>
              </a:ext>
            </a:extLst>
          </p:cNvPr>
          <p:cNvGraphicFramePr/>
          <p:nvPr/>
        </p:nvGraphicFramePr>
        <p:xfrm>
          <a:off xmlns:a="http://schemas.openxmlformats.org/drawingml/2006/main" x="819150" y="2571750"/>
          <a:ext xmlns:a="http://schemas.openxmlformats.org/drawingml/2006/main" cx="16649700" cy="6143625"/>
        </p:xfrm>
        <a:graphic xmlns:a="http://schemas.openxmlformats.org/drawingml/2006/main">
          <a:graphicData uri="http://schemas.openxmlformats.org/drawingml/2006/table">
            <a:tbl>
              <a:tblPr/>
              <a:tblGrid>
                <a:gridCol w="4286250"/>
                <a:gridCol w="6191250"/>
                <a:gridCol w="6172200"/>
              </a:tblGrid>
              <a:tr h="666750">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形式知化するもの</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手掛かりの記録</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その記録だけでは残りにくいこと</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09537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加工方法の選択</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対話プログラム、形状、工程</a:t>
                      </a:r>
                    </a:p>
                    <a:p>
                      <a:pPr>
                        <a:lnSpc>
                          <a:spcPct val="108000"/>
                        </a:lnSpc>
                        <a:buNone/>
                      </a:pPr>
                      <a:r>
                        <a:rPr sz="2100" b="0">
                          <a:solidFill>
                            <a:srgbClr val="183C4D"/>
                          </a:solidFill>
                          <a:latin typeface="Noto Sans JP"/>
                          <a:ea typeface="Noto Sans JP"/>
                          <a:cs typeface="Noto Sans JP"/>
                        </a:rPr>
                        <a:t>工具・加工条件</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選択理由、選ばなかった案</a:t>
                      </a:r>
                    </a:p>
                    <a:p>
                      <a:pPr>
                        <a:lnSpc>
                          <a:spcPct val="108000"/>
                        </a:lnSpc>
                        <a:buNone/>
                      </a:pPr>
                      <a:r>
                        <a:rPr sz="2100" b="0">
                          <a:solidFill>
                            <a:srgbClr val="183C4D"/>
                          </a:solidFill>
                          <a:latin typeface="Noto Sans JP"/>
                          <a:ea typeface="Noto Sans JP"/>
                          <a:cs typeface="Noto Sans JP"/>
                        </a:rPr>
                        <a:t>要求の優先順位</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09537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計画変更の判断</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修正指示、設備状態、在庫</a:t>
                      </a:r>
                    </a:p>
                    <a:p>
                      <a:pPr>
                        <a:lnSpc>
                          <a:spcPct val="108000"/>
                        </a:lnSpc>
                        <a:buNone/>
                      </a:pPr>
                      <a:r>
                        <a:rPr sz="2100" b="0">
                          <a:solidFill>
                            <a:srgbClr val="183C4D"/>
                          </a:solidFill>
                          <a:latin typeface="Noto Sans JP"/>
                          <a:ea typeface="Noto Sans JP"/>
                          <a:cs typeface="Noto Sans JP"/>
                        </a:rPr>
                        <a:t>計画と実績</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未記録の制約、優先顧客</a:t>
                      </a:r>
                    </a:p>
                    <a:p>
                      <a:pPr>
                        <a:lnSpc>
                          <a:spcPct val="108000"/>
                        </a:lnSpc>
                        <a:buNone/>
                      </a:pPr>
                      <a:r>
                        <a:rPr sz="2100" b="0">
                          <a:solidFill>
                            <a:srgbClr val="183C4D"/>
                          </a:solidFill>
                          <a:latin typeface="Noto Sans JP"/>
                          <a:ea typeface="Noto Sans JP"/>
                          <a:cs typeface="Noto Sans JP"/>
                        </a:rPr>
                        <a:t>判断時の情報</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09537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原因を調べる手順</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見た設備・期間・指標</a:t>
                      </a:r>
                    </a:p>
                    <a:p>
                      <a:pPr>
                        <a:lnSpc>
                          <a:spcPct val="108000"/>
                        </a:lnSpc>
                        <a:buNone/>
                      </a:pPr>
                      <a:r>
                        <a:rPr sz="2100" b="0">
                          <a:solidFill>
                            <a:srgbClr val="183C4D"/>
                          </a:solidFill>
                          <a:latin typeface="Noto Sans JP"/>
                          <a:ea typeface="Noto Sans JP"/>
                          <a:cs typeface="Noto Sans JP"/>
                        </a:rPr>
                        <a:t>計算、過去の対処</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次の分析を選ぶ理由</a:t>
                      </a:r>
                    </a:p>
                    <a:p>
                      <a:pPr>
                        <a:lnSpc>
                          <a:spcPct val="108000"/>
                        </a:lnSpc>
                        <a:buNone/>
                      </a:pPr>
                      <a:r>
                        <a:rPr sz="2100" b="0">
                          <a:solidFill>
                            <a:srgbClr val="183C4D"/>
                          </a:solidFill>
                          <a:latin typeface="Noto Sans JP"/>
                          <a:ea typeface="Noto Sans JP"/>
                          <a:cs typeface="Noto Sans JP"/>
                        </a:rPr>
                        <a:t>対処後の効果</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09537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身体的な作業技能</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画像、力・触覚、動作</a:t>
                      </a:r>
                    </a:p>
                    <a:p>
                      <a:pPr>
                        <a:lnSpc>
                          <a:spcPct val="108000"/>
                        </a:lnSpc>
                        <a:buNone/>
                      </a:pPr>
                      <a:r>
                        <a:rPr sz="2100" b="0">
                          <a:solidFill>
                            <a:srgbClr val="183C4D"/>
                          </a:solidFill>
                          <a:latin typeface="Noto Sans JP"/>
                          <a:ea typeface="Noto Sans JP"/>
                          <a:cs typeface="Noto Sans JP"/>
                        </a:rPr>
                        <a:t>人の実演</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接触の意図、力の調整</a:t>
                      </a:r>
                    </a:p>
                    <a:p>
                      <a:pPr>
                        <a:lnSpc>
                          <a:spcPct val="108000"/>
                        </a:lnSpc>
                        <a:buNone/>
                      </a:pPr>
                      <a:r>
                        <a:rPr sz="2100" b="0">
                          <a:solidFill>
                            <a:srgbClr val="183C4D"/>
                          </a:solidFill>
                          <a:latin typeface="Noto Sans JP"/>
                          <a:ea typeface="Noto Sans JP"/>
                          <a:cs typeface="Noto Sans JP"/>
                        </a:rPr>
                        <a:t>失敗からの復帰</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09537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保守・改善の知識</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症状、部品、診断、修理</a:t>
                      </a:r>
                    </a:p>
                    <a:p>
                      <a:pPr>
                        <a:lnSpc>
                          <a:spcPct val="108000"/>
                        </a:lnSpc>
                        <a:buNone/>
                      </a:pPr>
                      <a:r>
                        <a:rPr sz="2100" b="0">
                          <a:solidFill>
                            <a:srgbClr val="183C4D"/>
                          </a:solidFill>
                          <a:latin typeface="Noto Sans JP"/>
                          <a:ea typeface="Noto Sans JP"/>
                          <a:cs typeface="Noto Sans JP"/>
                        </a:rPr>
                        <a:t>原因と設計変更</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対処前後の比較</a:t>
                      </a:r>
                    </a:p>
                    <a:p>
                      <a:pPr>
                        <a:lnSpc>
                          <a:spcPct val="108000"/>
                        </a:lnSpc>
                        <a:buNone/>
                      </a:pPr>
                      <a:r>
                        <a:rPr sz="2100" b="0">
                          <a:solidFill>
                            <a:srgbClr val="183C4D"/>
                          </a:solidFill>
                          <a:latin typeface="Noto Sans JP"/>
                          <a:ea typeface="Noto Sans JP"/>
                          <a:cs typeface="Noto Sans JP"/>
                        </a:rPr>
                        <a:t>別機種へ移せる条件</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ref-Q05">
            <a:extLst xmlns:a="http://schemas.openxmlformats.org/drawingml/2006/main">
              <a:ext uri="{FF2B5EF4-FFF2-40B4-BE49-F238E27FC236}">
                <a16:creationId xmlns:a16="http://schemas.microsoft.com/office/drawing/2014/main" id="{70EAFB80-9ABF-4D77-A409-349914D2E382}"/>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b76260efc3664fad"/>
              </a:rPr>
              <a:t>Q05 p.30</a:t>
            </a:r>
          </a:p>
        </p:txBody>
      </p:sp>
      <p:sp>
        <p:nvSpPr>
          <p:cNvPr id="5" name="ref-Q13">
            <a:extLst xmlns:a="http://schemas.openxmlformats.org/drawingml/2006/main">
              <a:ext uri="{FF2B5EF4-FFF2-40B4-BE49-F238E27FC236}">
                <a16:creationId xmlns:a16="http://schemas.microsoft.com/office/drawing/2014/main" id="{9FA7BA90-3FE0-4A8D-9166-51F631584A4D}"/>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a158b057d114c4b"/>
              </a:rPr>
              <a:t>Q13 p.32</a:t>
            </a:r>
          </a:p>
        </p:txBody>
      </p:sp>
      <p:sp>
        <p:nvSpPr>
          <p:cNvPr id="6" name="ref-Q14">
            <a:extLst xmlns:a="http://schemas.openxmlformats.org/drawingml/2006/main">
              <a:ext uri="{FF2B5EF4-FFF2-40B4-BE49-F238E27FC236}">
                <a16:creationId xmlns:a16="http://schemas.microsoft.com/office/drawing/2014/main" id="{8BE97E90-2C5C-434E-B38F-F4B289196DB2}"/>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439b7b6796e4c1c"/>
              </a:rPr>
              <a:t>Q14 p.32</a:t>
            </a:r>
          </a:p>
        </p:txBody>
      </p:sp>
      <p:sp>
        <p:nvSpPr>
          <p:cNvPr id="7" name="ref-Q23">
            <a:extLst xmlns:a="http://schemas.openxmlformats.org/drawingml/2006/main">
              <a:ext uri="{FF2B5EF4-FFF2-40B4-BE49-F238E27FC236}">
                <a16:creationId xmlns:a16="http://schemas.microsoft.com/office/drawing/2014/main" id="{94DD2EBC-9433-4648-B3C0-D1FAACC8927A}"/>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9542a82d7f2a4dd5"/>
              </a:rPr>
              <a:t>Q23 p.34</a:t>
            </a:r>
          </a:p>
        </p:txBody>
      </p:sp>
      <p:sp>
        <p:nvSpPr>
          <p:cNvPr id="8" name="ref-Q29">
            <a:extLst xmlns:a="http://schemas.openxmlformats.org/drawingml/2006/main">
              <a:ext uri="{FF2B5EF4-FFF2-40B4-BE49-F238E27FC236}">
                <a16:creationId xmlns:a16="http://schemas.microsoft.com/office/drawing/2014/main" id="{6BF8ED49-0F4D-4C22-8A32-EFD987782BAD}"/>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1927a43cfe4d4fdb"/>
              </a:rPr>
              <a:t>Q29 p.36</a:t>
            </a:r>
          </a:p>
        </p:txBody>
      </p:sp>
      <p:sp>
        <p:nvSpPr>
          <p:cNvPr id="9" name="ref-Q30">
            <a:extLst xmlns:a="http://schemas.openxmlformats.org/drawingml/2006/main">
              <a:ext uri="{FF2B5EF4-FFF2-40B4-BE49-F238E27FC236}">
                <a16:creationId xmlns:a16="http://schemas.microsoft.com/office/drawing/2014/main" id="{759CAA4E-6C10-45DD-B60D-65AEC7E9B390}"/>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cb97170a2a494beb"/>
              </a:rPr>
              <a:t>Q30 p.36</a:t>
            </a:r>
          </a:p>
        </p:txBody>
      </p:sp>
      <p:sp>
        <p:nvSpPr>
          <p:cNvPr id="10" name="ref-Q46">
            <a:extLst xmlns:a="http://schemas.openxmlformats.org/drawingml/2006/main">
              <a:ext uri="{FF2B5EF4-FFF2-40B4-BE49-F238E27FC236}">
                <a16:creationId xmlns:a16="http://schemas.microsoft.com/office/drawing/2014/main" id="{DB5A5FBF-98E9-4B20-B026-B8F7D47C71C3}"/>
              </a:ext>
            </a:extLst>
          </p:cNvPr>
          <p:cNvSpPr>
            <a:spLocks xmlns:a="http://schemas.openxmlformats.org/drawingml/2006/main" noGrp="1"/>
          </p:cNvSpPr>
          <p:nvPr/>
        </p:nvSpPr>
        <p:spPr>
          <a:xfrm xmlns:a="http://schemas.openxmlformats.org/drawingml/2006/main">
            <a:off x="90106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cfe0f6bd5500477d"/>
              </a:rPr>
              <a:t>Q46 p.40</a:t>
            </a:r>
          </a:p>
        </p:txBody>
      </p:sp>
      <p:sp>
        <p:nvSpPr>
          <p:cNvPr id="11" name="disclosure">
            <a:extLst xmlns:a="http://schemas.openxmlformats.org/drawingml/2006/main">
              <a:ext uri="{FF2B5EF4-FFF2-40B4-BE49-F238E27FC236}">
                <a16:creationId xmlns:a16="http://schemas.microsoft.com/office/drawing/2014/main" id="{51F4AF88-6A02-4700-9FB1-6E3628551EFB}"/>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調査用の区分。各社が全項目を実装しているという意味ではない。既存業務から取得し、記録負担を抑える設計が論点。</a:t>
            </a:r>
          </a:p>
        </p:txBody>
      </p:sp>
      <p:sp>
        <p:nvSpPr>
          <p:cNvPr id="12" name="page">
            <a:extLst xmlns:a="http://schemas.openxmlformats.org/drawingml/2006/main">
              <a:ext uri="{FF2B5EF4-FFF2-40B4-BE49-F238E27FC236}">
                <a16:creationId xmlns:a16="http://schemas.microsoft.com/office/drawing/2014/main" id="{9595CF40-A811-4EB9-A340-39553A318827}"/>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12 / 40</a:t>
            </a:r>
          </a:p>
        </p:txBody>
      </p:sp>
    </p:spTree>
    <p:extLst>
      <p:ext uri="{BB962C8B-B14F-4D97-AF65-F5344CB8AC3E}">
        <p14:creationId xmlns:p14="http://schemas.microsoft.com/office/powerpoint/2010/main" val="9176159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eading">
            <a:extLst xmlns:a="http://schemas.openxmlformats.org/drawingml/2006/main">
              <a:ext uri="{FF2B5EF4-FFF2-40B4-BE49-F238E27FC236}">
                <a16:creationId xmlns:a16="http://schemas.microsoft.com/office/drawing/2014/main" id="{B5099B04-13FB-4EFE-9DFB-B5B51941040A}"/>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加工現象に合うデータ取得の設計</a:t>
            </a:r>
          </a:p>
        </p:txBody>
      </p:sp>
      <p:sp>
        <p:nvSpPr>
          <p:cNvPr id="2" name="context">
            <a:extLst xmlns:a="http://schemas.openxmlformats.org/drawingml/2006/main">
              <a:ext uri="{FF2B5EF4-FFF2-40B4-BE49-F238E27FC236}">
                <a16:creationId xmlns:a16="http://schemas.microsoft.com/office/drawing/2014/main" id="{A1922B0B-0D9E-474A-A611-A22DCD261EA9}"/>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学習にも、物理モデルの同定・校正・検証にも、目的と条件が対応した実測が必要になる。</a:t>
            </a:r>
          </a:p>
        </p:txBody>
      </p:sp>
      <p:graphicFrame>
        <p:nvGraphicFramePr>
          <p:cNvPr id="3" name="">
            <a:extLst xmlns:a="http://schemas.openxmlformats.org/drawingml/2006/main">
              <a:ext uri="{FF2B5EF4-FFF2-40B4-BE49-F238E27FC236}">
                <a16:creationId xmlns:a16="http://schemas.microsoft.com/office/drawing/2014/main" id="{7678A730-A3DA-4313-9572-373995AB2C8A}"/>
              </a:ext>
            </a:extLst>
          </p:cNvPr>
          <p:cNvGraphicFramePr/>
          <p:nvPr/>
        </p:nvGraphicFramePr>
        <p:xfrm>
          <a:off xmlns:a="http://schemas.openxmlformats.org/drawingml/2006/main" x="819150" y="2571750"/>
          <a:ext xmlns:a="http://schemas.openxmlformats.org/drawingml/2006/main" cx="16649700" cy="6238875"/>
        </p:xfrm>
        <a:graphic xmlns:a="http://schemas.openxmlformats.org/drawingml/2006/main">
          <a:graphicData uri="http://schemas.openxmlformats.org/drawingml/2006/table">
            <a:tbl>
              <a:tblPr/>
              <a:tblGrid>
                <a:gridCol w="3429000"/>
                <a:gridCol w="6477000"/>
                <a:gridCol w="6743700"/>
              </a:tblGrid>
              <a:tr h="714375">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設計すること</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取得・対応付けの内容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75" b="1">
                          <a:solidFill>
                            <a:srgbClr val="FFFFFF"/>
                          </a:solidFill>
                          <a:latin typeface="Noto Sans JP"/>
                          <a:ea typeface="Noto Sans JP"/>
                          <a:cs typeface="Noto Sans JP"/>
                        </a:rPr>
                        <a:t>解けるようにしたい問い</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381125">
                <a:tc>
                  <a:txBody>
                    <a:bodyPr wrap="none" lIns="104775" tIns="104775" rIns="104775" bIns="104775">
                      <a:noAutofit/>
                    </a:bodyPr>
                    <a:lstStyle/>
                    <a:p>
                      <a:pPr>
                        <a:lnSpc>
                          <a:spcPct val="108000"/>
                        </a:lnSpc>
                        <a:buNone/>
                      </a:pPr>
                      <a:r>
                        <a:rPr sz="2175" b="1">
                          <a:solidFill>
                            <a:srgbClr val="183C4D"/>
                          </a:solidFill>
                          <a:latin typeface="Noto Sans JP"/>
                          <a:ea typeface="Noto Sans JP"/>
                          <a:cs typeface="Noto Sans JP"/>
                        </a:rPr>
                        <a:t>対象現象と信号</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力、電流、振動、位置、画像等</a:t>
                      </a:r>
                    </a:p>
                    <a:p>
                      <a:pPr>
                        <a:lnSpc>
                          <a:spcPct val="108000"/>
                        </a:lnSpc>
                        <a:buNone/>
                      </a:pPr>
                      <a:r>
                        <a:rPr sz="2175" b="0">
                          <a:solidFill>
                            <a:srgbClr val="183C4D"/>
                          </a:solidFill>
                          <a:latin typeface="Noto Sans JP"/>
                          <a:ea typeface="Noto Sans JP"/>
                          <a:cs typeface="Noto Sans JP"/>
                        </a:rPr>
                        <a:t>対象の時間尺度に応じた収集</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何の変化を捉え、何を推定するか</a:t>
                      </a:r>
                    </a:p>
                    <a:p>
                      <a:pPr>
                        <a:lnSpc>
                          <a:spcPct val="108000"/>
                        </a:lnSpc>
                        <a:buNone/>
                      </a:pPr>
                      <a:r>
                        <a:rPr sz="2175" b="0">
                          <a:solidFill>
                            <a:srgbClr val="183C4D"/>
                          </a:solidFill>
                          <a:latin typeface="Noto Sans JP"/>
                          <a:ea typeface="Noto Sans JP"/>
                          <a:cs typeface="Noto Sans JP"/>
                        </a:rPr>
                        <a:t>既存ログで足りるか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175" b="1">
                          <a:solidFill>
                            <a:srgbClr val="183C4D"/>
                          </a:solidFill>
                          <a:latin typeface="Noto Sans JP"/>
                          <a:ea typeface="Noto Sans JP"/>
                          <a:cs typeface="Noto Sans JP"/>
                        </a:rPr>
                        <a:t>時刻・座標・工程</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工具が作用した区間、部位</a:t>
                      </a:r>
                    </a:p>
                    <a:p>
                      <a:pPr>
                        <a:lnSpc>
                          <a:spcPct val="108000"/>
                        </a:lnSpc>
                        <a:buNone/>
                      </a:pPr>
                      <a:r>
                        <a:rPr sz="2175" b="0">
                          <a:solidFill>
                            <a:srgbClr val="183C4D"/>
                          </a:solidFill>
                          <a:latin typeface="Noto Sans JP"/>
                          <a:ea typeface="Noto Sans JP"/>
                          <a:cs typeface="Noto Sans JP"/>
                        </a:rPr>
                        <a:t>加工フェーズと測定位置</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どの波形が、製品のどこの</a:t>
                      </a:r>
                    </a:p>
                    <a:p>
                      <a:pPr>
                        <a:lnSpc>
                          <a:spcPct val="108000"/>
                        </a:lnSpc>
                        <a:buNone/>
                      </a:pPr>
                      <a:r>
                        <a:rPr sz="2175" b="0">
                          <a:solidFill>
                            <a:srgbClr val="183C4D"/>
                          </a:solidFill>
                          <a:latin typeface="Noto Sans JP"/>
                          <a:ea typeface="Noto Sans JP"/>
                          <a:cs typeface="Noto Sans JP"/>
                        </a:rPr>
                        <a:t>品質や不良に関係するか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381125">
                <a:tc>
                  <a:txBody>
                    <a:bodyPr wrap="none" lIns="104775" tIns="104775" rIns="104775" bIns="104775">
                      <a:noAutofit/>
                    </a:bodyPr>
                    <a:lstStyle/>
                    <a:p>
                      <a:pPr>
                        <a:lnSpc>
                          <a:spcPct val="108000"/>
                        </a:lnSpc>
                        <a:buNone/>
                      </a:pPr>
                      <a:r>
                        <a:rPr sz="2175" b="1">
                          <a:solidFill>
                            <a:srgbClr val="183C4D"/>
                          </a:solidFill>
                          <a:latin typeface="Noto Sans JP"/>
                          <a:ea typeface="Noto Sans JP"/>
                          <a:cs typeface="Noto Sans JP"/>
                        </a:rPr>
                        <a:t>条件と結果</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材料、工具、保持、設備状態</a:t>
                      </a:r>
                    </a:p>
                    <a:p>
                      <a:pPr>
                        <a:lnSpc>
                          <a:spcPct val="108000"/>
                        </a:lnSpc>
                        <a:buNone/>
                      </a:pPr>
                      <a:r>
                        <a:rPr sz="2175" b="0">
                          <a:solidFill>
                            <a:srgbClr val="183C4D"/>
                          </a:solidFill>
                          <a:latin typeface="Noto Sans JP"/>
                          <a:ea typeface="Noto Sans JP"/>
                          <a:cs typeface="Noto Sans JP"/>
                        </a:rPr>
                        <a:t>加工条件と測定した品質</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再現・比較できる条件は何か</a:t>
                      </a:r>
                    </a:p>
                    <a:p>
                      <a:pPr>
                        <a:lnSpc>
                          <a:spcPct val="108000"/>
                        </a:lnSpc>
                        <a:buNone/>
                      </a:pPr>
                      <a:r>
                        <a:rPr sz="2175" b="0">
                          <a:solidFill>
                            <a:srgbClr val="183C4D"/>
                          </a:solidFill>
                          <a:latin typeface="Noto Sans JP"/>
                          <a:ea typeface="Noto Sans JP"/>
                          <a:cs typeface="Noto Sans JP"/>
                        </a:rPr>
                        <a:t>正常・失敗の正解をどう作るか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175" b="1">
                          <a:solidFill>
                            <a:srgbClr val="183C4D"/>
                          </a:solidFill>
                          <a:latin typeface="Noto Sans JP"/>
                          <a:ea typeface="Noto Sans JP"/>
                          <a:cs typeface="Noto Sans JP"/>
                        </a:rPr>
                        <a:t>利用・検証の範囲</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学習と評価の条件、適用外</a:t>
                      </a:r>
                    </a:p>
                    <a:p>
                      <a:pPr>
                        <a:lnSpc>
                          <a:spcPct val="108000"/>
                        </a:lnSpc>
                        <a:buNone/>
                      </a:pPr>
                      <a:r>
                        <a:rPr sz="2175" b="0">
                          <a:solidFill>
                            <a:srgbClr val="183C4D"/>
                          </a:solidFill>
                          <a:latin typeface="Noto Sans JP"/>
                          <a:ea typeface="Noto Sans JP"/>
                          <a:cs typeface="Noto Sans JP"/>
                        </a:rPr>
                        <a:t>共有・匿名化・モデルの利用権</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75" b="0">
                          <a:solidFill>
                            <a:srgbClr val="183C4D"/>
                          </a:solidFill>
                          <a:latin typeface="Noto Sans JP"/>
                          <a:ea typeface="Noto Sans JP"/>
                          <a:cs typeface="Noto Sans JP"/>
                        </a:rPr>
                        <a:t>別設備・新材料で何を取り直すか</a:t>
                      </a:r>
                    </a:p>
                    <a:p>
                      <a:pPr>
                        <a:lnSpc>
                          <a:spcPct val="108000"/>
                        </a:lnSpc>
                        <a:buNone/>
                      </a:pPr>
                      <a:r>
                        <a:rPr sz="2175" b="0">
                          <a:solidFill>
                            <a:srgbClr val="183C4D"/>
                          </a:solidFill>
                          <a:latin typeface="Noto Sans JP"/>
                          <a:ea typeface="Noto Sans JP"/>
                          <a:cs typeface="Noto Sans JP"/>
                        </a:rPr>
                        <a:t>取得側に何を返すか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Q01">
            <a:extLst xmlns:a="http://schemas.openxmlformats.org/drawingml/2006/main">
              <a:ext uri="{FF2B5EF4-FFF2-40B4-BE49-F238E27FC236}">
                <a16:creationId xmlns:a16="http://schemas.microsoft.com/office/drawing/2014/main" id="{59BEDAAC-11DD-41E0-B053-C790AF268A13}"/>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6b9b25dac5b4f74"/>
              </a:rPr>
              <a:t>Q01 p.29</a:t>
            </a:r>
          </a:p>
        </p:txBody>
      </p:sp>
      <p:sp>
        <p:nvSpPr>
          <p:cNvPr id="5" name="ref-Q03">
            <a:extLst xmlns:a="http://schemas.openxmlformats.org/drawingml/2006/main">
              <a:ext uri="{FF2B5EF4-FFF2-40B4-BE49-F238E27FC236}">
                <a16:creationId xmlns:a16="http://schemas.microsoft.com/office/drawing/2014/main" id="{89BBFDC0-B008-4175-8669-DB3612A4149B}"/>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8da7923358c445e"/>
              </a:rPr>
              <a:t>Q03 p.29</a:t>
            </a:r>
          </a:p>
        </p:txBody>
      </p:sp>
      <p:sp>
        <p:nvSpPr>
          <p:cNvPr id="6" name="ref-Q16">
            <a:extLst xmlns:a="http://schemas.openxmlformats.org/drawingml/2006/main">
              <a:ext uri="{FF2B5EF4-FFF2-40B4-BE49-F238E27FC236}">
                <a16:creationId xmlns:a16="http://schemas.microsoft.com/office/drawing/2014/main" id="{20CED4F9-C386-42BA-AE2F-05193515C381}"/>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78237ada51a94638"/>
              </a:rPr>
              <a:t>Q16 p.32</a:t>
            </a:r>
          </a:p>
        </p:txBody>
      </p:sp>
      <p:sp>
        <p:nvSpPr>
          <p:cNvPr id="7" name="ref-Q39">
            <a:extLst xmlns:a="http://schemas.openxmlformats.org/drawingml/2006/main">
              <a:ext uri="{FF2B5EF4-FFF2-40B4-BE49-F238E27FC236}">
                <a16:creationId xmlns:a16="http://schemas.microsoft.com/office/drawing/2014/main" id="{6BC9D2D7-0C51-444A-82CD-05C755D7B519}"/>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c61939c9c9040ff"/>
              </a:rPr>
              <a:t>Q39 p.38</a:t>
            </a:r>
          </a:p>
        </p:txBody>
      </p:sp>
      <p:sp>
        <p:nvSpPr>
          <p:cNvPr id="8" name="ref-Q45">
            <a:extLst xmlns:a="http://schemas.openxmlformats.org/drawingml/2006/main">
              <a:ext uri="{FF2B5EF4-FFF2-40B4-BE49-F238E27FC236}">
                <a16:creationId xmlns:a16="http://schemas.microsoft.com/office/drawing/2014/main" id="{FCF2AAFA-F66C-48D4-A14E-74DFD1F7E6B6}"/>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a0027a08785244b7"/>
              </a:rPr>
              <a:t>Q45 p.40</a:t>
            </a:r>
          </a:p>
        </p:txBody>
      </p:sp>
      <p:sp>
        <p:nvSpPr>
          <p:cNvPr id="9" name="ref-A04">
            <a:extLst xmlns:a="http://schemas.openxmlformats.org/drawingml/2006/main">
              <a:ext uri="{FF2B5EF4-FFF2-40B4-BE49-F238E27FC236}">
                <a16:creationId xmlns:a16="http://schemas.microsoft.com/office/drawing/2014/main" id="{6892F53E-D6C2-43C6-905A-C140646DCF02}"/>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f5559fa2cc714dcd"/>
              </a:rPr>
              <a:t>A04</a:t>
            </a:r>
          </a:p>
        </p:txBody>
      </p:sp>
      <p:sp>
        <p:nvSpPr>
          <p:cNvPr id="10" name="ref-A06">
            <a:extLst xmlns:a="http://schemas.openxmlformats.org/drawingml/2006/main">
              <a:ext uri="{FF2B5EF4-FFF2-40B4-BE49-F238E27FC236}">
                <a16:creationId xmlns:a16="http://schemas.microsoft.com/office/drawing/2014/main" id="{89F2F51B-6A50-4EC7-AF47-27F657E3A210}"/>
              </a:ext>
            </a:extLst>
          </p:cNvPr>
          <p:cNvSpPr>
            <a:spLocks xmlns:a="http://schemas.openxmlformats.org/drawingml/2006/main" noGrp="1"/>
          </p:cNvSpPr>
          <p:nvPr/>
        </p:nvSpPr>
        <p:spPr>
          <a:xfrm xmlns:a="http://schemas.openxmlformats.org/drawingml/2006/main">
            <a:off x="90106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0f1818736e934faa"/>
              </a:rPr>
              <a:t>A06</a:t>
            </a:r>
          </a:p>
        </p:txBody>
      </p:sp>
      <p:sp>
        <p:nvSpPr>
          <p:cNvPr id="11" name="disclosure">
            <a:extLst xmlns:a="http://schemas.openxmlformats.org/drawingml/2006/main">
              <a:ext uri="{FF2B5EF4-FFF2-40B4-BE49-F238E27FC236}">
                <a16:creationId xmlns:a16="http://schemas.microsoft.com/office/drawing/2014/main" id="{EEE39DFA-8265-4C24-BC3F-C9B6C799747F}"/>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収集周期の一つの数値を全用途へ一般化しない。基盤への参加と、個社データ・成果の利用権の取得は別に確認する。</a:t>
            </a:r>
          </a:p>
        </p:txBody>
      </p:sp>
      <p:sp>
        <p:nvSpPr>
          <p:cNvPr id="12" name="page">
            <a:extLst xmlns:a="http://schemas.openxmlformats.org/drawingml/2006/main">
              <a:ext uri="{FF2B5EF4-FFF2-40B4-BE49-F238E27FC236}">
                <a16:creationId xmlns:a16="http://schemas.microsoft.com/office/drawing/2014/main" id="{4ABF2E8E-5995-4415-80C7-41E8D8C0FA17}"/>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13 / 40</a:t>
            </a:r>
          </a:p>
        </p:txBody>
      </p:sp>
    </p:spTree>
    <p:extLst>
      <p:ext uri="{BB962C8B-B14F-4D97-AF65-F5344CB8AC3E}">
        <p14:creationId xmlns:p14="http://schemas.microsoft.com/office/powerpoint/2010/main" val="13345010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CE3B6A75-7381-43C4-85C3-40485BA31CEF}"/>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シミュレーションと物理モデルの用途</a:t>
            </a:r>
          </a:p>
        </p:txBody>
      </p:sp>
      <p:sp>
        <p:nvSpPr>
          <p:cNvPr id="2" name="context">
            <a:extLst xmlns:a="http://schemas.openxmlformats.org/drawingml/2006/main">
              <a:ext uri="{FF2B5EF4-FFF2-40B4-BE49-F238E27FC236}">
                <a16:creationId xmlns:a16="http://schemas.microsoft.com/office/drawing/2014/main" id="{40E0D17E-EE54-448E-A686-69316A3E306D}"/>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予測する量、必要な実測、実行の時間を分けると、作り込むべきモデルが明確になる。</a:t>
            </a:r>
          </a:p>
        </p:txBody>
      </p:sp>
      <p:graphicFrame>
        <p:nvGraphicFramePr>
          <p:cNvPr id="3" name="">
            <a:extLst xmlns:a="http://schemas.openxmlformats.org/drawingml/2006/main">
              <a:ext uri="{FF2B5EF4-FFF2-40B4-BE49-F238E27FC236}">
                <a16:creationId xmlns:a16="http://schemas.microsoft.com/office/drawing/2014/main" id="{E0155CBF-E598-4BFA-AD2A-845BA65E42FB}"/>
              </a:ext>
            </a:extLst>
          </p:cNvPr>
          <p:cNvGraphicFramePr/>
          <p:nvPr/>
        </p:nvGraphicFramePr>
        <p:xfrm>
          <a:off xmlns:a="http://schemas.openxmlformats.org/drawingml/2006/main" x="819150" y="2571750"/>
          <a:ext xmlns:a="http://schemas.openxmlformats.org/drawingml/2006/main" cx="16649700" cy="6191250"/>
        </p:xfrm>
        <a:graphic xmlns:a="http://schemas.openxmlformats.org/drawingml/2006/main">
          <a:graphicData uri="http://schemas.openxmlformats.org/drawingml/2006/table">
            <a:tbl>
              <a:tblPr/>
              <a:tblGrid>
                <a:gridCol w="4572000"/>
                <a:gridCol w="5810250"/>
                <a:gridCol w="6267450"/>
              </a:tblGrid>
              <a:tr h="666750">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用途・例</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主に再現・推定するもの</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100" b="1">
                          <a:solidFill>
                            <a:srgbClr val="FFFFFF"/>
                          </a:solidFill>
                          <a:latin typeface="Noto Sans JP"/>
                          <a:ea typeface="Noto Sans JP"/>
                          <a:cs typeface="Noto Sans JP"/>
                        </a:rPr>
                        <a:t>データと開発の仕事</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NCの検証・最適化</a:t>
                      </a:r>
                    </a:p>
                    <a:p>
                      <a:pPr>
                        <a:lnSpc>
                          <a:spcPct val="108000"/>
                        </a:lnSpc>
                        <a:buNone/>
                      </a:pPr>
                      <a:r>
                        <a:rPr sz="2100" b="1">
                          <a:solidFill>
                            <a:srgbClr val="183C4D"/>
                          </a:solidFill>
                          <a:latin typeface="Noto Sans JP"/>
                          <a:ea typeface="Noto Sans JP"/>
                          <a:cs typeface="Noto Sans JP"/>
                        </a:rPr>
                        <a:t>CELOS DYNAMICpost等</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コードによる機械動作、干渉</a:t>
                      </a:r>
                    </a:p>
                    <a:p>
                      <a:pPr>
                        <a:lnSpc>
                          <a:spcPct val="108000"/>
                        </a:lnSpc>
                        <a:buNone/>
                      </a:pPr>
                      <a:r>
                        <a:rPr sz="2100" b="0">
                          <a:solidFill>
                            <a:srgbClr val="183C4D"/>
                          </a:solidFill>
                          <a:latin typeface="Noto Sans JP"/>
                          <a:ea typeface="Noto Sans JP"/>
                          <a:cs typeface="Noto Sans JP"/>
                        </a:rPr>
                        <a:t>加減速を含む時間や負荷</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機械・工具・NCの条件を合わせる</a:t>
                      </a:r>
                    </a:p>
                    <a:p>
                      <a:pPr>
                        <a:lnSpc>
                          <a:spcPct val="108000"/>
                        </a:lnSpc>
                        <a:buNone/>
                      </a:pPr>
                      <a:r>
                        <a:rPr sz="2100" b="0">
                          <a:solidFill>
                            <a:srgbClr val="183C4D"/>
                          </a:solidFill>
                          <a:latin typeface="Noto Sans JP"/>
                          <a:ea typeface="Noto Sans JP"/>
                          <a:cs typeface="Noto Sans JP"/>
                        </a:rPr>
                        <a:t>熱・摩耗の全現象解析とは区別</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材料・切削の解析</a:t>
                      </a:r>
                    </a:p>
                    <a:p>
                      <a:pPr>
                        <a:lnSpc>
                          <a:spcPct val="108000"/>
                        </a:lnSpc>
                        <a:buNone/>
                      </a:pPr>
                      <a:r>
                        <a:rPr sz="2100" b="1">
                          <a:solidFill>
                            <a:srgbClr val="183C4D"/>
                          </a:solidFill>
                          <a:latin typeface="Noto Sans JP"/>
                          <a:ea typeface="Noto Sans JP"/>
                          <a:cs typeface="Noto Sans JP"/>
                        </a:rPr>
                        <a:t>Third Wave Systems</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工具・切りくず近傍の</a:t>
                      </a:r>
                    </a:p>
                    <a:p>
                      <a:pPr>
                        <a:lnSpc>
                          <a:spcPct val="108000"/>
                        </a:lnSpc>
                        <a:buNone/>
                      </a:pPr>
                      <a:r>
                        <a:rPr sz="2100" b="0">
                          <a:solidFill>
                            <a:srgbClr val="183C4D"/>
                          </a:solidFill>
                          <a:latin typeface="Noto Sans JP"/>
                          <a:ea typeface="Noto Sans JP"/>
                          <a:cs typeface="Noto Sans JP"/>
                        </a:rPr>
                        <a:t>温度、応力等</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材料試験と構成則の作成</a:t>
                      </a:r>
                    </a:p>
                    <a:p>
                      <a:pPr>
                        <a:lnSpc>
                          <a:spcPct val="108000"/>
                        </a:lnSpc>
                        <a:buNone/>
                      </a:pPr>
                      <a:r>
                        <a:rPr sz="2100" b="0">
                          <a:solidFill>
                            <a:srgbClr val="183C4D"/>
                          </a:solidFill>
                          <a:latin typeface="Noto Sans JP"/>
                          <a:ea typeface="Noto Sans JP"/>
                          <a:cs typeface="Noto Sans JP"/>
                        </a:rPr>
                        <a:t>実切削との照合と適用範囲</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制御に使う推定</a:t>
                      </a:r>
                    </a:p>
                    <a:p>
                      <a:pPr>
                        <a:lnSpc>
                          <a:spcPct val="108000"/>
                        </a:lnSpc>
                        <a:buNone/>
                      </a:pPr>
                      <a:r>
                        <a:rPr sz="2100" b="1">
                          <a:solidFill>
                            <a:srgbClr val="183C4D"/>
                          </a:solidFill>
                          <a:latin typeface="Noto Sans JP"/>
                          <a:ea typeface="Noto Sans JP"/>
                          <a:cs typeface="Noto Sans JP"/>
                        </a:rPr>
                        <a:t>三菱電機の研究</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構造変形の推定とCNC補正</a:t>
                      </a:r>
                    </a:p>
                    <a:p>
                      <a:pPr>
                        <a:lnSpc>
                          <a:spcPct val="108000"/>
                        </a:lnSpc>
                        <a:buNone/>
                      </a:pPr>
                      <a:r>
                        <a:rPr sz="2100" b="0">
                          <a:solidFill>
                            <a:srgbClr val="183C4D"/>
                          </a:solidFill>
                          <a:latin typeface="Noto Sans JP"/>
                          <a:ea typeface="Noto Sans JP"/>
                          <a:cs typeface="Noto Sans JP"/>
                        </a:rPr>
                        <a:t>物理モデルへ実測差を反映</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同期信号、必要な情報の選択</a:t>
                      </a:r>
                    </a:p>
                    <a:p>
                      <a:pPr>
                        <a:lnSpc>
                          <a:spcPct val="108000"/>
                        </a:lnSpc>
                        <a:buNone/>
                      </a:pPr>
                      <a:r>
                        <a:rPr sz="2100" b="0">
                          <a:solidFill>
                            <a:srgbClr val="183C4D"/>
                          </a:solidFill>
                          <a:latin typeface="Noto Sans JP"/>
                          <a:ea typeface="Noto Sans JP"/>
                          <a:cs typeface="Noto Sans JP"/>
                        </a:rPr>
                        <a:t>精度・計算時間・容量の設計</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100" b="1">
                          <a:solidFill>
                            <a:srgbClr val="183C4D"/>
                          </a:solidFill>
                          <a:latin typeface="Noto Sans JP"/>
                          <a:ea typeface="Noto Sans JP"/>
                          <a:cs typeface="Noto Sans JP"/>
                        </a:rPr>
                        <a:t>工場の構成・計画</a:t>
                      </a:r>
                    </a:p>
                    <a:p>
                      <a:pPr>
                        <a:lnSpc>
                          <a:spcPct val="108000"/>
                        </a:lnSpc>
                        <a:buNone/>
                      </a:pPr>
                      <a:r>
                        <a:rPr sz="2100" b="1">
                          <a:solidFill>
                            <a:srgbClr val="183C4D"/>
                          </a:solidFill>
                          <a:latin typeface="Noto Sans JP"/>
                          <a:ea typeface="Noto Sans JP"/>
                          <a:cs typeface="Noto Sans JP"/>
                        </a:rPr>
                        <a:t>Siemens等</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機械、搬送、人の動線</a:t>
                      </a:r>
                    </a:p>
                    <a:p>
                      <a:pPr>
                        <a:lnSpc>
                          <a:spcPct val="108000"/>
                        </a:lnSpc>
                        <a:buNone/>
                      </a:pPr>
                      <a:r>
                        <a:rPr sz="2100" b="0">
                          <a:solidFill>
                            <a:srgbClr val="183C4D"/>
                          </a:solidFill>
                          <a:latin typeface="Noto Sans JP"/>
                          <a:ea typeface="Noto Sans JP"/>
                          <a:cs typeface="Noto Sans JP"/>
                        </a:rPr>
                        <a:t>変更案の仮想試験</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100" b="0">
                          <a:solidFill>
                            <a:srgbClr val="183C4D"/>
                          </a:solidFill>
                          <a:latin typeface="Noto Sans JP"/>
                          <a:ea typeface="Noto Sans JP"/>
                          <a:cs typeface="Noto Sans JP"/>
                        </a:rPr>
                        <a:t>現在の状態と設計情報の接続</a:t>
                      </a:r>
                    </a:p>
                    <a:p>
                      <a:pPr>
                        <a:lnSpc>
                          <a:spcPct val="108000"/>
                        </a:lnSpc>
                        <a:buNone/>
                      </a:pPr>
                      <a:r>
                        <a:rPr sz="2100" b="0">
                          <a:solidFill>
                            <a:srgbClr val="183C4D"/>
                          </a:solidFill>
                          <a:latin typeface="Noto Sans JP"/>
                          <a:ea typeface="Noto Sans JP"/>
                          <a:cs typeface="Noto Sans JP"/>
                        </a:rPr>
                        <a:t>意思決定に必要な精度の確認</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Q12">
            <a:extLst xmlns:a="http://schemas.openxmlformats.org/drawingml/2006/main">
              <a:ext uri="{FF2B5EF4-FFF2-40B4-BE49-F238E27FC236}">
                <a16:creationId xmlns:a16="http://schemas.microsoft.com/office/drawing/2014/main" id="{FD28E316-72AB-4B0A-95D2-A024253B266C}"/>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f02e55f1a4e4346"/>
              </a:rPr>
              <a:t>Q12 p.31</a:t>
            </a:r>
          </a:p>
        </p:txBody>
      </p:sp>
      <p:sp>
        <p:nvSpPr>
          <p:cNvPr id="5" name="ref-Q24">
            <a:extLst xmlns:a="http://schemas.openxmlformats.org/drawingml/2006/main">
              <a:ext uri="{FF2B5EF4-FFF2-40B4-BE49-F238E27FC236}">
                <a16:creationId xmlns:a16="http://schemas.microsoft.com/office/drawing/2014/main" id="{6EE7DC03-EB30-42AE-9133-91A987D5DB13}"/>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dd043f03d13498a"/>
              </a:rPr>
              <a:t>Q24 p.34</a:t>
            </a:r>
          </a:p>
        </p:txBody>
      </p:sp>
      <p:sp>
        <p:nvSpPr>
          <p:cNvPr id="6" name="ref-Q31">
            <a:extLst xmlns:a="http://schemas.openxmlformats.org/drawingml/2006/main">
              <a:ext uri="{FF2B5EF4-FFF2-40B4-BE49-F238E27FC236}">
                <a16:creationId xmlns:a16="http://schemas.microsoft.com/office/drawing/2014/main" id="{C9D3181C-CA3F-42A6-A834-ABD8E15F25F7}"/>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f0e8359fa03e40ca"/>
              </a:rPr>
              <a:t>Q31 p.36</a:t>
            </a:r>
          </a:p>
        </p:txBody>
      </p:sp>
      <p:sp>
        <p:nvSpPr>
          <p:cNvPr id="7" name="ref-Q40">
            <a:extLst xmlns:a="http://schemas.openxmlformats.org/drawingml/2006/main">
              <a:ext uri="{FF2B5EF4-FFF2-40B4-BE49-F238E27FC236}">
                <a16:creationId xmlns:a16="http://schemas.microsoft.com/office/drawing/2014/main" id="{EBDC4367-71E2-4D4C-A9EC-7BB527C6B146}"/>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4ea2041449d345eb"/>
              </a:rPr>
              <a:t>Q40 p.38</a:t>
            </a:r>
          </a:p>
        </p:txBody>
      </p:sp>
      <p:sp>
        <p:nvSpPr>
          <p:cNvPr id="8" name="ref-Q44">
            <a:extLst xmlns:a="http://schemas.openxmlformats.org/drawingml/2006/main">
              <a:ext uri="{FF2B5EF4-FFF2-40B4-BE49-F238E27FC236}">
                <a16:creationId xmlns:a16="http://schemas.microsoft.com/office/drawing/2014/main" id="{3907CD92-10EA-44B5-B832-17A09C4F0696}"/>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f83dceff207146f6"/>
              </a:rPr>
              <a:t>Q44 p.39</a:t>
            </a:r>
          </a:p>
        </p:txBody>
      </p:sp>
      <p:sp>
        <p:nvSpPr>
          <p:cNvPr id="9" name="ref-A02">
            <a:extLst xmlns:a="http://schemas.openxmlformats.org/drawingml/2006/main">
              <a:ext uri="{FF2B5EF4-FFF2-40B4-BE49-F238E27FC236}">
                <a16:creationId xmlns:a16="http://schemas.microsoft.com/office/drawing/2014/main" id="{D607BF17-9A43-4163-8506-2DDCAB7E0961}"/>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926afc7c92a24a27"/>
              </a:rPr>
              <a:t>A02</a:t>
            </a:r>
          </a:p>
        </p:txBody>
      </p:sp>
      <p:sp>
        <p:nvSpPr>
          <p:cNvPr id="10" name="ref-A03">
            <a:extLst xmlns:a="http://schemas.openxmlformats.org/drawingml/2006/main">
              <a:ext uri="{FF2B5EF4-FFF2-40B4-BE49-F238E27FC236}">
                <a16:creationId xmlns:a16="http://schemas.microsoft.com/office/drawing/2014/main" id="{005EF96F-A81F-4A8C-8F5F-B78A93240A53}"/>
              </a:ext>
            </a:extLst>
          </p:cNvPr>
          <p:cNvSpPr>
            <a:spLocks xmlns:a="http://schemas.openxmlformats.org/drawingml/2006/main" noGrp="1"/>
          </p:cNvSpPr>
          <p:nvPr/>
        </p:nvSpPr>
        <p:spPr>
          <a:xfrm xmlns:a="http://schemas.openxmlformats.org/drawingml/2006/main">
            <a:off x="90106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cc23e57a3b14836"/>
              </a:rPr>
              <a:t>A03</a:t>
            </a:r>
          </a:p>
        </p:txBody>
      </p:sp>
      <p:sp>
        <p:nvSpPr>
          <p:cNvPr id="11" name="ref-A05">
            <a:extLst xmlns:a="http://schemas.openxmlformats.org/drawingml/2006/main">
              <a:ext uri="{FF2B5EF4-FFF2-40B4-BE49-F238E27FC236}">
                <a16:creationId xmlns:a16="http://schemas.microsoft.com/office/drawing/2014/main" id="{5F08DFA3-3534-4287-B894-66604DABE910}"/>
              </a:ext>
            </a:extLst>
          </p:cNvPr>
          <p:cNvSpPr>
            <a:spLocks xmlns:a="http://schemas.openxmlformats.org/drawingml/2006/main" noGrp="1"/>
          </p:cNvSpPr>
          <p:nvPr/>
        </p:nvSpPr>
        <p:spPr>
          <a:xfrm xmlns:a="http://schemas.openxmlformats.org/drawingml/2006/main">
            <a:off x="103727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0026d3158ff2439f"/>
              </a:rPr>
              <a:t>A05</a:t>
            </a:r>
          </a:p>
        </p:txBody>
      </p:sp>
      <p:sp>
        <p:nvSpPr>
          <p:cNvPr id="12" name="disclosure">
            <a:extLst xmlns:a="http://schemas.openxmlformats.org/drawingml/2006/main">
              <a:ext uri="{FF2B5EF4-FFF2-40B4-BE49-F238E27FC236}">
                <a16:creationId xmlns:a16="http://schemas.microsoft.com/office/drawing/2014/main" id="{608D0840-294B-4BDF-B3CA-9F6F477207C1}"/>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同じデジタルツインという名称でも、対象は異なる。特定の研究・試験の性能値を、全加工条件へ転用しない。</a:t>
            </a:r>
          </a:p>
        </p:txBody>
      </p:sp>
      <p:sp>
        <p:nvSpPr>
          <p:cNvPr id="13" name="page">
            <a:extLst xmlns:a="http://schemas.openxmlformats.org/drawingml/2006/main">
              <a:ext uri="{FF2B5EF4-FFF2-40B4-BE49-F238E27FC236}">
                <a16:creationId xmlns:a16="http://schemas.microsoft.com/office/drawing/2014/main" id="{2C0AF951-7080-41A3-BCE2-FE661B70CBD6}"/>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14 / 40</a:t>
            </a:r>
          </a:p>
        </p:txBody>
      </p:sp>
    </p:spTree>
    <p:extLst>
      <p:ext uri="{BB962C8B-B14F-4D97-AF65-F5344CB8AC3E}">
        <p14:creationId xmlns:p14="http://schemas.microsoft.com/office/powerpoint/2010/main" val="167039544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eading">
            <a:extLst xmlns:a="http://schemas.openxmlformats.org/drawingml/2006/main">
              <a:ext uri="{FF2B5EF4-FFF2-40B4-BE49-F238E27FC236}">
                <a16:creationId xmlns:a16="http://schemas.microsoft.com/office/drawing/2014/main" id="{E493C2FE-A836-4DD1-8CD6-3EF12B0BF5F6}"/>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局所の予測を、工程全体の判断へ渡す接点</a:t>
            </a:r>
          </a:p>
        </p:txBody>
      </p:sp>
      <p:sp>
        <p:nvSpPr>
          <p:cNvPr id="2" name="context">
            <a:extLst xmlns:a="http://schemas.openxmlformats.org/drawingml/2006/main">
              <a:ext uri="{FF2B5EF4-FFF2-40B4-BE49-F238E27FC236}">
                <a16:creationId xmlns:a16="http://schemas.microsoft.com/office/drawing/2014/main" id="{BC5FC9CA-AB89-4495-986B-13A0072A18E4}"/>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各社の製品を同じ図へ置くだけでなく、何を渡し、どの判断が変わり、結果がどこへ戻るかを調べる。</a:t>
            </a:r>
          </a:p>
        </p:txBody>
      </p:sp>
      <p:graphicFrame>
        <p:nvGraphicFramePr>
          <p:cNvPr id="3" name="">
            <a:extLst xmlns:a="http://schemas.openxmlformats.org/drawingml/2006/main">
              <a:ext uri="{FF2B5EF4-FFF2-40B4-BE49-F238E27FC236}">
                <a16:creationId xmlns:a16="http://schemas.microsoft.com/office/drawing/2014/main" id="{E9204691-ECCD-40B1-AC49-8D569AFBD022}"/>
              </a:ext>
            </a:extLst>
          </p:cNvPr>
          <p:cNvGraphicFramePr/>
          <p:nvPr/>
        </p:nvGraphicFramePr>
        <p:xfrm>
          <a:off xmlns:a="http://schemas.openxmlformats.org/drawingml/2006/main" x="819150" y="2571750"/>
          <a:ext xmlns:a="http://schemas.openxmlformats.org/drawingml/2006/main" cx="16649700" cy="6238875"/>
        </p:xfrm>
        <a:graphic xmlns:a="http://schemas.openxmlformats.org/drawingml/2006/main">
          <a:graphicData uri="http://schemas.openxmlformats.org/drawingml/2006/table">
            <a:tbl>
              <a:tblPr/>
              <a:tblGrid>
                <a:gridCol w="3143250"/>
                <a:gridCol w="4667250"/>
                <a:gridCol w="4286250"/>
                <a:gridCol w="4552950"/>
              </a:tblGrid>
              <a:tr h="714375">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接点</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渡したい情報</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全体で使う判断</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追加確認</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加工状態と生産計画</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工具状態の予測、確かさ</a:t>
                      </a:r>
                    </a:p>
                    <a:p>
                      <a:pPr>
                        <a:lnSpc>
                          <a:spcPct val="108000"/>
                        </a:lnSpc>
                        <a:buNone/>
                      </a:pPr>
                      <a:r>
                        <a:rPr sz="2025" b="0">
                          <a:solidFill>
                            <a:srgbClr val="183C4D"/>
                          </a:solidFill>
                          <a:latin typeface="Noto Sans JP"/>
                          <a:ea typeface="Noto Sans JP"/>
                          <a:cs typeface="Noto Sans JP"/>
                        </a:rPr>
                        <a:t>更新時刻、使える条件</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交換時期、加工順序</a:t>
                      </a:r>
                    </a:p>
                    <a:p>
                      <a:pPr>
                        <a:lnSpc>
                          <a:spcPct val="108000"/>
                        </a:lnSpc>
                        <a:buNone/>
                      </a:pPr>
                      <a:r>
                        <a:rPr sz="2025" b="0">
                          <a:solidFill>
                            <a:srgbClr val="183C4D"/>
                          </a:solidFill>
                          <a:latin typeface="Noto Sans JP"/>
                          <a:ea typeface="Noto Sans JP"/>
                          <a:cs typeface="Noto Sans JP"/>
                        </a:rPr>
                        <a:t>代替設備と保全の調整</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予測を制約として使えるか</a:t>
                      </a:r>
                    </a:p>
                    <a:p>
                      <a:pPr>
                        <a:lnSpc>
                          <a:spcPct val="108000"/>
                        </a:lnSpc>
                        <a:buNone/>
                      </a:pPr>
                      <a:r>
                        <a:rPr sz="2025" b="0">
                          <a:solidFill>
                            <a:srgbClr val="183C4D"/>
                          </a:solidFill>
                          <a:latin typeface="Noto Sans JP"/>
                          <a:ea typeface="Noto Sans JP"/>
                          <a:cs typeface="Noto Sans JP"/>
                        </a:rPr>
                        <a:t>実行可能性を誰が確認するか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設計と加工・検査</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設計意図、工程、品質要求</a:t>
                      </a:r>
                    </a:p>
                    <a:p>
                      <a:pPr>
                        <a:lnSpc>
                          <a:spcPct val="108000"/>
                        </a:lnSpc>
                        <a:buNone/>
                      </a:pPr>
                      <a:r>
                        <a:rPr sz="2025" b="0">
                          <a:solidFill>
                            <a:srgbClr val="183C4D"/>
                          </a:solidFill>
                          <a:latin typeface="Noto Sans JP"/>
                          <a:ea typeface="Noto Sans JP"/>
                          <a:cs typeface="Noto Sans JP"/>
                        </a:rPr>
                        <a:t>変更した範囲と履歴</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工程案の変更</a:t>
                      </a:r>
                    </a:p>
                    <a:p>
                      <a:pPr>
                        <a:lnSpc>
                          <a:spcPct val="108000"/>
                        </a:lnSpc>
                        <a:buNone/>
                      </a:pPr>
                      <a:r>
                        <a:rPr sz="2025" b="0">
                          <a:solidFill>
                            <a:srgbClr val="183C4D"/>
                          </a:solidFill>
                          <a:latin typeface="Noto Sans JP"/>
                          <a:ea typeface="Noto Sans JP"/>
                          <a:cs typeface="Noto Sans JP"/>
                        </a:rPr>
                        <a:t>再検証と承認</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変更がどこまで伝わるか</a:t>
                      </a:r>
                    </a:p>
                    <a:p>
                      <a:pPr>
                        <a:lnSpc>
                          <a:spcPct val="108000"/>
                        </a:lnSpc>
                        <a:buNone/>
                      </a:pPr>
                      <a:r>
                        <a:rPr sz="2025" b="0">
                          <a:solidFill>
                            <a:srgbClr val="183C4D"/>
                          </a:solidFill>
                          <a:latin typeface="Noto Sans JP"/>
                          <a:ea typeface="Noto Sans JP"/>
                          <a:cs typeface="Noto Sans JP"/>
                        </a:rPr>
                        <a:t>加工・検査条件に矛盾がないか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品質と改善・復旧</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部位・加工条件・測定結果</a:t>
                      </a:r>
                    </a:p>
                    <a:p>
                      <a:pPr>
                        <a:lnSpc>
                          <a:spcPct val="108000"/>
                        </a:lnSpc>
                        <a:buNone/>
                      </a:pPr>
                      <a:r>
                        <a:rPr sz="2025" b="0">
                          <a:solidFill>
                            <a:srgbClr val="183C4D"/>
                          </a:solidFill>
                          <a:latin typeface="Noto Sans JP"/>
                          <a:ea typeface="Noto Sans JP"/>
                          <a:cs typeface="Noto Sans JP"/>
                        </a:rPr>
                        <a:t>設備・材料・人の対応</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原因分析、条件変更</a:t>
                      </a:r>
                    </a:p>
                    <a:p>
                      <a:pPr>
                        <a:lnSpc>
                          <a:spcPct val="108000"/>
                        </a:lnSpc>
                        <a:buNone/>
                      </a:pPr>
                      <a:r>
                        <a:rPr sz="2025" b="0">
                          <a:solidFill>
                            <a:srgbClr val="183C4D"/>
                          </a:solidFill>
                          <a:latin typeface="Noto Sans JP"/>
                          <a:ea typeface="Noto Sans JP"/>
                          <a:cs typeface="Noto Sans JP"/>
                        </a:rPr>
                        <a:t>停止・復帰と次の改善</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関連を識別できるか</a:t>
                      </a:r>
                    </a:p>
                    <a:p>
                      <a:pPr>
                        <a:lnSpc>
                          <a:spcPct val="108000"/>
                        </a:lnSpc>
                        <a:buNone/>
                      </a:pPr>
                      <a:r>
                        <a:rPr sz="2025" b="0">
                          <a:solidFill>
                            <a:srgbClr val="183C4D"/>
                          </a:solidFill>
                          <a:latin typeface="Noto Sans JP"/>
                          <a:ea typeface="Noto Sans JP"/>
                          <a:cs typeface="Noto Sans JP"/>
                        </a:rPr>
                        <a:t>処置後の結果が返るか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工場間・企業間の連携</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状態・能力・制約の意味</a:t>
                      </a:r>
                    </a:p>
                    <a:p>
                      <a:pPr>
                        <a:lnSpc>
                          <a:spcPct val="108000"/>
                        </a:lnSpc>
                        <a:buNone/>
                      </a:pPr>
                      <a:r>
                        <a:rPr sz="2025" b="0">
                          <a:solidFill>
                            <a:srgbClr val="183C4D"/>
                          </a:solidFill>
                          <a:latin typeface="Noto Sans JP"/>
                          <a:ea typeface="Noto Sans JP"/>
                          <a:cs typeface="Noto Sans JP"/>
                        </a:rPr>
                        <a:t>利用権と責任範囲</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計画変更と代替案</a:t>
                      </a:r>
                    </a:p>
                    <a:p>
                      <a:pPr>
                        <a:lnSpc>
                          <a:spcPct val="108000"/>
                        </a:lnSpc>
                        <a:buNone/>
                      </a:pPr>
                      <a:r>
                        <a:rPr sz="2025" b="0">
                          <a:solidFill>
                            <a:srgbClr val="183C4D"/>
                          </a:solidFill>
                          <a:latin typeface="Noto Sans JP"/>
                          <a:ea typeface="Noto Sans JP"/>
                          <a:cs typeface="Noto Sans JP"/>
                        </a:rPr>
                        <a:t>実行権限と結果の確認</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通信接続と意味の共通化</a:t>
                      </a:r>
                    </a:p>
                    <a:p>
                      <a:pPr>
                        <a:lnSpc>
                          <a:spcPct val="108000"/>
                        </a:lnSpc>
                        <a:buNone/>
                      </a:pPr>
                      <a:r>
                        <a:rPr sz="2025" b="0">
                          <a:solidFill>
                            <a:srgbClr val="183C4D"/>
                          </a:solidFill>
                          <a:latin typeface="Noto Sans JP"/>
                          <a:ea typeface="Noto Sans JP"/>
                          <a:cs typeface="Noto Sans JP"/>
                        </a:rPr>
                        <a:t>個別設定の残る工数</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Q10">
            <a:extLst xmlns:a="http://schemas.openxmlformats.org/drawingml/2006/main">
              <a:ext uri="{FF2B5EF4-FFF2-40B4-BE49-F238E27FC236}">
                <a16:creationId xmlns:a16="http://schemas.microsoft.com/office/drawing/2014/main" id="{A78A5450-A823-49F9-98CC-B794E3013FDC}"/>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1d82e33ac1c499c"/>
              </a:rPr>
              <a:t>Q10 p.31</a:t>
            </a:r>
          </a:p>
        </p:txBody>
      </p:sp>
      <p:sp>
        <p:nvSpPr>
          <p:cNvPr id="5" name="ref-Q11">
            <a:extLst xmlns:a="http://schemas.openxmlformats.org/drawingml/2006/main">
              <a:ext uri="{FF2B5EF4-FFF2-40B4-BE49-F238E27FC236}">
                <a16:creationId xmlns:a16="http://schemas.microsoft.com/office/drawing/2014/main" id="{173A5E74-DDAA-4BDD-968C-5CC1835D9D6D}"/>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bce88db19e3142b8"/>
              </a:rPr>
              <a:t>Q11 p.31</a:t>
            </a:r>
          </a:p>
        </p:txBody>
      </p:sp>
      <p:sp>
        <p:nvSpPr>
          <p:cNvPr id="6" name="ref-Q16">
            <a:extLst xmlns:a="http://schemas.openxmlformats.org/drawingml/2006/main">
              <a:ext uri="{FF2B5EF4-FFF2-40B4-BE49-F238E27FC236}">
                <a16:creationId xmlns:a16="http://schemas.microsoft.com/office/drawing/2014/main" id="{0E9251C1-5C0C-46C4-9A2D-D7AD29A68EAC}"/>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4f0efaded67a471d"/>
              </a:rPr>
              <a:t>Q16 p.32</a:t>
            </a:r>
          </a:p>
        </p:txBody>
      </p:sp>
      <p:sp>
        <p:nvSpPr>
          <p:cNvPr id="7" name="ref-Q17">
            <a:extLst xmlns:a="http://schemas.openxmlformats.org/drawingml/2006/main">
              <a:ext uri="{FF2B5EF4-FFF2-40B4-BE49-F238E27FC236}">
                <a16:creationId xmlns:a16="http://schemas.microsoft.com/office/drawing/2014/main" id="{EDF350F4-9CF4-4D13-A17A-9498269CD2AB}"/>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baead8c783364995"/>
              </a:rPr>
              <a:t>Q17 p.33</a:t>
            </a:r>
          </a:p>
        </p:txBody>
      </p:sp>
      <p:sp>
        <p:nvSpPr>
          <p:cNvPr id="8" name="ref-Q33">
            <a:extLst xmlns:a="http://schemas.openxmlformats.org/drawingml/2006/main">
              <a:ext uri="{FF2B5EF4-FFF2-40B4-BE49-F238E27FC236}">
                <a16:creationId xmlns:a16="http://schemas.microsoft.com/office/drawing/2014/main" id="{AB80FD5F-0DAA-4685-BDB7-5DB624EF1870}"/>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2910f55cd514840"/>
              </a:rPr>
              <a:t>Q33 p.37</a:t>
            </a:r>
          </a:p>
        </p:txBody>
      </p:sp>
      <p:sp>
        <p:nvSpPr>
          <p:cNvPr id="9" name="ref-Q42">
            <a:extLst xmlns:a="http://schemas.openxmlformats.org/drawingml/2006/main">
              <a:ext uri="{FF2B5EF4-FFF2-40B4-BE49-F238E27FC236}">
                <a16:creationId xmlns:a16="http://schemas.microsoft.com/office/drawing/2014/main" id="{A805AD49-4C17-461C-83E6-63066B6A165E}"/>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397c204ba22429b"/>
              </a:rPr>
              <a:t>Q42 p.39</a:t>
            </a:r>
          </a:p>
        </p:txBody>
      </p:sp>
      <p:sp>
        <p:nvSpPr>
          <p:cNvPr id="10" name="ref-Q45">
            <a:extLst xmlns:a="http://schemas.openxmlformats.org/drawingml/2006/main">
              <a:ext uri="{FF2B5EF4-FFF2-40B4-BE49-F238E27FC236}">
                <a16:creationId xmlns:a16="http://schemas.microsoft.com/office/drawing/2014/main" id="{53006A57-FBD8-432B-8383-7FC60A422F75}"/>
              </a:ext>
            </a:extLst>
          </p:cNvPr>
          <p:cNvSpPr>
            <a:spLocks xmlns:a="http://schemas.openxmlformats.org/drawingml/2006/main" noGrp="1"/>
          </p:cNvSpPr>
          <p:nvPr/>
        </p:nvSpPr>
        <p:spPr>
          <a:xfrm xmlns:a="http://schemas.openxmlformats.org/drawingml/2006/main">
            <a:off x="90106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ec62217cea84395"/>
              </a:rPr>
              <a:t>Q45 p.40</a:t>
            </a:r>
          </a:p>
        </p:txBody>
      </p:sp>
      <p:sp>
        <p:nvSpPr>
          <p:cNvPr id="11" name="disclosure">
            <a:extLst xmlns:a="http://schemas.openxmlformats.org/drawingml/2006/main">
              <a:ext uri="{FF2B5EF4-FFF2-40B4-BE49-F238E27FC236}">
                <a16:creationId xmlns:a16="http://schemas.microsoft.com/office/drawing/2014/main" id="{088719EE-CBFB-4547-A367-D131C987784F}"/>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接点と用途の整理は分析例。特定製品同士の完成済み連携を示さない。目的と制約、人が決める優先順位も確認する。</a:t>
            </a:r>
          </a:p>
        </p:txBody>
      </p:sp>
      <p:sp>
        <p:nvSpPr>
          <p:cNvPr id="12" name="page">
            <a:extLst xmlns:a="http://schemas.openxmlformats.org/drawingml/2006/main">
              <a:ext uri="{FF2B5EF4-FFF2-40B4-BE49-F238E27FC236}">
                <a16:creationId xmlns:a16="http://schemas.microsoft.com/office/drawing/2014/main" id="{8F8B44C5-82B8-4334-8C4E-D7D64770E71B}"/>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15 / 40</a:t>
            </a:r>
          </a:p>
        </p:txBody>
      </p:sp>
    </p:spTree>
    <p:extLst>
      <p:ext uri="{BB962C8B-B14F-4D97-AF65-F5344CB8AC3E}">
        <p14:creationId xmlns:p14="http://schemas.microsoft.com/office/powerpoint/2010/main" val="44698788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eading">
            <a:extLst xmlns:a="http://schemas.openxmlformats.org/drawingml/2006/main">
              <a:ext uri="{FF2B5EF4-FFF2-40B4-BE49-F238E27FC236}">
                <a16:creationId xmlns:a16="http://schemas.microsoft.com/office/drawing/2014/main" id="{477F7FB4-8BE1-4A41-9BE3-03553AB6152C}"/>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継続サービスの顧客価値と収益を検証する</a:t>
            </a:r>
          </a:p>
        </p:txBody>
      </p:sp>
      <p:sp>
        <p:nvSpPr>
          <p:cNvPr id="2" name="context">
            <a:extLst xmlns:a="http://schemas.openxmlformats.org/drawingml/2006/main">
              <a:ext uri="{FF2B5EF4-FFF2-40B4-BE49-F238E27FC236}">
                <a16:creationId xmlns:a16="http://schemas.microsoft.com/office/drawing/2014/main" id="{6B299AD4-1020-4D60-A037-96E0A5FAFA93}"/>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データ・AIの改善が、顧客の行動と効果、継続利用、提供側の採算に届くまでを段階ごとに見る。</a:t>
            </a:r>
          </a:p>
        </p:txBody>
      </p:sp>
      <p:graphicFrame>
        <p:nvGraphicFramePr>
          <p:cNvPr id="3" name="">
            <a:extLst xmlns:a="http://schemas.openxmlformats.org/drawingml/2006/main">
              <a:ext uri="{FF2B5EF4-FFF2-40B4-BE49-F238E27FC236}">
                <a16:creationId xmlns:a16="http://schemas.microsoft.com/office/drawing/2014/main" id="{D4AF80AD-0912-46CA-BEC3-E8E16713E251}"/>
              </a:ext>
            </a:extLst>
          </p:cNvPr>
          <p:cNvGraphicFramePr/>
          <p:nvPr/>
        </p:nvGraphicFramePr>
        <p:xfrm>
          <a:off xmlns:a="http://schemas.openxmlformats.org/drawingml/2006/main" x="819150" y="2571750"/>
          <a:ext xmlns:a="http://schemas.openxmlformats.org/drawingml/2006/main" cx="16649700" cy="6191250"/>
        </p:xfrm>
        <a:graphic xmlns:a="http://schemas.openxmlformats.org/drawingml/2006/main">
          <a:graphicData uri="http://schemas.openxmlformats.org/drawingml/2006/table">
            <a:tbl>
              <a:tblPr/>
              <a:tblGrid>
                <a:gridCol w="2857500"/>
                <a:gridCol w="4857750"/>
                <a:gridCol w="4572000"/>
                <a:gridCol w="4362450"/>
              </a:tblGrid>
              <a:tr h="666750">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段階</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改善したいこと</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必要な根拠</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まだ分けて考えること</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データと診断</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稀な異常、条件差、修理結果</a:t>
                      </a:r>
                    </a:p>
                    <a:p>
                      <a:pPr>
                        <a:lnSpc>
                          <a:spcPct val="108000"/>
                        </a:lnSpc>
                        <a:buNone/>
                      </a:pPr>
                      <a:r>
                        <a:rPr sz="2025" b="0">
                          <a:solidFill>
                            <a:srgbClr val="183C4D"/>
                          </a:solidFill>
                          <a:latin typeface="Noto Sans JP"/>
                          <a:ea typeface="Noto Sans JP"/>
                          <a:cs typeface="Noto Sans JP"/>
                        </a:rPr>
                        <a:t>診断・提案の品質を改善</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誤警報・見逃し、適用条件</a:t>
                      </a:r>
                    </a:p>
                    <a:p>
                      <a:pPr>
                        <a:lnSpc>
                          <a:spcPct val="108000"/>
                        </a:lnSpc>
                        <a:buNone/>
                      </a:pPr>
                      <a:r>
                        <a:rPr sz="2025" b="0">
                          <a:solidFill>
                            <a:srgbClr val="183C4D"/>
                          </a:solidFill>
                          <a:latin typeface="Noto Sans JP"/>
                          <a:ea typeface="Noto Sans JP"/>
                          <a:cs typeface="Noto Sans JP"/>
                        </a:rPr>
                        <a:t>対処後の正解と比較結果</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正常ログの量だけでは</a:t>
                      </a:r>
                    </a:p>
                    <a:p>
                      <a:pPr>
                        <a:lnSpc>
                          <a:spcPct val="108000"/>
                        </a:lnSpc>
                        <a:buNone/>
                      </a:pPr>
                      <a:r>
                        <a:rPr sz="2025" b="0">
                          <a:solidFill>
                            <a:srgbClr val="183C4D"/>
                          </a:solidFill>
                          <a:latin typeface="Noto Sans JP"/>
                          <a:ea typeface="Noto Sans JP"/>
                          <a:cs typeface="Noto Sans JP"/>
                        </a:rPr>
                        <a:t>故障診断の改善を保証しない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顧客の実行と効果</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部品を先に手配、計画停止</a:t>
                      </a:r>
                    </a:p>
                    <a:p>
                      <a:pPr>
                        <a:lnSpc>
                          <a:spcPct val="108000"/>
                        </a:lnSpc>
                        <a:buNone/>
                      </a:pPr>
                      <a:r>
                        <a:rPr sz="2025" b="0">
                          <a:solidFill>
                            <a:srgbClr val="183C4D"/>
                          </a:solidFill>
                          <a:latin typeface="Noto Sans JP"/>
                          <a:ea typeface="Noto Sans JP"/>
                          <a:cs typeface="Noto Sans JP"/>
                        </a:rPr>
                        <a:t>条件を変え、品質を確保</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停止損失、初品合格</a:t>
                      </a:r>
                    </a:p>
                    <a:p>
                      <a:pPr>
                        <a:lnSpc>
                          <a:spcPct val="108000"/>
                        </a:lnSpc>
                        <a:buNone/>
                      </a:pPr>
                      <a:r>
                        <a:rPr sz="2025" b="0">
                          <a:solidFill>
                            <a:srgbClr val="183C4D"/>
                          </a:solidFill>
                          <a:latin typeface="Noto Sans JP"/>
                          <a:ea typeface="Noto Sans JP"/>
                          <a:cs typeface="Noto Sans JP"/>
                        </a:rPr>
                        <a:t>対応時間と実際の採用</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診断精度と顧客効果の間に</a:t>
                      </a:r>
                    </a:p>
                    <a:p>
                      <a:pPr>
                        <a:lnSpc>
                          <a:spcPct val="108000"/>
                        </a:lnSpc>
                        <a:buNone/>
                      </a:pPr>
                      <a:r>
                        <a:rPr sz="2025" b="0">
                          <a:solidFill>
                            <a:srgbClr val="183C4D"/>
                          </a:solidFill>
                          <a:latin typeface="Noto Sans JP"/>
                          <a:ea typeface="Noto Sans JP"/>
                          <a:cs typeface="Noto Sans JP"/>
                        </a:rPr>
                        <a:t>部品・技術者・計画の仕事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契約と提供側の採算</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利用・更新、支援の価値</a:t>
                      </a:r>
                    </a:p>
                    <a:p>
                      <a:pPr>
                        <a:lnSpc>
                          <a:spcPct val="108000"/>
                        </a:lnSpc>
                        <a:buNone/>
                      </a:pPr>
                      <a:r>
                        <a:rPr sz="2025" b="0">
                          <a:solidFill>
                            <a:srgbClr val="183C4D"/>
                          </a:solidFill>
                          <a:latin typeface="Noto Sans JP"/>
                          <a:ea typeface="Noto Sans JP"/>
                          <a:cs typeface="Noto Sans JP"/>
                        </a:rPr>
                        <a:t>対応と導入の工数を改善</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更新意向・継続契約</a:t>
                      </a:r>
                    </a:p>
                    <a:p>
                      <a:pPr>
                        <a:lnSpc>
                          <a:spcPct val="108000"/>
                        </a:lnSpc>
                        <a:buNone/>
                      </a:pPr>
                      <a:r>
                        <a:rPr sz="2025" b="0">
                          <a:solidFill>
                            <a:srgbClr val="183C4D"/>
                          </a:solidFill>
                          <a:latin typeface="Noto Sans JP"/>
                          <a:ea typeface="Noto Sans JP"/>
                          <a:cs typeface="Noto Sans JP"/>
                        </a:rPr>
                        <a:t>運用原価、現場別の適応</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MROの利益率と</a:t>
                      </a:r>
                    </a:p>
                    <a:p>
                      <a:pPr>
                        <a:lnSpc>
                          <a:spcPct val="108000"/>
                        </a:lnSpc>
                        <a:buNone/>
                      </a:pPr>
                      <a:r>
                        <a:rPr sz="2025" b="0">
                          <a:solidFill>
                            <a:srgbClr val="183C4D"/>
                          </a:solidFill>
                          <a:latin typeface="Noto Sans JP"/>
                          <a:ea typeface="Noto Sans JP"/>
                          <a:cs typeface="Noto Sans JP"/>
                        </a:rPr>
                        <a:t>AI単独の利益は異なる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次の開発への還流</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不具合・対処・結果を蓄積</a:t>
                      </a:r>
                    </a:p>
                    <a:p>
                      <a:pPr>
                        <a:lnSpc>
                          <a:spcPct val="108000"/>
                        </a:lnSpc>
                        <a:buNone/>
                      </a:pPr>
                      <a:r>
                        <a:rPr sz="2025" b="0">
                          <a:solidFill>
                            <a:srgbClr val="183C4D"/>
                          </a:solidFill>
                          <a:latin typeface="Noto Sans JP"/>
                          <a:ea typeface="Noto Sans JP"/>
                          <a:cs typeface="Noto Sans JP"/>
                        </a:rPr>
                        <a:t>モデルと設計を改良</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症状、修理、変更後の状態</a:t>
                      </a:r>
                    </a:p>
                    <a:p>
                      <a:pPr>
                        <a:lnSpc>
                          <a:spcPct val="108000"/>
                        </a:lnSpc>
                        <a:buNone/>
                      </a:pPr>
                      <a:r>
                        <a:rPr sz="2025" b="0">
                          <a:solidFill>
                            <a:srgbClr val="183C4D"/>
                          </a:solidFill>
                          <a:latin typeface="Noto Sans JP"/>
                          <a:ea typeface="Noto Sans JP"/>
                          <a:cs typeface="Noto Sans JP"/>
                        </a:rPr>
                        <a:t>別条件へ使える範囲</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提供データと学習・成果の</a:t>
                      </a:r>
                    </a:p>
                    <a:p>
                      <a:pPr>
                        <a:lnSpc>
                          <a:spcPct val="108000"/>
                        </a:lnSpc>
                        <a:buNone/>
                      </a:pPr>
                      <a:r>
                        <a:rPr sz="2025" b="0">
                          <a:solidFill>
                            <a:srgbClr val="183C4D"/>
                          </a:solidFill>
                          <a:latin typeface="Noto Sans JP"/>
                          <a:ea typeface="Noto Sans JP"/>
                          <a:cs typeface="Noto Sans JP"/>
                        </a:rPr>
                        <a:t>権利を確認する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Q02">
            <a:extLst xmlns:a="http://schemas.openxmlformats.org/drawingml/2006/main">
              <a:ext uri="{FF2B5EF4-FFF2-40B4-BE49-F238E27FC236}">
                <a16:creationId xmlns:a16="http://schemas.microsoft.com/office/drawing/2014/main" id="{602CF910-1212-4FB3-9F52-D5BFA2943E4C}"/>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b3bf3ffcc05b4857"/>
              </a:rPr>
              <a:t>Q02 p.29</a:t>
            </a:r>
          </a:p>
        </p:txBody>
      </p:sp>
      <p:sp>
        <p:nvSpPr>
          <p:cNvPr id="5" name="ref-Q25">
            <a:extLst xmlns:a="http://schemas.openxmlformats.org/drawingml/2006/main">
              <a:ext uri="{FF2B5EF4-FFF2-40B4-BE49-F238E27FC236}">
                <a16:creationId xmlns:a16="http://schemas.microsoft.com/office/drawing/2014/main" id="{30E46F6A-A554-4230-BE5E-76E6C8541AF7}"/>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791271f3c9ba45d7"/>
              </a:rPr>
              <a:t>Q25 p.35</a:t>
            </a:r>
          </a:p>
        </p:txBody>
      </p:sp>
      <p:sp>
        <p:nvSpPr>
          <p:cNvPr id="6" name="ref-Q26">
            <a:extLst xmlns:a="http://schemas.openxmlformats.org/drawingml/2006/main">
              <a:ext uri="{FF2B5EF4-FFF2-40B4-BE49-F238E27FC236}">
                <a16:creationId xmlns:a16="http://schemas.microsoft.com/office/drawing/2014/main" id="{925EEDDB-7D91-4EF0-9B20-9E1A10BC5A47}"/>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4d31271bc034cdb"/>
              </a:rPr>
              <a:t>Q26 p.35</a:t>
            </a:r>
          </a:p>
        </p:txBody>
      </p:sp>
      <p:sp>
        <p:nvSpPr>
          <p:cNvPr id="7" name="ref-Q27">
            <a:extLst xmlns:a="http://schemas.openxmlformats.org/drawingml/2006/main">
              <a:ext uri="{FF2B5EF4-FFF2-40B4-BE49-F238E27FC236}">
                <a16:creationId xmlns:a16="http://schemas.microsoft.com/office/drawing/2014/main" id="{DA13C37C-569F-4D75-82B9-03B2AB154695}"/>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17f29a6d04e4cd6"/>
              </a:rPr>
              <a:t>Q27 p.35</a:t>
            </a:r>
          </a:p>
        </p:txBody>
      </p:sp>
      <p:sp>
        <p:nvSpPr>
          <p:cNvPr id="8" name="ref-Q29">
            <a:extLst xmlns:a="http://schemas.openxmlformats.org/drawingml/2006/main">
              <a:ext uri="{FF2B5EF4-FFF2-40B4-BE49-F238E27FC236}">
                <a16:creationId xmlns:a16="http://schemas.microsoft.com/office/drawing/2014/main" id="{6B4EA25E-1263-439A-ABC4-956BFFA11A9A}"/>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1d17c3e0a62424f"/>
              </a:rPr>
              <a:t>Q29 p.36</a:t>
            </a:r>
          </a:p>
        </p:txBody>
      </p:sp>
      <p:sp>
        <p:nvSpPr>
          <p:cNvPr id="9" name="ref-Q36">
            <a:extLst xmlns:a="http://schemas.openxmlformats.org/drawingml/2006/main">
              <a:ext uri="{FF2B5EF4-FFF2-40B4-BE49-F238E27FC236}">
                <a16:creationId xmlns:a16="http://schemas.microsoft.com/office/drawing/2014/main" id="{DC1DE1FA-B677-4CBA-9964-8A5B559019BE}"/>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c2b755becfa4441c"/>
              </a:rPr>
              <a:t>Q36 p.37</a:t>
            </a:r>
          </a:p>
        </p:txBody>
      </p:sp>
      <p:sp>
        <p:nvSpPr>
          <p:cNvPr id="10" name="ref-Q43">
            <a:extLst xmlns:a="http://schemas.openxmlformats.org/drawingml/2006/main">
              <a:ext uri="{FF2B5EF4-FFF2-40B4-BE49-F238E27FC236}">
                <a16:creationId xmlns:a16="http://schemas.microsoft.com/office/drawing/2014/main" id="{24D0BC03-EDEA-4CDE-B21E-E2857F82EFEF}"/>
              </a:ext>
            </a:extLst>
          </p:cNvPr>
          <p:cNvSpPr>
            <a:spLocks xmlns:a="http://schemas.openxmlformats.org/drawingml/2006/main" noGrp="1"/>
          </p:cNvSpPr>
          <p:nvPr/>
        </p:nvSpPr>
        <p:spPr>
          <a:xfrm xmlns:a="http://schemas.openxmlformats.org/drawingml/2006/main">
            <a:off x="90106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0b141b9005ba4cff"/>
              </a:rPr>
              <a:t>Q43 p.39</a:t>
            </a:r>
          </a:p>
        </p:txBody>
      </p:sp>
      <p:sp>
        <p:nvSpPr>
          <p:cNvPr id="11" name="disclosure">
            <a:extLst xmlns:a="http://schemas.openxmlformats.org/drawingml/2006/main">
              <a:ext uri="{FF2B5EF4-FFF2-40B4-BE49-F238E27FC236}">
                <a16:creationId xmlns:a16="http://schemas.microsoft.com/office/drawing/2014/main" id="{B8253B10-F1E5-47E4-9A60-EE7C28F0346A}"/>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データ増加からAI改善、継続契約、収益改善への連鎖は事業仮説。AI機能別の更新率・収益寄与は未確認。</a:t>
            </a:r>
          </a:p>
        </p:txBody>
      </p:sp>
      <p:sp>
        <p:nvSpPr>
          <p:cNvPr id="12" name="page">
            <a:extLst xmlns:a="http://schemas.openxmlformats.org/drawingml/2006/main">
              <a:ext uri="{FF2B5EF4-FFF2-40B4-BE49-F238E27FC236}">
                <a16:creationId xmlns:a16="http://schemas.microsoft.com/office/drawing/2014/main" id="{658883AE-20DD-4703-A6AC-EC128ABDFFCC}"/>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16 / 40</a:t>
            </a:r>
          </a:p>
        </p:txBody>
      </p:sp>
    </p:spTree>
    <p:extLst>
      <p:ext uri="{BB962C8B-B14F-4D97-AF65-F5344CB8AC3E}">
        <p14:creationId xmlns:p14="http://schemas.microsoft.com/office/powerpoint/2010/main" val="81616940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eading">
            <a:extLst xmlns:a="http://schemas.openxmlformats.org/drawingml/2006/main">
              <a:ext uri="{FF2B5EF4-FFF2-40B4-BE49-F238E27FC236}">
                <a16:creationId xmlns:a16="http://schemas.microsoft.com/office/drawing/2014/main" id="{1522D0A6-9B9F-4692-9328-070208DA1063}"/>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技術の位置付け：計画・準備</a:t>
            </a:r>
          </a:p>
        </p:txBody>
      </p:sp>
      <p:sp>
        <p:nvSpPr>
          <p:cNvPr id="2" name="context">
            <a:extLst xmlns:a="http://schemas.openxmlformats.org/drawingml/2006/main">
              <a:ext uri="{FF2B5EF4-FFF2-40B4-BE49-F238E27FC236}">
                <a16:creationId xmlns:a16="http://schemas.microsoft.com/office/drawing/2014/main" id="{9982F4F1-30F2-4AF7-BF89-11F155D06B6E}"/>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顧客が任せたい仕事と、技術が担う判断・実行を対応付ける。企業例には開発計画・研究を含む。</a:t>
            </a:r>
          </a:p>
        </p:txBody>
      </p:sp>
      <p:graphicFrame>
        <p:nvGraphicFramePr>
          <p:cNvPr id="3" name="">
            <a:extLst xmlns:a="http://schemas.openxmlformats.org/drawingml/2006/main">
              <a:ext uri="{FF2B5EF4-FFF2-40B4-BE49-F238E27FC236}">
                <a16:creationId xmlns:a16="http://schemas.microsoft.com/office/drawing/2014/main" id="{78728CB9-CE9C-49EC-B069-BA873551CB62}"/>
              </a:ext>
            </a:extLst>
          </p:cNvPr>
          <p:cNvGraphicFramePr/>
          <p:nvPr/>
        </p:nvGraphicFramePr>
        <p:xfrm>
          <a:off xmlns:a="http://schemas.openxmlformats.org/drawingml/2006/main" x="819150" y="2571750"/>
          <a:ext xmlns:a="http://schemas.openxmlformats.org/drawingml/2006/main" cx="16649700" cy="6191250"/>
        </p:xfrm>
        <a:graphic xmlns:a="http://schemas.openxmlformats.org/drawingml/2006/main">
          <a:graphicData uri="http://schemas.openxmlformats.org/drawingml/2006/table">
            <a:tbl>
              <a:tblPr/>
              <a:tblGrid>
                <a:gridCol w="3571875"/>
                <a:gridCol w="4476750"/>
                <a:gridCol w="4429125"/>
                <a:gridCol w="4171950"/>
              </a:tblGrid>
              <a:tr h="666750">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顧客タスク</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代表的な入力と出力</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企業例・担う役割</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境界と確認点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T01 工程設計</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形状、要求、設備の制約</a:t>
                      </a:r>
                    </a:p>
                    <a:p>
                      <a:pPr>
                        <a:lnSpc>
                          <a:spcPct val="108000"/>
                        </a:lnSpc>
                        <a:buNone/>
                      </a:pPr>
                      <a:r>
                        <a:rPr sz="2025" b="0">
                          <a:solidFill>
                            <a:srgbClr val="183C4D"/>
                          </a:solidFill>
                          <a:latin typeface="Noto Sans JP"/>
                          <a:ea typeface="Noto Sans JP"/>
                          <a:cs typeface="Noto Sans JP"/>
                        </a:rPr>
                        <a:t>工程順序・加工方法の案</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マザック／ABEJA、Hexagon</a:t>
                      </a:r>
                    </a:p>
                    <a:p>
                      <a:pPr>
                        <a:lnSpc>
                          <a:spcPct val="108000"/>
                        </a:lnSpc>
                        <a:buNone/>
                      </a:pPr>
                      <a:r>
                        <a:rPr sz="2025" b="0">
                          <a:solidFill>
                            <a:srgbClr val="183C4D"/>
                          </a:solidFill>
                          <a:latin typeface="Noto Sans JP"/>
                          <a:ea typeface="Noto Sans JP"/>
                          <a:cs typeface="Noto Sans JP"/>
                        </a:rPr>
                        <a:t>加工意図と過去経験の再利用</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人の修正、選択理由、採否</a:t>
                      </a:r>
                    </a:p>
                    <a:p>
                      <a:pPr>
                        <a:lnSpc>
                          <a:spcPct val="108000"/>
                        </a:lnSpc>
                        <a:buNone/>
                      </a:pPr>
                      <a:r>
                        <a:rPr sz="2025" b="0">
                          <a:solidFill>
                            <a:srgbClr val="183C4D"/>
                          </a:solidFill>
                          <a:latin typeface="Noto Sans JP"/>
                          <a:ea typeface="Noto Sans JP"/>
                          <a:cs typeface="Noto Sans JP"/>
                        </a:rPr>
                        <a:t>次の検証へ渡す条件</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T02 NC・工具経路作成</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形状、工具、工程</a:t>
                      </a:r>
                    </a:p>
                    <a:p>
                      <a:pPr>
                        <a:lnSpc>
                          <a:spcPct val="108000"/>
                        </a:lnSpc>
                        <a:buNone/>
                      </a:pPr>
                      <a:r>
                        <a:rPr sz="2025" b="0">
                          <a:solidFill>
                            <a:srgbClr val="183C4D"/>
                          </a:solidFill>
                          <a:latin typeface="Noto Sans JP"/>
                          <a:ea typeface="Noto Sans JP"/>
                          <a:cs typeface="Noto Sans JP"/>
                        </a:rPr>
                        <a:t>工具経路・NCの作成</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Hexagon、DMG森精機</a:t>
                      </a:r>
                    </a:p>
                    <a:p>
                      <a:pPr>
                        <a:lnSpc>
                          <a:spcPct val="108000"/>
                        </a:lnSpc>
                        <a:buNone/>
                      </a:pPr>
                      <a:r>
                        <a:rPr sz="2025" b="0">
                          <a:solidFill>
                            <a:srgbClr val="183C4D"/>
                          </a:solidFill>
                          <a:latin typeface="Noto Sans JP"/>
                          <a:ea typeface="Noto Sans JP"/>
                          <a:cs typeface="Noto Sans JP"/>
                        </a:rPr>
                        <a:t>CAM・ポスト・検証との接続</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干渉と加工品質の確認</a:t>
                      </a:r>
                    </a:p>
                    <a:p>
                      <a:pPr>
                        <a:lnSpc>
                          <a:spcPct val="108000"/>
                        </a:lnSpc>
                        <a:buNone/>
                      </a:pPr>
                      <a:r>
                        <a:rPr sz="2025" b="0">
                          <a:solidFill>
                            <a:srgbClr val="183C4D"/>
                          </a:solidFill>
                          <a:latin typeface="Noto Sans JP"/>
                          <a:ea typeface="Noto Sans JP"/>
                          <a:cs typeface="Noto Sans JP"/>
                        </a:rPr>
                        <a:t>生成と実行の責任</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T03 条件・工具選定</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材料、品質、設備条件</a:t>
                      </a:r>
                    </a:p>
                    <a:p>
                      <a:pPr>
                        <a:lnSpc>
                          <a:spcPct val="108000"/>
                        </a:lnSpc>
                        <a:buNone/>
                      </a:pPr>
                      <a:r>
                        <a:rPr sz="2025" b="0">
                          <a:solidFill>
                            <a:srgbClr val="183C4D"/>
                          </a:solidFill>
                          <a:latin typeface="Noto Sans JP"/>
                          <a:ea typeface="Noto Sans JP"/>
                          <a:cs typeface="Noto Sans JP"/>
                        </a:rPr>
                        <a:t>工具・速度・送り等の選定</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産総研、DMG森精機</a:t>
                      </a:r>
                    </a:p>
                    <a:p>
                      <a:pPr>
                        <a:lnSpc>
                          <a:spcPct val="108000"/>
                        </a:lnSpc>
                        <a:buNone/>
                      </a:pPr>
                      <a:r>
                        <a:rPr sz="2025" b="0">
                          <a:solidFill>
                            <a:srgbClr val="183C4D"/>
                          </a:solidFill>
                          <a:latin typeface="Noto Sans JP"/>
                          <a:ea typeface="Noto Sans JP"/>
                          <a:cs typeface="Noto Sans JP"/>
                        </a:rPr>
                        <a:t>条件逆算、現象モデル・知識</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探索範囲と適用条件</a:t>
                      </a:r>
                    </a:p>
                    <a:p>
                      <a:pPr>
                        <a:lnSpc>
                          <a:spcPct val="108000"/>
                        </a:lnSpc>
                        <a:buNone/>
                      </a:pPr>
                      <a:r>
                        <a:rPr sz="2025" b="0">
                          <a:solidFill>
                            <a:srgbClr val="183C4D"/>
                          </a:solidFill>
                          <a:latin typeface="Noto Sans JP"/>
                          <a:ea typeface="Noto Sans JP"/>
                          <a:cs typeface="Noto Sans JP"/>
                        </a:rPr>
                        <a:t>実加工で満たす品質</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T04 生産計画・再計画</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受注、負荷、在庫、稼働</a:t>
                      </a:r>
                    </a:p>
                    <a:p>
                      <a:pPr>
                        <a:lnSpc>
                          <a:spcPct val="108000"/>
                        </a:lnSpc>
                        <a:buNone/>
                      </a:pPr>
                      <a:r>
                        <a:rPr sz="2025" b="0">
                          <a:solidFill>
                            <a:srgbClr val="183C4D"/>
                          </a:solidFill>
                          <a:latin typeface="Noto Sans JP"/>
                          <a:ea typeface="Noto Sans JP"/>
                          <a:cs typeface="Noto Sans JP"/>
                        </a:rPr>
                        <a:t>割付・順序の組み直し</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マザック、富士通、NEC</a:t>
                      </a:r>
                    </a:p>
                    <a:p>
                      <a:pPr>
                        <a:lnSpc>
                          <a:spcPct val="108000"/>
                        </a:lnSpc>
                        <a:buNone/>
                      </a:pPr>
                      <a:r>
                        <a:rPr sz="2025" b="0">
                          <a:solidFill>
                            <a:srgbClr val="183C4D"/>
                          </a:solidFill>
                          <a:latin typeface="Noto Sans JP"/>
                          <a:ea typeface="Noto Sans JP"/>
                          <a:cs typeface="Noto Sans JP"/>
                        </a:rPr>
                        <a:t>現場制約と計画・実績の接続</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判断時の制約と優先順位</a:t>
                      </a:r>
                    </a:p>
                    <a:p>
                      <a:pPr>
                        <a:lnSpc>
                          <a:spcPct val="108000"/>
                        </a:lnSpc>
                        <a:buNone/>
                      </a:pPr>
                      <a:r>
                        <a:rPr sz="2025" b="0">
                          <a:solidFill>
                            <a:srgbClr val="183C4D"/>
                          </a:solidFill>
                          <a:latin typeface="Noto Sans JP"/>
                          <a:ea typeface="Noto Sans JP"/>
                          <a:cs typeface="Noto Sans JP"/>
                        </a:rPr>
                        <a:t>実行可能性と実績の戻り</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Q05">
            <a:extLst xmlns:a="http://schemas.openxmlformats.org/drawingml/2006/main">
              <a:ext uri="{FF2B5EF4-FFF2-40B4-BE49-F238E27FC236}">
                <a16:creationId xmlns:a16="http://schemas.microsoft.com/office/drawing/2014/main" id="{7695592B-FD13-4399-8C4F-63C06B0A824B}"/>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c97b7b74ba5640df"/>
              </a:rPr>
              <a:t>Q05 p.30</a:t>
            </a:r>
          </a:p>
        </p:txBody>
      </p:sp>
      <p:sp>
        <p:nvSpPr>
          <p:cNvPr id="5" name="ref-Q10">
            <a:extLst xmlns:a="http://schemas.openxmlformats.org/drawingml/2006/main">
              <a:ext uri="{FF2B5EF4-FFF2-40B4-BE49-F238E27FC236}">
                <a16:creationId xmlns:a16="http://schemas.microsoft.com/office/drawing/2014/main" id="{477DDD08-BB94-460F-B228-6BC3FA273512}"/>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58e72faa0d548d9"/>
              </a:rPr>
              <a:t>Q10 p.31</a:t>
            </a:r>
          </a:p>
        </p:txBody>
      </p:sp>
      <p:sp>
        <p:nvSpPr>
          <p:cNvPr id="6" name="ref-Q14">
            <a:extLst xmlns:a="http://schemas.openxmlformats.org/drawingml/2006/main">
              <a:ext uri="{FF2B5EF4-FFF2-40B4-BE49-F238E27FC236}">
                <a16:creationId xmlns:a16="http://schemas.microsoft.com/office/drawing/2014/main" id="{A2A9949A-5CFB-48E7-AB62-F40451FC8230}"/>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45bf55d65c834f56"/>
              </a:rPr>
              <a:t>Q14 p.32</a:t>
            </a:r>
          </a:p>
        </p:txBody>
      </p:sp>
      <p:sp>
        <p:nvSpPr>
          <p:cNvPr id="7" name="ref-Q25">
            <a:extLst xmlns:a="http://schemas.openxmlformats.org/drawingml/2006/main">
              <a:ext uri="{FF2B5EF4-FFF2-40B4-BE49-F238E27FC236}">
                <a16:creationId xmlns:a16="http://schemas.microsoft.com/office/drawing/2014/main" id="{D5F5E5A6-AC9A-4627-B4F4-91731E6E0D56}"/>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1e360fec3aed46c4"/>
              </a:rPr>
              <a:t>Q25 p.35</a:t>
            </a:r>
          </a:p>
        </p:txBody>
      </p:sp>
      <p:sp>
        <p:nvSpPr>
          <p:cNvPr id="8" name="ref-Q38">
            <a:extLst xmlns:a="http://schemas.openxmlformats.org/drawingml/2006/main">
              <a:ext uri="{FF2B5EF4-FFF2-40B4-BE49-F238E27FC236}">
                <a16:creationId xmlns:a16="http://schemas.microsoft.com/office/drawing/2014/main" id="{2732A660-DC01-4F4B-B0F9-F486249CEFC7}"/>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3f27f027bf94a89"/>
              </a:rPr>
              <a:t>Q38 p.38</a:t>
            </a:r>
          </a:p>
        </p:txBody>
      </p:sp>
      <p:sp>
        <p:nvSpPr>
          <p:cNvPr id="9" name="ref-Q42">
            <a:extLst xmlns:a="http://schemas.openxmlformats.org/drawingml/2006/main">
              <a:ext uri="{FF2B5EF4-FFF2-40B4-BE49-F238E27FC236}">
                <a16:creationId xmlns:a16="http://schemas.microsoft.com/office/drawing/2014/main" id="{FAE741D8-F679-4BC0-AFAB-A1059BD3DC58}"/>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4ef5e84b35f446c6"/>
              </a:rPr>
              <a:t>Q42 p.39</a:t>
            </a:r>
          </a:p>
        </p:txBody>
      </p:sp>
      <p:sp>
        <p:nvSpPr>
          <p:cNvPr id="10" name="ref-Q45">
            <a:extLst xmlns:a="http://schemas.openxmlformats.org/drawingml/2006/main">
              <a:ext uri="{FF2B5EF4-FFF2-40B4-BE49-F238E27FC236}">
                <a16:creationId xmlns:a16="http://schemas.microsoft.com/office/drawing/2014/main" id="{9D11242E-474F-4444-8E03-09AFA858C198}"/>
              </a:ext>
            </a:extLst>
          </p:cNvPr>
          <p:cNvSpPr>
            <a:spLocks xmlns:a="http://schemas.openxmlformats.org/drawingml/2006/main" noGrp="1"/>
          </p:cNvSpPr>
          <p:nvPr/>
        </p:nvSpPr>
        <p:spPr>
          <a:xfrm xmlns:a="http://schemas.openxmlformats.org/drawingml/2006/main">
            <a:off x="90106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002bf5261fa41b8"/>
              </a:rPr>
              <a:t>Q45 p.40</a:t>
            </a:r>
          </a:p>
        </p:txBody>
      </p:sp>
      <p:sp>
        <p:nvSpPr>
          <p:cNvPr id="11" name="disclosure">
            <a:extLst xmlns:a="http://schemas.openxmlformats.org/drawingml/2006/main">
              <a:ext uri="{FF2B5EF4-FFF2-40B4-BE49-F238E27FC236}">
                <a16:creationId xmlns:a16="http://schemas.microsoft.com/office/drawing/2014/main" id="{417B6595-A408-4817-A92E-ABD14746B059}"/>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資料に基づく代表例の配置。製品間の接続、全社での同等機能、全工程の自律化を認定する表ではない。</a:t>
            </a:r>
          </a:p>
        </p:txBody>
      </p:sp>
      <p:sp>
        <p:nvSpPr>
          <p:cNvPr id="12" name="page">
            <a:extLst xmlns:a="http://schemas.openxmlformats.org/drawingml/2006/main">
              <a:ext uri="{FF2B5EF4-FFF2-40B4-BE49-F238E27FC236}">
                <a16:creationId xmlns:a16="http://schemas.microsoft.com/office/drawing/2014/main" id="{D8D53537-35A3-4625-A28C-6144135DAAA4}"/>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17 / 40</a:t>
            </a:r>
          </a:p>
        </p:txBody>
      </p:sp>
    </p:spTree>
    <p:extLst>
      <p:ext uri="{BB962C8B-B14F-4D97-AF65-F5344CB8AC3E}">
        <p14:creationId xmlns:p14="http://schemas.microsoft.com/office/powerpoint/2010/main" val="82900026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2BEF5F6F-3E62-4A12-815D-DF9E4F031045}"/>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技術の位置付け：段取り・実行</a:t>
            </a:r>
          </a:p>
        </p:txBody>
      </p:sp>
      <p:sp>
        <p:nvSpPr>
          <p:cNvPr id="2" name="context">
            <a:extLst xmlns:a="http://schemas.openxmlformats.org/drawingml/2006/main">
              <a:ext uri="{FF2B5EF4-FFF2-40B4-BE49-F238E27FC236}">
                <a16:creationId xmlns:a16="http://schemas.microsoft.com/office/drawing/2014/main" id="{FBE7F630-9F4A-4DC1-984D-2A46812447BC}"/>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顧客が任せたい仕事と、技術が担う判断・実行を対応付ける。企業例には開発計画・研究を含む。</a:t>
            </a:r>
          </a:p>
        </p:txBody>
      </p:sp>
      <p:graphicFrame>
        <p:nvGraphicFramePr>
          <p:cNvPr id="3" name="">
            <a:extLst xmlns:a="http://schemas.openxmlformats.org/drawingml/2006/main">
              <a:ext uri="{FF2B5EF4-FFF2-40B4-BE49-F238E27FC236}">
                <a16:creationId xmlns:a16="http://schemas.microsoft.com/office/drawing/2014/main" id="{B50BFEAC-D55E-4F0E-B630-924BF2343E4B}"/>
              </a:ext>
            </a:extLst>
          </p:cNvPr>
          <p:cNvGraphicFramePr/>
          <p:nvPr/>
        </p:nvGraphicFramePr>
        <p:xfrm>
          <a:off xmlns:a="http://schemas.openxmlformats.org/drawingml/2006/main" x="819150" y="2571750"/>
          <a:ext xmlns:a="http://schemas.openxmlformats.org/drawingml/2006/main" cx="16649700" cy="6191250"/>
        </p:xfrm>
        <a:graphic xmlns:a="http://schemas.openxmlformats.org/drawingml/2006/main">
          <a:graphicData uri="http://schemas.openxmlformats.org/drawingml/2006/table">
            <a:tbl>
              <a:tblPr/>
              <a:tblGrid>
                <a:gridCol w="3571875"/>
                <a:gridCol w="4476750"/>
                <a:gridCol w="4429125"/>
                <a:gridCol w="4171950"/>
              </a:tblGrid>
              <a:tr h="666750">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顧客タスク</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代表的な入力と出力</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企業例・担う役割</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境界と確認点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T05 段取り・保持・交換</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対象、設備、治具</a:t>
                      </a:r>
                    </a:p>
                    <a:p>
                      <a:pPr>
                        <a:lnSpc>
                          <a:spcPct val="108000"/>
                        </a:lnSpc>
                        <a:buNone/>
                      </a:pPr>
                      <a:r>
                        <a:rPr sz="2025" b="0">
                          <a:solidFill>
                            <a:srgbClr val="183C4D"/>
                          </a:solidFill>
                          <a:latin typeface="Noto Sans JP"/>
                          <a:ea typeface="Noto Sans JP"/>
                          <a:cs typeface="Noto Sans JP"/>
                        </a:rPr>
                        <a:t>保持・交換と調整</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マザック、ファナック／日立</a:t>
                      </a:r>
                    </a:p>
                    <a:p>
                      <a:pPr>
                        <a:lnSpc>
                          <a:spcPct val="108000"/>
                        </a:lnSpc>
                        <a:buNone/>
                      </a:pPr>
                      <a:r>
                        <a:rPr sz="2025" b="0">
                          <a:solidFill>
                            <a:srgbClr val="183C4D"/>
                          </a:solidFill>
                          <a:latin typeface="Noto Sans JP"/>
                          <a:ea typeface="Noto Sans JP"/>
                          <a:cs typeface="Noto Sans JP"/>
                        </a:rPr>
                        <a:t>変更時の学習・適応</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作業変更時の人の調整</a:t>
                      </a:r>
                    </a:p>
                    <a:p>
                      <a:pPr>
                        <a:lnSpc>
                          <a:spcPct val="108000"/>
                        </a:lnSpc>
                        <a:buNone/>
                      </a:pPr>
                      <a:r>
                        <a:rPr sz="2025" b="0">
                          <a:solidFill>
                            <a:srgbClr val="183C4D"/>
                          </a:solidFill>
                          <a:latin typeface="Noto Sans JP"/>
                          <a:ea typeface="Noto Sans JP"/>
                          <a:cs typeface="Noto Sans JP"/>
                        </a:rPr>
                        <a:t>教示・保持と完了確認</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T06 供給・ピッキング</a:t>
                      </a:r>
                    </a:p>
                    <a:p>
                      <a:pPr>
                        <a:lnSpc>
                          <a:spcPct val="108000"/>
                        </a:lnSpc>
                        <a:buNone/>
                      </a:pPr>
                      <a:r>
                        <a:rPr sz="2025" b="1">
                          <a:solidFill>
                            <a:srgbClr val="183C4D"/>
                          </a:solidFill>
                          <a:latin typeface="Noto Sans JP"/>
                          <a:ea typeface="Noto Sans JP"/>
                          <a:cs typeface="Noto Sans JP"/>
                        </a:rPr>
                        <a:t>搬送</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位置、姿勢、周囲の状態</a:t>
                      </a:r>
                    </a:p>
                    <a:p>
                      <a:pPr>
                        <a:lnSpc>
                          <a:spcPct val="108000"/>
                        </a:lnSpc>
                        <a:buNone/>
                      </a:pPr>
                      <a:r>
                        <a:rPr sz="2025" b="0">
                          <a:solidFill>
                            <a:srgbClr val="183C4D"/>
                          </a:solidFill>
                          <a:latin typeface="Noto Sans JP"/>
                          <a:ea typeface="Noto Sans JP"/>
                          <a:cs typeface="Noto Sans JP"/>
                        </a:rPr>
                        <a:t>把持と供給・経路</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ファナック、DMG森精機等</a:t>
                      </a:r>
                    </a:p>
                    <a:p>
                      <a:pPr>
                        <a:lnSpc>
                          <a:spcPct val="108000"/>
                        </a:lnSpc>
                        <a:buNone/>
                      </a:pPr>
                      <a:r>
                        <a:rPr sz="2025" b="0">
                          <a:solidFill>
                            <a:srgbClr val="183C4D"/>
                          </a:solidFill>
                          <a:latin typeface="Noto Sans JP"/>
                          <a:ea typeface="Noto Sans JP"/>
                          <a:cs typeface="Noto Sans JP"/>
                        </a:rPr>
                        <a:t>認識と動作・AMRの実行</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位置補正と作業適応の違い</a:t>
                      </a:r>
                    </a:p>
                    <a:p>
                      <a:pPr>
                        <a:lnSpc>
                          <a:spcPct val="108000"/>
                        </a:lnSpc>
                        <a:buNone/>
                      </a:pPr>
                      <a:r>
                        <a:rPr sz="2025" b="0">
                          <a:solidFill>
                            <a:srgbClr val="183C4D"/>
                          </a:solidFill>
                          <a:latin typeface="Noto Sans JP"/>
                          <a:ea typeface="Noto Sans JP"/>
                          <a:cs typeface="Noto Sans JP"/>
                        </a:rPr>
                        <a:t>例外・失敗と復帰</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T07 加工中の補正・制御</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加工中の信号、状態推定</a:t>
                      </a:r>
                    </a:p>
                    <a:p>
                      <a:pPr>
                        <a:lnSpc>
                          <a:spcPct val="108000"/>
                        </a:lnSpc>
                        <a:buNone/>
                      </a:pPr>
                      <a:r>
                        <a:rPr sz="2025" b="0">
                          <a:solidFill>
                            <a:srgbClr val="183C4D"/>
                          </a:solidFill>
                          <a:latin typeface="Noto Sans JP"/>
                          <a:ea typeface="Noto Sans JP"/>
                          <a:cs typeface="Noto Sans JP"/>
                        </a:rPr>
                        <a:t>条件や動作を補正</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三菱電機の研究</a:t>
                      </a:r>
                    </a:p>
                    <a:p>
                      <a:pPr>
                        <a:lnSpc>
                          <a:spcPct val="108000"/>
                        </a:lnSpc>
                        <a:buNone/>
                      </a:pPr>
                      <a:r>
                        <a:rPr sz="2025" b="0">
                          <a:solidFill>
                            <a:srgbClr val="183C4D"/>
                          </a:solidFill>
                          <a:latin typeface="Noto Sans JP"/>
                          <a:ea typeface="Noto Sans JP"/>
                          <a:cs typeface="Noto Sans JP"/>
                        </a:rPr>
                        <a:t>物理モデルとCNCの実装</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計算時間・安定性</a:t>
                      </a:r>
                    </a:p>
                    <a:p>
                      <a:pPr>
                        <a:lnSpc>
                          <a:spcPct val="108000"/>
                        </a:lnSpc>
                        <a:buNone/>
                      </a:pPr>
                      <a:r>
                        <a:rPr sz="2025" b="0">
                          <a:solidFill>
                            <a:srgbClr val="183C4D"/>
                          </a:solidFill>
                          <a:latin typeface="Noto Sans JP"/>
                          <a:ea typeface="Noto Sans JP"/>
                          <a:cs typeface="Noto Sans JP"/>
                        </a:rPr>
                        <a:t>試験条件と実加工の範囲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T08 組立・研磨等の動作</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形状、接触、目的</a:t>
                      </a:r>
                    </a:p>
                    <a:p>
                      <a:pPr>
                        <a:lnSpc>
                          <a:spcPct val="108000"/>
                        </a:lnSpc>
                        <a:buNone/>
                      </a:pPr>
                      <a:r>
                        <a:rPr sz="2025" b="0">
                          <a:solidFill>
                            <a:srgbClr val="183C4D"/>
                          </a:solidFill>
                          <a:latin typeface="Noto Sans JP"/>
                          <a:ea typeface="Noto Sans JP"/>
                          <a:cs typeface="Noto Sans JP"/>
                        </a:rPr>
                        <a:t>力・動作と作業手順</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安川、日立、FingerVision等</a:t>
                      </a:r>
                    </a:p>
                    <a:p>
                      <a:pPr>
                        <a:lnSpc>
                          <a:spcPct val="108000"/>
                        </a:lnSpc>
                        <a:buNone/>
                      </a:pPr>
                      <a:r>
                        <a:rPr sz="2025" b="0">
                          <a:solidFill>
                            <a:srgbClr val="183C4D"/>
                          </a:solidFill>
                          <a:latin typeface="Noto Sans JP"/>
                          <a:ea typeface="Noto Sans JP"/>
                          <a:cs typeface="Noto Sans JP"/>
                        </a:rPr>
                        <a:t>動作・視触覚の利用</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変化する接触への対応</a:t>
                      </a:r>
                    </a:p>
                    <a:p>
                      <a:pPr>
                        <a:lnSpc>
                          <a:spcPct val="108000"/>
                        </a:lnSpc>
                        <a:buNone/>
                      </a:pPr>
                      <a:r>
                        <a:rPr sz="2025" b="0">
                          <a:solidFill>
                            <a:srgbClr val="183C4D"/>
                          </a:solidFill>
                          <a:latin typeface="Noto Sans JP"/>
                          <a:ea typeface="Noto Sans JP"/>
                          <a:cs typeface="Noto Sans JP"/>
                        </a:rPr>
                        <a:t>速度・品質、人の介入</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Q06">
            <a:extLst xmlns:a="http://schemas.openxmlformats.org/drawingml/2006/main">
              <a:ext uri="{FF2B5EF4-FFF2-40B4-BE49-F238E27FC236}">
                <a16:creationId xmlns:a16="http://schemas.microsoft.com/office/drawing/2014/main" id="{902880AF-8276-4D60-81EC-FE8AE1C78B15}"/>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0d5a7cd57bae448b"/>
              </a:rPr>
              <a:t>Q06 p.30</a:t>
            </a:r>
          </a:p>
        </p:txBody>
      </p:sp>
      <p:sp>
        <p:nvSpPr>
          <p:cNvPr id="5" name="ref-Q07">
            <a:extLst xmlns:a="http://schemas.openxmlformats.org/drawingml/2006/main">
              <a:ext uri="{FF2B5EF4-FFF2-40B4-BE49-F238E27FC236}">
                <a16:creationId xmlns:a16="http://schemas.microsoft.com/office/drawing/2014/main" id="{4B92935D-9F3C-492E-A39B-734AC0902F88}"/>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9c637642986849bd"/>
              </a:rPr>
              <a:t>Q07 p.30</a:t>
            </a:r>
          </a:p>
        </p:txBody>
      </p:sp>
      <p:sp>
        <p:nvSpPr>
          <p:cNvPr id="6" name="ref-Q22">
            <a:extLst xmlns:a="http://schemas.openxmlformats.org/drawingml/2006/main">
              <a:ext uri="{FF2B5EF4-FFF2-40B4-BE49-F238E27FC236}">
                <a16:creationId xmlns:a16="http://schemas.microsoft.com/office/drawing/2014/main" id="{EB975AD4-3723-4591-A463-63F886156C96}"/>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a9565cd41c14a24"/>
              </a:rPr>
              <a:t>Q22 p.34</a:t>
            </a:r>
          </a:p>
        </p:txBody>
      </p:sp>
      <p:sp>
        <p:nvSpPr>
          <p:cNvPr id="7" name="ref-Q23">
            <a:extLst xmlns:a="http://schemas.openxmlformats.org/drawingml/2006/main">
              <a:ext uri="{FF2B5EF4-FFF2-40B4-BE49-F238E27FC236}">
                <a16:creationId xmlns:a16="http://schemas.microsoft.com/office/drawing/2014/main" id="{CFA23F7C-6B1F-4B9C-9BC0-647C638461C4}"/>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19087e6295345d4"/>
              </a:rPr>
              <a:t>Q23 p.34</a:t>
            </a:r>
          </a:p>
        </p:txBody>
      </p:sp>
      <p:sp>
        <p:nvSpPr>
          <p:cNvPr id="8" name="ref-Q30">
            <a:extLst xmlns:a="http://schemas.openxmlformats.org/drawingml/2006/main">
              <a:ext uri="{FF2B5EF4-FFF2-40B4-BE49-F238E27FC236}">
                <a16:creationId xmlns:a16="http://schemas.microsoft.com/office/drawing/2014/main" id="{A2A88343-1644-440B-B98D-0AB18C1F5425}"/>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35bcffe397c402f"/>
              </a:rPr>
              <a:t>Q30 p.36</a:t>
            </a:r>
          </a:p>
        </p:txBody>
      </p:sp>
      <p:sp>
        <p:nvSpPr>
          <p:cNvPr id="9" name="ref-Q31">
            <a:extLst xmlns:a="http://schemas.openxmlformats.org/drawingml/2006/main">
              <a:ext uri="{FF2B5EF4-FFF2-40B4-BE49-F238E27FC236}">
                <a16:creationId xmlns:a16="http://schemas.microsoft.com/office/drawing/2014/main" id="{4871D3BF-9C0E-4B4B-AEA1-6C95500C351B}"/>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50b716b7b6942f1"/>
              </a:rPr>
              <a:t>Q31 p.36</a:t>
            </a:r>
          </a:p>
        </p:txBody>
      </p:sp>
      <p:sp>
        <p:nvSpPr>
          <p:cNvPr id="10" name="ref-Q32">
            <a:extLst xmlns:a="http://schemas.openxmlformats.org/drawingml/2006/main">
              <a:ext uri="{FF2B5EF4-FFF2-40B4-BE49-F238E27FC236}">
                <a16:creationId xmlns:a16="http://schemas.microsoft.com/office/drawing/2014/main" id="{574D71D9-30F9-4458-AD5A-52D3CD625713}"/>
              </a:ext>
            </a:extLst>
          </p:cNvPr>
          <p:cNvSpPr>
            <a:spLocks xmlns:a="http://schemas.openxmlformats.org/drawingml/2006/main" noGrp="1"/>
          </p:cNvSpPr>
          <p:nvPr/>
        </p:nvSpPr>
        <p:spPr>
          <a:xfrm xmlns:a="http://schemas.openxmlformats.org/drawingml/2006/main">
            <a:off x="90106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f8b0cf27df74456"/>
              </a:rPr>
              <a:t>Q32 p.36</a:t>
            </a:r>
          </a:p>
        </p:txBody>
      </p:sp>
      <p:sp>
        <p:nvSpPr>
          <p:cNvPr id="11" name="ref-A07">
            <a:extLst xmlns:a="http://schemas.openxmlformats.org/drawingml/2006/main">
              <a:ext uri="{FF2B5EF4-FFF2-40B4-BE49-F238E27FC236}">
                <a16:creationId xmlns:a16="http://schemas.microsoft.com/office/drawing/2014/main" id="{C09A21CD-E2DE-40E8-AF4A-A34B25C9E52B}"/>
              </a:ext>
            </a:extLst>
          </p:cNvPr>
          <p:cNvSpPr>
            <a:spLocks xmlns:a="http://schemas.openxmlformats.org/drawingml/2006/main" noGrp="1"/>
          </p:cNvSpPr>
          <p:nvPr/>
        </p:nvSpPr>
        <p:spPr>
          <a:xfrm xmlns:a="http://schemas.openxmlformats.org/drawingml/2006/main">
            <a:off x="103727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2c45c1a45ef4c9b"/>
              </a:rPr>
              <a:t>A07</a:t>
            </a:r>
          </a:p>
        </p:txBody>
      </p:sp>
      <p:sp>
        <p:nvSpPr>
          <p:cNvPr id="12" name="disclosure">
            <a:extLst xmlns:a="http://schemas.openxmlformats.org/drawingml/2006/main">
              <a:ext uri="{FF2B5EF4-FFF2-40B4-BE49-F238E27FC236}">
                <a16:creationId xmlns:a16="http://schemas.microsoft.com/office/drawing/2014/main" id="{7D64CBD4-836B-4D70-95BF-04FDA6B468C3}"/>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資料に基づく代表例の配置。製品間の接続、全社での同等機能、全工程の自律化を認定する表ではない。</a:t>
            </a:r>
          </a:p>
        </p:txBody>
      </p:sp>
      <p:sp>
        <p:nvSpPr>
          <p:cNvPr id="13" name="page">
            <a:extLst xmlns:a="http://schemas.openxmlformats.org/drawingml/2006/main">
              <a:ext uri="{FF2B5EF4-FFF2-40B4-BE49-F238E27FC236}">
                <a16:creationId xmlns:a16="http://schemas.microsoft.com/office/drawing/2014/main" id="{597C2229-D191-47FD-8962-A94C6E0C798C}"/>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18 / 40</a:t>
            </a:r>
          </a:p>
        </p:txBody>
      </p:sp>
    </p:spTree>
    <p:extLst>
      <p:ext uri="{BB962C8B-B14F-4D97-AF65-F5344CB8AC3E}">
        <p14:creationId xmlns:p14="http://schemas.microsoft.com/office/powerpoint/2010/main" val="10025967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B07729C6-C14C-44C7-96B1-B588A1CB1EFD}"/>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技術の位置付け：計測・改善</a:t>
            </a:r>
          </a:p>
        </p:txBody>
      </p:sp>
      <p:sp>
        <p:nvSpPr>
          <p:cNvPr id="2" name="context">
            <a:extLst xmlns:a="http://schemas.openxmlformats.org/drawingml/2006/main">
              <a:ext uri="{FF2B5EF4-FFF2-40B4-BE49-F238E27FC236}">
                <a16:creationId xmlns:a16="http://schemas.microsoft.com/office/drawing/2014/main" id="{2024A7D3-EB55-4D8A-9913-0A02CCAC1F78}"/>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顧客が任せたい仕事と、技術が担う判断・実行を対応付ける。企業例には開発計画・研究を含む。</a:t>
            </a:r>
          </a:p>
        </p:txBody>
      </p:sp>
      <p:graphicFrame>
        <p:nvGraphicFramePr>
          <p:cNvPr id="3" name="">
            <a:extLst xmlns:a="http://schemas.openxmlformats.org/drawingml/2006/main">
              <a:ext uri="{FF2B5EF4-FFF2-40B4-BE49-F238E27FC236}">
                <a16:creationId xmlns:a16="http://schemas.microsoft.com/office/drawing/2014/main" id="{761CF589-677E-439F-827E-5BAE5C8DF272}"/>
              </a:ext>
            </a:extLst>
          </p:cNvPr>
          <p:cNvGraphicFramePr/>
          <p:nvPr/>
        </p:nvGraphicFramePr>
        <p:xfrm>
          <a:off xmlns:a="http://schemas.openxmlformats.org/drawingml/2006/main" x="819150" y="2571750"/>
          <a:ext xmlns:a="http://schemas.openxmlformats.org/drawingml/2006/main" cx="16649700" cy="6096000"/>
        </p:xfrm>
        <a:graphic xmlns:a="http://schemas.openxmlformats.org/drawingml/2006/main">
          <a:graphicData uri="http://schemas.openxmlformats.org/drawingml/2006/table">
            <a:tbl>
              <a:tblPr/>
              <a:tblGrid>
                <a:gridCol w="3571875"/>
                <a:gridCol w="4476750"/>
                <a:gridCol w="4429125"/>
                <a:gridCol w="4171950"/>
              </a:tblGrid>
              <a:tr h="666750">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顧客タスク</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代表的な入力と出力</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企業例・担う役割</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境界と確認点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809750">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T09 計測・検査・品質判定</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測定、画像、仕様</a:t>
                      </a:r>
                    </a:p>
                    <a:p>
                      <a:pPr>
                        <a:lnSpc>
                          <a:spcPct val="108000"/>
                        </a:lnSpc>
                        <a:buNone/>
                      </a:pPr>
                      <a:r>
                        <a:rPr sz="2025" b="0">
                          <a:solidFill>
                            <a:srgbClr val="183C4D"/>
                          </a:solidFill>
                          <a:latin typeface="Noto Sans JP"/>
                          <a:ea typeface="Noto Sans JP"/>
                          <a:cs typeface="Noto Sans JP"/>
                        </a:rPr>
                        <a:t>合否・偏差と次の対応</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計測各社、オムロン</a:t>
                      </a:r>
                    </a:p>
                    <a:p>
                      <a:pPr>
                        <a:lnSpc>
                          <a:spcPct val="108000"/>
                        </a:lnSpc>
                        <a:buNone/>
                      </a:pPr>
                      <a:r>
                        <a:rPr sz="2025" b="0">
                          <a:solidFill>
                            <a:srgbClr val="183C4D"/>
                          </a:solidFill>
                          <a:latin typeface="Noto Sans JP"/>
                          <a:ea typeface="Noto Sans JP"/>
                          <a:cs typeface="Noto Sans JP"/>
                        </a:rPr>
                        <a:t>測定と工程データの対応</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判定結果を何に戻すか</a:t>
                      </a:r>
                    </a:p>
                    <a:p>
                      <a:pPr>
                        <a:lnSpc>
                          <a:spcPct val="108000"/>
                        </a:lnSpc>
                        <a:buNone/>
                      </a:pPr>
                      <a:r>
                        <a:rPr sz="2025" b="0">
                          <a:solidFill>
                            <a:srgbClr val="183C4D"/>
                          </a:solidFill>
                          <a:latin typeface="Noto Sans JP"/>
                          <a:ea typeface="Noto Sans JP"/>
                          <a:cs typeface="Noto Sans JP"/>
                        </a:rPr>
                        <a:t>誤判定・未経験条件の扱い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809750">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T10 原因分析・改善策</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不良、材料、設備、作業</a:t>
                      </a:r>
                    </a:p>
                    <a:p>
                      <a:pPr>
                        <a:lnSpc>
                          <a:spcPct val="108000"/>
                        </a:lnSpc>
                        <a:buNone/>
                      </a:pPr>
                      <a:r>
                        <a:rPr sz="2025" b="0">
                          <a:solidFill>
                            <a:srgbClr val="183C4D"/>
                          </a:solidFill>
                          <a:latin typeface="Noto Sans JP"/>
                          <a:ea typeface="Noto Sans JP"/>
                          <a:cs typeface="Noto Sans JP"/>
                        </a:rPr>
                        <a:t>原因候補と検証案</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東芝、オムロン</a:t>
                      </a:r>
                    </a:p>
                    <a:p>
                      <a:pPr>
                        <a:lnSpc>
                          <a:spcPct val="108000"/>
                        </a:lnSpc>
                        <a:buNone/>
                      </a:pPr>
                      <a:r>
                        <a:rPr sz="2025" b="0">
                          <a:solidFill>
                            <a:srgbClr val="183C4D"/>
                          </a:solidFill>
                          <a:latin typeface="Noto Sans JP"/>
                          <a:ea typeface="Noto Sans JP"/>
                          <a:cs typeface="Noto Sans JP"/>
                        </a:rPr>
                        <a:t>分析手順・数値計算と知識</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事実と解釈の区別</a:t>
                      </a:r>
                    </a:p>
                    <a:p>
                      <a:pPr>
                        <a:lnSpc>
                          <a:spcPct val="108000"/>
                        </a:lnSpc>
                        <a:buNone/>
                      </a:pPr>
                      <a:r>
                        <a:rPr sz="2025" b="0">
                          <a:solidFill>
                            <a:srgbClr val="183C4D"/>
                          </a:solidFill>
                          <a:latin typeface="Noto Sans JP"/>
                          <a:ea typeface="Noto Sans JP"/>
                          <a:cs typeface="Noto Sans JP"/>
                        </a:rPr>
                        <a:t>対処後の効果の確認</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809750">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T11 保全・復旧支援</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診断、履歴、部品の情報</a:t>
                      </a:r>
                    </a:p>
                    <a:p>
                      <a:pPr>
                        <a:lnSpc>
                          <a:spcPct val="108000"/>
                        </a:lnSpc>
                        <a:buNone/>
                      </a:pPr>
                      <a:r>
                        <a:rPr sz="2025" b="0">
                          <a:solidFill>
                            <a:srgbClr val="183C4D"/>
                          </a:solidFill>
                          <a:latin typeface="Noto Sans JP"/>
                          <a:ea typeface="Noto Sans JP"/>
                          <a:cs typeface="Noto Sans JP"/>
                        </a:rPr>
                        <a:t>保全判断と復旧の手順</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DMG森精機等</a:t>
                      </a:r>
                    </a:p>
                    <a:p>
                      <a:pPr>
                        <a:lnSpc>
                          <a:spcPct val="108000"/>
                        </a:lnSpc>
                        <a:buNone/>
                      </a:pPr>
                      <a:r>
                        <a:rPr sz="2025" b="0">
                          <a:solidFill>
                            <a:srgbClr val="183C4D"/>
                          </a:solidFill>
                          <a:latin typeface="Noto Sans JP"/>
                          <a:ea typeface="Noto Sans JP"/>
                          <a:cs typeface="Noto Sans JP"/>
                        </a:rPr>
                        <a:t>専用診断、修理知識とサービス</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部品・人・計画を含む復旧</a:t>
                      </a:r>
                    </a:p>
                    <a:p>
                      <a:pPr>
                        <a:lnSpc>
                          <a:spcPct val="108000"/>
                        </a:lnSpc>
                        <a:buNone/>
                      </a:pPr>
                      <a:r>
                        <a:rPr sz="2025" b="0">
                          <a:solidFill>
                            <a:srgbClr val="183C4D"/>
                          </a:solidFill>
                          <a:latin typeface="Noto Sans JP"/>
                          <a:ea typeface="Noto Sans JP"/>
                          <a:cs typeface="Noto Sans JP"/>
                        </a:rPr>
                        <a:t>停止損失と継続運用の費用</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ref-Q13">
            <a:extLst xmlns:a="http://schemas.openxmlformats.org/drawingml/2006/main">
              <a:ext uri="{FF2B5EF4-FFF2-40B4-BE49-F238E27FC236}">
                <a16:creationId xmlns:a16="http://schemas.microsoft.com/office/drawing/2014/main" id="{89EE4278-00E5-4E7C-AD03-5DC9A2DD691A}"/>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90fa64e1b044af2"/>
              </a:rPr>
              <a:t>Q13 p.32</a:t>
            </a:r>
          </a:p>
        </p:txBody>
      </p:sp>
      <p:sp>
        <p:nvSpPr>
          <p:cNvPr id="5" name="ref-Q26">
            <a:extLst xmlns:a="http://schemas.openxmlformats.org/drawingml/2006/main">
              <a:ext uri="{FF2B5EF4-FFF2-40B4-BE49-F238E27FC236}">
                <a16:creationId xmlns:a16="http://schemas.microsoft.com/office/drawing/2014/main" id="{7F94B74E-EF4B-410D-9E7F-6ED7F4E46A37}"/>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79362d2421924b79"/>
              </a:rPr>
              <a:t>Q26 p.35</a:t>
            </a:r>
          </a:p>
        </p:txBody>
      </p:sp>
      <p:sp>
        <p:nvSpPr>
          <p:cNvPr id="6" name="ref-Q29">
            <a:extLst xmlns:a="http://schemas.openxmlformats.org/drawingml/2006/main">
              <a:ext uri="{FF2B5EF4-FFF2-40B4-BE49-F238E27FC236}">
                <a16:creationId xmlns:a16="http://schemas.microsoft.com/office/drawing/2014/main" id="{51591496-584C-43BE-BBD1-36258A972390}"/>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e71c5b12b884e94"/>
              </a:rPr>
              <a:t>Q29 p.36</a:t>
            </a:r>
          </a:p>
        </p:txBody>
      </p:sp>
      <p:sp>
        <p:nvSpPr>
          <p:cNvPr id="7" name="ref-Q33">
            <a:extLst xmlns:a="http://schemas.openxmlformats.org/drawingml/2006/main">
              <a:ext uri="{FF2B5EF4-FFF2-40B4-BE49-F238E27FC236}">
                <a16:creationId xmlns:a16="http://schemas.microsoft.com/office/drawing/2014/main" id="{265EF2E6-2888-4977-9F33-F2B044E58357}"/>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1ba4d6268ab6467c"/>
              </a:rPr>
              <a:t>Q33 p.37</a:t>
            </a:r>
          </a:p>
        </p:txBody>
      </p:sp>
      <p:sp>
        <p:nvSpPr>
          <p:cNvPr id="8" name="ref-Q35">
            <a:extLst xmlns:a="http://schemas.openxmlformats.org/drawingml/2006/main">
              <a:ext uri="{FF2B5EF4-FFF2-40B4-BE49-F238E27FC236}">
                <a16:creationId xmlns:a16="http://schemas.microsoft.com/office/drawing/2014/main" id="{3E5837EB-1DA1-40C0-A626-9933FB7B7DD4}"/>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3a3ee0853d84f2b"/>
              </a:rPr>
              <a:t>Q35 p.37</a:t>
            </a:r>
          </a:p>
        </p:txBody>
      </p:sp>
      <p:sp>
        <p:nvSpPr>
          <p:cNvPr id="9" name="ref-Q46">
            <a:extLst xmlns:a="http://schemas.openxmlformats.org/drawingml/2006/main">
              <a:ext uri="{FF2B5EF4-FFF2-40B4-BE49-F238E27FC236}">
                <a16:creationId xmlns:a16="http://schemas.microsoft.com/office/drawing/2014/main" id="{85C9A045-4B3A-4580-9F21-A0916E7C35A9}"/>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bdbe9007e554ece"/>
              </a:rPr>
              <a:t>Q46 p.40</a:t>
            </a:r>
          </a:p>
        </p:txBody>
      </p:sp>
      <p:sp>
        <p:nvSpPr>
          <p:cNvPr id="10" name="disclosure">
            <a:extLst xmlns:a="http://schemas.openxmlformats.org/drawingml/2006/main">
              <a:ext uri="{FF2B5EF4-FFF2-40B4-BE49-F238E27FC236}">
                <a16:creationId xmlns:a16="http://schemas.microsoft.com/office/drawing/2014/main" id="{6E7D32CA-AB30-4D74-A744-21D5F1CF3E8E}"/>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資料に基づく代表例の配置。製品間の接続、全社での同等機能、全工程の自律化を認定する表ではない。</a:t>
            </a:r>
          </a:p>
        </p:txBody>
      </p:sp>
      <p:sp>
        <p:nvSpPr>
          <p:cNvPr id="11" name="page">
            <a:extLst xmlns:a="http://schemas.openxmlformats.org/drawingml/2006/main">
              <a:ext uri="{FF2B5EF4-FFF2-40B4-BE49-F238E27FC236}">
                <a16:creationId xmlns:a16="http://schemas.microsoft.com/office/drawing/2014/main" id="{6C878A9C-C101-425B-B5FA-47A67495E57C}"/>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19 / 40</a:t>
            </a:r>
          </a:p>
        </p:txBody>
      </p:sp>
    </p:spTree>
    <p:extLst>
      <p:ext uri="{BB962C8B-B14F-4D97-AF65-F5344CB8AC3E}">
        <p14:creationId xmlns:p14="http://schemas.microsoft.com/office/powerpoint/2010/main" val="20648964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heading">
            <a:extLst xmlns:a="http://schemas.openxmlformats.org/drawingml/2006/main">
              <a:ext uri="{FF2B5EF4-FFF2-40B4-BE49-F238E27FC236}">
                <a16:creationId xmlns:a16="http://schemas.microsoft.com/office/drawing/2014/main" id="{C4D38BF5-1EF0-401C-BF54-338599FE0303}"/>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横断基盤と、工程間の連携</a:t>
            </a:r>
          </a:p>
        </p:txBody>
      </p:sp>
      <p:sp>
        <p:nvSpPr>
          <p:cNvPr id="2" name="context">
            <a:extLst xmlns:a="http://schemas.openxmlformats.org/drawingml/2006/main">
              <a:ext uri="{FF2B5EF4-FFF2-40B4-BE49-F238E27FC236}">
                <a16:creationId xmlns:a16="http://schemas.microsoft.com/office/drawing/2014/main" id="{A89D0FB7-AF15-4417-83CA-EDDB337C0646}"/>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顧客が任せたい仕事と、技術が担う判断・実行を対応付ける。企業例には開発計画・研究を含む。</a:t>
            </a:r>
          </a:p>
        </p:txBody>
      </p:sp>
      <p:graphicFrame>
        <p:nvGraphicFramePr>
          <p:cNvPr id="3" name="">
            <a:extLst xmlns:a="http://schemas.openxmlformats.org/drawingml/2006/main">
              <a:ext uri="{FF2B5EF4-FFF2-40B4-BE49-F238E27FC236}">
                <a16:creationId xmlns:a16="http://schemas.microsoft.com/office/drawing/2014/main" id="{D9CE2415-9A3A-4E93-B830-8AFFFEDB5A2C}"/>
              </a:ext>
            </a:extLst>
          </p:cNvPr>
          <p:cNvGraphicFramePr/>
          <p:nvPr/>
        </p:nvGraphicFramePr>
        <p:xfrm>
          <a:off xmlns:a="http://schemas.openxmlformats.org/drawingml/2006/main" x="819150" y="2571750"/>
          <a:ext xmlns:a="http://schemas.openxmlformats.org/drawingml/2006/main" cx="16649700" cy="6096000"/>
        </p:xfrm>
        <a:graphic xmlns:a="http://schemas.openxmlformats.org/drawingml/2006/main">
          <a:graphicData uri="http://schemas.openxmlformats.org/drawingml/2006/table">
            <a:tbl>
              <a:tblPr/>
              <a:tblGrid>
                <a:gridCol w="3571875"/>
                <a:gridCol w="4476750"/>
                <a:gridCol w="4429125"/>
                <a:gridCol w="4171950"/>
              </a:tblGrid>
              <a:tr h="666750">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顧客タスク</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代表的な入力と出力</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企業例・担う役割</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境界と確認点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809750">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T12 取得・モデル化・検証</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現象と目的から取得設計</a:t>
                      </a:r>
                    </a:p>
                    <a:p>
                      <a:pPr>
                        <a:lnSpc>
                          <a:spcPct val="108000"/>
                        </a:lnSpc>
                        <a:buNone/>
                      </a:pPr>
                      <a:r>
                        <a:rPr sz="2025" b="0">
                          <a:solidFill>
                            <a:srgbClr val="183C4D"/>
                          </a:solidFill>
                          <a:latin typeface="Noto Sans JP"/>
                          <a:ea typeface="Noto Sans JP"/>
                          <a:cs typeface="Noto Sans JP"/>
                        </a:rPr>
                        <a:t>学習・評価と適用範囲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産総研、Third Wave Systems</a:t>
                      </a:r>
                    </a:p>
                    <a:p>
                      <a:pPr>
                        <a:lnSpc>
                          <a:spcPct val="108000"/>
                        </a:lnSpc>
                        <a:buNone/>
                      </a:pPr>
                      <a:r>
                        <a:rPr sz="2025" b="0">
                          <a:solidFill>
                            <a:srgbClr val="183C4D"/>
                          </a:solidFill>
                          <a:latin typeface="Noto Sans JP"/>
                          <a:ea typeface="Noto Sans JP"/>
                          <a:cs typeface="Noto Sans JP"/>
                        </a:rPr>
                        <a:t>Beckhoff、三菱電機等</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同期、条件、品質との対応</a:t>
                      </a:r>
                    </a:p>
                    <a:p>
                      <a:pPr>
                        <a:lnSpc>
                          <a:spcPct val="108000"/>
                        </a:lnSpc>
                        <a:buNone/>
                      </a:pPr>
                      <a:r>
                        <a:rPr sz="2025" b="0">
                          <a:solidFill>
                            <a:srgbClr val="183C4D"/>
                          </a:solidFill>
                          <a:latin typeface="Noto Sans JP"/>
                          <a:ea typeface="Noto Sans JP"/>
                          <a:cs typeface="Noto Sans JP"/>
                        </a:rPr>
                        <a:t>実行先・権利とモデルの範囲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809750">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T13 技能・判断の再利用</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目的、制約、選択理由</a:t>
                      </a:r>
                    </a:p>
                    <a:p>
                      <a:pPr>
                        <a:lnSpc>
                          <a:spcPct val="108000"/>
                        </a:lnSpc>
                        <a:buNone/>
                      </a:pPr>
                      <a:r>
                        <a:rPr sz="2025" b="0">
                          <a:solidFill>
                            <a:srgbClr val="183C4D"/>
                          </a:solidFill>
                          <a:latin typeface="Noto Sans JP"/>
                          <a:ea typeface="Noto Sans JP"/>
                          <a:cs typeface="Noto Sans JP"/>
                        </a:rPr>
                        <a:t>結果と次の業務で使う知識</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マザック、Hexagon、東芝</a:t>
                      </a:r>
                    </a:p>
                    <a:p>
                      <a:pPr>
                        <a:lnSpc>
                          <a:spcPct val="108000"/>
                        </a:lnSpc>
                        <a:buNone/>
                      </a:pPr>
                      <a:r>
                        <a:rPr sz="2025" b="0">
                          <a:solidFill>
                            <a:srgbClr val="183C4D"/>
                          </a:solidFill>
                          <a:latin typeface="Noto Sans JP"/>
                          <a:ea typeface="Noto Sans JP"/>
                          <a:cs typeface="Noto Sans JP"/>
                        </a:rPr>
                        <a:t>DMG森精機の修理・改善知識</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入力負担、例外、不採用案</a:t>
                      </a:r>
                    </a:p>
                    <a:p>
                      <a:pPr>
                        <a:lnSpc>
                          <a:spcPct val="108000"/>
                        </a:lnSpc>
                        <a:buNone/>
                      </a:pPr>
                      <a:r>
                        <a:rPr sz="2025" b="0">
                          <a:solidFill>
                            <a:srgbClr val="183C4D"/>
                          </a:solidFill>
                          <a:latin typeface="Noto Sans JP"/>
                          <a:ea typeface="Noto Sans JP"/>
                          <a:cs typeface="Noto Sans JP"/>
                        </a:rPr>
                        <a:t>再利用できない条件</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809750">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T14 工程・工場全体の</a:t>
                      </a:r>
                    </a:p>
                    <a:p>
                      <a:pPr>
                        <a:lnSpc>
                          <a:spcPct val="108000"/>
                        </a:lnSpc>
                        <a:buNone/>
                      </a:pPr>
                      <a:r>
                        <a:rPr sz="2025" b="1">
                          <a:solidFill>
                            <a:srgbClr val="183C4D"/>
                          </a:solidFill>
                          <a:latin typeface="Noto Sans JP"/>
                          <a:ea typeface="Noto Sans JP"/>
                          <a:cs typeface="Noto Sans JP"/>
                        </a:rPr>
                        <a:t>最適化</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各工程の能力・制約・進捗</a:t>
                      </a:r>
                    </a:p>
                    <a:p>
                      <a:pPr>
                        <a:lnSpc>
                          <a:spcPct val="108000"/>
                        </a:lnSpc>
                        <a:buNone/>
                      </a:pPr>
                      <a:r>
                        <a:rPr sz="2025" b="0">
                          <a:solidFill>
                            <a:srgbClr val="183C4D"/>
                          </a:solidFill>
                          <a:latin typeface="Noto Sans JP"/>
                          <a:ea typeface="Noto Sans JP"/>
                          <a:cs typeface="Noto Sans JP"/>
                        </a:rPr>
                        <a:t>変更と実行への反映</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Siemens、NEC、富士通</a:t>
                      </a:r>
                    </a:p>
                    <a:p>
                      <a:pPr>
                        <a:lnSpc>
                          <a:spcPct val="108000"/>
                        </a:lnSpc>
                        <a:buNone/>
                      </a:pPr>
                      <a:r>
                        <a:rPr sz="2025" b="0">
                          <a:solidFill>
                            <a:srgbClr val="183C4D"/>
                          </a:solidFill>
                          <a:latin typeface="Noto Sans JP"/>
                          <a:ea typeface="Noto Sans JP"/>
                          <a:cs typeface="Noto Sans JP"/>
                        </a:rPr>
                        <a:t>コマツ／産総研等</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接続の意味と実行責任</a:t>
                      </a:r>
                    </a:p>
                    <a:p>
                      <a:pPr>
                        <a:lnSpc>
                          <a:spcPct val="108000"/>
                        </a:lnSpc>
                        <a:buNone/>
                      </a:pPr>
                      <a:r>
                        <a:rPr sz="2025" b="0">
                          <a:solidFill>
                            <a:srgbClr val="183C4D"/>
                          </a:solidFill>
                          <a:latin typeface="Noto Sans JP"/>
                          <a:ea typeface="Noto Sans JP"/>
                          <a:cs typeface="Noto Sans JP"/>
                        </a:rPr>
                        <a:t>局所改善が全体に与える効果</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ref-Q01">
            <a:extLst xmlns:a="http://schemas.openxmlformats.org/drawingml/2006/main">
              <a:ext uri="{FF2B5EF4-FFF2-40B4-BE49-F238E27FC236}">
                <a16:creationId xmlns:a16="http://schemas.microsoft.com/office/drawing/2014/main" id="{976C404E-A9DC-4775-8271-0FD2B5C2EF7F}"/>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1c090006688a4b58"/>
              </a:rPr>
              <a:t>Q01 p.29</a:t>
            </a:r>
          </a:p>
        </p:txBody>
      </p:sp>
      <p:sp>
        <p:nvSpPr>
          <p:cNvPr id="5" name="ref-Q05">
            <a:extLst xmlns:a="http://schemas.openxmlformats.org/drawingml/2006/main">
              <a:ext uri="{FF2B5EF4-FFF2-40B4-BE49-F238E27FC236}">
                <a16:creationId xmlns:a16="http://schemas.microsoft.com/office/drawing/2014/main" id="{59FE3A8D-949D-4EBC-AEE8-65F193DA7A79}"/>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18994a903a6f4130"/>
              </a:rPr>
              <a:t>Q05 p.30</a:t>
            </a:r>
          </a:p>
        </p:txBody>
      </p:sp>
      <p:sp>
        <p:nvSpPr>
          <p:cNvPr id="6" name="ref-Q11">
            <a:extLst xmlns:a="http://schemas.openxmlformats.org/drawingml/2006/main">
              <a:ext uri="{FF2B5EF4-FFF2-40B4-BE49-F238E27FC236}">
                <a16:creationId xmlns:a16="http://schemas.microsoft.com/office/drawing/2014/main" id="{C9C35A87-E894-45FD-B409-6FA956F2BB73}"/>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bf61b63009b4652"/>
              </a:rPr>
              <a:t>Q11 p.31</a:t>
            </a:r>
          </a:p>
        </p:txBody>
      </p:sp>
      <p:sp>
        <p:nvSpPr>
          <p:cNvPr id="7" name="ref-Q14">
            <a:extLst xmlns:a="http://schemas.openxmlformats.org/drawingml/2006/main">
              <a:ext uri="{FF2B5EF4-FFF2-40B4-BE49-F238E27FC236}">
                <a16:creationId xmlns:a16="http://schemas.microsoft.com/office/drawing/2014/main" id="{C298B98B-DB66-4C0D-8149-123673B44934}"/>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dfb26fa27f14dea"/>
              </a:rPr>
              <a:t>Q14 p.32</a:t>
            </a:r>
          </a:p>
        </p:txBody>
      </p:sp>
      <p:sp>
        <p:nvSpPr>
          <p:cNvPr id="8" name="ref-Q16">
            <a:extLst xmlns:a="http://schemas.openxmlformats.org/drawingml/2006/main">
              <a:ext uri="{FF2B5EF4-FFF2-40B4-BE49-F238E27FC236}">
                <a16:creationId xmlns:a16="http://schemas.microsoft.com/office/drawing/2014/main" id="{186183C5-08B7-40F8-AA29-4182F4C5A247}"/>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d11d12e61fd4838"/>
              </a:rPr>
              <a:t>Q16 p.32</a:t>
            </a:r>
          </a:p>
        </p:txBody>
      </p:sp>
      <p:sp>
        <p:nvSpPr>
          <p:cNvPr id="9" name="ref-Q35">
            <a:extLst xmlns:a="http://schemas.openxmlformats.org/drawingml/2006/main">
              <a:ext uri="{FF2B5EF4-FFF2-40B4-BE49-F238E27FC236}">
                <a16:creationId xmlns:a16="http://schemas.microsoft.com/office/drawing/2014/main" id="{57F99937-2EE1-4D3E-8C83-BBDF294F8CD6}"/>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995d323e0bc4830"/>
              </a:rPr>
              <a:t>Q35 p.37</a:t>
            </a:r>
          </a:p>
        </p:txBody>
      </p:sp>
      <p:sp>
        <p:nvSpPr>
          <p:cNvPr id="10" name="ref-Q39">
            <a:extLst xmlns:a="http://schemas.openxmlformats.org/drawingml/2006/main">
              <a:ext uri="{FF2B5EF4-FFF2-40B4-BE49-F238E27FC236}">
                <a16:creationId xmlns:a16="http://schemas.microsoft.com/office/drawing/2014/main" id="{0E6F2E7D-07FC-46C8-AE8E-196ECA7006FC}"/>
              </a:ext>
            </a:extLst>
          </p:cNvPr>
          <p:cNvSpPr>
            <a:spLocks xmlns:a="http://schemas.openxmlformats.org/drawingml/2006/main" noGrp="1"/>
          </p:cNvSpPr>
          <p:nvPr/>
        </p:nvSpPr>
        <p:spPr>
          <a:xfrm xmlns:a="http://schemas.openxmlformats.org/drawingml/2006/main">
            <a:off x="90106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e84d0fc86f984ace"/>
              </a:rPr>
              <a:t>Q39 p.38</a:t>
            </a:r>
          </a:p>
        </p:txBody>
      </p:sp>
      <p:sp>
        <p:nvSpPr>
          <p:cNvPr id="11" name="ref-Q42">
            <a:extLst xmlns:a="http://schemas.openxmlformats.org/drawingml/2006/main">
              <a:ext uri="{FF2B5EF4-FFF2-40B4-BE49-F238E27FC236}">
                <a16:creationId xmlns:a16="http://schemas.microsoft.com/office/drawing/2014/main" id="{FB00AD18-AF5A-4AEF-AC92-02BFE0AF26A1}"/>
              </a:ext>
            </a:extLst>
          </p:cNvPr>
          <p:cNvSpPr>
            <a:spLocks xmlns:a="http://schemas.openxmlformats.org/drawingml/2006/main" noGrp="1"/>
          </p:cNvSpPr>
          <p:nvPr/>
        </p:nvSpPr>
        <p:spPr>
          <a:xfrm xmlns:a="http://schemas.openxmlformats.org/drawingml/2006/main">
            <a:off x="103727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ab553ce61bc248a9"/>
              </a:rPr>
              <a:t>Q42 p.39</a:t>
            </a:r>
          </a:p>
        </p:txBody>
      </p:sp>
      <p:sp>
        <p:nvSpPr>
          <p:cNvPr id="12" name="ref-Q45">
            <a:extLst xmlns:a="http://schemas.openxmlformats.org/drawingml/2006/main">
              <a:ext uri="{FF2B5EF4-FFF2-40B4-BE49-F238E27FC236}">
                <a16:creationId xmlns:a16="http://schemas.microsoft.com/office/drawing/2014/main" id="{D1CC10B9-2A30-4969-B0EF-1A0C6E6B743D}"/>
              </a:ext>
            </a:extLst>
          </p:cNvPr>
          <p:cNvSpPr>
            <a:spLocks xmlns:a="http://schemas.openxmlformats.org/drawingml/2006/main" noGrp="1"/>
          </p:cNvSpPr>
          <p:nvPr/>
        </p:nvSpPr>
        <p:spPr>
          <a:xfrm xmlns:a="http://schemas.openxmlformats.org/drawingml/2006/main">
            <a:off x="117348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a54481507c644a8"/>
              </a:rPr>
              <a:t>Q45 p.40</a:t>
            </a:r>
          </a:p>
        </p:txBody>
      </p:sp>
      <p:sp>
        <p:nvSpPr>
          <p:cNvPr id="13" name="disclosure">
            <a:extLst xmlns:a="http://schemas.openxmlformats.org/drawingml/2006/main">
              <a:ext uri="{FF2B5EF4-FFF2-40B4-BE49-F238E27FC236}">
                <a16:creationId xmlns:a16="http://schemas.microsoft.com/office/drawing/2014/main" id="{7B832305-C418-4D8D-87A9-0F2342157DBE}"/>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資料に基づく代表例の配置。製品間の接続、全社での同等機能、全工程の自律化を認定する表ではない。</a:t>
            </a:r>
          </a:p>
        </p:txBody>
      </p:sp>
      <p:sp>
        <p:nvSpPr>
          <p:cNvPr id="14" name="page">
            <a:extLst xmlns:a="http://schemas.openxmlformats.org/drawingml/2006/main">
              <a:ext uri="{FF2B5EF4-FFF2-40B4-BE49-F238E27FC236}">
                <a16:creationId xmlns:a16="http://schemas.microsoft.com/office/drawing/2014/main" id="{36889A00-ADA0-47A3-8A48-07E0DB46A95D}"/>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20 / 40</a:t>
            </a:r>
          </a:p>
        </p:txBody>
      </p:sp>
    </p:spTree>
    <p:extLst>
      <p:ext uri="{BB962C8B-B14F-4D97-AF65-F5344CB8AC3E}">
        <p14:creationId xmlns:p14="http://schemas.microsoft.com/office/powerpoint/2010/main" val="127363867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9926176C-EEFC-40CC-A236-16D0407B37F2}"/>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追加調査の成果：加工モデルとデータの接続</a:t>
            </a:r>
          </a:p>
        </p:txBody>
      </p:sp>
      <p:sp>
        <p:nvSpPr>
          <p:cNvPr id="2" name="context">
            <a:extLst xmlns:a="http://schemas.openxmlformats.org/drawingml/2006/main">
              <a:ext uri="{FF2B5EF4-FFF2-40B4-BE49-F238E27FC236}">
                <a16:creationId xmlns:a16="http://schemas.microsoft.com/office/drawing/2014/main" id="{5061669E-66DF-4281-97C3-85D054D847E2}"/>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40資料から生じた問いを、仕様、先行サービス、研究、事業検討、契約の説明まで追った。</a:t>
            </a:r>
          </a:p>
        </p:txBody>
      </p:sp>
      <p:graphicFrame>
        <p:nvGraphicFramePr>
          <p:cNvPr id="3" name="">
            <a:extLst xmlns:a="http://schemas.openxmlformats.org/drawingml/2006/main">
              <a:ext uri="{FF2B5EF4-FFF2-40B4-BE49-F238E27FC236}">
                <a16:creationId xmlns:a16="http://schemas.microsoft.com/office/drawing/2014/main" id="{71BD8256-0248-46D5-A90B-7B458007D0F8}"/>
              </a:ext>
            </a:extLst>
          </p:cNvPr>
          <p:cNvGraphicFramePr/>
          <p:nvPr/>
        </p:nvGraphicFramePr>
        <p:xfrm>
          <a:off xmlns:a="http://schemas.openxmlformats.org/drawingml/2006/main" x="819150" y="2381250"/>
          <a:ext xmlns:a="http://schemas.openxmlformats.org/drawingml/2006/main" cx="16649700" cy="6553200"/>
        </p:xfrm>
        <a:graphic xmlns:a="http://schemas.openxmlformats.org/drawingml/2006/main">
          <a:graphicData uri="http://schemas.openxmlformats.org/drawingml/2006/table">
            <a:tbl>
              <a:tblPr/>
              <a:tblGrid>
                <a:gridCol w="4095750"/>
                <a:gridCol w="8239125"/>
                <a:gridCol w="4314825"/>
              </a:tblGrid>
              <a:tr h="609600">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原典・対象</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得られた内容と意味</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確認範囲・留保</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99060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A01</a:t>
                      </a:r>
                    </a:p>
                    <a:p>
                      <a:pPr>
                        <a:lnSpc>
                          <a:spcPct val="108000"/>
                        </a:lnSpc>
                        <a:buNone/>
                      </a:pPr>
                      <a:r>
                        <a:rPr sz="1800" b="1">
                          <a:solidFill>
                            <a:srgbClr val="183C4D"/>
                          </a:solidFill>
                          <a:latin typeface="Noto Sans JP"/>
                          <a:ea typeface="Noto Sans JP"/>
                          <a:cs typeface="Noto Sans JP"/>
                        </a:rPr>
                        <a:t>Third Wave Systems</a:t>
                      </a:r>
                    </a:p>
                    <a:p>
                      <a:pPr>
                        <a:lnSpc>
                          <a:spcPct val="108000"/>
                        </a:lnSpc>
                        <a:buNone/>
                      </a:pPr>
                      <a:r>
                        <a:rPr sz="1800" b="1">
                          <a:solidFill>
                            <a:srgbClr val="183C4D"/>
                          </a:solidFill>
                          <a:latin typeface="Noto Sans JP"/>
                          <a:ea typeface="Noto Sans JP"/>
                          <a:cs typeface="Noto Sans JP"/>
                        </a:rPr>
                        <a:t>材料モデルのサービス</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材料モデル作成を試験・照合まで含むサービスとして確認</a:t>
                      </a:r>
                    </a:p>
                    <a:p>
                      <a:pPr>
                        <a:lnSpc>
                          <a:spcPct val="108000"/>
                        </a:lnSpc>
                        <a:buNone/>
                      </a:pPr>
                      <a:r>
                        <a:rPr sz="1800" b="0">
                          <a:solidFill>
                            <a:srgbClr val="183C4D"/>
                          </a:solidFill>
                          <a:latin typeface="Noto Sans JP"/>
                          <a:ea typeface="Noto Sans JP"/>
                          <a:cs typeface="Noto Sans JP"/>
                        </a:rPr>
                        <a:t>材料試験、構成則の作成、解析、実切削との照合という仕事へ具体化できる。</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既存の商用サービス。未開拓分野とい</a:t>
                      </a:r>
                    </a:p>
                    <a:p>
                      <a:pPr>
                        <a:lnSpc>
                          <a:spcPct val="108000"/>
                        </a:lnSpc>
                        <a:buNone/>
                      </a:pPr>
                      <a:r>
                        <a:rPr sz="1800" b="0">
                          <a:solidFill>
                            <a:srgbClr val="183C4D"/>
                          </a:solidFill>
                          <a:latin typeface="Noto Sans JP"/>
                          <a:ea typeface="Noto Sans JP"/>
                          <a:cs typeface="Noto Sans JP"/>
                        </a:rPr>
                        <a:t>う主張には使わない。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99060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A02</a:t>
                      </a:r>
                    </a:p>
                    <a:p>
                      <a:pPr>
                        <a:lnSpc>
                          <a:spcPct val="108000"/>
                        </a:lnSpc>
                        <a:buNone/>
                      </a:pPr>
                      <a:r>
                        <a:rPr sz="1800" b="1">
                          <a:solidFill>
                            <a:srgbClr val="183C4D"/>
                          </a:solidFill>
                          <a:latin typeface="Noto Sans JP"/>
                          <a:ea typeface="Noto Sans JP"/>
                          <a:cs typeface="Noto Sans JP"/>
                        </a:rPr>
                        <a:t>Third Wave Systems</a:t>
                      </a:r>
                    </a:p>
                    <a:p>
                      <a:pPr>
                        <a:lnSpc>
                          <a:spcPct val="108000"/>
                        </a:lnSpc>
                        <a:buNone/>
                      </a:pPr>
                      <a:r>
                        <a:rPr sz="1800" b="1">
                          <a:solidFill>
                            <a:srgbClr val="183C4D"/>
                          </a:solidFill>
                          <a:latin typeface="Noto Sans JP"/>
                          <a:ea typeface="Noto Sans JP"/>
                          <a:cs typeface="Noto Sans JP"/>
                        </a:rPr>
                        <a:t>AdvantEdge</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直接測りにくい内部状態を、モデルで推定する用途</a:t>
                      </a:r>
                    </a:p>
                    <a:p>
                      <a:pPr>
                        <a:lnSpc>
                          <a:spcPct val="108000"/>
                        </a:lnSpc>
                        <a:buNone/>
                      </a:pPr>
                      <a:r>
                        <a:rPr sz="1800" b="0">
                          <a:solidFill>
                            <a:srgbClr val="183C4D"/>
                          </a:solidFill>
                          <a:latin typeface="Noto Sans JP"/>
                          <a:ea typeface="Noto Sans JP"/>
                          <a:cs typeface="Noto Sans JP"/>
                        </a:rPr>
                        <a:t>温度・応力等の推定に対して、観測できる力・形状で何を検証するかが課題。</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製品説明。全条件の内部状態の精度を</a:t>
                      </a:r>
                    </a:p>
                    <a:p>
                      <a:pPr>
                        <a:lnSpc>
                          <a:spcPct val="108000"/>
                        </a:lnSpc>
                        <a:buNone/>
                      </a:pPr>
                      <a:r>
                        <a:rPr sz="1800" b="0">
                          <a:solidFill>
                            <a:srgbClr val="183C4D"/>
                          </a:solidFill>
                          <a:latin typeface="Noto Sans JP"/>
                          <a:ea typeface="Noto Sans JP"/>
                          <a:cs typeface="Noto Sans JP"/>
                        </a:rPr>
                        <a:t>保証する根拠ではない。</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99060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A03</a:t>
                      </a:r>
                    </a:p>
                    <a:p>
                      <a:pPr>
                        <a:lnSpc>
                          <a:spcPct val="108000"/>
                        </a:lnSpc>
                        <a:buNone/>
                      </a:pPr>
                      <a:r>
                        <a:rPr sz="1800" b="1">
                          <a:solidFill>
                            <a:srgbClr val="183C4D"/>
                          </a:solidFill>
                          <a:latin typeface="Noto Sans JP"/>
                          <a:ea typeface="Noto Sans JP"/>
                          <a:cs typeface="Noto Sans JP"/>
                        </a:rPr>
                        <a:t>Fraunhofer IPT</a:t>
                      </a:r>
                    </a:p>
                    <a:p>
                      <a:pPr>
                        <a:lnSpc>
                          <a:spcPct val="108000"/>
                        </a:lnSpc>
                        <a:buNone/>
                      </a:pPr>
                      <a:r>
                        <a:rPr sz="1800" b="1">
                          <a:solidFill>
                            <a:srgbClr val="183C4D"/>
                          </a:solidFill>
                          <a:latin typeface="Noto Sans JP"/>
                          <a:ea typeface="Noto Sans JP"/>
                          <a:cs typeface="Noto Sans JP"/>
                        </a:rPr>
                        <a:t>FEMmeetsDR</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詳細な物理計算を、工程設計で使う計算へ接続</a:t>
                      </a:r>
                    </a:p>
                    <a:p>
                      <a:pPr>
                        <a:lnSpc>
                          <a:spcPct val="108000"/>
                        </a:lnSpc>
                        <a:buNone/>
                      </a:pPr>
                      <a:r>
                        <a:rPr sz="1800" b="0">
                          <a:solidFill>
                            <a:srgbClr val="183C4D"/>
                          </a:solidFill>
                          <a:latin typeface="Noto Sans JP"/>
                          <a:ea typeface="Noto Sans JP"/>
                          <a:cs typeface="Noto Sans JP"/>
                        </a:rPr>
                        <a:t>解析の忠実さと、工具経路全体で使える計算負担の両立を開発対象にする。</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研究計画。全機能の商品化済みとは扱</a:t>
                      </a:r>
                    </a:p>
                    <a:p>
                      <a:pPr>
                        <a:lnSpc>
                          <a:spcPct val="108000"/>
                        </a:lnSpc>
                        <a:buNone/>
                      </a:pPr>
                      <a:r>
                        <a:rPr sz="1800" b="0">
                          <a:solidFill>
                            <a:srgbClr val="183C4D"/>
                          </a:solidFill>
                          <a:latin typeface="Noto Sans JP"/>
                          <a:ea typeface="Noto Sans JP"/>
                          <a:cs typeface="Noto Sans JP"/>
                        </a:rPr>
                        <a:t>わない。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99060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A04</a:t>
                      </a:r>
                    </a:p>
                    <a:p>
                      <a:pPr>
                        <a:lnSpc>
                          <a:spcPct val="108000"/>
                        </a:lnSpc>
                        <a:buNone/>
                      </a:pPr>
                      <a:r>
                        <a:rPr sz="1800" b="1">
                          <a:solidFill>
                            <a:srgbClr val="183C4D"/>
                          </a:solidFill>
                          <a:latin typeface="Noto Sans JP"/>
                          <a:ea typeface="Noto Sans JP"/>
                          <a:cs typeface="Noto Sans JP"/>
                        </a:rPr>
                        <a:t>Fraunhofer IPT・RWTH</a:t>
                      </a:r>
                    </a:p>
                    <a:p>
                      <a:pPr>
                        <a:lnSpc>
                          <a:spcPct val="108000"/>
                        </a:lnSpc>
                        <a:buNone/>
                      </a:pPr>
                      <a:r>
                        <a:rPr sz="1800" b="1">
                          <a:solidFill>
                            <a:srgbClr val="183C4D"/>
                          </a:solidFill>
                          <a:latin typeface="Noto Sans JP"/>
                          <a:ea typeface="Noto Sans JP"/>
                          <a:cs typeface="Noto Sans JP"/>
                        </a:rPr>
                        <a:t>dPart</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CAM・加工・品質のデータを部品の履歴としてつなぐ</a:t>
                      </a:r>
                    </a:p>
                    <a:p>
                      <a:pPr>
                        <a:lnSpc>
                          <a:spcPct val="108000"/>
                        </a:lnSpc>
                        <a:buNone/>
                      </a:pPr>
                      <a:r>
                        <a:rPr sz="1800" b="0">
                          <a:solidFill>
                            <a:srgbClr val="183C4D"/>
                          </a:solidFill>
                          <a:latin typeface="Noto Sans JP"/>
                          <a:ea typeface="Noto Sans JP"/>
                          <a:cs typeface="Noto Sans JP"/>
                        </a:rPr>
                        <a:t>波形だけでなく、部位・工程・加工結果の対応付けがサービスになる可能性。</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研究・移転の枠組み。任意設備での完</a:t>
                      </a:r>
                    </a:p>
                    <a:p>
                      <a:pPr>
                        <a:lnSpc>
                          <a:spcPct val="108000"/>
                        </a:lnSpc>
                        <a:buNone/>
                      </a:pPr>
                      <a:r>
                        <a:rPr sz="1800" b="0">
                          <a:solidFill>
                            <a:srgbClr val="183C4D"/>
                          </a:solidFill>
                          <a:latin typeface="Noto Sans JP"/>
                          <a:ea typeface="Noto Sans JP"/>
                          <a:cs typeface="Noto Sans JP"/>
                        </a:rPr>
                        <a:t>全接続の実績ではない。</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99060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A05</a:t>
                      </a:r>
                    </a:p>
                    <a:p>
                      <a:pPr>
                        <a:lnSpc>
                          <a:spcPct val="108000"/>
                        </a:lnSpc>
                        <a:buNone/>
                      </a:pPr>
                      <a:r>
                        <a:rPr sz="1800" b="1">
                          <a:solidFill>
                            <a:srgbClr val="183C4D"/>
                          </a:solidFill>
                          <a:latin typeface="Noto Sans JP"/>
                          <a:ea typeface="Noto Sans JP"/>
                          <a:cs typeface="Noto Sans JP"/>
                        </a:rPr>
                        <a:t>DMG森精機・テクニウム</a:t>
                      </a:r>
                    </a:p>
                    <a:p>
                      <a:pPr>
                        <a:lnSpc>
                          <a:spcPct val="108000"/>
                        </a:lnSpc>
                        <a:buNone/>
                      </a:pPr>
                      <a:r>
                        <a:rPr sz="1800" b="1">
                          <a:solidFill>
                            <a:srgbClr val="183C4D"/>
                          </a:solidFill>
                          <a:latin typeface="Noto Sans JP"/>
                          <a:ea typeface="Noto Sans JP"/>
                          <a:cs typeface="Noto Sans JP"/>
                        </a:rPr>
                        <a:t>NCシミュレーション</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NC検証・負荷に応じた最適化と現象解析を区別</a:t>
                      </a:r>
                    </a:p>
                    <a:p>
                      <a:pPr>
                        <a:lnSpc>
                          <a:spcPct val="108000"/>
                        </a:lnSpc>
                        <a:buNone/>
                      </a:pPr>
                      <a:r>
                        <a:rPr sz="1800" b="0">
                          <a:solidFill>
                            <a:srgbClr val="183C4D"/>
                          </a:solidFill>
                          <a:latin typeface="Noto Sans JP"/>
                          <a:ea typeface="Noto Sans JP"/>
                          <a:cs typeface="Noto Sans JP"/>
                        </a:rPr>
                        <a:t>干渉・時間予測と、温度・摩耗等の予測の境界を聞き分ける。</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製品・サービスの説明。全加工現象の</a:t>
                      </a:r>
                    </a:p>
                    <a:p>
                      <a:pPr>
                        <a:lnSpc>
                          <a:spcPct val="108000"/>
                        </a:lnSpc>
                        <a:buNone/>
                      </a:pPr>
                      <a:r>
                        <a:rPr sz="1800" b="0">
                          <a:solidFill>
                            <a:srgbClr val="183C4D"/>
                          </a:solidFill>
                          <a:latin typeface="Noto Sans JP"/>
                          <a:ea typeface="Noto Sans JP"/>
                          <a:cs typeface="Noto Sans JP"/>
                        </a:rPr>
                        <a:t>再現を示さない。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99060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A06</a:t>
                      </a:r>
                    </a:p>
                    <a:p>
                      <a:pPr>
                        <a:lnSpc>
                          <a:spcPct val="108000"/>
                        </a:lnSpc>
                        <a:buNone/>
                      </a:pPr>
                      <a:r>
                        <a:rPr sz="1800" b="1">
                          <a:solidFill>
                            <a:srgbClr val="183C4D"/>
                          </a:solidFill>
                          <a:latin typeface="Noto Sans JP"/>
                          <a:ea typeface="Noto Sans JP"/>
                          <a:cs typeface="Noto Sans JP"/>
                        </a:rPr>
                        <a:t>Fraunhofer IPT</a:t>
                      </a:r>
                    </a:p>
                    <a:p>
                      <a:pPr>
                        <a:lnSpc>
                          <a:spcPct val="108000"/>
                        </a:lnSpc>
                        <a:buNone/>
                      </a:pPr>
                      <a:r>
                        <a:rPr sz="1800" b="1">
                          <a:solidFill>
                            <a:srgbClr val="183C4D"/>
                          </a:solidFill>
                          <a:latin typeface="Noto Sans JP"/>
                          <a:ea typeface="Noto Sans JP"/>
                          <a:cs typeface="Noto Sans JP"/>
                        </a:rPr>
                        <a:t>FL.IN.NRW</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生データを集約しない共同学習の選択肢</a:t>
                      </a:r>
                    </a:p>
                    <a:p>
                      <a:pPr>
                        <a:lnSpc>
                          <a:spcPct val="108000"/>
                        </a:lnSpc>
                        <a:buNone/>
                      </a:pPr>
                      <a:r>
                        <a:rPr sz="1800" b="0">
                          <a:solidFill>
                            <a:srgbClr val="183C4D"/>
                          </a:solidFill>
                          <a:latin typeface="Noto Sans JP"/>
                          <a:ea typeface="Noto Sans JP"/>
                          <a:cs typeface="Noto Sans JP"/>
                        </a:rPr>
                        <a:t>各社のデータを残し、モデルを共同で改善する研究がある。</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研究計画。秘密の完全保護や工場差の</a:t>
                      </a:r>
                    </a:p>
                    <a:p>
                      <a:pPr>
                        <a:lnSpc>
                          <a:spcPct val="108000"/>
                        </a:lnSpc>
                        <a:buNone/>
                      </a:pPr>
                      <a:r>
                        <a:rPr sz="1800" b="0">
                          <a:solidFill>
                            <a:srgbClr val="183C4D"/>
                          </a:solidFill>
                          <a:latin typeface="Noto Sans JP"/>
                          <a:ea typeface="Noto Sans JP"/>
                          <a:cs typeface="Noto Sans JP"/>
                        </a:rPr>
                        <a:t>自動解消を意味しない。</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A01">
            <a:extLst xmlns:a="http://schemas.openxmlformats.org/drawingml/2006/main">
              <a:ext uri="{FF2B5EF4-FFF2-40B4-BE49-F238E27FC236}">
                <a16:creationId xmlns:a16="http://schemas.microsoft.com/office/drawing/2014/main" id="{0D0623F0-0777-41C0-BA6F-5C3208AA71D8}"/>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c3118bdf5fd4ff4"/>
              </a:rPr>
              <a:t>A01</a:t>
            </a:r>
          </a:p>
        </p:txBody>
      </p:sp>
      <p:sp>
        <p:nvSpPr>
          <p:cNvPr id="5" name="ref-A02">
            <a:extLst xmlns:a="http://schemas.openxmlformats.org/drawingml/2006/main">
              <a:ext uri="{FF2B5EF4-FFF2-40B4-BE49-F238E27FC236}">
                <a16:creationId xmlns:a16="http://schemas.microsoft.com/office/drawing/2014/main" id="{7964D8A8-4EBD-458B-8BB2-8282FAD05739}"/>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b04c6446f55e497d"/>
              </a:rPr>
              <a:t>A02</a:t>
            </a:r>
          </a:p>
        </p:txBody>
      </p:sp>
      <p:sp>
        <p:nvSpPr>
          <p:cNvPr id="6" name="ref-A03">
            <a:extLst xmlns:a="http://schemas.openxmlformats.org/drawingml/2006/main">
              <a:ext uri="{FF2B5EF4-FFF2-40B4-BE49-F238E27FC236}">
                <a16:creationId xmlns:a16="http://schemas.microsoft.com/office/drawing/2014/main" id="{4FC9FCFD-E242-4A53-9798-2173A13F664F}"/>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ebf6de2f1b04ba3"/>
              </a:rPr>
              <a:t>A03</a:t>
            </a:r>
          </a:p>
        </p:txBody>
      </p:sp>
      <p:sp>
        <p:nvSpPr>
          <p:cNvPr id="7" name="ref-A04">
            <a:extLst xmlns:a="http://schemas.openxmlformats.org/drawingml/2006/main">
              <a:ext uri="{FF2B5EF4-FFF2-40B4-BE49-F238E27FC236}">
                <a16:creationId xmlns:a16="http://schemas.microsoft.com/office/drawing/2014/main" id="{371B9C51-BF15-4195-86B7-3A664E08534C}"/>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4f617ad2db04766"/>
              </a:rPr>
              <a:t>A04</a:t>
            </a:r>
          </a:p>
        </p:txBody>
      </p:sp>
      <p:sp>
        <p:nvSpPr>
          <p:cNvPr id="8" name="ref-A05">
            <a:extLst xmlns:a="http://schemas.openxmlformats.org/drawingml/2006/main">
              <a:ext uri="{FF2B5EF4-FFF2-40B4-BE49-F238E27FC236}">
                <a16:creationId xmlns:a16="http://schemas.microsoft.com/office/drawing/2014/main" id="{F764F1FE-BAB7-43DE-8D4A-6BE75431A522}"/>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5f6557c86a74a59"/>
              </a:rPr>
              <a:t>A05</a:t>
            </a:r>
          </a:p>
        </p:txBody>
      </p:sp>
      <p:sp>
        <p:nvSpPr>
          <p:cNvPr id="9" name="ref-A06">
            <a:extLst xmlns:a="http://schemas.openxmlformats.org/drawingml/2006/main">
              <a:ext uri="{FF2B5EF4-FFF2-40B4-BE49-F238E27FC236}">
                <a16:creationId xmlns:a16="http://schemas.microsoft.com/office/drawing/2014/main" id="{345F4C6D-C64B-42C0-B5F7-E69F9AEB11E3}"/>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08fccce17fa942a1"/>
              </a:rPr>
              <a:t>A06</a:t>
            </a:r>
          </a:p>
        </p:txBody>
      </p:sp>
      <p:sp>
        <p:nvSpPr>
          <p:cNvPr id="10" name="disclosure">
            <a:extLst xmlns:a="http://schemas.openxmlformats.org/drawingml/2006/main">
              <a:ext uri="{FF2B5EF4-FFF2-40B4-BE49-F238E27FC236}">
                <a16:creationId xmlns:a16="http://schemas.microsoft.com/office/drawing/2014/main" id="{7988BD66-93B3-4B38-8F59-87BE2509157C}"/>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研究・事業計画を実装済みの成果とは扱わない。原典のURLと掲載位置・対象範囲はノートに記載。</a:t>
            </a:r>
          </a:p>
        </p:txBody>
      </p:sp>
      <p:sp>
        <p:nvSpPr>
          <p:cNvPr id="11" name="page">
            <a:extLst xmlns:a="http://schemas.openxmlformats.org/drawingml/2006/main">
              <a:ext uri="{FF2B5EF4-FFF2-40B4-BE49-F238E27FC236}">
                <a16:creationId xmlns:a16="http://schemas.microsoft.com/office/drawing/2014/main" id="{2155F136-2932-44D7-B784-E12CA42CCC64}"/>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21 / 40</a:t>
            </a:r>
          </a:p>
        </p:txBody>
      </p:sp>
    </p:spTree>
    <p:extLst>
      <p:ext uri="{BB962C8B-B14F-4D97-AF65-F5344CB8AC3E}">
        <p14:creationId xmlns:p14="http://schemas.microsoft.com/office/powerpoint/2010/main" val="144445588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D55E5ADB-7D4D-4367-8D76-3528EE911B73}"/>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追加調査の成果：現場適応・計画・継続利用</a:t>
            </a:r>
          </a:p>
        </p:txBody>
      </p:sp>
      <p:sp>
        <p:nvSpPr>
          <p:cNvPr id="2" name="context">
            <a:extLst xmlns:a="http://schemas.openxmlformats.org/drawingml/2006/main">
              <a:ext uri="{FF2B5EF4-FFF2-40B4-BE49-F238E27FC236}">
                <a16:creationId xmlns:a16="http://schemas.microsoft.com/office/drawing/2014/main" id="{9CA82AFC-ED74-4D9A-9D5C-E69F4C351C74}"/>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40資料から生じた問いを、仕様、先行サービス、研究、事業検討、契約の説明まで追った。</a:t>
            </a:r>
          </a:p>
        </p:txBody>
      </p:sp>
      <p:graphicFrame>
        <p:nvGraphicFramePr>
          <p:cNvPr id="3" name="">
            <a:extLst xmlns:a="http://schemas.openxmlformats.org/drawingml/2006/main">
              <a:ext uri="{FF2B5EF4-FFF2-40B4-BE49-F238E27FC236}">
                <a16:creationId xmlns:a16="http://schemas.microsoft.com/office/drawing/2014/main" id="{0D25D574-9084-44C9-A264-2C9B1F1E61E7}"/>
              </a:ext>
            </a:extLst>
          </p:cNvPr>
          <p:cNvGraphicFramePr/>
          <p:nvPr/>
        </p:nvGraphicFramePr>
        <p:xfrm>
          <a:off xmlns:a="http://schemas.openxmlformats.org/drawingml/2006/main" x="819150" y="2381250"/>
          <a:ext xmlns:a="http://schemas.openxmlformats.org/drawingml/2006/main" cx="16649700" cy="6276975"/>
        </p:xfrm>
        <a:graphic xmlns:a="http://schemas.openxmlformats.org/drawingml/2006/main">
          <a:graphicData uri="http://schemas.openxmlformats.org/drawingml/2006/table">
            <a:tbl>
              <a:tblPr/>
              <a:tblGrid>
                <a:gridCol w="4095750"/>
                <a:gridCol w="8239125"/>
                <a:gridCol w="4314825"/>
              </a:tblGrid>
              <a:tr h="609600">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原典・対象</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得られた内容と意味</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確認範囲・留保</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133475">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A07</a:t>
                      </a:r>
                    </a:p>
                    <a:p>
                      <a:pPr>
                        <a:lnSpc>
                          <a:spcPct val="108000"/>
                        </a:lnSpc>
                        <a:buNone/>
                      </a:pPr>
                      <a:r>
                        <a:rPr sz="1800" b="1">
                          <a:solidFill>
                            <a:srgbClr val="183C4D"/>
                          </a:solidFill>
                          <a:latin typeface="Noto Sans JP"/>
                          <a:ea typeface="Noto Sans JP"/>
                          <a:cs typeface="Noto Sans JP"/>
                        </a:rPr>
                        <a:t>日立の動作学習技術</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視覚・力・触覚を使う動作学習の技術説明</a:t>
                      </a:r>
                    </a:p>
                    <a:p>
                      <a:pPr>
                        <a:lnSpc>
                          <a:spcPct val="108000"/>
                        </a:lnSpc>
                        <a:buNone/>
                      </a:pPr>
                      <a:r>
                        <a:rPr sz="1800" b="0">
                          <a:solidFill>
                            <a:srgbClr val="183C4D"/>
                          </a:solidFill>
                          <a:latin typeface="Noto Sans JP"/>
                          <a:ea typeface="Noto Sans JP"/>
                          <a:cs typeface="Noto Sans JP"/>
                        </a:rPr>
                        <a:t>繊細な作業や現場適応へ何を持ち寄るかを具体化できる。</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日立の別技術発表。共同提携への全機</a:t>
                      </a:r>
                    </a:p>
                    <a:p>
                      <a:pPr>
                        <a:lnSpc>
                          <a:spcPct val="108000"/>
                        </a:lnSpc>
                        <a:buNone/>
                      </a:pPr>
                      <a:r>
                        <a:rPr sz="1800" b="0">
                          <a:solidFill>
                            <a:srgbClr val="183C4D"/>
                          </a:solidFill>
                          <a:latin typeface="Noto Sans JP"/>
                          <a:ea typeface="Noto Sans JP"/>
                          <a:cs typeface="Noto Sans JP"/>
                        </a:rPr>
                        <a:t>能の搭載は未確認。</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133475">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A08</a:t>
                      </a:r>
                    </a:p>
                    <a:p>
                      <a:pPr>
                        <a:lnSpc>
                          <a:spcPct val="108000"/>
                        </a:lnSpc>
                        <a:buNone/>
                      </a:pPr>
                      <a:r>
                        <a:rPr sz="1800" b="1">
                          <a:solidFill>
                            <a:srgbClr val="183C4D"/>
                          </a:solidFill>
                          <a:latin typeface="Noto Sans JP"/>
                          <a:ea typeface="Noto Sans JP"/>
                          <a:cs typeface="Noto Sans JP"/>
                        </a:rPr>
                        <a:t>富士通の事業検討</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工場の計画最適化と現場適応をつなぐ事業検討</a:t>
                      </a:r>
                    </a:p>
                    <a:p>
                      <a:pPr>
                        <a:lnSpc>
                          <a:spcPct val="108000"/>
                        </a:lnSpc>
                        <a:buNone/>
                      </a:pPr>
                      <a:r>
                        <a:rPr sz="1800" b="0">
                          <a:solidFill>
                            <a:srgbClr val="183C4D"/>
                          </a:solidFill>
                          <a:latin typeface="Noto Sans JP"/>
                          <a:ea typeface="Noto Sans JP"/>
                          <a:cs typeface="Noto Sans JP"/>
                        </a:rPr>
                        <a:t>提携相手の資料まで読むと、業務と実機を結ぶ範囲が見える。</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事業検討の開始。完成システムの実績</a:t>
                      </a:r>
                    </a:p>
                    <a:p>
                      <a:pPr>
                        <a:lnSpc>
                          <a:spcPct val="108000"/>
                        </a:lnSpc>
                        <a:buNone/>
                      </a:pPr>
                      <a:r>
                        <a:rPr sz="1800" b="0">
                          <a:solidFill>
                            <a:srgbClr val="183C4D"/>
                          </a:solidFill>
                          <a:latin typeface="Noto Sans JP"/>
                          <a:ea typeface="Noto Sans JP"/>
                          <a:cs typeface="Noto Sans JP"/>
                        </a:rPr>
                        <a:t>ではない。</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133475">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A09</a:t>
                      </a:r>
                    </a:p>
                    <a:p>
                      <a:pPr>
                        <a:lnSpc>
                          <a:spcPct val="108000"/>
                        </a:lnSpc>
                        <a:buNone/>
                      </a:pPr>
                      <a:r>
                        <a:rPr sz="1800" b="1">
                          <a:solidFill>
                            <a:srgbClr val="183C4D"/>
                          </a:solidFill>
                          <a:latin typeface="Noto Sans JP"/>
                          <a:ea typeface="Noto Sans JP"/>
                          <a:cs typeface="Noto Sans JP"/>
                        </a:rPr>
                        <a:t>東芝の分析エージェント</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エージェントが分析手順と既存の数値計算をつなぐ</a:t>
                      </a:r>
                    </a:p>
                    <a:p>
                      <a:pPr>
                        <a:lnSpc>
                          <a:spcPct val="108000"/>
                        </a:lnSpc>
                        <a:buNone/>
                      </a:pPr>
                      <a:r>
                        <a:rPr sz="1800" b="0">
                          <a:solidFill>
                            <a:srgbClr val="183C4D"/>
                          </a:solidFill>
                          <a:latin typeface="Noto Sans JP"/>
                          <a:ea typeface="Noto Sans JP"/>
                          <a:cs typeface="Noto Sans JP"/>
                        </a:rPr>
                        <a:t>専門家の調査手順、計算処理、過去事例の役割分担を確認できる。</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対談の実装説明。数値計算を全てLLMが</a:t>
                      </a:r>
                    </a:p>
                    <a:p>
                      <a:pPr>
                        <a:lnSpc>
                          <a:spcPct val="108000"/>
                        </a:lnSpc>
                        <a:buNone/>
                      </a:pPr>
                      <a:r>
                        <a:rPr sz="1800" b="0">
                          <a:solidFill>
                            <a:srgbClr val="183C4D"/>
                          </a:solidFill>
                          <a:latin typeface="Noto Sans JP"/>
                          <a:ea typeface="Noto Sans JP"/>
                          <a:cs typeface="Noto Sans JP"/>
                        </a:rPr>
                        <a:t>生成する方式ではない。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133475">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A10</a:t>
                      </a:r>
                    </a:p>
                    <a:p>
                      <a:pPr>
                        <a:lnSpc>
                          <a:spcPct val="108000"/>
                        </a:lnSpc>
                        <a:buNone/>
                      </a:pPr>
                      <a:r>
                        <a:rPr sz="1800" b="1">
                          <a:solidFill>
                            <a:srgbClr val="183C4D"/>
                          </a:solidFill>
                          <a:latin typeface="Noto Sans JP"/>
                          <a:ea typeface="Noto Sans JP"/>
                          <a:cs typeface="Noto Sans JP"/>
                        </a:rPr>
                        <a:t>GENIACの採択計画</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設備だけでなく、工場の計画・判断・実績を構造化</a:t>
                      </a:r>
                    </a:p>
                    <a:p>
                      <a:pPr>
                        <a:lnSpc>
                          <a:spcPct val="108000"/>
                        </a:lnSpc>
                        <a:buNone/>
                      </a:pPr>
                      <a:r>
                        <a:rPr sz="1800" b="0">
                          <a:solidFill>
                            <a:srgbClr val="183C4D"/>
                          </a:solidFill>
                          <a:latin typeface="Noto Sans JP"/>
                          <a:ea typeface="Noto Sans JP"/>
                          <a:cs typeface="Noto Sans JP"/>
                        </a:rPr>
                        <a:t>加工一回、作業一回、計画変更一回で、必要な経験の単位が異なる。</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採択計画。確認範囲は印刷頁7～9・13</a:t>
                      </a:r>
                    </a:p>
                    <a:p>
                      <a:pPr>
                        <a:lnSpc>
                          <a:spcPct val="108000"/>
                        </a:lnSpc>
                        <a:buNone/>
                      </a:pPr>
                      <a:r>
                        <a:rPr sz="1800" b="0">
                          <a:solidFill>
                            <a:srgbClr val="183C4D"/>
                          </a:solidFill>
                          <a:latin typeface="Noto Sans JP"/>
                          <a:ea typeface="Noto Sans JP"/>
                          <a:cs typeface="Noto Sans JP"/>
                        </a:rPr>
                        <a:t>～21。全データ整備済みではない。</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133475">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A11</a:t>
                      </a:r>
                    </a:p>
                    <a:p>
                      <a:pPr>
                        <a:lnSpc>
                          <a:spcPct val="108000"/>
                        </a:lnSpc>
                        <a:buNone/>
                      </a:pPr>
                      <a:r>
                        <a:rPr sz="1800" b="1">
                          <a:solidFill>
                            <a:srgbClr val="183C4D"/>
                          </a:solidFill>
                          <a:latin typeface="Noto Sans JP"/>
                          <a:ea typeface="Noto Sans JP"/>
                          <a:cs typeface="Noto Sans JP"/>
                        </a:rPr>
                        <a:t>CELOS Club</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継続利用を契約更新へつなぐ既存の接点</a:t>
                      </a:r>
                    </a:p>
                    <a:p>
                      <a:pPr>
                        <a:lnSpc>
                          <a:spcPct val="108000"/>
                        </a:lnSpc>
                        <a:buNone/>
                      </a:pPr>
                      <a:r>
                        <a:rPr sz="1800" b="0">
                          <a:solidFill>
                            <a:srgbClr val="183C4D"/>
                          </a:solidFill>
                          <a:latin typeface="Noto Sans JP"/>
                          <a:ea typeface="Noto Sans JP"/>
                          <a:cs typeface="Noto Sans JP"/>
                        </a:rPr>
                        <a:t>AIによるサービス改善を届ける経路として考えられる。</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契約方式の確認。AIによる更新率・利</a:t>
                      </a:r>
                    </a:p>
                    <a:p>
                      <a:pPr>
                        <a:lnSpc>
                          <a:spcPct val="108000"/>
                        </a:lnSpc>
                        <a:buNone/>
                      </a:pPr>
                      <a:r>
                        <a:rPr sz="1800" b="0">
                          <a:solidFill>
                            <a:srgbClr val="183C4D"/>
                          </a:solidFill>
                          <a:latin typeface="Noto Sans JP"/>
                          <a:ea typeface="Noto Sans JP"/>
                          <a:cs typeface="Noto Sans JP"/>
                        </a:rPr>
                        <a:t>益率改善は未確認。</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ref-A07">
            <a:extLst xmlns:a="http://schemas.openxmlformats.org/drawingml/2006/main">
              <a:ext uri="{FF2B5EF4-FFF2-40B4-BE49-F238E27FC236}">
                <a16:creationId xmlns:a16="http://schemas.microsoft.com/office/drawing/2014/main" id="{49B50A68-D94E-47C4-9EB0-FA9E1B3D75D7}"/>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4dcc27fd08cd4b5e"/>
              </a:rPr>
              <a:t>A07</a:t>
            </a:r>
          </a:p>
        </p:txBody>
      </p:sp>
      <p:sp>
        <p:nvSpPr>
          <p:cNvPr id="5" name="ref-A08">
            <a:extLst xmlns:a="http://schemas.openxmlformats.org/drawingml/2006/main">
              <a:ext uri="{FF2B5EF4-FFF2-40B4-BE49-F238E27FC236}">
                <a16:creationId xmlns:a16="http://schemas.microsoft.com/office/drawing/2014/main" id="{2FF37ED0-E070-444F-BE61-EDBFEEBD944A}"/>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a65c60aa71ad40ae"/>
              </a:rPr>
              <a:t>A08</a:t>
            </a:r>
          </a:p>
        </p:txBody>
      </p:sp>
      <p:sp>
        <p:nvSpPr>
          <p:cNvPr id="6" name="ref-A09">
            <a:extLst xmlns:a="http://schemas.openxmlformats.org/drawingml/2006/main">
              <a:ext uri="{FF2B5EF4-FFF2-40B4-BE49-F238E27FC236}">
                <a16:creationId xmlns:a16="http://schemas.microsoft.com/office/drawing/2014/main" id="{FBEB34EA-F81F-4AFF-87B0-DFC3818D7461}"/>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ecc9cf205714f94"/>
              </a:rPr>
              <a:t>A09</a:t>
            </a:r>
          </a:p>
        </p:txBody>
      </p:sp>
      <p:sp>
        <p:nvSpPr>
          <p:cNvPr id="7" name="ref-A10">
            <a:extLst xmlns:a="http://schemas.openxmlformats.org/drawingml/2006/main">
              <a:ext uri="{FF2B5EF4-FFF2-40B4-BE49-F238E27FC236}">
                <a16:creationId xmlns:a16="http://schemas.microsoft.com/office/drawing/2014/main" id="{43CCD6EE-A730-42AC-80B7-5437432FFB4A}"/>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056d6e04ddfc417c"/>
              </a:rPr>
              <a:t>A10</a:t>
            </a:r>
          </a:p>
        </p:txBody>
      </p:sp>
      <p:sp>
        <p:nvSpPr>
          <p:cNvPr id="8" name="ref-A11">
            <a:extLst xmlns:a="http://schemas.openxmlformats.org/drawingml/2006/main">
              <a:ext uri="{FF2B5EF4-FFF2-40B4-BE49-F238E27FC236}">
                <a16:creationId xmlns:a16="http://schemas.microsoft.com/office/drawing/2014/main" id="{675BB6FA-B2D3-492F-B0C3-0C74C3F8CDD5}"/>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af3968cf94a84312"/>
              </a:rPr>
              <a:t>A11</a:t>
            </a:r>
          </a:p>
        </p:txBody>
      </p:sp>
      <p:sp>
        <p:nvSpPr>
          <p:cNvPr id="9" name="disclosure">
            <a:extLst xmlns:a="http://schemas.openxmlformats.org/drawingml/2006/main">
              <a:ext uri="{FF2B5EF4-FFF2-40B4-BE49-F238E27FC236}">
                <a16:creationId xmlns:a16="http://schemas.microsoft.com/office/drawing/2014/main" id="{2F20B20C-E450-47A0-9456-BDF5E26A2CAA}"/>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研究・事業計画を実装済みの成果とは扱わない。原典のURLと掲載位置・対象範囲はノートに記載。</a:t>
            </a:r>
          </a:p>
        </p:txBody>
      </p:sp>
      <p:sp>
        <p:nvSpPr>
          <p:cNvPr id="10" name="page">
            <a:extLst xmlns:a="http://schemas.openxmlformats.org/drawingml/2006/main">
              <a:ext uri="{FF2B5EF4-FFF2-40B4-BE49-F238E27FC236}">
                <a16:creationId xmlns:a16="http://schemas.microsoft.com/office/drawing/2014/main" id="{88C9E25B-6352-47E9-A61D-EBF5F2354724}"/>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22 / 40</a:t>
            </a:r>
          </a:p>
        </p:txBody>
      </p:sp>
    </p:spTree>
    <p:extLst>
      <p:ext uri="{BB962C8B-B14F-4D97-AF65-F5344CB8AC3E}">
        <p14:creationId xmlns:p14="http://schemas.microsoft.com/office/powerpoint/2010/main" val="16821068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eading">
            <a:extLst xmlns:a="http://schemas.openxmlformats.org/drawingml/2006/main">
              <a:ext uri="{FF2B5EF4-FFF2-40B4-BE49-F238E27FC236}">
                <a16:creationId xmlns:a16="http://schemas.microsoft.com/office/drawing/2014/main" id="{A6D906E3-660A-45CC-A970-DE14CA67CB89}"/>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開発候補と、既存企業が提供する範囲</a:t>
            </a:r>
          </a:p>
        </p:txBody>
      </p:sp>
      <p:sp>
        <p:nvSpPr>
          <p:cNvPr id="2" name="context">
            <a:extLst xmlns:a="http://schemas.openxmlformats.org/drawingml/2006/main">
              <a:ext uri="{FF2B5EF4-FFF2-40B4-BE49-F238E27FC236}">
                <a16:creationId xmlns:a16="http://schemas.microsoft.com/office/drawing/2014/main" id="{02D07EE6-C23E-408A-B6B0-8C996F032167}"/>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顧客の未充足需要と自社能力を照合する候補。既存の機能を調べ、追加で改善できる仕事を特定する。</a:t>
            </a:r>
          </a:p>
        </p:txBody>
      </p:sp>
      <p:graphicFrame>
        <p:nvGraphicFramePr>
          <p:cNvPr id="3" name="">
            <a:extLst xmlns:a="http://schemas.openxmlformats.org/drawingml/2006/main">
              <a:ext uri="{FF2B5EF4-FFF2-40B4-BE49-F238E27FC236}">
                <a16:creationId xmlns:a16="http://schemas.microsoft.com/office/drawing/2014/main" id="{C7E6CF3C-C866-4733-B489-88245FAD8BF0}"/>
              </a:ext>
            </a:extLst>
          </p:cNvPr>
          <p:cNvGraphicFramePr/>
          <p:nvPr/>
        </p:nvGraphicFramePr>
        <p:xfrm>
          <a:off xmlns:a="http://schemas.openxmlformats.org/drawingml/2006/main" x="819150" y="2571750"/>
          <a:ext xmlns:a="http://schemas.openxmlformats.org/drawingml/2006/main" cx="16649700" cy="6191250"/>
        </p:xfrm>
        <a:graphic xmlns:a="http://schemas.openxmlformats.org/drawingml/2006/main">
          <a:graphicData uri="http://schemas.openxmlformats.org/drawingml/2006/table">
            <a:tbl>
              <a:tblPr/>
              <a:tblGrid>
                <a:gridCol w="3619500"/>
                <a:gridCol w="6286500"/>
                <a:gridCol w="6743700"/>
              </a:tblGrid>
              <a:tr h="666750">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開発候補</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顧客へ提供するもの</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104775" tIns="104775" rIns="104775" bIns="104775">
                      <a:noAutofit/>
                    </a:bodyPr>
                    <a:lstStyle/>
                    <a:p>
                      <a:pPr>
                        <a:lnSpc>
                          <a:spcPct val="108000"/>
                        </a:lnSpc>
                        <a:buNone/>
                      </a:pPr>
                      <a:r>
                        <a:rPr sz="2025" b="1">
                          <a:solidFill>
                            <a:srgbClr val="FFFFFF"/>
                          </a:solidFill>
                          <a:latin typeface="Noto Sans JP"/>
                          <a:ea typeface="Noto Sans JP"/>
                          <a:cs typeface="Noto Sans JP"/>
                        </a:rPr>
                        <a:t>既存との重なり・差の検証</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現象に合うデータ取得・検証</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測定・同期仕様、加工条件と品質の対応、検証用デ</a:t>
                      </a:r>
                    </a:p>
                    <a:p>
                      <a:pPr>
                        <a:lnSpc>
                          <a:spcPct val="108000"/>
                        </a:lnSpc>
                        <a:buNone/>
                      </a:pPr>
                      <a:r>
                        <a:rPr sz="2025" b="0">
                          <a:solidFill>
                            <a:srgbClr val="183C4D"/>
                          </a:solidFill>
                          <a:latin typeface="Noto Sans JP"/>
                          <a:ea typeface="Noto Sans JP"/>
                          <a:cs typeface="Noto Sans JP"/>
                        </a:rPr>
                        <a:t>ータ、適用範囲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産総研・dPart・計測ベンダー等の提供範囲を確認。一</a:t>
                      </a:r>
                    </a:p>
                    <a:p>
                      <a:pPr>
                        <a:lnSpc>
                          <a:spcPct val="108000"/>
                        </a:lnSpc>
                        <a:buNone/>
                      </a:pPr>
                      <a:r>
                        <a:rPr sz="2025" b="0">
                          <a:solidFill>
                            <a:srgbClr val="183C4D"/>
                          </a:solidFill>
                          <a:latin typeface="Noto Sans JP"/>
                          <a:ea typeface="Noto Sans JP"/>
                          <a:cs typeface="Noto Sans JP"/>
                        </a:rPr>
                        <a:t>般的な収集画面だけを独自性にしない。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物理モデルの同定・校正支援</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材料・工程モデル、個体差の校正、未知条件での誤</a:t>
                      </a:r>
                    </a:p>
                    <a:p>
                      <a:pPr>
                        <a:lnSpc>
                          <a:spcPct val="108000"/>
                        </a:lnSpc>
                        <a:buNone/>
                      </a:pPr>
                      <a:r>
                        <a:rPr sz="2025" b="0">
                          <a:solidFill>
                            <a:srgbClr val="183C4D"/>
                          </a:solidFill>
                          <a:latin typeface="Noto Sans JP"/>
                          <a:ea typeface="Noto Sans JP"/>
                          <a:cs typeface="Noto Sans JP"/>
                        </a:rPr>
                        <a:t>差と計算時間の評価</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Third Wave Systems等の既存サービスと比較。全加工</a:t>
                      </a:r>
                    </a:p>
                    <a:p>
                      <a:pPr>
                        <a:lnSpc>
                          <a:spcPct val="108000"/>
                        </a:lnSpc>
                        <a:buNone/>
                      </a:pPr>
                      <a:r>
                        <a:rPr sz="2025" b="0">
                          <a:solidFill>
                            <a:srgbClr val="183C4D"/>
                          </a:solidFill>
                          <a:latin typeface="Noto Sans JP"/>
                          <a:ea typeface="Noto Sans JP"/>
                          <a:cs typeface="Noto Sans JP"/>
                        </a:rPr>
                        <a:t>を一括で狙わず、得意条件の不足を探す。</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判断の記録・再利用支援</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目的・制約・修正・結果の対応、類似案件への適用</a:t>
                      </a:r>
                    </a:p>
                    <a:p>
                      <a:pPr>
                        <a:lnSpc>
                          <a:spcPct val="108000"/>
                        </a:lnSpc>
                        <a:buNone/>
                      </a:pPr>
                      <a:r>
                        <a:rPr sz="2025" b="0">
                          <a:solidFill>
                            <a:srgbClr val="183C4D"/>
                          </a:solidFill>
                          <a:latin typeface="Noto Sans JP"/>
                          <a:ea typeface="Noto Sans JP"/>
                          <a:cs typeface="Noto Sans JP"/>
                        </a:rPr>
                        <a:t>条件、既存計算との接続</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マザック、Hexagon、東芝の役割と比較。業務入力の負</a:t>
                      </a:r>
                    </a:p>
                    <a:p>
                      <a:pPr>
                        <a:lnSpc>
                          <a:spcPct val="108000"/>
                        </a:lnSpc>
                        <a:buNone/>
                      </a:pPr>
                      <a:r>
                        <a:rPr sz="2025" b="0">
                          <a:solidFill>
                            <a:srgbClr val="183C4D"/>
                          </a:solidFill>
                          <a:latin typeface="Noto Sans JP"/>
                          <a:ea typeface="Noto Sans JP"/>
                          <a:cs typeface="Noto Sans JP"/>
                        </a:rPr>
                        <a:t>担を増やさない取得方法を探す。</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381125">
                <a:tc>
                  <a:txBody>
                    <a:bodyPr wrap="none" lIns="104775" tIns="104775" rIns="104775" bIns="104775">
                      <a:noAutofit/>
                    </a:bodyPr>
                    <a:lstStyle/>
                    <a:p>
                      <a:pPr>
                        <a:lnSpc>
                          <a:spcPct val="108000"/>
                        </a:lnSpc>
                        <a:buNone/>
                      </a:pPr>
                      <a:r>
                        <a:rPr sz="2025" b="1">
                          <a:solidFill>
                            <a:srgbClr val="183C4D"/>
                          </a:solidFill>
                          <a:latin typeface="Noto Sans JP"/>
                          <a:ea typeface="Noto Sans JP"/>
                          <a:cs typeface="Noto Sans JP"/>
                        </a:rPr>
                        <a:t>適応導入と継続改善</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適応手順、比較試験、失敗・復帰データ、継続的な</a:t>
                      </a:r>
                    </a:p>
                    <a:p>
                      <a:pPr>
                        <a:lnSpc>
                          <a:spcPct val="108000"/>
                        </a:lnSpc>
                        <a:buNone/>
                      </a:pPr>
                      <a:r>
                        <a:rPr sz="2025" b="0">
                          <a:solidFill>
                            <a:srgbClr val="183C4D"/>
                          </a:solidFill>
                          <a:latin typeface="Noto Sans JP"/>
                          <a:ea typeface="Noto Sans JP"/>
                          <a:cs typeface="Noto Sans JP"/>
                        </a:rPr>
                        <a:t>モデル・運用の校正</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104775" tIns="104775" rIns="104775" bIns="104775">
                      <a:noAutofit/>
                    </a:bodyPr>
                    <a:lstStyle/>
                    <a:p>
                      <a:pPr>
                        <a:lnSpc>
                          <a:spcPct val="108000"/>
                        </a:lnSpc>
                        <a:buNone/>
                      </a:pPr>
                      <a:r>
                        <a:rPr sz="2025" b="0">
                          <a:solidFill>
                            <a:srgbClr val="183C4D"/>
                          </a:solidFill>
                          <a:latin typeface="Noto Sans JP"/>
                          <a:ea typeface="Noto Sans JP"/>
                          <a:cs typeface="Noto Sans JP"/>
                        </a:rPr>
                        <a:t>ロボット・制御・基盤ベンダーと協業。案件ごとの人手</a:t>
                      </a:r>
                    </a:p>
                    <a:p>
                      <a:pPr>
                        <a:lnSpc>
                          <a:spcPct val="108000"/>
                        </a:lnSpc>
                        <a:buNone/>
                      </a:pPr>
                      <a:r>
                        <a:rPr sz="2025" b="0">
                          <a:solidFill>
                            <a:srgbClr val="183C4D"/>
                          </a:solidFill>
                          <a:latin typeface="Noto Sans JP"/>
                          <a:ea typeface="Noto Sans JP"/>
                          <a:cs typeface="Noto Sans JP"/>
                        </a:rPr>
                        <a:t>を減らせる再利用資産を持つ。</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bl>
          </a:graphicData>
        </a:graphic>
      </p:graphicFrame>
      <p:sp>
        <p:nvSpPr>
          <p:cNvPr id="4" name="ref-Q01">
            <a:extLst xmlns:a="http://schemas.openxmlformats.org/drawingml/2006/main">
              <a:ext uri="{FF2B5EF4-FFF2-40B4-BE49-F238E27FC236}">
                <a16:creationId xmlns:a16="http://schemas.microsoft.com/office/drawing/2014/main" id="{6F5EB31A-8668-4D6F-B141-55E622E9C533}"/>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41f3e85362d4558"/>
              </a:rPr>
              <a:t>Q01 p.29</a:t>
            </a:r>
          </a:p>
        </p:txBody>
      </p:sp>
      <p:sp>
        <p:nvSpPr>
          <p:cNvPr id="5" name="ref-Q05">
            <a:extLst xmlns:a="http://schemas.openxmlformats.org/drawingml/2006/main">
              <a:ext uri="{FF2B5EF4-FFF2-40B4-BE49-F238E27FC236}">
                <a16:creationId xmlns:a16="http://schemas.microsoft.com/office/drawing/2014/main" id="{733082FF-FC32-456A-BB9B-1D8A4E82B954}"/>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7e84e87e1c5e4bc7"/>
              </a:rPr>
              <a:t>Q05 p.30</a:t>
            </a:r>
          </a:p>
        </p:txBody>
      </p:sp>
      <p:sp>
        <p:nvSpPr>
          <p:cNvPr id="6" name="ref-Q21">
            <a:extLst xmlns:a="http://schemas.openxmlformats.org/drawingml/2006/main">
              <a:ext uri="{FF2B5EF4-FFF2-40B4-BE49-F238E27FC236}">
                <a16:creationId xmlns:a16="http://schemas.microsoft.com/office/drawing/2014/main" id="{D0965676-A27A-47F1-8ACA-C6F6170BFD82}"/>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fd620af0eb834575"/>
              </a:rPr>
              <a:t>Q21 p.34</a:t>
            </a:r>
          </a:p>
        </p:txBody>
      </p:sp>
      <p:sp>
        <p:nvSpPr>
          <p:cNvPr id="7" name="ref-Q24">
            <a:extLst xmlns:a="http://schemas.openxmlformats.org/drawingml/2006/main">
              <a:ext uri="{FF2B5EF4-FFF2-40B4-BE49-F238E27FC236}">
                <a16:creationId xmlns:a16="http://schemas.microsoft.com/office/drawing/2014/main" id="{8D65DEF7-0EB0-4946-B14C-4D7A2D51B432}"/>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a8c2205865eb4a9d"/>
              </a:rPr>
              <a:t>Q24 p.34</a:t>
            </a:r>
          </a:p>
        </p:txBody>
      </p:sp>
      <p:sp>
        <p:nvSpPr>
          <p:cNvPr id="8" name="ref-Q34">
            <a:extLst xmlns:a="http://schemas.openxmlformats.org/drawingml/2006/main">
              <a:ext uri="{FF2B5EF4-FFF2-40B4-BE49-F238E27FC236}">
                <a16:creationId xmlns:a16="http://schemas.microsoft.com/office/drawing/2014/main" id="{B5EC0845-427B-4DA7-9E56-ADBB90CD3234}"/>
              </a:ext>
            </a:extLst>
          </p:cNvPr>
          <p:cNvSpPr>
            <a:spLocks xmlns:a="http://schemas.openxmlformats.org/drawingml/2006/main" noGrp="1"/>
          </p:cNvSpPr>
          <p:nvPr/>
        </p:nvSpPr>
        <p:spPr>
          <a:xfrm xmlns:a="http://schemas.openxmlformats.org/drawingml/2006/main">
            <a:off x="62865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1393e83699be48c2"/>
              </a:rPr>
              <a:t>Q34 p.37</a:t>
            </a:r>
          </a:p>
        </p:txBody>
      </p:sp>
      <p:sp>
        <p:nvSpPr>
          <p:cNvPr id="9" name="ref-Q44">
            <a:extLst xmlns:a="http://schemas.openxmlformats.org/drawingml/2006/main">
              <a:ext uri="{FF2B5EF4-FFF2-40B4-BE49-F238E27FC236}">
                <a16:creationId xmlns:a16="http://schemas.microsoft.com/office/drawing/2014/main" id="{8DE22C00-46BE-4AD5-AECA-FD748AA9C7FA}"/>
              </a:ext>
            </a:extLst>
          </p:cNvPr>
          <p:cNvSpPr>
            <a:spLocks xmlns:a="http://schemas.openxmlformats.org/drawingml/2006/main" noGrp="1"/>
          </p:cNvSpPr>
          <p:nvPr/>
        </p:nvSpPr>
        <p:spPr>
          <a:xfrm xmlns:a="http://schemas.openxmlformats.org/drawingml/2006/main">
            <a:off x="76485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6cf53a0d3fe48d0"/>
              </a:rPr>
              <a:t>Q44 p.39</a:t>
            </a:r>
          </a:p>
        </p:txBody>
      </p:sp>
      <p:sp>
        <p:nvSpPr>
          <p:cNvPr id="10" name="ref-Q46">
            <a:extLst xmlns:a="http://schemas.openxmlformats.org/drawingml/2006/main">
              <a:ext uri="{FF2B5EF4-FFF2-40B4-BE49-F238E27FC236}">
                <a16:creationId xmlns:a16="http://schemas.microsoft.com/office/drawing/2014/main" id="{584FBCA9-3142-4C17-B9EF-97784347DBE7}"/>
              </a:ext>
            </a:extLst>
          </p:cNvPr>
          <p:cNvSpPr>
            <a:spLocks xmlns:a="http://schemas.openxmlformats.org/drawingml/2006/main" noGrp="1"/>
          </p:cNvSpPr>
          <p:nvPr/>
        </p:nvSpPr>
        <p:spPr>
          <a:xfrm xmlns:a="http://schemas.openxmlformats.org/drawingml/2006/main">
            <a:off x="90106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36a36b784b84ba8"/>
              </a:rPr>
              <a:t>Q46 p.40</a:t>
            </a:r>
          </a:p>
        </p:txBody>
      </p:sp>
      <p:sp>
        <p:nvSpPr>
          <p:cNvPr id="11" name="disclosure">
            <a:extLst xmlns:a="http://schemas.openxmlformats.org/drawingml/2006/main">
              <a:ext uri="{FF2B5EF4-FFF2-40B4-BE49-F238E27FC236}">
                <a16:creationId xmlns:a16="http://schemas.microsoft.com/office/drawing/2014/main" id="{341F0EB3-7527-4FE3-BAD0-B52C182DCCA5}"/>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「差別化の穴」は未確定。新モデルの所有だけでなく、取得しにくい現象、適用条件、検証手順、顧客効果も比較する。</a:t>
            </a:r>
          </a:p>
        </p:txBody>
      </p:sp>
      <p:sp>
        <p:nvSpPr>
          <p:cNvPr id="12" name="page">
            <a:extLst xmlns:a="http://schemas.openxmlformats.org/drawingml/2006/main">
              <a:ext uri="{FF2B5EF4-FFF2-40B4-BE49-F238E27FC236}">
                <a16:creationId xmlns:a16="http://schemas.microsoft.com/office/drawing/2014/main" id="{7DC94B42-67FF-47FA-924E-F31E2165A3A8}"/>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23 / 40</a:t>
            </a:r>
          </a:p>
        </p:txBody>
      </p:sp>
    </p:spTree>
    <p:extLst>
      <p:ext uri="{BB962C8B-B14F-4D97-AF65-F5344CB8AC3E}">
        <p14:creationId xmlns:p14="http://schemas.microsoft.com/office/powerpoint/2010/main" val="84321996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78F7D52A-05A9-40A8-B5EE-85862F0F1FCB}"/>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訪問先と確認する問い 1/2</a:t>
            </a:r>
          </a:p>
        </p:txBody>
      </p:sp>
      <p:sp>
        <p:nvSpPr>
          <p:cNvPr id="2" name="context">
            <a:extLst xmlns:a="http://schemas.openxmlformats.org/drawingml/2006/main">
              <a:ext uri="{FF2B5EF4-FFF2-40B4-BE49-F238E27FC236}">
                <a16:creationId xmlns:a16="http://schemas.microsoft.com/office/drawing/2014/main" id="{8CFDE80E-B28C-4451-A3E4-675CB98CA9A1}"/>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調査の問いと確認先を対応させた例。ブースは10月16日収集の2026公式出展情報。</a:t>
            </a:r>
          </a:p>
        </p:txBody>
      </p:sp>
      <p:graphicFrame>
        <p:nvGraphicFramePr>
          <p:cNvPr id="3" name="">
            <a:extLst xmlns:a="http://schemas.openxmlformats.org/drawingml/2006/main">
              <a:ext uri="{FF2B5EF4-FFF2-40B4-BE49-F238E27FC236}">
                <a16:creationId xmlns:a16="http://schemas.microsoft.com/office/drawing/2014/main" id="{24213F44-B055-45DC-BDD6-90615CBB7A90}"/>
              </a:ext>
            </a:extLst>
          </p:cNvPr>
          <p:cNvGraphicFramePr/>
          <p:nvPr/>
        </p:nvGraphicFramePr>
        <p:xfrm>
          <a:off xmlns:a="http://schemas.openxmlformats.org/drawingml/2006/main" x="819150" y="2381250"/>
          <a:ext xmlns:a="http://schemas.openxmlformats.org/drawingml/2006/main" cx="16649700" cy="6438900"/>
        </p:xfrm>
        <a:graphic xmlns:a="http://schemas.openxmlformats.org/drawingml/2006/main">
          <a:graphicData uri="http://schemas.openxmlformats.org/drawingml/2006/table">
            <a:tbl>
              <a:tblPr/>
              <a:tblGrid>
                <a:gridCol w="5048250"/>
                <a:gridCol w="2190750"/>
                <a:gridCol w="9410700"/>
              </a:tblGrid>
              <a:tr h="571500">
                <a:tc>
                  <a:txBody>
                    <a:bodyPr wrap="none" lIns="76200" tIns="76200" rIns="76200" bIns="76200">
                      <a:noAutofit/>
                    </a:bodyPr>
                    <a:lstStyle/>
                    <a:p>
                      <a:pPr>
                        <a:lnSpc>
                          <a:spcPct val="108000"/>
                        </a:lnSpc>
                        <a:buNone/>
                      </a:pPr>
                      <a:r>
                        <a:rPr sz="1875" b="1">
                          <a:solidFill>
                            <a:srgbClr val="FFFFFF"/>
                          </a:solidFill>
                          <a:latin typeface="Noto Sans JP"/>
                          <a:ea typeface="Noto Sans JP"/>
                          <a:cs typeface="Noto Sans JP"/>
                        </a:rPr>
                        <a:t>確認先</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75" b="1">
                          <a:solidFill>
                            <a:srgbClr val="FFFFFF"/>
                          </a:solidFill>
                          <a:latin typeface="Noto Sans JP"/>
                          <a:ea typeface="Noto Sans JP"/>
                          <a:cs typeface="Noto Sans JP"/>
                        </a:rPr>
                        <a:t>ブース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75" b="1">
                          <a:solidFill>
                            <a:srgbClr val="FFFFFF"/>
                          </a:solidFill>
                          <a:latin typeface="Noto Sans JP"/>
                          <a:ea typeface="Noto Sans JP"/>
                          <a:cs typeface="Noto Sans JP"/>
                        </a:rPr>
                        <a:t>聞くこと</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83820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DMG森精機</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E8005</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AIエージェントと加工・保全・搬送の接続範囲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83820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ヤマザキマザック</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E1001</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加工意図と人の計画修正を何として学習するか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83820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ファナック</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S2001</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CNC・ロボットのAIが何を判断し、何を変えるか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83820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三菱電機</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S2003</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CNC補正・状態推定とデータ取得の関係</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83820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オークマ</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E3028</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自動化と品質維持の条件・人の残る作業</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83820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シーメンス</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E3006</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設計変更・工程・稼働状態の連携範囲</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83820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牧野フライス製作所</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E1024</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MASと生産ラインの判断・例外処理の分担</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disclosure">
            <a:extLst xmlns:a="http://schemas.openxmlformats.org/drawingml/2006/main">
              <a:ext uri="{FF2B5EF4-FFF2-40B4-BE49-F238E27FC236}">
                <a16:creationId xmlns:a16="http://schemas.microsoft.com/office/drawing/2014/main" id="{548DB145-FE39-4AEB-B2F8-151FC673FD0D}"/>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共同開発・研究の機能が出展実機に入るかを照合する。提携先・研究所が、そのままJIMTOFへ出展しているとは扱わない。</a:t>
            </a:r>
          </a:p>
        </p:txBody>
      </p:sp>
      <p:sp>
        <p:nvSpPr>
          <p:cNvPr id="5" name="page">
            <a:extLst xmlns:a="http://schemas.openxmlformats.org/drawingml/2006/main">
              <a:ext uri="{FF2B5EF4-FFF2-40B4-BE49-F238E27FC236}">
                <a16:creationId xmlns:a16="http://schemas.microsoft.com/office/drawing/2014/main" id="{913317AE-7178-489E-A9B6-6C7DB0F50D66}"/>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24 / 40</a:t>
            </a:r>
          </a:p>
        </p:txBody>
      </p:sp>
    </p:spTree>
    <p:extLst>
      <p:ext uri="{BB962C8B-B14F-4D97-AF65-F5344CB8AC3E}">
        <p14:creationId xmlns:p14="http://schemas.microsoft.com/office/powerpoint/2010/main" val="192902484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F5268A60-191F-4449-A653-1C7EE6CB9D3F}"/>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訪問先と確認する問い 2/2</a:t>
            </a:r>
          </a:p>
        </p:txBody>
      </p:sp>
      <p:sp>
        <p:nvSpPr>
          <p:cNvPr id="2" name="context">
            <a:extLst xmlns:a="http://schemas.openxmlformats.org/drawingml/2006/main">
              <a:ext uri="{FF2B5EF4-FFF2-40B4-BE49-F238E27FC236}">
                <a16:creationId xmlns:a16="http://schemas.microsoft.com/office/drawing/2014/main" id="{C4C2543A-F6FF-4F4A-A4BF-2154BBBB7BDB}"/>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調査の問いと確認先を対応させた例。ブースは10月16日収集の2026公式出展情報。</a:t>
            </a:r>
          </a:p>
        </p:txBody>
      </p:sp>
      <p:graphicFrame>
        <p:nvGraphicFramePr>
          <p:cNvPr id="3" name="">
            <a:extLst xmlns:a="http://schemas.openxmlformats.org/drawingml/2006/main">
              <a:ext uri="{FF2B5EF4-FFF2-40B4-BE49-F238E27FC236}">
                <a16:creationId xmlns:a16="http://schemas.microsoft.com/office/drawing/2014/main" id="{313AC62B-8178-4B5F-B7B4-EEBAC44E4B74}"/>
              </a:ext>
            </a:extLst>
          </p:cNvPr>
          <p:cNvGraphicFramePr/>
          <p:nvPr/>
        </p:nvGraphicFramePr>
        <p:xfrm>
          <a:off xmlns:a="http://schemas.openxmlformats.org/drawingml/2006/main" x="819150" y="2381250"/>
          <a:ext xmlns:a="http://schemas.openxmlformats.org/drawingml/2006/main" cx="16649700" cy="6648450"/>
        </p:xfrm>
        <a:graphic xmlns:a="http://schemas.openxmlformats.org/drawingml/2006/main">
          <a:graphicData uri="http://schemas.openxmlformats.org/drawingml/2006/table">
            <a:tbl>
              <a:tblPr/>
              <a:tblGrid>
                <a:gridCol w="5048250"/>
                <a:gridCol w="2190750"/>
                <a:gridCol w="9410700"/>
              </a:tblGrid>
              <a:tr h="571500">
                <a:tc>
                  <a:txBody>
                    <a:bodyPr wrap="none" lIns="76200" tIns="76200" rIns="76200" bIns="76200">
                      <a:noAutofit/>
                    </a:bodyPr>
                    <a:lstStyle/>
                    <a:p>
                      <a:pPr>
                        <a:lnSpc>
                          <a:spcPct val="108000"/>
                        </a:lnSpc>
                        <a:buNone/>
                      </a:pPr>
                      <a:r>
                        <a:rPr sz="1875" b="1">
                          <a:solidFill>
                            <a:srgbClr val="FFFFFF"/>
                          </a:solidFill>
                          <a:latin typeface="Noto Sans JP"/>
                          <a:ea typeface="Noto Sans JP"/>
                          <a:cs typeface="Noto Sans JP"/>
                        </a:rPr>
                        <a:t>確認先</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75" b="1">
                          <a:solidFill>
                            <a:srgbClr val="FFFFFF"/>
                          </a:solidFill>
                          <a:latin typeface="Noto Sans JP"/>
                          <a:ea typeface="Noto Sans JP"/>
                          <a:cs typeface="Noto Sans JP"/>
                        </a:rPr>
                        <a:t>ブース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75" b="1">
                          <a:solidFill>
                            <a:srgbClr val="FFFFFF"/>
                          </a:solidFill>
                          <a:latin typeface="Noto Sans JP"/>
                          <a:ea typeface="Noto Sans JP"/>
                          <a:cs typeface="Noto Sans JP"/>
                        </a:rPr>
                        <a:t>聞くこと</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62865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Hexagon Manufacturing Intelligence</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E7035 / E2013</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CAM・品質データ・改善の接続範囲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62865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ベッコフオートメーション</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E2028</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取得・学習・制御実装とモデル出力の条件</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62865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ミツトヨ</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E3008 / E7085</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測定結果を加工・計画へ戻す仕組み</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04775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Third Wave Systems Japan</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E1064</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材料・加工モデルの作成と検証</a:t>
                      </a:r>
                    </a:p>
                    <a:p>
                      <a:pPr>
                        <a:lnSpc>
                          <a:spcPct val="108000"/>
                        </a:lnSpc>
                        <a:buNone/>
                      </a:pPr>
                      <a:r>
                        <a:rPr sz="1875" b="0">
                          <a:solidFill>
                            <a:srgbClr val="183C4D"/>
                          </a:solidFill>
                          <a:latin typeface="Noto Sans JP"/>
                          <a:ea typeface="Noto Sans JP"/>
                          <a:cs typeface="Noto Sans JP"/>
                        </a:rPr>
                        <a:t>AdvantEdge・Production Module。材料試験と実切削の照合、適用範囲、CAMへの受</a:t>
                      </a:r>
                    </a:p>
                    <a:p>
                      <a:pPr>
                        <a:lnSpc>
                          <a:spcPct val="108000"/>
                        </a:lnSpc>
                        <a:buNone/>
                      </a:pPr>
                      <a:r>
                        <a:rPr sz="1875" b="0">
                          <a:solidFill>
                            <a:srgbClr val="183C4D"/>
                          </a:solidFill>
                          <a:latin typeface="Noto Sans JP"/>
                          <a:ea typeface="Noto Sans JP"/>
                          <a:cs typeface="Noto Sans JP"/>
                        </a:rPr>
                        <a:t>け渡しを聞く。</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04775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CGTech</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S3014</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NC・負荷モデルと加工条件最適化</a:t>
                      </a:r>
                    </a:p>
                    <a:p>
                      <a:pPr>
                        <a:lnSpc>
                          <a:spcPct val="108000"/>
                        </a:lnSpc>
                        <a:buNone/>
                      </a:pPr>
                      <a:r>
                        <a:rPr sz="1875" b="0">
                          <a:solidFill>
                            <a:srgbClr val="183C4D"/>
                          </a:solidFill>
                          <a:latin typeface="Noto Sans JP"/>
                          <a:ea typeface="Noto Sans JP"/>
                          <a:cs typeface="Noto Sans JP"/>
                        </a:rPr>
                        <a:t>Vericut・Force／Optimizer。幾何、NC、負荷の各モデルが何を予測し、実機差をど</a:t>
                      </a:r>
                    </a:p>
                    <a:p>
                      <a:pPr>
                        <a:lnSpc>
                          <a:spcPct val="108000"/>
                        </a:lnSpc>
                        <a:buNone/>
                      </a:pPr>
                      <a:r>
                        <a:rPr sz="1875" b="0">
                          <a:solidFill>
                            <a:srgbClr val="183C4D"/>
                          </a:solidFill>
                          <a:latin typeface="Noto Sans JP"/>
                          <a:ea typeface="Noto Sans JP"/>
                          <a:cs typeface="Noto Sans JP"/>
                        </a:rPr>
                        <a:t>う合わせるか。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104775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日本キスラー</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S4031</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加工現象を捉える測定</a:t>
                      </a:r>
                    </a:p>
                    <a:p>
                      <a:pPr>
                        <a:lnSpc>
                          <a:spcPct val="108000"/>
                        </a:lnSpc>
                        <a:buNone/>
                      </a:pPr>
                      <a:r>
                        <a:rPr sz="1875" b="0">
                          <a:solidFill>
                            <a:srgbClr val="183C4D"/>
                          </a:solidFill>
                          <a:latin typeface="Noto Sans JP"/>
                          <a:ea typeface="Noto Sans JP"/>
                          <a:cs typeface="Noto Sans JP"/>
                        </a:rPr>
                        <a:t>回転式動力計9171B。取得条件、加工位置・工具との同期、モデル検証向けのデータ</a:t>
                      </a:r>
                    </a:p>
                    <a:p>
                      <a:pPr>
                        <a:lnSpc>
                          <a:spcPct val="108000"/>
                        </a:lnSpc>
                        <a:buNone/>
                      </a:pPr>
                      <a:r>
                        <a:rPr sz="1875" b="0">
                          <a:solidFill>
                            <a:srgbClr val="183C4D"/>
                          </a:solidFill>
                          <a:latin typeface="Noto Sans JP"/>
                          <a:ea typeface="Noto Sans JP"/>
                          <a:cs typeface="Noto Sans JP"/>
                        </a:rPr>
                        <a:t>作成を聞く。</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1047750">
                <a:tc>
                  <a:txBody>
                    <a:bodyPr wrap="none" lIns="76200" tIns="76200" rIns="76200" bIns="76200">
                      <a:noAutofit/>
                    </a:bodyPr>
                    <a:lstStyle/>
                    <a:p>
                      <a:pPr>
                        <a:lnSpc>
                          <a:spcPct val="108000"/>
                        </a:lnSpc>
                        <a:buNone/>
                      </a:pPr>
                      <a:r>
                        <a:rPr sz="1875" b="1">
                          <a:solidFill>
                            <a:srgbClr val="183C4D"/>
                          </a:solidFill>
                          <a:latin typeface="Noto Sans JP"/>
                          <a:ea typeface="Noto Sans JP"/>
                          <a:cs typeface="Noto Sans JP"/>
                        </a:rPr>
                        <a:t>マーポス</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E7087</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75" b="0">
                          <a:solidFill>
                            <a:srgbClr val="183C4D"/>
                          </a:solidFill>
                          <a:latin typeface="Noto Sans JP"/>
                          <a:ea typeface="Noto Sans JP"/>
                          <a:cs typeface="Noto Sans JP"/>
                        </a:rPr>
                        <a:t>加工・工具状態と品質・保全の接続</a:t>
                      </a:r>
                    </a:p>
                    <a:p>
                      <a:pPr>
                        <a:lnSpc>
                          <a:spcPct val="108000"/>
                        </a:lnSpc>
                        <a:buNone/>
                      </a:pPr>
                      <a:r>
                        <a:rPr sz="1875" b="0">
                          <a:solidFill>
                            <a:srgbClr val="183C4D"/>
                          </a:solidFill>
                          <a:latin typeface="Noto Sans JP"/>
                          <a:ea typeface="Noto Sans JP"/>
                          <a:cs typeface="Noto Sans JP"/>
                        </a:rPr>
                        <a:t>ARTIS・BLU・VTS。状態判定の入力、検査との対応、交換・停止判断、外部への出力</a:t>
                      </a:r>
                    </a:p>
                    <a:p>
                      <a:pPr>
                        <a:lnSpc>
                          <a:spcPct val="108000"/>
                        </a:lnSpc>
                        <a:buNone/>
                      </a:pPr>
                      <a:r>
                        <a:rPr sz="1875" b="0">
                          <a:solidFill>
                            <a:srgbClr val="183C4D"/>
                          </a:solidFill>
                          <a:latin typeface="Noto Sans JP"/>
                          <a:ea typeface="Noto Sans JP"/>
                          <a:cs typeface="Noto Sans JP"/>
                        </a:rPr>
                        <a:t>を聞く。</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disclosure">
            <a:extLst xmlns:a="http://schemas.openxmlformats.org/drawingml/2006/main">
              <a:ext uri="{FF2B5EF4-FFF2-40B4-BE49-F238E27FC236}">
                <a16:creationId xmlns:a16="http://schemas.microsoft.com/office/drawing/2014/main" id="{42409886-8CD6-4507-9468-22E81594C557}"/>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共同開発・研究の機能が出展実機に入るかを照合する。提携先・研究所が、そのままJIMTOFへ出展しているとは扱わない。</a:t>
            </a:r>
          </a:p>
        </p:txBody>
      </p:sp>
      <p:sp>
        <p:nvSpPr>
          <p:cNvPr id="5" name="page">
            <a:extLst xmlns:a="http://schemas.openxmlformats.org/drawingml/2006/main">
              <a:ext uri="{FF2B5EF4-FFF2-40B4-BE49-F238E27FC236}">
                <a16:creationId xmlns:a16="http://schemas.microsoft.com/office/drawing/2014/main" id="{7C2DDEEC-674B-47F4-86B5-AFF73157BD96}"/>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25 / 40</a:t>
            </a:r>
          </a:p>
        </p:txBody>
      </p:sp>
    </p:spTree>
    <p:extLst>
      <p:ext uri="{BB962C8B-B14F-4D97-AF65-F5344CB8AC3E}">
        <p14:creationId xmlns:p14="http://schemas.microsoft.com/office/powerpoint/2010/main" val="165344134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7521A420-88CC-4CD9-AB5C-6B1DA285F6FB}"/>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主要33社の確認表 1/3</a:t>
            </a:r>
          </a:p>
        </p:txBody>
      </p:sp>
      <p:sp>
        <p:nvSpPr>
          <p:cNvPr id="2" name="context">
            <a:extLst xmlns:a="http://schemas.openxmlformats.org/drawingml/2006/main">
              <a:ext uri="{FF2B5EF4-FFF2-40B4-BE49-F238E27FC236}">
                <a16:creationId xmlns:a16="http://schemas.microsoft.com/office/drawing/2014/main" id="{580F2DBB-FCF0-4259-BC19-BB1E2FCECB15}"/>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大手を確認対象に保持。問いは調査者の提案であり、各社のAI搭載や接続実績を一律に認定しない。</a:t>
            </a:r>
          </a:p>
        </p:txBody>
      </p:sp>
      <p:graphicFrame>
        <p:nvGraphicFramePr>
          <p:cNvPr id="3" name="">
            <a:extLst xmlns:a="http://schemas.openxmlformats.org/drawingml/2006/main">
              <a:ext uri="{FF2B5EF4-FFF2-40B4-BE49-F238E27FC236}">
                <a16:creationId xmlns:a16="http://schemas.microsoft.com/office/drawing/2014/main" id="{38D482B2-2ECC-4C85-BBA2-A9994F4AB8D9}"/>
              </a:ext>
            </a:extLst>
          </p:cNvPr>
          <p:cNvGraphicFramePr/>
          <p:nvPr/>
        </p:nvGraphicFramePr>
        <p:xfrm>
          <a:off xmlns:a="http://schemas.openxmlformats.org/drawingml/2006/main" x="819150" y="2381250"/>
          <a:ext xmlns:a="http://schemas.openxmlformats.org/drawingml/2006/main" cx="16649700" cy="6648450"/>
        </p:xfrm>
        <a:graphic xmlns:a="http://schemas.openxmlformats.org/drawingml/2006/main">
          <a:graphicData uri="http://schemas.openxmlformats.org/drawingml/2006/table">
            <a:tbl>
              <a:tblPr/>
              <a:tblGrid>
                <a:gridCol w="5048250"/>
                <a:gridCol w="2381250"/>
                <a:gridCol w="9220200"/>
              </a:tblGrid>
              <a:tr h="571500">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主要企業</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ブース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確認する問い</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DMG森精機</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E8005</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AIエージェントと加工・保全・搬送の接続範囲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ヤマザキマザック</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E1001</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加工意図と人の計画修正を何として学習するか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オークマ</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E3028</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自動化と品質維持の条件・人の残る作業</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牧野フライス製作所</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E1024</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MASと生産ラインの判断・例外処理の分担</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ファナック</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S2001</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CNC・ロボットのAIが何を判断し、何を変えるか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三菱電機</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S2003</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CNC補正・状態推定とデータ取得の関係</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シーメンス</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E3006</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設計変更・工程・稼働状態の連携範囲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ジェイテクト</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E8003</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熟練加工の再現と止めない運用の条件</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ニデックマシンツール</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E3011</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歯車工程の連携と工程間データの扱い</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ニデックオーケーケー</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E3012</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省人化セルでの品種変更と段取りの負担</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ソディック</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E2017</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加工・自動化・稼働データをどう結ぶか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disclosure">
            <a:extLst xmlns:a="http://schemas.openxmlformats.org/drawingml/2006/main">
              <a:ext uri="{FF2B5EF4-FFF2-40B4-BE49-F238E27FC236}">
                <a16:creationId xmlns:a16="http://schemas.microsoft.com/office/drawing/2014/main" id="{724B1BD9-F57F-4CFE-AB15-937091BD9543}"/>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保存済みの公式出展情報に基づく。情報不足を技術・出展の不在と解釈せず、現地で内容と適用条件を補う。</a:t>
            </a:r>
          </a:p>
        </p:txBody>
      </p:sp>
      <p:sp>
        <p:nvSpPr>
          <p:cNvPr id="5" name="page">
            <a:extLst xmlns:a="http://schemas.openxmlformats.org/drawingml/2006/main">
              <a:ext uri="{FF2B5EF4-FFF2-40B4-BE49-F238E27FC236}">
                <a16:creationId xmlns:a16="http://schemas.microsoft.com/office/drawing/2014/main" id="{34989F72-A619-4591-823A-CF07A933CE62}"/>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26 / 40</a:t>
            </a:r>
          </a:p>
        </p:txBody>
      </p:sp>
    </p:spTree>
    <p:extLst>
      <p:ext uri="{BB962C8B-B14F-4D97-AF65-F5344CB8AC3E}">
        <p14:creationId xmlns:p14="http://schemas.microsoft.com/office/powerpoint/2010/main" val="41427048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D3C5612B-6A77-438D-9412-A41862BE225E}"/>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主要33社の確認表 2/3</a:t>
            </a:r>
          </a:p>
        </p:txBody>
      </p:sp>
      <p:sp>
        <p:nvSpPr>
          <p:cNvPr id="2" name="context">
            <a:extLst xmlns:a="http://schemas.openxmlformats.org/drawingml/2006/main">
              <a:ext uri="{FF2B5EF4-FFF2-40B4-BE49-F238E27FC236}">
                <a16:creationId xmlns:a16="http://schemas.microsoft.com/office/drawing/2014/main" id="{9671E223-0FAD-46A5-89EA-4E871F987121}"/>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大手を確認対象に保持。問いは調査者の提案であり、各社のAI搭載や接続実績を一律に認定しない。</a:t>
            </a:r>
          </a:p>
        </p:txBody>
      </p:sp>
      <p:graphicFrame>
        <p:nvGraphicFramePr>
          <p:cNvPr id="3" name="">
            <a:extLst xmlns:a="http://schemas.openxmlformats.org/drawingml/2006/main">
              <a:ext uri="{FF2B5EF4-FFF2-40B4-BE49-F238E27FC236}">
                <a16:creationId xmlns:a16="http://schemas.microsoft.com/office/drawing/2014/main" id="{0449F20E-9898-418F-9928-D5F935E251AB}"/>
              </a:ext>
            </a:extLst>
          </p:cNvPr>
          <p:cNvGraphicFramePr/>
          <p:nvPr/>
        </p:nvGraphicFramePr>
        <p:xfrm>
          <a:off xmlns:a="http://schemas.openxmlformats.org/drawingml/2006/main" x="819150" y="2381250"/>
          <a:ext xmlns:a="http://schemas.openxmlformats.org/drawingml/2006/main" cx="16649700" cy="6648450"/>
        </p:xfrm>
        <a:graphic xmlns:a="http://schemas.openxmlformats.org/drawingml/2006/main">
          <a:graphicData uri="http://schemas.openxmlformats.org/drawingml/2006/table">
            <a:tbl>
              <a:tblPr/>
              <a:tblGrid>
                <a:gridCol w="5048250"/>
                <a:gridCol w="2381250"/>
                <a:gridCol w="9220200"/>
              </a:tblGrid>
              <a:tr h="571500">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主要企業</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ブース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確認する問い</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アマダ</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E2012</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工程集約・省スペース化後に残る手作業</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ブラザー工業</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E1055</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複合加工・治具と自動化の接続方法</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松浦機械製作所</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E3030</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無人運転での品種変更・異常時の復帰</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シチズンマシナリー</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S2002</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自動計測・切りくず処理と無人運転の条件</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スター精密</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S1003</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対象産業・部品の変化にどう対応するか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ツガミ</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S1004</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工程集約後の供給・段取りの範囲</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オーエスジー</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W1070</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工具管理・測定と現場データの連携</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三菱マテリアル</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W1065</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工具条件の選定・改善支援の範囲</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京セラ</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W1046</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加工コストと工程・工具情報の連携</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タンガロイ</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W1090</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高能率加工の条件選定と生産全体への効果</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ミツトヨ</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E3008 / E7085</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測定結果を加工・計画へ戻す仕組み</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disclosure">
            <a:extLst xmlns:a="http://schemas.openxmlformats.org/drawingml/2006/main">
              <a:ext uri="{FF2B5EF4-FFF2-40B4-BE49-F238E27FC236}">
                <a16:creationId xmlns:a16="http://schemas.microsoft.com/office/drawing/2014/main" id="{821F457D-AB38-410A-888F-C5BC161D6F1F}"/>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保存済みの公式出展情報に基づく。情報不足を技術・出展の不在と解釈せず、現地で内容と適用条件を補う。</a:t>
            </a:r>
          </a:p>
        </p:txBody>
      </p:sp>
      <p:sp>
        <p:nvSpPr>
          <p:cNvPr id="5" name="page">
            <a:extLst xmlns:a="http://schemas.openxmlformats.org/drawingml/2006/main">
              <a:ext uri="{FF2B5EF4-FFF2-40B4-BE49-F238E27FC236}">
                <a16:creationId xmlns:a16="http://schemas.microsoft.com/office/drawing/2014/main" id="{9D9182FF-F6B9-42C3-8304-C91848398897}"/>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27 / 40</a:t>
            </a:r>
          </a:p>
        </p:txBody>
      </p:sp>
    </p:spTree>
    <p:extLst>
      <p:ext uri="{BB962C8B-B14F-4D97-AF65-F5344CB8AC3E}">
        <p14:creationId xmlns:p14="http://schemas.microsoft.com/office/powerpoint/2010/main" val="30514631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E30E537D-840D-45E2-98B9-68E8033815A8}"/>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主要33社の確認表 3/3</a:t>
            </a:r>
          </a:p>
        </p:txBody>
      </p:sp>
      <p:sp>
        <p:nvSpPr>
          <p:cNvPr id="2" name="context">
            <a:extLst xmlns:a="http://schemas.openxmlformats.org/drawingml/2006/main">
              <a:ext uri="{FF2B5EF4-FFF2-40B4-BE49-F238E27FC236}">
                <a16:creationId xmlns:a16="http://schemas.microsoft.com/office/drawing/2014/main" id="{6DA48A95-92FF-4D48-9217-F44E5F93B6B8}"/>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大手を確認対象に保持。問いは調査者の提案であり、各社のAI搭載や接続実績を一律に認定しない。</a:t>
            </a:r>
          </a:p>
        </p:txBody>
      </p:sp>
      <p:graphicFrame>
        <p:nvGraphicFramePr>
          <p:cNvPr id="3" name="">
            <a:extLst xmlns:a="http://schemas.openxmlformats.org/drawingml/2006/main">
              <a:ext uri="{FF2B5EF4-FFF2-40B4-BE49-F238E27FC236}">
                <a16:creationId xmlns:a16="http://schemas.microsoft.com/office/drawing/2014/main" id="{0E3C9C0D-2439-4305-B387-DB06D2BF5EC2}"/>
              </a:ext>
            </a:extLst>
          </p:cNvPr>
          <p:cNvGraphicFramePr/>
          <p:nvPr/>
        </p:nvGraphicFramePr>
        <p:xfrm>
          <a:off xmlns:a="http://schemas.openxmlformats.org/drawingml/2006/main" x="819150" y="2381250"/>
          <a:ext xmlns:a="http://schemas.openxmlformats.org/drawingml/2006/main" cx="16649700" cy="6648450"/>
        </p:xfrm>
        <a:graphic xmlns:a="http://schemas.openxmlformats.org/drawingml/2006/main">
          <a:graphicData uri="http://schemas.openxmlformats.org/drawingml/2006/table">
            <a:tbl>
              <a:tblPr/>
              <a:tblGrid>
                <a:gridCol w="5048250"/>
                <a:gridCol w="2381250"/>
                <a:gridCol w="9220200"/>
              </a:tblGrid>
              <a:tr h="571500">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主要企業</a:t>
                      </a:r>
                    </a:p>
                  </a:txBody>
                  <a:tcPr marL="91440" marR="91440" marT="45720" marB="45720" anchor="t">
                    <a:lnL w="9525">
                      <a:solidFill>
                        <a:srgbClr val="CEDBDC"/>
                      </a:solidFill>
                      <a:prstDash val="solid"/>
                    </a:lnL>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ブース</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c>
                  <a:txBody>
                    <a:bodyPr wrap="none" lIns="76200" tIns="76200" rIns="76200" bIns="76200">
                      <a:noAutofit/>
                    </a:bodyPr>
                    <a:lstStyle/>
                    <a:p>
                      <a:pPr>
                        <a:lnSpc>
                          <a:spcPct val="108000"/>
                        </a:lnSpc>
                        <a:buNone/>
                      </a:pPr>
                      <a:r>
                        <a:rPr sz="1800" b="1">
                          <a:solidFill>
                            <a:srgbClr val="FFFFFF"/>
                          </a:solidFill>
                          <a:latin typeface="Noto Sans JP"/>
                          <a:ea typeface="Noto Sans JP"/>
                          <a:cs typeface="Noto Sans JP"/>
                        </a:rPr>
                        <a:t>確認する問い</a:t>
                      </a:r>
                    </a:p>
                  </a:txBody>
                  <a:tcPr marL="91440" marR="91440" marT="45720" marB="45720" anchor="t">
                    <a:lnR w="9525">
                      <a:solidFill>
                        <a:srgbClr val="CEDBDC"/>
                      </a:solidFill>
                      <a:prstDash val="solid"/>
                    </a:lnR>
                    <a:lnT w="9525">
                      <a:solidFill>
                        <a:srgbClr val="CEDBDC"/>
                      </a:solidFill>
                      <a:prstDash val="solid"/>
                    </a:lnT>
                    <a:lnB w="9525">
                      <a:solidFill>
                        <a:srgbClr val="CEDBDC"/>
                      </a:solidFill>
                      <a:prstDash val="solid"/>
                    </a:lnB>
                    <a:solidFill>
                      <a:srgbClr val="183C4D"/>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東京精密</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E7044</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出展説明の保存情報が不足。内容と連携範囲を確認</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レニショー</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E7089</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工程内計測から補正・保全への接続</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ハイデンハイン</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E7043</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計測・CNCでAIが担う判断と根拠</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ベッコフオートメーション</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E2028</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取得・学習・制御実装とモデル出力の条件</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Hexagon Manufacturing Intelligence</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E7035 / E2013</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CAM・品質データ・改善の接続範囲</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住友電気工業</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W1027</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工具・加工の知見を条件決定へどう渡すか</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中村留精密工業</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E2027</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省スペース自動化での品種変更・復帰</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FUJI</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E3021</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異形・重量ワークの把持と判断の範囲</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TAKISAWA</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E3013</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フィジカルAIという呼称に対応する実際の能力</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オートデスク</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S3019</a:t>
                      </a:r>
                    </a:p>
                  </a:txBody>
                  <a:tcPr marL="91440" marR="91440" marT="45720" marB="45720" anchor="t">
                    <a:lnR w="9525">
                      <a:solidFill>
                        <a:srgbClr val="CEDBDC"/>
                      </a:solidFill>
                      <a:prstDash val="solid"/>
                    </a:lnR>
                    <a:lnB w="9525">
                      <a:solidFill>
                        <a:srgbClr val="CEDBDC"/>
                      </a:solidFill>
                      <a:prstDash val="solid"/>
                    </a:lnB>
                    <a:solidFill>
                      <a:srgbClr val="F0F5F3"/>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AI・CAM・クラウドの工程設計への効果</a:t>
                      </a:r>
                    </a:p>
                  </a:txBody>
                  <a:tcPr marL="91440" marR="91440" marT="45720" marB="45720" anchor="t">
                    <a:lnR w="9525">
                      <a:solidFill>
                        <a:srgbClr val="CEDBDC"/>
                      </a:solidFill>
                      <a:prstDash val="solid"/>
                    </a:lnR>
                    <a:lnB w="9525">
                      <a:solidFill>
                        <a:srgbClr val="CEDBDC"/>
                      </a:solidFill>
                      <a:prstDash val="solid"/>
                    </a:lnB>
                    <a:solidFill>
                      <a:srgbClr val="F0F5F3"/>
                    </a:solidFill>
                  </a:tcPr>
                </a:tc>
              </a:tr>
              <a:tr h="552450">
                <a:tc>
                  <a:txBody>
                    <a:bodyPr wrap="none" lIns="76200" tIns="76200" rIns="76200" bIns="76200">
                      <a:noAutofit/>
                    </a:bodyPr>
                    <a:lstStyle/>
                    <a:p>
                      <a:pPr>
                        <a:lnSpc>
                          <a:spcPct val="108000"/>
                        </a:lnSpc>
                        <a:buNone/>
                      </a:pPr>
                      <a:r>
                        <a:rPr sz="1800" b="1">
                          <a:solidFill>
                            <a:srgbClr val="183C4D"/>
                          </a:solidFill>
                          <a:latin typeface="Noto Sans JP"/>
                          <a:ea typeface="Noto Sans JP"/>
                          <a:cs typeface="Noto Sans JP"/>
                        </a:rPr>
                        <a:t>ニコン</a:t>
                      </a:r>
                    </a:p>
                  </a:txBody>
                  <a:tcPr marL="91440" marR="91440" marT="45720" marB="45720" anchor="t">
                    <a:lnL w="9525">
                      <a:solidFill>
                        <a:srgbClr val="CEDBDC"/>
                      </a:solidFill>
                      <a:prstDash val="solid"/>
                    </a:lnL>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E7001</a:t>
                      </a:r>
                    </a:p>
                  </a:txBody>
                  <a:tcPr marL="91440" marR="91440" marT="45720" marB="45720" anchor="t">
                    <a:lnR w="9525">
                      <a:solidFill>
                        <a:srgbClr val="CEDBDC"/>
                      </a:solidFill>
                      <a:prstDash val="solid"/>
                    </a:lnR>
                    <a:lnB w="9525">
                      <a:solidFill>
                        <a:srgbClr val="CEDBDC"/>
                      </a:solidFill>
                      <a:prstDash val="solid"/>
                    </a:lnB>
                    <a:solidFill>
                      <a:srgbClr val="FFFFFF"/>
                    </a:solidFill>
                  </a:tcPr>
                </a:tc>
                <a:tc>
                  <a:txBody>
                    <a:bodyPr wrap="none" lIns="76200" tIns="76200" rIns="76200" bIns="76200">
                      <a:noAutofit/>
                    </a:bodyPr>
                    <a:lstStyle/>
                    <a:p>
                      <a:pPr>
                        <a:lnSpc>
                          <a:spcPct val="108000"/>
                        </a:lnSpc>
                        <a:buNone/>
                      </a:pPr>
                      <a:r>
                        <a:rPr sz="1800" b="0">
                          <a:solidFill>
                            <a:srgbClr val="183C4D"/>
                          </a:solidFill>
                          <a:latin typeface="Noto Sans JP"/>
                          <a:ea typeface="Noto Sans JP"/>
                          <a:cs typeface="Noto Sans JP"/>
                        </a:rPr>
                        <a:t>測定・外観・内部解析を品質判断へどう結ぶか</a:t>
                      </a:r>
                    </a:p>
                  </a:txBody>
                  <a:tcPr marL="91440" marR="91440" marT="45720" marB="45720" anchor="t">
                    <a:lnR w="9525">
                      <a:solidFill>
                        <a:srgbClr val="CEDBDC"/>
                      </a:solidFill>
                      <a:prstDash val="solid"/>
                    </a:lnR>
                    <a:lnB w="9525">
                      <a:solidFill>
                        <a:srgbClr val="CEDBDC"/>
                      </a:solidFill>
                      <a:prstDash val="solid"/>
                    </a:lnB>
                    <a:solidFill>
                      <a:srgbClr val="FFFFFF"/>
                    </a:solidFill>
                  </a:tcPr>
                </a:tc>
              </a:tr>
            </a:tbl>
          </a:graphicData>
        </a:graphic>
      </p:graphicFrame>
      <p:sp>
        <p:nvSpPr>
          <p:cNvPr id="4" name="disclosure">
            <a:extLst xmlns:a="http://schemas.openxmlformats.org/drawingml/2006/main">
              <a:ext uri="{FF2B5EF4-FFF2-40B4-BE49-F238E27FC236}">
                <a16:creationId xmlns:a16="http://schemas.microsoft.com/office/drawing/2014/main" id="{7F8C75F4-C5FC-4D2F-8565-84B50C592518}"/>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保存済みの公式出展情報に基づく。情報不足を技術・出展の不在と解釈せず、現地で内容と適用条件を補う。</a:t>
            </a:r>
          </a:p>
        </p:txBody>
      </p:sp>
      <p:sp>
        <p:nvSpPr>
          <p:cNvPr id="5" name="page">
            <a:extLst xmlns:a="http://schemas.openxmlformats.org/drawingml/2006/main">
              <a:ext uri="{FF2B5EF4-FFF2-40B4-BE49-F238E27FC236}">
                <a16:creationId xmlns:a16="http://schemas.microsoft.com/office/drawing/2014/main" id="{8A4311FD-3639-4AF3-A844-782769254E3F}"/>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28 / 40</a:t>
            </a:r>
          </a:p>
        </p:txBody>
      </p:sp>
    </p:spTree>
    <p:extLst>
      <p:ext uri="{BB962C8B-B14F-4D97-AF65-F5344CB8AC3E}">
        <p14:creationId xmlns:p14="http://schemas.microsoft.com/office/powerpoint/2010/main" val="83398795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3F507291-DAAD-44ED-9581-F1EEEF76E8ED}"/>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1/12　Q01～Q04</a:t>
            </a:r>
          </a:p>
        </p:txBody>
      </p:sp>
      <p:sp>
        <p:nvSpPr>
          <p:cNvPr id="2" name="context">
            <a:extLst xmlns:a="http://schemas.openxmlformats.org/drawingml/2006/main">
              <a:ext uri="{FF2B5EF4-FFF2-40B4-BE49-F238E27FC236}">
                <a16:creationId xmlns:a16="http://schemas.microsoft.com/office/drawing/2014/main" id="{115EDF58-84D7-4AF8-A79A-16E6EB9C9CE5}"/>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01">
            <a:extLst xmlns:a="http://schemas.openxmlformats.org/drawingml/2006/main">
              <a:ext uri="{FF2B5EF4-FFF2-40B4-BE49-F238E27FC236}">
                <a16:creationId xmlns:a16="http://schemas.microsoft.com/office/drawing/2014/main" id="{430BCE1F-5015-4A24-B5E9-43091F1BC7BF}"/>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821891deb56749c1"/>
              </a:rPr>
              <a:t>Q01</a:t>
            </a:r>
            <a:br>
              <a:rPr sz="2025" b="1">
                <a:solidFill>
                  <a:srgbClr val="117D83"/>
                </a:solidFill>
                <a:latin typeface="Noto Sans JP"/>
                <a:ea typeface="Noto Sans JP"/>
                <a:cs typeface="Noto Sans JP"/>
                <a:hlinkClick xmlns:r="http://schemas.openxmlformats.org/officeDocument/2006/relationships" r:id="R821891deb56749c1"/>
              </a:rPr>
            </a:br>
            <a:r>
              <a:rPr sz="2025" b="1">
                <a:solidFill>
                  <a:srgbClr val="117D83"/>
                </a:solidFill>
                <a:latin typeface="Noto Sans JP"/>
                <a:ea typeface="Noto Sans JP"/>
                <a:cs typeface="Noto Sans JP"/>
                <a:hlinkClick xmlns:r="http://schemas.openxmlformats.org/officeDocument/2006/relationships" r:id="R821891deb56749c1"/>
              </a:rPr>
              <a:t>S01</a:t>
            </a:r>
          </a:p>
        </p:txBody>
      </p:sp>
      <p:sp>
        <p:nvSpPr>
          <p:cNvPr id="4" name="verbatim-Q01">
            <a:extLst xmlns:a="http://schemas.openxmlformats.org/drawingml/2006/main">
              <a:ext uri="{FF2B5EF4-FFF2-40B4-BE49-F238E27FC236}">
                <a16:creationId xmlns:a16="http://schemas.microsoft.com/office/drawing/2014/main" id="{A67393C3-E6ED-41A9-88FC-A8A5BC3B3183}"/>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製造工程の現象理解に基づく製造データ取得の支援</a:t>
            </a:r>
          </a:p>
        </p:txBody>
      </p:sp>
      <p:sp>
        <p:nvSpPr>
          <p:cNvPr id="5" name="attribution-Q01">
            <a:extLst xmlns:a="http://schemas.openxmlformats.org/drawingml/2006/main">
              <a:ext uri="{FF2B5EF4-FFF2-40B4-BE49-F238E27FC236}">
                <a16:creationId xmlns:a16="http://schemas.microsoft.com/office/drawing/2014/main" id="{C770CE7E-E54C-4155-9953-D6D9509B400B}"/>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産総研の公式説明　2026-07-02</a:t>
            </a:r>
          </a:p>
        </p:txBody>
      </p:sp>
      <p:sp>
        <p:nvSpPr>
          <p:cNvPr id="6" name="context-Q01">
            <a:extLst xmlns:a="http://schemas.openxmlformats.org/drawingml/2006/main">
              <a:ext uri="{FF2B5EF4-FFF2-40B4-BE49-F238E27FC236}">
                <a16:creationId xmlns:a16="http://schemas.microsoft.com/office/drawing/2014/main" id="{2CCE945A-6FEE-45B7-9E46-AD17F7013C68}"/>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文脈〔要約〕：拠点に期待される支援として、取得設計、匿名化・構造化、AI開発を説明する。</a:t>
            </a:r>
          </a:p>
        </p:txBody>
      </p:sp>
      <p:sp>
        <p:nvSpPr>
          <p:cNvPr id="7" name="boundary-Q01">
            <a:extLst xmlns:a="http://schemas.openxmlformats.org/drawingml/2006/main">
              <a:ext uri="{FF2B5EF4-FFF2-40B4-BE49-F238E27FC236}">
                <a16:creationId xmlns:a16="http://schemas.microsoft.com/office/drawing/2014/main" id="{7EEAA7E3-0D21-4775-81EF-9EE22E3EA17E}"/>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留保：期待される役割の説明であり、特定の取得技術の性能実証ではない。</a:t>
            </a:r>
          </a:p>
        </p:txBody>
      </p:sp>
      <p:sp>
        <p:nvSpPr>
          <p:cNvPr id="8" name="qid-Q02">
            <a:extLst xmlns:a="http://schemas.openxmlformats.org/drawingml/2006/main">
              <a:ext uri="{FF2B5EF4-FFF2-40B4-BE49-F238E27FC236}">
                <a16:creationId xmlns:a16="http://schemas.microsoft.com/office/drawing/2014/main" id="{E948F35F-92CA-4A84-81C3-639A2054F7D2}"/>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e7ce36c63e994edb"/>
              </a:rPr>
              <a:t>Q02</a:t>
            </a:r>
            <a:br>
              <a:rPr sz="2025" b="1">
                <a:solidFill>
                  <a:srgbClr val="117D83"/>
                </a:solidFill>
                <a:latin typeface="Noto Sans JP"/>
                <a:ea typeface="Noto Sans JP"/>
                <a:cs typeface="Noto Sans JP"/>
                <a:hlinkClick xmlns:r="http://schemas.openxmlformats.org/officeDocument/2006/relationships" r:id="Re7ce36c63e994edb"/>
              </a:rPr>
            </a:br>
            <a:r>
              <a:rPr sz="2025" b="1">
                <a:solidFill>
                  <a:srgbClr val="117D83"/>
                </a:solidFill>
                <a:latin typeface="Noto Sans JP"/>
                <a:ea typeface="Noto Sans JP"/>
                <a:cs typeface="Noto Sans JP"/>
                <a:hlinkClick xmlns:r="http://schemas.openxmlformats.org/officeDocument/2006/relationships" r:id="Re7ce36c63e994edb"/>
              </a:rPr>
              <a:t>S02</a:t>
            </a:r>
          </a:p>
        </p:txBody>
      </p:sp>
      <p:sp>
        <p:nvSpPr>
          <p:cNvPr id="9" name="verbatim-Q02">
            <a:extLst xmlns:a="http://schemas.openxmlformats.org/drawingml/2006/main">
              <a:ext uri="{FF2B5EF4-FFF2-40B4-BE49-F238E27FC236}">
                <a16:creationId xmlns:a16="http://schemas.microsoft.com/office/drawing/2014/main" id="{E622255F-48E0-4CCC-A6CF-8ED6E6A4BADE}"/>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市場投入後の設備から継続的にデータを収集・学習・還元する仕組み</a:t>
            </a:r>
          </a:p>
        </p:txBody>
      </p:sp>
      <p:sp>
        <p:nvSpPr>
          <p:cNvPr id="10" name="attribution-Q02">
            <a:extLst xmlns:a="http://schemas.openxmlformats.org/drawingml/2006/main">
              <a:ext uri="{FF2B5EF4-FFF2-40B4-BE49-F238E27FC236}">
                <a16:creationId xmlns:a16="http://schemas.microsoft.com/office/drawing/2014/main" id="{EF88EF10-15ED-4E54-916E-D64A81057593}"/>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DMG森精機の公式発表　2026-07-06</a:t>
            </a:r>
          </a:p>
        </p:txBody>
      </p:sp>
      <p:sp>
        <p:nvSpPr>
          <p:cNvPr id="11" name="context-Q02">
            <a:extLst xmlns:a="http://schemas.openxmlformats.org/drawingml/2006/main">
              <a:ext uri="{FF2B5EF4-FFF2-40B4-BE49-F238E27FC236}">
                <a16:creationId xmlns:a16="http://schemas.microsoft.com/office/drawing/2014/main" id="{7BCF0FBE-54D6-4CB5-8B1F-FBC1667AFFC5}"/>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文脈〔要約〕：異常検知から品質予測・条件最適化、生産セルへ広げる計画の中の表現。</a:t>
            </a:r>
          </a:p>
        </p:txBody>
      </p:sp>
      <p:sp>
        <p:nvSpPr>
          <p:cNvPr id="12" name="boundary-Q02">
            <a:extLst xmlns:a="http://schemas.openxmlformats.org/drawingml/2006/main">
              <a:ext uri="{FF2B5EF4-FFF2-40B4-BE49-F238E27FC236}">
                <a16:creationId xmlns:a16="http://schemas.microsoft.com/office/drawing/2014/main" id="{25C7C69D-F8F8-4878-9B33-E231D41FC669}"/>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留保：構築を目指す仕組み。既に全用途で循環が成立したという実績ではない。</a:t>
            </a:r>
          </a:p>
        </p:txBody>
      </p:sp>
      <p:sp>
        <p:nvSpPr>
          <p:cNvPr id="13" name="qid-Q03">
            <a:extLst xmlns:a="http://schemas.openxmlformats.org/drawingml/2006/main">
              <a:ext uri="{FF2B5EF4-FFF2-40B4-BE49-F238E27FC236}">
                <a16:creationId xmlns:a16="http://schemas.microsoft.com/office/drawing/2014/main" id="{B3F09293-9BDF-481F-A130-89AE4235BD52}"/>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3a564656820d4ff8"/>
              </a:rPr>
              <a:t>Q03</a:t>
            </a:r>
            <a:br>
              <a:rPr sz="2025" b="1">
                <a:solidFill>
                  <a:srgbClr val="117D83"/>
                </a:solidFill>
                <a:latin typeface="Noto Sans JP"/>
                <a:ea typeface="Noto Sans JP"/>
                <a:cs typeface="Noto Sans JP"/>
                <a:hlinkClick xmlns:r="http://schemas.openxmlformats.org/officeDocument/2006/relationships" r:id="R3a564656820d4ff8"/>
              </a:rPr>
            </a:br>
            <a:r>
              <a:rPr sz="2025" b="1">
                <a:solidFill>
                  <a:srgbClr val="117D83"/>
                </a:solidFill>
                <a:latin typeface="Noto Sans JP"/>
                <a:ea typeface="Noto Sans JP"/>
                <a:cs typeface="Noto Sans JP"/>
                <a:hlinkClick xmlns:r="http://schemas.openxmlformats.org/officeDocument/2006/relationships" r:id="R3a564656820d4ff8"/>
              </a:rPr>
              <a:t>S03</a:t>
            </a:r>
          </a:p>
        </p:txBody>
      </p:sp>
      <p:sp>
        <p:nvSpPr>
          <p:cNvPr id="14" name="verbatim-Q03">
            <a:extLst xmlns:a="http://schemas.openxmlformats.org/drawingml/2006/main">
              <a:ext uri="{FF2B5EF4-FFF2-40B4-BE49-F238E27FC236}">
                <a16:creationId xmlns:a16="http://schemas.microsoft.com/office/drawing/2014/main" id="{59C7FA3F-54CE-472C-A8B7-D871004B635F}"/>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微細な物理現象をAIに理解させるには</a:t>
            </a:r>
          </a:p>
        </p:txBody>
      </p:sp>
      <p:sp>
        <p:nvSpPr>
          <p:cNvPr id="15" name="attribution-Q03">
            <a:extLst xmlns:a="http://schemas.openxmlformats.org/drawingml/2006/main">
              <a:ext uri="{FF2B5EF4-FFF2-40B4-BE49-F238E27FC236}">
                <a16:creationId xmlns:a16="http://schemas.microsoft.com/office/drawing/2014/main" id="{B561C329-F7DB-4360-987D-6E29DDBE1173}"/>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WALC社長 櫻井努氏の取材発言　2026-07-08</a:t>
            </a:r>
          </a:p>
        </p:txBody>
      </p:sp>
      <p:sp>
        <p:nvSpPr>
          <p:cNvPr id="16" name="context-Q03">
            <a:extLst xmlns:a="http://schemas.openxmlformats.org/drawingml/2006/main">
              <a:ext uri="{FF2B5EF4-FFF2-40B4-BE49-F238E27FC236}">
                <a16:creationId xmlns:a16="http://schemas.microsoft.com/office/drawing/2014/main" id="{70F02431-C09D-4630-8282-F69C7B74EA0D}"/>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文脈〔要約〕：工具とワークが接する瞬間などを捉えるため、時間分解能と実装負担を検討した説明。</a:t>
            </a:r>
          </a:p>
        </p:txBody>
      </p:sp>
      <p:sp>
        <p:nvSpPr>
          <p:cNvPr id="17" name="boundary-Q03">
            <a:extLst xmlns:a="http://schemas.openxmlformats.org/drawingml/2006/main">
              <a:ext uri="{FF2B5EF4-FFF2-40B4-BE49-F238E27FC236}">
                <a16:creationId xmlns:a16="http://schemas.microsoft.com/office/drawing/2014/main" id="{E5FA4E1C-42F2-45E2-A04C-7B414831A4E7}"/>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留保：短い条件節の抜粋。あらゆる加工現象に1kHzで十分という証拠にはしない。</a:t>
            </a:r>
          </a:p>
        </p:txBody>
      </p:sp>
      <p:sp>
        <p:nvSpPr>
          <p:cNvPr id="18" name="qid-Q04">
            <a:extLst xmlns:a="http://schemas.openxmlformats.org/drawingml/2006/main">
              <a:ext uri="{FF2B5EF4-FFF2-40B4-BE49-F238E27FC236}">
                <a16:creationId xmlns:a16="http://schemas.microsoft.com/office/drawing/2014/main" id="{0692E38B-E895-49C8-9BB8-CB81A736789B}"/>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0b56f071ddab4fe5"/>
              </a:rPr>
              <a:t>Q04</a:t>
            </a:r>
            <a:br>
              <a:rPr sz="2025" b="1">
                <a:solidFill>
                  <a:srgbClr val="117D83"/>
                </a:solidFill>
                <a:latin typeface="Noto Sans JP"/>
                <a:ea typeface="Noto Sans JP"/>
                <a:cs typeface="Noto Sans JP"/>
                <a:hlinkClick xmlns:r="http://schemas.openxmlformats.org/officeDocument/2006/relationships" r:id="R0b56f071ddab4fe5"/>
              </a:rPr>
            </a:br>
            <a:r>
              <a:rPr sz="2025" b="1">
                <a:solidFill>
                  <a:srgbClr val="117D83"/>
                </a:solidFill>
                <a:latin typeface="Noto Sans JP"/>
                <a:ea typeface="Noto Sans JP"/>
                <a:cs typeface="Noto Sans JP"/>
                <a:hlinkClick xmlns:r="http://schemas.openxmlformats.org/officeDocument/2006/relationships" r:id="R0b56f071ddab4fe5"/>
              </a:rPr>
              <a:t>S04</a:t>
            </a:r>
          </a:p>
        </p:txBody>
      </p:sp>
      <p:sp>
        <p:nvSpPr>
          <p:cNvPr id="19" name="verbatim-Q04">
            <a:extLst xmlns:a="http://schemas.openxmlformats.org/drawingml/2006/main">
              <a:ext uri="{FF2B5EF4-FFF2-40B4-BE49-F238E27FC236}">
                <a16:creationId xmlns:a16="http://schemas.microsoft.com/office/drawing/2014/main" id="{BFE4AD39-7CF4-4C3C-B51F-DC603FD45FE4}"/>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製造現場にこれまで以上の生産性と柔軟性が求められています。</a:t>
            </a:r>
          </a:p>
        </p:txBody>
      </p:sp>
      <p:sp>
        <p:nvSpPr>
          <p:cNvPr id="20" name="attribution-Q04">
            <a:extLst xmlns:a="http://schemas.openxmlformats.org/drawingml/2006/main">
              <a:ext uri="{FF2B5EF4-FFF2-40B4-BE49-F238E27FC236}">
                <a16:creationId xmlns:a16="http://schemas.microsoft.com/office/drawing/2014/main" id="{1DC9EF5A-371B-4A35-8A24-2D315F69F3F6}"/>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ABEJAの公式説明　2026-10-16</a:t>
            </a:r>
          </a:p>
        </p:txBody>
      </p:sp>
      <p:sp>
        <p:nvSpPr>
          <p:cNvPr id="21" name="context-Q04">
            <a:extLst xmlns:a="http://schemas.openxmlformats.org/drawingml/2006/main">
              <a:ext uri="{FF2B5EF4-FFF2-40B4-BE49-F238E27FC236}">
                <a16:creationId xmlns:a16="http://schemas.microsoft.com/office/drawing/2014/main" id="{EBD41373-7B81-4EB5-8A94-1F003C4DCDCC}"/>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文脈〔要約〕：工程設計・計画・段取りが熟練者へ依存する背景を説明する。</a:t>
            </a:r>
          </a:p>
        </p:txBody>
      </p:sp>
      <p:sp>
        <p:nvSpPr>
          <p:cNvPr id="22" name="boundary-Q04">
            <a:extLst xmlns:a="http://schemas.openxmlformats.org/drawingml/2006/main">
              <a:ext uri="{FF2B5EF4-FFF2-40B4-BE49-F238E27FC236}">
                <a16:creationId xmlns:a16="http://schemas.microsoft.com/office/drawing/2014/main" id="{107742DA-1B82-4230-A389-0F7243D20A79}"/>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留保：共同開発の背景認識。業界全体の導入率や定量的な需要規模ではない。</a:t>
            </a:r>
          </a:p>
        </p:txBody>
      </p:sp>
      <p:sp>
        <p:nvSpPr>
          <p:cNvPr id="23" name="ref-Q01">
            <a:extLst xmlns:a="http://schemas.openxmlformats.org/drawingml/2006/main">
              <a:ext uri="{FF2B5EF4-FFF2-40B4-BE49-F238E27FC236}">
                <a16:creationId xmlns:a16="http://schemas.microsoft.com/office/drawing/2014/main" id="{896BCAE0-0C43-4479-8AD9-CB43055107DE}"/>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2998a59934448dc"/>
              </a:rPr>
              <a:t>Q01 p.29</a:t>
            </a:r>
          </a:p>
        </p:txBody>
      </p:sp>
      <p:sp>
        <p:nvSpPr>
          <p:cNvPr id="24" name="ref-Q02">
            <a:extLst xmlns:a="http://schemas.openxmlformats.org/drawingml/2006/main">
              <a:ext uri="{FF2B5EF4-FFF2-40B4-BE49-F238E27FC236}">
                <a16:creationId xmlns:a16="http://schemas.microsoft.com/office/drawing/2014/main" id="{26D61603-CE45-4C47-8633-6552A3EF8208}"/>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98458b25be864c0b"/>
              </a:rPr>
              <a:t>Q02 p.29</a:t>
            </a:r>
          </a:p>
        </p:txBody>
      </p:sp>
      <p:sp>
        <p:nvSpPr>
          <p:cNvPr id="25" name="ref-Q03">
            <a:extLst xmlns:a="http://schemas.openxmlformats.org/drawingml/2006/main">
              <a:ext uri="{FF2B5EF4-FFF2-40B4-BE49-F238E27FC236}">
                <a16:creationId xmlns:a16="http://schemas.microsoft.com/office/drawing/2014/main" id="{642A2A2A-73C9-4C67-9EEB-5A0B53B95852}"/>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b9573b3173d649f0"/>
              </a:rPr>
              <a:t>Q03 p.29</a:t>
            </a:r>
          </a:p>
        </p:txBody>
      </p:sp>
      <p:sp>
        <p:nvSpPr>
          <p:cNvPr id="26" name="ref-Q04">
            <a:extLst xmlns:a="http://schemas.openxmlformats.org/drawingml/2006/main">
              <a:ext uri="{FF2B5EF4-FFF2-40B4-BE49-F238E27FC236}">
                <a16:creationId xmlns:a16="http://schemas.microsoft.com/office/drawing/2014/main" id="{1EEFE2F8-2131-47E3-BADF-21CE8BF238DD}"/>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44c0448d52994da4"/>
              </a:rPr>
              <a:t>Q04 p.29</a:t>
            </a:r>
          </a:p>
        </p:txBody>
      </p:sp>
      <p:sp>
        <p:nvSpPr>
          <p:cNvPr id="27" name="disclosure">
            <a:extLst xmlns:a="http://schemas.openxmlformats.org/drawingml/2006/main">
              <a:ext uri="{FF2B5EF4-FFF2-40B4-BE49-F238E27FC236}">
                <a16:creationId xmlns:a16="http://schemas.microsoft.com/office/drawing/2014/main" id="{3028DE14-E7D4-44E5-81D2-4D7EAC942F86}"/>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AAE1025C-59FD-42AC-BCEC-2DF1B5D9760D}"/>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29 / 40</a:t>
            </a:r>
          </a:p>
        </p:txBody>
      </p:sp>
    </p:spTree>
    <p:extLst>
      <p:ext uri="{BB962C8B-B14F-4D97-AF65-F5344CB8AC3E}">
        <p14:creationId xmlns:p14="http://schemas.microsoft.com/office/powerpoint/2010/main" val="184150773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C2E5D4C3-8ABE-491B-AED9-52E91EF1C37D}"/>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2/12　Q05～Q08</a:t>
            </a:r>
          </a:p>
        </p:txBody>
      </p:sp>
      <p:sp>
        <p:nvSpPr>
          <p:cNvPr id="2" name="context">
            <a:extLst xmlns:a="http://schemas.openxmlformats.org/drawingml/2006/main">
              <a:ext uri="{FF2B5EF4-FFF2-40B4-BE49-F238E27FC236}">
                <a16:creationId xmlns:a16="http://schemas.microsoft.com/office/drawing/2014/main" id="{3B63D13F-3958-4C91-B268-5C5CB01429A4}"/>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05">
            <a:extLst xmlns:a="http://schemas.openxmlformats.org/drawingml/2006/main">
              <a:ext uri="{FF2B5EF4-FFF2-40B4-BE49-F238E27FC236}">
                <a16:creationId xmlns:a16="http://schemas.microsoft.com/office/drawing/2014/main" id="{AEC91E36-B76D-483B-BDF5-2272778A1949}"/>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f9dfb8f9ace64fc6"/>
              </a:rPr>
              <a:t>Q05</a:t>
            </a:r>
            <a:br>
              <a:rPr sz="2025" b="1">
                <a:solidFill>
                  <a:srgbClr val="117D83"/>
                </a:solidFill>
                <a:latin typeface="Noto Sans JP"/>
                <a:ea typeface="Noto Sans JP"/>
                <a:cs typeface="Noto Sans JP"/>
                <a:hlinkClick xmlns:r="http://schemas.openxmlformats.org/officeDocument/2006/relationships" r:id="Rf9dfb8f9ace64fc6"/>
              </a:rPr>
            </a:br>
            <a:r>
              <a:rPr sz="2025" b="1">
                <a:solidFill>
                  <a:srgbClr val="117D83"/>
                </a:solidFill>
                <a:latin typeface="Noto Sans JP"/>
                <a:ea typeface="Noto Sans JP"/>
                <a:cs typeface="Noto Sans JP"/>
                <a:hlinkClick xmlns:r="http://schemas.openxmlformats.org/officeDocument/2006/relationships" r:id="Rf9dfb8f9ace64fc6"/>
              </a:rPr>
              <a:t>S05</a:t>
            </a:r>
          </a:p>
        </p:txBody>
      </p:sp>
      <p:sp>
        <p:nvSpPr>
          <p:cNvPr id="4" name="verbatim-Q05">
            <a:extLst xmlns:a="http://schemas.openxmlformats.org/drawingml/2006/main">
              <a:ext uri="{FF2B5EF4-FFF2-40B4-BE49-F238E27FC236}">
                <a16:creationId xmlns:a16="http://schemas.microsoft.com/office/drawing/2014/main" id="{663FF809-5049-41FF-A0C7-392CB7DED285}"/>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「何をどのように加工したいのか」という作業者の意図や目的</a:t>
            </a:r>
          </a:p>
        </p:txBody>
      </p:sp>
      <p:sp>
        <p:nvSpPr>
          <p:cNvPr id="5" name="attribution-Q05">
            <a:extLst xmlns:a="http://schemas.openxmlformats.org/drawingml/2006/main">
              <a:ext uri="{FF2B5EF4-FFF2-40B4-BE49-F238E27FC236}">
                <a16:creationId xmlns:a16="http://schemas.microsoft.com/office/drawing/2014/main" id="{95FE75FD-7698-433A-B243-F1857B84EC12}"/>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MONOistの記者説明。マザック共同開発を取材　2026-10-19</a:t>
            </a:r>
          </a:p>
        </p:txBody>
      </p:sp>
      <p:sp>
        <p:nvSpPr>
          <p:cNvPr id="6" name="context-Q05">
            <a:extLst xmlns:a="http://schemas.openxmlformats.org/drawingml/2006/main">
              <a:ext uri="{FF2B5EF4-FFF2-40B4-BE49-F238E27FC236}">
                <a16:creationId xmlns:a16="http://schemas.microsoft.com/office/drawing/2014/main" id="{0C12B472-159D-4F00-B103-74DA37B2B43C}"/>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文脈〔要約〕：対話プログラムの加工意図と判断結果を学習する方式を説明する。</a:t>
            </a:r>
          </a:p>
        </p:txBody>
      </p:sp>
      <p:sp>
        <p:nvSpPr>
          <p:cNvPr id="7" name="boundary-Q05">
            <a:extLst xmlns:a="http://schemas.openxmlformats.org/drawingml/2006/main">
              <a:ext uri="{FF2B5EF4-FFF2-40B4-BE49-F238E27FC236}">
                <a16:creationId xmlns:a16="http://schemas.microsoft.com/office/drawing/2014/main" id="{ABE5CEED-FFEC-4E7F-B9EC-3AE518C39439}"/>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留保：記者の説明からの抜粋で、発言者の直接発言ではない。</a:t>
            </a:r>
          </a:p>
        </p:txBody>
      </p:sp>
      <p:sp>
        <p:nvSpPr>
          <p:cNvPr id="8" name="qid-Q06">
            <a:extLst xmlns:a="http://schemas.openxmlformats.org/drawingml/2006/main">
              <a:ext uri="{FF2B5EF4-FFF2-40B4-BE49-F238E27FC236}">
                <a16:creationId xmlns:a16="http://schemas.microsoft.com/office/drawing/2014/main" id="{54739E69-0D73-4F2C-A82A-60E1AB9D193A}"/>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9170ad8eb61f4b79"/>
              </a:rPr>
              <a:t>Q06</a:t>
            </a:r>
            <a:br>
              <a:rPr sz="2025" b="1">
                <a:solidFill>
                  <a:srgbClr val="117D83"/>
                </a:solidFill>
                <a:latin typeface="Noto Sans JP"/>
                <a:ea typeface="Noto Sans JP"/>
                <a:cs typeface="Noto Sans JP"/>
                <a:hlinkClick xmlns:r="http://schemas.openxmlformats.org/officeDocument/2006/relationships" r:id="R9170ad8eb61f4b79"/>
              </a:rPr>
            </a:br>
            <a:r>
              <a:rPr sz="2025" b="1">
                <a:solidFill>
                  <a:srgbClr val="117D83"/>
                </a:solidFill>
                <a:latin typeface="Noto Sans JP"/>
                <a:ea typeface="Noto Sans JP"/>
                <a:cs typeface="Noto Sans JP"/>
                <a:hlinkClick xmlns:r="http://schemas.openxmlformats.org/officeDocument/2006/relationships" r:id="R9170ad8eb61f4b79"/>
              </a:rPr>
              <a:t>S06</a:t>
            </a:r>
          </a:p>
        </p:txBody>
      </p:sp>
      <p:sp>
        <p:nvSpPr>
          <p:cNvPr id="9" name="verbatim-Q06">
            <a:extLst xmlns:a="http://schemas.openxmlformats.org/drawingml/2006/main">
              <a:ext uri="{FF2B5EF4-FFF2-40B4-BE49-F238E27FC236}">
                <a16:creationId xmlns:a16="http://schemas.microsoft.com/office/drawing/2014/main" id="{46B1B66D-8EC8-4E46-B71A-62FDA629C25A}"/>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現場固有のルールを継続的に学習します。</a:t>
            </a:r>
          </a:p>
        </p:txBody>
      </p:sp>
      <p:sp>
        <p:nvSpPr>
          <p:cNvPr id="10" name="attribution-Q06">
            <a:extLst xmlns:a="http://schemas.openxmlformats.org/drawingml/2006/main">
              <a:ext uri="{FF2B5EF4-FFF2-40B4-BE49-F238E27FC236}">
                <a16:creationId xmlns:a16="http://schemas.microsoft.com/office/drawing/2014/main" id="{8426F9D5-BC99-4130-B173-5E884A3B40E0}"/>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日立・ファナックの共同発表をファナックが掲載　2026-09-30</a:t>
            </a:r>
          </a:p>
        </p:txBody>
      </p:sp>
      <p:sp>
        <p:nvSpPr>
          <p:cNvPr id="11" name="context-Q06">
            <a:extLst xmlns:a="http://schemas.openxmlformats.org/drawingml/2006/main">
              <a:ext uri="{FF2B5EF4-FFF2-40B4-BE49-F238E27FC236}">
                <a16:creationId xmlns:a16="http://schemas.microsoft.com/office/drawing/2014/main" id="{26280059-A4A0-410F-81F9-3D7CCBC7DCA0}"/>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文脈〔要約〕：日立の工場で共同実証し、現場課題へ柔軟に対応する実用化計画の一節。</a:t>
            </a:r>
          </a:p>
        </p:txBody>
      </p:sp>
      <p:sp>
        <p:nvSpPr>
          <p:cNvPr id="12" name="boundary-Q06">
            <a:extLst xmlns:a="http://schemas.openxmlformats.org/drawingml/2006/main">
              <a:ext uri="{FF2B5EF4-FFF2-40B4-BE49-F238E27FC236}">
                <a16:creationId xmlns:a16="http://schemas.microsoft.com/office/drawing/2014/main" id="{87E9F8E8-B40D-43A7-8E38-3C37544AB029}"/>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留保：将来の共同実証・実用化を説明する。全機能の達成実績とはしない。</a:t>
            </a:r>
          </a:p>
        </p:txBody>
      </p:sp>
      <p:sp>
        <p:nvSpPr>
          <p:cNvPr id="13" name="qid-Q07">
            <a:extLst xmlns:a="http://schemas.openxmlformats.org/drawingml/2006/main">
              <a:ext uri="{FF2B5EF4-FFF2-40B4-BE49-F238E27FC236}">
                <a16:creationId xmlns:a16="http://schemas.microsoft.com/office/drawing/2014/main" id="{DDBF6042-106A-48F3-9D58-6635FA7DB865}"/>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35e8605cff8042e3"/>
              </a:rPr>
              <a:t>Q07</a:t>
            </a:r>
            <a:br>
              <a:rPr sz="2025" b="1">
                <a:solidFill>
                  <a:srgbClr val="117D83"/>
                </a:solidFill>
                <a:latin typeface="Noto Sans JP"/>
                <a:ea typeface="Noto Sans JP"/>
                <a:cs typeface="Noto Sans JP"/>
                <a:hlinkClick xmlns:r="http://schemas.openxmlformats.org/officeDocument/2006/relationships" r:id="R35e8605cff8042e3"/>
              </a:rPr>
            </a:br>
            <a:r>
              <a:rPr sz="2025" b="1">
                <a:solidFill>
                  <a:srgbClr val="117D83"/>
                </a:solidFill>
                <a:latin typeface="Noto Sans JP"/>
                <a:ea typeface="Noto Sans JP"/>
                <a:cs typeface="Noto Sans JP"/>
                <a:hlinkClick xmlns:r="http://schemas.openxmlformats.org/officeDocument/2006/relationships" r:id="R35e8605cff8042e3"/>
              </a:rPr>
              <a:t>S07</a:t>
            </a:r>
          </a:p>
        </p:txBody>
      </p:sp>
      <p:sp>
        <p:nvSpPr>
          <p:cNvPr id="14" name="verbatim-Q07">
            <a:extLst xmlns:a="http://schemas.openxmlformats.org/drawingml/2006/main">
              <a:ext uri="{FF2B5EF4-FFF2-40B4-BE49-F238E27FC236}">
                <a16:creationId xmlns:a16="http://schemas.microsoft.com/office/drawing/2014/main" id="{A9C66CBB-8C15-4872-866C-EFD50EA4A7CE}"/>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周囲の環境を見て確認し、いろいろな演算をAIが行う</a:t>
            </a:r>
          </a:p>
        </p:txBody>
      </p:sp>
      <p:sp>
        <p:nvSpPr>
          <p:cNvPr id="15" name="attribution-Q07">
            <a:extLst xmlns:a="http://schemas.openxmlformats.org/drawingml/2006/main">
              <a:ext uri="{FF2B5EF4-FFF2-40B4-BE49-F238E27FC236}">
                <a16:creationId xmlns:a16="http://schemas.microsoft.com/office/drawing/2014/main" id="{89552E80-341D-4078-8388-B4518656DB91}"/>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ファナック 安部健一郎氏の取材発言　2026-07-02</a:t>
            </a:r>
          </a:p>
        </p:txBody>
      </p:sp>
      <p:sp>
        <p:nvSpPr>
          <p:cNvPr id="16" name="context-Q07">
            <a:extLst xmlns:a="http://schemas.openxmlformats.org/drawingml/2006/main">
              <a:ext uri="{FF2B5EF4-FFF2-40B4-BE49-F238E27FC236}">
                <a16:creationId xmlns:a16="http://schemas.microsoft.com/office/drawing/2014/main" id="{BD37F28D-5D56-42C6-9323-E1B1CBDD2458}"/>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文脈〔要約〕：決められた反復動作に対し、環境を確認してAIの演算を用いるソリューションを説明する。</a:t>
            </a:r>
          </a:p>
        </p:txBody>
      </p:sp>
      <p:sp>
        <p:nvSpPr>
          <p:cNvPr id="17" name="boundary-Q07">
            <a:extLst xmlns:a="http://schemas.openxmlformats.org/drawingml/2006/main">
              <a:ext uri="{FF2B5EF4-FFF2-40B4-BE49-F238E27FC236}">
                <a16:creationId xmlns:a16="http://schemas.microsoft.com/office/drawing/2014/main" id="{B8AA7B70-C306-46A7-A381-DBE1F859BDE0}"/>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留保：正式な業界規格の定義ではない。どの変化にどこまで対応できるかは個別に調べる。</a:t>
            </a:r>
          </a:p>
        </p:txBody>
      </p:sp>
      <p:sp>
        <p:nvSpPr>
          <p:cNvPr id="18" name="qid-Q08">
            <a:extLst xmlns:a="http://schemas.openxmlformats.org/drawingml/2006/main">
              <a:ext uri="{FF2B5EF4-FFF2-40B4-BE49-F238E27FC236}">
                <a16:creationId xmlns:a16="http://schemas.microsoft.com/office/drawing/2014/main" id="{4B20798D-8B9A-4552-8E13-BAE67C756A9C}"/>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a21d491f01204c05"/>
              </a:rPr>
              <a:t>Q08</a:t>
            </a:r>
            <a:br>
              <a:rPr sz="2025" b="1">
                <a:solidFill>
                  <a:srgbClr val="117D83"/>
                </a:solidFill>
                <a:latin typeface="Noto Sans JP"/>
                <a:ea typeface="Noto Sans JP"/>
                <a:cs typeface="Noto Sans JP"/>
                <a:hlinkClick xmlns:r="http://schemas.openxmlformats.org/officeDocument/2006/relationships" r:id="Ra21d491f01204c05"/>
              </a:rPr>
            </a:br>
            <a:r>
              <a:rPr sz="2025" b="1">
                <a:solidFill>
                  <a:srgbClr val="117D83"/>
                </a:solidFill>
                <a:latin typeface="Noto Sans JP"/>
                <a:ea typeface="Noto Sans JP"/>
                <a:cs typeface="Noto Sans JP"/>
                <a:hlinkClick xmlns:r="http://schemas.openxmlformats.org/officeDocument/2006/relationships" r:id="Ra21d491f01204c05"/>
              </a:rPr>
              <a:t>S08</a:t>
            </a:r>
          </a:p>
        </p:txBody>
      </p:sp>
      <p:sp>
        <p:nvSpPr>
          <p:cNvPr id="19" name="verbatim-Q08">
            <a:extLst xmlns:a="http://schemas.openxmlformats.org/drawingml/2006/main">
              <a:ext uri="{FF2B5EF4-FFF2-40B4-BE49-F238E27FC236}">
                <a16:creationId xmlns:a16="http://schemas.microsoft.com/office/drawing/2014/main" id="{50A6D83C-AF41-46D7-8264-55D6D8DF069B}"/>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高度に適応可能なAIソリューション</a:t>
            </a:r>
          </a:p>
        </p:txBody>
      </p:sp>
      <p:sp>
        <p:nvSpPr>
          <p:cNvPr id="20" name="attribution-Q08">
            <a:extLst xmlns:a="http://schemas.openxmlformats.org/drawingml/2006/main">
              <a:ext uri="{FF2B5EF4-FFF2-40B4-BE49-F238E27FC236}">
                <a16:creationId xmlns:a16="http://schemas.microsoft.com/office/drawing/2014/main" id="{649C35FB-F0A1-49E8-BB28-62EA032C2393}"/>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ファナックの公式発表　2026-05-13</a:t>
            </a:r>
          </a:p>
        </p:txBody>
      </p:sp>
      <p:sp>
        <p:nvSpPr>
          <p:cNvPr id="21" name="context-Q08">
            <a:extLst xmlns:a="http://schemas.openxmlformats.org/drawingml/2006/main">
              <a:ext uri="{FF2B5EF4-FFF2-40B4-BE49-F238E27FC236}">
                <a16:creationId xmlns:a16="http://schemas.microsoft.com/office/drawing/2014/main" id="{16A49C6E-6300-4EAA-B076-422C0914691A}"/>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文脈〔要約〕：オープンな開発環境とロボット制御の連携により構築を容易にする説明。</a:t>
            </a:r>
          </a:p>
        </p:txBody>
      </p:sp>
      <p:sp>
        <p:nvSpPr>
          <p:cNvPr id="22" name="boundary-Q08">
            <a:extLst xmlns:a="http://schemas.openxmlformats.org/drawingml/2006/main">
              <a:ext uri="{FF2B5EF4-FFF2-40B4-BE49-F238E27FC236}">
                <a16:creationId xmlns:a16="http://schemas.microsoft.com/office/drawing/2014/main" id="{049BB6C8-C10E-44CC-965D-C232AB007055}"/>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留保：適応の具体的条件や成功率をこの表現だけで認定しない。</a:t>
            </a:r>
          </a:p>
        </p:txBody>
      </p:sp>
      <p:sp>
        <p:nvSpPr>
          <p:cNvPr id="23" name="ref-Q05">
            <a:extLst xmlns:a="http://schemas.openxmlformats.org/drawingml/2006/main">
              <a:ext uri="{FF2B5EF4-FFF2-40B4-BE49-F238E27FC236}">
                <a16:creationId xmlns:a16="http://schemas.microsoft.com/office/drawing/2014/main" id="{D6BDFFFD-48BF-4783-B555-7D4F25D3F344}"/>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9abc0f02759f4713"/>
              </a:rPr>
              <a:t>Q05 p.30</a:t>
            </a:r>
          </a:p>
        </p:txBody>
      </p:sp>
      <p:sp>
        <p:nvSpPr>
          <p:cNvPr id="24" name="ref-Q06">
            <a:extLst xmlns:a="http://schemas.openxmlformats.org/drawingml/2006/main">
              <a:ext uri="{FF2B5EF4-FFF2-40B4-BE49-F238E27FC236}">
                <a16:creationId xmlns:a16="http://schemas.microsoft.com/office/drawing/2014/main" id="{3E66AF40-6B02-4B6F-B90B-C59D9DA31D58}"/>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cfc4f340683f43b2"/>
              </a:rPr>
              <a:t>Q06 p.30</a:t>
            </a:r>
          </a:p>
        </p:txBody>
      </p:sp>
      <p:sp>
        <p:nvSpPr>
          <p:cNvPr id="25" name="ref-Q07">
            <a:extLst xmlns:a="http://schemas.openxmlformats.org/drawingml/2006/main">
              <a:ext uri="{FF2B5EF4-FFF2-40B4-BE49-F238E27FC236}">
                <a16:creationId xmlns:a16="http://schemas.microsoft.com/office/drawing/2014/main" id="{280123B4-E2E0-4030-835C-E5B91E3D4A5D}"/>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b7bd240cd1a473f"/>
              </a:rPr>
              <a:t>Q07 p.30</a:t>
            </a:r>
          </a:p>
        </p:txBody>
      </p:sp>
      <p:sp>
        <p:nvSpPr>
          <p:cNvPr id="26" name="ref-Q08">
            <a:extLst xmlns:a="http://schemas.openxmlformats.org/drawingml/2006/main">
              <a:ext uri="{FF2B5EF4-FFF2-40B4-BE49-F238E27FC236}">
                <a16:creationId xmlns:a16="http://schemas.microsoft.com/office/drawing/2014/main" id="{405252B8-3CF4-4111-B6F4-3F3A999F8EEB}"/>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63b7927eab04121"/>
              </a:rPr>
              <a:t>Q08 p.30</a:t>
            </a:r>
          </a:p>
        </p:txBody>
      </p:sp>
      <p:sp>
        <p:nvSpPr>
          <p:cNvPr id="27" name="disclosure">
            <a:extLst xmlns:a="http://schemas.openxmlformats.org/drawingml/2006/main">
              <a:ext uri="{FF2B5EF4-FFF2-40B4-BE49-F238E27FC236}">
                <a16:creationId xmlns:a16="http://schemas.microsoft.com/office/drawing/2014/main" id="{E4407AE8-44F0-47B7-AABA-094EB262E1F4}"/>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45F79C2B-9CD3-43FE-BEAD-22D46683BD31}"/>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30 / 40</a:t>
            </a:r>
          </a:p>
        </p:txBody>
      </p:sp>
    </p:spTree>
    <p:extLst>
      <p:ext uri="{BB962C8B-B14F-4D97-AF65-F5344CB8AC3E}">
        <p14:creationId xmlns:p14="http://schemas.microsoft.com/office/powerpoint/2010/main" val="100626759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AC264B69-A64E-4B52-9255-792A9B8B2445}"/>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3/12　Q09～Q12</a:t>
            </a:r>
          </a:p>
        </p:txBody>
      </p:sp>
      <p:sp>
        <p:nvSpPr>
          <p:cNvPr id="2" name="context">
            <a:extLst xmlns:a="http://schemas.openxmlformats.org/drawingml/2006/main">
              <a:ext uri="{FF2B5EF4-FFF2-40B4-BE49-F238E27FC236}">
                <a16:creationId xmlns:a16="http://schemas.microsoft.com/office/drawing/2014/main" id="{E295A1BD-B0D3-4F15-9635-00D7B3B4A58A}"/>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09">
            <a:extLst xmlns:a="http://schemas.openxmlformats.org/drawingml/2006/main">
              <a:ext uri="{FF2B5EF4-FFF2-40B4-BE49-F238E27FC236}">
                <a16:creationId xmlns:a16="http://schemas.microsoft.com/office/drawing/2014/main" id="{46968E4E-37AE-45A1-AB2F-298D870057EF}"/>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be7e4954dbd841d8"/>
              </a:rPr>
              <a:t>Q09</a:t>
            </a:r>
            <a:br>
              <a:rPr sz="2025" b="1">
                <a:solidFill>
                  <a:srgbClr val="117D83"/>
                </a:solidFill>
                <a:latin typeface="Noto Sans JP"/>
                <a:ea typeface="Noto Sans JP"/>
                <a:cs typeface="Noto Sans JP"/>
                <a:hlinkClick xmlns:r="http://schemas.openxmlformats.org/officeDocument/2006/relationships" r:id="Rbe7e4954dbd841d8"/>
              </a:rPr>
            </a:br>
            <a:r>
              <a:rPr sz="2025" b="1">
                <a:solidFill>
                  <a:srgbClr val="117D83"/>
                </a:solidFill>
                <a:latin typeface="Noto Sans JP"/>
                <a:ea typeface="Noto Sans JP"/>
                <a:cs typeface="Noto Sans JP"/>
                <a:hlinkClick xmlns:r="http://schemas.openxmlformats.org/officeDocument/2006/relationships" r:id="Rbe7e4954dbd841d8"/>
              </a:rPr>
              <a:t>S09</a:t>
            </a:r>
          </a:p>
        </p:txBody>
      </p:sp>
      <p:sp>
        <p:nvSpPr>
          <p:cNvPr id="4" name="verbatim-Q09">
            <a:extLst xmlns:a="http://schemas.openxmlformats.org/drawingml/2006/main">
              <a:ext uri="{FF2B5EF4-FFF2-40B4-BE49-F238E27FC236}">
                <a16:creationId xmlns:a16="http://schemas.microsoft.com/office/drawing/2014/main" id="{31FF9ADA-FFEA-410E-87CC-2073FB546BF7}"/>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最適な動作を自律的に判断して実行する</a:t>
            </a:r>
          </a:p>
        </p:txBody>
      </p:sp>
      <p:sp>
        <p:nvSpPr>
          <p:cNvPr id="5" name="attribution-Q09">
            <a:extLst xmlns:a="http://schemas.openxmlformats.org/drawingml/2006/main">
              <a:ext uri="{FF2B5EF4-FFF2-40B4-BE49-F238E27FC236}">
                <a16:creationId xmlns:a16="http://schemas.microsoft.com/office/drawing/2014/main" id="{7534BCA1-AE03-4F15-97DE-CDE3B17FCF8C}"/>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ファナックの公式説明　2026-07-16</a:t>
            </a:r>
          </a:p>
        </p:txBody>
      </p:sp>
      <p:sp>
        <p:nvSpPr>
          <p:cNvPr id="6" name="context-Q09">
            <a:extLst xmlns:a="http://schemas.openxmlformats.org/drawingml/2006/main">
              <a:ext uri="{FF2B5EF4-FFF2-40B4-BE49-F238E27FC236}">
                <a16:creationId xmlns:a16="http://schemas.microsoft.com/office/drawing/2014/main" id="{1FA45637-F627-4366-B98F-663583BBC668}"/>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文脈〔要約〕：設備が状況を把握して判断・実行することを説明する。</a:t>
            </a:r>
          </a:p>
        </p:txBody>
      </p:sp>
      <p:sp>
        <p:nvSpPr>
          <p:cNvPr id="7" name="boundary-Q09">
            <a:extLst xmlns:a="http://schemas.openxmlformats.org/drawingml/2006/main">
              <a:ext uri="{FF2B5EF4-FFF2-40B4-BE49-F238E27FC236}">
                <a16:creationId xmlns:a16="http://schemas.microsoft.com/office/drawing/2014/main" id="{522BB4A2-AC49-423E-BFE5-AF52AC0BBC93}"/>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留保：最適性の数学的保証や特定製品の性能を示す表現ではない。</a:t>
            </a:r>
          </a:p>
        </p:txBody>
      </p:sp>
      <p:sp>
        <p:nvSpPr>
          <p:cNvPr id="8" name="qid-Q10">
            <a:extLst xmlns:a="http://schemas.openxmlformats.org/drawingml/2006/main">
              <a:ext uri="{FF2B5EF4-FFF2-40B4-BE49-F238E27FC236}">
                <a16:creationId xmlns:a16="http://schemas.microsoft.com/office/drawing/2014/main" id="{B0ABEEA2-B67A-458C-9FD9-9A27D1214895}"/>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637620add30e4022"/>
              </a:rPr>
              <a:t>Q10</a:t>
            </a:r>
            <a:br>
              <a:rPr sz="2025" b="1">
                <a:solidFill>
                  <a:srgbClr val="117D83"/>
                </a:solidFill>
                <a:latin typeface="Noto Sans JP"/>
                <a:ea typeface="Noto Sans JP"/>
                <a:cs typeface="Noto Sans JP"/>
                <a:hlinkClick xmlns:r="http://schemas.openxmlformats.org/officeDocument/2006/relationships" r:id="R637620add30e4022"/>
              </a:rPr>
            </a:br>
            <a:r>
              <a:rPr sz="2025" b="1">
                <a:solidFill>
                  <a:srgbClr val="117D83"/>
                </a:solidFill>
                <a:latin typeface="Noto Sans JP"/>
                <a:ea typeface="Noto Sans JP"/>
                <a:cs typeface="Noto Sans JP"/>
                <a:hlinkClick xmlns:r="http://schemas.openxmlformats.org/officeDocument/2006/relationships" r:id="R637620add30e4022"/>
              </a:rPr>
              <a:t>S10</a:t>
            </a:r>
          </a:p>
        </p:txBody>
      </p:sp>
      <p:sp>
        <p:nvSpPr>
          <p:cNvPr id="9" name="verbatim-Q10">
            <a:extLst xmlns:a="http://schemas.openxmlformats.org/drawingml/2006/main">
              <a:ext uri="{FF2B5EF4-FFF2-40B4-BE49-F238E27FC236}">
                <a16:creationId xmlns:a16="http://schemas.microsoft.com/office/drawing/2014/main" id="{7B3F16E2-9C76-47DA-BD1B-FA892278F9CB}"/>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データ、業務プロセス、意思決定を一体化することで</a:t>
            </a:r>
          </a:p>
        </p:txBody>
      </p:sp>
      <p:sp>
        <p:nvSpPr>
          <p:cNvPr id="10" name="attribution-Q10">
            <a:extLst xmlns:a="http://schemas.openxmlformats.org/drawingml/2006/main">
              <a:ext uri="{FF2B5EF4-FFF2-40B4-BE49-F238E27FC236}">
                <a16:creationId xmlns:a16="http://schemas.microsoft.com/office/drawing/2014/main" id="{3F52AF6C-794F-4195-8AF6-2E02C1BF307E}"/>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NECの公式説明　2026-08-19</a:t>
            </a:r>
          </a:p>
        </p:txBody>
      </p:sp>
      <p:sp>
        <p:nvSpPr>
          <p:cNvPr id="11" name="context-Q10">
            <a:extLst xmlns:a="http://schemas.openxmlformats.org/drawingml/2006/main">
              <a:ext uri="{FF2B5EF4-FFF2-40B4-BE49-F238E27FC236}">
                <a16:creationId xmlns:a16="http://schemas.microsoft.com/office/drawing/2014/main" id="{0C4CE488-5785-4695-8CD2-6102AC1454CF}"/>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文脈〔要約〕：変動を受けて代替案や調整を行う構想の中の一節。</a:t>
            </a:r>
          </a:p>
        </p:txBody>
      </p:sp>
      <p:sp>
        <p:nvSpPr>
          <p:cNvPr id="12" name="boundary-Q10">
            <a:extLst xmlns:a="http://schemas.openxmlformats.org/drawingml/2006/main">
              <a:ext uri="{FF2B5EF4-FFF2-40B4-BE49-F238E27FC236}">
                <a16:creationId xmlns:a16="http://schemas.microsoft.com/office/drawing/2014/main" id="{82D35219-0B14-462C-BC6C-DA3CC40A6B76}"/>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留保：後続の効果説明を含まない部分引用。自律交渉が全て製品化済みとはしない。</a:t>
            </a:r>
          </a:p>
        </p:txBody>
      </p:sp>
      <p:sp>
        <p:nvSpPr>
          <p:cNvPr id="13" name="qid-Q11">
            <a:extLst xmlns:a="http://schemas.openxmlformats.org/drawingml/2006/main">
              <a:ext uri="{FF2B5EF4-FFF2-40B4-BE49-F238E27FC236}">
                <a16:creationId xmlns:a16="http://schemas.microsoft.com/office/drawing/2014/main" id="{38D51672-AAB2-42BF-9A60-F7B4FA4CE4C4}"/>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a12cc954a65b48b2"/>
              </a:rPr>
              <a:t>Q11</a:t>
            </a:r>
            <a:br>
              <a:rPr sz="2025" b="1">
                <a:solidFill>
                  <a:srgbClr val="117D83"/>
                </a:solidFill>
                <a:latin typeface="Noto Sans JP"/>
                <a:ea typeface="Noto Sans JP"/>
                <a:cs typeface="Noto Sans JP"/>
                <a:hlinkClick xmlns:r="http://schemas.openxmlformats.org/officeDocument/2006/relationships" r:id="Ra12cc954a65b48b2"/>
              </a:rPr>
            </a:br>
            <a:r>
              <a:rPr sz="2025" b="1">
                <a:solidFill>
                  <a:srgbClr val="117D83"/>
                </a:solidFill>
                <a:latin typeface="Noto Sans JP"/>
                <a:ea typeface="Noto Sans JP"/>
                <a:cs typeface="Noto Sans JP"/>
                <a:hlinkClick xmlns:r="http://schemas.openxmlformats.org/officeDocument/2006/relationships" r:id="Ra12cc954a65b48b2"/>
              </a:rPr>
              <a:t>S11</a:t>
            </a:r>
          </a:p>
        </p:txBody>
      </p:sp>
      <p:sp>
        <p:nvSpPr>
          <p:cNvPr id="14" name="verbatim-Q11">
            <a:extLst xmlns:a="http://schemas.openxmlformats.org/drawingml/2006/main">
              <a:ext uri="{FF2B5EF4-FFF2-40B4-BE49-F238E27FC236}">
                <a16:creationId xmlns:a16="http://schemas.microsoft.com/office/drawing/2014/main" id="{6FC1A32D-2A2B-41F8-83AA-7D662EE76509}"/>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AI must operate on the current state of the factory.</a:t>
            </a:r>
          </a:p>
        </p:txBody>
      </p:sp>
      <p:sp>
        <p:nvSpPr>
          <p:cNvPr id="15" name="attribution-Q11">
            <a:extLst xmlns:a="http://schemas.openxmlformats.org/drawingml/2006/main">
              <a:ext uri="{FF2B5EF4-FFF2-40B4-BE49-F238E27FC236}">
                <a16:creationId xmlns:a16="http://schemas.microsoft.com/office/drawing/2014/main" id="{B3EC4508-C891-4568-9701-8AA8940D7AAB}"/>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Siemensの公式ブログ　2026-07-08</a:t>
            </a:r>
          </a:p>
        </p:txBody>
      </p:sp>
      <p:sp>
        <p:nvSpPr>
          <p:cNvPr id="16" name="context-Q11">
            <a:extLst xmlns:a="http://schemas.openxmlformats.org/drawingml/2006/main">
              <a:ext uri="{FF2B5EF4-FFF2-40B4-BE49-F238E27FC236}">
                <a16:creationId xmlns:a16="http://schemas.microsoft.com/office/drawing/2014/main" id="{A3497773-4177-4300-8EF8-193F4C0E7215}"/>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文脈〔要約〕：過去のスナップショットだけでなく現在の状態を使う方針。</a:t>
            </a:r>
          </a:p>
        </p:txBody>
      </p:sp>
      <p:sp>
        <p:nvSpPr>
          <p:cNvPr id="17" name="boundary-Q11">
            <a:extLst xmlns:a="http://schemas.openxmlformats.org/drawingml/2006/main">
              <a:ext uri="{FF2B5EF4-FFF2-40B4-BE49-F238E27FC236}">
                <a16:creationId xmlns:a16="http://schemas.microsoft.com/office/drawing/2014/main" id="{DA625ACE-9229-4495-BDBD-DBF4178D6E2A}"/>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留保：製造AIに求める原則。特定の更新周期や全システムでの実現実績ではない。</a:t>
            </a:r>
          </a:p>
        </p:txBody>
      </p:sp>
      <p:sp>
        <p:nvSpPr>
          <p:cNvPr id="18" name="qid-Q12">
            <a:extLst xmlns:a="http://schemas.openxmlformats.org/drawingml/2006/main">
              <a:ext uri="{FF2B5EF4-FFF2-40B4-BE49-F238E27FC236}">
                <a16:creationId xmlns:a16="http://schemas.microsoft.com/office/drawing/2014/main" id="{5ED7A6C4-BC74-434B-AD85-A407BA8BD6A4}"/>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f4c938cbcd904301"/>
              </a:rPr>
              <a:t>Q12</a:t>
            </a:r>
            <a:br>
              <a:rPr sz="2025" b="1">
                <a:solidFill>
                  <a:srgbClr val="117D83"/>
                </a:solidFill>
                <a:latin typeface="Noto Sans JP"/>
                <a:ea typeface="Noto Sans JP"/>
                <a:cs typeface="Noto Sans JP"/>
                <a:hlinkClick xmlns:r="http://schemas.openxmlformats.org/officeDocument/2006/relationships" r:id="Rf4c938cbcd904301"/>
              </a:rPr>
            </a:br>
            <a:r>
              <a:rPr sz="2025" b="1">
                <a:solidFill>
                  <a:srgbClr val="117D83"/>
                </a:solidFill>
                <a:latin typeface="Noto Sans JP"/>
                <a:ea typeface="Noto Sans JP"/>
                <a:cs typeface="Noto Sans JP"/>
                <a:hlinkClick xmlns:r="http://schemas.openxmlformats.org/officeDocument/2006/relationships" r:id="Rf4c938cbcd904301"/>
              </a:rPr>
              <a:t>S12</a:t>
            </a:r>
          </a:p>
        </p:txBody>
      </p:sp>
      <p:sp>
        <p:nvSpPr>
          <p:cNvPr id="19" name="verbatim-Q12">
            <a:extLst xmlns:a="http://schemas.openxmlformats.org/drawingml/2006/main">
              <a:ext uri="{FF2B5EF4-FFF2-40B4-BE49-F238E27FC236}">
                <a16:creationId xmlns:a16="http://schemas.microsoft.com/office/drawing/2014/main" id="{5197637F-3BDB-4DF1-96D6-763F462AB937}"/>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仮想空間で迅速かつ大規模な意思決定を行うことが可能となります。</a:t>
            </a:r>
          </a:p>
        </p:txBody>
      </p:sp>
      <p:sp>
        <p:nvSpPr>
          <p:cNvPr id="20" name="attribution-Q12">
            <a:extLst xmlns:a="http://schemas.openxmlformats.org/drawingml/2006/main">
              <a:ext uri="{FF2B5EF4-FFF2-40B4-BE49-F238E27FC236}">
                <a16:creationId xmlns:a16="http://schemas.microsoft.com/office/drawing/2014/main" id="{D9D82346-E110-44A5-A363-3651B2AD618B}"/>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Siemensの公式発表　2026-01-06</a:t>
            </a:r>
          </a:p>
        </p:txBody>
      </p:sp>
      <p:sp>
        <p:nvSpPr>
          <p:cNvPr id="21" name="context-Q12">
            <a:extLst xmlns:a="http://schemas.openxmlformats.org/drawingml/2006/main">
              <a:ext uri="{FF2B5EF4-FFF2-40B4-BE49-F238E27FC236}">
                <a16:creationId xmlns:a16="http://schemas.microsoft.com/office/drawing/2014/main" id="{8734E3D2-9066-4591-A24F-5A667D4FB221}"/>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文脈〔要約〕：仮想モデルと実時点のデータを組み合わせる製品説明の一節。</a:t>
            </a:r>
          </a:p>
        </p:txBody>
      </p:sp>
      <p:sp>
        <p:nvSpPr>
          <p:cNvPr id="22" name="boundary-Q12">
            <a:extLst xmlns:a="http://schemas.openxmlformats.org/drawingml/2006/main">
              <a:ext uri="{FF2B5EF4-FFF2-40B4-BE49-F238E27FC236}">
                <a16:creationId xmlns:a16="http://schemas.microsoft.com/office/drawing/2014/main" id="{32E37CF7-DBE0-4C29-9457-D42A8052574D}"/>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留保：製品の訴求。全加工現象の高精度再現を証明する文ではない。</a:t>
            </a:r>
          </a:p>
        </p:txBody>
      </p:sp>
      <p:sp>
        <p:nvSpPr>
          <p:cNvPr id="23" name="ref-Q09">
            <a:extLst xmlns:a="http://schemas.openxmlformats.org/drawingml/2006/main">
              <a:ext uri="{FF2B5EF4-FFF2-40B4-BE49-F238E27FC236}">
                <a16:creationId xmlns:a16="http://schemas.microsoft.com/office/drawing/2014/main" id="{463A7EDE-3605-4B07-BEEE-2FFC652A6C35}"/>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c34e208ab9541d6"/>
              </a:rPr>
              <a:t>Q09 p.31</a:t>
            </a:r>
          </a:p>
        </p:txBody>
      </p:sp>
      <p:sp>
        <p:nvSpPr>
          <p:cNvPr id="24" name="ref-Q10">
            <a:extLst xmlns:a="http://schemas.openxmlformats.org/drawingml/2006/main">
              <a:ext uri="{FF2B5EF4-FFF2-40B4-BE49-F238E27FC236}">
                <a16:creationId xmlns:a16="http://schemas.microsoft.com/office/drawing/2014/main" id="{6E38C10D-4433-4889-A2EA-EC0C060EDB2A}"/>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5e51cca26294240"/>
              </a:rPr>
              <a:t>Q10 p.31</a:t>
            </a:r>
          </a:p>
        </p:txBody>
      </p:sp>
      <p:sp>
        <p:nvSpPr>
          <p:cNvPr id="25" name="ref-Q11">
            <a:extLst xmlns:a="http://schemas.openxmlformats.org/drawingml/2006/main">
              <a:ext uri="{FF2B5EF4-FFF2-40B4-BE49-F238E27FC236}">
                <a16:creationId xmlns:a16="http://schemas.microsoft.com/office/drawing/2014/main" id="{E654324A-C00F-424F-A1BC-153ADB86AE82}"/>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ed539af06fe477c"/>
              </a:rPr>
              <a:t>Q11 p.31</a:t>
            </a:r>
          </a:p>
        </p:txBody>
      </p:sp>
      <p:sp>
        <p:nvSpPr>
          <p:cNvPr id="26" name="ref-Q12">
            <a:extLst xmlns:a="http://schemas.openxmlformats.org/drawingml/2006/main">
              <a:ext uri="{FF2B5EF4-FFF2-40B4-BE49-F238E27FC236}">
                <a16:creationId xmlns:a16="http://schemas.microsoft.com/office/drawing/2014/main" id="{3E433E9F-E337-45C3-8ADA-C7548B1DB3D9}"/>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64be6ddb1ae49f9"/>
              </a:rPr>
              <a:t>Q12 p.31</a:t>
            </a:r>
          </a:p>
        </p:txBody>
      </p:sp>
      <p:sp>
        <p:nvSpPr>
          <p:cNvPr id="27" name="disclosure">
            <a:extLst xmlns:a="http://schemas.openxmlformats.org/drawingml/2006/main">
              <a:ext uri="{FF2B5EF4-FFF2-40B4-BE49-F238E27FC236}">
                <a16:creationId xmlns:a16="http://schemas.microsoft.com/office/drawing/2014/main" id="{0C60DBFB-BA69-4E2E-9363-4CB139BE5459}"/>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96052F59-61EB-4334-B094-B25DE2503DD6}"/>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31 / 40</a:t>
            </a:r>
          </a:p>
        </p:txBody>
      </p:sp>
    </p:spTree>
    <p:extLst>
      <p:ext uri="{BB962C8B-B14F-4D97-AF65-F5344CB8AC3E}">
        <p14:creationId xmlns:p14="http://schemas.microsoft.com/office/powerpoint/2010/main" val="203100502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515F8B4E-9DEB-48A0-992E-0415598AA40A}"/>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4/12　Q13～Q16</a:t>
            </a:r>
          </a:p>
        </p:txBody>
      </p:sp>
      <p:sp>
        <p:nvSpPr>
          <p:cNvPr id="2" name="context">
            <a:extLst xmlns:a="http://schemas.openxmlformats.org/drawingml/2006/main">
              <a:ext uri="{FF2B5EF4-FFF2-40B4-BE49-F238E27FC236}">
                <a16:creationId xmlns:a16="http://schemas.microsoft.com/office/drawing/2014/main" id="{A007ECE3-C461-4AA9-9FE7-4BE3788741EF}"/>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13">
            <a:extLst xmlns:a="http://schemas.openxmlformats.org/drawingml/2006/main">
              <a:ext uri="{FF2B5EF4-FFF2-40B4-BE49-F238E27FC236}">
                <a16:creationId xmlns:a16="http://schemas.microsoft.com/office/drawing/2014/main" id="{5F5C8D64-B70E-4525-9377-20696F8A60D3}"/>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189df8d5dca24eb1"/>
              </a:rPr>
              <a:t>Q13</a:t>
            </a:r>
            <a:br>
              <a:rPr sz="2025" b="1">
                <a:solidFill>
                  <a:srgbClr val="117D83"/>
                </a:solidFill>
                <a:latin typeface="Noto Sans JP"/>
                <a:ea typeface="Noto Sans JP"/>
                <a:cs typeface="Noto Sans JP"/>
                <a:hlinkClick xmlns:r="http://schemas.openxmlformats.org/officeDocument/2006/relationships" r:id="R189df8d5dca24eb1"/>
              </a:rPr>
            </a:br>
            <a:r>
              <a:rPr sz="2025" b="1">
                <a:solidFill>
                  <a:srgbClr val="117D83"/>
                </a:solidFill>
                <a:latin typeface="Noto Sans JP"/>
                <a:ea typeface="Noto Sans JP"/>
                <a:cs typeface="Noto Sans JP"/>
                <a:hlinkClick xmlns:r="http://schemas.openxmlformats.org/officeDocument/2006/relationships" r:id="R189df8d5dca24eb1"/>
              </a:rPr>
              <a:t>S13</a:t>
            </a:r>
          </a:p>
        </p:txBody>
      </p:sp>
      <p:sp>
        <p:nvSpPr>
          <p:cNvPr id="4" name="verbatim-Q13">
            <a:extLst xmlns:a="http://schemas.openxmlformats.org/drawingml/2006/main">
              <a:ext uri="{FF2B5EF4-FFF2-40B4-BE49-F238E27FC236}">
                <a16:creationId xmlns:a16="http://schemas.microsoft.com/office/drawing/2014/main" id="{5359992E-CCD1-41FA-AFC3-596569BA7B76}"/>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こういうことは装置から吐き出されるデータだけでは分かりません。</a:t>
            </a:r>
          </a:p>
        </p:txBody>
      </p:sp>
      <p:sp>
        <p:nvSpPr>
          <p:cNvPr id="5" name="attribution-Q13">
            <a:extLst xmlns:a="http://schemas.openxmlformats.org/drawingml/2006/main">
              <a:ext uri="{FF2B5EF4-FFF2-40B4-BE49-F238E27FC236}">
                <a16:creationId xmlns:a16="http://schemas.microsoft.com/office/drawing/2014/main" id="{965784C6-C4F6-4684-AEAE-C400A8C301D4}"/>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マイクロソフト 鈴木靖隆氏の対談発言（東芝の媒体に掲載）　2026-03-06</a:t>
            </a:r>
          </a:p>
        </p:txBody>
      </p:sp>
      <p:sp>
        <p:nvSpPr>
          <p:cNvPr id="6" name="context-Q13">
            <a:extLst xmlns:a="http://schemas.openxmlformats.org/drawingml/2006/main">
              <a:ext uri="{FF2B5EF4-FFF2-40B4-BE49-F238E27FC236}">
                <a16:creationId xmlns:a16="http://schemas.microsoft.com/office/drawing/2014/main" id="{2B53F267-99F1-4B47-9C0A-D87053B4F404}"/>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文脈〔要約〕：不良の起因が材料・設備・作業のどれかを考える時、周辺情報も必要という文脈。</a:t>
            </a:r>
          </a:p>
        </p:txBody>
      </p:sp>
      <p:sp>
        <p:nvSpPr>
          <p:cNvPr id="7" name="boundary-Q13">
            <a:extLst xmlns:a="http://schemas.openxmlformats.org/drawingml/2006/main">
              <a:ext uri="{FF2B5EF4-FFF2-40B4-BE49-F238E27FC236}">
                <a16:creationId xmlns:a16="http://schemas.microsoft.com/office/drawing/2014/main" id="{385E1BE2-204C-47EC-BA74-5336446BE557}"/>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留保：全ての診断で人の報告が必須だと一般化しない。</a:t>
            </a:r>
          </a:p>
        </p:txBody>
      </p:sp>
      <p:sp>
        <p:nvSpPr>
          <p:cNvPr id="8" name="qid-Q14">
            <a:extLst xmlns:a="http://schemas.openxmlformats.org/drawingml/2006/main">
              <a:ext uri="{FF2B5EF4-FFF2-40B4-BE49-F238E27FC236}">
                <a16:creationId xmlns:a16="http://schemas.microsoft.com/office/drawing/2014/main" id="{C89D8E37-8073-4890-9C68-29F62D0EC793}"/>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87896f9a2ac34c1e"/>
              </a:rPr>
              <a:t>Q14</a:t>
            </a:r>
            <a:br>
              <a:rPr sz="2025" b="1">
                <a:solidFill>
                  <a:srgbClr val="117D83"/>
                </a:solidFill>
                <a:latin typeface="Noto Sans JP"/>
                <a:ea typeface="Noto Sans JP"/>
                <a:cs typeface="Noto Sans JP"/>
                <a:hlinkClick xmlns:r="http://schemas.openxmlformats.org/officeDocument/2006/relationships" r:id="R87896f9a2ac34c1e"/>
              </a:rPr>
            </a:br>
            <a:r>
              <a:rPr sz="2025" b="1">
                <a:solidFill>
                  <a:srgbClr val="117D83"/>
                </a:solidFill>
                <a:latin typeface="Noto Sans JP"/>
                <a:ea typeface="Noto Sans JP"/>
                <a:cs typeface="Noto Sans JP"/>
                <a:hlinkClick xmlns:r="http://schemas.openxmlformats.org/officeDocument/2006/relationships" r:id="R87896f9a2ac34c1e"/>
              </a:rPr>
              <a:t>S14</a:t>
            </a:r>
          </a:p>
        </p:txBody>
      </p:sp>
      <p:sp>
        <p:nvSpPr>
          <p:cNvPr id="9" name="verbatim-Q14">
            <a:extLst xmlns:a="http://schemas.openxmlformats.org/drawingml/2006/main">
              <a:ext uri="{FF2B5EF4-FFF2-40B4-BE49-F238E27FC236}">
                <a16:creationId xmlns:a16="http://schemas.microsoft.com/office/drawing/2014/main" id="{3BABEEF5-56DD-47F3-86D0-DC0EAF68D07D}"/>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The software helps execute decisions, but it doesn’t retain the reasoning behind them.</a:t>
            </a:r>
          </a:p>
        </p:txBody>
      </p:sp>
      <p:sp>
        <p:nvSpPr>
          <p:cNvPr id="10" name="attribution-Q14">
            <a:extLst xmlns:a="http://schemas.openxmlformats.org/drawingml/2006/main">
              <a:ext uri="{FF2B5EF4-FFF2-40B4-BE49-F238E27FC236}">
                <a16:creationId xmlns:a16="http://schemas.microsoft.com/office/drawing/2014/main" id="{56E42DBE-507F-465D-97E3-4499EF482E95}"/>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Hexagon公式ブログの執筆者による説明　2026-04-29</a:t>
            </a:r>
          </a:p>
        </p:txBody>
      </p:sp>
      <p:sp>
        <p:nvSpPr>
          <p:cNvPr id="11" name="context-Q14">
            <a:extLst xmlns:a="http://schemas.openxmlformats.org/drawingml/2006/main">
              <a:ext uri="{FF2B5EF4-FFF2-40B4-BE49-F238E27FC236}">
                <a16:creationId xmlns:a16="http://schemas.microsoft.com/office/drawing/2014/main" id="{E0CFC9B2-2A4D-47B1-B094-BB3DCF11E713}"/>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文脈〔要約〕：CAMの機能だけでなく、過去の考え方を次のプログラミングで使う課題を述べる。</a:t>
            </a:r>
          </a:p>
        </p:txBody>
      </p:sp>
      <p:sp>
        <p:nvSpPr>
          <p:cNvPr id="12" name="boundary-Q14">
            <a:extLst xmlns:a="http://schemas.openxmlformats.org/drawingml/2006/main">
              <a:ext uri="{FF2B5EF4-FFF2-40B4-BE49-F238E27FC236}">
                <a16:creationId xmlns:a16="http://schemas.microsoft.com/office/drawing/2014/main" id="{78137164-096E-4107-8770-CB27D7135567}"/>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留保：CAM一般への問題提起。全てのソフトに履歴保存がないという仕様確認ではない。</a:t>
            </a:r>
          </a:p>
        </p:txBody>
      </p:sp>
      <p:sp>
        <p:nvSpPr>
          <p:cNvPr id="13" name="qid-Q15">
            <a:extLst xmlns:a="http://schemas.openxmlformats.org/drawingml/2006/main">
              <a:ext uri="{FF2B5EF4-FFF2-40B4-BE49-F238E27FC236}">
                <a16:creationId xmlns:a16="http://schemas.microsoft.com/office/drawing/2014/main" id="{4092435F-41F6-4E16-809F-EEBAE0E40F8D}"/>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31f42b4f454047e9"/>
              </a:rPr>
              <a:t>Q15</a:t>
            </a:r>
            <a:br>
              <a:rPr sz="2025" b="1">
                <a:solidFill>
                  <a:srgbClr val="117D83"/>
                </a:solidFill>
                <a:latin typeface="Noto Sans JP"/>
                <a:ea typeface="Noto Sans JP"/>
                <a:cs typeface="Noto Sans JP"/>
                <a:hlinkClick xmlns:r="http://schemas.openxmlformats.org/officeDocument/2006/relationships" r:id="R31f42b4f454047e9"/>
              </a:rPr>
            </a:br>
            <a:r>
              <a:rPr sz="2025" b="1">
                <a:solidFill>
                  <a:srgbClr val="117D83"/>
                </a:solidFill>
                <a:latin typeface="Noto Sans JP"/>
                <a:ea typeface="Noto Sans JP"/>
                <a:cs typeface="Noto Sans JP"/>
                <a:hlinkClick xmlns:r="http://schemas.openxmlformats.org/officeDocument/2006/relationships" r:id="R31f42b4f454047e9"/>
              </a:rPr>
              <a:t>S15</a:t>
            </a:r>
          </a:p>
        </p:txBody>
      </p:sp>
      <p:sp>
        <p:nvSpPr>
          <p:cNvPr id="14" name="verbatim-Q15">
            <a:extLst xmlns:a="http://schemas.openxmlformats.org/drawingml/2006/main">
              <a:ext uri="{FF2B5EF4-FFF2-40B4-BE49-F238E27FC236}">
                <a16:creationId xmlns:a16="http://schemas.microsoft.com/office/drawing/2014/main" id="{7DA37FF5-7D4E-448C-968F-F4C7EF6191A5}"/>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These solutions are designed to adapt to a wide variety of workflows, making them highly flexible.</a:t>
            </a:r>
          </a:p>
        </p:txBody>
      </p:sp>
      <p:sp>
        <p:nvSpPr>
          <p:cNvPr id="15" name="attribution-Q15">
            <a:extLst xmlns:a="http://schemas.openxmlformats.org/drawingml/2006/main">
              <a:ext uri="{FF2B5EF4-FFF2-40B4-BE49-F238E27FC236}">
                <a16:creationId xmlns:a16="http://schemas.microsoft.com/office/drawing/2014/main" id="{98A916B0-CAA6-45AB-A83D-35D0B3296CD2}"/>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Hexagon公式ブログ Ryan Pembroke氏　2025-10-01</a:t>
            </a:r>
          </a:p>
        </p:txBody>
      </p:sp>
      <p:sp>
        <p:nvSpPr>
          <p:cNvPr id="16" name="context-Q15">
            <a:extLst xmlns:a="http://schemas.openxmlformats.org/drawingml/2006/main">
              <a:ext uri="{FF2B5EF4-FFF2-40B4-BE49-F238E27FC236}">
                <a16:creationId xmlns:a16="http://schemas.microsoft.com/office/drawing/2014/main" id="{D87385B7-22E3-40D5-ACA4-37DFE7694E20}"/>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文脈〔要約〕：標準的な反復工程の自動化と、変化する案件向けの学習活用を比較する。</a:t>
            </a:r>
          </a:p>
        </p:txBody>
      </p:sp>
      <p:sp>
        <p:nvSpPr>
          <p:cNvPr id="17" name="boundary-Q15">
            <a:extLst xmlns:a="http://schemas.openxmlformats.org/drawingml/2006/main">
              <a:ext uri="{FF2B5EF4-FFF2-40B4-BE49-F238E27FC236}">
                <a16:creationId xmlns:a16="http://schemas.microsoft.com/office/drawing/2014/main" id="{44A3554D-7972-4D19-9A8A-C1E6DE74A5AD}"/>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留保：同社の製品説明。任意の未知工程へ無調整で適用できるという意味ではない。</a:t>
            </a:r>
          </a:p>
        </p:txBody>
      </p:sp>
      <p:sp>
        <p:nvSpPr>
          <p:cNvPr id="18" name="qid-Q16">
            <a:extLst xmlns:a="http://schemas.openxmlformats.org/drawingml/2006/main">
              <a:ext uri="{FF2B5EF4-FFF2-40B4-BE49-F238E27FC236}">
                <a16:creationId xmlns:a16="http://schemas.microsoft.com/office/drawing/2014/main" id="{BE589629-D961-4D64-AEB5-5ACA492F3CF1}"/>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9067879ae771486d"/>
              </a:rPr>
              <a:t>Q16</a:t>
            </a:r>
            <a:br>
              <a:rPr sz="2025" b="1">
                <a:solidFill>
                  <a:srgbClr val="117D83"/>
                </a:solidFill>
                <a:latin typeface="Noto Sans JP"/>
                <a:ea typeface="Noto Sans JP"/>
                <a:cs typeface="Noto Sans JP"/>
                <a:hlinkClick xmlns:r="http://schemas.openxmlformats.org/officeDocument/2006/relationships" r:id="R9067879ae771486d"/>
              </a:rPr>
            </a:br>
            <a:r>
              <a:rPr sz="2025" b="1">
                <a:solidFill>
                  <a:srgbClr val="117D83"/>
                </a:solidFill>
                <a:latin typeface="Noto Sans JP"/>
                <a:ea typeface="Noto Sans JP"/>
                <a:cs typeface="Noto Sans JP"/>
                <a:hlinkClick xmlns:r="http://schemas.openxmlformats.org/officeDocument/2006/relationships" r:id="R9067879ae771486d"/>
              </a:rPr>
              <a:t>S16</a:t>
            </a:r>
          </a:p>
        </p:txBody>
      </p:sp>
      <p:sp>
        <p:nvSpPr>
          <p:cNvPr id="19" name="verbatim-Q16">
            <a:extLst xmlns:a="http://schemas.openxmlformats.org/drawingml/2006/main">
              <a:ext uri="{FF2B5EF4-FFF2-40B4-BE49-F238E27FC236}">
                <a16:creationId xmlns:a16="http://schemas.microsoft.com/office/drawing/2014/main" id="{F6A78AE8-8B4A-4E3A-8EDA-8457B2E6C42C}"/>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globally applicable semantics for machinery</a:t>
            </a:r>
          </a:p>
        </p:txBody>
      </p:sp>
      <p:sp>
        <p:nvSpPr>
          <p:cNvPr id="20" name="attribution-Q16">
            <a:extLst xmlns:a="http://schemas.openxmlformats.org/drawingml/2006/main">
              <a:ext uri="{FF2B5EF4-FFF2-40B4-BE49-F238E27FC236}">
                <a16:creationId xmlns:a16="http://schemas.microsoft.com/office/drawing/2014/main" id="{6869FA22-84FF-4305-BAF9-1F4EA5D64DAC}"/>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umatiの公式説明　</a:t>
            </a:r>
          </a:p>
        </p:txBody>
      </p:sp>
      <p:sp>
        <p:nvSpPr>
          <p:cNvPr id="21" name="context-Q16">
            <a:extLst xmlns:a="http://schemas.openxmlformats.org/drawingml/2006/main">
              <a:ext uri="{FF2B5EF4-FFF2-40B4-BE49-F238E27FC236}">
                <a16:creationId xmlns:a16="http://schemas.microsoft.com/office/drawing/2014/main" id="{7CD8FD48-6559-4134-9AEA-A2AAC155A106}"/>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文脈〔要約〕：接続に加え、意味、通信要件、適合性を揃える活動。</a:t>
            </a:r>
          </a:p>
        </p:txBody>
      </p:sp>
      <p:sp>
        <p:nvSpPr>
          <p:cNvPr id="22" name="boundary-Q16">
            <a:extLst xmlns:a="http://schemas.openxmlformats.org/drawingml/2006/main">
              <a:ext uri="{FF2B5EF4-FFF2-40B4-BE49-F238E27FC236}">
                <a16:creationId xmlns:a16="http://schemas.microsoft.com/office/drawing/2014/main" id="{259223D6-65F4-43B9-B2E9-4CF34B8F172B}"/>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留保：引用は箇条書き中の名詞句。加工意図や全品質データまで標準化済みとはしない。</a:t>
            </a:r>
          </a:p>
        </p:txBody>
      </p:sp>
      <p:sp>
        <p:nvSpPr>
          <p:cNvPr id="23" name="ref-Q13">
            <a:extLst xmlns:a="http://schemas.openxmlformats.org/drawingml/2006/main">
              <a:ext uri="{FF2B5EF4-FFF2-40B4-BE49-F238E27FC236}">
                <a16:creationId xmlns:a16="http://schemas.microsoft.com/office/drawing/2014/main" id="{460156E7-82F2-4499-BE95-B67BEFEA7811}"/>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12002ca77d4149a1"/>
              </a:rPr>
              <a:t>Q13 p.32</a:t>
            </a:r>
          </a:p>
        </p:txBody>
      </p:sp>
      <p:sp>
        <p:nvSpPr>
          <p:cNvPr id="24" name="ref-Q14">
            <a:extLst xmlns:a="http://schemas.openxmlformats.org/drawingml/2006/main">
              <a:ext uri="{FF2B5EF4-FFF2-40B4-BE49-F238E27FC236}">
                <a16:creationId xmlns:a16="http://schemas.microsoft.com/office/drawing/2014/main" id="{96D87F6B-A96C-4AB4-B8D5-664B92E13817}"/>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d1c1a5f970a43bd"/>
              </a:rPr>
              <a:t>Q14 p.32</a:t>
            </a:r>
          </a:p>
        </p:txBody>
      </p:sp>
      <p:sp>
        <p:nvSpPr>
          <p:cNvPr id="25" name="ref-Q15">
            <a:extLst xmlns:a="http://schemas.openxmlformats.org/drawingml/2006/main">
              <a:ext uri="{FF2B5EF4-FFF2-40B4-BE49-F238E27FC236}">
                <a16:creationId xmlns:a16="http://schemas.microsoft.com/office/drawing/2014/main" id="{D205D209-F723-4CC6-B142-0AF081BAB7B2}"/>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245cbd5fd774592"/>
              </a:rPr>
              <a:t>Q15 p.32</a:t>
            </a:r>
          </a:p>
        </p:txBody>
      </p:sp>
      <p:sp>
        <p:nvSpPr>
          <p:cNvPr id="26" name="ref-Q16">
            <a:extLst xmlns:a="http://schemas.openxmlformats.org/drawingml/2006/main">
              <a:ext uri="{FF2B5EF4-FFF2-40B4-BE49-F238E27FC236}">
                <a16:creationId xmlns:a16="http://schemas.microsoft.com/office/drawing/2014/main" id="{CD38774C-1868-4B7B-B250-BE2BBCC9D565}"/>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17fd67d9bf1443a8"/>
              </a:rPr>
              <a:t>Q16 p.32</a:t>
            </a:r>
          </a:p>
        </p:txBody>
      </p:sp>
      <p:sp>
        <p:nvSpPr>
          <p:cNvPr id="27" name="disclosure">
            <a:extLst xmlns:a="http://schemas.openxmlformats.org/drawingml/2006/main">
              <a:ext uri="{FF2B5EF4-FFF2-40B4-BE49-F238E27FC236}">
                <a16:creationId xmlns:a16="http://schemas.microsoft.com/office/drawing/2014/main" id="{E9D6F306-FA1F-4281-863F-5962B9B1248D}"/>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7C1BBFA9-DFD6-41C5-A728-20BD1BE3969A}"/>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32 / 40</a:t>
            </a:r>
          </a:p>
        </p:txBody>
      </p:sp>
    </p:spTree>
    <p:extLst>
      <p:ext uri="{BB962C8B-B14F-4D97-AF65-F5344CB8AC3E}">
        <p14:creationId xmlns:p14="http://schemas.microsoft.com/office/powerpoint/2010/main" val="121205685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1F54F04D-6914-4E93-9AE2-F035FB63A7A1}"/>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5/12　Q17～Q20</a:t>
            </a:r>
          </a:p>
        </p:txBody>
      </p:sp>
      <p:sp>
        <p:nvSpPr>
          <p:cNvPr id="2" name="context">
            <a:extLst xmlns:a="http://schemas.openxmlformats.org/drawingml/2006/main">
              <a:ext uri="{FF2B5EF4-FFF2-40B4-BE49-F238E27FC236}">
                <a16:creationId xmlns:a16="http://schemas.microsoft.com/office/drawing/2014/main" id="{BB462F9E-B72C-4B68-A0A8-1D94C5163957}"/>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17">
            <a:extLst xmlns:a="http://schemas.openxmlformats.org/drawingml/2006/main">
              <a:ext uri="{FF2B5EF4-FFF2-40B4-BE49-F238E27FC236}">
                <a16:creationId xmlns:a16="http://schemas.microsoft.com/office/drawing/2014/main" id="{4E55973E-4D2C-4F70-A9F4-8D9313A86F18}"/>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b129d627682c4281"/>
              </a:rPr>
              <a:t>Q17</a:t>
            </a:r>
            <a:br>
              <a:rPr sz="2025" b="1">
                <a:solidFill>
                  <a:srgbClr val="117D83"/>
                </a:solidFill>
                <a:latin typeface="Noto Sans JP"/>
                <a:ea typeface="Noto Sans JP"/>
                <a:cs typeface="Noto Sans JP"/>
                <a:hlinkClick xmlns:r="http://schemas.openxmlformats.org/officeDocument/2006/relationships" r:id="Rb129d627682c4281"/>
              </a:rPr>
            </a:br>
            <a:r>
              <a:rPr sz="2025" b="1">
                <a:solidFill>
                  <a:srgbClr val="117D83"/>
                </a:solidFill>
                <a:latin typeface="Noto Sans JP"/>
                <a:ea typeface="Noto Sans JP"/>
                <a:cs typeface="Noto Sans JP"/>
                <a:hlinkClick xmlns:r="http://schemas.openxmlformats.org/officeDocument/2006/relationships" r:id="Rb129d627682c4281"/>
              </a:rPr>
              <a:t>S17</a:t>
            </a:r>
          </a:p>
        </p:txBody>
      </p:sp>
      <p:sp>
        <p:nvSpPr>
          <p:cNvPr id="4" name="verbatim-Q17">
            <a:extLst xmlns:a="http://schemas.openxmlformats.org/drawingml/2006/main">
              <a:ext uri="{FF2B5EF4-FFF2-40B4-BE49-F238E27FC236}">
                <a16:creationId xmlns:a16="http://schemas.microsoft.com/office/drawing/2014/main" id="{EC7D517E-4B6D-49E8-9509-5E228D360600}"/>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自動化は「ロボット」ではなく「工程設計」</a:t>
            </a:r>
          </a:p>
        </p:txBody>
      </p:sp>
      <p:sp>
        <p:nvSpPr>
          <p:cNvPr id="5" name="attribution-Q17">
            <a:extLst xmlns:a="http://schemas.openxmlformats.org/drawingml/2006/main">
              <a:ext uri="{FF2B5EF4-FFF2-40B4-BE49-F238E27FC236}">
                <a16:creationId xmlns:a16="http://schemas.microsoft.com/office/drawing/2014/main" id="{F35C52A1-0534-48D0-8694-F1E83DFE960B}"/>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山善の解説記事の見出し　2026-02-19</a:t>
            </a:r>
          </a:p>
        </p:txBody>
      </p:sp>
      <p:sp>
        <p:nvSpPr>
          <p:cNvPr id="6" name="context-Q17">
            <a:extLst xmlns:a="http://schemas.openxmlformats.org/drawingml/2006/main">
              <a:ext uri="{FF2B5EF4-FFF2-40B4-BE49-F238E27FC236}">
                <a16:creationId xmlns:a16="http://schemas.microsoft.com/office/drawing/2014/main" id="{050D6F7C-BD53-4C45-BCC2-8FCCFFC2DA6F}"/>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文脈〔要約〕：段取り・搬送・検査・人の動きまで含める着眼点。</a:t>
            </a:r>
          </a:p>
        </p:txBody>
      </p:sp>
      <p:sp>
        <p:nvSpPr>
          <p:cNvPr id="7" name="boundary-Q17">
            <a:extLst xmlns:a="http://schemas.openxmlformats.org/drawingml/2006/main">
              <a:ext uri="{FF2B5EF4-FFF2-40B4-BE49-F238E27FC236}">
                <a16:creationId xmlns:a16="http://schemas.microsoft.com/office/drawing/2014/main" id="{BB537C8E-A691-4C8F-B996-AAFD1127219F}"/>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留保：筆者の展示会解説。業界全体の統計的実証ではない。</a:t>
            </a:r>
          </a:p>
        </p:txBody>
      </p:sp>
      <p:sp>
        <p:nvSpPr>
          <p:cNvPr id="8" name="qid-Q18">
            <a:extLst xmlns:a="http://schemas.openxmlformats.org/drawingml/2006/main">
              <a:ext uri="{FF2B5EF4-FFF2-40B4-BE49-F238E27FC236}">
                <a16:creationId xmlns:a16="http://schemas.microsoft.com/office/drawing/2014/main" id="{F7774FB5-9FB5-4583-B0C8-2B57538C1300}"/>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d8222d45826e46c4"/>
              </a:rPr>
              <a:t>Q18</a:t>
            </a:r>
            <a:br>
              <a:rPr sz="2025" b="1">
                <a:solidFill>
                  <a:srgbClr val="117D83"/>
                </a:solidFill>
                <a:latin typeface="Noto Sans JP"/>
                <a:ea typeface="Noto Sans JP"/>
                <a:cs typeface="Noto Sans JP"/>
                <a:hlinkClick xmlns:r="http://schemas.openxmlformats.org/officeDocument/2006/relationships" r:id="Rd8222d45826e46c4"/>
              </a:rPr>
            </a:br>
            <a:r>
              <a:rPr sz="2025" b="1">
                <a:solidFill>
                  <a:srgbClr val="117D83"/>
                </a:solidFill>
                <a:latin typeface="Noto Sans JP"/>
                <a:ea typeface="Noto Sans JP"/>
                <a:cs typeface="Noto Sans JP"/>
                <a:hlinkClick xmlns:r="http://schemas.openxmlformats.org/officeDocument/2006/relationships" r:id="Rd8222d45826e46c4"/>
              </a:rPr>
              <a:t>S18</a:t>
            </a:r>
          </a:p>
        </p:txBody>
      </p:sp>
      <p:sp>
        <p:nvSpPr>
          <p:cNvPr id="9" name="verbatim-Q18">
            <a:extLst xmlns:a="http://schemas.openxmlformats.org/drawingml/2006/main">
              <a:ext uri="{FF2B5EF4-FFF2-40B4-BE49-F238E27FC236}">
                <a16:creationId xmlns:a16="http://schemas.microsoft.com/office/drawing/2014/main" id="{7D162735-60ED-4886-A9B9-110E75C3624C}"/>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顧客の実利に直結する領域の新技術</a:t>
            </a:r>
          </a:p>
        </p:txBody>
      </p:sp>
      <p:sp>
        <p:nvSpPr>
          <p:cNvPr id="10" name="attribution-Q18">
            <a:extLst xmlns:a="http://schemas.openxmlformats.org/drawingml/2006/main">
              <a:ext uri="{FF2B5EF4-FFF2-40B4-BE49-F238E27FC236}">
                <a16:creationId xmlns:a16="http://schemas.microsoft.com/office/drawing/2014/main" id="{15F5415F-88AA-415D-8216-F0757D29566D}"/>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Mono Que編集部の説明　2026-09-29（更新2026-10-20）</a:t>
            </a:r>
          </a:p>
        </p:txBody>
      </p:sp>
      <p:sp>
        <p:nvSpPr>
          <p:cNvPr id="11" name="context-Q18">
            <a:extLst xmlns:a="http://schemas.openxmlformats.org/drawingml/2006/main">
              <a:ext uri="{FF2B5EF4-FFF2-40B4-BE49-F238E27FC236}">
                <a16:creationId xmlns:a16="http://schemas.microsoft.com/office/drawing/2014/main" id="{BB4C8549-5198-48C9-AC12-22A905EB7FC5}"/>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文脈〔要約〕：特定の巨大テーマに一律に寄せず、工程集約や自動化の実利を期待する文脈。</a:t>
            </a:r>
          </a:p>
        </p:txBody>
      </p:sp>
      <p:sp>
        <p:nvSpPr>
          <p:cNvPr id="12" name="boundary-Q18">
            <a:extLst xmlns:a="http://schemas.openxmlformats.org/drawingml/2006/main">
              <a:ext uri="{FF2B5EF4-FFF2-40B4-BE49-F238E27FC236}">
                <a16:creationId xmlns:a16="http://schemas.microsoft.com/office/drawing/2014/main" id="{6FA124F3-FD96-40B8-B5CF-4F92D493EDA8}"/>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留保：展示会前の見通し。実際に見た報告ではない。</a:t>
            </a:r>
          </a:p>
        </p:txBody>
      </p:sp>
      <p:sp>
        <p:nvSpPr>
          <p:cNvPr id="13" name="qid-Q19">
            <a:extLst xmlns:a="http://schemas.openxmlformats.org/drawingml/2006/main">
              <a:ext uri="{FF2B5EF4-FFF2-40B4-BE49-F238E27FC236}">
                <a16:creationId xmlns:a16="http://schemas.microsoft.com/office/drawing/2014/main" id="{2077FA69-04AD-4679-AB23-E550300735A7}"/>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ed0659ba8d4444c9"/>
              </a:rPr>
              <a:t>Q19</a:t>
            </a:r>
            <a:br>
              <a:rPr sz="2025" b="1">
                <a:solidFill>
                  <a:srgbClr val="117D83"/>
                </a:solidFill>
                <a:latin typeface="Noto Sans JP"/>
                <a:ea typeface="Noto Sans JP"/>
                <a:cs typeface="Noto Sans JP"/>
                <a:hlinkClick xmlns:r="http://schemas.openxmlformats.org/officeDocument/2006/relationships" r:id="Red0659ba8d4444c9"/>
              </a:rPr>
            </a:br>
            <a:r>
              <a:rPr sz="2025" b="1">
                <a:solidFill>
                  <a:srgbClr val="117D83"/>
                </a:solidFill>
                <a:latin typeface="Noto Sans JP"/>
                <a:ea typeface="Noto Sans JP"/>
                <a:cs typeface="Noto Sans JP"/>
                <a:hlinkClick xmlns:r="http://schemas.openxmlformats.org/officeDocument/2006/relationships" r:id="Red0659ba8d4444c9"/>
              </a:rPr>
              <a:t>S19</a:t>
            </a:r>
          </a:p>
        </p:txBody>
      </p:sp>
      <p:sp>
        <p:nvSpPr>
          <p:cNvPr id="14" name="verbatim-Q19">
            <a:extLst xmlns:a="http://schemas.openxmlformats.org/drawingml/2006/main">
              <a:ext uri="{FF2B5EF4-FFF2-40B4-BE49-F238E27FC236}">
                <a16:creationId xmlns:a16="http://schemas.microsoft.com/office/drawing/2014/main" id="{C25FB193-4B6A-4322-877F-5D6B4549CA24}"/>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安定した品質と生産性をいかに長く維持するか</a:t>
            </a:r>
          </a:p>
        </p:txBody>
      </p:sp>
      <p:sp>
        <p:nvSpPr>
          <p:cNvPr id="15" name="attribution-Q19">
            <a:extLst xmlns:a="http://schemas.openxmlformats.org/drawingml/2006/main">
              <a:ext uri="{FF2B5EF4-FFF2-40B4-BE49-F238E27FC236}">
                <a16:creationId xmlns:a16="http://schemas.microsoft.com/office/drawing/2014/main" id="{03C8AF5D-E915-4201-857F-E9992C311862}"/>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日本工作機械輸入協会 会長 金子一彦氏　2026</a:t>
            </a:r>
          </a:p>
        </p:txBody>
      </p:sp>
      <p:sp>
        <p:nvSpPr>
          <p:cNvPr id="16" name="context-Q19">
            <a:extLst xmlns:a="http://schemas.openxmlformats.org/drawingml/2006/main">
              <a:ext uri="{FF2B5EF4-FFF2-40B4-BE49-F238E27FC236}">
                <a16:creationId xmlns:a16="http://schemas.microsoft.com/office/drawing/2014/main" id="{DA5F775D-05A2-44ED-83BC-CB4B08DEAF56}"/>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文脈〔要約〕：人を減らすだけでなく、長期の安定性を見るという年頭所感。</a:t>
            </a:r>
          </a:p>
        </p:txBody>
      </p:sp>
      <p:sp>
        <p:nvSpPr>
          <p:cNvPr id="17" name="boundary-Q19">
            <a:extLst xmlns:a="http://schemas.openxmlformats.org/drawingml/2006/main">
              <a:ext uri="{FF2B5EF4-FFF2-40B4-BE49-F238E27FC236}">
                <a16:creationId xmlns:a16="http://schemas.microsoft.com/office/drawing/2014/main" id="{5A5E73EC-17ED-4E12-B2B1-263865E4FC11}"/>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留保：同氏の認識。設備方式別の効果比較の実測値ではない。</a:t>
            </a:r>
          </a:p>
        </p:txBody>
      </p:sp>
      <p:sp>
        <p:nvSpPr>
          <p:cNvPr id="18" name="qid-Q20">
            <a:extLst xmlns:a="http://schemas.openxmlformats.org/drawingml/2006/main">
              <a:ext uri="{FF2B5EF4-FFF2-40B4-BE49-F238E27FC236}">
                <a16:creationId xmlns:a16="http://schemas.microsoft.com/office/drawing/2014/main" id="{3854E125-3AD7-479E-B087-C6EFF892D151}"/>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f38c0d72619843b8"/>
              </a:rPr>
              <a:t>Q20</a:t>
            </a:r>
            <a:br>
              <a:rPr sz="2025" b="1">
                <a:solidFill>
                  <a:srgbClr val="117D83"/>
                </a:solidFill>
                <a:latin typeface="Noto Sans JP"/>
                <a:ea typeface="Noto Sans JP"/>
                <a:cs typeface="Noto Sans JP"/>
                <a:hlinkClick xmlns:r="http://schemas.openxmlformats.org/officeDocument/2006/relationships" r:id="Rf38c0d72619843b8"/>
              </a:rPr>
            </a:br>
            <a:r>
              <a:rPr sz="2025" b="1">
                <a:solidFill>
                  <a:srgbClr val="117D83"/>
                </a:solidFill>
                <a:latin typeface="Noto Sans JP"/>
                <a:ea typeface="Noto Sans JP"/>
                <a:cs typeface="Noto Sans JP"/>
                <a:hlinkClick xmlns:r="http://schemas.openxmlformats.org/officeDocument/2006/relationships" r:id="Rf38c0d72619843b8"/>
              </a:rPr>
              <a:t>S20</a:t>
            </a:r>
          </a:p>
        </p:txBody>
      </p:sp>
      <p:sp>
        <p:nvSpPr>
          <p:cNvPr id="19" name="verbatim-Q20">
            <a:extLst xmlns:a="http://schemas.openxmlformats.org/drawingml/2006/main">
              <a:ext uri="{FF2B5EF4-FFF2-40B4-BE49-F238E27FC236}">
                <a16:creationId xmlns:a16="http://schemas.microsoft.com/office/drawing/2014/main" id="{98FCF6DD-01A0-4DBD-8E92-986EE40A045B}"/>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データ取得前提の製品設計</a:t>
            </a:r>
          </a:p>
        </p:txBody>
      </p:sp>
      <p:sp>
        <p:nvSpPr>
          <p:cNvPr id="20" name="attribution-Q20">
            <a:extLst xmlns:a="http://schemas.openxmlformats.org/drawingml/2006/main">
              <a:ext uri="{FF2B5EF4-FFF2-40B4-BE49-F238E27FC236}">
                <a16:creationId xmlns:a16="http://schemas.microsoft.com/office/drawing/2014/main" id="{7EAAA2AD-097B-442D-8676-6A04AC88491A}"/>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日本総研の提言　2026-08-14</a:t>
            </a:r>
          </a:p>
        </p:txBody>
      </p:sp>
      <p:sp>
        <p:nvSpPr>
          <p:cNvPr id="21" name="context-Q20">
            <a:extLst xmlns:a="http://schemas.openxmlformats.org/drawingml/2006/main">
              <a:ext uri="{FF2B5EF4-FFF2-40B4-BE49-F238E27FC236}">
                <a16:creationId xmlns:a16="http://schemas.microsoft.com/office/drawing/2014/main" id="{5C2199D3-303B-44AE-ABE3-4B4EDCD2203B}"/>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文脈〔要約〕：顧客課題への導入と運用データによる改良を結び付ける提言の一項目。</a:t>
            </a:r>
          </a:p>
        </p:txBody>
      </p:sp>
      <p:sp>
        <p:nvSpPr>
          <p:cNvPr id="22" name="boundary-Q20">
            <a:extLst xmlns:a="http://schemas.openxmlformats.org/drawingml/2006/main">
              <a:ext uri="{FF2B5EF4-FFF2-40B4-BE49-F238E27FC236}">
                <a16:creationId xmlns:a16="http://schemas.microsoft.com/office/drawing/2014/main" id="{CD2E2D98-8A4B-41EC-A825-523490448702}"/>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留保：提言であり、特定企業が達成した成果ではない。</a:t>
            </a:r>
          </a:p>
        </p:txBody>
      </p:sp>
      <p:sp>
        <p:nvSpPr>
          <p:cNvPr id="23" name="ref-Q17">
            <a:extLst xmlns:a="http://schemas.openxmlformats.org/drawingml/2006/main">
              <a:ext uri="{FF2B5EF4-FFF2-40B4-BE49-F238E27FC236}">
                <a16:creationId xmlns:a16="http://schemas.microsoft.com/office/drawing/2014/main" id="{2DDF1E93-79E6-4FF8-991A-C22D923BA4A7}"/>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ce9cf5644774be2"/>
              </a:rPr>
              <a:t>Q17 p.33</a:t>
            </a:r>
          </a:p>
        </p:txBody>
      </p:sp>
      <p:sp>
        <p:nvSpPr>
          <p:cNvPr id="24" name="ref-Q18">
            <a:extLst xmlns:a="http://schemas.openxmlformats.org/drawingml/2006/main">
              <a:ext uri="{FF2B5EF4-FFF2-40B4-BE49-F238E27FC236}">
                <a16:creationId xmlns:a16="http://schemas.microsoft.com/office/drawing/2014/main" id="{E1AF2FB8-D6F0-4BAA-A84D-90DB1FC4B765}"/>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119ed1b8018498e"/>
              </a:rPr>
              <a:t>Q18 p.33</a:t>
            </a:r>
          </a:p>
        </p:txBody>
      </p:sp>
      <p:sp>
        <p:nvSpPr>
          <p:cNvPr id="25" name="ref-Q19">
            <a:extLst xmlns:a="http://schemas.openxmlformats.org/drawingml/2006/main">
              <a:ext uri="{FF2B5EF4-FFF2-40B4-BE49-F238E27FC236}">
                <a16:creationId xmlns:a16="http://schemas.microsoft.com/office/drawing/2014/main" id="{AEAE437A-0B30-45BB-8E68-2D86D42DE6AD}"/>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a15e444171734918"/>
              </a:rPr>
              <a:t>Q19 p.33</a:t>
            </a:r>
          </a:p>
        </p:txBody>
      </p:sp>
      <p:sp>
        <p:nvSpPr>
          <p:cNvPr id="26" name="ref-Q20">
            <a:extLst xmlns:a="http://schemas.openxmlformats.org/drawingml/2006/main">
              <a:ext uri="{FF2B5EF4-FFF2-40B4-BE49-F238E27FC236}">
                <a16:creationId xmlns:a16="http://schemas.microsoft.com/office/drawing/2014/main" id="{F10D4B57-E86A-44AD-A8EA-279F74F84FD4}"/>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94144ea416d842cf"/>
              </a:rPr>
              <a:t>Q20 p.33</a:t>
            </a:r>
          </a:p>
        </p:txBody>
      </p:sp>
      <p:sp>
        <p:nvSpPr>
          <p:cNvPr id="27" name="disclosure">
            <a:extLst xmlns:a="http://schemas.openxmlformats.org/drawingml/2006/main">
              <a:ext uri="{FF2B5EF4-FFF2-40B4-BE49-F238E27FC236}">
                <a16:creationId xmlns:a16="http://schemas.microsoft.com/office/drawing/2014/main" id="{C397949A-7F84-4EE9-818F-E2A0CB08AAE5}"/>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DBFD16EB-2B1C-4549-B073-667DA20EDAC2}"/>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33 / 40</a:t>
            </a:r>
          </a:p>
        </p:txBody>
      </p:sp>
    </p:spTree>
    <p:extLst>
      <p:ext uri="{BB962C8B-B14F-4D97-AF65-F5344CB8AC3E}">
        <p14:creationId xmlns:p14="http://schemas.microsoft.com/office/powerpoint/2010/main" val="111983485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F1536C22-78D0-4FC7-B039-1AC333C399CA}"/>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6/12　Q21～Q24</a:t>
            </a:r>
          </a:p>
        </p:txBody>
      </p:sp>
      <p:sp>
        <p:nvSpPr>
          <p:cNvPr id="2" name="context">
            <a:extLst xmlns:a="http://schemas.openxmlformats.org/drawingml/2006/main">
              <a:ext uri="{FF2B5EF4-FFF2-40B4-BE49-F238E27FC236}">
                <a16:creationId xmlns:a16="http://schemas.microsoft.com/office/drawing/2014/main" id="{552E8BD3-0F74-414A-A6AB-44D193DAC12E}"/>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21">
            <a:extLst xmlns:a="http://schemas.openxmlformats.org/drawingml/2006/main">
              <a:ext uri="{FF2B5EF4-FFF2-40B4-BE49-F238E27FC236}">
                <a16:creationId xmlns:a16="http://schemas.microsoft.com/office/drawing/2014/main" id="{F708B570-81C4-473F-9425-BAC593D05FEF}"/>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b0c4d3e9ee41446f"/>
              </a:rPr>
              <a:t>Q21</a:t>
            </a:r>
            <a:br>
              <a:rPr sz="2025" b="1">
                <a:solidFill>
                  <a:srgbClr val="117D83"/>
                </a:solidFill>
                <a:latin typeface="Noto Sans JP"/>
                <a:ea typeface="Noto Sans JP"/>
                <a:cs typeface="Noto Sans JP"/>
                <a:hlinkClick xmlns:r="http://schemas.openxmlformats.org/officeDocument/2006/relationships" r:id="Rb0c4d3e9ee41446f"/>
              </a:rPr>
            </a:br>
            <a:r>
              <a:rPr sz="2025" b="1">
                <a:solidFill>
                  <a:srgbClr val="117D83"/>
                </a:solidFill>
                <a:latin typeface="Noto Sans JP"/>
                <a:ea typeface="Noto Sans JP"/>
                <a:cs typeface="Noto Sans JP"/>
                <a:hlinkClick xmlns:r="http://schemas.openxmlformats.org/officeDocument/2006/relationships" r:id="Rb0c4d3e9ee41446f"/>
              </a:rPr>
              <a:t>S21</a:t>
            </a:r>
          </a:p>
        </p:txBody>
      </p:sp>
      <p:sp>
        <p:nvSpPr>
          <p:cNvPr id="4" name="verbatim-Q21">
            <a:extLst xmlns:a="http://schemas.openxmlformats.org/drawingml/2006/main">
              <a:ext uri="{FF2B5EF4-FFF2-40B4-BE49-F238E27FC236}">
                <a16:creationId xmlns:a16="http://schemas.microsoft.com/office/drawing/2014/main" id="{580718E3-1C27-47C3-A750-E382E845B51D}"/>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環境の変化を観測し、その時点の状態に応じて行動を選び直します。</a:t>
            </a:r>
          </a:p>
        </p:txBody>
      </p:sp>
      <p:sp>
        <p:nvSpPr>
          <p:cNvPr id="5" name="attribution-Q21">
            <a:extLst xmlns:a="http://schemas.openxmlformats.org/drawingml/2006/main">
              <a:ext uri="{FF2B5EF4-FFF2-40B4-BE49-F238E27FC236}">
                <a16:creationId xmlns:a16="http://schemas.microsoft.com/office/drawing/2014/main" id="{4B5BEEC8-B070-4307-85E3-6A678E655085}"/>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KPMGの解説　2026-08-18</a:t>
            </a:r>
          </a:p>
        </p:txBody>
      </p:sp>
      <p:sp>
        <p:nvSpPr>
          <p:cNvPr id="6" name="context-Q21">
            <a:extLst xmlns:a="http://schemas.openxmlformats.org/drawingml/2006/main">
              <a:ext uri="{FF2B5EF4-FFF2-40B4-BE49-F238E27FC236}">
                <a16:creationId xmlns:a16="http://schemas.microsoft.com/office/drawing/2014/main" id="{7383B218-24FF-4A2B-9D4D-E161A9928FB9}"/>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文脈〔要約〕：事前に設計した手順と対比し、実行のループとモデル更新を分けて説明する。</a:t>
            </a:r>
          </a:p>
        </p:txBody>
      </p:sp>
      <p:sp>
        <p:nvSpPr>
          <p:cNvPr id="7" name="boundary-Q21">
            <a:extLst xmlns:a="http://schemas.openxmlformats.org/drawingml/2006/main">
              <a:ext uri="{FF2B5EF4-FFF2-40B4-BE49-F238E27FC236}">
                <a16:creationId xmlns:a16="http://schemas.microsoft.com/office/drawing/2014/main" id="{743F1B37-8740-411A-8A46-97AAD96B8C74}"/>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留保：KPMGの整理。一般規格ではなく、本調査の作業定義を支える一つの見解。</a:t>
            </a:r>
          </a:p>
        </p:txBody>
      </p:sp>
      <p:sp>
        <p:nvSpPr>
          <p:cNvPr id="8" name="qid-Q22">
            <a:extLst xmlns:a="http://schemas.openxmlformats.org/drawingml/2006/main">
              <a:ext uri="{FF2B5EF4-FFF2-40B4-BE49-F238E27FC236}">
                <a16:creationId xmlns:a16="http://schemas.microsoft.com/office/drawing/2014/main" id="{41C7A76A-0D6F-4004-9176-D361CACB5CFB}"/>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28b6e44a72d54d6a"/>
              </a:rPr>
              <a:t>Q22</a:t>
            </a:r>
            <a:br>
              <a:rPr sz="2025" b="1">
                <a:solidFill>
                  <a:srgbClr val="117D83"/>
                </a:solidFill>
                <a:latin typeface="Noto Sans JP"/>
                <a:ea typeface="Noto Sans JP"/>
                <a:cs typeface="Noto Sans JP"/>
                <a:hlinkClick xmlns:r="http://schemas.openxmlformats.org/officeDocument/2006/relationships" r:id="R28b6e44a72d54d6a"/>
              </a:rPr>
            </a:br>
            <a:r>
              <a:rPr sz="2025" b="1">
                <a:solidFill>
                  <a:srgbClr val="117D83"/>
                </a:solidFill>
                <a:latin typeface="Noto Sans JP"/>
                <a:ea typeface="Noto Sans JP"/>
                <a:cs typeface="Noto Sans JP"/>
                <a:hlinkClick xmlns:r="http://schemas.openxmlformats.org/officeDocument/2006/relationships" r:id="R28b6e44a72d54d6a"/>
              </a:rPr>
              <a:t>S22</a:t>
            </a:r>
          </a:p>
        </p:txBody>
      </p:sp>
      <p:sp>
        <p:nvSpPr>
          <p:cNvPr id="9" name="verbatim-Q22">
            <a:extLst xmlns:a="http://schemas.openxmlformats.org/drawingml/2006/main">
              <a:ext uri="{FF2B5EF4-FFF2-40B4-BE49-F238E27FC236}">
                <a16:creationId xmlns:a16="http://schemas.microsoft.com/office/drawing/2014/main" id="{B920E2A3-6AAD-44D7-B655-DDEAA9EEAE7F}"/>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Easy automation of high-mix, low volume production</a:t>
            </a:r>
          </a:p>
        </p:txBody>
      </p:sp>
      <p:sp>
        <p:nvSpPr>
          <p:cNvPr id="10" name="attribution-Q22">
            <a:extLst xmlns:a="http://schemas.openxmlformats.org/drawingml/2006/main">
              <a:ext uri="{FF2B5EF4-FFF2-40B4-BE49-F238E27FC236}">
                <a16:creationId xmlns:a16="http://schemas.microsoft.com/office/drawing/2014/main" id="{987BDCF9-5CD6-478C-A463-6BDB987AA171}"/>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オークマ公式JIMTOF2026特設ページ　</a:t>
            </a:r>
          </a:p>
        </p:txBody>
      </p:sp>
      <p:sp>
        <p:nvSpPr>
          <p:cNvPr id="11" name="context-Q22">
            <a:extLst xmlns:a="http://schemas.openxmlformats.org/drawingml/2006/main">
              <a:ext uri="{FF2B5EF4-FFF2-40B4-BE49-F238E27FC236}">
                <a16:creationId xmlns:a16="http://schemas.microsoft.com/office/drawing/2014/main" id="{80186FFD-DDFB-439F-A826-06106F5B25D6}"/>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文脈〔要約〕：自動ワーク交換を伴う展示予定の訴求。</a:t>
            </a:r>
          </a:p>
        </p:txBody>
      </p:sp>
      <p:sp>
        <p:nvSpPr>
          <p:cNvPr id="12" name="boundary-Q22">
            <a:extLst xmlns:a="http://schemas.openxmlformats.org/drawingml/2006/main">
              <a:ext uri="{FF2B5EF4-FFF2-40B4-BE49-F238E27FC236}">
                <a16:creationId xmlns:a16="http://schemas.microsoft.com/office/drawing/2014/main" id="{95044B5F-D4CA-4252-9E9D-01E1453CCC59}"/>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留保：AI使用や未知対象への適応の証拠ではない。</a:t>
            </a:r>
          </a:p>
        </p:txBody>
      </p:sp>
      <p:sp>
        <p:nvSpPr>
          <p:cNvPr id="13" name="qid-Q23">
            <a:extLst xmlns:a="http://schemas.openxmlformats.org/drawingml/2006/main">
              <a:ext uri="{FF2B5EF4-FFF2-40B4-BE49-F238E27FC236}">
                <a16:creationId xmlns:a16="http://schemas.microsoft.com/office/drawing/2014/main" id="{4F2074FE-19CA-46F1-A3B7-029EB913B71D}"/>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688c54130aa542bc"/>
              </a:rPr>
              <a:t>Q23</a:t>
            </a:r>
            <a:br>
              <a:rPr sz="2025" b="1">
                <a:solidFill>
                  <a:srgbClr val="117D83"/>
                </a:solidFill>
                <a:latin typeface="Noto Sans JP"/>
                <a:ea typeface="Noto Sans JP"/>
                <a:cs typeface="Noto Sans JP"/>
                <a:hlinkClick xmlns:r="http://schemas.openxmlformats.org/officeDocument/2006/relationships" r:id="R688c54130aa542bc"/>
              </a:rPr>
            </a:br>
            <a:r>
              <a:rPr sz="2025" b="1">
                <a:solidFill>
                  <a:srgbClr val="117D83"/>
                </a:solidFill>
                <a:latin typeface="Noto Sans JP"/>
                <a:ea typeface="Noto Sans JP"/>
                <a:cs typeface="Noto Sans JP"/>
                <a:hlinkClick xmlns:r="http://schemas.openxmlformats.org/officeDocument/2006/relationships" r:id="R688c54130aa542bc"/>
              </a:rPr>
              <a:t>S23</a:t>
            </a:r>
          </a:p>
        </p:txBody>
      </p:sp>
      <p:sp>
        <p:nvSpPr>
          <p:cNvPr id="14" name="verbatim-Q23">
            <a:extLst xmlns:a="http://schemas.openxmlformats.org/drawingml/2006/main">
              <a:ext uri="{FF2B5EF4-FFF2-40B4-BE49-F238E27FC236}">
                <a16:creationId xmlns:a16="http://schemas.microsoft.com/office/drawing/2014/main" id="{B4DB123A-A876-4AAC-8AAE-4B275F6F0FAB}"/>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モーションとAIの融合</a:t>
            </a:r>
          </a:p>
        </p:txBody>
      </p:sp>
      <p:sp>
        <p:nvSpPr>
          <p:cNvPr id="15" name="attribution-Q23">
            <a:extLst xmlns:a="http://schemas.openxmlformats.org/drawingml/2006/main">
              <a:ext uri="{FF2B5EF4-FFF2-40B4-BE49-F238E27FC236}">
                <a16:creationId xmlns:a16="http://schemas.microsoft.com/office/drawing/2014/main" id="{F8D1B2AC-7276-448E-B55E-AF205E2004C0}"/>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安川電機の公式経営資料　2026-01-09</a:t>
            </a:r>
          </a:p>
        </p:txBody>
      </p:sp>
      <p:sp>
        <p:nvSpPr>
          <p:cNvPr id="16" name="context-Q23">
            <a:extLst xmlns:a="http://schemas.openxmlformats.org/drawingml/2006/main">
              <a:ext uri="{FF2B5EF4-FFF2-40B4-BE49-F238E27FC236}">
                <a16:creationId xmlns:a16="http://schemas.microsoft.com/office/drawing/2014/main" id="{623D1645-68CE-4F8C-AC99-8CAA2BF19C0A}"/>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文脈〔要約〕：同社がAIロボティクスを説明する表現。設計変更と実演学習の例が続く。</a:t>
            </a:r>
          </a:p>
        </p:txBody>
      </p:sp>
      <p:sp>
        <p:nvSpPr>
          <p:cNvPr id="17" name="boundary-Q23">
            <a:extLst xmlns:a="http://schemas.openxmlformats.org/drawingml/2006/main">
              <a:ext uri="{FF2B5EF4-FFF2-40B4-BE49-F238E27FC236}">
                <a16:creationId xmlns:a16="http://schemas.microsoft.com/office/drawing/2014/main" id="{29A8427D-35F4-443C-A245-CBE9BEF33807}"/>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留保：同社のAIロボティクスの表現であり、全社共通のPhysical AI定義ではない。</a:t>
            </a:r>
          </a:p>
        </p:txBody>
      </p:sp>
      <p:sp>
        <p:nvSpPr>
          <p:cNvPr id="18" name="qid-Q24">
            <a:extLst xmlns:a="http://schemas.openxmlformats.org/drawingml/2006/main">
              <a:ext uri="{FF2B5EF4-FFF2-40B4-BE49-F238E27FC236}">
                <a16:creationId xmlns:a16="http://schemas.microsoft.com/office/drawing/2014/main" id="{025D2089-6ECB-4183-9741-78140798DF51}"/>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63ce9dff3ba146c4"/>
              </a:rPr>
              <a:t>Q24</a:t>
            </a:r>
            <a:br>
              <a:rPr sz="2025" b="1">
                <a:solidFill>
                  <a:srgbClr val="117D83"/>
                </a:solidFill>
                <a:latin typeface="Noto Sans JP"/>
                <a:ea typeface="Noto Sans JP"/>
                <a:cs typeface="Noto Sans JP"/>
                <a:hlinkClick xmlns:r="http://schemas.openxmlformats.org/officeDocument/2006/relationships" r:id="R63ce9dff3ba146c4"/>
              </a:rPr>
            </a:br>
            <a:r>
              <a:rPr sz="2025" b="1">
                <a:solidFill>
                  <a:srgbClr val="117D83"/>
                </a:solidFill>
                <a:latin typeface="Noto Sans JP"/>
                <a:ea typeface="Noto Sans JP"/>
                <a:cs typeface="Noto Sans JP"/>
                <a:hlinkClick xmlns:r="http://schemas.openxmlformats.org/officeDocument/2006/relationships" r:id="R63ce9dff3ba146c4"/>
              </a:rPr>
              <a:t>S24</a:t>
            </a:r>
          </a:p>
        </p:txBody>
      </p:sp>
      <p:sp>
        <p:nvSpPr>
          <p:cNvPr id="19" name="verbatim-Q24">
            <a:extLst xmlns:a="http://schemas.openxmlformats.org/drawingml/2006/main">
              <a:ext uri="{FF2B5EF4-FFF2-40B4-BE49-F238E27FC236}">
                <a16:creationId xmlns:a16="http://schemas.microsoft.com/office/drawing/2014/main" id="{44F148D2-77A4-4B2A-BB3F-5E75CBAD5E5A}"/>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まずはシミュレーションのモデルをしっかりと作り込んで</a:t>
            </a:r>
          </a:p>
        </p:txBody>
      </p:sp>
      <p:sp>
        <p:nvSpPr>
          <p:cNvPr id="20" name="attribution-Q24">
            <a:extLst xmlns:a="http://schemas.openxmlformats.org/drawingml/2006/main">
              <a:ext uri="{FF2B5EF4-FFF2-40B4-BE49-F238E27FC236}">
                <a16:creationId xmlns:a16="http://schemas.microsoft.com/office/drawing/2014/main" id="{0986C4B1-7526-4F9D-845A-9DA63AB5AAB3}"/>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DMG森精機 森雅彦氏の取材発言　2025-09-26</a:t>
            </a:r>
          </a:p>
        </p:txBody>
      </p:sp>
      <p:sp>
        <p:nvSpPr>
          <p:cNvPr id="21" name="context-Q24">
            <a:extLst xmlns:a="http://schemas.openxmlformats.org/drawingml/2006/main">
              <a:ext uri="{FF2B5EF4-FFF2-40B4-BE49-F238E27FC236}">
                <a16:creationId xmlns:a16="http://schemas.microsoft.com/office/drawing/2014/main" id="{089448E9-2AD1-48BB-BA11-D0618E2BF1FA}"/>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文脈〔要約〕：研究論文への言及として、モデルを土台にAIを使う方法へ関心を示す。</a:t>
            </a:r>
          </a:p>
        </p:txBody>
      </p:sp>
      <p:sp>
        <p:nvSpPr>
          <p:cNvPr id="22" name="boundary-Q24">
            <a:extLst xmlns:a="http://schemas.openxmlformats.org/drawingml/2006/main">
              <a:ext uri="{FF2B5EF4-FFF2-40B4-BE49-F238E27FC236}">
                <a16:creationId xmlns:a16="http://schemas.microsoft.com/office/drawing/2014/main" id="{CBEB0974-2EFF-4C4F-B03A-C0B663F465BE}"/>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留保：技術への関心を述べた条件節。特定の自社実装の達成証明ではない。</a:t>
            </a:r>
          </a:p>
        </p:txBody>
      </p:sp>
      <p:sp>
        <p:nvSpPr>
          <p:cNvPr id="23" name="ref-Q21">
            <a:extLst xmlns:a="http://schemas.openxmlformats.org/drawingml/2006/main">
              <a:ext uri="{FF2B5EF4-FFF2-40B4-BE49-F238E27FC236}">
                <a16:creationId xmlns:a16="http://schemas.microsoft.com/office/drawing/2014/main" id="{5D2CFC9F-4885-455B-B744-AA5436A711C8}"/>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7857dadf1f24f42"/>
              </a:rPr>
              <a:t>Q21 p.34</a:t>
            </a:r>
          </a:p>
        </p:txBody>
      </p:sp>
      <p:sp>
        <p:nvSpPr>
          <p:cNvPr id="24" name="ref-Q22">
            <a:extLst xmlns:a="http://schemas.openxmlformats.org/drawingml/2006/main">
              <a:ext uri="{FF2B5EF4-FFF2-40B4-BE49-F238E27FC236}">
                <a16:creationId xmlns:a16="http://schemas.microsoft.com/office/drawing/2014/main" id="{7C794B99-36E6-4D03-910E-0F444539FE52}"/>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e40dfe4761e47aa"/>
              </a:rPr>
              <a:t>Q22 p.34</a:t>
            </a:r>
          </a:p>
        </p:txBody>
      </p:sp>
      <p:sp>
        <p:nvSpPr>
          <p:cNvPr id="25" name="ref-Q23">
            <a:extLst xmlns:a="http://schemas.openxmlformats.org/drawingml/2006/main">
              <a:ext uri="{FF2B5EF4-FFF2-40B4-BE49-F238E27FC236}">
                <a16:creationId xmlns:a16="http://schemas.microsoft.com/office/drawing/2014/main" id="{E18951B3-42FE-4489-8C2E-9BB6D3B0C1B4}"/>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7af5be1de5774183"/>
              </a:rPr>
              <a:t>Q23 p.34</a:t>
            </a:r>
          </a:p>
        </p:txBody>
      </p:sp>
      <p:sp>
        <p:nvSpPr>
          <p:cNvPr id="26" name="ref-Q24">
            <a:extLst xmlns:a="http://schemas.openxmlformats.org/drawingml/2006/main">
              <a:ext uri="{FF2B5EF4-FFF2-40B4-BE49-F238E27FC236}">
                <a16:creationId xmlns:a16="http://schemas.microsoft.com/office/drawing/2014/main" id="{F024FF77-A43D-4D95-99DB-1101D65A9B35}"/>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ab406b85478c42ef"/>
              </a:rPr>
              <a:t>Q24 p.34</a:t>
            </a:r>
          </a:p>
        </p:txBody>
      </p:sp>
      <p:sp>
        <p:nvSpPr>
          <p:cNvPr id="27" name="disclosure">
            <a:extLst xmlns:a="http://schemas.openxmlformats.org/drawingml/2006/main">
              <a:ext uri="{FF2B5EF4-FFF2-40B4-BE49-F238E27FC236}">
                <a16:creationId xmlns:a16="http://schemas.microsoft.com/office/drawing/2014/main" id="{9CBBF7CA-4D00-40B7-A6EA-BF5FA661F91B}"/>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00A7FC73-9110-41B7-A6E5-241DEED620C5}"/>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34 / 40</a:t>
            </a:r>
          </a:p>
        </p:txBody>
      </p:sp>
    </p:spTree>
    <p:extLst>
      <p:ext uri="{BB962C8B-B14F-4D97-AF65-F5344CB8AC3E}">
        <p14:creationId xmlns:p14="http://schemas.microsoft.com/office/powerpoint/2010/main" val="132688065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F2DE6521-D5AF-4D2F-99D2-F14C1C22285C}"/>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7/12　Q25～Q28</a:t>
            </a:r>
          </a:p>
        </p:txBody>
      </p:sp>
      <p:sp>
        <p:nvSpPr>
          <p:cNvPr id="2" name="context">
            <a:extLst xmlns:a="http://schemas.openxmlformats.org/drawingml/2006/main">
              <a:ext uri="{FF2B5EF4-FFF2-40B4-BE49-F238E27FC236}">
                <a16:creationId xmlns:a16="http://schemas.microsoft.com/office/drawing/2014/main" id="{A47FED7F-787B-405A-8ECF-7BA64EC22BF8}"/>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25">
            <a:extLst xmlns:a="http://schemas.openxmlformats.org/drawingml/2006/main">
              <a:ext uri="{FF2B5EF4-FFF2-40B4-BE49-F238E27FC236}">
                <a16:creationId xmlns:a16="http://schemas.microsoft.com/office/drawing/2014/main" id="{24A8578A-D7D7-4358-ACF2-2811741831D2}"/>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9c9054cbcbf74fb9"/>
              </a:rPr>
              <a:t>Q25</a:t>
            </a:r>
            <a:br>
              <a:rPr sz="2025" b="1">
                <a:solidFill>
                  <a:srgbClr val="117D83"/>
                </a:solidFill>
                <a:latin typeface="Noto Sans JP"/>
                <a:ea typeface="Noto Sans JP"/>
                <a:cs typeface="Noto Sans JP"/>
                <a:hlinkClick xmlns:r="http://schemas.openxmlformats.org/officeDocument/2006/relationships" r:id="R9c9054cbcbf74fb9"/>
              </a:rPr>
            </a:br>
            <a:r>
              <a:rPr sz="2025" b="1">
                <a:solidFill>
                  <a:srgbClr val="117D83"/>
                </a:solidFill>
                <a:latin typeface="Noto Sans JP"/>
                <a:ea typeface="Noto Sans JP"/>
                <a:cs typeface="Noto Sans JP"/>
                <a:hlinkClick xmlns:r="http://schemas.openxmlformats.org/officeDocument/2006/relationships" r:id="R9c9054cbcbf74fb9"/>
              </a:rPr>
              <a:t>S25</a:t>
            </a:r>
          </a:p>
        </p:txBody>
      </p:sp>
      <p:sp>
        <p:nvSpPr>
          <p:cNvPr id="4" name="verbatim-Q25">
            <a:extLst xmlns:a="http://schemas.openxmlformats.org/drawingml/2006/main">
              <a:ext uri="{FF2B5EF4-FFF2-40B4-BE49-F238E27FC236}">
                <a16:creationId xmlns:a16="http://schemas.microsoft.com/office/drawing/2014/main" id="{0C290B69-0B97-4957-8C63-BF146032008E}"/>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それぞれのユーザーにAIエージェントが付く方向にしたい。</a:t>
            </a:r>
          </a:p>
        </p:txBody>
      </p:sp>
      <p:sp>
        <p:nvSpPr>
          <p:cNvPr id="5" name="attribution-Q25">
            <a:extLst xmlns:a="http://schemas.openxmlformats.org/drawingml/2006/main">
              <a:ext uri="{FF2B5EF4-FFF2-40B4-BE49-F238E27FC236}">
                <a16:creationId xmlns:a16="http://schemas.microsoft.com/office/drawing/2014/main" id="{49D50405-2E12-492F-8E98-D3D79CF3CDBF}"/>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DMG森精機 森雅彦氏の取材発言　2026-06-15</a:t>
            </a:r>
          </a:p>
        </p:txBody>
      </p:sp>
      <p:sp>
        <p:nvSpPr>
          <p:cNvPr id="6" name="context-Q25">
            <a:extLst xmlns:a="http://schemas.openxmlformats.org/drawingml/2006/main">
              <a:ext uri="{FF2B5EF4-FFF2-40B4-BE49-F238E27FC236}">
                <a16:creationId xmlns:a16="http://schemas.microsoft.com/office/drawing/2014/main" id="{CB324D9C-C860-405C-92DB-41BA2D4B6055}"/>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文脈〔要約〕：プログラミング、工具選択、ワーク保持などの支援を展望する。</a:t>
            </a:r>
          </a:p>
        </p:txBody>
      </p:sp>
      <p:sp>
        <p:nvSpPr>
          <p:cNvPr id="7" name="boundary-Q25">
            <a:extLst xmlns:a="http://schemas.openxmlformats.org/drawingml/2006/main">
              <a:ext uri="{FF2B5EF4-FFF2-40B4-BE49-F238E27FC236}">
                <a16:creationId xmlns:a16="http://schemas.microsoft.com/office/drawing/2014/main" id="{E838DAD0-34A3-4E1A-8B86-15E557FE7EE8}"/>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留保：将来の方向性。全顧客への提供済みという意味ではない。</a:t>
            </a:r>
          </a:p>
        </p:txBody>
      </p:sp>
      <p:sp>
        <p:nvSpPr>
          <p:cNvPr id="8" name="qid-Q26">
            <a:extLst xmlns:a="http://schemas.openxmlformats.org/drawingml/2006/main">
              <a:ext uri="{FF2B5EF4-FFF2-40B4-BE49-F238E27FC236}">
                <a16:creationId xmlns:a16="http://schemas.microsoft.com/office/drawing/2014/main" id="{EE46A8D1-0BE2-46F5-9C88-665925553EB2}"/>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211dc65cdf184335"/>
              </a:rPr>
              <a:t>Q26</a:t>
            </a:r>
            <a:br>
              <a:rPr sz="2025" b="1">
                <a:solidFill>
                  <a:srgbClr val="117D83"/>
                </a:solidFill>
                <a:latin typeface="Noto Sans JP"/>
                <a:ea typeface="Noto Sans JP"/>
                <a:cs typeface="Noto Sans JP"/>
                <a:hlinkClick xmlns:r="http://schemas.openxmlformats.org/officeDocument/2006/relationships" r:id="R211dc65cdf184335"/>
              </a:rPr>
            </a:br>
            <a:r>
              <a:rPr sz="2025" b="1">
                <a:solidFill>
                  <a:srgbClr val="117D83"/>
                </a:solidFill>
                <a:latin typeface="Noto Sans JP"/>
                <a:ea typeface="Noto Sans JP"/>
                <a:cs typeface="Noto Sans JP"/>
                <a:hlinkClick xmlns:r="http://schemas.openxmlformats.org/officeDocument/2006/relationships" r:id="R211dc65cdf184335"/>
              </a:rPr>
              <a:t>S26</a:t>
            </a:r>
          </a:p>
        </p:txBody>
      </p:sp>
      <p:sp>
        <p:nvSpPr>
          <p:cNvPr id="9" name="verbatim-Q26">
            <a:extLst xmlns:a="http://schemas.openxmlformats.org/drawingml/2006/main">
              <a:ext uri="{FF2B5EF4-FFF2-40B4-BE49-F238E27FC236}">
                <a16:creationId xmlns:a16="http://schemas.microsoft.com/office/drawing/2014/main" id="{04BFE476-59D0-4944-9B03-17F52087F366}"/>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工作機械の診断専用NCプログラムを実行し</a:t>
            </a:r>
          </a:p>
        </p:txBody>
      </p:sp>
      <p:sp>
        <p:nvSpPr>
          <p:cNvPr id="10" name="attribution-Q26">
            <a:extLst xmlns:a="http://schemas.openxmlformats.org/drawingml/2006/main">
              <a:ext uri="{FF2B5EF4-FFF2-40B4-BE49-F238E27FC236}">
                <a16:creationId xmlns:a16="http://schemas.microsoft.com/office/drawing/2014/main" id="{751CDBF1-67C7-465F-9C4E-AF300B4A14E9}"/>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DMG森精機の公式製品発表　2026-07-06</a:t>
            </a:r>
          </a:p>
        </p:txBody>
      </p:sp>
      <p:sp>
        <p:nvSpPr>
          <p:cNvPr id="11" name="context-Q26">
            <a:extLst xmlns:a="http://schemas.openxmlformats.org/drawingml/2006/main">
              <a:ext uri="{FF2B5EF4-FFF2-40B4-BE49-F238E27FC236}">
                <a16:creationId xmlns:a16="http://schemas.microsoft.com/office/drawing/2014/main" id="{8C6058DE-3549-478B-8E88-2BED439EE296}"/>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文脈〔要約〕：専用の動作でデータを得てクラウド分析する方式の説明。</a:t>
            </a:r>
          </a:p>
        </p:txBody>
      </p:sp>
      <p:sp>
        <p:nvSpPr>
          <p:cNvPr id="12" name="boundary-Q26">
            <a:extLst xmlns:a="http://schemas.openxmlformats.org/drawingml/2006/main">
              <a:ext uri="{FF2B5EF4-FFF2-40B4-BE49-F238E27FC236}">
                <a16:creationId xmlns:a16="http://schemas.microsoft.com/office/drawing/2014/main" id="{5C553E11-85DC-401E-8E23-943161B0D9B3}"/>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留保：診断方法の部分引用。全ての加工ログが同じ方法で取られるわけではない。</a:t>
            </a:r>
          </a:p>
        </p:txBody>
      </p:sp>
      <p:sp>
        <p:nvSpPr>
          <p:cNvPr id="13" name="qid-Q27">
            <a:extLst xmlns:a="http://schemas.openxmlformats.org/drawingml/2006/main">
              <a:ext uri="{FF2B5EF4-FFF2-40B4-BE49-F238E27FC236}">
                <a16:creationId xmlns:a16="http://schemas.microsoft.com/office/drawing/2014/main" id="{6932D688-EE72-4F41-8821-1A97A6B18D99}"/>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9b75295767aa4bc2"/>
              </a:rPr>
              <a:t>Q27</a:t>
            </a:r>
            <a:br>
              <a:rPr sz="2025" b="1">
                <a:solidFill>
                  <a:srgbClr val="117D83"/>
                </a:solidFill>
                <a:latin typeface="Noto Sans JP"/>
                <a:ea typeface="Noto Sans JP"/>
                <a:cs typeface="Noto Sans JP"/>
                <a:hlinkClick xmlns:r="http://schemas.openxmlformats.org/officeDocument/2006/relationships" r:id="R9b75295767aa4bc2"/>
              </a:rPr>
            </a:br>
            <a:r>
              <a:rPr sz="2025" b="1">
                <a:solidFill>
                  <a:srgbClr val="117D83"/>
                </a:solidFill>
                <a:latin typeface="Noto Sans JP"/>
                <a:ea typeface="Noto Sans JP"/>
                <a:cs typeface="Noto Sans JP"/>
                <a:hlinkClick xmlns:r="http://schemas.openxmlformats.org/officeDocument/2006/relationships" r:id="R9b75295767aa4bc2"/>
              </a:rPr>
              <a:t>S27</a:t>
            </a:r>
          </a:p>
        </p:txBody>
      </p:sp>
      <p:sp>
        <p:nvSpPr>
          <p:cNvPr id="14" name="verbatim-Q27">
            <a:extLst xmlns:a="http://schemas.openxmlformats.org/drawingml/2006/main">
              <a:ext uri="{FF2B5EF4-FFF2-40B4-BE49-F238E27FC236}">
                <a16:creationId xmlns:a16="http://schemas.microsoft.com/office/drawing/2014/main" id="{CDBC69F7-A145-4A1E-AB4C-F642F45E4C7A}"/>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いずれも高い限界利益率を維持しており</a:t>
            </a:r>
          </a:p>
        </p:txBody>
      </p:sp>
      <p:sp>
        <p:nvSpPr>
          <p:cNvPr id="15" name="attribution-Q27">
            <a:extLst xmlns:a="http://schemas.openxmlformats.org/drawingml/2006/main">
              <a:ext uri="{FF2B5EF4-FFF2-40B4-BE49-F238E27FC236}">
                <a16:creationId xmlns:a16="http://schemas.microsoft.com/office/drawing/2014/main" id="{B9C74C46-A118-411C-9EFC-624827FF9B1C}"/>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DMG森精機の公式決算説明　2026-08-04</a:t>
            </a:r>
          </a:p>
        </p:txBody>
      </p:sp>
      <p:sp>
        <p:nvSpPr>
          <p:cNvPr id="16" name="context-Q27">
            <a:extLst xmlns:a="http://schemas.openxmlformats.org/drawingml/2006/main">
              <a:ext uri="{FF2B5EF4-FFF2-40B4-BE49-F238E27FC236}">
                <a16:creationId xmlns:a16="http://schemas.microsoft.com/office/drawing/2014/main" id="{139E65B6-93A6-4331-8196-CCE94FF4C9EA}"/>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文脈〔要約〕：直販・直MROを基盤とする高付加価値製品とMRO事業の収益性を説明する。</a:t>
            </a:r>
          </a:p>
        </p:txBody>
      </p:sp>
      <p:sp>
        <p:nvSpPr>
          <p:cNvPr id="17" name="boundary-Q27">
            <a:extLst xmlns:a="http://schemas.openxmlformats.org/drawingml/2006/main">
              <a:ext uri="{FF2B5EF4-FFF2-40B4-BE49-F238E27FC236}">
                <a16:creationId xmlns:a16="http://schemas.microsoft.com/office/drawing/2014/main" id="{EE44A136-5725-40A5-BBD6-EC38B09F69C9}"/>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留保：AI単独、サブスク単独の利益率を示す引用ではない。</a:t>
            </a:r>
          </a:p>
        </p:txBody>
      </p:sp>
      <p:sp>
        <p:nvSpPr>
          <p:cNvPr id="18" name="qid-Q28">
            <a:extLst xmlns:a="http://schemas.openxmlformats.org/drawingml/2006/main">
              <a:ext uri="{FF2B5EF4-FFF2-40B4-BE49-F238E27FC236}">
                <a16:creationId xmlns:a16="http://schemas.microsoft.com/office/drawing/2014/main" id="{C2463CDE-9954-4A1F-9778-207F1DD798FC}"/>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df33165f6b034a9a"/>
              </a:rPr>
              <a:t>Q28</a:t>
            </a:r>
            <a:br>
              <a:rPr sz="2025" b="1">
                <a:solidFill>
                  <a:srgbClr val="117D83"/>
                </a:solidFill>
                <a:latin typeface="Noto Sans JP"/>
                <a:ea typeface="Noto Sans JP"/>
                <a:cs typeface="Noto Sans JP"/>
                <a:hlinkClick xmlns:r="http://schemas.openxmlformats.org/officeDocument/2006/relationships" r:id="Rdf33165f6b034a9a"/>
              </a:rPr>
            </a:br>
            <a:r>
              <a:rPr sz="2025" b="1">
                <a:solidFill>
                  <a:srgbClr val="117D83"/>
                </a:solidFill>
                <a:latin typeface="Noto Sans JP"/>
                <a:ea typeface="Noto Sans JP"/>
                <a:cs typeface="Noto Sans JP"/>
                <a:hlinkClick xmlns:r="http://schemas.openxmlformats.org/officeDocument/2006/relationships" r:id="Rdf33165f6b034a9a"/>
              </a:rPr>
              <a:t>S28</a:t>
            </a:r>
          </a:p>
        </p:txBody>
      </p:sp>
      <p:sp>
        <p:nvSpPr>
          <p:cNvPr id="19" name="verbatim-Q28">
            <a:extLst xmlns:a="http://schemas.openxmlformats.org/drawingml/2006/main">
              <a:ext uri="{FF2B5EF4-FFF2-40B4-BE49-F238E27FC236}">
                <a16:creationId xmlns:a16="http://schemas.microsoft.com/office/drawing/2014/main" id="{F8571D01-7769-4F2C-852C-122553A0CEB7}"/>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デジタルサービスで納入後の機械を継続的にサポート</a:t>
            </a:r>
          </a:p>
        </p:txBody>
      </p:sp>
      <p:sp>
        <p:nvSpPr>
          <p:cNvPr id="20" name="attribution-Q28">
            <a:extLst xmlns:a="http://schemas.openxmlformats.org/drawingml/2006/main">
              <a:ext uri="{FF2B5EF4-FFF2-40B4-BE49-F238E27FC236}">
                <a16:creationId xmlns:a16="http://schemas.microsoft.com/office/drawing/2014/main" id="{EBB1CE5C-2572-4109-97DA-CA4B8283A816}"/>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DMG森精機 統合報告書2022　</a:t>
            </a:r>
          </a:p>
        </p:txBody>
      </p:sp>
      <p:sp>
        <p:nvSpPr>
          <p:cNvPr id="21" name="context-Q28">
            <a:extLst xmlns:a="http://schemas.openxmlformats.org/drawingml/2006/main">
              <a:ext uri="{FF2B5EF4-FFF2-40B4-BE49-F238E27FC236}">
                <a16:creationId xmlns:a16="http://schemas.microsoft.com/office/drawing/2014/main" id="{6E195ED7-3C53-4C10-ABEA-2EF69498531A}"/>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文脈〔要約〕：保有機・修理・部品・学習などのデジタル接点を説明する章。</a:t>
            </a:r>
          </a:p>
        </p:txBody>
      </p:sp>
      <p:sp>
        <p:nvSpPr>
          <p:cNvPr id="22" name="boundary-Q28">
            <a:extLst xmlns:a="http://schemas.openxmlformats.org/drawingml/2006/main">
              <a:ext uri="{FF2B5EF4-FFF2-40B4-BE49-F238E27FC236}">
                <a16:creationId xmlns:a16="http://schemas.microsoft.com/office/drawing/2014/main" id="{B71E5957-239E-4739-952F-A675FAF7226C}"/>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留保：見出し。2026年のAI機能の性能や料金の根拠ではない。</a:t>
            </a:r>
          </a:p>
        </p:txBody>
      </p:sp>
      <p:sp>
        <p:nvSpPr>
          <p:cNvPr id="23" name="ref-Q25">
            <a:extLst xmlns:a="http://schemas.openxmlformats.org/drawingml/2006/main">
              <a:ext uri="{FF2B5EF4-FFF2-40B4-BE49-F238E27FC236}">
                <a16:creationId xmlns:a16="http://schemas.microsoft.com/office/drawing/2014/main" id="{6FE69018-1F61-4052-85F7-DDF08AE0B4A7}"/>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bcbdf7d89f72483f"/>
              </a:rPr>
              <a:t>Q25 p.35</a:t>
            </a:r>
          </a:p>
        </p:txBody>
      </p:sp>
      <p:sp>
        <p:nvSpPr>
          <p:cNvPr id="24" name="ref-Q26">
            <a:extLst xmlns:a="http://schemas.openxmlformats.org/drawingml/2006/main">
              <a:ext uri="{FF2B5EF4-FFF2-40B4-BE49-F238E27FC236}">
                <a16:creationId xmlns:a16="http://schemas.microsoft.com/office/drawing/2014/main" id="{73A6EEB3-5657-447D-ABD9-BF27FD5B299A}"/>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9e5f010e464847ed"/>
              </a:rPr>
              <a:t>Q26 p.35</a:t>
            </a:r>
          </a:p>
        </p:txBody>
      </p:sp>
      <p:sp>
        <p:nvSpPr>
          <p:cNvPr id="25" name="ref-Q27">
            <a:extLst xmlns:a="http://schemas.openxmlformats.org/drawingml/2006/main">
              <a:ext uri="{FF2B5EF4-FFF2-40B4-BE49-F238E27FC236}">
                <a16:creationId xmlns:a16="http://schemas.microsoft.com/office/drawing/2014/main" id="{FF1BBF43-D45C-4CE7-B48C-C77EE48E33A0}"/>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9b7884c00eb4177"/>
              </a:rPr>
              <a:t>Q27 p.35</a:t>
            </a:r>
          </a:p>
        </p:txBody>
      </p:sp>
      <p:sp>
        <p:nvSpPr>
          <p:cNvPr id="26" name="ref-Q28">
            <a:extLst xmlns:a="http://schemas.openxmlformats.org/drawingml/2006/main">
              <a:ext uri="{FF2B5EF4-FFF2-40B4-BE49-F238E27FC236}">
                <a16:creationId xmlns:a16="http://schemas.microsoft.com/office/drawing/2014/main" id="{3818FC54-E159-4435-B8B8-1D1E82B69AAC}"/>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f047659207747be"/>
              </a:rPr>
              <a:t>Q28 p.35</a:t>
            </a:r>
          </a:p>
        </p:txBody>
      </p:sp>
      <p:sp>
        <p:nvSpPr>
          <p:cNvPr id="27" name="disclosure">
            <a:extLst xmlns:a="http://schemas.openxmlformats.org/drawingml/2006/main">
              <a:ext uri="{FF2B5EF4-FFF2-40B4-BE49-F238E27FC236}">
                <a16:creationId xmlns:a16="http://schemas.microsoft.com/office/drawing/2014/main" id="{B805845F-4782-4D8A-B457-D3461280691B}"/>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B4208FB2-7A9E-45E0-84AA-536A6DEB4AA9}"/>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35 / 40</a:t>
            </a:r>
          </a:p>
        </p:txBody>
      </p:sp>
    </p:spTree>
    <p:extLst>
      <p:ext uri="{BB962C8B-B14F-4D97-AF65-F5344CB8AC3E}">
        <p14:creationId xmlns:p14="http://schemas.microsoft.com/office/powerpoint/2010/main" val="116803905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2DF97FBF-CAB8-4AE1-B071-A3FB744BA47B}"/>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8/12　Q29～Q32</a:t>
            </a:r>
          </a:p>
        </p:txBody>
      </p:sp>
      <p:sp>
        <p:nvSpPr>
          <p:cNvPr id="2" name="context">
            <a:extLst xmlns:a="http://schemas.openxmlformats.org/drawingml/2006/main">
              <a:ext uri="{FF2B5EF4-FFF2-40B4-BE49-F238E27FC236}">
                <a16:creationId xmlns:a16="http://schemas.microsoft.com/office/drawing/2014/main" id="{02C8E189-0691-4A32-81A5-D79749895746}"/>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29">
            <a:extLst xmlns:a="http://schemas.openxmlformats.org/drawingml/2006/main">
              <a:ext uri="{FF2B5EF4-FFF2-40B4-BE49-F238E27FC236}">
                <a16:creationId xmlns:a16="http://schemas.microsoft.com/office/drawing/2014/main" id="{2F2CFA9D-00E7-486B-831D-94CD2CFD1E35}"/>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fc1a3e613570425b"/>
              </a:rPr>
              <a:t>Q29</a:t>
            </a:r>
            <a:br>
              <a:rPr sz="2025" b="1">
                <a:solidFill>
                  <a:srgbClr val="117D83"/>
                </a:solidFill>
                <a:latin typeface="Noto Sans JP"/>
                <a:ea typeface="Noto Sans JP"/>
                <a:cs typeface="Noto Sans JP"/>
                <a:hlinkClick xmlns:r="http://schemas.openxmlformats.org/officeDocument/2006/relationships" r:id="Rfc1a3e613570425b"/>
              </a:rPr>
            </a:br>
            <a:r>
              <a:rPr sz="2025" b="1">
                <a:solidFill>
                  <a:srgbClr val="117D83"/>
                </a:solidFill>
                <a:latin typeface="Noto Sans JP"/>
                <a:ea typeface="Noto Sans JP"/>
                <a:cs typeface="Noto Sans JP"/>
                <a:hlinkClick xmlns:r="http://schemas.openxmlformats.org/officeDocument/2006/relationships" r:id="Rfc1a3e613570425b"/>
              </a:rPr>
              <a:t>S29</a:t>
            </a:r>
          </a:p>
        </p:txBody>
      </p:sp>
      <p:sp>
        <p:nvSpPr>
          <p:cNvPr id="4" name="verbatim-Q29">
            <a:extLst xmlns:a="http://schemas.openxmlformats.org/drawingml/2006/main">
              <a:ext uri="{FF2B5EF4-FFF2-40B4-BE49-F238E27FC236}">
                <a16:creationId xmlns:a16="http://schemas.microsoft.com/office/drawing/2014/main" id="{D71B3E02-DCB5-4654-9EDE-9F3B3CF04E82}"/>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製品不具合をデータベース化、社内で迅速に共有</a:t>
            </a:r>
          </a:p>
        </p:txBody>
      </p:sp>
      <p:sp>
        <p:nvSpPr>
          <p:cNvPr id="5" name="attribution-Q29">
            <a:extLst xmlns:a="http://schemas.openxmlformats.org/drawingml/2006/main">
              <a:ext uri="{FF2B5EF4-FFF2-40B4-BE49-F238E27FC236}">
                <a16:creationId xmlns:a16="http://schemas.microsoft.com/office/drawing/2014/main" id="{D7A117B3-C06B-4BE0-82C1-A8AB6B1E13F9}"/>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DMG森精機 統合報告書2025　2026</a:t>
            </a:r>
          </a:p>
        </p:txBody>
      </p:sp>
      <p:sp>
        <p:nvSpPr>
          <p:cNvPr id="6" name="context-Q29">
            <a:extLst xmlns:a="http://schemas.openxmlformats.org/drawingml/2006/main">
              <a:ext uri="{FF2B5EF4-FFF2-40B4-BE49-F238E27FC236}">
                <a16:creationId xmlns:a16="http://schemas.microsoft.com/office/drawing/2014/main" id="{C1AE62E2-A5ED-4244-A0B2-F9CB261811E5}"/>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文脈〔要約〕：不具合を原因調査、対策・改善、製品への展開へつなぐPPRの説明。</a:t>
            </a:r>
          </a:p>
        </p:txBody>
      </p:sp>
      <p:sp>
        <p:nvSpPr>
          <p:cNvPr id="7" name="boundary-Q29">
            <a:extLst xmlns:a="http://schemas.openxmlformats.org/drawingml/2006/main">
              <a:ext uri="{FF2B5EF4-FFF2-40B4-BE49-F238E27FC236}">
                <a16:creationId xmlns:a16="http://schemas.microsoft.com/office/drawing/2014/main" id="{52294667-B904-433A-B4B1-F26E644F3DB0}"/>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留保：既存の改善体制。PPR自体を生成AIの新機能とはしない。</a:t>
            </a:r>
          </a:p>
        </p:txBody>
      </p:sp>
      <p:sp>
        <p:nvSpPr>
          <p:cNvPr id="8" name="qid-Q30">
            <a:extLst xmlns:a="http://schemas.openxmlformats.org/drawingml/2006/main">
              <a:ext uri="{FF2B5EF4-FFF2-40B4-BE49-F238E27FC236}">
                <a16:creationId xmlns:a16="http://schemas.microsoft.com/office/drawing/2014/main" id="{724E657F-3B0E-47A9-AD0B-455F67EF8281}"/>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f5df8ff4de24478f"/>
              </a:rPr>
              <a:t>Q30</a:t>
            </a:r>
            <a:br>
              <a:rPr sz="2025" b="1">
                <a:solidFill>
                  <a:srgbClr val="117D83"/>
                </a:solidFill>
                <a:latin typeface="Noto Sans JP"/>
                <a:ea typeface="Noto Sans JP"/>
                <a:cs typeface="Noto Sans JP"/>
                <a:hlinkClick xmlns:r="http://schemas.openxmlformats.org/officeDocument/2006/relationships" r:id="Rf5df8ff4de24478f"/>
              </a:rPr>
            </a:br>
            <a:r>
              <a:rPr sz="2025" b="1">
                <a:solidFill>
                  <a:srgbClr val="117D83"/>
                </a:solidFill>
                <a:latin typeface="Noto Sans JP"/>
                <a:ea typeface="Noto Sans JP"/>
                <a:cs typeface="Noto Sans JP"/>
                <a:hlinkClick xmlns:r="http://schemas.openxmlformats.org/officeDocument/2006/relationships" r:id="Rf5df8ff4de24478f"/>
              </a:rPr>
              <a:t>S30</a:t>
            </a:r>
          </a:p>
        </p:txBody>
      </p:sp>
      <p:sp>
        <p:nvSpPr>
          <p:cNvPr id="9" name="verbatim-Q30">
            <a:extLst xmlns:a="http://schemas.openxmlformats.org/drawingml/2006/main">
              <a:ext uri="{FF2B5EF4-FFF2-40B4-BE49-F238E27FC236}">
                <a16:creationId xmlns:a16="http://schemas.microsoft.com/office/drawing/2014/main" id="{F0B9D286-7828-464A-AC57-6C7206C24729}"/>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複雑かつ繊細な手先作業の自動化</a:t>
            </a:r>
          </a:p>
        </p:txBody>
      </p:sp>
      <p:sp>
        <p:nvSpPr>
          <p:cNvPr id="10" name="attribution-Q30">
            <a:extLst xmlns:a="http://schemas.openxmlformats.org/drawingml/2006/main">
              <a:ext uri="{FF2B5EF4-FFF2-40B4-BE49-F238E27FC236}">
                <a16:creationId xmlns:a16="http://schemas.microsoft.com/office/drawing/2014/main" id="{BCC2FF92-3E56-4421-8787-AC105EE0F5F6}"/>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FingerVisionの説明をGENIAC公式ページに掲載　</a:t>
            </a:r>
          </a:p>
        </p:txBody>
      </p:sp>
      <p:sp>
        <p:nvSpPr>
          <p:cNvPr id="11" name="context-Q30">
            <a:extLst xmlns:a="http://schemas.openxmlformats.org/drawingml/2006/main">
              <a:ext uri="{FF2B5EF4-FFF2-40B4-BE49-F238E27FC236}">
                <a16:creationId xmlns:a16="http://schemas.microsoft.com/office/drawing/2014/main" id="{88491A32-4854-4FC2-AA06-14119772A5DD}"/>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文脈〔要約〕：視覚・触覚・言語・動作を統合するモデルとデータセットの開発計画。</a:t>
            </a:r>
          </a:p>
        </p:txBody>
      </p:sp>
      <p:sp>
        <p:nvSpPr>
          <p:cNvPr id="12" name="boundary-Q30">
            <a:extLst xmlns:a="http://schemas.openxmlformats.org/drawingml/2006/main">
              <a:ext uri="{FF2B5EF4-FFF2-40B4-BE49-F238E27FC236}">
                <a16:creationId xmlns:a16="http://schemas.microsoft.com/office/drawing/2014/main" id="{304512C7-B7D4-4857-8C28-519C17E9F569}"/>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留保：採択時の開発目標。JIMTOFでの実演・量産稼働の確認ではない。</a:t>
            </a:r>
          </a:p>
        </p:txBody>
      </p:sp>
      <p:sp>
        <p:nvSpPr>
          <p:cNvPr id="13" name="qid-Q31">
            <a:extLst xmlns:a="http://schemas.openxmlformats.org/drawingml/2006/main">
              <a:ext uri="{FF2B5EF4-FFF2-40B4-BE49-F238E27FC236}">
                <a16:creationId xmlns:a16="http://schemas.microsoft.com/office/drawing/2014/main" id="{25910309-5D67-45D4-A78A-56E18D68BBDB}"/>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6b55999a3a0c4db1"/>
              </a:rPr>
              <a:t>Q31</a:t>
            </a:r>
            <a:br>
              <a:rPr sz="2025" b="1">
                <a:solidFill>
                  <a:srgbClr val="117D83"/>
                </a:solidFill>
                <a:latin typeface="Noto Sans JP"/>
                <a:ea typeface="Noto Sans JP"/>
                <a:cs typeface="Noto Sans JP"/>
                <a:hlinkClick xmlns:r="http://schemas.openxmlformats.org/officeDocument/2006/relationships" r:id="R6b55999a3a0c4db1"/>
              </a:rPr>
            </a:br>
            <a:r>
              <a:rPr sz="2025" b="1">
                <a:solidFill>
                  <a:srgbClr val="117D83"/>
                </a:solidFill>
                <a:latin typeface="Noto Sans JP"/>
                <a:ea typeface="Noto Sans JP"/>
                <a:cs typeface="Noto Sans JP"/>
                <a:hlinkClick xmlns:r="http://schemas.openxmlformats.org/officeDocument/2006/relationships" r:id="R6b55999a3a0c4db1"/>
              </a:rPr>
              <a:t>S31</a:t>
            </a:r>
          </a:p>
        </p:txBody>
      </p:sp>
      <p:sp>
        <p:nvSpPr>
          <p:cNvPr id="14" name="verbatim-Q31">
            <a:extLst xmlns:a="http://schemas.openxmlformats.org/drawingml/2006/main">
              <a:ext uri="{FF2B5EF4-FFF2-40B4-BE49-F238E27FC236}">
                <a16:creationId xmlns:a16="http://schemas.microsoft.com/office/drawing/2014/main" id="{7D3F6B73-DA33-437A-9AF2-0D3213C76CEB}"/>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最小限の計算式で構成したコンパクトな物理モデル</a:t>
            </a:r>
          </a:p>
        </p:txBody>
      </p:sp>
      <p:sp>
        <p:nvSpPr>
          <p:cNvPr id="15" name="attribution-Q31">
            <a:extLst xmlns:a="http://schemas.openxmlformats.org/drawingml/2006/main">
              <a:ext uri="{FF2B5EF4-FFF2-40B4-BE49-F238E27FC236}">
                <a16:creationId xmlns:a16="http://schemas.microsoft.com/office/drawing/2014/main" id="{B9149286-76CE-4280-9DED-A2F950FAC554}"/>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三菱電機の公式研究発表　2026-03-25</a:t>
            </a:r>
          </a:p>
        </p:txBody>
      </p:sp>
      <p:sp>
        <p:nvSpPr>
          <p:cNvPr id="16" name="context-Q31">
            <a:extLst xmlns:a="http://schemas.openxmlformats.org/drawingml/2006/main">
              <a:ext uri="{FF2B5EF4-FFF2-40B4-BE49-F238E27FC236}">
                <a16:creationId xmlns:a16="http://schemas.microsoft.com/office/drawing/2014/main" id="{B1853B3B-2D01-4116-9FB0-21D2F260F1DA}"/>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文脈〔要約〕：必要な信号を選び、CNC上で誤差推定・補正するためのモデル構成。</a:t>
            </a:r>
          </a:p>
        </p:txBody>
      </p:sp>
      <p:sp>
        <p:nvSpPr>
          <p:cNvPr id="17" name="boundary-Q31">
            <a:extLst xmlns:a="http://schemas.openxmlformats.org/drawingml/2006/main">
              <a:ext uri="{FF2B5EF4-FFF2-40B4-BE49-F238E27FC236}">
                <a16:creationId xmlns:a16="http://schemas.microsoft.com/office/drawing/2014/main" id="{79929E97-C320-44DE-A9EF-F5DB2BEFBA06}"/>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留保：研究実証。任意の機械・加工条件で同じ性能になるとはしない。</a:t>
            </a:r>
          </a:p>
        </p:txBody>
      </p:sp>
      <p:sp>
        <p:nvSpPr>
          <p:cNvPr id="18" name="qid-Q32">
            <a:extLst xmlns:a="http://schemas.openxmlformats.org/drawingml/2006/main">
              <a:ext uri="{FF2B5EF4-FFF2-40B4-BE49-F238E27FC236}">
                <a16:creationId xmlns:a16="http://schemas.microsoft.com/office/drawing/2014/main" id="{BE2CB6AE-5B4E-42AE-8366-37555DDBFB16}"/>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f1ebf7b8959346bc"/>
              </a:rPr>
              <a:t>Q32</a:t>
            </a:r>
            <a:br>
              <a:rPr sz="2025" b="1">
                <a:solidFill>
                  <a:srgbClr val="117D83"/>
                </a:solidFill>
                <a:latin typeface="Noto Sans JP"/>
                <a:ea typeface="Noto Sans JP"/>
                <a:cs typeface="Noto Sans JP"/>
                <a:hlinkClick xmlns:r="http://schemas.openxmlformats.org/officeDocument/2006/relationships" r:id="Rf1ebf7b8959346bc"/>
              </a:rPr>
            </a:br>
            <a:r>
              <a:rPr sz="2025" b="1">
                <a:solidFill>
                  <a:srgbClr val="117D83"/>
                </a:solidFill>
                <a:latin typeface="Noto Sans JP"/>
                <a:ea typeface="Noto Sans JP"/>
                <a:cs typeface="Noto Sans JP"/>
                <a:hlinkClick xmlns:r="http://schemas.openxmlformats.org/officeDocument/2006/relationships" r:id="Rf1ebf7b8959346bc"/>
              </a:rPr>
              <a:t>S32</a:t>
            </a:r>
          </a:p>
        </p:txBody>
      </p:sp>
      <p:sp>
        <p:nvSpPr>
          <p:cNvPr id="19" name="verbatim-Q32">
            <a:extLst xmlns:a="http://schemas.openxmlformats.org/drawingml/2006/main">
              <a:ext uri="{FF2B5EF4-FFF2-40B4-BE49-F238E27FC236}">
                <a16:creationId xmlns:a16="http://schemas.microsoft.com/office/drawing/2014/main" id="{3FEB7BD2-F521-490E-B063-8524460DD429}"/>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AIを使った自動パス生成は新しい取組み</a:t>
            </a:r>
          </a:p>
        </p:txBody>
      </p:sp>
      <p:sp>
        <p:nvSpPr>
          <p:cNvPr id="20" name="attribution-Q32">
            <a:extLst xmlns:a="http://schemas.openxmlformats.org/drawingml/2006/main">
              <a:ext uri="{FF2B5EF4-FFF2-40B4-BE49-F238E27FC236}">
                <a16:creationId xmlns:a16="http://schemas.microsoft.com/office/drawing/2014/main" id="{0AA31C9D-D329-4DE7-80F6-B2E4FB0C66D3}"/>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Mono Que編集部の取材記述　2026-10-09</a:t>
            </a:r>
          </a:p>
        </p:txBody>
      </p:sp>
      <p:sp>
        <p:nvSpPr>
          <p:cNvPr id="21" name="context-Q32">
            <a:extLst xmlns:a="http://schemas.openxmlformats.org/drawingml/2006/main">
              <a:ext uri="{FF2B5EF4-FFF2-40B4-BE49-F238E27FC236}">
                <a16:creationId xmlns:a16="http://schemas.microsoft.com/office/drawing/2014/main" id="{86D1C0AF-AA4E-4B22-9B25-5CB8200E323C}"/>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文脈〔要約〕：イワタツールとトライ各社のロボット切削の展示予定・開発を説明する。</a:t>
            </a:r>
          </a:p>
        </p:txBody>
      </p:sp>
      <p:sp>
        <p:nvSpPr>
          <p:cNvPr id="22" name="boundary-Q32">
            <a:extLst xmlns:a="http://schemas.openxmlformats.org/drawingml/2006/main">
              <a:ext uri="{FF2B5EF4-FFF2-40B4-BE49-F238E27FC236}">
                <a16:creationId xmlns:a16="http://schemas.microsoft.com/office/drawing/2014/main" id="{BC7DAFB1-F92B-4CFC-B9EC-025042D30AD5}"/>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留保：記者の説明。発言者の直接発言や性能比較値ではない。</a:t>
            </a:r>
          </a:p>
        </p:txBody>
      </p:sp>
      <p:sp>
        <p:nvSpPr>
          <p:cNvPr id="23" name="ref-Q29">
            <a:extLst xmlns:a="http://schemas.openxmlformats.org/drawingml/2006/main">
              <a:ext uri="{FF2B5EF4-FFF2-40B4-BE49-F238E27FC236}">
                <a16:creationId xmlns:a16="http://schemas.microsoft.com/office/drawing/2014/main" id="{17EF9E4E-E3EB-49E5-80A2-D508BEF2A481}"/>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0adc6855c4c442f5"/>
              </a:rPr>
              <a:t>Q29 p.36</a:t>
            </a:r>
          </a:p>
        </p:txBody>
      </p:sp>
      <p:sp>
        <p:nvSpPr>
          <p:cNvPr id="24" name="ref-Q30">
            <a:extLst xmlns:a="http://schemas.openxmlformats.org/drawingml/2006/main">
              <a:ext uri="{FF2B5EF4-FFF2-40B4-BE49-F238E27FC236}">
                <a16:creationId xmlns:a16="http://schemas.microsoft.com/office/drawing/2014/main" id="{55DCF91C-DD5C-407E-8ACB-89FEEADBFBEB}"/>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b4e518a599774cf2"/>
              </a:rPr>
              <a:t>Q30 p.36</a:t>
            </a:r>
          </a:p>
        </p:txBody>
      </p:sp>
      <p:sp>
        <p:nvSpPr>
          <p:cNvPr id="25" name="ref-Q31">
            <a:extLst xmlns:a="http://schemas.openxmlformats.org/drawingml/2006/main">
              <a:ext uri="{FF2B5EF4-FFF2-40B4-BE49-F238E27FC236}">
                <a16:creationId xmlns:a16="http://schemas.microsoft.com/office/drawing/2014/main" id="{B1056375-F8F9-4A1A-A700-945025BFE725}"/>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0d89e6bdfef421e"/>
              </a:rPr>
              <a:t>Q31 p.36</a:t>
            </a:r>
          </a:p>
        </p:txBody>
      </p:sp>
      <p:sp>
        <p:nvSpPr>
          <p:cNvPr id="26" name="ref-Q32">
            <a:extLst xmlns:a="http://schemas.openxmlformats.org/drawingml/2006/main">
              <a:ext uri="{FF2B5EF4-FFF2-40B4-BE49-F238E27FC236}">
                <a16:creationId xmlns:a16="http://schemas.microsoft.com/office/drawing/2014/main" id="{D7B73635-CD82-4B09-8E73-01B1DB63175E}"/>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6cf16f95ae044971"/>
              </a:rPr>
              <a:t>Q32 p.36</a:t>
            </a:r>
          </a:p>
        </p:txBody>
      </p:sp>
      <p:sp>
        <p:nvSpPr>
          <p:cNvPr id="27" name="disclosure">
            <a:extLst xmlns:a="http://schemas.openxmlformats.org/drawingml/2006/main">
              <a:ext uri="{FF2B5EF4-FFF2-40B4-BE49-F238E27FC236}">
                <a16:creationId xmlns:a16="http://schemas.microsoft.com/office/drawing/2014/main" id="{EEB29A2B-75C7-4A0A-9215-7FFB55A03C6F}"/>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8F6C1E2C-EB01-4561-8D35-A8CEF23C9130}"/>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36 / 40</a:t>
            </a:r>
          </a:p>
        </p:txBody>
      </p:sp>
    </p:spTree>
    <p:extLst>
      <p:ext uri="{BB962C8B-B14F-4D97-AF65-F5344CB8AC3E}">
        <p14:creationId xmlns:p14="http://schemas.microsoft.com/office/powerpoint/2010/main" val="76796628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E36BCFA2-9FA2-4E9D-9853-193B13B19569}"/>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9/12　Q33～Q36</a:t>
            </a:r>
          </a:p>
        </p:txBody>
      </p:sp>
      <p:sp>
        <p:nvSpPr>
          <p:cNvPr id="2" name="context">
            <a:extLst xmlns:a="http://schemas.openxmlformats.org/drawingml/2006/main">
              <a:ext uri="{FF2B5EF4-FFF2-40B4-BE49-F238E27FC236}">
                <a16:creationId xmlns:a16="http://schemas.microsoft.com/office/drawing/2014/main" id="{BD8B6DA0-8CE0-4BCE-A23A-4406BA463210}"/>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33">
            <a:extLst xmlns:a="http://schemas.openxmlformats.org/drawingml/2006/main">
              <a:ext uri="{FF2B5EF4-FFF2-40B4-BE49-F238E27FC236}">
                <a16:creationId xmlns:a16="http://schemas.microsoft.com/office/drawing/2014/main" id="{FF7CAE49-5942-43A7-B956-B4C69095EF98}"/>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271d86dbe97e4235"/>
              </a:rPr>
              <a:t>Q33</a:t>
            </a:r>
            <a:br>
              <a:rPr sz="2025" b="1">
                <a:solidFill>
                  <a:srgbClr val="117D83"/>
                </a:solidFill>
                <a:latin typeface="Noto Sans JP"/>
                <a:ea typeface="Noto Sans JP"/>
                <a:cs typeface="Noto Sans JP"/>
                <a:hlinkClick xmlns:r="http://schemas.openxmlformats.org/officeDocument/2006/relationships" r:id="R271d86dbe97e4235"/>
              </a:rPr>
            </a:br>
            <a:r>
              <a:rPr sz="2025" b="1">
                <a:solidFill>
                  <a:srgbClr val="117D83"/>
                </a:solidFill>
                <a:latin typeface="Noto Sans JP"/>
                <a:ea typeface="Noto Sans JP"/>
                <a:cs typeface="Noto Sans JP"/>
                <a:hlinkClick xmlns:r="http://schemas.openxmlformats.org/officeDocument/2006/relationships" r:id="R271d86dbe97e4235"/>
              </a:rPr>
              <a:t>S33</a:t>
            </a:r>
          </a:p>
        </p:txBody>
      </p:sp>
      <p:sp>
        <p:nvSpPr>
          <p:cNvPr id="4" name="verbatim-Q33">
            <a:extLst xmlns:a="http://schemas.openxmlformats.org/drawingml/2006/main">
              <a:ext uri="{FF2B5EF4-FFF2-40B4-BE49-F238E27FC236}">
                <a16:creationId xmlns:a16="http://schemas.microsoft.com/office/drawing/2014/main" id="{1E91546A-B1C8-4659-9413-94CCC4817A05}"/>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着手完了データ・検査データ・人の作業データを階層構造化し、意味づけします。</a:t>
            </a:r>
          </a:p>
        </p:txBody>
      </p:sp>
      <p:sp>
        <p:nvSpPr>
          <p:cNvPr id="5" name="attribution-Q33">
            <a:extLst xmlns:a="http://schemas.openxmlformats.org/drawingml/2006/main">
              <a:ext uri="{FF2B5EF4-FFF2-40B4-BE49-F238E27FC236}">
                <a16:creationId xmlns:a16="http://schemas.microsoft.com/office/drawing/2014/main" id="{4801C4F1-5DFE-4ECE-AC90-FA409FA4ADD7}"/>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オムロンの対談本文中の説明　2026-09-18</a:t>
            </a:r>
          </a:p>
        </p:txBody>
      </p:sp>
      <p:sp>
        <p:nvSpPr>
          <p:cNvPr id="6" name="context-Q33">
            <a:extLst xmlns:a="http://schemas.openxmlformats.org/drawingml/2006/main">
              <a:ext uri="{FF2B5EF4-FFF2-40B4-BE49-F238E27FC236}">
                <a16:creationId xmlns:a16="http://schemas.microsoft.com/office/drawing/2014/main" id="{AA52A9F9-CF96-4E64-A122-FAFFA51BCAC2}"/>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文脈〔要約〕：複数の情報を整理して、現場や管理者の判断で利用する構成。</a:t>
            </a:r>
          </a:p>
        </p:txBody>
      </p:sp>
      <p:sp>
        <p:nvSpPr>
          <p:cNvPr id="7" name="boundary-Q33">
            <a:extLst xmlns:a="http://schemas.openxmlformats.org/drawingml/2006/main">
              <a:ext uri="{FF2B5EF4-FFF2-40B4-BE49-F238E27FC236}">
                <a16:creationId xmlns:a16="http://schemas.microsoft.com/office/drawing/2014/main" id="{067FD578-CFE1-43BE-BE12-AAC22397570E}"/>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留保：特定のデータ項目全てに共通の意味が既に付いたという業界全体の実績ではない。</a:t>
            </a:r>
          </a:p>
        </p:txBody>
      </p:sp>
      <p:sp>
        <p:nvSpPr>
          <p:cNvPr id="8" name="qid-Q34">
            <a:extLst xmlns:a="http://schemas.openxmlformats.org/drawingml/2006/main">
              <a:ext uri="{FF2B5EF4-FFF2-40B4-BE49-F238E27FC236}">
                <a16:creationId xmlns:a16="http://schemas.microsoft.com/office/drawing/2014/main" id="{A7993B8B-40A5-430C-8150-BE8BC678D74E}"/>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23079fd6a2b743f5"/>
              </a:rPr>
              <a:t>Q34</a:t>
            </a:r>
            <a:br>
              <a:rPr sz="2025" b="1">
                <a:solidFill>
                  <a:srgbClr val="117D83"/>
                </a:solidFill>
                <a:latin typeface="Noto Sans JP"/>
                <a:ea typeface="Noto Sans JP"/>
                <a:cs typeface="Noto Sans JP"/>
                <a:hlinkClick xmlns:r="http://schemas.openxmlformats.org/officeDocument/2006/relationships" r:id="R23079fd6a2b743f5"/>
              </a:rPr>
            </a:br>
            <a:r>
              <a:rPr sz="2025" b="1">
                <a:solidFill>
                  <a:srgbClr val="117D83"/>
                </a:solidFill>
                <a:latin typeface="Noto Sans JP"/>
                <a:ea typeface="Noto Sans JP"/>
                <a:cs typeface="Noto Sans JP"/>
                <a:hlinkClick xmlns:r="http://schemas.openxmlformats.org/officeDocument/2006/relationships" r:id="R23079fd6a2b743f5"/>
              </a:rPr>
              <a:t>S34</a:t>
            </a:r>
          </a:p>
        </p:txBody>
      </p:sp>
      <p:sp>
        <p:nvSpPr>
          <p:cNvPr id="9" name="verbatim-Q34">
            <a:extLst xmlns:a="http://schemas.openxmlformats.org/drawingml/2006/main">
              <a:ext uri="{FF2B5EF4-FFF2-40B4-BE49-F238E27FC236}">
                <a16:creationId xmlns:a16="http://schemas.microsoft.com/office/drawing/2014/main" id="{2DBA8449-835E-464D-9201-50E96A1A653A}"/>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現場ごとの個別最適が実装負荷として顕在化しやすく</a:t>
            </a:r>
          </a:p>
        </p:txBody>
      </p:sp>
      <p:sp>
        <p:nvSpPr>
          <p:cNvPr id="10" name="attribution-Q34">
            <a:extLst xmlns:a="http://schemas.openxmlformats.org/drawingml/2006/main">
              <a:ext uri="{FF2B5EF4-FFF2-40B4-BE49-F238E27FC236}">
                <a16:creationId xmlns:a16="http://schemas.microsoft.com/office/drawing/2014/main" id="{2E93CC8D-7ABF-466F-8536-A0B9A0C84E16}"/>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大和総研の分析　2026-04-24</a:t>
            </a:r>
          </a:p>
        </p:txBody>
      </p:sp>
      <p:sp>
        <p:nvSpPr>
          <p:cNvPr id="11" name="context-Q34">
            <a:extLst xmlns:a="http://schemas.openxmlformats.org/drawingml/2006/main">
              <a:ext uri="{FF2B5EF4-FFF2-40B4-BE49-F238E27FC236}">
                <a16:creationId xmlns:a16="http://schemas.microsoft.com/office/drawing/2014/main" id="{AAAEE89C-6A0F-4291-93A5-AAD59FC38397}"/>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文脈〔要約〕：現場の違いが導入・継続改善の負担になるという問題提起。</a:t>
            </a:r>
          </a:p>
        </p:txBody>
      </p:sp>
      <p:sp>
        <p:nvSpPr>
          <p:cNvPr id="12" name="boundary-Q34">
            <a:extLst xmlns:a="http://schemas.openxmlformats.org/drawingml/2006/main">
              <a:ext uri="{FF2B5EF4-FFF2-40B4-BE49-F238E27FC236}">
                <a16:creationId xmlns:a16="http://schemas.microsoft.com/office/drawing/2014/main" id="{346B576C-B658-44D2-958D-DCD544676A74}"/>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留保：技術の普及率や導入費用の定量結果ではない。</a:t>
            </a:r>
          </a:p>
        </p:txBody>
      </p:sp>
      <p:sp>
        <p:nvSpPr>
          <p:cNvPr id="13" name="qid-Q35">
            <a:extLst xmlns:a="http://schemas.openxmlformats.org/drawingml/2006/main">
              <a:ext uri="{FF2B5EF4-FFF2-40B4-BE49-F238E27FC236}">
                <a16:creationId xmlns:a16="http://schemas.microsoft.com/office/drawing/2014/main" id="{729F00F4-CAFA-4818-9023-2051BD421949}"/>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9d42223bcd734b02"/>
              </a:rPr>
              <a:t>Q35</a:t>
            </a:r>
            <a:br>
              <a:rPr sz="2025" b="1">
                <a:solidFill>
                  <a:srgbClr val="117D83"/>
                </a:solidFill>
                <a:latin typeface="Noto Sans JP"/>
                <a:ea typeface="Noto Sans JP"/>
                <a:cs typeface="Noto Sans JP"/>
                <a:hlinkClick xmlns:r="http://schemas.openxmlformats.org/officeDocument/2006/relationships" r:id="R9d42223bcd734b02"/>
              </a:rPr>
            </a:br>
            <a:r>
              <a:rPr sz="2025" b="1">
                <a:solidFill>
                  <a:srgbClr val="117D83"/>
                </a:solidFill>
                <a:latin typeface="Noto Sans JP"/>
                <a:ea typeface="Noto Sans JP"/>
                <a:cs typeface="Noto Sans JP"/>
                <a:hlinkClick xmlns:r="http://schemas.openxmlformats.org/officeDocument/2006/relationships" r:id="R9d42223bcd734b02"/>
              </a:rPr>
              <a:t>S35</a:t>
            </a:r>
          </a:p>
        </p:txBody>
      </p:sp>
      <p:sp>
        <p:nvSpPr>
          <p:cNvPr id="14" name="verbatim-Q35">
            <a:extLst xmlns:a="http://schemas.openxmlformats.org/drawingml/2006/main">
              <a:ext uri="{FF2B5EF4-FFF2-40B4-BE49-F238E27FC236}">
                <a16:creationId xmlns:a16="http://schemas.microsoft.com/office/drawing/2014/main" id="{DD55ED8A-B73C-41B7-881F-B5F89FD5BB98}"/>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PLCopen-XML can be exported to simplify integration into TwinCAT projects.</a:t>
            </a:r>
          </a:p>
        </p:txBody>
      </p:sp>
      <p:sp>
        <p:nvSpPr>
          <p:cNvPr id="15" name="attribution-Q35">
            <a:extLst xmlns:a="http://schemas.openxmlformats.org/drawingml/2006/main">
              <a:ext uri="{FF2B5EF4-FFF2-40B4-BE49-F238E27FC236}">
                <a16:creationId xmlns:a16="http://schemas.microsoft.com/office/drawing/2014/main" id="{74EAF988-01E3-4BE2-BA5B-2EF0416911D6}"/>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Beckhoff公式技術文書　未記載</a:t>
            </a:r>
          </a:p>
        </p:txBody>
      </p:sp>
      <p:sp>
        <p:nvSpPr>
          <p:cNvPr id="16" name="context-Q35">
            <a:extLst xmlns:a="http://schemas.openxmlformats.org/drawingml/2006/main">
              <a:ext uri="{FF2B5EF4-FFF2-40B4-BE49-F238E27FC236}">
                <a16:creationId xmlns:a16="http://schemas.microsoft.com/office/drawing/2014/main" id="{66DB38C5-96A0-4023-9393-A31EA3730896}"/>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文脈〔要約〕：学習・評価の後にモデルと統合用情報を出力する製品機能。</a:t>
            </a:r>
          </a:p>
        </p:txBody>
      </p:sp>
      <p:sp>
        <p:nvSpPr>
          <p:cNvPr id="17" name="boundary-Q35">
            <a:extLst xmlns:a="http://schemas.openxmlformats.org/drawingml/2006/main">
              <a:ext uri="{FF2B5EF4-FFF2-40B4-BE49-F238E27FC236}">
                <a16:creationId xmlns:a16="http://schemas.microsoft.com/office/drawing/2014/main" id="{8133402E-3891-4827-8BE4-8BD86C3B3F5F}"/>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留保：画像向けワークフローの説明。全製造現象を扱うデータ整備機能ではない。</a:t>
            </a:r>
          </a:p>
        </p:txBody>
      </p:sp>
      <p:sp>
        <p:nvSpPr>
          <p:cNvPr id="18" name="qid-Q36">
            <a:extLst xmlns:a="http://schemas.openxmlformats.org/drawingml/2006/main">
              <a:ext uri="{FF2B5EF4-FFF2-40B4-BE49-F238E27FC236}">
                <a16:creationId xmlns:a16="http://schemas.microsoft.com/office/drawing/2014/main" id="{A2D5377D-33B3-4FAD-A0A5-08D689A2B23A}"/>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613f819285564ed7"/>
              </a:rPr>
              <a:t>Q36</a:t>
            </a:r>
            <a:br>
              <a:rPr sz="2025" b="1">
                <a:solidFill>
                  <a:srgbClr val="117D83"/>
                </a:solidFill>
                <a:latin typeface="Noto Sans JP"/>
                <a:ea typeface="Noto Sans JP"/>
                <a:cs typeface="Noto Sans JP"/>
                <a:hlinkClick xmlns:r="http://schemas.openxmlformats.org/officeDocument/2006/relationships" r:id="R613f819285564ed7"/>
              </a:rPr>
            </a:br>
            <a:r>
              <a:rPr sz="2025" b="1">
                <a:solidFill>
                  <a:srgbClr val="117D83"/>
                </a:solidFill>
                <a:latin typeface="Noto Sans JP"/>
                <a:ea typeface="Noto Sans JP"/>
                <a:cs typeface="Noto Sans JP"/>
                <a:hlinkClick xmlns:r="http://schemas.openxmlformats.org/officeDocument/2006/relationships" r:id="R613f819285564ed7"/>
              </a:rPr>
              <a:t>S36</a:t>
            </a:r>
          </a:p>
        </p:txBody>
      </p:sp>
      <p:sp>
        <p:nvSpPr>
          <p:cNvPr id="19" name="verbatim-Q36">
            <a:extLst xmlns:a="http://schemas.openxmlformats.org/drawingml/2006/main">
              <a:ext uri="{FF2B5EF4-FFF2-40B4-BE49-F238E27FC236}">
                <a16:creationId xmlns:a16="http://schemas.microsoft.com/office/drawing/2014/main" id="{0938C477-673C-4CA3-A698-B7A614E06EC7}"/>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provided as a subscription-based cloud service</a:t>
            </a:r>
          </a:p>
        </p:txBody>
      </p:sp>
      <p:sp>
        <p:nvSpPr>
          <p:cNvPr id="20" name="attribution-Q36">
            <a:extLst xmlns:a="http://schemas.openxmlformats.org/drawingml/2006/main">
              <a:ext uri="{FF2B5EF4-FFF2-40B4-BE49-F238E27FC236}">
                <a16:creationId xmlns:a16="http://schemas.microsoft.com/office/drawing/2014/main" id="{6F9C2F13-2FF8-4DF8-8A17-B60760C8289E}"/>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Beckhoff公式ライセンス説明　未記載</a:t>
            </a:r>
          </a:p>
        </p:txBody>
      </p:sp>
      <p:sp>
        <p:nvSpPr>
          <p:cNvPr id="21" name="context-Q36">
            <a:extLst xmlns:a="http://schemas.openxmlformats.org/drawingml/2006/main">
              <a:ext uri="{FF2B5EF4-FFF2-40B4-BE49-F238E27FC236}">
                <a16:creationId xmlns:a16="http://schemas.microsoft.com/office/drawing/2014/main" id="{62D02411-53B8-43B8-87E4-A2D86E89766A}"/>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文脈〔要約〕：契約期間、計算時間、持ち出し範囲が設定されるサービス。</a:t>
            </a:r>
          </a:p>
        </p:txBody>
      </p:sp>
      <p:sp>
        <p:nvSpPr>
          <p:cNvPr id="22" name="boundary-Q36">
            <a:extLst xmlns:a="http://schemas.openxmlformats.org/drawingml/2006/main">
              <a:ext uri="{FF2B5EF4-FFF2-40B4-BE49-F238E27FC236}">
                <a16:creationId xmlns:a16="http://schemas.microsoft.com/office/drawing/2014/main" id="{50C37E62-3875-42D4-8FEB-30A48DD5FEA6}"/>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留保：料金方式の根拠。顧客効果や利益率の証拠ではない。</a:t>
            </a:r>
          </a:p>
        </p:txBody>
      </p:sp>
      <p:sp>
        <p:nvSpPr>
          <p:cNvPr id="23" name="ref-Q33">
            <a:extLst xmlns:a="http://schemas.openxmlformats.org/drawingml/2006/main">
              <a:ext uri="{FF2B5EF4-FFF2-40B4-BE49-F238E27FC236}">
                <a16:creationId xmlns:a16="http://schemas.microsoft.com/office/drawing/2014/main" id="{69C7D792-A545-445E-A03C-D294A35C21CC}"/>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4a7fc149d744de5"/>
              </a:rPr>
              <a:t>Q33 p.37</a:t>
            </a:r>
          </a:p>
        </p:txBody>
      </p:sp>
      <p:sp>
        <p:nvSpPr>
          <p:cNvPr id="24" name="ref-Q34">
            <a:extLst xmlns:a="http://schemas.openxmlformats.org/drawingml/2006/main">
              <a:ext uri="{FF2B5EF4-FFF2-40B4-BE49-F238E27FC236}">
                <a16:creationId xmlns:a16="http://schemas.microsoft.com/office/drawing/2014/main" id="{533D93B4-493E-4570-AF05-34D0F077C5CC}"/>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5ce71793e3a64d48"/>
              </a:rPr>
              <a:t>Q34 p.37</a:t>
            </a:r>
          </a:p>
        </p:txBody>
      </p:sp>
      <p:sp>
        <p:nvSpPr>
          <p:cNvPr id="25" name="ref-Q35">
            <a:extLst xmlns:a="http://schemas.openxmlformats.org/drawingml/2006/main">
              <a:ext uri="{FF2B5EF4-FFF2-40B4-BE49-F238E27FC236}">
                <a16:creationId xmlns:a16="http://schemas.microsoft.com/office/drawing/2014/main" id="{0C099D58-DEA7-4F67-AE81-2D43E952E815}"/>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c8a864e8da354873"/>
              </a:rPr>
              <a:t>Q35 p.37</a:t>
            </a:r>
          </a:p>
        </p:txBody>
      </p:sp>
      <p:sp>
        <p:nvSpPr>
          <p:cNvPr id="26" name="ref-Q36">
            <a:extLst xmlns:a="http://schemas.openxmlformats.org/drawingml/2006/main">
              <a:ext uri="{FF2B5EF4-FFF2-40B4-BE49-F238E27FC236}">
                <a16:creationId xmlns:a16="http://schemas.microsoft.com/office/drawing/2014/main" id="{A18672AA-5BE8-4F99-9F37-7C3C0046CD20}"/>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f127408e91e04ec3"/>
              </a:rPr>
              <a:t>Q36 p.37</a:t>
            </a:r>
          </a:p>
        </p:txBody>
      </p:sp>
      <p:sp>
        <p:nvSpPr>
          <p:cNvPr id="27" name="disclosure">
            <a:extLst xmlns:a="http://schemas.openxmlformats.org/drawingml/2006/main">
              <a:ext uri="{FF2B5EF4-FFF2-40B4-BE49-F238E27FC236}">
                <a16:creationId xmlns:a16="http://schemas.microsoft.com/office/drawing/2014/main" id="{583685FD-6301-4BE4-AB43-7AEF3B8005D6}"/>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01EF3C61-EC21-47F7-AF9C-D0F05F2B0FFC}"/>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37 / 40</a:t>
            </a:r>
          </a:p>
        </p:txBody>
      </p:sp>
    </p:spTree>
    <p:extLst>
      <p:ext uri="{BB962C8B-B14F-4D97-AF65-F5344CB8AC3E}">
        <p14:creationId xmlns:p14="http://schemas.microsoft.com/office/powerpoint/2010/main" val="188873118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3C297B66-0313-4F43-8E49-8057678407E8}"/>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10/12　Q37～Q40</a:t>
            </a:r>
          </a:p>
        </p:txBody>
      </p:sp>
      <p:sp>
        <p:nvSpPr>
          <p:cNvPr id="2" name="context">
            <a:extLst xmlns:a="http://schemas.openxmlformats.org/drawingml/2006/main">
              <a:ext uri="{FF2B5EF4-FFF2-40B4-BE49-F238E27FC236}">
                <a16:creationId xmlns:a16="http://schemas.microsoft.com/office/drawing/2014/main" id="{C37243ED-8AE1-4267-95B6-5D22C179AB06}"/>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37">
            <a:extLst xmlns:a="http://schemas.openxmlformats.org/drawingml/2006/main">
              <a:ext uri="{FF2B5EF4-FFF2-40B4-BE49-F238E27FC236}">
                <a16:creationId xmlns:a16="http://schemas.microsoft.com/office/drawing/2014/main" id="{756DD58F-D619-47EB-89A9-66254B5B207E}"/>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9523b5e676b54030"/>
              </a:rPr>
              <a:t>Q37</a:t>
            </a:r>
            <a:br>
              <a:rPr sz="2025" b="1">
                <a:solidFill>
                  <a:srgbClr val="117D83"/>
                </a:solidFill>
                <a:latin typeface="Noto Sans JP"/>
                <a:ea typeface="Noto Sans JP"/>
                <a:cs typeface="Noto Sans JP"/>
                <a:hlinkClick xmlns:r="http://schemas.openxmlformats.org/officeDocument/2006/relationships" r:id="R9523b5e676b54030"/>
              </a:rPr>
            </a:br>
            <a:r>
              <a:rPr sz="2025" b="1">
                <a:solidFill>
                  <a:srgbClr val="117D83"/>
                </a:solidFill>
                <a:latin typeface="Noto Sans JP"/>
                <a:ea typeface="Noto Sans JP"/>
                <a:cs typeface="Noto Sans JP"/>
                <a:hlinkClick xmlns:r="http://schemas.openxmlformats.org/officeDocument/2006/relationships" r:id="R9523b5e676b54030"/>
              </a:rPr>
              <a:t>S37</a:t>
            </a:r>
          </a:p>
        </p:txBody>
      </p:sp>
      <p:sp>
        <p:nvSpPr>
          <p:cNvPr id="4" name="verbatim-Q37">
            <a:extLst xmlns:a="http://schemas.openxmlformats.org/drawingml/2006/main">
              <a:ext uri="{FF2B5EF4-FFF2-40B4-BE49-F238E27FC236}">
                <a16:creationId xmlns:a16="http://schemas.microsoft.com/office/drawing/2014/main" id="{0D6FCCE8-6E91-49F7-9358-9C93BBF21311}"/>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ご入会は随時受け付けております。</a:t>
            </a:r>
          </a:p>
        </p:txBody>
      </p:sp>
      <p:sp>
        <p:nvSpPr>
          <p:cNvPr id="5" name="attribution-Q37">
            <a:extLst xmlns:a="http://schemas.openxmlformats.org/drawingml/2006/main">
              <a:ext uri="{FF2B5EF4-FFF2-40B4-BE49-F238E27FC236}">
                <a16:creationId xmlns:a16="http://schemas.microsoft.com/office/drawing/2014/main" id="{7F2E73EA-666D-47D3-A118-ECB31CFC083B}"/>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産総研コンソーシアムの公式案内　未記載（2026年5月版会則へのリンクあり）</a:t>
            </a:r>
          </a:p>
        </p:txBody>
      </p:sp>
      <p:sp>
        <p:nvSpPr>
          <p:cNvPr id="6" name="context-Q37">
            <a:extLst xmlns:a="http://schemas.openxmlformats.org/drawingml/2006/main">
              <a:ext uri="{FF2B5EF4-FFF2-40B4-BE49-F238E27FC236}">
                <a16:creationId xmlns:a16="http://schemas.microsoft.com/office/drawing/2014/main" id="{70AA7E6C-DF57-4ED8-B5F6-4BFBDEC78CF7}"/>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文脈〔要約〕：会員区分や申込みを説明する実務案内。</a:t>
            </a:r>
          </a:p>
        </p:txBody>
      </p:sp>
      <p:sp>
        <p:nvSpPr>
          <p:cNvPr id="7" name="boundary-Q37">
            <a:extLst xmlns:a="http://schemas.openxmlformats.org/drawingml/2006/main">
              <a:ext uri="{FF2B5EF4-FFF2-40B4-BE49-F238E27FC236}">
                <a16:creationId xmlns:a16="http://schemas.microsoft.com/office/drawing/2014/main" id="{C43F0F1E-936E-4660-B617-9CB1A1897479}"/>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留保：潮流・技術性能の根拠ではなく、相談の入口。入会によるデータ利用権を意味しない。</a:t>
            </a:r>
          </a:p>
        </p:txBody>
      </p:sp>
      <p:sp>
        <p:nvSpPr>
          <p:cNvPr id="8" name="qid-Q38">
            <a:extLst xmlns:a="http://schemas.openxmlformats.org/drawingml/2006/main">
              <a:ext uri="{FF2B5EF4-FFF2-40B4-BE49-F238E27FC236}">
                <a16:creationId xmlns:a16="http://schemas.microsoft.com/office/drawing/2014/main" id="{15F0C077-7F48-4133-B6BB-0F1807DEDA13}"/>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ef2f1b2c0b05482c"/>
              </a:rPr>
              <a:t>Q38</a:t>
            </a:r>
            <a:br>
              <a:rPr sz="2025" b="1">
                <a:solidFill>
                  <a:srgbClr val="117D83"/>
                </a:solidFill>
                <a:latin typeface="Noto Sans JP"/>
                <a:ea typeface="Noto Sans JP"/>
                <a:cs typeface="Noto Sans JP"/>
                <a:hlinkClick xmlns:r="http://schemas.openxmlformats.org/officeDocument/2006/relationships" r:id="Ref2f1b2c0b05482c"/>
              </a:rPr>
            </a:br>
            <a:r>
              <a:rPr sz="2025" b="1">
                <a:solidFill>
                  <a:srgbClr val="117D83"/>
                </a:solidFill>
                <a:latin typeface="Noto Sans JP"/>
                <a:ea typeface="Noto Sans JP"/>
                <a:cs typeface="Noto Sans JP"/>
                <a:hlinkClick xmlns:r="http://schemas.openxmlformats.org/officeDocument/2006/relationships" r:id="Ref2f1b2c0b05482c"/>
              </a:rPr>
              <a:t>S38</a:t>
            </a:r>
          </a:p>
        </p:txBody>
      </p:sp>
      <p:sp>
        <p:nvSpPr>
          <p:cNvPr id="9" name="verbatim-Q38">
            <a:extLst xmlns:a="http://schemas.openxmlformats.org/drawingml/2006/main">
              <a:ext uri="{FF2B5EF4-FFF2-40B4-BE49-F238E27FC236}">
                <a16:creationId xmlns:a16="http://schemas.microsoft.com/office/drawing/2014/main" id="{ECBA1951-D4E0-456C-BC3C-82BBDAF7F21A}"/>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目標仕様から最適加工条件を逆算して求める手法</a:t>
            </a:r>
          </a:p>
        </p:txBody>
      </p:sp>
      <p:sp>
        <p:nvSpPr>
          <p:cNvPr id="10" name="attribution-Q38">
            <a:extLst xmlns:a="http://schemas.openxmlformats.org/drawingml/2006/main">
              <a:ext uri="{FF2B5EF4-FFF2-40B4-BE49-F238E27FC236}">
                <a16:creationId xmlns:a16="http://schemas.microsoft.com/office/drawing/2014/main" id="{53D82B10-756B-4558-8796-DBD8B1B9585A}"/>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産総研の公式研究発表　2022-01-17</a:t>
            </a:r>
          </a:p>
        </p:txBody>
      </p:sp>
      <p:sp>
        <p:nvSpPr>
          <p:cNvPr id="11" name="context-Q38">
            <a:extLst xmlns:a="http://schemas.openxmlformats.org/drawingml/2006/main">
              <a:ext uri="{FF2B5EF4-FFF2-40B4-BE49-F238E27FC236}">
                <a16:creationId xmlns:a16="http://schemas.microsoft.com/office/drawing/2014/main" id="{13A5B597-774D-46A0-9091-44985C08D224}"/>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文脈〔要約〕：スピニング加工の複数寸法を満たす条件を求める研究。</a:t>
            </a:r>
          </a:p>
        </p:txBody>
      </p:sp>
      <p:sp>
        <p:nvSpPr>
          <p:cNvPr id="12" name="boundary-Q38">
            <a:extLst xmlns:a="http://schemas.openxmlformats.org/drawingml/2006/main">
              <a:ext uri="{FF2B5EF4-FFF2-40B4-BE49-F238E27FC236}">
                <a16:creationId xmlns:a16="http://schemas.microsoft.com/office/drawing/2014/main" id="{6D7E59EC-046A-4B70-AFFB-E45C1E5D4D68}"/>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留保：特定の加工での実証。あらゆる加工の条件決定を解決したという意味ではない。</a:t>
            </a:r>
          </a:p>
        </p:txBody>
      </p:sp>
      <p:sp>
        <p:nvSpPr>
          <p:cNvPr id="13" name="qid-Q39">
            <a:extLst xmlns:a="http://schemas.openxmlformats.org/drawingml/2006/main">
              <a:ext uri="{FF2B5EF4-FFF2-40B4-BE49-F238E27FC236}">
                <a16:creationId xmlns:a16="http://schemas.microsoft.com/office/drawing/2014/main" id="{84B9FFA8-5353-451C-B1F3-4D159248BC83}"/>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7657c1886d724958"/>
              </a:rPr>
              <a:t>Q39</a:t>
            </a:r>
            <a:br>
              <a:rPr sz="2025" b="1">
                <a:solidFill>
                  <a:srgbClr val="117D83"/>
                </a:solidFill>
                <a:latin typeface="Noto Sans JP"/>
                <a:ea typeface="Noto Sans JP"/>
                <a:cs typeface="Noto Sans JP"/>
                <a:hlinkClick xmlns:r="http://schemas.openxmlformats.org/officeDocument/2006/relationships" r:id="R7657c1886d724958"/>
              </a:rPr>
            </a:br>
            <a:r>
              <a:rPr sz="2025" b="1">
                <a:solidFill>
                  <a:srgbClr val="117D83"/>
                </a:solidFill>
                <a:latin typeface="Noto Sans JP"/>
                <a:ea typeface="Noto Sans JP"/>
                <a:cs typeface="Noto Sans JP"/>
                <a:hlinkClick xmlns:r="http://schemas.openxmlformats.org/officeDocument/2006/relationships" r:id="R7657c1886d724958"/>
              </a:rPr>
              <a:t>S39</a:t>
            </a:r>
          </a:p>
        </p:txBody>
      </p:sp>
      <p:sp>
        <p:nvSpPr>
          <p:cNvPr id="14" name="verbatim-Q39">
            <a:extLst xmlns:a="http://schemas.openxmlformats.org/drawingml/2006/main">
              <a:ext uri="{FF2B5EF4-FFF2-40B4-BE49-F238E27FC236}">
                <a16:creationId xmlns:a16="http://schemas.microsoft.com/office/drawing/2014/main" id="{4CAF1F0A-9676-419F-A031-3F01CC902504}"/>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加工現象の原理原則に基づいたデジタルものづくり</a:t>
            </a:r>
          </a:p>
        </p:txBody>
      </p:sp>
      <p:sp>
        <p:nvSpPr>
          <p:cNvPr id="15" name="attribution-Q39">
            <a:extLst xmlns:a="http://schemas.openxmlformats.org/drawingml/2006/main">
              <a:ext uri="{FF2B5EF4-FFF2-40B4-BE49-F238E27FC236}">
                <a16:creationId xmlns:a16="http://schemas.microsoft.com/office/drawing/2014/main" id="{479AB16F-5B30-436C-B79A-47146CF857F0}"/>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産総研 製造基盤技術研究部門の説明　未記載</a:t>
            </a:r>
          </a:p>
        </p:txBody>
      </p:sp>
      <p:sp>
        <p:nvSpPr>
          <p:cNvPr id="16" name="context-Q39">
            <a:extLst xmlns:a="http://schemas.openxmlformats.org/drawingml/2006/main">
              <a:ext uri="{FF2B5EF4-FFF2-40B4-BE49-F238E27FC236}">
                <a16:creationId xmlns:a16="http://schemas.microsoft.com/office/drawing/2014/main" id="{A71C2FF2-7618-4BFF-80B2-E4B3C4840C68}"/>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文脈〔要約〕：モデル化・データ化と利用技術を加工の高度化へつなぐ考え方。</a:t>
            </a:r>
          </a:p>
        </p:txBody>
      </p:sp>
      <p:sp>
        <p:nvSpPr>
          <p:cNvPr id="17" name="boundary-Q39">
            <a:extLst xmlns:a="http://schemas.openxmlformats.org/drawingml/2006/main">
              <a:ext uri="{FF2B5EF4-FFF2-40B4-BE49-F238E27FC236}">
                <a16:creationId xmlns:a16="http://schemas.microsoft.com/office/drawing/2014/main" id="{22B0829D-B57A-452B-8009-D513771E6DEB}"/>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留保：研究方針を示す表現。個別のモデル精度を保証するものではない。</a:t>
            </a:r>
          </a:p>
        </p:txBody>
      </p:sp>
      <p:sp>
        <p:nvSpPr>
          <p:cNvPr id="18" name="qid-Q40">
            <a:extLst xmlns:a="http://schemas.openxmlformats.org/drawingml/2006/main">
              <a:ext uri="{FF2B5EF4-FFF2-40B4-BE49-F238E27FC236}">
                <a16:creationId xmlns:a16="http://schemas.microsoft.com/office/drawing/2014/main" id="{558FC102-14C7-4EAB-A482-53C991CA19DD}"/>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346df867105a4bfe"/>
              </a:rPr>
              <a:t>Q40</a:t>
            </a:r>
            <a:br>
              <a:rPr sz="2025" b="1">
                <a:solidFill>
                  <a:srgbClr val="117D83"/>
                </a:solidFill>
                <a:latin typeface="Noto Sans JP"/>
                <a:ea typeface="Noto Sans JP"/>
                <a:cs typeface="Noto Sans JP"/>
                <a:hlinkClick xmlns:r="http://schemas.openxmlformats.org/officeDocument/2006/relationships" r:id="R346df867105a4bfe"/>
              </a:rPr>
            </a:br>
            <a:r>
              <a:rPr sz="2025" b="1">
                <a:solidFill>
                  <a:srgbClr val="117D83"/>
                </a:solidFill>
                <a:latin typeface="Noto Sans JP"/>
                <a:ea typeface="Noto Sans JP"/>
                <a:cs typeface="Noto Sans JP"/>
                <a:hlinkClick xmlns:r="http://schemas.openxmlformats.org/officeDocument/2006/relationships" r:id="R346df867105a4bfe"/>
              </a:rPr>
              <a:t>S40</a:t>
            </a:r>
          </a:p>
        </p:txBody>
      </p:sp>
      <p:sp>
        <p:nvSpPr>
          <p:cNvPr id="19" name="verbatim-Q40">
            <a:extLst xmlns:a="http://schemas.openxmlformats.org/drawingml/2006/main">
              <a:ext uri="{FF2B5EF4-FFF2-40B4-BE49-F238E27FC236}">
                <a16:creationId xmlns:a16="http://schemas.microsoft.com/office/drawing/2014/main" id="{7C36BF5D-1F13-447D-B9A3-44C2054C50E9}"/>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追加学習は物理モデルの補正のみを目的とするため</a:t>
            </a:r>
          </a:p>
        </p:txBody>
      </p:sp>
      <p:sp>
        <p:nvSpPr>
          <p:cNvPr id="20" name="attribution-Q40">
            <a:extLst xmlns:a="http://schemas.openxmlformats.org/drawingml/2006/main">
              <a:ext uri="{FF2B5EF4-FFF2-40B4-BE49-F238E27FC236}">
                <a16:creationId xmlns:a16="http://schemas.microsoft.com/office/drawing/2014/main" id="{E81505AE-E2AC-430F-82A9-6059F66601B2}"/>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三菱電機・MERLの公式研究発表　2025-12-10</a:t>
            </a:r>
          </a:p>
        </p:txBody>
      </p:sp>
      <p:sp>
        <p:nvSpPr>
          <p:cNvPr id="21" name="context-Q40">
            <a:extLst xmlns:a="http://schemas.openxmlformats.org/drawingml/2006/main">
              <a:ext uri="{FF2B5EF4-FFF2-40B4-BE49-F238E27FC236}">
                <a16:creationId xmlns:a16="http://schemas.microsoft.com/office/drawing/2014/main" id="{4F636536-054A-4D85-9A7B-74B75E9D1017}"/>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文脈〔要約〕：設計仕様に基づく物理モデルへ、個体差や環境条件を実測から補う方式。</a:t>
            </a:r>
          </a:p>
        </p:txBody>
      </p:sp>
      <p:sp>
        <p:nvSpPr>
          <p:cNvPr id="22" name="boundary-Q40">
            <a:extLst xmlns:a="http://schemas.openxmlformats.org/drawingml/2006/main">
              <a:ext uri="{FF2B5EF4-FFF2-40B4-BE49-F238E27FC236}">
                <a16:creationId xmlns:a16="http://schemas.microsoft.com/office/drawing/2014/main" id="{19B9685D-E96D-45DB-962A-9A68AF9598C8}"/>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留保：方式の一節。少量データでよい範囲を全てのフィジカルAIへ一般化しない。</a:t>
            </a:r>
          </a:p>
        </p:txBody>
      </p:sp>
      <p:sp>
        <p:nvSpPr>
          <p:cNvPr id="23" name="ref-Q37">
            <a:extLst xmlns:a="http://schemas.openxmlformats.org/drawingml/2006/main">
              <a:ext uri="{FF2B5EF4-FFF2-40B4-BE49-F238E27FC236}">
                <a16:creationId xmlns:a16="http://schemas.microsoft.com/office/drawing/2014/main" id="{46E7A4BC-A8D3-4252-B74F-45F901C981B4}"/>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b748ab05658c4a74"/>
              </a:rPr>
              <a:t>Q37 p.38</a:t>
            </a:r>
          </a:p>
        </p:txBody>
      </p:sp>
      <p:sp>
        <p:nvSpPr>
          <p:cNvPr id="24" name="ref-Q38">
            <a:extLst xmlns:a="http://schemas.openxmlformats.org/drawingml/2006/main">
              <a:ext uri="{FF2B5EF4-FFF2-40B4-BE49-F238E27FC236}">
                <a16:creationId xmlns:a16="http://schemas.microsoft.com/office/drawing/2014/main" id="{40732669-D4E0-48F9-BBAD-7571E775F4C8}"/>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3f665054ea2d4431"/>
              </a:rPr>
              <a:t>Q38 p.38</a:t>
            </a:r>
          </a:p>
        </p:txBody>
      </p:sp>
      <p:sp>
        <p:nvSpPr>
          <p:cNvPr id="25" name="ref-Q39">
            <a:extLst xmlns:a="http://schemas.openxmlformats.org/drawingml/2006/main">
              <a:ext uri="{FF2B5EF4-FFF2-40B4-BE49-F238E27FC236}">
                <a16:creationId xmlns:a16="http://schemas.microsoft.com/office/drawing/2014/main" id="{87FD6FD2-F68A-4A24-A148-086041BF67D8}"/>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7fc63dd6a4f545f2"/>
              </a:rPr>
              <a:t>Q39 p.38</a:t>
            </a:r>
          </a:p>
        </p:txBody>
      </p:sp>
      <p:sp>
        <p:nvSpPr>
          <p:cNvPr id="26" name="ref-Q40">
            <a:extLst xmlns:a="http://schemas.openxmlformats.org/drawingml/2006/main">
              <a:ext uri="{FF2B5EF4-FFF2-40B4-BE49-F238E27FC236}">
                <a16:creationId xmlns:a16="http://schemas.microsoft.com/office/drawing/2014/main" id="{D8007C31-8D9B-4D09-9C9D-585C99FBD036}"/>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ac703c338557447c"/>
              </a:rPr>
              <a:t>Q40 p.38</a:t>
            </a:r>
          </a:p>
        </p:txBody>
      </p:sp>
      <p:sp>
        <p:nvSpPr>
          <p:cNvPr id="27" name="disclosure">
            <a:extLst xmlns:a="http://schemas.openxmlformats.org/drawingml/2006/main">
              <a:ext uri="{FF2B5EF4-FFF2-40B4-BE49-F238E27FC236}">
                <a16:creationId xmlns:a16="http://schemas.microsoft.com/office/drawing/2014/main" id="{467F8605-6FC6-472C-8C37-65057F36C532}"/>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A3BCA084-7140-49DD-A311-626644E515B0}"/>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38 / 40</a:t>
            </a:r>
          </a:p>
        </p:txBody>
      </p:sp>
    </p:spTree>
    <p:extLst>
      <p:ext uri="{BB962C8B-B14F-4D97-AF65-F5344CB8AC3E}">
        <p14:creationId xmlns:p14="http://schemas.microsoft.com/office/powerpoint/2010/main" val="171480638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heading">
            <a:extLst xmlns:a="http://schemas.openxmlformats.org/drawingml/2006/main">
              <a:ext uri="{FF2B5EF4-FFF2-40B4-BE49-F238E27FC236}">
                <a16:creationId xmlns:a16="http://schemas.microsoft.com/office/drawing/2014/main" id="{DBD88EE5-DA3D-4A19-9CAA-6BDAE0F16FC1}"/>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11/12　Q41～Q44</a:t>
            </a:r>
          </a:p>
        </p:txBody>
      </p:sp>
      <p:sp>
        <p:nvSpPr>
          <p:cNvPr id="2" name="context">
            <a:extLst xmlns:a="http://schemas.openxmlformats.org/drawingml/2006/main">
              <a:ext uri="{FF2B5EF4-FFF2-40B4-BE49-F238E27FC236}">
                <a16:creationId xmlns:a16="http://schemas.microsoft.com/office/drawing/2014/main" id="{5078B76B-85D2-4FB7-A525-6E32812E51ED}"/>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41">
            <a:extLst xmlns:a="http://schemas.openxmlformats.org/drawingml/2006/main">
              <a:ext uri="{FF2B5EF4-FFF2-40B4-BE49-F238E27FC236}">
                <a16:creationId xmlns:a16="http://schemas.microsoft.com/office/drawing/2014/main" id="{8AC2287B-1888-45D8-86F1-15208CF4F3C3}"/>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7b099d68dd6445e8"/>
              </a:rPr>
              <a:t>Q41</a:t>
            </a:r>
            <a:br>
              <a:rPr sz="2025" b="1">
                <a:solidFill>
                  <a:srgbClr val="117D83"/>
                </a:solidFill>
                <a:latin typeface="Noto Sans JP"/>
                <a:ea typeface="Noto Sans JP"/>
                <a:cs typeface="Noto Sans JP"/>
                <a:hlinkClick xmlns:r="http://schemas.openxmlformats.org/officeDocument/2006/relationships" r:id="R7b099d68dd6445e8"/>
              </a:rPr>
            </a:br>
            <a:r>
              <a:rPr sz="2025" b="1">
                <a:solidFill>
                  <a:srgbClr val="117D83"/>
                </a:solidFill>
                <a:latin typeface="Noto Sans JP"/>
                <a:ea typeface="Noto Sans JP"/>
                <a:cs typeface="Noto Sans JP"/>
                <a:hlinkClick xmlns:r="http://schemas.openxmlformats.org/officeDocument/2006/relationships" r:id="R7b099d68dd6445e8"/>
              </a:rPr>
              <a:t>D01</a:t>
            </a:r>
          </a:p>
        </p:txBody>
      </p:sp>
      <p:sp>
        <p:nvSpPr>
          <p:cNvPr id="4" name="verbatim-Q41">
            <a:extLst xmlns:a="http://schemas.openxmlformats.org/drawingml/2006/main">
              <a:ext uri="{FF2B5EF4-FFF2-40B4-BE49-F238E27FC236}">
                <a16:creationId xmlns:a16="http://schemas.microsoft.com/office/drawing/2014/main" id="{845825FF-0FE2-4D4F-B8B5-7D562A13A5C9}"/>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Adapt to the unpredictability of real environments</a:t>
            </a:r>
          </a:p>
        </p:txBody>
      </p:sp>
      <p:sp>
        <p:nvSpPr>
          <p:cNvPr id="5" name="attribution-Q41">
            <a:extLst xmlns:a="http://schemas.openxmlformats.org/drawingml/2006/main">
              <a:ext uri="{FF2B5EF4-FFF2-40B4-BE49-F238E27FC236}">
                <a16:creationId xmlns:a16="http://schemas.microsoft.com/office/drawing/2014/main" id="{114D0DA2-0A1A-4E83-BE26-A673FEAF63CE}"/>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NVIDIA公式教材　未記載</a:t>
            </a:r>
          </a:p>
        </p:txBody>
      </p:sp>
      <p:sp>
        <p:nvSpPr>
          <p:cNvPr id="6" name="context-Q41">
            <a:extLst xmlns:a="http://schemas.openxmlformats.org/drawingml/2006/main">
              <a:ext uri="{FF2B5EF4-FFF2-40B4-BE49-F238E27FC236}">
                <a16:creationId xmlns:a16="http://schemas.microsoft.com/office/drawing/2014/main" id="{FF11D990-D8CA-47A3-90AC-233DBD171FCA}"/>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文脈〔要約〕：知覚、物理・空間の理解、実行、環境の変動への適応を説明する。</a:t>
            </a:r>
          </a:p>
        </p:txBody>
      </p:sp>
      <p:sp>
        <p:nvSpPr>
          <p:cNvPr id="7" name="boundary-Q41">
            <a:extLst xmlns:a="http://schemas.openxmlformats.org/drawingml/2006/main">
              <a:ext uri="{FF2B5EF4-FFF2-40B4-BE49-F238E27FC236}">
                <a16:creationId xmlns:a16="http://schemas.microsoft.com/office/drawing/2014/main" id="{88361995-959D-43BA-B9C0-B93D6C9035B3}"/>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留保：教材の能力整理。工業用システムの性能証明ではない。</a:t>
            </a:r>
          </a:p>
        </p:txBody>
      </p:sp>
      <p:sp>
        <p:nvSpPr>
          <p:cNvPr id="8" name="qid-Q42">
            <a:extLst xmlns:a="http://schemas.openxmlformats.org/drawingml/2006/main">
              <a:ext uri="{FF2B5EF4-FFF2-40B4-BE49-F238E27FC236}">
                <a16:creationId xmlns:a16="http://schemas.microsoft.com/office/drawing/2014/main" id="{33F9D6D0-9E62-4997-A7AD-F031F554A77F}"/>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c8811f495a904f4a"/>
              </a:rPr>
              <a:t>Q42</a:t>
            </a:r>
            <a:br>
              <a:rPr sz="2025" b="1">
                <a:solidFill>
                  <a:srgbClr val="117D83"/>
                </a:solidFill>
                <a:latin typeface="Noto Sans JP"/>
                <a:ea typeface="Noto Sans JP"/>
                <a:cs typeface="Noto Sans JP"/>
                <a:hlinkClick xmlns:r="http://schemas.openxmlformats.org/officeDocument/2006/relationships" r:id="Rc8811f495a904f4a"/>
              </a:rPr>
            </a:br>
            <a:r>
              <a:rPr sz="2025" b="1">
                <a:solidFill>
                  <a:srgbClr val="117D83"/>
                </a:solidFill>
                <a:latin typeface="Noto Sans JP"/>
                <a:ea typeface="Noto Sans JP"/>
                <a:cs typeface="Noto Sans JP"/>
                <a:hlinkClick xmlns:r="http://schemas.openxmlformats.org/officeDocument/2006/relationships" r:id="Rc8811f495a904f4a"/>
              </a:rPr>
              <a:t>A08</a:t>
            </a:r>
          </a:p>
        </p:txBody>
      </p:sp>
      <p:sp>
        <p:nvSpPr>
          <p:cNvPr id="9" name="verbatim-Q42">
            <a:extLst xmlns:a="http://schemas.openxmlformats.org/drawingml/2006/main">
              <a:ext uri="{FF2B5EF4-FFF2-40B4-BE49-F238E27FC236}">
                <a16:creationId xmlns:a16="http://schemas.microsoft.com/office/drawing/2014/main" id="{9B33AB72-8FAF-4270-B8BE-3752F7CF51D2}"/>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生産活動全体の計画最適化と現場適応の自律化</a:t>
            </a:r>
          </a:p>
        </p:txBody>
      </p:sp>
      <p:sp>
        <p:nvSpPr>
          <p:cNvPr id="10" name="attribution-Q42">
            <a:extLst xmlns:a="http://schemas.openxmlformats.org/drawingml/2006/main">
              <a:ext uri="{FF2B5EF4-FFF2-40B4-BE49-F238E27FC236}">
                <a16:creationId xmlns:a16="http://schemas.microsoft.com/office/drawing/2014/main" id="{AE008529-3A90-4345-9131-56D4C24441C4}"/>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富士通の公式発表　2026-07-16</a:t>
            </a:r>
          </a:p>
        </p:txBody>
      </p:sp>
      <p:sp>
        <p:nvSpPr>
          <p:cNvPr id="11" name="context-Q42">
            <a:extLst xmlns:a="http://schemas.openxmlformats.org/drawingml/2006/main">
              <a:ext uri="{FF2B5EF4-FFF2-40B4-BE49-F238E27FC236}">
                <a16:creationId xmlns:a16="http://schemas.microsoft.com/office/drawing/2014/main" id="{88509420-CCE3-4166-B1C7-DA0B666A0AAD}"/>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文脈〔要約〕：変動と現場状況を加味する工場向け構想を説明する。</a:t>
            </a:r>
          </a:p>
        </p:txBody>
      </p:sp>
      <p:sp>
        <p:nvSpPr>
          <p:cNvPr id="12" name="boundary-Q42">
            <a:extLst xmlns:a="http://schemas.openxmlformats.org/drawingml/2006/main">
              <a:ext uri="{FF2B5EF4-FFF2-40B4-BE49-F238E27FC236}">
                <a16:creationId xmlns:a16="http://schemas.microsoft.com/office/drawing/2014/main" id="{8A53EDB4-B6F0-4129-B2BF-22076BF882C0}"/>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留保：事業検討の開始。完成システムの稼働実績ではない。</a:t>
            </a:r>
          </a:p>
        </p:txBody>
      </p:sp>
      <p:sp>
        <p:nvSpPr>
          <p:cNvPr id="13" name="qid-Q43">
            <a:extLst xmlns:a="http://schemas.openxmlformats.org/drawingml/2006/main">
              <a:ext uri="{FF2B5EF4-FFF2-40B4-BE49-F238E27FC236}">
                <a16:creationId xmlns:a16="http://schemas.microsoft.com/office/drawing/2014/main" id="{1BD1318B-1C21-4C0F-9CCC-6CEC201C167F}"/>
              </a:ext>
            </a:extLst>
          </p:cNvPr>
          <p:cNvSpPr>
            <a:spLocks xmlns:a="http://schemas.openxmlformats.org/drawingml/2006/main" noGrp="1"/>
          </p:cNvSpPr>
          <p:nvPr/>
        </p:nvSpPr>
        <p:spPr>
          <a:xfrm xmlns:a="http://schemas.openxmlformats.org/drawingml/2006/main">
            <a:off x="838200" y="575310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33c943b2bd8f4903"/>
              </a:rPr>
              <a:t>Q43</a:t>
            </a:r>
            <a:br>
              <a:rPr sz="2025" b="1">
                <a:solidFill>
                  <a:srgbClr val="117D83"/>
                </a:solidFill>
                <a:latin typeface="Noto Sans JP"/>
                <a:ea typeface="Noto Sans JP"/>
                <a:cs typeface="Noto Sans JP"/>
                <a:hlinkClick xmlns:r="http://schemas.openxmlformats.org/officeDocument/2006/relationships" r:id="R33c943b2bd8f4903"/>
              </a:rPr>
            </a:br>
            <a:r>
              <a:rPr sz="2025" b="1">
                <a:solidFill>
                  <a:srgbClr val="117D83"/>
                </a:solidFill>
                <a:latin typeface="Noto Sans JP"/>
                <a:ea typeface="Noto Sans JP"/>
                <a:cs typeface="Noto Sans JP"/>
                <a:hlinkClick xmlns:r="http://schemas.openxmlformats.org/officeDocument/2006/relationships" r:id="R33c943b2bd8f4903"/>
              </a:rPr>
              <a:t>A11</a:t>
            </a:r>
          </a:p>
        </p:txBody>
      </p:sp>
      <p:sp>
        <p:nvSpPr>
          <p:cNvPr id="14" name="verbatim-Q43">
            <a:extLst xmlns:a="http://schemas.openxmlformats.org/drawingml/2006/main">
              <a:ext uri="{FF2B5EF4-FFF2-40B4-BE49-F238E27FC236}">
                <a16:creationId xmlns:a16="http://schemas.microsoft.com/office/drawing/2014/main" id="{D1ABE3C6-4728-4E17-8409-368D17FFD2EB}"/>
              </a:ext>
            </a:extLst>
          </p:cNvPr>
          <p:cNvSpPr>
            <a:spLocks xmlns:a="http://schemas.openxmlformats.org/drawingml/2006/main" noGrp="1"/>
          </p:cNvSpPr>
          <p:nvPr/>
        </p:nvSpPr>
        <p:spPr>
          <a:xfrm xmlns:a="http://schemas.openxmlformats.org/drawingml/2006/main">
            <a:off x="2286000" y="574357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ご契約の更新をしていただくことで引き続きご利用できます。</a:t>
            </a:r>
          </a:p>
        </p:txBody>
      </p:sp>
      <p:sp>
        <p:nvSpPr>
          <p:cNvPr id="15" name="attribution-Q43">
            <a:extLst xmlns:a="http://schemas.openxmlformats.org/drawingml/2006/main">
              <a:ext uri="{FF2B5EF4-FFF2-40B4-BE49-F238E27FC236}">
                <a16:creationId xmlns:a16="http://schemas.microsoft.com/office/drawing/2014/main" id="{CC7ABF0F-DEED-41B4-90BD-A290E886597B}"/>
              </a:ext>
            </a:extLst>
          </p:cNvPr>
          <p:cNvSpPr>
            <a:spLocks xmlns:a="http://schemas.openxmlformats.org/drawingml/2006/main" noGrp="1"/>
          </p:cNvSpPr>
          <p:nvPr/>
        </p:nvSpPr>
        <p:spPr>
          <a:xfrm xmlns:a="http://schemas.openxmlformats.org/drawingml/2006/main">
            <a:off x="2286000" y="649605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テクニウム公式のサービス案内　未記載</a:t>
            </a:r>
          </a:p>
        </p:txBody>
      </p:sp>
      <p:sp>
        <p:nvSpPr>
          <p:cNvPr id="16" name="context-Q43">
            <a:extLst xmlns:a="http://schemas.openxmlformats.org/drawingml/2006/main">
              <a:ext uri="{FF2B5EF4-FFF2-40B4-BE49-F238E27FC236}">
                <a16:creationId xmlns:a16="http://schemas.microsoft.com/office/drawing/2014/main" id="{E1F7749A-17CA-487F-9922-E894C34DD08A}"/>
              </a:ext>
            </a:extLst>
          </p:cNvPr>
          <p:cNvSpPr>
            <a:spLocks xmlns:a="http://schemas.openxmlformats.org/drawingml/2006/main" noGrp="1"/>
          </p:cNvSpPr>
          <p:nvPr/>
        </p:nvSpPr>
        <p:spPr>
          <a:xfrm xmlns:a="http://schemas.openxmlformats.org/drawingml/2006/main">
            <a:off x="2286000" y="678180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文脈〔要約〕：納入後の利用期間と、その後の更新を説明する。</a:t>
            </a:r>
          </a:p>
        </p:txBody>
      </p:sp>
      <p:sp>
        <p:nvSpPr>
          <p:cNvPr id="17" name="boundary-Q43">
            <a:extLst xmlns:a="http://schemas.openxmlformats.org/drawingml/2006/main">
              <a:ext uri="{FF2B5EF4-FFF2-40B4-BE49-F238E27FC236}">
                <a16:creationId xmlns:a16="http://schemas.microsoft.com/office/drawing/2014/main" id="{B1AE0D50-EEBD-473E-87E3-BA7E2CAD0731}"/>
              </a:ext>
            </a:extLst>
          </p:cNvPr>
          <p:cNvSpPr>
            <a:spLocks xmlns:a="http://schemas.openxmlformats.org/drawingml/2006/main" noGrp="1"/>
          </p:cNvSpPr>
          <p:nvPr/>
        </p:nvSpPr>
        <p:spPr>
          <a:xfrm xmlns:a="http://schemas.openxmlformats.org/drawingml/2006/main">
            <a:off x="2286000" y="707707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留保：AIの精度向上が更新率や利益を上げた証拠ではない。</a:t>
            </a:r>
          </a:p>
        </p:txBody>
      </p:sp>
      <p:sp>
        <p:nvSpPr>
          <p:cNvPr id="18" name="qid-Q44">
            <a:extLst xmlns:a="http://schemas.openxmlformats.org/drawingml/2006/main">
              <a:ext uri="{FF2B5EF4-FFF2-40B4-BE49-F238E27FC236}">
                <a16:creationId xmlns:a16="http://schemas.microsoft.com/office/drawing/2014/main" id="{3F00F954-0911-42BC-A3D2-3071F6CE9715}"/>
              </a:ext>
            </a:extLst>
          </p:cNvPr>
          <p:cNvSpPr>
            <a:spLocks xmlns:a="http://schemas.openxmlformats.org/drawingml/2006/main" noGrp="1"/>
          </p:cNvSpPr>
          <p:nvPr/>
        </p:nvSpPr>
        <p:spPr>
          <a:xfrm xmlns:a="http://schemas.openxmlformats.org/drawingml/2006/main">
            <a:off x="838200" y="740092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519342357e2f4671"/>
              </a:rPr>
              <a:t>Q44</a:t>
            </a:r>
            <a:br>
              <a:rPr sz="2025" b="1">
                <a:solidFill>
                  <a:srgbClr val="117D83"/>
                </a:solidFill>
                <a:latin typeface="Noto Sans JP"/>
                <a:ea typeface="Noto Sans JP"/>
                <a:cs typeface="Noto Sans JP"/>
                <a:hlinkClick xmlns:r="http://schemas.openxmlformats.org/officeDocument/2006/relationships" r:id="R519342357e2f4671"/>
              </a:rPr>
            </a:br>
            <a:r>
              <a:rPr sz="2025" b="1">
                <a:solidFill>
                  <a:srgbClr val="117D83"/>
                </a:solidFill>
                <a:latin typeface="Noto Sans JP"/>
                <a:ea typeface="Noto Sans JP"/>
                <a:cs typeface="Noto Sans JP"/>
                <a:hlinkClick xmlns:r="http://schemas.openxmlformats.org/officeDocument/2006/relationships" r:id="R519342357e2f4671"/>
              </a:rPr>
              <a:t>A01</a:t>
            </a:r>
          </a:p>
        </p:txBody>
      </p:sp>
      <p:sp>
        <p:nvSpPr>
          <p:cNvPr id="19" name="verbatim-Q44">
            <a:extLst xmlns:a="http://schemas.openxmlformats.org/drawingml/2006/main">
              <a:ext uri="{FF2B5EF4-FFF2-40B4-BE49-F238E27FC236}">
                <a16:creationId xmlns:a16="http://schemas.microsoft.com/office/drawing/2014/main" id="{F468797A-FBDA-4BD6-ABA7-0AB98D1F8996}"/>
              </a:ext>
            </a:extLst>
          </p:cNvPr>
          <p:cNvSpPr>
            <a:spLocks xmlns:a="http://schemas.openxmlformats.org/drawingml/2006/main" noGrp="1"/>
          </p:cNvSpPr>
          <p:nvPr/>
        </p:nvSpPr>
        <p:spPr>
          <a:xfrm xmlns:a="http://schemas.openxmlformats.org/drawingml/2006/main">
            <a:off x="2286000" y="739140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Conduct simulations, and validate the results against machining tests to ensure accuracy across a very wide set of conditions</a:t>
            </a:r>
          </a:p>
        </p:txBody>
      </p:sp>
      <p:sp>
        <p:nvSpPr>
          <p:cNvPr id="20" name="attribution-Q44">
            <a:extLst xmlns:a="http://schemas.openxmlformats.org/drawingml/2006/main">
              <a:ext uri="{FF2B5EF4-FFF2-40B4-BE49-F238E27FC236}">
                <a16:creationId xmlns:a16="http://schemas.microsoft.com/office/drawing/2014/main" id="{85E93480-3651-41B7-A843-AFF676962DC2}"/>
              </a:ext>
            </a:extLst>
          </p:cNvPr>
          <p:cNvSpPr>
            <a:spLocks xmlns:a="http://schemas.openxmlformats.org/drawingml/2006/main" noGrp="1"/>
          </p:cNvSpPr>
          <p:nvPr/>
        </p:nvSpPr>
        <p:spPr>
          <a:xfrm xmlns:a="http://schemas.openxmlformats.org/drawingml/2006/main">
            <a:off x="2286000" y="814387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Third Wave Systemsの公式サービス説明　未記載</a:t>
            </a:r>
          </a:p>
        </p:txBody>
      </p:sp>
      <p:sp>
        <p:nvSpPr>
          <p:cNvPr id="21" name="context-Q44">
            <a:extLst xmlns:a="http://schemas.openxmlformats.org/drawingml/2006/main">
              <a:ext uri="{FF2B5EF4-FFF2-40B4-BE49-F238E27FC236}">
                <a16:creationId xmlns:a16="http://schemas.microsoft.com/office/drawing/2014/main" id="{62C7F530-C727-45E1-8BF6-9304C898F6CA}"/>
              </a:ext>
            </a:extLst>
          </p:cNvPr>
          <p:cNvSpPr>
            <a:spLocks xmlns:a="http://schemas.openxmlformats.org/drawingml/2006/main" noGrp="1"/>
          </p:cNvSpPr>
          <p:nvPr/>
        </p:nvSpPr>
        <p:spPr>
          <a:xfrm xmlns:a="http://schemas.openxmlformats.org/drawingml/2006/main">
            <a:off x="2286000" y="842962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文脈〔要約〕：材料試験と構成則の作成後に行う、シミュレーションと実加工の照合を説明する。</a:t>
            </a:r>
          </a:p>
        </p:txBody>
      </p:sp>
      <p:sp>
        <p:nvSpPr>
          <p:cNvPr id="22" name="boundary-Q44">
            <a:extLst xmlns:a="http://schemas.openxmlformats.org/drawingml/2006/main">
              <a:ext uri="{FF2B5EF4-FFF2-40B4-BE49-F238E27FC236}">
                <a16:creationId xmlns:a16="http://schemas.microsoft.com/office/drawing/2014/main" id="{059AFDCA-D586-4FDA-9BEA-1A5A5C20DD3F}"/>
              </a:ext>
            </a:extLst>
          </p:cNvPr>
          <p:cNvSpPr>
            <a:spLocks xmlns:a="http://schemas.openxmlformats.org/drawingml/2006/main" noGrp="1"/>
          </p:cNvSpPr>
          <p:nvPr/>
        </p:nvSpPr>
        <p:spPr>
          <a:xfrm xmlns:a="http://schemas.openxmlformats.org/drawingml/2006/main">
            <a:off x="2286000" y="872490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留保：あらゆる条件での精度保証ではない。</a:t>
            </a:r>
          </a:p>
        </p:txBody>
      </p:sp>
      <p:sp>
        <p:nvSpPr>
          <p:cNvPr id="23" name="ref-Q41">
            <a:extLst xmlns:a="http://schemas.openxmlformats.org/drawingml/2006/main">
              <a:ext uri="{FF2B5EF4-FFF2-40B4-BE49-F238E27FC236}">
                <a16:creationId xmlns:a16="http://schemas.microsoft.com/office/drawing/2014/main" id="{A9E8E04F-0223-4F66-9009-8BA767ADE4AD}"/>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850c65ed5ddc4cc0"/>
              </a:rPr>
              <a:t>Q41 p.39</a:t>
            </a:r>
          </a:p>
        </p:txBody>
      </p:sp>
      <p:sp>
        <p:nvSpPr>
          <p:cNvPr id="24" name="ref-Q42">
            <a:extLst xmlns:a="http://schemas.openxmlformats.org/drawingml/2006/main">
              <a:ext uri="{FF2B5EF4-FFF2-40B4-BE49-F238E27FC236}">
                <a16:creationId xmlns:a16="http://schemas.microsoft.com/office/drawing/2014/main" id="{088BBA26-1A75-4880-B6B7-94B8F1F5619D}"/>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ba8af1fec474ae0"/>
              </a:rPr>
              <a:t>Q42 p.39</a:t>
            </a:r>
          </a:p>
        </p:txBody>
      </p:sp>
      <p:sp>
        <p:nvSpPr>
          <p:cNvPr id="25" name="ref-Q43">
            <a:extLst xmlns:a="http://schemas.openxmlformats.org/drawingml/2006/main">
              <a:ext uri="{FF2B5EF4-FFF2-40B4-BE49-F238E27FC236}">
                <a16:creationId xmlns:a16="http://schemas.microsoft.com/office/drawing/2014/main" id="{B105E2EA-BD06-40A0-B367-E466992CF18B}"/>
              </a:ext>
            </a:extLst>
          </p:cNvPr>
          <p:cNvSpPr>
            <a:spLocks xmlns:a="http://schemas.openxmlformats.org/drawingml/2006/main" noGrp="1"/>
          </p:cNvSpPr>
          <p:nvPr/>
        </p:nvSpPr>
        <p:spPr>
          <a:xfrm xmlns:a="http://schemas.openxmlformats.org/drawingml/2006/main">
            <a:off x="356235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d1cd8810545743ec"/>
              </a:rPr>
              <a:t>Q43 p.39</a:t>
            </a:r>
          </a:p>
        </p:txBody>
      </p:sp>
      <p:sp>
        <p:nvSpPr>
          <p:cNvPr id="26" name="ref-Q44">
            <a:extLst xmlns:a="http://schemas.openxmlformats.org/drawingml/2006/main">
              <a:ext uri="{FF2B5EF4-FFF2-40B4-BE49-F238E27FC236}">
                <a16:creationId xmlns:a16="http://schemas.microsoft.com/office/drawing/2014/main" id="{150E2028-7DFD-4B10-890A-4E004E8E9886}"/>
              </a:ext>
            </a:extLst>
          </p:cNvPr>
          <p:cNvSpPr>
            <a:spLocks xmlns:a="http://schemas.openxmlformats.org/drawingml/2006/main" noGrp="1"/>
          </p:cNvSpPr>
          <p:nvPr/>
        </p:nvSpPr>
        <p:spPr>
          <a:xfrm xmlns:a="http://schemas.openxmlformats.org/drawingml/2006/main">
            <a:off x="492442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dca8d2fbbfa4275"/>
              </a:rPr>
              <a:t>Q44 p.39</a:t>
            </a:r>
          </a:p>
        </p:txBody>
      </p:sp>
      <p:sp>
        <p:nvSpPr>
          <p:cNvPr id="27" name="disclosure">
            <a:extLst xmlns:a="http://schemas.openxmlformats.org/drawingml/2006/main">
              <a:ext uri="{FF2B5EF4-FFF2-40B4-BE49-F238E27FC236}">
                <a16:creationId xmlns:a16="http://schemas.microsoft.com/office/drawing/2014/main" id="{B625533A-4F39-4FBF-9132-8FAF1507F1F5}"/>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28" name="page">
            <a:extLst xmlns:a="http://schemas.openxmlformats.org/drawingml/2006/main">
              <a:ext uri="{FF2B5EF4-FFF2-40B4-BE49-F238E27FC236}">
                <a16:creationId xmlns:a16="http://schemas.microsoft.com/office/drawing/2014/main" id="{F4AE305D-F9EE-4313-B4F3-41E3B237F417}"/>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39 / 40</a:t>
            </a:r>
          </a:p>
        </p:txBody>
      </p:sp>
    </p:spTree>
    <p:extLst>
      <p:ext uri="{BB962C8B-B14F-4D97-AF65-F5344CB8AC3E}">
        <p14:creationId xmlns:p14="http://schemas.microsoft.com/office/powerpoint/2010/main" val="199065337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heading">
            <a:extLst xmlns:a="http://schemas.openxmlformats.org/drawingml/2006/main">
              <a:ext uri="{FF2B5EF4-FFF2-40B4-BE49-F238E27FC236}">
                <a16:creationId xmlns:a16="http://schemas.microsoft.com/office/drawing/2014/main" id="{170CFD4C-EC54-48C1-A1D1-2FFA5E7699A0}"/>
              </a:ext>
            </a:extLst>
          </p:cNvPr>
          <p:cNvSpPr>
            <a:spLocks xmlns:a="http://schemas.openxmlformats.org/drawingml/2006/main" noGrp="1"/>
          </p:cNvSpPr>
          <p:nvPr/>
        </p:nvSpPr>
        <p:spPr>
          <a:xfrm xmlns:a="http://schemas.openxmlformats.org/drawingml/2006/main">
            <a:off x="819150" y="514350"/>
            <a:ext cx="1664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C4D"/>
                </a:solidFill>
                <a:latin typeface="Noto Sans JP"/>
                <a:ea typeface="Noto Sans JP"/>
                <a:cs typeface="Noto Sans JP"/>
              </a:defRPr>
            </a:defPPr>
            <a:lvl1pPr>
              <a:defRPr sz="3450" b="1">
                <a:solidFill>
                  <a:srgbClr val="183C4D"/>
                </a:solidFill>
                <a:latin typeface="Noto Sans JP"/>
                <a:ea typeface="Noto Sans JP"/>
                <a:cs typeface="Noto Sans JP"/>
              </a:defRPr>
            </a:lvl1pPr>
            <a:lvl2pPr>
              <a:defRPr sz="3450" b="1">
                <a:solidFill>
                  <a:srgbClr val="183C4D"/>
                </a:solidFill>
                <a:latin typeface="Noto Sans JP"/>
                <a:ea typeface="Noto Sans JP"/>
                <a:cs typeface="Noto Sans JP"/>
              </a:defRPr>
            </a:lvl2pPr>
            <a:lvl3pPr>
              <a:defRPr sz="3450" b="1">
                <a:solidFill>
                  <a:srgbClr val="183C4D"/>
                </a:solidFill>
                <a:latin typeface="Noto Sans JP"/>
                <a:ea typeface="Noto Sans JP"/>
                <a:cs typeface="Noto Sans JP"/>
              </a:defRPr>
            </a:lvl3pPr>
            <a:lvl4pPr>
              <a:defRPr sz="3450" b="1">
                <a:solidFill>
                  <a:srgbClr val="183C4D"/>
                </a:solidFill>
                <a:latin typeface="Noto Sans JP"/>
                <a:ea typeface="Noto Sans JP"/>
                <a:cs typeface="Noto Sans JP"/>
              </a:defRPr>
            </a:lvl4pPr>
            <a:lvl5pPr>
              <a:defRPr sz="3450" b="1">
                <a:solidFill>
                  <a:srgbClr val="183C4D"/>
                </a:solidFill>
                <a:latin typeface="Noto Sans JP"/>
                <a:ea typeface="Noto Sans JP"/>
                <a:cs typeface="Noto Sans JP"/>
              </a:defRPr>
            </a:lvl5pPr>
            <a:lvl6pPr>
              <a:defRPr sz="3450" b="1">
                <a:solidFill>
                  <a:srgbClr val="183C4D"/>
                </a:solidFill>
                <a:latin typeface="Noto Sans JP"/>
                <a:ea typeface="Noto Sans JP"/>
                <a:cs typeface="Noto Sans JP"/>
              </a:defRPr>
            </a:lvl6pPr>
            <a:lvl7pPr>
              <a:defRPr sz="3450" b="1">
                <a:solidFill>
                  <a:srgbClr val="183C4D"/>
                </a:solidFill>
                <a:latin typeface="Noto Sans JP"/>
                <a:ea typeface="Noto Sans JP"/>
                <a:cs typeface="Noto Sans JP"/>
              </a:defRPr>
            </a:lvl7pPr>
            <a:lvl8pPr>
              <a:defRPr sz="3450" b="1">
                <a:solidFill>
                  <a:srgbClr val="183C4D"/>
                </a:solidFill>
                <a:latin typeface="Noto Sans JP"/>
                <a:ea typeface="Noto Sans JP"/>
                <a:cs typeface="Noto Sans JP"/>
              </a:defRPr>
            </a:lvl8pPr>
            <a:lvl9pPr>
              <a:defRPr sz="3450" b="1">
                <a:solidFill>
                  <a:srgbClr val="183C4D"/>
                </a:solidFill>
                <a:latin typeface="Noto Sans JP"/>
                <a:ea typeface="Noto Sans JP"/>
                <a:cs typeface="Noto Sans JP"/>
              </a:defRPr>
            </a:lvl9pPr>
          </a:lstStyle>
          <a:p xmlns:a="http://schemas.openxmlformats.org/drawingml/2006/main">
            <a:pPr>
              <a:lnSpc>
                <a:spcPct val="108000"/>
              </a:lnSpc>
              <a:buNone/>
              <a:defRPr sz="3450" b="1">
                <a:solidFill>
                  <a:srgbClr val="183C4D"/>
                </a:solidFill>
                <a:latin typeface="Noto Sans JP"/>
                <a:ea typeface="Noto Sans JP"/>
                <a:cs typeface="Noto Sans JP"/>
              </a:defRPr>
            </a:pPr>
            <a:r>
              <a:rPr sz="3450" b="1">
                <a:solidFill>
                  <a:srgbClr val="183C4D"/>
                </a:solidFill>
                <a:latin typeface="Noto Sans JP"/>
                <a:ea typeface="Noto Sans JP"/>
                <a:cs typeface="Noto Sans JP"/>
              </a:rPr>
              <a:t>原文エビデンス 12/12　Q45～Q46</a:t>
            </a:r>
          </a:p>
        </p:txBody>
      </p:sp>
      <p:sp>
        <p:nvSpPr>
          <p:cNvPr id="2" name="context">
            <a:extLst xmlns:a="http://schemas.openxmlformats.org/drawingml/2006/main">
              <a:ext uri="{FF2B5EF4-FFF2-40B4-BE49-F238E27FC236}">
                <a16:creationId xmlns:a16="http://schemas.microsoft.com/office/drawing/2014/main" id="{FCB18328-A9B5-4A7F-B7A9-A27D487C469B}"/>
              </a:ext>
            </a:extLst>
          </p:cNvPr>
          <p:cNvSpPr>
            <a:spLocks xmlns:a="http://schemas.openxmlformats.org/drawingml/2006/main" noGrp="1"/>
          </p:cNvSpPr>
          <p:nvPr/>
        </p:nvSpPr>
        <p:spPr>
          <a:xfrm xmlns:a="http://schemas.openxmlformats.org/drawingml/2006/main">
            <a:off x="838200" y="1695450"/>
            <a:ext cx="1657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C78"/>
                </a:solidFill>
                <a:latin typeface="Noto Sans JP"/>
                <a:ea typeface="Noto Sans JP"/>
                <a:cs typeface="Noto Sans JP"/>
              </a:defRPr>
            </a:defPPr>
            <a:lvl1pPr>
              <a:defRPr sz="2025" b="0">
                <a:solidFill>
                  <a:srgbClr val="536C78"/>
                </a:solidFill>
                <a:latin typeface="Noto Sans JP"/>
                <a:ea typeface="Noto Sans JP"/>
                <a:cs typeface="Noto Sans JP"/>
              </a:defRPr>
            </a:lvl1pPr>
            <a:lvl2pPr>
              <a:defRPr sz="2025" b="0">
                <a:solidFill>
                  <a:srgbClr val="536C78"/>
                </a:solidFill>
                <a:latin typeface="Noto Sans JP"/>
                <a:ea typeface="Noto Sans JP"/>
                <a:cs typeface="Noto Sans JP"/>
              </a:defRPr>
            </a:lvl2pPr>
            <a:lvl3pPr>
              <a:defRPr sz="2025" b="0">
                <a:solidFill>
                  <a:srgbClr val="536C78"/>
                </a:solidFill>
                <a:latin typeface="Noto Sans JP"/>
                <a:ea typeface="Noto Sans JP"/>
                <a:cs typeface="Noto Sans JP"/>
              </a:defRPr>
            </a:lvl3pPr>
            <a:lvl4pPr>
              <a:defRPr sz="2025" b="0">
                <a:solidFill>
                  <a:srgbClr val="536C78"/>
                </a:solidFill>
                <a:latin typeface="Noto Sans JP"/>
                <a:ea typeface="Noto Sans JP"/>
                <a:cs typeface="Noto Sans JP"/>
              </a:defRPr>
            </a:lvl4pPr>
            <a:lvl5pPr>
              <a:defRPr sz="2025" b="0">
                <a:solidFill>
                  <a:srgbClr val="536C78"/>
                </a:solidFill>
                <a:latin typeface="Noto Sans JP"/>
                <a:ea typeface="Noto Sans JP"/>
                <a:cs typeface="Noto Sans JP"/>
              </a:defRPr>
            </a:lvl5pPr>
            <a:lvl6pPr>
              <a:defRPr sz="2025" b="0">
                <a:solidFill>
                  <a:srgbClr val="536C78"/>
                </a:solidFill>
                <a:latin typeface="Noto Sans JP"/>
                <a:ea typeface="Noto Sans JP"/>
                <a:cs typeface="Noto Sans JP"/>
              </a:defRPr>
            </a:lvl6pPr>
            <a:lvl7pPr>
              <a:defRPr sz="2025" b="0">
                <a:solidFill>
                  <a:srgbClr val="536C78"/>
                </a:solidFill>
                <a:latin typeface="Noto Sans JP"/>
                <a:ea typeface="Noto Sans JP"/>
                <a:cs typeface="Noto Sans JP"/>
              </a:defRPr>
            </a:lvl7pPr>
            <a:lvl8pPr>
              <a:defRPr sz="2025" b="0">
                <a:solidFill>
                  <a:srgbClr val="536C78"/>
                </a:solidFill>
                <a:latin typeface="Noto Sans JP"/>
                <a:ea typeface="Noto Sans JP"/>
                <a:cs typeface="Noto Sans JP"/>
              </a:defRPr>
            </a:lvl8pPr>
            <a:lvl9pPr>
              <a:defRPr sz="2025" b="0">
                <a:solidFill>
                  <a:srgbClr val="536C78"/>
                </a:solidFill>
                <a:latin typeface="Noto Sans JP"/>
                <a:ea typeface="Noto Sans JP"/>
                <a:cs typeface="Noto Sans JP"/>
              </a:defRPr>
            </a:lvl9pPr>
          </a:lstStyle>
          <a:p xmlns:a="http://schemas.openxmlformats.org/drawingml/2006/main">
            <a:pPr>
              <a:lnSpc>
                <a:spcPct val="108000"/>
              </a:lnSpc>
              <a:buNone/>
              <a:defRPr sz="2025" b="0">
                <a:solidFill>
                  <a:srgbClr val="536C78"/>
                </a:solidFill>
                <a:latin typeface="Noto Sans JP"/>
                <a:ea typeface="Noto Sans JP"/>
                <a:cs typeface="Noto Sans JP"/>
              </a:defRPr>
            </a:pPr>
            <a:r>
              <a:rPr sz="2025" b="0">
                <a:solidFill>
                  <a:srgbClr val="536C78"/>
                </a:solidFill>
                <a:latin typeface="Noto Sans JP"/>
                <a:ea typeface="Noto Sans JP"/>
                <a:cs typeface="Noto Sans JP"/>
              </a:rPr>
              <a:t>引用欄は連続した原文の抜粋。話者・文脈〔要約〕・留保を分けて読む。</a:t>
            </a:r>
          </a:p>
        </p:txBody>
      </p:sp>
      <p:sp>
        <p:nvSpPr>
          <p:cNvPr id="3" name="qid-Q45">
            <a:extLst xmlns:a="http://schemas.openxmlformats.org/drawingml/2006/main">
              <a:ext uri="{FF2B5EF4-FFF2-40B4-BE49-F238E27FC236}">
                <a16:creationId xmlns:a16="http://schemas.microsoft.com/office/drawing/2014/main" id="{8B1E2E82-9E7C-4617-A9B3-864480F77029}"/>
              </a:ext>
            </a:extLst>
          </p:cNvPr>
          <p:cNvSpPr>
            <a:spLocks xmlns:a="http://schemas.openxmlformats.org/drawingml/2006/main" noGrp="1"/>
          </p:cNvSpPr>
          <p:nvPr/>
        </p:nvSpPr>
        <p:spPr>
          <a:xfrm xmlns:a="http://schemas.openxmlformats.org/drawingml/2006/main">
            <a:off x="838200" y="24574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f678572c7ecb400b"/>
              </a:rPr>
              <a:t>Q45</a:t>
            </a:r>
            <a:br>
              <a:rPr sz="2025" b="1">
                <a:solidFill>
                  <a:srgbClr val="117D83"/>
                </a:solidFill>
                <a:latin typeface="Noto Sans JP"/>
                <a:ea typeface="Noto Sans JP"/>
                <a:cs typeface="Noto Sans JP"/>
                <a:hlinkClick xmlns:r="http://schemas.openxmlformats.org/officeDocument/2006/relationships" r:id="Rf678572c7ecb400b"/>
              </a:rPr>
            </a:br>
            <a:r>
              <a:rPr sz="2025" b="1">
                <a:solidFill>
                  <a:srgbClr val="117D83"/>
                </a:solidFill>
                <a:latin typeface="Noto Sans JP"/>
                <a:ea typeface="Noto Sans JP"/>
                <a:cs typeface="Noto Sans JP"/>
                <a:hlinkClick xmlns:r="http://schemas.openxmlformats.org/officeDocument/2006/relationships" r:id="Rf678572c7ecb400b"/>
              </a:rPr>
              <a:t>A10</a:t>
            </a:r>
          </a:p>
        </p:txBody>
      </p:sp>
      <p:sp>
        <p:nvSpPr>
          <p:cNvPr id="4" name="verbatim-Q45">
            <a:extLst xmlns:a="http://schemas.openxmlformats.org/drawingml/2006/main">
              <a:ext uri="{FF2B5EF4-FFF2-40B4-BE49-F238E27FC236}">
                <a16:creationId xmlns:a16="http://schemas.microsoft.com/office/drawing/2014/main" id="{468E5AE2-28AE-42F1-A036-B13E946056CC}"/>
              </a:ext>
            </a:extLst>
          </p:cNvPr>
          <p:cNvSpPr>
            <a:spLocks xmlns:a="http://schemas.openxmlformats.org/drawingml/2006/main" noGrp="1"/>
          </p:cNvSpPr>
          <p:nvPr/>
        </p:nvSpPr>
        <p:spPr>
          <a:xfrm xmlns:a="http://schemas.openxmlformats.org/drawingml/2006/main">
            <a:off x="2286000" y="2447925"/>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工場単位の計画・判断・実績</a:t>
            </a:r>
          </a:p>
        </p:txBody>
      </p:sp>
      <p:sp>
        <p:nvSpPr>
          <p:cNvPr id="5" name="attribution-Q45">
            <a:extLst xmlns:a="http://schemas.openxmlformats.org/drawingml/2006/main">
              <a:ext uri="{FF2B5EF4-FFF2-40B4-BE49-F238E27FC236}">
                <a16:creationId xmlns:a16="http://schemas.microsoft.com/office/drawing/2014/main" id="{4AFFE620-43A6-4CC3-88D0-94688818F2CE}"/>
              </a:ext>
            </a:extLst>
          </p:cNvPr>
          <p:cNvSpPr>
            <a:spLocks xmlns:a="http://schemas.openxmlformats.org/drawingml/2006/main" noGrp="1"/>
          </p:cNvSpPr>
          <p:nvPr/>
        </p:nvSpPr>
        <p:spPr>
          <a:xfrm xmlns:a="http://schemas.openxmlformats.org/drawingml/2006/main">
            <a:off x="2286000" y="3200400"/>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採択事業者による計画をGENIAC公式資料に掲載　未記載</a:t>
            </a:r>
          </a:p>
        </p:txBody>
      </p:sp>
      <p:sp>
        <p:nvSpPr>
          <p:cNvPr id="6" name="context-Q45">
            <a:extLst xmlns:a="http://schemas.openxmlformats.org/drawingml/2006/main">
              <a:ext uri="{FF2B5EF4-FFF2-40B4-BE49-F238E27FC236}">
                <a16:creationId xmlns:a16="http://schemas.microsoft.com/office/drawing/2014/main" id="{34E8C266-FAB4-4826-B632-F4C76757B38C}"/>
              </a:ext>
            </a:extLst>
          </p:cNvPr>
          <p:cNvSpPr>
            <a:spLocks xmlns:a="http://schemas.openxmlformats.org/drawingml/2006/main" noGrp="1"/>
          </p:cNvSpPr>
          <p:nvPr/>
        </p:nvSpPr>
        <p:spPr>
          <a:xfrm xmlns:a="http://schemas.openxmlformats.org/drawingml/2006/main">
            <a:off x="2286000" y="3486150"/>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文脈〔要約〕：設備単位を超えた工場の計画と実績の関係を構造化する計画。</a:t>
            </a:r>
          </a:p>
        </p:txBody>
      </p:sp>
      <p:sp>
        <p:nvSpPr>
          <p:cNvPr id="7" name="boundary-Q45">
            <a:extLst xmlns:a="http://schemas.openxmlformats.org/drawingml/2006/main">
              <a:ext uri="{FF2B5EF4-FFF2-40B4-BE49-F238E27FC236}">
                <a16:creationId xmlns:a16="http://schemas.microsoft.com/office/drawing/2014/main" id="{6BD13CF3-109F-4C9A-9329-54FFBFA2594D}"/>
              </a:ext>
            </a:extLst>
          </p:cNvPr>
          <p:cNvSpPr>
            <a:spLocks xmlns:a="http://schemas.openxmlformats.org/drawingml/2006/main" noGrp="1"/>
          </p:cNvSpPr>
          <p:nvPr/>
        </p:nvSpPr>
        <p:spPr>
          <a:xfrm xmlns:a="http://schemas.openxmlformats.org/drawingml/2006/main">
            <a:off x="2286000" y="3781425"/>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留保：目標のデータセット。取得・整備が全て完了したという実績ではない。</a:t>
            </a:r>
          </a:p>
        </p:txBody>
      </p:sp>
      <p:sp>
        <p:nvSpPr>
          <p:cNvPr id="8" name="qid-Q46">
            <a:extLst xmlns:a="http://schemas.openxmlformats.org/drawingml/2006/main">
              <a:ext uri="{FF2B5EF4-FFF2-40B4-BE49-F238E27FC236}">
                <a16:creationId xmlns:a16="http://schemas.microsoft.com/office/drawing/2014/main" id="{DF947323-A9E9-47DA-BC09-199D96E24964}"/>
              </a:ext>
            </a:extLst>
          </p:cNvPr>
          <p:cNvSpPr>
            <a:spLocks xmlns:a="http://schemas.openxmlformats.org/drawingml/2006/main" noGrp="1"/>
          </p:cNvSpPr>
          <p:nvPr/>
        </p:nvSpPr>
        <p:spPr>
          <a:xfrm xmlns:a="http://schemas.openxmlformats.org/drawingml/2006/main">
            <a:off x="838200" y="4105275"/>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117D83"/>
                </a:solidFill>
                <a:latin typeface="Noto Sans JP"/>
                <a:ea typeface="Noto Sans JP"/>
                <a:cs typeface="Noto Sans JP"/>
              </a:defRPr>
            </a:defPPr>
            <a:lvl1pPr>
              <a:defRPr sz="2025" b="1">
                <a:solidFill>
                  <a:srgbClr val="117D83"/>
                </a:solidFill>
                <a:latin typeface="Noto Sans JP"/>
                <a:ea typeface="Noto Sans JP"/>
                <a:cs typeface="Noto Sans JP"/>
              </a:defRPr>
            </a:lvl1pPr>
            <a:lvl2pPr>
              <a:defRPr sz="2025" b="1">
                <a:solidFill>
                  <a:srgbClr val="117D83"/>
                </a:solidFill>
                <a:latin typeface="Noto Sans JP"/>
                <a:ea typeface="Noto Sans JP"/>
                <a:cs typeface="Noto Sans JP"/>
              </a:defRPr>
            </a:lvl2pPr>
            <a:lvl3pPr>
              <a:defRPr sz="2025" b="1">
                <a:solidFill>
                  <a:srgbClr val="117D83"/>
                </a:solidFill>
                <a:latin typeface="Noto Sans JP"/>
                <a:ea typeface="Noto Sans JP"/>
                <a:cs typeface="Noto Sans JP"/>
              </a:defRPr>
            </a:lvl3pPr>
            <a:lvl4pPr>
              <a:defRPr sz="2025" b="1">
                <a:solidFill>
                  <a:srgbClr val="117D83"/>
                </a:solidFill>
                <a:latin typeface="Noto Sans JP"/>
                <a:ea typeface="Noto Sans JP"/>
                <a:cs typeface="Noto Sans JP"/>
              </a:defRPr>
            </a:lvl4pPr>
            <a:lvl5pPr>
              <a:defRPr sz="2025" b="1">
                <a:solidFill>
                  <a:srgbClr val="117D83"/>
                </a:solidFill>
                <a:latin typeface="Noto Sans JP"/>
                <a:ea typeface="Noto Sans JP"/>
                <a:cs typeface="Noto Sans JP"/>
              </a:defRPr>
            </a:lvl5pPr>
            <a:lvl6pPr>
              <a:defRPr sz="2025" b="1">
                <a:solidFill>
                  <a:srgbClr val="117D83"/>
                </a:solidFill>
                <a:latin typeface="Noto Sans JP"/>
                <a:ea typeface="Noto Sans JP"/>
                <a:cs typeface="Noto Sans JP"/>
              </a:defRPr>
            </a:lvl6pPr>
            <a:lvl7pPr>
              <a:defRPr sz="2025" b="1">
                <a:solidFill>
                  <a:srgbClr val="117D83"/>
                </a:solidFill>
                <a:latin typeface="Noto Sans JP"/>
                <a:ea typeface="Noto Sans JP"/>
                <a:cs typeface="Noto Sans JP"/>
              </a:defRPr>
            </a:lvl7pPr>
            <a:lvl8pPr>
              <a:defRPr sz="2025" b="1">
                <a:solidFill>
                  <a:srgbClr val="117D83"/>
                </a:solidFill>
                <a:latin typeface="Noto Sans JP"/>
                <a:ea typeface="Noto Sans JP"/>
                <a:cs typeface="Noto Sans JP"/>
              </a:defRPr>
            </a:lvl8pPr>
            <a:lvl9pPr>
              <a:defRPr sz="2025" b="1">
                <a:solidFill>
                  <a:srgbClr val="117D83"/>
                </a:solidFill>
                <a:latin typeface="Noto Sans JP"/>
                <a:ea typeface="Noto Sans JP"/>
                <a:cs typeface="Noto Sans JP"/>
              </a:defRPr>
            </a:lvl9pPr>
          </a:lstStyle>
          <a:p xmlns:a="http://schemas.openxmlformats.org/drawingml/2006/main">
            <a:pPr>
              <a:lnSpc>
                <a:spcPct val="108000"/>
              </a:lnSpc>
              <a:buNone/>
              <a:defRPr sz="2025" b="1">
                <a:solidFill>
                  <a:srgbClr val="117D83"/>
                </a:solidFill>
                <a:latin typeface="Noto Sans JP"/>
                <a:ea typeface="Noto Sans JP"/>
                <a:cs typeface="Noto Sans JP"/>
              </a:defRPr>
            </a:pPr>
            <a:r>
              <a:rPr sz="2025" b="1">
                <a:solidFill>
                  <a:srgbClr val="117D83"/>
                </a:solidFill>
                <a:latin typeface="Noto Sans JP"/>
                <a:ea typeface="Noto Sans JP"/>
                <a:cs typeface="Noto Sans JP"/>
                <a:hlinkClick xmlns:r="http://schemas.openxmlformats.org/officeDocument/2006/relationships" r:id="R2cc1bd960cb14354"/>
              </a:rPr>
              <a:t>Q46</a:t>
            </a:r>
            <a:br>
              <a:rPr sz="2025" b="1">
                <a:solidFill>
                  <a:srgbClr val="117D83"/>
                </a:solidFill>
                <a:latin typeface="Noto Sans JP"/>
                <a:ea typeface="Noto Sans JP"/>
                <a:cs typeface="Noto Sans JP"/>
                <a:hlinkClick xmlns:r="http://schemas.openxmlformats.org/officeDocument/2006/relationships" r:id="R2cc1bd960cb14354"/>
              </a:rPr>
            </a:br>
            <a:r>
              <a:rPr sz="2025" b="1">
                <a:solidFill>
                  <a:srgbClr val="117D83"/>
                </a:solidFill>
                <a:latin typeface="Noto Sans JP"/>
                <a:ea typeface="Noto Sans JP"/>
                <a:cs typeface="Noto Sans JP"/>
                <a:hlinkClick xmlns:r="http://schemas.openxmlformats.org/officeDocument/2006/relationships" r:id="R2cc1bd960cb14354"/>
              </a:rPr>
              <a:t>A09</a:t>
            </a:r>
          </a:p>
        </p:txBody>
      </p:sp>
      <p:sp>
        <p:nvSpPr>
          <p:cNvPr id="9" name="verbatim-Q46">
            <a:extLst xmlns:a="http://schemas.openxmlformats.org/drawingml/2006/main">
              <a:ext uri="{FF2B5EF4-FFF2-40B4-BE49-F238E27FC236}">
                <a16:creationId xmlns:a16="http://schemas.microsoft.com/office/drawing/2014/main" id="{3B803D21-CDB4-429A-9C19-1AB771B16BCB}"/>
              </a:ext>
            </a:extLst>
          </p:cNvPr>
          <p:cNvSpPr>
            <a:spLocks xmlns:a="http://schemas.openxmlformats.org/drawingml/2006/main" noGrp="1"/>
          </p:cNvSpPr>
          <p:nvPr/>
        </p:nvSpPr>
        <p:spPr>
          <a:xfrm xmlns:a="http://schemas.openxmlformats.org/drawingml/2006/main">
            <a:off x="2286000" y="4095750"/>
            <a:ext cx="15163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3C4D"/>
                </a:solidFill>
                <a:latin typeface="Noto Sans JP"/>
                <a:ea typeface="Noto Sans JP"/>
                <a:cs typeface="Noto Sans JP"/>
              </a:defRPr>
            </a:defPPr>
            <a:lvl1pPr>
              <a:defRPr sz="2400" b="1">
                <a:solidFill>
                  <a:srgbClr val="183C4D"/>
                </a:solidFill>
                <a:latin typeface="Noto Sans JP"/>
                <a:ea typeface="Noto Sans JP"/>
                <a:cs typeface="Noto Sans JP"/>
              </a:defRPr>
            </a:lvl1pPr>
            <a:lvl2pPr>
              <a:defRPr sz="2400" b="1">
                <a:solidFill>
                  <a:srgbClr val="183C4D"/>
                </a:solidFill>
                <a:latin typeface="Noto Sans JP"/>
                <a:ea typeface="Noto Sans JP"/>
                <a:cs typeface="Noto Sans JP"/>
              </a:defRPr>
            </a:lvl2pPr>
            <a:lvl3pPr>
              <a:defRPr sz="2400" b="1">
                <a:solidFill>
                  <a:srgbClr val="183C4D"/>
                </a:solidFill>
                <a:latin typeface="Noto Sans JP"/>
                <a:ea typeface="Noto Sans JP"/>
                <a:cs typeface="Noto Sans JP"/>
              </a:defRPr>
            </a:lvl3pPr>
            <a:lvl4pPr>
              <a:defRPr sz="2400" b="1">
                <a:solidFill>
                  <a:srgbClr val="183C4D"/>
                </a:solidFill>
                <a:latin typeface="Noto Sans JP"/>
                <a:ea typeface="Noto Sans JP"/>
                <a:cs typeface="Noto Sans JP"/>
              </a:defRPr>
            </a:lvl4pPr>
            <a:lvl5pPr>
              <a:defRPr sz="2400" b="1">
                <a:solidFill>
                  <a:srgbClr val="183C4D"/>
                </a:solidFill>
                <a:latin typeface="Noto Sans JP"/>
                <a:ea typeface="Noto Sans JP"/>
                <a:cs typeface="Noto Sans JP"/>
              </a:defRPr>
            </a:lvl5pPr>
            <a:lvl6pPr>
              <a:defRPr sz="2400" b="1">
                <a:solidFill>
                  <a:srgbClr val="183C4D"/>
                </a:solidFill>
                <a:latin typeface="Noto Sans JP"/>
                <a:ea typeface="Noto Sans JP"/>
                <a:cs typeface="Noto Sans JP"/>
              </a:defRPr>
            </a:lvl6pPr>
            <a:lvl7pPr>
              <a:defRPr sz="2400" b="1">
                <a:solidFill>
                  <a:srgbClr val="183C4D"/>
                </a:solidFill>
                <a:latin typeface="Noto Sans JP"/>
                <a:ea typeface="Noto Sans JP"/>
                <a:cs typeface="Noto Sans JP"/>
              </a:defRPr>
            </a:lvl7pPr>
            <a:lvl8pPr>
              <a:defRPr sz="2400" b="1">
                <a:solidFill>
                  <a:srgbClr val="183C4D"/>
                </a:solidFill>
                <a:latin typeface="Noto Sans JP"/>
                <a:ea typeface="Noto Sans JP"/>
                <a:cs typeface="Noto Sans JP"/>
              </a:defRPr>
            </a:lvl8pPr>
            <a:lvl9pPr>
              <a:defRPr sz="2400" b="1">
                <a:solidFill>
                  <a:srgbClr val="183C4D"/>
                </a:solidFill>
                <a:latin typeface="Noto Sans JP"/>
                <a:ea typeface="Noto Sans JP"/>
                <a:cs typeface="Noto Sans JP"/>
              </a:defRPr>
            </a:lvl9pPr>
          </a:lstStyle>
          <a:p xmlns:a="http://schemas.openxmlformats.org/drawingml/2006/main">
            <a:pPr>
              <a:lnSpc>
                <a:spcPct val="108000"/>
              </a:lnSpc>
              <a:buNone/>
              <a:defRPr sz="2400" b="1">
                <a:solidFill>
                  <a:srgbClr val="183C4D"/>
                </a:solidFill>
                <a:latin typeface="Noto Sans JP"/>
                <a:ea typeface="Noto Sans JP"/>
                <a:cs typeface="Noto Sans JP"/>
              </a:defRPr>
            </a:pPr>
            <a:r>
              <a:rPr sz="2400" b="1">
                <a:solidFill>
                  <a:srgbClr val="183C4D"/>
                </a:solidFill>
                <a:latin typeface="Noto Sans JP"/>
                <a:ea typeface="Noto Sans JP"/>
                <a:cs typeface="Noto Sans JP"/>
              </a:rPr>
              <a:t>計算ロジックプログラムを呼び出して計算させた結果をもらう</a:t>
            </a:r>
          </a:p>
        </p:txBody>
      </p:sp>
      <p:sp>
        <p:nvSpPr>
          <p:cNvPr id="10" name="attribution-Q46">
            <a:extLst xmlns:a="http://schemas.openxmlformats.org/drawingml/2006/main">
              <a:ext uri="{FF2B5EF4-FFF2-40B4-BE49-F238E27FC236}">
                <a16:creationId xmlns:a16="http://schemas.microsoft.com/office/drawing/2014/main" id="{4AECA463-6C68-43BE-AA5B-D5FCC88F7EAB}"/>
              </a:ext>
            </a:extLst>
          </p:cNvPr>
          <p:cNvSpPr>
            <a:spLocks xmlns:a="http://schemas.openxmlformats.org/drawingml/2006/main" noGrp="1"/>
          </p:cNvSpPr>
          <p:nvPr/>
        </p:nvSpPr>
        <p:spPr>
          <a:xfrm xmlns:a="http://schemas.openxmlformats.org/drawingml/2006/main">
            <a:off x="2286000" y="4848225"/>
            <a:ext cx="1516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東芝デジタルソリューションズ 岡本賢司氏の対談発言　2026-03-06</a:t>
            </a:r>
          </a:p>
        </p:txBody>
      </p:sp>
      <p:sp>
        <p:nvSpPr>
          <p:cNvPr id="11" name="context-Q46">
            <a:extLst xmlns:a="http://schemas.openxmlformats.org/drawingml/2006/main">
              <a:ext uri="{FF2B5EF4-FFF2-40B4-BE49-F238E27FC236}">
                <a16:creationId xmlns:a16="http://schemas.microsoft.com/office/drawing/2014/main" id="{433A10EB-A0F3-4713-BF72-027570078B85}"/>
              </a:ext>
            </a:extLst>
          </p:cNvPr>
          <p:cNvSpPr>
            <a:spLocks xmlns:a="http://schemas.openxmlformats.org/drawingml/2006/main" noGrp="1"/>
          </p:cNvSpPr>
          <p:nvPr/>
        </p:nvSpPr>
        <p:spPr>
          <a:xfrm xmlns:a="http://schemas.openxmlformats.org/drawingml/2006/main">
            <a:off x="2286000" y="5133975"/>
            <a:ext cx="1516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83C4D"/>
                </a:solidFill>
                <a:latin typeface="Noto Sans JP"/>
                <a:ea typeface="Noto Sans JP"/>
                <a:cs typeface="Noto Sans JP"/>
              </a:defRPr>
            </a:defPPr>
            <a:lvl1pPr>
              <a:defRPr sz="1650" b="0">
                <a:solidFill>
                  <a:srgbClr val="183C4D"/>
                </a:solidFill>
                <a:latin typeface="Noto Sans JP"/>
                <a:ea typeface="Noto Sans JP"/>
                <a:cs typeface="Noto Sans JP"/>
              </a:defRPr>
            </a:lvl1pPr>
            <a:lvl2pPr>
              <a:defRPr sz="1650" b="0">
                <a:solidFill>
                  <a:srgbClr val="183C4D"/>
                </a:solidFill>
                <a:latin typeface="Noto Sans JP"/>
                <a:ea typeface="Noto Sans JP"/>
                <a:cs typeface="Noto Sans JP"/>
              </a:defRPr>
            </a:lvl2pPr>
            <a:lvl3pPr>
              <a:defRPr sz="1650" b="0">
                <a:solidFill>
                  <a:srgbClr val="183C4D"/>
                </a:solidFill>
                <a:latin typeface="Noto Sans JP"/>
                <a:ea typeface="Noto Sans JP"/>
                <a:cs typeface="Noto Sans JP"/>
              </a:defRPr>
            </a:lvl3pPr>
            <a:lvl4pPr>
              <a:defRPr sz="1650" b="0">
                <a:solidFill>
                  <a:srgbClr val="183C4D"/>
                </a:solidFill>
                <a:latin typeface="Noto Sans JP"/>
                <a:ea typeface="Noto Sans JP"/>
                <a:cs typeface="Noto Sans JP"/>
              </a:defRPr>
            </a:lvl4pPr>
            <a:lvl5pPr>
              <a:defRPr sz="1650" b="0">
                <a:solidFill>
                  <a:srgbClr val="183C4D"/>
                </a:solidFill>
                <a:latin typeface="Noto Sans JP"/>
                <a:ea typeface="Noto Sans JP"/>
                <a:cs typeface="Noto Sans JP"/>
              </a:defRPr>
            </a:lvl5pPr>
            <a:lvl6pPr>
              <a:defRPr sz="1650" b="0">
                <a:solidFill>
                  <a:srgbClr val="183C4D"/>
                </a:solidFill>
                <a:latin typeface="Noto Sans JP"/>
                <a:ea typeface="Noto Sans JP"/>
                <a:cs typeface="Noto Sans JP"/>
              </a:defRPr>
            </a:lvl6pPr>
            <a:lvl7pPr>
              <a:defRPr sz="1650" b="0">
                <a:solidFill>
                  <a:srgbClr val="183C4D"/>
                </a:solidFill>
                <a:latin typeface="Noto Sans JP"/>
                <a:ea typeface="Noto Sans JP"/>
                <a:cs typeface="Noto Sans JP"/>
              </a:defRPr>
            </a:lvl7pPr>
            <a:lvl8pPr>
              <a:defRPr sz="1650" b="0">
                <a:solidFill>
                  <a:srgbClr val="183C4D"/>
                </a:solidFill>
                <a:latin typeface="Noto Sans JP"/>
                <a:ea typeface="Noto Sans JP"/>
                <a:cs typeface="Noto Sans JP"/>
              </a:defRPr>
            </a:lvl8pPr>
            <a:lvl9pPr>
              <a:defRPr sz="1650" b="0">
                <a:solidFill>
                  <a:srgbClr val="183C4D"/>
                </a:solidFill>
                <a:latin typeface="Noto Sans JP"/>
                <a:ea typeface="Noto Sans JP"/>
                <a:cs typeface="Noto Sans JP"/>
              </a:defRPr>
            </a:lvl9pPr>
          </a:lstStyle>
          <a:p xmlns:a="http://schemas.openxmlformats.org/drawingml/2006/main">
            <a:pPr>
              <a:lnSpc>
                <a:spcPct val="108000"/>
              </a:lnSpc>
              <a:buNone/>
              <a:defRPr sz="1650" b="0">
                <a:solidFill>
                  <a:srgbClr val="183C4D"/>
                </a:solidFill>
                <a:latin typeface="Noto Sans JP"/>
                <a:ea typeface="Noto Sans JP"/>
                <a:cs typeface="Noto Sans JP"/>
              </a:defRPr>
            </a:pPr>
            <a:r>
              <a:rPr sz="1650" b="0">
                <a:solidFill>
                  <a:srgbClr val="183C4D"/>
                </a:solidFill>
                <a:latin typeface="Noto Sans JP"/>
                <a:ea typeface="Noto Sans JP"/>
                <a:cs typeface="Noto Sans JP"/>
              </a:rPr>
              <a:t>文脈〔要約〕：分析計画や条件の指定と、既存プログラムでの計算を分担する説明。</a:t>
            </a:r>
          </a:p>
        </p:txBody>
      </p:sp>
      <p:sp>
        <p:nvSpPr>
          <p:cNvPr id="12" name="boundary-Q46">
            <a:extLst xmlns:a="http://schemas.openxmlformats.org/drawingml/2006/main">
              <a:ext uri="{FF2B5EF4-FFF2-40B4-BE49-F238E27FC236}">
                <a16:creationId xmlns:a16="http://schemas.microsoft.com/office/drawing/2014/main" id="{636C55C0-A2DF-4B1D-9D2E-32FAED1D4B53}"/>
              </a:ext>
            </a:extLst>
          </p:cNvPr>
          <p:cNvSpPr>
            <a:spLocks xmlns:a="http://schemas.openxmlformats.org/drawingml/2006/main" noGrp="1"/>
          </p:cNvSpPr>
          <p:nvPr/>
        </p:nvSpPr>
        <p:spPr>
          <a:xfrm xmlns:a="http://schemas.openxmlformats.org/drawingml/2006/main">
            <a:off x="2286000" y="5429250"/>
            <a:ext cx="15163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26620"/>
                </a:solidFill>
                <a:latin typeface="Noto Sans JP"/>
                <a:ea typeface="Noto Sans JP"/>
                <a:cs typeface="Noto Sans JP"/>
              </a:defRPr>
            </a:defPPr>
            <a:lvl1pPr>
              <a:defRPr sz="1500" b="0">
                <a:solidFill>
                  <a:srgbClr val="926620"/>
                </a:solidFill>
                <a:latin typeface="Noto Sans JP"/>
                <a:ea typeface="Noto Sans JP"/>
                <a:cs typeface="Noto Sans JP"/>
              </a:defRPr>
            </a:lvl1pPr>
            <a:lvl2pPr>
              <a:defRPr sz="1500" b="0">
                <a:solidFill>
                  <a:srgbClr val="926620"/>
                </a:solidFill>
                <a:latin typeface="Noto Sans JP"/>
                <a:ea typeface="Noto Sans JP"/>
                <a:cs typeface="Noto Sans JP"/>
              </a:defRPr>
            </a:lvl2pPr>
            <a:lvl3pPr>
              <a:defRPr sz="1500" b="0">
                <a:solidFill>
                  <a:srgbClr val="926620"/>
                </a:solidFill>
                <a:latin typeface="Noto Sans JP"/>
                <a:ea typeface="Noto Sans JP"/>
                <a:cs typeface="Noto Sans JP"/>
              </a:defRPr>
            </a:lvl3pPr>
            <a:lvl4pPr>
              <a:defRPr sz="1500" b="0">
                <a:solidFill>
                  <a:srgbClr val="926620"/>
                </a:solidFill>
                <a:latin typeface="Noto Sans JP"/>
                <a:ea typeface="Noto Sans JP"/>
                <a:cs typeface="Noto Sans JP"/>
              </a:defRPr>
            </a:lvl4pPr>
            <a:lvl5pPr>
              <a:defRPr sz="1500" b="0">
                <a:solidFill>
                  <a:srgbClr val="926620"/>
                </a:solidFill>
                <a:latin typeface="Noto Sans JP"/>
                <a:ea typeface="Noto Sans JP"/>
                <a:cs typeface="Noto Sans JP"/>
              </a:defRPr>
            </a:lvl5pPr>
            <a:lvl6pPr>
              <a:defRPr sz="1500" b="0">
                <a:solidFill>
                  <a:srgbClr val="926620"/>
                </a:solidFill>
                <a:latin typeface="Noto Sans JP"/>
                <a:ea typeface="Noto Sans JP"/>
                <a:cs typeface="Noto Sans JP"/>
              </a:defRPr>
            </a:lvl6pPr>
            <a:lvl7pPr>
              <a:defRPr sz="1500" b="0">
                <a:solidFill>
                  <a:srgbClr val="926620"/>
                </a:solidFill>
                <a:latin typeface="Noto Sans JP"/>
                <a:ea typeface="Noto Sans JP"/>
                <a:cs typeface="Noto Sans JP"/>
              </a:defRPr>
            </a:lvl7pPr>
            <a:lvl8pPr>
              <a:defRPr sz="1500" b="0">
                <a:solidFill>
                  <a:srgbClr val="926620"/>
                </a:solidFill>
                <a:latin typeface="Noto Sans JP"/>
                <a:ea typeface="Noto Sans JP"/>
                <a:cs typeface="Noto Sans JP"/>
              </a:defRPr>
            </a:lvl8pPr>
            <a:lvl9pPr>
              <a:defRPr sz="1500" b="0">
                <a:solidFill>
                  <a:srgbClr val="926620"/>
                </a:solidFill>
                <a:latin typeface="Noto Sans JP"/>
                <a:ea typeface="Noto Sans JP"/>
                <a:cs typeface="Noto Sans JP"/>
              </a:defRPr>
            </a:lvl9pPr>
          </a:lstStyle>
          <a:p xmlns:a="http://schemas.openxmlformats.org/drawingml/2006/main">
            <a:pPr>
              <a:lnSpc>
                <a:spcPct val="108000"/>
              </a:lnSpc>
              <a:buNone/>
              <a:defRPr sz="1500" b="0">
                <a:solidFill>
                  <a:srgbClr val="926620"/>
                </a:solidFill>
                <a:latin typeface="Noto Sans JP"/>
                <a:ea typeface="Noto Sans JP"/>
                <a:cs typeface="Noto Sans JP"/>
              </a:defRPr>
            </a:pPr>
            <a:r>
              <a:rPr sz="1500" b="0">
                <a:solidFill>
                  <a:srgbClr val="926620"/>
                </a:solidFill>
                <a:latin typeface="Noto Sans JP"/>
                <a:ea typeface="Noto Sans JP"/>
                <a:cs typeface="Noto Sans JP"/>
              </a:rPr>
              <a:t>留保：AIが計算式を自由に生成する方式の根拠にはしない。</a:t>
            </a:r>
          </a:p>
        </p:txBody>
      </p:sp>
      <p:sp>
        <p:nvSpPr>
          <p:cNvPr id="13" name="ref-Q45">
            <a:extLst xmlns:a="http://schemas.openxmlformats.org/drawingml/2006/main">
              <a:ext uri="{FF2B5EF4-FFF2-40B4-BE49-F238E27FC236}">
                <a16:creationId xmlns:a16="http://schemas.microsoft.com/office/drawing/2014/main" id="{58BDFB13-B2FE-4340-AC0C-9E128DC6274C}"/>
              </a:ext>
            </a:extLst>
          </p:cNvPr>
          <p:cNvSpPr>
            <a:spLocks xmlns:a="http://schemas.openxmlformats.org/drawingml/2006/main" noGrp="1"/>
          </p:cNvSpPr>
          <p:nvPr/>
        </p:nvSpPr>
        <p:spPr>
          <a:xfrm xmlns:a="http://schemas.openxmlformats.org/drawingml/2006/main">
            <a:off x="838200"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2af7942dd8084e16"/>
              </a:rPr>
              <a:t>Q45 p.40</a:t>
            </a:r>
          </a:p>
        </p:txBody>
      </p:sp>
      <p:sp>
        <p:nvSpPr>
          <p:cNvPr id="14" name="ref-Q46">
            <a:extLst xmlns:a="http://schemas.openxmlformats.org/drawingml/2006/main">
              <a:ext uri="{FF2B5EF4-FFF2-40B4-BE49-F238E27FC236}">
                <a16:creationId xmlns:a16="http://schemas.microsoft.com/office/drawing/2014/main" id="{C969C7A7-0413-4D57-B415-733FE72DFD87}"/>
              </a:ext>
            </a:extLst>
          </p:cNvPr>
          <p:cNvSpPr>
            <a:spLocks xmlns:a="http://schemas.openxmlformats.org/drawingml/2006/main" noGrp="1"/>
          </p:cNvSpPr>
          <p:nvPr/>
        </p:nvSpPr>
        <p:spPr>
          <a:xfrm xmlns:a="http://schemas.openxmlformats.org/drawingml/2006/main">
            <a:off x="2200275" y="9153525"/>
            <a:ext cx="128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117D83"/>
                </a:solidFill>
                <a:latin typeface="Noto Sans JP"/>
                <a:ea typeface="Noto Sans JP"/>
                <a:cs typeface="Noto Sans JP"/>
              </a:defRPr>
            </a:defPPr>
            <a:lvl1pPr>
              <a:defRPr sz="1500" b="0">
                <a:solidFill>
                  <a:srgbClr val="117D83"/>
                </a:solidFill>
                <a:latin typeface="Noto Sans JP"/>
                <a:ea typeface="Noto Sans JP"/>
                <a:cs typeface="Noto Sans JP"/>
              </a:defRPr>
            </a:lvl1pPr>
            <a:lvl2pPr>
              <a:defRPr sz="1500" b="0">
                <a:solidFill>
                  <a:srgbClr val="117D83"/>
                </a:solidFill>
                <a:latin typeface="Noto Sans JP"/>
                <a:ea typeface="Noto Sans JP"/>
                <a:cs typeface="Noto Sans JP"/>
              </a:defRPr>
            </a:lvl2pPr>
            <a:lvl3pPr>
              <a:defRPr sz="1500" b="0">
                <a:solidFill>
                  <a:srgbClr val="117D83"/>
                </a:solidFill>
                <a:latin typeface="Noto Sans JP"/>
                <a:ea typeface="Noto Sans JP"/>
                <a:cs typeface="Noto Sans JP"/>
              </a:defRPr>
            </a:lvl3pPr>
            <a:lvl4pPr>
              <a:defRPr sz="1500" b="0">
                <a:solidFill>
                  <a:srgbClr val="117D83"/>
                </a:solidFill>
                <a:latin typeface="Noto Sans JP"/>
                <a:ea typeface="Noto Sans JP"/>
                <a:cs typeface="Noto Sans JP"/>
              </a:defRPr>
            </a:lvl4pPr>
            <a:lvl5pPr>
              <a:defRPr sz="1500" b="0">
                <a:solidFill>
                  <a:srgbClr val="117D83"/>
                </a:solidFill>
                <a:latin typeface="Noto Sans JP"/>
                <a:ea typeface="Noto Sans JP"/>
                <a:cs typeface="Noto Sans JP"/>
              </a:defRPr>
            </a:lvl5pPr>
            <a:lvl6pPr>
              <a:defRPr sz="1500" b="0">
                <a:solidFill>
                  <a:srgbClr val="117D83"/>
                </a:solidFill>
                <a:latin typeface="Noto Sans JP"/>
                <a:ea typeface="Noto Sans JP"/>
                <a:cs typeface="Noto Sans JP"/>
              </a:defRPr>
            </a:lvl6pPr>
            <a:lvl7pPr>
              <a:defRPr sz="1500" b="0">
                <a:solidFill>
                  <a:srgbClr val="117D83"/>
                </a:solidFill>
                <a:latin typeface="Noto Sans JP"/>
                <a:ea typeface="Noto Sans JP"/>
                <a:cs typeface="Noto Sans JP"/>
              </a:defRPr>
            </a:lvl7pPr>
            <a:lvl8pPr>
              <a:defRPr sz="1500" b="0">
                <a:solidFill>
                  <a:srgbClr val="117D83"/>
                </a:solidFill>
                <a:latin typeface="Noto Sans JP"/>
                <a:ea typeface="Noto Sans JP"/>
                <a:cs typeface="Noto Sans JP"/>
              </a:defRPr>
            </a:lvl8pPr>
            <a:lvl9pPr>
              <a:defRPr sz="1500" b="0">
                <a:solidFill>
                  <a:srgbClr val="117D83"/>
                </a:solidFill>
                <a:latin typeface="Noto Sans JP"/>
                <a:ea typeface="Noto Sans JP"/>
                <a:cs typeface="Noto Sans JP"/>
              </a:defRPr>
            </a:lvl9pPr>
          </a:lstStyle>
          <a:p xmlns:a="http://schemas.openxmlformats.org/drawingml/2006/main">
            <a:pPr>
              <a:lnSpc>
                <a:spcPct val="108000"/>
              </a:lnSpc>
              <a:buNone/>
              <a:defRPr sz="1500" b="0">
                <a:solidFill>
                  <a:srgbClr val="117D83"/>
                </a:solidFill>
                <a:latin typeface="Noto Sans JP"/>
                <a:ea typeface="Noto Sans JP"/>
                <a:cs typeface="Noto Sans JP"/>
              </a:defRPr>
            </a:pPr>
            <a:r>
              <a:rPr sz="1500" b="0">
                <a:solidFill>
                  <a:srgbClr val="117D83"/>
                </a:solidFill>
                <a:latin typeface="Noto Sans JP"/>
                <a:ea typeface="Noto Sans JP"/>
                <a:cs typeface="Noto Sans JP"/>
                <a:hlinkClick xmlns:r="http://schemas.openxmlformats.org/officeDocument/2006/relationships" r:id="Rad84107ab6264d12"/>
              </a:rPr>
              <a:t>Q46 p.40</a:t>
            </a:r>
          </a:p>
        </p:txBody>
      </p:sp>
      <p:sp>
        <p:nvSpPr>
          <p:cNvPr id="15" name="disclosure">
            <a:extLst xmlns:a="http://schemas.openxmlformats.org/drawingml/2006/main">
              <a:ext uri="{FF2B5EF4-FFF2-40B4-BE49-F238E27FC236}">
                <a16:creationId xmlns:a16="http://schemas.microsoft.com/office/drawing/2014/main" id="{715E2899-C63D-4538-9453-9BE842C8AF0B}"/>
              </a:ext>
            </a:extLst>
          </p:cNvPr>
          <p:cNvSpPr>
            <a:spLocks xmlns:a="http://schemas.openxmlformats.org/drawingml/2006/main" noGrp="1"/>
          </p:cNvSpPr>
          <p:nvPr/>
        </p:nvSpPr>
        <p:spPr>
          <a:xfrm xmlns:a="http://schemas.openxmlformats.org/drawingml/2006/main">
            <a:off x="838200" y="9553575"/>
            <a:ext cx="1543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掲載位置・原典URL・前後関係は各Q番号のリンクとノートで確認できる。代表的な抜粋であり、全文の代わりではない。</a:t>
            </a:r>
          </a:p>
        </p:txBody>
      </p:sp>
      <p:sp>
        <p:nvSpPr>
          <p:cNvPr id="16" name="page">
            <a:extLst xmlns:a="http://schemas.openxmlformats.org/drawingml/2006/main">
              <a:ext uri="{FF2B5EF4-FFF2-40B4-BE49-F238E27FC236}">
                <a16:creationId xmlns:a16="http://schemas.microsoft.com/office/drawing/2014/main" id="{C11F75F8-5E7A-43BF-9DCD-84FB007B30C0}"/>
              </a:ext>
            </a:extLst>
          </p:cNvPr>
          <p:cNvSpPr>
            <a:spLocks xmlns:a="http://schemas.openxmlformats.org/drawingml/2006/main" noGrp="1"/>
          </p:cNvSpPr>
          <p:nvPr/>
        </p:nvSpPr>
        <p:spPr>
          <a:xfrm xmlns:a="http://schemas.openxmlformats.org/drawingml/2006/main">
            <a:off x="16621125" y="95726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536C78"/>
                </a:solidFill>
                <a:latin typeface="Noto Sans JP"/>
                <a:ea typeface="Noto Sans JP"/>
                <a:cs typeface="Noto Sans JP"/>
              </a:defRPr>
            </a:defPPr>
            <a:lvl1pPr>
              <a:defRPr sz="1575" b="0">
                <a:solidFill>
                  <a:srgbClr val="536C78"/>
                </a:solidFill>
                <a:latin typeface="Noto Sans JP"/>
                <a:ea typeface="Noto Sans JP"/>
                <a:cs typeface="Noto Sans JP"/>
              </a:defRPr>
            </a:lvl1pPr>
            <a:lvl2pPr>
              <a:defRPr sz="1575" b="0">
                <a:solidFill>
                  <a:srgbClr val="536C78"/>
                </a:solidFill>
                <a:latin typeface="Noto Sans JP"/>
                <a:ea typeface="Noto Sans JP"/>
                <a:cs typeface="Noto Sans JP"/>
              </a:defRPr>
            </a:lvl2pPr>
            <a:lvl3pPr>
              <a:defRPr sz="1575" b="0">
                <a:solidFill>
                  <a:srgbClr val="536C78"/>
                </a:solidFill>
                <a:latin typeface="Noto Sans JP"/>
                <a:ea typeface="Noto Sans JP"/>
                <a:cs typeface="Noto Sans JP"/>
              </a:defRPr>
            </a:lvl3pPr>
            <a:lvl4pPr>
              <a:defRPr sz="1575" b="0">
                <a:solidFill>
                  <a:srgbClr val="536C78"/>
                </a:solidFill>
                <a:latin typeface="Noto Sans JP"/>
                <a:ea typeface="Noto Sans JP"/>
                <a:cs typeface="Noto Sans JP"/>
              </a:defRPr>
            </a:lvl4pPr>
            <a:lvl5pPr>
              <a:defRPr sz="1575" b="0">
                <a:solidFill>
                  <a:srgbClr val="536C78"/>
                </a:solidFill>
                <a:latin typeface="Noto Sans JP"/>
                <a:ea typeface="Noto Sans JP"/>
                <a:cs typeface="Noto Sans JP"/>
              </a:defRPr>
            </a:lvl5pPr>
            <a:lvl6pPr>
              <a:defRPr sz="1575" b="0">
                <a:solidFill>
                  <a:srgbClr val="536C78"/>
                </a:solidFill>
                <a:latin typeface="Noto Sans JP"/>
                <a:ea typeface="Noto Sans JP"/>
                <a:cs typeface="Noto Sans JP"/>
              </a:defRPr>
            </a:lvl6pPr>
            <a:lvl7pPr>
              <a:defRPr sz="1575" b="0">
                <a:solidFill>
                  <a:srgbClr val="536C78"/>
                </a:solidFill>
                <a:latin typeface="Noto Sans JP"/>
                <a:ea typeface="Noto Sans JP"/>
                <a:cs typeface="Noto Sans JP"/>
              </a:defRPr>
            </a:lvl7pPr>
            <a:lvl8pPr>
              <a:defRPr sz="1575" b="0">
                <a:solidFill>
                  <a:srgbClr val="536C78"/>
                </a:solidFill>
                <a:latin typeface="Noto Sans JP"/>
                <a:ea typeface="Noto Sans JP"/>
                <a:cs typeface="Noto Sans JP"/>
              </a:defRPr>
            </a:lvl8pPr>
            <a:lvl9pPr>
              <a:defRPr sz="1575" b="0">
                <a:solidFill>
                  <a:srgbClr val="536C78"/>
                </a:solidFill>
                <a:latin typeface="Noto Sans JP"/>
                <a:ea typeface="Noto Sans JP"/>
                <a:cs typeface="Noto Sans JP"/>
              </a:defRPr>
            </a:lvl9pPr>
          </a:lstStyle>
          <a:p xmlns:a="http://schemas.openxmlformats.org/drawingml/2006/main">
            <a:pPr>
              <a:lnSpc>
                <a:spcPct val="108000"/>
              </a:lnSpc>
              <a:buNone/>
              <a:defRPr sz="1575" b="0">
                <a:solidFill>
                  <a:srgbClr val="536C78"/>
                </a:solidFill>
                <a:latin typeface="Noto Sans JP"/>
                <a:ea typeface="Noto Sans JP"/>
                <a:cs typeface="Noto Sans JP"/>
              </a:defRPr>
            </a:pPr>
            <a:r>
              <a:rPr sz="1575" b="0">
                <a:solidFill>
                  <a:srgbClr val="536C78"/>
                </a:solidFill>
                <a:latin typeface="Noto Sans JP"/>
                <a:ea typeface="Noto Sans JP"/>
                <a:cs typeface="Noto Sans JP"/>
              </a:rPr>
              <a:t>40 / 40</a:t>
            </a:r>
          </a:p>
        </p:txBody>
      </p:sp>
    </p:spTree>
    <p:extLst>
      <p:ext uri="{BB962C8B-B14F-4D97-AF65-F5344CB8AC3E}">
        <p14:creationId xmlns:p14="http://schemas.microsoft.com/office/powerpoint/2010/main" val="1538705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2026-10-22T01:23:44.5940000Z</dcterms:created>
  <dcterms:modified xsi:type="dcterms:W3CDTF">2026-10-22T01:23:44.5940000Z</dcterms:modified>
</coreProperties>
</file>