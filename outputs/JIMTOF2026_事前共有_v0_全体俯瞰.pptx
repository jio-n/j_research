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08a10a19f8406a" /><Relationship Type="http://schemas.openxmlformats.org/officeDocument/2006/relationships/extended-properties" Target="/docProps/app.xml" Id="Rc4b23ed3e1094652" /><Relationship Type="http://schemas.openxmlformats.org/officeDocument/2006/relationships/officeDocument" Target="/ppt/presentation.xml" Id="R94f557773adf46c7" /></Relationships>
</file>

<file path=ppt/presentation.xml><?xml version="1.0" encoding="utf-8"?>
<p:presentation xmlns:p="http://schemas.openxmlformats.org/presentationml/2006/main">
  <p:sldMasterIdLst>
    <p:sldMasterId xmlns:r="http://schemas.openxmlformats.org/officeDocument/2006/relationships" id="2147483648" r:id="Rb07e70835429463b"/>
  </p:sldMasterIdLst>
  <p:notesMasterIdLst>
    <p:notesMasterId xmlns:r="http://schemas.openxmlformats.org/officeDocument/2006/relationships" r:id="R1b18743ecc8e443a"/>
  </p:notesMasterIdLst>
  <p:sldIdLst>
    <p:sldId xmlns:r="http://schemas.openxmlformats.org/officeDocument/2006/relationships" id="256" r:id="R8a0c699f76b54c1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1c6c3be1f846c9" /><Relationship Type="http://schemas.openxmlformats.org/officeDocument/2006/relationships/slideMaster" Target="/ppt/slideMasters/slideMaster1.xml" Id="Rb07e70835429463b" /><Relationship Type="http://schemas.openxmlformats.org/officeDocument/2006/relationships/notesMaster" Target="/ppt/notesMasters/notesMaster1.xml" Id="R1b18743ecc8e443a" /><Relationship Type="http://schemas.openxmlformats.org/officeDocument/2006/relationships/presProps" Target="/ppt/presProps.xml" Id="R81c82044f5b740bf" /><Relationship Type="http://schemas.openxmlformats.org/officeDocument/2006/relationships/tableStyles" Target="/ppt/tableStyles.xml" Id="R45540534fa9f47d4" /><Relationship Type="http://schemas.openxmlformats.org/officeDocument/2006/relationships/slide" Target="/ppt/slides/slide1.xml" Id="R8a0c699f76b54c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0a999f585a43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719c8c2ee14db6" /><Relationship Type="http://schemas.openxmlformats.org/officeDocument/2006/relationships/notesMaster" Target="/ppt/notesMasters/notesMaster1.xml" Id="Rc856f9121bc04e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準備の技能依存には図面・工程・コードの生成支援、加工のばらつきにはモデルと計測を使う調整が提案されている。</a:t>
            </a:r>
          </a:p>
          <a:p xmlns:a="http://schemas.openxmlformats.org/drawingml/2006/main">
            <a:r>
              <a:t>検査・交換判断には画像や稼働データ、段取り・付帯作業には交換機構と認識を使うロボットを組み合わせる。</a:t>
            </a:r>
          </a:p>
          <a:p xmlns:a="http://schemas.openxmlformats.org/drawingml/2006/main">
            <a:r>
              <a:t/>
            </a:r>
          </a:p>
          <a:p xmlns:a="http://schemas.openxmlformats.org/drawingml/2006/main">
            <a:r>
              <a:t>2024にもAI判定・自動CAM・機上補正・段取り自動化は存在した。</a:t>
            </a:r>
          </a:p>
          <a:p xmlns:a="http://schemas.openxmlformats.org/drawingml/2006/main">
            <a:r>
              <a:t>2026の注目は、案を作る仕事の拡張、測定から次の工程判断への接続、変動する付帯作業への適用。新登場と継続は分けて見る。</a:t>
            </a:r>
          </a:p>
          <a:p xmlns:a="http://schemas.openxmlformats.org/drawingml/2006/main">
            <a:r>
              <a:t/>
            </a:r>
          </a:p>
          <a:p xmlns:a="http://schemas.openxmlformats.org/drawingml/2006/main">
            <a:r>
              <a:t>人が情報を集め直し、条件を調整し、品種変更へ対応する仕事を減らす方向が考えられる。</a:t>
            </a:r>
          </a:p>
          <a:p xmlns:a="http://schemas.openxmlformats.org/drawingml/2006/main">
            <a:r>
              <a:t>個別機能を工程の流れに組み込み、適用できる品種・条件と、人が担う仕事を具体化することが焦点になる。</a:t>
            </a:r>
          </a:p>
          <a:p xmlns:a="http://schemas.openxmlformats.org/drawingml/2006/main">
            <a:r>
              <a:t/>
            </a:r>
          </a:p>
          <a:p xmlns:a="http://schemas.openxmlformats.org/drawingml/2006/main">
            <a:r>
              <a:t>重点候補は、加工知識を扱う生産準備AI、品質・工具状態を使う自律加工、付帯作業に特化したフィジカルAI。</a:t>
            </a:r>
          </a:p>
          <a:p xmlns:a="http://schemas.openxmlformats.org/drawingml/2006/main">
            <a:r>
              <a:t>工場運用AIは一つの例外業務から適用を検討する。既存製品との差と顧客需要を確かめ、開発範囲を絞る。</a:t>
            </a:r>
          </a:p>
          <a:p xmlns:a="http://schemas.openxmlformats.org/drawingml/2006/main">
            <a:r>
              <a:t/>
            </a:r>
          </a:p>
          <a:p xmlns:a="http://schemas.openxmlformats.org/drawingml/2006/main">
            <a:r>
              <a:t>D1-S [分析（顧客ニーズは調査者の整理）] 見積・工程検討・制御設計のたたき台をAIが作り、熟練者がゼロから考える負担を減らす。</a:t>
            </a:r>
          </a:p>
          <a:p xmlns:a="http://schemas.openxmlformats.org/drawingml/2006/main">
            <a:r>
              <a:t>図面の読取りや過去案件の探索、加工順序・工具経路・制御コードの作成に、時間と経験が必要になる。</a:t>
            </a:r>
          </a:p>
          <a:p xmlns:a="http://schemas.openxmlformats.org/drawingml/2006/main">
            <a:r>
              <a:t>Evidence:EAT-N03,EAT-N05,EAT-N06,EDP-03,EDP-05,EDP-07,EDP-08,EDP-09,EDP-10,EDP-11,EEX-EXH-2024-eb84f3b7fa9cf6db,EEX-EXH-2026-0436fc7b61f51a8e,EEX-EXH-2026-3b6a1de81c17dfee,EOV-V005-2026-1,EOV-V006-2024-1,EOV-V006-2026-1,EOV-V007-2026-2,EOV-V008-2024-1,EOV-V008-2024-2,EOV-V008-2026-1,EOV-V014-2026-1,EOV-V041-2026-1,EOV-W02,ERF-01,ERF-03,ERF-04</a:t>
            </a:r>
          </a:p>
          <a:p xmlns:a="http://schemas.openxmlformats.org/drawingml/2006/main">
            <a:r>
              <a:t>限界:共通部品・工程での対応範囲や実際の工数削減は未検証。複数の製品が一つにつながって自動運用できるとは確認していない。</a:t>
            </a:r>
          </a:p>
          <a:p xmlns:a="http://schemas.openxmlformats.org/drawingml/2006/main">
            <a:r>
              <a:t/>
            </a:r>
          </a:p>
          <a:p xmlns:a="http://schemas.openxmlformats.org/drawingml/2006/main">
            <a:r>
              <a:t>D1-T [公式説明の比較と横断分析] AIによるPLCコード支援やCAMの作成支援は2024以前にも存在。自動プログラム作成が2026に初めて生まれたわけではない。</a:t>
            </a:r>
          </a:p>
          <a:p xmlns:a="http://schemas.openxmlformats.org/drawingml/2006/main">
            <a:r>
              <a:t>2025–2026の資料では、見積の一連の作業や工程案、PLC以外のI/O設定・HMIなど、支援する仕事と設計環境への組込みが具体化している。</a:t>
            </a:r>
          </a:p>
          <a:p xmlns:a="http://schemas.openxmlformats.org/drawingml/2006/main">
            <a:r>
              <a:t>Evidence:EAT-N03,EAT-N05,EAT-N06,EDP-03,EDP-05,EDP-07,EDP-08,EDP-09,EDP-10,EDP-11,EEX-EXH-2024-eb84f3b7fa9cf6db,EEX-EXH-2026-0436fc7b61f51a8e,EEX-EXH-2026-3b6a1de81c17dfee,EOV-V005-2026-1,EOV-V006-2024-1,EOV-V006-2026-1,EOV-V007-2026-2,EOV-V008-2024-1,EOV-V008-2024-2,EOV-V008-2026-1,EOV-V014-2026-1,EOV-V041-2026-1,EOV-W02,ERF-01,ERF-03,ERF-04</a:t>
            </a:r>
          </a:p>
          <a:p xmlns:a="http://schemas.openxmlformats.org/drawingml/2006/main">
            <a:r>
              <a:t>限界:共通部品・工程での対応範囲や実際の工数削減は未検証。複数の製品が一つにつながって自動運用できるとは確認していない。</a:t>
            </a:r>
          </a:p>
          <a:p xmlns:a="http://schemas.openxmlformats.org/drawingml/2006/main">
            <a:r>
              <a:t/>
            </a:r>
          </a:p>
          <a:p xmlns:a="http://schemas.openxmlformats.org/drawingml/2006/main">
            <a:r>
              <a:t>D1-F [将来方向の仮説] 図面・工具・機械・加工履歴を結び、案の生成後も担当者の修正を次の準備に生かす方向が考えられる。</a:t>
            </a:r>
          </a:p>
          <a:p xmlns:a="http://schemas.openxmlformats.org/drawingml/2006/main">
            <a:r>
              <a:t>Evidence:EAT-N03,EAT-N05,EAT-N06,EDP-03,EDP-05,EDP-07,EDP-08,EDP-09,EDP-10,EDP-11,EEX-EXH-2024-eb84f3b7fa9cf6db,EEX-EXH-2026-0436fc7b61f51a8e,EEX-EXH-2026-3b6a1de81c17dfee,EOV-V005-2026-1,EOV-V006-2024-1,EOV-V006-2026-1,EOV-V007-2026-2,EOV-V008-2024-1,EOV-V008-2024-2,EOV-V008-2026-1,EOV-V014-2026-1,EOV-V041-2026-1,EOV-W02,ERF-01,ERF-03,ERF-04</a:t>
            </a:r>
          </a:p>
          <a:p xmlns:a="http://schemas.openxmlformats.org/drawingml/2006/main">
            <a:r>
              <a:t>限界:共通部品・工程での対応範囲や実際の工数削減は未検証。複数の製品が一つにつながって自動運用できるとは確認していない。</a:t>
            </a:r>
          </a:p>
          <a:p xmlns:a="http://schemas.openxmlformats.org/drawingml/2006/main">
            <a:r>
              <a:t/>
            </a:r>
          </a:p>
          <a:p xmlns:a="http://schemas.openxmlformats.org/drawingml/2006/main">
            <a:r>
              <a:t>D1-R [研究開発の提案・未検証仮説] 加工知識を扱う生産準備AIを重点候補とし、特定の部品群で工程案とNC検証までをつなぐ。</a:t>
            </a:r>
          </a:p>
          <a:p xmlns:a="http://schemas.openxmlformats.org/drawingml/2006/main">
            <a:r>
              <a:t>Evidence:EAT-N03,EAT-N05,EAT-N06,EDP-03,EDP-05,EDP-07,EDP-08,EDP-09,EDP-10,EDP-11,EEX-EXH-2024-eb84f3b7fa9cf6db,EEX-EXH-2026-0436fc7b61f51a8e,EEX-EXH-2026-3b6a1de81c17dfee,EOV-V005-2026-1,EOV-V006-2024-1,EOV-V006-2026-1,EOV-V007-2026-2,EOV-V008-2024-1,EOV-V008-2024-2,EOV-V008-2026-1,EOV-V014-2026-1,EOV-V041-2026-1,EOV-W02,ERF-01,ERF-03,ERF-04</a:t>
            </a:r>
          </a:p>
          <a:p xmlns:a="http://schemas.openxmlformats.org/drawingml/2006/main">
            <a:r>
              <a:t>限界:共通部品・工程での対応範囲や実際の工数削減は未検証。複数の製品が一つにつながって自動運用できるとは確認していない。</a:t>
            </a:r>
          </a:p>
          <a:p xmlns:a="http://schemas.openxmlformats.org/drawingml/2006/main">
            <a:r>
              <a:t/>
            </a:r>
          </a:p>
          <a:p xmlns:a="http://schemas.openxmlformats.org/drawingml/2006/main">
            <a:r>
              <a:t>D2-S [分析（顧客ニーズは調査者の整理）] 加工負荷・温度・寸法の変化を捉えて条件を調整し、加工時間と品質のばらつきを抑える。</a:t>
            </a:r>
          </a:p>
          <a:p xmlns:a="http://schemas.openxmlformats.org/drawingml/2006/main">
            <a:r>
              <a:t>余裕を持たせすぎた加工条件は時間を延ばし、過負荷・熱変位・工具状態の変化は品質や停止に影響する。</a:t>
            </a:r>
          </a:p>
          <a:p xmlns:a="http://schemas.openxmlformats.org/drawingml/2006/main">
            <a:r>
              <a:t>Evidence:EAT-N08,EDP-02,EEX-EXH-2024-76ac534a229f7c29,EEX-EXH-2026-a0cbad27ea34d7c4,EOV-V003-2024-1,EOV-V003-2026-1,EOV-V004-2024-1,EOV-V004-2026-1,EOV-V009-2024-1,EOV-V009-2026-1,EOV-V018-2024-1,EOV-V018-2026-1,EOV-V034-2024-1,EOV-V034-2026-1,EOV-W03,RPT-EXH-2024-151b23d9e05ccb13,RPT-EXH-2026-107042c6cf64ba96,RPT-EXH-2026-3f24aaee60d77db1,RPT-S01,RPT-S02,RPT-S03,RPT-S04,RPT-S05</a:t>
            </a:r>
          </a:p>
          <a:p xmlns:a="http://schemas.openxmlformats.org/drawingml/2006/main">
            <a:r>
              <a:t>限界:測定と補正の連携自体は既存。各社の性能向上や、材料・工具が変わった際の適応範囲は資料だけでは比較できない。</a:t>
            </a:r>
          </a:p>
          <a:p xmlns:a="http://schemas.openxmlformats.org/drawingml/2006/main">
            <a:r>
              <a:t/>
            </a:r>
          </a:p>
          <a:p xmlns:a="http://schemas.openxmlformats.org/drawingml/2006/main">
            <a:r>
              <a:t>D2-T [公式説明の比較と横断分析] 負荷に応じた送り制御、NCの事前最適化、測定結果による工具補正は2024にも掲載されている。</a:t>
            </a:r>
          </a:p>
          <a:p xmlns:a="http://schemas.openxmlformats.org/drawingml/2006/main">
            <a:r>
              <a:t>2026は、工具の3D計測と補正加工の一体化や、加工前のワーク情報を条件調整へ使う提案が見られる。後者には開発中の機能も含む。</a:t>
            </a:r>
          </a:p>
          <a:p xmlns:a="http://schemas.openxmlformats.org/drawingml/2006/main">
            <a:r>
              <a:t>Evidence:EAT-N08,EDP-02,EEX-EXH-2024-76ac534a229f7c29,EEX-EXH-2026-a0cbad27ea34d7c4,EOV-V003-2024-1,EOV-V003-2026-1,EOV-V004-2024-1,EOV-V004-2026-1,EOV-V009-2024-1,EOV-V009-2026-1,EOV-V018-2024-1,EOV-V018-2026-1,EOV-V034-2024-1,EOV-V034-2026-1,EOV-W03,RPT-EXH-2024-151b23d9e05ccb13,RPT-EXH-2026-107042c6cf64ba96,RPT-EXH-2026-3f24aaee60d77db1,RPT-S01,RPT-S02,RPT-S03,RPT-S04,RPT-S05</a:t>
            </a:r>
          </a:p>
          <a:p xmlns:a="http://schemas.openxmlformats.org/drawingml/2006/main">
            <a:r>
              <a:t>限界:測定と補正の連携自体は既存。各社の性能向上や、材料・工具が変わった際の適応範囲は資料だけでは比較できない。</a:t>
            </a:r>
          </a:p>
          <a:p xmlns:a="http://schemas.openxmlformats.org/drawingml/2006/main">
            <a:r>
              <a:t/>
            </a:r>
          </a:p>
          <a:p xmlns:a="http://schemas.openxmlformats.org/drawingml/2006/main">
            <a:r>
              <a:t>D2-F [将来方向の仮説] 事前の加工予測と加工中・加工後の実測を組み合わせ、条件が変わっても狙いの品質へ近づける加工が開発の方向になる。</a:t>
            </a:r>
          </a:p>
          <a:p xmlns:a="http://schemas.openxmlformats.org/drawingml/2006/main">
            <a:r>
              <a:t>Evidence:EAT-N08,EDP-02,EEX-EXH-2024-76ac534a229f7c29,EEX-EXH-2026-a0cbad27ea34d7c4,EOV-V003-2024-1,EOV-V003-2026-1,EOV-V004-2024-1,EOV-V004-2026-1,EOV-V009-2024-1,EOV-V009-2026-1,EOV-V018-2024-1,EOV-V018-2026-1,EOV-V034-2024-1,EOV-V034-2026-1,EOV-W03,RPT-EXH-2024-151b23d9e05ccb13,RPT-EXH-2026-107042c6cf64ba96,RPT-EXH-2026-3f24aaee60d77db1,RPT-S01,RPT-S02,RPT-S03,RPT-S04,RPT-S05</a:t>
            </a:r>
          </a:p>
          <a:p xmlns:a="http://schemas.openxmlformats.org/drawingml/2006/main">
            <a:r>
              <a:t>限界:測定と補正の連携自体は既存。各社の性能向上や、材料・工具が変わった際の適応範囲は資料だけでは比較できない。</a:t>
            </a:r>
          </a:p>
          <a:p xmlns:a="http://schemas.openxmlformats.org/drawingml/2006/main">
            <a:r>
              <a:t/>
            </a:r>
          </a:p>
          <a:p xmlns:a="http://schemas.openxmlformats.org/drawingml/2006/main">
            <a:r>
              <a:t>D2-R [研究開発の提案・未検証仮説] 物理モデルと工程内計測を使う適応加工を候補とし、加工条件と工具・寸法補正を一つの対象工程で扱う。</a:t>
            </a:r>
          </a:p>
          <a:p xmlns:a="http://schemas.openxmlformats.org/drawingml/2006/main">
            <a:r>
              <a:t>Evidence:EAT-N08,EDP-02,EEX-EXH-2024-76ac534a229f7c29,EEX-EXH-2026-a0cbad27ea34d7c4,EOV-V003-2024-1,EOV-V003-2026-1,EOV-V004-2024-1,EOV-V004-2026-1,EOV-V009-2024-1,EOV-V009-2026-1,EOV-V018-2024-1,EOV-V018-2026-1,EOV-V034-2024-1,EOV-V034-2026-1,EOV-W03,RPT-EXH-2024-151b23d9e05ccb13,RPT-EXH-2026-107042c6cf64ba96,RPT-EXH-2026-3f24aaee60d77db1,RPT-S01,RPT-S02,RPT-S03,RPT-S04,RPT-S05</a:t>
            </a:r>
          </a:p>
          <a:p xmlns:a="http://schemas.openxmlformats.org/drawingml/2006/main">
            <a:r>
              <a:t>限界:測定と補正の連携自体は既存。各社の性能向上や、材料・工具が変わった際の適応範囲は資料だけでは比較できない。</a:t>
            </a:r>
          </a:p>
          <a:p xmlns:a="http://schemas.openxmlformats.org/drawingml/2006/main">
            <a:r>
              <a:t/>
            </a:r>
          </a:p>
          <a:p xmlns:a="http://schemas.openxmlformats.org/drawingml/2006/main">
            <a:r>
              <a:t>D3-S [分析（顧客ニーズは調査者の整理）] 人が目や経験で行う外観・摩耗・設備状態の判断を、画像や稼働データで支援する。</a:t>
            </a:r>
          </a:p>
          <a:p xmlns:a="http://schemas.openxmlformats.org/drawingml/2006/main">
            <a:r>
              <a:t>検査や工具交換の判断が人によって揺れ、不良の見逃し、工具の早すぎる交換、突発停止につながる。</a:t>
            </a:r>
          </a:p>
          <a:p xmlns:a="http://schemas.openxmlformats.org/drawingml/2006/main">
            <a:r>
              <a:t>Evidence:EAT-V043-2024-1,EAT-V043-2026-1,EDP-12,EDP-13,EDP-14,EDP-15,EDP-33,EEX-EXH-2024-a2fae1d1864676d1,EEX-EXH-2024-b0a94c1cd407ea8a,EEX-EXH-2026-19ce238d137fe275,EEX-EXH-2026-308c5194f12fe009,EOV-V019-2024-1,EOV-V019-2026-1,EOV-V020-2024-1,EOV-V020-2026-1,EOV-V021-2026-1,EOV-V022-2024-1,EOV-V022-2026-1,EOV-V023-2024-1,EOV-V023-2026-1,EOV-V024-2024-1,EOV-V024-2026-1,EOV-V032-2024-1,EOV-V032-2026-1,EOV-V042-2026-1,EOV-W06,EOV-W08,ERF-05,RPT-EXH-2024-2caebd449015630d,RPT-EXH-2026-2c48cf1373cedc75</a:t>
            </a:r>
          </a:p>
          <a:p xmlns:a="http://schemas.openxmlformats.org/drawingml/2006/main">
            <a:r>
              <a:t>限界:追加学習は2025に発表済み、寿命予測には以前の研究発表もある。2026初の発明や、全工具での精度向上とは判断しない。</a:t>
            </a:r>
          </a:p>
          <a:p xmlns:a="http://schemas.openxmlformats.org/drawingml/2006/main">
            <a:r>
              <a:t/>
            </a:r>
          </a:p>
          <a:p xmlns:a="http://schemas.openxmlformats.org/drawingml/2006/main">
            <a:r>
              <a:t>D3-T [公式説明の比較と横断分析] AIによる工具の欠け・摩耗判定、設備のAI診断、工具・工程監視は2024にも存在している。</a:t>
            </a:r>
          </a:p>
          <a:p xmlns:a="http://schemas.openxmlformats.org/drawingml/2006/main">
            <a:r>
              <a:t>2025–2026の資料では、誤判定を追加学習で調整する機能や、摩耗の記録を寿命・交換時期の提案へ使う内容が具体化。耐環境撮像や工具長測定との組合せも見られる。</a:t>
            </a:r>
          </a:p>
          <a:p xmlns:a="http://schemas.openxmlformats.org/drawingml/2006/main">
            <a:r>
              <a:t>Evidence:EAT-V043-2024-1,EAT-V043-2026-1,EDP-12,EDP-13,EDP-14,EDP-15,EDP-33,EEX-EXH-2024-a2fae1d1864676d1,EEX-EXH-2024-b0a94c1cd407ea8a,EEX-EXH-2026-19ce238d137fe275,EEX-EXH-2026-308c5194f12fe009,EOV-V019-2024-1,EOV-V019-2026-1,EOV-V020-2024-1,EOV-V020-2026-1,EOV-V021-2026-1,EOV-V022-2024-1,EOV-V022-2026-1,EOV-V023-2024-1,EOV-V023-2026-1,EOV-V024-2024-1,EOV-V024-2026-1,EOV-V032-2024-1,EOV-V032-2026-1,EOV-V042-2026-1,EOV-W06,EOV-W08,ERF-05,RPT-EXH-2024-2caebd449015630d,RPT-EXH-2026-2c48cf1373cedc75</a:t>
            </a:r>
          </a:p>
          <a:p xmlns:a="http://schemas.openxmlformats.org/drawingml/2006/main">
            <a:r>
              <a:t>限界:追加学習は2025に発表済み、寿命予測には以前の研究発表もある。2026初の発明や、全工具での精度向上とは判断しない。</a:t>
            </a:r>
          </a:p>
          <a:p xmlns:a="http://schemas.openxmlformats.org/drawingml/2006/main">
            <a:r>
              <a:t/>
            </a:r>
          </a:p>
          <a:p xmlns:a="http://schemas.openxmlformats.org/drawingml/2006/main">
            <a:r>
              <a:t>D3-F [将来方向の仮説] 単独の合否・診断を、加工履歴や測定・品質情報と結び、加工継続・交換・保全を選ぶ判断支援へ発展させる余地がある。</a:t>
            </a:r>
          </a:p>
          <a:p xmlns:a="http://schemas.openxmlformats.org/drawingml/2006/main">
            <a:r>
              <a:t>Evidence:EAT-V043-2024-1,EAT-V043-2026-1,EDP-12,EDP-13,EDP-14,EDP-15,EDP-33,EEX-EXH-2024-a2fae1d1864676d1,EEX-EXH-2024-b0a94c1cd407ea8a,EEX-EXH-2026-19ce238d137fe275,EEX-EXH-2026-308c5194f12fe009,EOV-V019-2024-1,EOV-V019-2026-1,EOV-V020-2024-1,EOV-V020-2026-1,EOV-V021-2026-1,EOV-V022-2024-1,EOV-V022-2026-1,EOV-V023-2024-1,EOV-V023-2026-1,EOV-V024-2024-1,EOV-V024-2026-1,EOV-V032-2024-1,EOV-V032-2026-1,EOV-V042-2026-1,EOV-W06,EOV-W08,ERF-05,RPT-EXH-2024-2caebd449015630d,RPT-EXH-2026-2c48cf1373cedc75</a:t>
            </a:r>
          </a:p>
          <a:p xmlns:a="http://schemas.openxmlformats.org/drawingml/2006/main">
            <a:r>
              <a:t>限界:追加学習は2025に発表済み、寿命予測には以前の研究発表もある。2026初の発明や、全工具での精度向上とは判断しない。</a:t>
            </a:r>
          </a:p>
          <a:p xmlns:a="http://schemas.openxmlformats.org/drawingml/2006/main">
            <a:r>
              <a:t/>
            </a:r>
          </a:p>
          <a:p xmlns:a="http://schemas.openxmlformats.org/drawingml/2006/main">
            <a:r>
              <a:t>D3-R [研究開発の提案・未検証仮説] 工具状態と加工品質を結び、加工を続けるか、条件を変えるか、交換するかを扱う工程AIを候補にする。</a:t>
            </a:r>
          </a:p>
          <a:p xmlns:a="http://schemas.openxmlformats.org/drawingml/2006/main">
            <a:r>
              <a:t>Evidence:EAT-V043-2024-1,EAT-V043-2026-1,EDP-12,EDP-13,EDP-14,EDP-15,EDP-33,EEX-EXH-2024-a2fae1d1864676d1,EEX-EXH-2024-b0a94c1cd407ea8a,EEX-EXH-2026-19ce238d137fe275,EEX-EXH-2026-308c5194f12fe009,EOV-V019-2024-1,EOV-V019-2026-1,EOV-V020-2024-1,EOV-V020-2026-1,EOV-V021-2026-1,EOV-V022-2024-1,EOV-V022-2026-1,EOV-V023-2024-1,EOV-V023-2026-1,EOV-V024-2024-1,EOV-V024-2026-1,EOV-V032-2024-1,EOV-V032-2026-1,EOV-V042-2026-1,EOV-W06,EOV-W08,ERF-05,RPT-EXH-2024-2caebd449015630d,RPT-EXH-2026-2c48cf1373cedc75</a:t>
            </a:r>
          </a:p>
          <a:p xmlns:a="http://schemas.openxmlformats.org/drawingml/2006/main">
            <a:r>
              <a:t>限界:追加学習は2025に発表済み、寿命予測には以前の研究発表もある。2026初の発明や、全工具での精度向上とは判断しない。</a:t>
            </a:r>
          </a:p>
          <a:p xmlns:a="http://schemas.openxmlformats.org/drawingml/2006/main">
            <a:r>
              <a:t/>
            </a:r>
          </a:p>
          <a:p xmlns:a="http://schemas.openxmlformats.org/drawingml/2006/main">
            <a:r>
              <a:t>D4-S [分析（顧客ニーズは調査者の整理）] 爪・工具の交換、ワーク供給、切粉除去を自動化し、品種が変わるたびに残る人手を減らす。</a:t>
            </a:r>
          </a:p>
          <a:p xmlns:a="http://schemas.openxmlformats.org/drawingml/2006/main">
            <a:r>
              <a:t>搬送だけを自動化しても、治具交換・再教示・切粉処理などの付帯作業に人が必要だと連続運転が続きにくい。</a:t>
            </a:r>
          </a:p>
          <a:p xmlns:a="http://schemas.openxmlformats.org/drawingml/2006/main">
            <a:r>
              <a:t>Evidence:EAT-N01,EAT-N02,EDP-01,EDP-26,EDP-27,EDP-28,EDP-29,EDP-30,EDP-32,EEX-EXH-2024-1632c66ef4d28e78,EEX-EXH-2024-1dc10e3b594ed9d8,EEX-EXH-2024-3a9bfb48fcb6542c,EEX-EXH-2024-45415d070f47dc6e,EEX-EXH-2024-89cb7807f64be75b,EEX-EXH-2026-0daa587f8abf6076,EEX-EXH-2026-1c8938d47b63e4bb,EEX-EXH-2026-30b70a74241de123,EEX-EXH-2026-8c08de1ffed47316,EEX-EXH-2026-ba283a239e52d644,EEX-EXH-2026-d8a50e23a9101b11,EEX-WTED,EOV-V001-2024-1,EOV-V001-2026-1,EOV-V002-2024-1,EOV-V002-2026-1,EOV-V003-2024-1,EOV-V003-2026-1,EOV-V025-2024-1,EOV-V025-2026-1,EOV-V029-2024-1,EOV-V029-2026-1,EOV-V030-2024-1,EOV-V030-2026-1,EOV-W04,ERF-13,RPT-EXH-2024-50a402f6bcce2ab8,RPT-EXH-2024-5cbad6b0326d2bee,RPT-EXH-2026-91aa8dd094a4a7b2,RPT-EXH-2026-d7b599b5d3045611</a:t>
            </a:r>
          </a:p>
          <a:p xmlns:a="http://schemas.openxmlformats.org/drawingml/2006/main">
            <a:r>
              <a:t>限界:人型ロボットでも遠隔操作・教示の参考展示がある。フィジカルAIの呼称だけで汎用作業や無人復帰が可能とは扱わない。</a:t>
            </a:r>
          </a:p>
          <a:p xmlns:a="http://schemas.openxmlformats.org/drawingml/2006/main">
            <a:r>
              <a:t/>
            </a:r>
          </a:p>
          <a:p xmlns:a="http://schemas.openxmlformats.org/drawingml/2006/main">
            <a:r>
              <a:t>D4-T [公式説明の比較と横断分析] 爪・工具の交換、ロボット搬入出、カメラを使う小部品ピックは2024にも展示・紹介されている。</a:t>
            </a:r>
          </a:p>
          <a:p xmlns:a="http://schemas.openxmlformats.org/drawingml/2006/main">
            <a:r>
              <a:t>2026には切粉の状態を判断して除去する参考出品、不定形ワークの面取り軌道生成、既設機への後付けや移設後の復旧を具体化した展示が見られる。</a:t>
            </a:r>
          </a:p>
          <a:p xmlns:a="http://schemas.openxmlformats.org/drawingml/2006/main">
            <a:r>
              <a:t>Evidence:EAT-N01,EAT-N02,EDP-01,EDP-26,EDP-27,EDP-28,EDP-29,EDP-30,EDP-32,EEX-EXH-2024-1632c66ef4d28e78,EEX-EXH-2024-1dc10e3b594ed9d8,EEX-EXH-2024-3a9bfb48fcb6542c,EEX-EXH-2024-45415d070f47dc6e,EEX-EXH-2024-89cb7807f64be75b,EEX-EXH-2026-0daa587f8abf6076,EEX-EXH-2026-1c8938d47b63e4bb,EEX-EXH-2026-30b70a74241de123,EEX-EXH-2026-8c08de1ffed47316,EEX-EXH-2026-ba283a239e52d644,EEX-EXH-2026-d8a50e23a9101b11,EEX-WTED,EOV-V001-2024-1,EOV-V001-2026-1,EOV-V002-2024-1,EOV-V002-2026-1,EOV-V003-2024-1,EOV-V003-2026-1,EOV-V025-2024-1,EOV-V025-2026-1,EOV-V029-2024-1,EOV-V029-2026-1,EOV-V030-2024-1,EOV-V030-2026-1,EOV-W04,ERF-13,RPT-EXH-2024-50a402f6bcce2ab8,RPT-EXH-2024-5cbad6b0326d2bee,RPT-EXH-2026-91aa8dd094a4a7b2,RPT-EXH-2026-d7b599b5d3045611</a:t>
            </a:r>
          </a:p>
          <a:p xmlns:a="http://schemas.openxmlformats.org/drawingml/2006/main">
            <a:r>
              <a:t>限界:人型ロボットでも遠隔操作・教示の参考展示がある。フィジカルAIの呼称だけで汎用作業や無人復帰が可能とは扱わない。</a:t>
            </a:r>
          </a:p>
          <a:p xmlns:a="http://schemas.openxmlformats.org/drawingml/2006/main">
            <a:r>
              <a:t/>
            </a:r>
          </a:p>
          <a:p xmlns:a="http://schemas.openxmlformats.org/drawingml/2006/main">
            <a:r>
              <a:t>D4-F [将来方向の仮説] 機械・工具・周辺機構と認識を組み合わせ、対象作業を限定したまま品種変化への再教示を減らす方向が現実的な開発候補になる。</a:t>
            </a:r>
          </a:p>
          <a:p xmlns:a="http://schemas.openxmlformats.org/drawingml/2006/main">
            <a:r>
              <a:t>Evidence:EAT-N01,EAT-N02,EDP-01,EDP-26,EDP-27,EDP-28,EDP-29,EDP-30,EDP-32,EEX-EXH-2024-1632c66ef4d28e78,EEX-EXH-2024-1dc10e3b594ed9d8,EEX-EXH-2024-3a9bfb48fcb6542c,EEX-EXH-2024-45415d070f47dc6e,EEX-EXH-2024-89cb7807f64be75b,EEX-EXH-2026-0daa587f8abf6076,EEX-EXH-2026-1c8938d47b63e4bb,EEX-EXH-2026-30b70a74241de123,EEX-EXH-2026-8c08de1ffed47316,EEX-EXH-2026-ba283a239e52d644,EEX-EXH-2026-d8a50e23a9101b11,EEX-WTED,EOV-V001-2024-1,EOV-V001-2026-1,EOV-V002-2024-1,EOV-V002-2026-1,EOV-V003-2024-1,EOV-V003-2026-1,EOV-V025-2024-1,EOV-V025-2026-1,EOV-V029-2024-1,EOV-V029-2026-1,EOV-V030-2024-1,EOV-V030-2026-1,EOV-W04,ERF-13,RPT-EXH-2024-50a402f6bcce2ab8,RPT-EXH-2024-5cbad6b0326d2bee,RPT-EXH-2026-91aa8dd094a4a7b2,RPT-EXH-2026-d7b599b5d3045611</a:t>
            </a:r>
          </a:p>
          <a:p xmlns:a="http://schemas.openxmlformats.org/drawingml/2006/main">
            <a:r>
              <a:t>限界:人型ロボットでも遠隔操作・教示の参考展示がある。フィジカルAIの呼称だけで汎用作業や無人復帰が可能とは扱わない。</a:t>
            </a:r>
          </a:p>
          <a:p xmlns:a="http://schemas.openxmlformats.org/drawingml/2006/main">
            <a:r>
              <a:t/>
            </a:r>
          </a:p>
          <a:p xmlns:a="http://schemas.openxmlformats.org/drawingml/2006/main">
            <a:r>
              <a:t>D4-R [研究開発の提案・未検証仮説] 切粉処理やバリ取り等に絞った作業特化フィジカルAIを候補とし、認識・加工動作・完了判断までを一つの仕事として開発する。</a:t>
            </a:r>
          </a:p>
          <a:p xmlns:a="http://schemas.openxmlformats.org/drawingml/2006/main">
            <a:r>
              <a:t>Evidence:EAT-N01,EAT-N02,EDP-01,EDP-26,EDP-27,EDP-28,EDP-29,EDP-30,EDP-32,EEX-EXH-2024-1632c66ef4d28e78,EEX-EXH-2024-1dc10e3b594ed9d8,EEX-EXH-2024-3a9bfb48fcb6542c,EEX-EXH-2024-45415d070f47dc6e,EEX-EXH-2024-89cb7807f64be75b,EEX-EXH-2026-0daa587f8abf6076,EEX-EXH-2026-1c8938d47b63e4bb,EEX-EXH-2026-30b70a74241de123,EEX-EXH-2026-8c08de1ffed47316,EEX-EXH-2026-ba283a239e52d644,EEX-EXH-2026-d8a50e23a9101b11,EEX-WTED,EOV-V001-2024-1,EOV-V001-2026-1,EOV-V002-2024-1,EOV-V002-2026-1,EOV-V003-2024-1,EOV-V003-2026-1,EOV-V025-2024-1,EOV-V025-2026-1,EOV-V029-2024-1,EOV-V029-2026-1,EOV-V030-2024-1,EOV-V030-2026-1,EOV-W04,ERF-13,RPT-EXH-2024-50a402f6bcce2ab8,RPT-EXH-2024-5cbad6b0326d2bee,RPT-EXH-2026-91aa8dd094a4a7b2,RPT-EXH-2026-d7b599b5d3045611</a:t>
            </a:r>
          </a:p>
          <a:p xmlns:a="http://schemas.openxmlformats.org/drawingml/2006/main">
            <a:r>
              <a:t>限界:人型ロボットでも遠隔操作・教示の参考展示がある。フィジカルAIの呼称だけで汎用作業や無人復帰が可能とは扱わない。</a:t>
            </a:r>
          </a:p>
          <a:p xmlns:a="http://schemas.openxmlformats.org/drawingml/2006/main">
            <a:r>
              <a:t/>
            </a:r>
          </a:p>
          <a:p xmlns:a="http://schemas.openxmlformats.org/drawingml/2006/main">
            <a:r>
              <a:t>D5-S [分析（顧客ニーズは調査者の整理）] 設備・工具・進捗情報を集め、予定変更やトラブル時に人が調べて判断する負担を減らす。</a:t>
            </a:r>
          </a:p>
          <a:p xmlns:a="http://schemas.openxmlformats.org/drawingml/2006/main">
            <a:r>
              <a:t>機械・生産管理・工具管理の情報が分かれ、遅れや停止のたびに人が状況を集め直す必要がある。</a:t>
            </a:r>
          </a:p>
          <a:p xmlns:a="http://schemas.openxmlformats.org/drawingml/2006/main">
            <a:r>
              <a:t>Evidence:EAT-N04,EAT-N05,EDP-03,EDP-18,EDP-19,EDP-21,EDP-22,EDP-23,EDP-24,EEX-EXH-2024-3f1fa1966a57e011,EEX-EXH-2026-4fb92ba6b82546d7,EOV-V005-2026-1,EOV-V013-2026-1,EOV-V014-2026-1,EOV-V015-2024-1,EOV-V015-2026-1,EOV-V016-2026-1,EOV-W05,EOV-W09,ERF-02</a:t>
            </a:r>
          </a:p>
          <a:p xmlns:a="http://schemas.openxmlformats.org/drawingml/2006/main">
            <a:r>
              <a:t>限界:予測から生産計画や設備指令への自動接続は未確認の例がある。製品発表段階のエージェントも含み、完全自律工場の実績ではない。</a:t>
            </a:r>
          </a:p>
          <a:p xmlns:a="http://schemas.openxmlformats.org/drawingml/2006/main">
            <a:r>
              <a:t/>
            </a:r>
          </a:p>
          <a:p xmlns:a="http://schemas.openxmlformats.org/drawingml/2006/main">
            <a:r>
              <a:t>D5-T [公式説明の比較と横断分析] 工具・CAM・在庫の連携、設備データの収集・対話AIなどは2024にも説明されている。</a:t>
            </a:r>
          </a:p>
          <a:p xmlns:a="http://schemas.openxmlformats.org/drawingml/2006/main">
            <a:r>
              <a:t>2026には、機械データを参照する保守エージェントや、予測・設備・搬送を組み合わせた展示が具体化。人が遠隔で例外へ対処する運用も見られる。</a:t>
            </a:r>
          </a:p>
          <a:p xmlns:a="http://schemas.openxmlformats.org/drawingml/2006/main">
            <a:r>
              <a:t>Evidence:EAT-N04,EAT-N05,EDP-03,EDP-18,EDP-19,EDP-21,EDP-22,EDP-23,EDP-24,EEX-EXH-2024-3f1fa1966a57e011,EEX-EXH-2026-4fb92ba6b82546d7,EOV-V005-2026-1,EOV-V013-2026-1,EOV-V014-2026-1,EOV-V015-2024-1,EOV-V015-2026-1,EOV-V016-2026-1,EOV-W05,EOV-W09,ERF-02</a:t>
            </a:r>
          </a:p>
          <a:p xmlns:a="http://schemas.openxmlformats.org/drawingml/2006/main">
            <a:r>
              <a:t>限界:予測から生産計画や設備指令への自動接続は未確認の例がある。製品発表段階のエージェントも含み、完全自律工場の実績ではない。</a:t>
            </a:r>
          </a:p>
          <a:p xmlns:a="http://schemas.openxmlformats.org/drawingml/2006/main">
            <a:r>
              <a:t/>
            </a:r>
          </a:p>
          <a:p xmlns:a="http://schemas.openxmlformats.org/drawingml/2006/main">
            <a:r>
              <a:t>D5-F [将来方向の仮説] 工程の遅れ・工具不足・設備停止を同じ状況として捉え、代替案と担当作業を提示する工場運用支援へ広げる余地がある。</a:t>
            </a:r>
          </a:p>
          <a:p xmlns:a="http://schemas.openxmlformats.org/drawingml/2006/main">
            <a:r>
              <a:t>Evidence:EAT-N04,EAT-N05,EDP-03,EDP-18,EDP-19,EDP-21,EDP-22,EDP-23,EDP-24,EEX-EXH-2024-3f1fa1966a57e011,EEX-EXH-2026-4fb92ba6b82546d7,EOV-V005-2026-1,EOV-V013-2026-1,EOV-V014-2026-1,EOV-V015-2024-1,EOV-V015-2026-1,EOV-V016-2026-1,EOV-W05,EOV-W09,ERF-02</a:t>
            </a:r>
          </a:p>
          <a:p xmlns:a="http://schemas.openxmlformats.org/drawingml/2006/main">
            <a:r>
              <a:t>限界:予測から生産計画や設備指令への自動接続は未確認の例がある。製品発表段階のエージェントも含み、完全自律工場の実績ではない。</a:t>
            </a:r>
          </a:p>
          <a:p xmlns:a="http://schemas.openxmlformats.org/drawingml/2006/main">
            <a:r>
              <a:t/>
            </a:r>
          </a:p>
          <a:p xmlns:a="http://schemas.openxmlformats.org/drawingml/2006/main">
            <a:r>
              <a:t>D5-R [研究開発の提案・未検証仮説] まず工具不足や設備停止など一つの業務を選び、状態把握から代替案・作業指示までをつなぐ現場エージェントを候補とする。</a:t>
            </a:r>
          </a:p>
          <a:p xmlns:a="http://schemas.openxmlformats.org/drawingml/2006/main">
            <a:r>
              <a:t>Evidence:EAT-N04,EAT-N05,EDP-03,EDP-18,EDP-19,EDP-21,EDP-22,EDP-23,EDP-24,EEX-EXH-2024-3f1fa1966a57e011,EEX-EXH-2026-4fb92ba6b82546d7,EOV-V005-2026-1,EOV-V013-2026-1,EOV-V014-2026-1,EOV-V015-2024-1,EOV-V015-2026-1,EOV-V016-2026-1,EOV-W05,EOV-W09,ERF-02</a:t>
            </a:r>
          </a:p>
          <a:p xmlns:a="http://schemas.openxmlformats.org/drawingml/2006/main">
            <a:r>
              <a:t>限界:予測から生産計画や設備指令への自動接続は未確認の例がある。製品発表段階のエージェントも含み、完全自律工場の実績ではない。</a:t>
            </a:r>
          </a:p>
          <a:p xmlns:a="http://schemas.openxmlformats.org/drawingml/2006/main">
            <a:r>
              <a:t/>
            </a:r>
          </a:p>
          <a:p xmlns:a="http://schemas.openxmlformats.org/drawingml/2006/main">
            <a:r>
              <a:t>D6-S [分析（顧客ニーズは調査者の整理）] 学習データと設備情報、仮想モデルを整え、AIを作る・つなぐ・試す準備を減らす。</a:t>
            </a:r>
          </a:p>
          <a:p xmlns:a="http://schemas.openxmlformats.org/drawingml/2006/main">
            <a:r>
              <a:t>AIが使うデータの意味や形式が揃わず、学習・機器接続・実機での試行に個別の作業が必要になる。</a:t>
            </a:r>
          </a:p>
          <a:p xmlns:a="http://schemas.openxmlformats.org/drawingml/2006/main">
            <a:r>
              <a:t>Evidence:EDP-04,EDP-06,EDP-16,EDP-17,EEX-EXH-2024-558faea07a73f5d8,EEX-EXH-2026-016097f87d1914b2,EEX-EXH-2026-9b991dd8132f51dc,EEX-WNDOT,EOV-V002-2024-1,EOV-V002-2026-1,EOV-V005-2026-1,EOV-V011-2024-1,EOV-V011-2026-1,EOV-V012-2024-1,EOV-V012-2026-1,EOV-W01,ERF-06,ERF-07,ERF-08,ERF-09</a:t>
            </a:r>
          </a:p>
          <a:p xmlns:a="http://schemas.openxmlformats.org/drawingml/2006/main">
            <a:r>
              <a:t>限界:CADから推定した物理属性と実測の一致、自己修正の収束、仮想結果と実機性能の差は未確認。ツインがそのままAI制御を意味するわけではない。</a:t>
            </a:r>
          </a:p>
          <a:p xmlns:a="http://schemas.openxmlformats.org/drawingml/2006/main">
            <a:r>
              <a:t/>
            </a:r>
          </a:p>
          <a:p xmlns:a="http://schemas.openxmlformats.org/drawingml/2006/main">
            <a:r>
              <a:t>D6-T [公式説明の比較と横断分析] 学習支援・モデル出力、機器接続、加工デジタルツインは2024以前にも存在する。</a:t>
            </a:r>
          </a:p>
          <a:p xmlns:a="http://schemas.openxmlformats.org/drawingml/2006/main">
            <a:r>
              <a:t>2026は、機器情報をエージェントへ渡す用途や、CADに物理属性を加えてロボット学習・検証へ使う用途が具体化している。</a:t>
            </a:r>
          </a:p>
          <a:p xmlns:a="http://schemas.openxmlformats.org/drawingml/2006/main">
            <a:r>
              <a:t>Evidence:EDP-04,EDP-06,EDP-16,EDP-17,EEX-EXH-2024-558faea07a73f5d8,EEX-EXH-2026-016097f87d1914b2,EEX-EXH-2026-9b991dd8132f51dc,EEX-WNDOT,EOV-V002-2024-1,EOV-V002-2026-1,EOV-V005-2026-1,EOV-V011-2024-1,EOV-V011-2026-1,EOV-V012-2024-1,EOV-V012-2026-1,EOV-W01,ERF-06,ERF-07,ERF-08,ERF-09</a:t>
            </a:r>
          </a:p>
          <a:p xmlns:a="http://schemas.openxmlformats.org/drawingml/2006/main">
            <a:r>
              <a:t>限界:CADから推定した物理属性と実測の一致、自己修正の収束、仮想結果と実機性能の差は未確認。ツインがそのままAI制御を意味するわけではない。</a:t>
            </a:r>
          </a:p>
          <a:p xmlns:a="http://schemas.openxmlformats.org/drawingml/2006/main">
            <a:r>
              <a:t/>
            </a:r>
          </a:p>
          <a:p xmlns:a="http://schemas.openxmlformats.org/drawingml/2006/main">
            <a:r>
              <a:t>D6-F [将来方向の仮説] データ基盤は独立した汎用システムの開発より、生産準備・加工・ロボット等の用途に結び付けて必要性を判断する。</a:t>
            </a:r>
          </a:p>
          <a:p xmlns:a="http://schemas.openxmlformats.org/drawingml/2006/main">
            <a:r>
              <a:t>Evidence:EDP-04,EDP-06,EDP-16,EDP-17,EEX-EXH-2024-558faea07a73f5d8,EEX-EXH-2026-016097f87d1914b2,EEX-EXH-2026-9b991dd8132f51dc,EEX-WNDOT,EOV-V002-2024-1,EOV-V002-2026-1,EOV-V005-2026-1,EOV-V011-2024-1,EOV-V011-2026-1,EOV-V012-2024-1,EOV-V012-2026-1,EOV-W01,ERF-06,ERF-07,ERF-08,ERF-09</a:t>
            </a:r>
          </a:p>
          <a:p xmlns:a="http://schemas.openxmlformats.org/drawingml/2006/main">
            <a:r>
              <a:t>限界:CADから推定した物理属性と実測の一致、自己修正の収束、仮想結果と実機性能の差は未確認。ツインがそのままAI制御を意味するわけではない。</a:t>
            </a:r>
          </a:p>
          <a:p xmlns:a="http://schemas.openxmlformats.org/drawingml/2006/main">
            <a:r>
              <a:t/>
            </a:r>
          </a:p>
          <a:p xmlns:a="http://schemas.openxmlformats.org/drawingml/2006/main">
            <a:r>
              <a:t>D6-R [研究開発の提案・未検証仮説] データ接続や仮想検証は各開発テーマに共通する基盤として取り込み、実機での効果に結び付く範囲を先に整える。</a:t>
            </a:r>
          </a:p>
          <a:p xmlns:a="http://schemas.openxmlformats.org/drawingml/2006/main">
            <a:r>
              <a:t>Evidence:EDP-04,EDP-06,EDP-16,EDP-17,EEX-EXH-2024-558faea07a73f5d8,EEX-EXH-2026-016097f87d1914b2,EEX-EXH-2026-9b991dd8132f51dc,EEX-WNDOT,EOV-V002-2024-1,EOV-V002-2026-1,EOV-V005-2026-1,EOV-V011-2024-1,EOV-V011-2026-1,EOV-V012-2024-1,EOV-V012-2026-1,EOV-W01,ERF-06,ERF-07,ERF-08,ERF-09</a:t>
            </a:r>
          </a:p>
          <a:p xmlns:a="http://schemas.openxmlformats.org/drawingml/2006/main">
            <a:r>
              <a:t>限界:CADから推定した物理属性と実測の一致、自己修正の収束、仮想結果と実機性能の差は未確認。ツインがそのままAI制御を意味するわけではない。</a:t>
            </a:r>
          </a:p>
          <a:p xmlns:a="http://schemas.openxmlformats.org/drawingml/2006/main">
            <a:r>
              <a:t/>
            </a:r>
          </a:p>
          <a:p xmlns:a="http://schemas.openxmlformats.org/drawingml/2006/main">
            <a:r>
              <a:t>M1 [開発候補の仮説。市場の空白や優位性の証明ではない。] 加工知識を扱う生産準備AI：図面・工具・保持・加工履歴を関連づけ、特定の加工工程に使える案へ落とす部分に差別化の余地がある可能性。</a:t>
            </a:r>
          </a:p>
          <a:p xmlns:a="http://schemas.openxmlformats.org/drawingml/2006/main">
            <a:r>
              <a:t>Evidence:EAT-N03,EAT-N05,EAT-N06,EDP-03,EDP-04,EDP-05,EDP-06,EDP-07,EDP-08,EDP-09,EDP-10,EDP-11,EEX-EXH-2024-eb84f3b7fa9cf6db,EEX-EXH-2026-0436fc7b61f51a8e,EEX-EXH-2026-3b6a1de81c17dfee,EOV-V005-2026-1,EOV-V006-2024-1,EOV-V006-2026-1,EOV-V007-2026-2,EOV-V008-2024-1,EOV-V008-2024-2,EOV-V008-2026-1,EOV-V011-2024-1,EOV-V011-2026-1,EOV-V012-2024-1,EOV-V012-2026-1,EOV-V014-2026-1,EOV-V041-2026-1,EOV-W01,EOV-W02,ERF-01,ERF-03,ERF-04</a:t>
            </a:r>
          </a:p>
          <a:p xmlns:a="http://schemas.openxmlformats.org/drawingml/2006/main">
            <a:r>
              <a:t>限界:対象部品群と利用可能な履歴を絞り、既存製品だけの運用と総準備時間・修正量で比較する。市場の空白は未確認。</a:t>
            </a:r>
          </a:p>
          <a:p xmlns:a="http://schemas.openxmlformats.org/drawingml/2006/main">
            <a:r>
              <a:t/>
            </a:r>
          </a:p>
          <a:p xmlns:a="http://schemas.openxmlformats.org/drawingml/2006/main">
            <a:r>
              <a:t>M2 [開発候補の仮説。市場の空白や優位性の証明ではない。] 品質と工具状態を見ながら調整する自律加工：条件や工具が変わる多品種加工で、加工継続・条件変更・交換を一つの工程判断にする部分に開発余地がある可能性。</a:t>
            </a:r>
          </a:p>
          <a:p xmlns:a="http://schemas.openxmlformats.org/drawingml/2006/main">
            <a:r>
              <a:t>Evidence:EAT-N08,EAT-V043-2024-1,EAT-V043-2026-1,EDP-02,EDP-12,EDP-13,EDP-14,EDP-15,EDP-33,EEX-EXH-2024-76ac534a229f7c29,EEX-EXH-2024-a2fae1d1864676d1,EEX-EXH-2024-b0a94c1cd407ea8a,EEX-EXH-2026-19ce238d137fe275,EEX-EXH-2026-308c5194f12fe009,EEX-EXH-2026-a0cbad27ea34d7c4,EOV-V003-2024-1,EOV-V003-2026-1,EOV-V004-2024-1,EOV-V004-2026-1,EOV-V009-2024-1,EOV-V009-2026-1,EOV-V018-2024-1,EOV-V018-2026-1,EOV-V019-2024-1,EOV-V019-2026-1,EOV-V020-2024-1,EOV-V020-2026-1,EOV-V021-2026-1,EOV-V022-2024-1,EOV-V022-2026-1,EOV-V023-2024-1,EOV-V023-2026-1,EOV-V024-2024-1,EOV-V024-2026-1,EOV-V032-2024-1,EOV-V032-2026-1,EOV-V034-2024-1,EOV-V034-2026-1,EOV-V042-2026-1,EOV-W03,EOV-W06,EOV-W08,ERF-05,RPT-EXH-2024-151b23d9e05ccb13,RPT-EXH-2024-2caebd449015630d,RPT-EXH-2026-107042c6cf64ba96,RPT-EXH-2026-2c48cf1373cedc75,RPT-EXH-2026-3f24aaee60d77db1,RPT-S01,RPT-S02,RPT-S03,RPT-S04,RPT-S05</a:t>
            </a:r>
          </a:p>
          <a:p xmlns:a="http://schemas.openxmlformats.org/drawingml/2006/main">
            <a:r>
              <a:t>限界:同じ品質条件で、個別機能の適用と連携方式を比較。材料・工具変更時の手間と初品品質を確認し、必要な連携範囲を決める。</a:t>
            </a:r>
          </a:p>
          <a:p xmlns:a="http://schemas.openxmlformats.org/drawingml/2006/main">
            <a:r>
              <a:t/>
            </a:r>
          </a:p>
          <a:p xmlns:a="http://schemas.openxmlformats.org/drawingml/2006/main">
            <a:r>
              <a:t>M3 [開発候補の仮説。市場の空白や優位性の証明ではない。] 多品種の付帯作業を担うフィジカルAI：形状や状態が変わる一方で、設備・工具・対象材を限定できる付帯作業に、実用化を狙う余地がある可能性。</a:t>
            </a:r>
          </a:p>
          <a:p xmlns:a="http://schemas.openxmlformats.org/drawingml/2006/main">
            <a:r>
              <a:t>Evidence:EAT-N01,EAT-N02,EDP-01,EDP-16,EDP-17,EDP-26,EDP-27,EDP-28,EDP-29,EDP-30,EDP-32,EEX-EXH-2024-1632c66ef4d28e78,EEX-EXH-2024-1dc10e3b594ed9d8,EEX-EXH-2024-3a9bfb48fcb6542c,EEX-EXH-2024-45415d070f47dc6e,EEX-EXH-2024-558faea07a73f5d8,EEX-EXH-2024-89cb7807f64be75b,EEX-EXH-2026-016097f87d1914b2,EEX-EXH-2026-0daa587f8abf6076,EEX-EXH-2026-1c8938d47b63e4bb,EEX-EXH-2026-30b70a74241de123,EEX-EXH-2026-8c08de1ffed47316,EEX-EXH-2026-9b991dd8132f51dc,EEX-EXH-2026-ba283a239e52d644,EEX-EXH-2026-d8a50e23a9101b11,EEX-WNDOT,EEX-WTED,EOV-V001-2024-1,EOV-V001-2026-1,EOV-V002-2024-1,EOV-V002-2026-1,EOV-V003-2024-1,EOV-V003-2026-1,EOV-V025-2024-1,EOV-V025-2026-1,EOV-V029-2024-1,EOV-V029-2026-1,EOV-V030-2024-1,EOV-V030-2026-1,EOV-W04,ERF-06,ERF-07,ERF-08,ERF-09,ERF-13,RPT-EXH-2024-50a402f6bcce2ab8,RPT-EXH-2024-5cbad6b0326d2bee,RPT-EXH-2026-91aa8dd094a4a7b2,RPT-EXH-2026-d7b599b5d3045611</a:t>
            </a:r>
          </a:p>
          <a:p xmlns:a="http://schemas.openxmlformats.org/drawingml/2006/main">
            <a:r>
              <a:t>限界:切粉処理かバリ取り等の一作業で、固定手順・現行認識方式と比較。異なるワークで再設定がどれだけ減るかを見る。</a:t>
            </a:r>
          </a:p>
          <a:p xmlns:a="http://schemas.openxmlformats.org/drawingml/2006/main">
            <a:r>
              <a:t/>
            </a:r>
          </a:p>
          <a:p xmlns:a="http://schemas.openxmlformats.org/drawingml/2006/main">
            <a:r>
              <a:t>M4 [開発候補の仮説。市場の空白や優位性の証明ではない。] 現場の変化に対応する工場運用AI：工場固有の制約と今の設備状態を踏まえ、実行できる代替案を担当者へ渡す部分に開発余地がある可能性。</a:t>
            </a:r>
          </a:p>
          <a:p xmlns:a="http://schemas.openxmlformats.org/drawingml/2006/main">
            <a:r>
              <a:t>Evidence:EAT-N04,EAT-N05,EDP-03,EDP-04,EDP-06,EDP-18,EDP-19,EDP-21,EDP-22,EDP-23,EDP-24,EEX-EXH-2024-3f1fa1966a57e011,EEX-EXH-2026-4fb92ba6b82546d7,EOV-V005-2026-1,EOV-V011-2024-1,EOV-V011-2026-1,EOV-V012-2024-1,EOV-V012-2026-1,EOV-V013-2026-1,EOV-V014-2026-1,EOV-V015-2024-1,EOV-V015-2026-1,EOV-V016-2026-1,EOV-W01,EOV-W05,EOV-W09,ERF-02</a:t>
            </a:r>
          </a:p>
          <a:p xmlns:a="http://schemas.openxmlformats.org/drawingml/2006/main">
            <a:r>
              <a:t>限界:一つの例外業務で既存運用と比較し、状態取得・操作API・権限が得られる範囲から適用する。</a:t>
            </a:r>
          </a:p>
          <a:p xmlns:a="http://schemas.openxmlformats.org/drawingml/2006/main">
            <a:r>
              <a:t/>
            </a:r>
          </a:p>
          <a:p xmlns:a="http://schemas.openxmlformats.org/drawingml/2006/main">
            <a:r>
              <a:t>図面検索・見積作成</a:t>
            </a:r>
          </a:p>
          <a:p xmlns:a="http://schemas.openxmlformats.org/drawingml/2006/main">
            <a:r>
              <a:t>B01-1 株式会社Fact Base / ズメーン：図面・関連文書管理とAI / S3017</a:t>
            </a:r>
          </a:p>
          <a:p xmlns:a="http://schemas.openxmlformats.org/drawingml/2006/main">
            <a:r>
              <a:t>対象:図面を登録・検索し関連文書と結ぶ</a:t>
            </a:r>
          </a:p>
          <a:p xmlns:a="http://schemas.openxmlformats.org/drawingml/2006/main">
            <a:r>
              <a:t>公式要約:図面のOCR登録と関連文書管理。顧客事例では読取り結果を人が修正。</a:t>
            </a:r>
          </a:p>
          <a:p xmlns:a="http://schemas.openxmlformats.org/drawingml/2006/main">
            <a:r>
              <a:t>年度:2024の同名詳細なし。2026初登場とは断定しない。</a:t>
            </a:r>
          </a:p>
          <a:p xmlns:a="http://schemas.openxmlformats.org/drawingml/2006/main">
            <a:r>
              <a:t>人・未確認:登録・読取り確認は人。図面の誤関連や改訂の検出は未確認。</a:t>
            </a:r>
          </a:p>
          <a:p xmlns:a="http://schemas.openxmlformats.org/drawingml/2006/main">
            <a:r>
              <a:t>Evidence:EEX-EXH-2026-3b6a1de81c17dfee,EDP-11</a:t>
            </a:r>
          </a:p>
          <a:p xmlns:a="http://schemas.openxmlformats.org/drawingml/2006/main">
            <a:r>
              <a:t/>
            </a:r>
          </a:p>
          <a:p xmlns:a="http://schemas.openxmlformats.org/drawingml/2006/main">
            <a:r>
              <a:t>B01-2 匠技研工業 / 匠フォース：業務AIエージェント / S3011</a:t>
            </a:r>
          </a:p>
          <a:p xmlns:a="http://schemas.openxmlformats.org/drawingml/2006/main">
            <a:r>
              <a:t>対象:図面と原価情報から見積書案を作る</a:t>
            </a:r>
          </a:p>
          <a:p xmlns:a="http://schemas.openxmlformats.org/drawingml/2006/main">
            <a:r>
              <a:t>公式要約:図面認識・類似案件参照・原価計算から見積書案を作る。</a:t>
            </a:r>
          </a:p>
          <a:p xmlns:a="http://schemas.openxmlformats.org/drawingml/2006/main">
            <a:r>
              <a:t>年度:2024比較不能。2026/7の企業発表で一連の処理を具体化。</a:t>
            </a:r>
          </a:p>
          <a:p xmlns:a="http://schemas.openxmlformats.org/drawingml/2006/main">
            <a:r>
              <a:t>人・未確認:担当者が根拠を確認・修正・承認。社外自動送信は未確認。</a:t>
            </a:r>
          </a:p>
          <a:p xmlns:a="http://schemas.openxmlformats.org/drawingml/2006/main">
            <a:r>
              <a:t>Evidence:EOV-V041-2026-1,EDP-05</a:t>
            </a:r>
          </a:p>
          <a:p xmlns:a="http://schemas.openxmlformats.org/drawingml/2006/main">
            <a:r>
              <a:t/>
            </a:r>
          </a:p>
          <a:p xmlns:a="http://schemas.openxmlformats.org/drawingml/2006/main">
            <a:r>
              <a:t>B01-3 ものレボ / MonoRevo：類似図面検索・自動見積 / W3042</a:t>
            </a:r>
          </a:p>
          <a:p xmlns:a="http://schemas.openxmlformats.org/drawingml/2006/main">
            <a:r>
              <a:t>対象:過去図面を探し見積を作る</a:t>
            </a:r>
          </a:p>
          <a:p xmlns:a="http://schemas.openxmlformats.org/drawingml/2006/main">
            <a:r>
              <a:t>公式要約:類似図面検索と自動見積を説明。</a:t>
            </a:r>
          </a:p>
          <a:p xmlns:a="http://schemas.openxmlformats.org/drawingml/2006/main">
            <a:r>
              <a:t>年度:2024個別比較不能。</a:t>
            </a:r>
          </a:p>
          <a:p xmlns:a="http://schemas.openxmlformats.org/drawingml/2006/main">
            <a:r>
              <a:t>人・未確認:見積前提の設定・確定者、計算ロジックは未確認。</a:t>
            </a:r>
          </a:p>
          <a:p xmlns:a="http://schemas.openxmlformats.org/drawingml/2006/main">
            <a:r>
              <a:t>Evidence:EOV-V014-2026-1</a:t>
            </a:r>
          </a:p>
          <a:p xmlns:a="http://schemas.openxmlformats.org/drawingml/2006/main">
            <a:r>
              <a:t/>
            </a:r>
          </a:p>
          <a:p xmlns:a="http://schemas.openxmlformats.org/drawingml/2006/main">
            <a:r>
              <a:t>工程・CAMプログラムの作成</a:t>
            </a:r>
          </a:p>
          <a:p xmlns:a="http://schemas.openxmlformats.org/drawingml/2006/main">
            <a:r>
              <a:t>B02-1 Hexagon Manufacturing Intelligence / ESPRIT EDGE ProPlanAI / E2013</a:t>
            </a:r>
          </a:p>
          <a:p xmlns:a="http://schemas.openxmlformats.org/drawingml/2006/main">
            <a:r>
              <a:t>対象:新しい部品の加工工程を考える</a:t>
            </a:r>
          </a:p>
          <a:p xmlns:a="http://schemas.openxmlformats.org/drawingml/2006/main">
            <a:r>
              <a:t>公式要約:過去ジョブと形状特徴から工程を予測するProPlanAI。</a:t>
            </a:r>
          </a:p>
          <a:p xmlns:a="http://schemas.openxmlformats.org/drawingml/2006/main">
            <a:r>
              <a:t>年度:2024比較不能。2025の旋削betaから2026の商用範囲拡張を確認。</a:t>
            </a:r>
          </a:p>
          <a:p xmlns:a="http://schemas.openxmlformats.org/drawingml/2006/main">
            <a:r>
              <a:t>人・未確認:過去データを準備。確認画面はあるが最終NC採用権限は未公表。</a:t>
            </a:r>
          </a:p>
          <a:p xmlns:a="http://schemas.openxmlformats.org/drawingml/2006/main">
            <a:r>
              <a:t>Evidence:EOV-V007-2026-2,EOV-W02</a:t>
            </a:r>
          </a:p>
          <a:p xmlns:a="http://schemas.openxmlformats.org/drawingml/2006/main">
            <a:r>
              <a:t/>
            </a:r>
          </a:p>
          <a:p xmlns:a="http://schemas.openxmlformats.org/drawingml/2006/main">
            <a:r>
              <a:t>B02-2 ジェービーエムエンジニアリング / Mastercam＋CAMAssist / E2002</a:t>
            </a:r>
          </a:p>
          <a:p xmlns:a="http://schemas.openxmlformats.org/drawingml/2006/main">
            <a:r>
              <a:t>対象:部品形状から加工方法・工具経路を作る</a:t>
            </a:r>
          </a:p>
          <a:p xmlns:a="http://schemas.openxmlformats.org/drawingml/2006/main">
            <a:r>
              <a:t>公式要約:工具・材料・機械等の条件から加工戦略・経路・条件案を生成。</a:t>
            </a:r>
          </a:p>
          <a:p xmlns:a="http://schemas.openxmlformats.org/drawingml/2006/main">
            <a:r>
              <a:t>年度:Mastercam対応は2024/7に発表済み。2026の出展記述が具体化。</a:t>
            </a:r>
          </a:p>
          <a:p xmlns:a="http://schemas.openxmlformats.org/drawingml/2006/main">
            <a:r>
              <a:t>人・未確認:人が前提を設定し、戦略案を確認・調整してCAMへ送る。</a:t>
            </a:r>
          </a:p>
          <a:p xmlns:a="http://schemas.openxmlformats.org/drawingml/2006/main">
            <a:r>
              <a:t>Evidence:EOV-V008-2024-1,EOV-V008-2024-2,EOV-V008-2026-1,EDP-09,EDP-10,ERF-03</a:t>
            </a:r>
          </a:p>
          <a:p xmlns:a="http://schemas.openxmlformats.org/drawingml/2006/main">
            <a:r>
              <a:t/>
            </a:r>
          </a:p>
          <a:p xmlns:a="http://schemas.openxmlformats.org/drawingml/2006/main">
            <a:r>
              <a:t>B02-3 タクテックス株式会社 / CAM Assist for SolidCAM／SolidShop / S1016</a:t>
            </a:r>
          </a:p>
          <a:p xmlns:a="http://schemas.openxmlformats.org/drawingml/2006/main">
            <a:r>
              <a:t>対象:3軸・3+2軸の加工経路を作る</a:t>
            </a:r>
          </a:p>
          <a:p xmlns:a="http://schemas.openxmlformats.org/drawingml/2006/main">
            <a:r>
              <a:t>公式要約:SolidCAM向けに3軸・3+2軸の戦略と経路案を生成。</a:t>
            </a:r>
          </a:p>
          <a:p xmlns:a="http://schemas.openxmlformats.org/drawingml/2006/main">
            <a:r>
              <a:t>年度:2024はSolidCAM等。2026はAI支援を追加記載。</a:t>
            </a:r>
          </a:p>
          <a:p xmlns:a="http://schemas.openxmlformats.org/drawingml/2006/main">
            <a:r>
              <a:t>人・未確認:工具・保持等を設定し、生成案を編集・採用。最終制御権は人。</a:t>
            </a:r>
          </a:p>
          <a:p xmlns:a="http://schemas.openxmlformats.org/drawingml/2006/main">
            <a:r>
              <a:t>Evidence:EEX-EXH-2026-0436fc7b61f51a8e,EEX-EXH-2024-eb84f3b7fa9cf6db,EDP-07,EDP-08,ERF-04</a:t>
            </a:r>
          </a:p>
          <a:p xmlns:a="http://schemas.openxmlformats.org/drawingml/2006/main">
            <a:r>
              <a:t/>
            </a:r>
          </a:p>
          <a:p xmlns:a="http://schemas.openxmlformats.org/drawingml/2006/main">
            <a:r>
              <a:t>NC送り最適化・加工中の適応制御</a:t>
            </a:r>
          </a:p>
          <a:p xmlns:a="http://schemas.openxmlformats.org/drawingml/2006/main">
            <a:r>
              <a:t>B03-1 CGTech / Vericut Force／Optimizer / S3014</a:t>
            </a:r>
          </a:p>
          <a:p xmlns:a="http://schemas.openxmlformats.org/drawingml/2006/main">
            <a:r>
              <a:t>対象:加工前にNCの送り速度を調整する</a:t>
            </a:r>
          </a:p>
          <a:p xmlns:a="http://schemas.openxmlformats.org/drawingml/2006/main">
            <a:r>
              <a:t>公式要約:Forceは切削物理と力・動力制約を使い加工前に送りを最適化。</a:t>
            </a:r>
          </a:p>
          <a:p xmlns:a="http://schemas.openxmlformats.org/drawingml/2006/main">
            <a:r>
              <a:t>年度:Forceは2024掲載済み。2026のAI訴求とOptimizerの方式差は未確認。</a:t>
            </a:r>
          </a:p>
          <a:p xmlns:a="http://schemas.openxmlformats.org/drawingml/2006/main">
            <a:r>
              <a:t>人・未確認:材料・工具・限界条件とNC採用が必要〈分析〉。運用詳細は未確認。</a:t>
            </a:r>
          </a:p>
          <a:p xmlns:a="http://schemas.openxmlformats.org/drawingml/2006/main">
            <a:r>
              <a:t>Evidence:EOV-V009-2024-1,EOV-V009-2026-1,RPT-S04</a:t>
            </a:r>
          </a:p>
          <a:p xmlns:a="http://schemas.openxmlformats.org/drawingml/2006/main">
            <a:r>
              <a:t/>
            </a:r>
          </a:p>
          <a:p xmlns:a="http://schemas.openxmlformats.org/drawingml/2006/main">
            <a:r>
              <a:t>B03-2 Third Wave Systems Japan / Production Module／AdvantEdge / E1064</a:t>
            </a:r>
          </a:p>
          <a:p xmlns:a="http://schemas.openxmlformats.org/drawingml/2006/main">
            <a:r>
              <a:t>対象:加工負荷を予測しNC送りを最適化する</a:t>
            </a:r>
          </a:p>
          <a:p xmlns:a="http://schemas.openxmlformats.org/drawingml/2006/main">
            <a:r>
              <a:t>公式要約:Production ModuleはNCレベルの負荷解析。刃先FEMのAdvantEdgeとは別。</a:t>
            </a:r>
          </a:p>
          <a:p xmlns:a="http://schemas.openxmlformats.org/drawingml/2006/main">
            <a:r>
              <a:t>年度:2024展示比較不能。工具たわみ等は2019年にも公式説明。</a:t>
            </a:r>
          </a:p>
          <a:p xmlns:a="http://schemas.openxmlformats.org/drawingml/2006/main">
            <a:r>
              <a:t>人・未確認:モデル・材料・工具の設定と採用判断が必要〈分析〉。</a:t>
            </a:r>
          </a:p>
          <a:p xmlns:a="http://schemas.openxmlformats.org/drawingml/2006/main">
            <a:r>
              <a:t>Evidence:RPT-EXH-2026-3f24aaee60d77db1,RPT-S05</a:t>
            </a:r>
          </a:p>
          <a:p xmlns:a="http://schemas.openxmlformats.org/drawingml/2006/main">
            <a:r>
              <a:t/>
            </a:r>
          </a:p>
          <a:p xmlns:a="http://schemas.openxmlformats.org/drawingml/2006/main">
            <a:r>
              <a:t>B03-3 西部商工 / ACM / S3020</a:t>
            </a:r>
          </a:p>
          <a:p xmlns:a="http://schemas.openxmlformats.org/drawingml/2006/main">
            <a:r>
              <a:t>対象:加工中の負荷に応じ送りを自動調整する</a:t>
            </a:r>
          </a:p>
          <a:p xmlns:a="http://schemas.openxmlformats.org/drawingml/2006/main">
            <a:r>
              <a:t>公式要約:ACMは実測主軸負荷を使い加工中の送りを自動調整。</a:t>
            </a:r>
          </a:p>
          <a:p xmlns:a="http://schemas.openxmlformats.org/drawingml/2006/main">
            <a:r>
              <a:t>年度:2024も負荷監視と送り制御を記載。基本方式は継続。</a:t>
            </a:r>
          </a:p>
          <a:p xmlns:a="http://schemas.openxmlformats.org/drawingml/2006/main">
            <a:r>
              <a:t>人・未確認:負荷限界の設定者・停止復帰の手順は未確認。</a:t>
            </a:r>
          </a:p>
          <a:p xmlns:a="http://schemas.openxmlformats.org/drawingml/2006/main">
            <a:r>
              <a:t>Evidence:RPT-EXH-2026-107042c6cf64ba96,RPT-EXH-2024-151b23d9e05ccb13</a:t>
            </a:r>
          </a:p>
          <a:p xmlns:a="http://schemas.openxmlformats.org/drawingml/2006/main">
            <a:r>
              <a:t/>
            </a:r>
          </a:p>
          <a:p xmlns:a="http://schemas.openxmlformats.org/drawingml/2006/main">
            <a:r>
              <a:t>PLC・HMI・電気設計の支援</a:t>
            </a:r>
          </a:p>
          <a:p xmlns:a="http://schemas.openxmlformats.org/drawingml/2006/main">
            <a:r>
              <a:t>B04-1 ベッコフオートメーション / TwinCAT CoAgent for Engineering：PLC / E2028</a:t>
            </a:r>
          </a:p>
          <a:p xmlns:a="http://schemas.openxmlformats.org/drawingml/2006/main">
            <a:r>
              <a:t>対象:設備のPLC制御プログラムを作る</a:t>
            </a:r>
          </a:p>
          <a:p xmlns:a="http://schemas.openxmlformats.org/drawingml/2006/main">
            <a:r>
              <a:t>公式要約:要求とプロジェクト文脈からPLCコード案を提案。</a:t>
            </a:r>
          </a:p>
          <a:p xmlns:a="http://schemas.openxmlformats.org/drawingml/2006/main">
            <a:r>
              <a:t>年度:PLCコード支援は2023発表済み。2026初の方式ではない。</a:t>
            </a:r>
          </a:p>
          <a:p xmlns:a="http://schemas.openxmlformats.org/drawingml/2006/main">
            <a:r>
              <a:t>人・未確認:専門家が確認・確定・実行承認。書込みや起動の個別権限は未確認。</a:t>
            </a:r>
          </a:p>
          <a:p xmlns:a="http://schemas.openxmlformats.org/drawingml/2006/main">
            <a:r>
              <a:t>Evidence:EOV-V005-2026-1,EAT-N03,EAT-N05,EDP-03,ERF-01</a:t>
            </a:r>
          </a:p>
          <a:p xmlns:a="http://schemas.openxmlformats.org/drawingml/2006/main">
            <a:r>
              <a:t/>
            </a:r>
          </a:p>
          <a:p xmlns:a="http://schemas.openxmlformats.org/drawingml/2006/main">
            <a:r>
              <a:t>B04-2 ベッコフオートメーション / TwinCAT CoAgent for Engineering：I/O・HMI / E2028</a:t>
            </a:r>
          </a:p>
          <a:p xmlns:a="http://schemas.openxmlformats.org/drawingml/2006/main">
            <a:r>
              <a:t>対象:設備の入出力設定と操作画面を作る</a:t>
            </a:r>
          </a:p>
          <a:p xmlns:a="http://schemas.openxmlformats.org/drawingml/2006/main">
            <a:r>
              <a:t>公式要約:I/O構成とHMI生成・操作を支援するEngineering機能。</a:t>
            </a:r>
          </a:p>
          <a:p xmlns:a="http://schemas.openxmlformats.org/drawingml/2006/main">
            <a:r>
              <a:t>年度:I/O・HMI支援は2025/6にも公式説明。</a:t>
            </a:r>
          </a:p>
          <a:p xmlns:a="http://schemas.openxmlformats.org/drawingml/2006/main">
            <a:r>
              <a:t>人・未確認:専門家のレビュー方針。構成誤りの検証・差戻しは未確認。</a:t>
            </a:r>
          </a:p>
          <a:p xmlns:a="http://schemas.openxmlformats.org/drawingml/2006/main">
            <a:r>
              <a:t>Evidence:EOV-V005-2026-1,EAT-N03,EAT-N05,EDP-03,ERF-01</a:t>
            </a:r>
          </a:p>
          <a:p xmlns:a="http://schemas.openxmlformats.org/drawingml/2006/main">
            <a:r>
              <a:t/>
            </a:r>
          </a:p>
          <a:p xmlns:a="http://schemas.openxmlformats.org/drawingml/2006/main">
            <a:r>
              <a:t>B04-3 EPLAN / Eplan Copilot / S1067</a:t>
            </a:r>
          </a:p>
          <a:p xmlns:a="http://schemas.openxmlformats.org/drawingml/2006/main">
            <a:r>
              <a:t>対象:電気設計の情報・操作手順を調べる</a:t>
            </a:r>
          </a:p>
          <a:p xmlns:a="http://schemas.openxmlformats.org/drawingml/2006/main">
            <a:r>
              <a:t>公式要約:Eplan Copilotが文脈に応じた回答・推奨・手順を生成。</a:t>
            </a:r>
          </a:p>
          <a:p xmlns:a="http://schemas.openxmlformats.org/drawingml/2006/main">
            <a:r>
              <a:t>年度:2024の盤設計・データ連携に対し、2026はCopilotを記載。</a:t>
            </a:r>
          </a:p>
          <a:p xmlns:a="http://schemas.openxmlformats.org/drawingml/2006/main">
            <a:r>
              <a:t>人・未確認:意思決定は人。設計変更の自動採用は現機能と確認できない。</a:t>
            </a:r>
          </a:p>
          <a:p xmlns:a="http://schemas.openxmlformats.org/drawingml/2006/main">
            <a:r>
              <a:t>Evidence:EOV-V006-2024-1,EOV-V006-2026-1,EAT-N06</a:t>
            </a:r>
          </a:p>
          <a:p xmlns:a="http://schemas.openxmlformats.org/drawingml/2006/main">
            <a:r>
              <a:t/>
            </a:r>
          </a:p>
          <a:p xmlns:a="http://schemas.openxmlformats.org/drawingml/2006/main">
            <a:r>
              <a:t>熱変位補正・びびり抑制</a:t>
            </a:r>
          </a:p>
          <a:p xmlns:a="http://schemas.openxmlformats.org/drawingml/2006/main">
            <a:r>
              <a:t>B05-1 オークマ / 熱変位制御・AI知能化 / E3028</a:t>
            </a:r>
          </a:p>
          <a:p xmlns:a="http://schemas.openxmlformats.org/drawingml/2006/main">
            <a:r>
              <a:t>対象:温度変化による加工位置のずれを抑える</a:t>
            </a:r>
          </a:p>
          <a:p xmlns:a="http://schemas.openxmlformats.org/drawingml/2006/main">
            <a:r>
              <a:t>公式要約:熱を単純化する構造と熱変位制御を組み合わせる。</a:t>
            </a:r>
          </a:p>
          <a:p xmlns:a="http://schemas.openxmlformats.org/drawingml/2006/main">
            <a:r>
              <a:t>年度:熱安定化は既存技術。2026のAI訴求だけで補正全体をAIとしない。</a:t>
            </a:r>
          </a:p>
          <a:p xmlns:a="http://schemas.openxmlformats.org/drawingml/2006/main">
            <a:r>
              <a:t>人・未確認:校正・補正限界・条件変化時の人の関与は未確認。</a:t>
            </a:r>
          </a:p>
          <a:p xmlns:a="http://schemas.openxmlformats.org/drawingml/2006/main">
            <a:r>
              <a:t>Evidence:EOV-V003-2024-1,EOV-V003-2026-1,RPT-S02</a:t>
            </a:r>
          </a:p>
          <a:p xmlns:a="http://schemas.openxmlformats.org/drawingml/2006/main">
            <a:r>
              <a:t/>
            </a:r>
          </a:p>
          <a:p xmlns:a="http://schemas.openxmlformats.org/drawingml/2006/main">
            <a:r>
              <a:t>B05-2 ヤマザキマザック / Ai Thermal Shield（製品資料による比較） / E1001</a:t>
            </a:r>
          </a:p>
          <a:p xmlns:a="http://schemas.openxmlformats.org/drawingml/2006/main">
            <a:r>
              <a:t>対象:加工後測定も使い熱変位補正を調整する</a:t>
            </a:r>
          </a:p>
          <a:p xmlns:a="http://schemas.openxmlformats.org/drawingml/2006/main">
            <a:r>
              <a:t>公式要約:温度・回転等を考慮。加工後測定の学習で熱変位補正を最適化。</a:t>
            </a:r>
          </a:p>
          <a:p xmlns:a="http://schemas.openxmlformats.org/drawingml/2006/main">
            <a:r>
              <a:t>年度:製品資料の比較例。同機能の2026展示搭載・年度差は未確認。</a:t>
            </a:r>
          </a:p>
          <a:p xmlns:a="http://schemas.openxmlformats.org/drawingml/2006/main">
            <a:r>
              <a:t>人・未確認:測定準備・更新採否・補正限界の設定者は未確認。</a:t>
            </a:r>
          </a:p>
          <a:p xmlns:a="http://schemas.openxmlformats.org/drawingml/2006/main">
            <a:r>
              <a:t>Evidence:RPT-S03,EOV-V004-2024-1,EOV-V004-2026-1,EAT-N08</a:t>
            </a:r>
          </a:p>
          <a:p xmlns:a="http://schemas.openxmlformats.org/drawingml/2006/main">
            <a:r>
              <a:t/>
            </a:r>
          </a:p>
          <a:p xmlns:a="http://schemas.openxmlformats.org/drawingml/2006/main">
            <a:r>
              <a:t>B05-3 オークマ / 加工ナビM-i／M-gⅡ（製品資料による比較） / E3028</a:t>
            </a:r>
          </a:p>
          <a:p xmlns:a="http://schemas.openxmlformats.org/drawingml/2006/main">
            <a:r>
              <a:t>対象:びびり振動に応じ主軸回転数を調整する</a:t>
            </a:r>
          </a:p>
          <a:p xmlns:a="http://schemas.openxmlformats.org/drawingml/2006/main">
            <a:r>
              <a:t>公式要約:M-iは振動計測から主軸速度を自動変更。M-gⅡは速度候補を提示。</a:t>
            </a:r>
          </a:p>
          <a:p xmlns:a="http://schemas.openxmlformats.org/drawingml/2006/main">
            <a:r>
              <a:t>年度:既存製品技術の比較例。2024/2026の機能増分は未確認。</a:t>
            </a:r>
          </a:p>
          <a:p xmlns:a="http://schemas.openxmlformats.org/drawingml/2006/main">
            <a:r>
              <a:t>人・未確認:M-iは設定後に自動制御。M-gⅡは人が候補を選ぶ。</a:t>
            </a:r>
          </a:p>
          <a:p xmlns:a="http://schemas.openxmlformats.org/drawingml/2006/main">
            <a:r>
              <a:t>Evidence:RPT-S01,EOV-V003-2024-1,EOV-V003-2026-1</a:t>
            </a:r>
          </a:p>
          <a:p xmlns:a="http://schemas.openxmlformats.org/drawingml/2006/main">
            <a:r>
              <a:t/>
            </a:r>
          </a:p>
          <a:p xmlns:a="http://schemas.openxmlformats.org/drawingml/2006/main">
            <a:r>
              <a:t>計測から加工へのフィードバック</a:t>
            </a:r>
          </a:p>
          <a:p xmlns:a="http://schemas.openxmlformats.org/drawingml/2006/main">
            <a:r>
              <a:t>B06-1 レニショー / Renishaw Central＋IPC / E7089</a:t>
            </a:r>
          </a:p>
          <a:p xmlns:a="http://schemas.openxmlformats.org/drawingml/2006/main">
            <a:r>
              <a:t>対象:測定した寸法を加工補正へ戻す</a:t>
            </a:r>
          </a:p>
          <a:p xmlns:a="http://schemas.openxmlformats.org/drawingml/2006/main">
            <a:r>
              <a:t>公式要約:Renishaw Central＋IPCで工具オフセットや機械変数を更新。</a:t>
            </a:r>
          </a:p>
          <a:p xmlns:a="http://schemas.openxmlformats.org/drawingml/2006/main">
            <a:r>
              <a:t>年度:Centralは2024掲載済み。2026も継続。</a:t>
            </a:r>
          </a:p>
          <a:p xmlns:a="http://schemas.openxmlformats.org/drawingml/2006/main">
            <a:r>
              <a:t>人・未確認:計測不確かさ、補正上限、異常値の抑止条件は未確認。</a:t>
            </a:r>
          </a:p>
          <a:p xmlns:a="http://schemas.openxmlformats.org/drawingml/2006/main">
            <a:r>
              <a:t>Evidence:EOV-V018-2024-1,EOV-V018-2026-1,EOV-W03</a:t>
            </a:r>
          </a:p>
          <a:p xmlns:a="http://schemas.openxmlformats.org/drawingml/2006/main">
            <a:r>
              <a:t/>
            </a:r>
          </a:p>
          <a:p xmlns:a="http://schemas.openxmlformats.org/drawingml/2006/main">
            <a:r>
              <a:t>B06-2 Wintech Automation / HGM-DX：測定フィードバック研削 / W3051</a:t>
            </a:r>
          </a:p>
          <a:p xmlns:a="http://schemas.openxmlformats.org/drawingml/2006/main">
            <a:r>
              <a:t>対象:測定値を研削加工の補正へ戻す</a:t>
            </a:r>
          </a:p>
          <a:p xmlns:a="http://schemas.openxmlformats.org/drawingml/2006/main">
            <a:r>
              <a:t>公式要約:HGM-DXは測定値を研削機へ返し加工公差を自動補正。</a:t>
            </a:r>
          </a:p>
          <a:p xmlns:a="http://schemas.openxmlformats.org/drawingml/2006/main">
            <a:r>
              <a:t>年度:2024は製造・検査自動化。2026は測定→研削を具体記載。</a:t>
            </a:r>
          </a:p>
          <a:p xmlns:a="http://schemas.openxmlformats.org/drawingml/2006/main">
            <a:r>
              <a:t>人・未確認:補正上限と誤計測時の対応は未確認。</a:t>
            </a:r>
          </a:p>
          <a:p xmlns:a="http://schemas.openxmlformats.org/drawingml/2006/main">
            <a:r>
              <a:t>Evidence:EOV-V034-2024-1,EOV-V034-2026-1</a:t>
            </a:r>
          </a:p>
          <a:p xmlns:a="http://schemas.openxmlformats.org/drawingml/2006/main">
            <a:r>
              <a:t/>
            </a:r>
          </a:p>
          <a:p xmlns:a="http://schemas.openxmlformats.org/drawingml/2006/main">
            <a:r>
              <a:t>B06-3 株式会社サイバーRC / GH5：工具の3D画像認識・AI補正ホーニング / E7074</a:t>
            </a:r>
          </a:p>
          <a:p xmlns:a="http://schemas.openxmlformats.org/drawingml/2006/main">
            <a:r>
              <a:t>対象:工具刃先の幅・角度を狙い値へ加工する</a:t>
            </a:r>
          </a:p>
          <a:p xmlns:a="http://schemas.openxmlformats.org/drawingml/2006/main">
            <a:r>
              <a:t>公式要約:GH5は機内3D画像で刃先を測り、幅・角度の目標へAI補正。</a:t>
            </a:r>
          </a:p>
          <a:p xmlns:a="http://schemas.openxmlformats.org/drawingml/2006/main">
            <a:r>
              <a:t>年度:2024のGM5等から、2026はGH5の測定・加工一体化を記載。</a:t>
            </a:r>
          </a:p>
          <a:p xmlns:a="http://schemas.openxmlformats.org/drawingml/2006/main">
            <a:r>
              <a:t>人・未確認:目標値は人が設定。過研磨・測定不能時の停止復帰は未確認。</a:t>
            </a:r>
          </a:p>
          <a:p xmlns:a="http://schemas.openxmlformats.org/drawingml/2006/main">
            <a:r>
              <a:t>Evidence:EEX-EXH-2026-a0cbad27ea34d7c4,EEX-EXH-2024-76ac534a229f7c29,EDP-02</a:t>
            </a:r>
          </a:p>
          <a:p xmlns:a="http://schemas.openxmlformats.org/drawingml/2006/main">
            <a:r>
              <a:t/>
            </a:r>
          </a:p>
          <a:p xmlns:a="http://schemas.openxmlformats.org/drawingml/2006/main">
            <a:r>
              <a:t>外観検査・撮像と追加学習</a:t>
            </a:r>
          </a:p>
          <a:p xmlns:a="http://schemas.openxmlformats.org/drawingml/2006/main">
            <a:r>
              <a:t>B07-1 HACARUS / HACARUS Check ZERO / S1031</a:t>
            </a:r>
          </a:p>
          <a:p xmlns:a="http://schemas.openxmlformats.org/drawingml/2006/main">
            <a:r>
              <a:t>対象:製品表面の傷・欠け等を判定する</a:t>
            </a:r>
          </a:p>
          <a:p xmlns:a="http://schemas.openxmlformats.org/drawingml/2006/main">
            <a:r>
              <a:t>公式要約:ZEROは良品との差で異常を検出し、人の良否注釈で追加調整。</a:t>
            </a:r>
          </a:p>
          <a:p xmlns:a="http://schemas.openxmlformats.org/drawingml/2006/main">
            <a:r>
              <a:t>年度:追加学習は2025/7発表済み。2026だけの新機能としない。</a:t>
            </a:r>
          </a:p>
          <a:p xmlns:a="http://schemas.openxmlformats.org/drawingml/2006/main">
            <a:r>
              <a:t>人・未確認:人が画像・注釈を準備。更新モデル採用と出荷判定の権限は未確認。</a:t>
            </a:r>
          </a:p>
          <a:p xmlns:a="http://schemas.openxmlformats.org/drawingml/2006/main">
            <a:r>
              <a:t>Evidence:EOV-V021-2026-1,EOV-W06,EDP-14,EDP-15,ERF-05</a:t>
            </a:r>
          </a:p>
          <a:p xmlns:a="http://schemas.openxmlformats.org/drawingml/2006/main">
            <a:r>
              <a:t/>
            </a:r>
          </a:p>
          <a:p xmlns:a="http://schemas.openxmlformats.org/drawingml/2006/main">
            <a:r>
              <a:t>B07-2 日東商事 / HACARUS Check：協働ロボット多面検査 / S1031</a:t>
            </a:r>
          </a:p>
          <a:p xmlns:a="http://schemas.openxmlformats.org/drawingml/2006/main">
            <a:r>
              <a:t>対象:ワークを多方向から撮り外観を検査する</a:t>
            </a:r>
          </a:p>
          <a:p xmlns:a="http://schemas.openxmlformats.org/drawingml/2006/main">
            <a:r>
              <a:t>公式要約:協働ロボットで多角度撮像し、AIで傷・欠けを判定。</a:t>
            </a:r>
          </a:p>
          <a:p xmlns:a="http://schemas.openxmlformats.org/drawingml/2006/main">
            <a:r>
              <a:t>年度:日東商事2024の放電加工機展示から、AI検査を追加記載。</a:t>
            </a:r>
          </a:p>
          <a:p xmlns:a="http://schemas.openxmlformats.org/drawingml/2006/main">
            <a:r>
              <a:t>人・未確認:姿勢教示・再撮像・不良排出の権限は未確認。</a:t>
            </a:r>
          </a:p>
          <a:p xmlns:a="http://schemas.openxmlformats.org/drawingml/2006/main">
            <a:r>
              <a:t>Evidence:EOV-V022-2024-1,EOV-V022-2026-1</a:t>
            </a:r>
          </a:p>
          <a:p xmlns:a="http://schemas.openxmlformats.org/drawingml/2006/main">
            <a:r>
              <a:t/>
            </a:r>
          </a:p>
          <a:p xmlns:a="http://schemas.openxmlformats.org/drawingml/2006/main">
            <a:r>
              <a:t>B07-3 ブルーム-ノボテスト / FormControl X／DIGILOG / E7084</a:t>
            </a:r>
          </a:p>
          <a:p xmlns:a="http://schemas.openxmlformats.org/drawingml/2006/main">
            <a:r>
              <a:t>対象:機上のワーク形状と工具を測る</a:t>
            </a:r>
          </a:p>
          <a:p xmlns:a="http://schemas.openxmlformats.org/drawingml/2006/main">
            <a:r>
              <a:t>公式要約:機上3D測定と工具計測・欠け検知・補正を組み合わせる。</a:t>
            </a:r>
          </a:p>
          <a:p xmlns:a="http://schemas.openxmlformats.org/drawingml/2006/main">
            <a:r>
              <a:t>年度:2024のFormControl X等を継続し、2026はLC54等を追加。</a:t>
            </a:r>
          </a:p>
          <a:p xmlns:a="http://schemas.openxmlformats.org/drawingml/2006/main">
            <a:r>
              <a:t>人・未確認:校正・熱状態・機種適合の条件は未確認。</a:t>
            </a:r>
          </a:p>
          <a:p xmlns:a="http://schemas.openxmlformats.org/drawingml/2006/main">
            <a:r>
              <a:t>Evidence:EOV-V019-2024-1,EOV-V019-2026-1</a:t>
            </a:r>
          </a:p>
          <a:p xmlns:a="http://schemas.openxmlformats.org/drawingml/2006/main">
            <a:r>
              <a:t/>
            </a:r>
          </a:p>
          <a:p xmlns:a="http://schemas.openxmlformats.org/drawingml/2006/main">
            <a:r>
              <a:t>工具摩耗の判定・交換判断</a:t>
            </a:r>
          </a:p>
          <a:p xmlns:a="http://schemas.openxmlformats.org/drawingml/2006/main">
            <a:r>
              <a:t>B08-1 モリマシナリー / ツールコラージュ / S3048</a:t>
            </a:r>
          </a:p>
          <a:p xmlns:a="http://schemas.openxmlformats.org/drawingml/2006/main">
            <a:r>
              <a:t>対象:刃先の欠け・摩耗を判定し記録する</a:t>
            </a:r>
          </a:p>
          <a:p xmlns:a="http://schemas.openxmlformats.org/drawingml/2006/main">
            <a:r>
              <a:t>公式要約:刃先の診断箇所を認知し、欠け・摩耗をAI判定・記録。</a:t>
            </a:r>
          </a:p>
          <a:p xmlns:a="http://schemas.openxmlformats.org/drawingml/2006/main">
            <a:r>
              <a:t>年度:AI摩耗判定は2024にも説明済み。2026は継続。</a:t>
            </a:r>
          </a:p>
          <a:p xmlns:a="http://schemas.openxmlformats.org/drawingml/2006/main">
            <a:r>
              <a:t>人・未確認:対象工具と撮像条件を準備。継続使用の最終決定者は未確認。</a:t>
            </a:r>
          </a:p>
          <a:p xmlns:a="http://schemas.openxmlformats.org/drawingml/2006/main">
            <a:r>
              <a:t>Evidence:EOV-V024-2024-1,EOV-V024-2026-1,EDP-12</a:t>
            </a:r>
          </a:p>
          <a:p xmlns:a="http://schemas.openxmlformats.org/drawingml/2006/main">
            <a:r>
              <a:t/>
            </a:r>
          </a:p>
          <a:p xmlns:a="http://schemas.openxmlformats.org/drawingml/2006/main">
            <a:r>
              <a:t>B08-2 ハイデンハイン / VT122＋VTC 6.0 / E7043</a:t>
            </a:r>
          </a:p>
          <a:p xmlns:a="http://schemas.openxmlformats.org/drawingml/2006/main">
            <a:r>
              <a:t>対象:工具画像から摩耗状態を診断する</a:t>
            </a:r>
          </a:p>
          <a:p xmlns:a="http://schemas.openxmlformats.org/drawingml/2006/main">
            <a:r>
              <a:t>公式要約:VT122にVTC 6.0のAI摩耗診断・工具長機能を記載。</a:t>
            </a:r>
          </a:p>
          <a:p xmlns:a="http://schemas.openxmlformats.org/drawingml/2006/main">
            <a:r>
              <a:t>年度:2024はVT122検査。2026はAI摩耗診断を追加記載。</a:t>
            </a:r>
          </a:p>
          <a:p xmlns:a="http://schemas.openxmlformats.org/drawingml/2006/main">
            <a:r>
              <a:t>人・未確認:判定閾値と自動交換への接続は未確認。</a:t>
            </a:r>
          </a:p>
          <a:p xmlns:a="http://schemas.openxmlformats.org/drawingml/2006/main">
            <a:r>
              <a:t>Evidence:EOV-V023-2024-1,EOV-V023-2026-1</a:t>
            </a:r>
          </a:p>
          <a:p xmlns:a="http://schemas.openxmlformats.org/drawingml/2006/main">
            <a:r>
              <a:t/>
            </a:r>
          </a:p>
          <a:p xmlns:a="http://schemas.openxmlformats.org/drawingml/2006/main">
            <a:r>
              <a:t>B08-3 三菱電機 / NC MachiningAID（2024）／2026 CNC省人化 / S2003</a:t>
            </a:r>
          </a:p>
          <a:p xmlns:a="http://schemas.openxmlformats.org/drawingml/2006/main">
            <a:r>
              <a:t>対象:加工異常・工具摩耗・作業ミスを検知する</a:t>
            </a:r>
          </a:p>
          <a:p xmlns:a="http://schemas.openxmlformats.org/drawingml/2006/main">
            <a:r>
              <a:t>公式要約:2024のMachiningAIDは加工異常・工具摩耗・作業ミスをAI検知。</a:t>
            </a:r>
          </a:p>
          <a:p xmlns:a="http://schemas.openxmlformats.org/drawingml/2006/main">
            <a:r>
              <a:t>年度:2026はAI省人化の総論。個別機能の進化は比較不能。</a:t>
            </a:r>
          </a:p>
          <a:p xmlns:a="http://schemas.openxmlformats.org/drawingml/2006/main">
            <a:r>
              <a:t>人・未確認:2026の継承機能と自動停止・交換権限は未確認。</a:t>
            </a:r>
          </a:p>
          <a:p xmlns:a="http://schemas.openxmlformats.org/drawingml/2006/main">
            <a:r>
              <a:t>Evidence:EAT-V043-2024-1,EAT-V043-2026-1</a:t>
            </a:r>
          </a:p>
          <a:p xmlns:a="http://schemas.openxmlformats.org/drawingml/2006/main">
            <a:r>
              <a:t/>
            </a:r>
          </a:p>
          <a:p xmlns:a="http://schemas.openxmlformats.org/drawingml/2006/main">
            <a:r>
              <a:t>B08-4 モリマシナリー / ツールコラージュアナライザー / S3048</a:t>
            </a:r>
          </a:p>
          <a:p xmlns:a="http://schemas.openxmlformats.org/drawingml/2006/main">
            <a:r>
              <a:t>対象:切削工具をいつ交換するか</a:t>
            </a:r>
          </a:p>
          <a:p xmlns:a="http://schemas.openxmlformats.org/drawingml/2006/main">
            <a:r>
              <a:t>公式要約:摩耗幅のデータを蓄積・学習し、工具寿命と交換時期を提案する。</a:t>
            </a:r>
          </a:p>
          <a:p xmlns:a="http://schemas.openxmlformats.org/drawingml/2006/main">
            <a:r>
              <a:t>年度:2026は寿命予測と交換提案を具体掲載。ただし研究発表は2023にもあり、新方式の誕生とは扱わない。</a:t>
            </a:r>
          </a:p>
          <a:p xmlns:a="http://schemas.openxmlformats.org/drawingml/2006/main">
            <a:r>
              <a:t>人・未確認:人が工具・加工条件と提案の適用を確認する運用は要確認。</a:t>
            </a:r>
          </a:p>
          <a:p xmlns:a="http://schemas.openxmlformats.org/drawingml/2006/main">
            <a:r>
              <a:t>Evidence:EOV-V024-2024-1,EOV-V024-2026-1,EOV-W08</a:t>
            </a:r>
          </a:p>
          <a:p xmlns:a="http://schemas.openxmlformats.org/drawingml/2006/main">
            <a:r>
              <a:t/>
            </a:r>
          </a:p>
          <a:p xmlns:a="http://schemas.openxmlformats.org/drawingml/2006/main">
            <a:r>
              <a:t>B08-5 興和オプトロニクス / RW耐環境ビジョンユニット / S3104</a:t>
            </a:r>
          </a:p>
          <a:p xmlns:a="http://schemas.openxmlformats.org/drawingml/2006/main">
            <a:r>
              <a:t>対象:加工機内の工具折損・摩耗を見つける</a:t>
            </a:r>
          </a:p>
          <a:p xmlns:a="http://schemas.openxmlformats.org/drawingml/2006/main">
            <a:r>
              <a:t>公式要約:水・油・ミスト環境で撮像し、AIで工具折損・摩耗や切粉の異常蓄積を検知するとの説明。</a:t>
            </a:r>
          </a:p>
          <a:p xmlns:a="http://schemas.openxmlformats.org/drawingml/2006/main">
            <a:r>
              <a:t>年度:2024同名原典なし。2026の耐環境撮像とAI検知は確認、登場時期は比較不能。</a:t>
            </a:r>
          </a:p>
          <a:p xmlns:a="http://schemas.openxmlformats.org/drawingml/2006/main">
            <a:r>
              <a:t>人・未確認:対象工具、判定の閾値、検知後の停止・交換の分担は未確認。</a:t>
            </a:r>
          </a:p>
          <a:p xmlns:a="http://schemas.openxmlformats.org/drawingml/2006/main">
            <a:r>
              <a:t>Evidence:EOV-V042-2026-1,EDP-33</a:t>
            </a:r>
          </a:p>
          <a:p xmlns:a="http://schemas.openxmlformats.org/drawingml/2006/main">
            <a:r>
              <a:t/>
            </a:r>
          </a:p>
          <a:p xmlns:a="http://schemas.openxmlformats.org/drawingml/2006/main">
            <a:r>
              <a:t>B08-6 マーポス / ARTIS／BLU／VTS / E7087</a:t>
            </a:r>
          </a:p>
          <a:p xmlns:a="http://schemas.openxmlformats.org/drawingml/2006/main">
            <a:r>
              <a:t>対象:工具寸法と加工状態を測り・監視する</a:t>
            </a:r>
          </a:p>
          <a:p xmlns:a="http://schemas.openxmlformats.org/drawingml/2006/main">
            <a:r>
              <a:t>公式要約:カメラ・レーザーの工具測定と、工具・機械・加工プロセスの監視を展示。</a:t>
            </a:r>
          </a:p>
          <a:p xmlns:a="http://schemas.openxmlformats.org/drawingml/2006/main">
            <a:r>
              <a:t>年度:ARTIS・VTS等は2024にも掲載。2026の展示名だけでは機能の増分を断定できない。</a:t>
            </a:r>
          </a:p>
          <a:p xmlns:a="http://schemas.openxmlformats.org/drawingml/2006/main">
            <a:r>
              <a:t>人・未確認:交換・停止を決める基準と、各機能のAI使用は未確認。</a:t>
            </a:r>
          </a:p>
          <a:p xmlns:a="http://schemas.openxmlformats.org/drawingml/2006/main">
            <a:r>
              <a:t>Evidence:EOV-V020-2024-1,EOV-V020-2026-1</a:t>
            </a:r>
          </a:p>
          <a:p xmlns:a="http://schemas.openxmlformats.org/drawingml/2006/main">
            <a:r>
              <a:t/>
            </a:r>
          </a:p>
          <a:p xmlns:a="http://schemas.openxmlformats.org/drawingml/2006/main">
            <a:r>
              <a:t>B08-7 Masterlink / 工作機械センシングの知能化による生産性向上： / E1050</a:t>
            </a:r>
          </a:p>
          <a:p xmlns:a="http://schemas.openxmlformats.org/drawingml/2006/main">
            <a:r>
              <a:t>対象:工具の異常を監視する（方式要確認）</a:t>
            </a:r>
          </a:p>
          <a:p xmlns:a="http://schemas.openxmlformats.org/drawingml/2006/main">
            <a:r>
              <a:t>公式要約:工具監視、適応加工、予知保全を出展項目として掲載。入力信号と判定方式は未記載。</a:t>
            </a:r>
          </a:p>
          <a:p xmlns:a="http://schemas.openxmlformats.org/drawingml/2006/main">
            <a:r>
              <a:t>年度:2024はセンシング・現場管理の総論。2026は工具監視等を列挙。性能差は不明。</a:t>
            </a:r>
          </a:p>
          <a:p xmlns:a="http://schemas.openxmlformats.org/drawingml/2006/main">
            <a:r>
              <a:t>人・未確認:監視結果から停止・交換へ移す手順、担当者は未確認。</a:t>
            </a:r>
          </a:p>
          <a:p xmlns:a="http://schemas.openxmlformats.org/drawingml/2006/main">
            <a:r>
              <a:t>Evidence:EEX-EXH-2026-19ce238d137fe275,EEX-EXH-2024-a2fae1d1864676d1</a:t>
            </a:r>
          </a:p>
          <a:p xmlns:a="http://schemas.openxmlformats.org/drawingml/2006/main">
            <a:r>
              <a:t/>
            </a:r>
          </a:p>
          <a:p xmlns:a="http://schemas.openxmlformats.org/drawingml/2006/main">
            <a:r>
              <a:t>設備・刃具の異常検知と保全</a:t>
            </a:r>
          </a:p>
          <a:p xmlns:a="http://schemas.openxmlformats.org/drawingml/2006/main">
            <a:r>
              <a:t>B09-1 ムラテックＣＣＳ株式会社 / プライマリドクタサービス：稼働中データのAI診断 / E3031</a:t>
            </a:r>
          </a:p>
          <a:p xmlns:a="http://schemas.openxmlformats.org/drawingml/2006/main">
            <a:r>
              <a:t>対象:設備の電流・振動から劣化を診断する</a:t>
            </a:r>
          </a:p>
          <a:p xmlns:a="http://schemas.openxmlformats.org/drawingml/2006/main">
            <a:r>
              <a:t>公式要約:稼働中の電流・振動等を新品状態と比較し劣化・異常を診断。</a:t>
            </a:r>
          </a:p>
          <a:p xmlns:a="http://schemas.openxmlformats.org/drawingml/2006/main">
            <a:r>
              <a:t>年度:プライマリドクタのAI診断は2024から継続。</a:t>
            </a:r>
          </a:p>
          <a:p xmlns:a="http://schemas.openxmlformats.org/drawingml/2006/main">
            <a:r>
              <a:t>人・未確認:計測後の点検・交換の最終決定者、誤警報時の扱いは未確認。</a:t>
            </a:r>
          </a:p>
          <a:p xmlns:a="http://schemas.openxmlformats.org/drawingml/2006/main">
            <a:r>
              <a:t>Evidence:EEX-EXH-2026-308c5194f12fe009,EEX-EXH-2024-b0a94c1cd407ea8a,EDP-13</a:t>
            </a:r>
          </a:p>
          <a:p xmlns:a="http://schemas.openxmlformats.org/drawingml/2006/main">
            <a:r>
              <a:t/>
            </a:r>
          </a:p>
          <a:p xmlns:a="http://schemas.openxmlformats.org/drawingml/2006/main">
            <a:r>
              <a:t>B09-2 アズビル（TACO共同出展） / U4DM01 NC旋盤予兆検知 / W4070</a:t>
            </a:r>
          </a:p>
          <a:p xmlns:a="http://schemas.openxmlformats.org/drawingml/2006/main">
            <a:r>
              <a:t>対象:NC旋盤の刃具破損を検知する</a:t>
            </a:r>
          </a:p>
          <a:p xmlns:a="http://schemas.openxmlformats.org/drawingml/2006/main">
            <a:r>
              <a:t>公式要約:U4DM01はNC旋盤の刃具破損検知と後付け適用を説明。</a:t>
            </a:r>
          </a:p>
          <a:p xmlns:a="http://schemas.openxmlformats.org/drawingml/2006/main">
            <a:r>
              <a:t>年度:2024参考U4Dから2026 Coming soon表記。性能差は不明。</a:t>
            </a:r>
          </a:p>
          <a:p xmlns:a="http://schemas.openxmlformats.org/drawingml/2006/main">
            <a:r>
              <a:t>人・未確認:2024は設定・学習開始操作あり。停止や交換権限は未確認。</a:t>
            </a:r>
          </a:p>
          <a:p xmlns:a="http://schemas.openxmlformats.org/drawingml/2006/main">
            <a:r>
              <a:t>Evidence:RPT-EXH-2026-2c48cf1373cedc75,RPT-EXH-2024-2caebd449015630d</a:t>
            </a:r>
          </a:p>
          <a:p xmlns:a="http://schemas.openxmlformats.org/drawingml/2006/main">
            <a:r>
              <a:t/>
            </a:r>
          </a:p>
          <a:p xmlns:a="http://schemas.openxmlformats.org/drawingml/2006/main">
            <a:r>
              <a:t>B09-3 日本精工 / 振動診断AI・遠隔監視 / W2048</a:t>
            </a:r>
          </a:p>
          <a:p xmlns:a="http://schemas.openxmlformats.org/drawingml/2006/main">
            <a:r>
              <a:t>対象:振動から設備状態を診断する</a:t>
            </a:r>
          </a:p>
          <a:p xmlns:a="http://schemas.openxmlformats.org/drawingml/2006/main">
            <a:r>
              <a:t>公式要約:2024はAI振動診断と遠隔監視を紹介。</a:t>
            </a:r>
          </a:p>
          <a:p xmlns:a="http://schemas.openxmlformats.org/drawingml/2006/main">
            <a:r>
              <a:t>年度:2026の総論だけでは2024比の増分を判定できない。</a:t>
            </a:r>
          </a:p>
          <a:p xmlns:a="http://schemas.openxmlformats.org/drawingml/2006/main">
            <a:r>
              <a:t>人・未確認:2026の個別機能、保全判断への接続は資料不足。</a:t>
            </a:r>
          </a:p>
          <a:p xmlns:a="http://schemas.openxmlformats.org/drawingml/2006/main">
            <a:r>
              <a:t>Evidence:EOV-V032-2024-1,EOV-V032-2026-1</a:t>
            </a:r>
          </a:p>
          <a:p xmlns:a="http://schemas.openxmlformats.org/drawingml/2006/main">
            <a:r>
              <a:t/>
            </a:r>
          </a:p>
          <a:p xmlns:a="http://schemas.openxmlformats.org/drawingml/2006/main">
            <a:r>
              <a:t>爪・治具・ハンドと位置の段取り</a:t>
            </a:r>
          </a:p>
          <a:p xmlns:a="http://schemas.openxmlformats.org/drawingml/2006/main">
            <a:r>
              <a:t>B10-1 松本機械工業株式会社 / Smart Terrace Adv／爪・CAPTO工具の交換 / W2070</a:t>
            </a:r>
          </a:p>
          <a:p xmlns:a="http://schemas.openxmlformats.org/drawingml/2006/main">
            <a:r>
              <a:t>対象:爪・工具等を交換して段取りを変える</a:t>
            </a:r>
          </a:p>
          <a:p xmlns:a="http://schemas.openxmlformats.org/drawingml/2006/main">
            <a:r>
              <a:t>公式要約:Smart Terrace Advは爪等の交換。寸法入力から動作を設定。</a:t>
            </a:r>
          </a:p>
          <a:p xmlns:a="http://schemas.openxmlformats.org/drawingml/2006/main">
            <a:r>
              <a:t>年度:CAPTO等の交換は2024初披露済み。2026はAdv構成等に注目。</a:t>
            </a:r>
          </a:p>
          <a:p xmlns:a="http://schemas.openxmlformats.org/drawingml/2006/main">
            <a:r>
              <a:t>人・未確認:人が寸法入力。初期プログラムはメーカーが組込み。</a:t>
            </a:r>
          </a:p>
          <a:p xmlns:a="http://schemas.openxmlformats.org/drawingml/2006/main">
            <a:r>
              <a:t>Evidence:EEX-EXH-2026-0daa587f8abf6076,EEX-EXH-2024-1dc10e3b594ed9d8,EDP-26,EDP-27,EDP-28</a:t>
            </a:r>
          </a:p>
          <a:p xmlns:a="http://schemas.openxmlformats.org/drawingml/2006/main">
            <a:r>
              <a:t/>
            </a:r>
          </a:p>
          <a:p xmlns:a="http://schemas.openxmlformats.org/drawingml/2006/main">
            <a:r>
              <a:t>B10-2 イマオコーポレーション / ナットランナー治具 / W2001</a:t>
            </a:r>
          </a:p>
          <a:p xmlns:a="http://schemas.openxmlformats.org/drawingml/2006/main">
            <a:r>
              <a:t>対象:加工前にワークを治具へ固定する</a:t>
            </a:r>
          </a:p>
          <a:p xmlns:a="http://schemas.openxmlformats.org/drawingml/2006/main">
            <a:r>
              <a:t>公式要約:ナットランナーとメカ機構でワークを締結する治具。</a:t>
            </a:r>
          </a:p>
          <a:p xmlns:a="http://schemas.openxmlformats.org/drawingml/2006/main">
            <a:r>
              <a:t>年度:2024も具体治具あり。2026は種類追加を記載。</a:t>
            </a:r>
          </a:p>
          <a:p xmlns:a="http://schemas.openxmlformats.org/drawingml/2006/main">
            <a:r>
              <a:t>人・未確認:人が治具・フック等を設計選定。着座・締結異常の扱いは未確認。</a:t>
            </a:r>
          </a:p>
          <a:p xmlns:a="http://schemas.openxmlformats.org/drawingml/2006/main">
            <a:r>
              <a:t>Evidence:EOV-V025-2024-1,EOV-V025-2026-1,EDP-30,EDP-32</a:t>
            </a:r>
          </a:p>
          <a:p xmlns:a="http://schemas.openxmlformats.org/drawingml/2006/main">
            <a:r>
              <a:t/>
            </a:r>
          </a:p>
          <a:p xmlns:a="http://schemas.openxmlformats.org/drawingml/2006/main">
            <a:r>
              <a:t>B10-3 中村留精密工業 / RoboSync：移設後の位置復旧 / E2027</a:t>
            </a:r>
          </a:p>
          <a:p xmlns:a="http://schemas.openxmlformats.org/drawingml/2006/main">
            <a:r>
              <a:t>対象:移設したロボットの位置を復旧する</a:t>
            </a:r>
          </a:p>
          <a:p xmlns:a="http://schemas.openxmlformats.org/drawingml/2006/main">
            <a:r>
              <a:t>公式要約:RoboSyncは移設後にマーカーを読み相対位置を補正。</a:t>
            </a:r>
          </a:p>
          <a:p xmlns:a="http://schemas.openxmlformats.org/drawingml/2006/main">
            <a:r>
              <a:t>年度:2026は位置復旧を具体説明。同一機能の2024版は未確認。</a:t>
            </a:r>
          </a:p>
          <a:p xmlns:a="http://schemas.openxmlformats.org/drawingml/2006/main">
            <a:r>
              <a:t>人・未確認:人の移設・復旧操作を含む。未知トラブルの自律復帰とは別。</a:t>
            </a:r>
          </a:p>
          <a:p xmlns:a="http://schemas.openxmlformats.org/drawingml/2006/main">
            <a:r>
              <a:t>Evidence:EOV-V029-2024-1,EOV-V029-2026-1,EOV-W04</a:t>
            </a:r>
          </a:p>
          <a:p xmlns:a="http://schemas.openxmlformats.org/drawingml/2006/main">
            <a:r>
              <a:t/>
            </a:r>
          </a:p>
          <a:p xmlns:a="http://schemas.openxmlformats.org/drawingml/2006/main">
            <a:r>
              <a:t>B10-4 共立精機株式会社 / 全自動計測システム　HP-6040V-FA / W2025</a:t>
            </a:r>
          </a:p>
          <a:p xmlns:a="http://schemas.openxmlformats.org/drawingml/2006/main">
            <a:r>
              <a:t>対象:工具を測定・調整し、交換する段取り</a:t>
            </a:r>
          </a:p>
          <a:p xmlns:a="http://schemas.openxmlformats.org/drawingml/2006/main">
            <a:r>
              <a:t>公式要約:工具の交換、突き出し量調整、刃先測定を連続自動化し、インサート交換装置も展示。</a:t>
            </a:r>
          </a:p>
          <a:p xmlns:a="http://schemas.openxmlformats.org/drawingml/2006/main">
            <a:r>
              <a:t>年度:HP-6040V-FAによる工具段取り自動化は2024にも記載。2026は交換工程等を具体説明。</a:t>
            </a:r>
          </a:p>
          <a:p xmlns:a="http://schemas.openxmlformats.org/drawingml/2006/main">
            <a:r>
              <a:t>人・未確認:工具・チップの補給や品種設定、不良時の復旧は要確認。</a:t>
            </a:r>
          </a:p>
          <a:p xmlns:a="http://schemas.openxmlformats.org/drawingml/2006/main">
            <a:r>
              <a:t>Evidence:EEX-EXH-2026-1c8938d47b63e4bb,EEX-EXH-2024-3a9bfb48fcb6542c</a:t>
            </a:r>
          </a:p>
          <a:p xmlns:a="http://schemas.openxmlformats.org/drawingml/2006/main">
            <a:r>
              <a:t/>
            </a:r>
          </a:p>
          <a:p xmlns:a="http://schemas.openxmlformats.org/drawingml/2006/main">
            <a:r>
              <a:t>ワーク・パレット・切粉の搬送</a:t>
            </a:r>
          </a:p>
          <a:p xmlns:a="http://schemas.openxmlformats.org/drawingml/2006/main">
            <a:r>
              <a:t>B11-1 DMG森精機 / MATRIS WPH 210 / E8005</a:t>
            </a:r>
          </a:p>
          <a:p xmlns:a="http://schemas.openxmlformats.org/drawingml/2006/main">
            <a:r>
              <a:t>対象:ワークとパレットを加工機へ供給する</a:t>
            </a:r>
          </a:p>
          <a:p xmlns:a="http://schemas.openxmlformats.org/drawingml/2006/main">
            <a:r>
              <a:t>公式要約:MATRIS WPH 210がワークとパレット両方を供給。</a:t>
            </a:r>
          </a:p>
          <a:p xmlns:a="http://schemas.openxmlformats.org/drawingml/2006/main">
            <a:r>
              <a:t>年度:2024のPH Cell等に対しWPH 210を日本初公開と記載。</a:t>
            </a:r>
          </a:p>
          <a:p xmlns:a="http://schemas.openxmlformats.org/drawingml/2006/main">
            <a:r>
              <a:t>人・未確認:把持・治具・品種切替の事前準備と異常対応は未確認。</a:t>
            </a:r>
          </a:p>
          <a:p xmlns:a="http://schemas.openxmlformats.org/drawingml/2006/main">
            <a:r>
              <a:t>Evidence:EOV-V001-2024-1,EOV-V001-2026-1</a:t>
            </a:r>
          </a:p>
          <a:p xmlns:a="http://schemas.openxmlformats.org/drawingml/2006/main">
            <a:r>
              <a:t/>
            </a:r>
          </a:p>
          <a:p xmlns:a="http://schemas.openxmlformats.org/drawingml/2006/main">
            <a:r>
              <a:t>B11-2 オークマ / ARMROID／OMR20 / E3028</a:t>
            </a:r>
          </a:p>
          <a:p xmlns:a="http://schemas.openxmlformats.org/drawingml/2006/main">
            <a:r>
              <a:t>対象:加工機へのワーク搬入出を自動化する</a:t>
            </a:r>
          </a:p>
          <a:p xmlns:a="http://schemas.openxmlformats.org/drawingml/2006/main">
            <a:r>
              <a:t>公式要約:ARMROID機内ロボット、OMR20等で工作機械の自動化を構成。</a:t>
            </a:r>
          </a:p>
          <a:p xmlns:a="http://schemas.openxmlformats.org/drawingml/2006/main">
            <a:r>
              <a:t>年度:ARMROID・OMR20は2024にも掲載。2026も継続。</a:t>
            </a:r>
          </a:p>
          <a:p xmlns:a="http://schemas.openxmlformats.org/drawingml/2006/main">
            <a:r>
              <a:t>人・未確認:手動との切替と品種変更の介入範囲は未確認。</a:t>
            </a:r>
          </a:p>
          <a:p xmlns:a="http://schemas.openxmlformats.org/drawingml/2006/main">
            <a:r>
              <a:t>Evidence:EOV-V003-2024-1,EOV-V003-2026-1</a:t>
            </a:r>
          </a:p>
          <a:p xmlns:a="http://schemas.openxmlformats.org/drawingml/2006/main">
            <a:r>
              <a:t/>
            </a:r>
          </a:p>
          <a:p xmlns:a="http://schemas.openxmlformats.org/drawingml/2006/main">
            <a:r>
              <a:t>B11-3 株式会社白山機工 / AMRによる切り屑自動回収 / E2007</a:t>
            </a:r>
          </a:p>
          <a:p xmlns:a="http://schemas.openxmlformats.org/drawingml/2006/main">
            <a:r>
              <a:t>対象:加工機から出る切粉容器を回収する</a:t>
            </a:r>
          </a:p>
          <a:p xmlns:a="http://schemas.openxmlformats.org/drawingml/2006/main">
            <a:r>
              <a:t>公式要約:AMRで切粉容器を回収。実演と模型を併記。</a:t>
            </a:r>
          </a:p>
          <a:p xmlns:a="http://schemas.openxmlformats.org/drawingml/2006/main">
            <a:r>
              <a:t>年度:2024のろ過・集中処理から、2026はAMR回収を追加記載。</a:t>
            </a:r>
          </a:p>
          <a:p xmlns:a="http://schemas.openxmlformats.org/drawingml/2006/main">
            <a:r>
              <a:t>人・未確認:満杯・こぼれ・ドッキング失敗・容器交換の対応は未確認。</a:t>
            </a:r>
          </a:p>
          <a:p xmlns:a="http://schemas.openxmlformats.org/drawingml/2006/main">
            <a:r>
              <a:t>Evidence:EEX-EXH-2026-d8a50e23a9101b11,EEX-EXH-2024-89cb7807f64be75b,EDP-29</a:t>
            </a:r>
          </a:p>
          <a:p xmlns:a="http://schemas.openxmlformats.org/drawingml/2006/main">
            <a:r>
              <a:t/>
            </a:r>
          </a:p>
          <a:p xmlns:a="http://schemas.openxmlformats.org/drawingml/2006/main">
            <a:r>
              <a:t>認識を伴うピック・付帯加工・除去</a:t>
            </a:r>
          </a:p>
          <a:p xmlns:a="http://schemas.openxmlformats.org/drawingml/2006/main">
            <a:r>
              <a:t>B12-1 TAKISAWA / TR-20W：主軸の切粉除去 / E3013</a:t>
            </a:r>
          </a:p>
          <a:p xmlns:a="http://schemas.openxmlformats.org/drawingml/2006/main">
            <a:r>
              <a:t>対象:主軸に絡まった切粉を取り除く</a:t>
            </a:r>
          </a:p>
          <a:p xmlns:a="http://schemas.openxmlformats.org/drawingml/2006/main">
            <a:r>
              <a:t>公式要約:TAKISAWAは切粉の絡まりを判断し主軸の切粉を除去する参考出品。</a:t>
            </a:r>
          </a:p>
          <a:p xmlns:a="http://schemas.openxmlformats.org/drawingml/2006/main">
            <a:r>
              <a:t>年度:2024 TR-20Wは搬入出。2026は切粉除去を追加記載。</a:t>
            </a:r>
          </a:p>
          <a:p xmlns:a="http://schemas.openxmlformats.org/drawingml/2006/main">
            <a:r>
              <a:t>人・未確認:許可動作、除去失敗の検出・再試行・人への引継ぎは未確認。</a:t>
            </a:r>
          </a:p>
          <a:p xmlns:a="http://schemas.openxmlformats.org/drawingml/2006/main">
            <a:r>
              <a:t>Evidence:EOV-V030-2024-1,EOV-V030-2026-1,EAT-N01,EAT-N02,ERF-13</a:t>
            </a:r>
          </a:p>
          <a:p xmlns:a="http://schemas.openxmlformats.org/drawingml/2006/main">
            <a:r>
              <a:t/>
            </a:r>
          </a:p>
          <a:p xmlns:a="http://schemas.openxmlformats.org/drawingml/2006/main">
            <a:r>
              <a:t>B12-2 カネテック株式会社 / マグネットピンセット：AI・2Dカメラ・協働ロボット / W2013</a:t>
            </a:r>
          </a:p>
          <a:p xmlns:a="http://schemas.openxmlformats.org/drawingml/2006/main">
            <a:r>
              <a:t>対象:ばら積みの小径ねじ・小部品を拾う</a:t>
            </a:r>
          </a:p>
          <a:p xmlns:a="http://schemas.openxmlformats.org/drawingml/2006/main">
            <a:r>
              <a:t>公式要約:カメラ・協働ロボット・磁気ピンセットで小径ねじ等をピック。</a:t>
            </a:r>
          </a:p>
          <a:p xmlns:a="http://schemas.openxmlformats.org/drawingml/2006/main">
            <a:r>
              <a:t>年度:同種構成は2024あり。2026はAIを明記、性能増分は不明。</a:t>
            </a:r>
          </a:p>
          <a:p xmlns:a="http://schemas.openxmlformats.org/drawingml/2006/main">
            <a:r>
              <a:t>人・未確認:複数個吸着・空振り等の処理、AI担当の詳細は未公開。</a:t>
            </a:r>
          </a:p>
          <a:p xmlns:a="http://schemas.openxmlformats.org/drawingml/2006/main">
            <a:r>
              <a:t>Evidence:EEX-EXH-2026-30b70a74241de123,EEX-EXH-2024-45415d070f47dc6e,EDP-01</a:t>
            </a:r>
          </a:p>
          <a:p xmlns:a="http://schemas.openxmlformats.org/drawingml/2006/main">
            <a:r>
              <a:t/>
            </a:r>
          </a:p>
          <a:p xmlns:a="http://schemas.openxmlformats.org/drawingml/2006/main">
            <a:r>
              <a:t>B12-3 東京エレクトロンデバイス株式会社 / 3D形状認識・教示不要の面取り／皿もみ / E7073</a:t>
            </a:r>
          </a:p>
          <a:p xmlns:a="http://schemas.openxmlformats.org/drawingml/2006/main">
            <a:r>
              <a:t>対象:不定形ワークの面取り・皿もみを行う</a:t>
            </a:r>
          </a:p>
          <a:p xmlns:a="http://schemas.openxmlformats.org/drawingml/2006/main">
            <a:r>
              <a:t>公式要約:3Dスキャンから不定形ワークを認識し面取り等の軌道を生成。</a:t>
            </a:r>
          </a:p>
          <a:p xmlns:a="http://schemas.openxmlformats.org/drawingml/2006/main">
            <a:r>
              <a:t>年度:2024同名比較不能。2026の具体タスクは確認。</a:t>
            </a:r>
          </a:p>
          <a:p xmlns:a="http://schemas.openxmlformats.org/drawingml/2006/main">
            <a:r>
              <a:t>人・未確認:加工条件設定、干渉確認、誤認識時の停止・品質承認は未公開。</a:t>
            </a:r>
          </a:p>
          <a:p xmlns:a="http://schemas.openxmlformats.org/drawingml/2006/main">
            <a:r>
              <a:t>Evidence:EEX-EXH-2026-8c08de1ffed47316,EEX-WTED</a:t>
            </a:r>
          </a:p>
          <a:p xmlns:a="http://schemas.openxmlformats.org/drawingml/2006/main">
            <a:r>
              <a:t/>
            </a:r>
          </a:p>
          <a:p xmlns:a="http://schemas.openxmlformats.org/drawingml/2006/main">
            <a:r>
              <a:t>B12-4 株式会社ジーベックテクノロジー / XEBEC CPS オートホルダー / WA006</a:t>
            </a:r>
          </a:p>
          <a:p xmlns:a="http://schemas.openxmlformats.org/drawingml/2006/main">
            <a:r>
              <a:t>対象:バリ取り中のブラシ摩耗を補う</a:t>
            </a:r>
          </a:p>
          <a:p xmlns:a="http://schemas.openxmlformats.org/drawingml/2006/main">
            <a:r>
              <a:t>公式要約:ブラシ摩耗に応じて突出し量を自動調整するホルダーを、ロボットのギヤバリ取りに組み合わせる。</a:t>
            </a:r>
          </a:p>
          <a:p xmlns:a="http://schemas.openxmlformats.org/drawingml/2006/main">
            <a:r>
              <a:t>年度:2024はバリ取り自動化工具を紹介。2026は摩耗に伴う人の調整を減らす構成を具体記載。</a:t>
            </a:r>
          </a:p>
          <a:p xmlns:a="http://schemas.openxmlformats.org/drawingml/2006/main">
            <a:r>
              <a:t>人・未確認:加工条件・ブラシ選定と、不良時の調整は要確認。</a:t>
            </a:r>
          </a:p>
          <a:p xmlns:a="http://schemas.openxmlformats.org/drawingml/2006/main">
            <a:r>
              <a:t>Evidence:EEX-EXH-2026-ba283a239e52d644,EEX-EXH-2024-1632c66ef4d28e78</a:t>
            </a:r>
          </a:p>
          <a:p xmlns:a="http://schemas.openxmlformats.org/drawingml/2006/main">
            <a:r>
              <a:t/>
            </a:r>
          </a:p>
          <a:p xmlns:a="http://schemas.openxmlformats.org/drawingml/2006/main">
            <a:r>
              <a:t>現場エージェント・遠隔介入</a:t>
            </a:r>
          </a:p>
          <a:p xmlns:a="http://schemas.openxmlformats.org/drawingml/2006/main">
            <a:r>
              <a:t>B13-1 ベッコフオートメーション / TwinCAT CoAgent for Operations / E2028</a:t>
            </a:r>
          </a:p>
          <a:p xmlns:a="http://schemas.openxmlformats.org/drawingml/2006/main">
            <a:r>
              <a:t>対象:機械のアラーム原因と対処方法を調べる</a:t>
            </a:r>
          </a:p>
          <a:p xmlns:a="http://schemas.openxmlformats.org/drawingml/2006/main">
            <a:r>
              <a:t>公式要約:Operationsは機械データと文書から原因仮説・対処案を作る。</a:t>
            </a:r>
          </a:p>
          <a:p xmlns:a="http://schemas.openxmlformats.org/drawingml/2006/main">
            <a:r>
              <a:t>年度:2024比較不能。製品発表・投入時期要問合せ。</a:t>
            </a:r>
          </a:p>
          <a:p xmlns:a="http://schemas.openxmlformats.org/drawingml/2006/main">
            <a:r>
              <a:t>人・未確認:専門家が制御権保持。毎回承認・書込権限・失敗復帰は未公開。</a:t>
            </a:r>
          </a:p>
          <a:p xmlns:a="http://schemas.openxmlformats.org/drawingml/2006/main">
            <a:r>
              <a:t>Evidence:EOV-V005-2026-1,EAT-N04,EAT-N05,EDP-03,ERF-02</a:t>
            </a:r>
          </a:p>
          <a:p xmlns:a="http://schemas.openxmlformats.org/drawingml/2006/main">
            <a:r>
              <a:t/>
            </a:r>
          </a:p>
          <a:p xmlns:a="http://schemas.openxmlformats.org/drawingml/2006/main">
            <a:r>
              <a:t>B13-2 ソフィックス / SOFIXCAN Fleeter＋AI Forecast：ミニ工場 / E1067</a:t>
            </a:r>
          </a:p>
          <a:p xmlns:a="http://schemas.openxmlformats.org/drawingml/2006/main">
            <a:r>
              <a:t>対象:設備・搬送を連携し予測を活用する</a:t>
            </a:r>
          </a:p>
          <a:p xmlns:a="http://schemas.openxmlformats.org/drawingml/2006/main">
            <a:r>
              <a:t>公式要約:AI Forecastの予測とFleeterの機器連携をミニ工場で紹介。</a:t>
            </a:r>
          </a:p>
          <a:p xmlns:a="http://schemas.openxmlformats.org/drawingml/2006/main">
            <a:r>
              <a:t>年度:Fleeterミニ工場は2025にも予告済み。2026初とはしない。</a:t>
            </a:r>
          </a:p>
          <a:p xmlns:a="http://schemas.openxmlformats.org/drawingml/2006/main">
            <a:r>
              <a:t>人・未確認:予測から指令への権限、通信・搬送失敗時の復帰は未公開。</a:t>
            </a:r>
          </a:p>
          <a:p xmlns:a="http://schemas.openxmlformats.org/drawingml/2006/main">
            <a:r>
              <a:t>Evidence:EOV-V015-2024-1,EOV-V015-2026-1,EDP-21,EDP-22,EDP-23</a:t>
            </a:r>
          </a:p>
          <a:p xmlns:a="http://schemas.openxmlformats.org/drawingml/2006/main">
            <a:r>
              <a:t/>
            </a:r>
          </a:p>
          <a:p xmlns:a="http://schemas.openxmlformats.org/drawingml/2006/main">
            <a:r>
              <a:t>B13-3 パナソニックプロダクションエンジニアリング / X-Area Remote / W3086</a:t>
            </a:r>
          </a:p>
          <a:p xmlns:a="http://schemas.openxmlformats.org/drawingml/2006/main">
            <a:r>
              <a:t>対象:停止した搬送車を人が遠隔で復帰させる</a:t>
            </a:r>
          </a:p>
          <a:p xmlns:a="http://schemas.openxmlformats.org/drawingml/2006/main">
            <a:r>
              <a:t>公式要約:X-Area Remote実証では停止車両を人が遠隔操作して回避。</a:t>
            </a:r>
          </a:p>
          <a:p xmlns:a="http://schemas.openxmlformats.org/drawingml/2006/main">
            <a:r>
              <a:t>年度:2026/7実証で人の担当を具体確認。2024個別比較不能。</a:t>
            </a:r>
          </a:p>
          <a:p xmlns:a="http://schemas.openxmlformats.org/drawingml/2006/main">
            <a:r>
              <a:t>人・未確認:運行担当者が介入。実証はセーフティドライバー搭乗。</a:t>
            </a:r>
          </a:p>
          <a:p xmlns:a="http://schemas.openxmlformats.org/drawingml/2006/main">
            <a:r>
              <a:t>Evidence:EOV-V016-2026-1,EOV-W05,EOV-W09,EDP-24</a:t>
            </a:r>
          </a:p>
          <a:p xmlns:a="http://schemas.openxmlformats.org/drawingml/2006/main">
            <a:r>
              <a:t/>
            </a:r>
          </a:p>
          <a:p xmlns:a="http://schemas.openxmlformats.org/drawingml/2006/main">
            <a:r>
              <a:t>工場データ・計画・資源の連携</a:t>
            </a:r>
          </a:p>
          <a:p xmlns:a="http://schemas.openxmlformats.org/drawingml/2006/main">
            <a:r>
              <a:t>B14-1 WinTool AG / WinTool：工具情報と現物・工程資源の連携 / E1049</a:t>
            </a:r>
          </a:p>
          <a:p xmlns:a="http://schemas.openxmlformats.org/drawingml/2006/main">
            <a:r>
              <a:t>対象:工具情報・所在・在庫を工程と結ぶ</a:t>
            </a:r>
          </a:p>
          <a:p xmlns:a="http://schemas.openxmlformats.org/drawingml/2006/main">
            <a:r>
              <a:t>公式要約:WinToolは工具情報と工程資源を連携。在庫ルールで購買要求。</a:t>
            </a:r>
          </a:p>
          <a:p xmlns:a="http://schemas.openxmlformats.org/drawingml/2006/main">
            <a:r>
              <a:t>年度:工具・CAM・在庫連携は2024から継続。2026は資源の一貫性を強調。</a:t>
            </a:r>
          </a:p>
          <a:p xmlns:a="http://schemas.openxmlformats.org/drawingml/2006/main">
            <a:r>
              <a:t>人・未確認:管理者承認後ERPへ送信。AIによる自律発注とは記載なし。</a:t>
            </a:r>
          </a:p>
          <a:p xmlns:a="http://schemas.openxmlformats.org/drawingml/2006/main">
            <a:r>
              <a:t>Evidence:EEX-EXH-2026-4fb92ba6b82546d7,EEX-EXH-2024-3f1fa1966a57e011,EDP-18,EDP-19</a:t>
            </a:r>
          </a:p>
          <a:p xmlns:a="http://schemas.openxmlformats.org/drawingml/2006/main">
            <a:r>
              <a:t/>
            </a:r>
          </a:p>
          <a:p xmlns:a="http://schemas.openxmlformats.org/drawingml/2006/main">
            <a:r>
              <a:t>B14-2 Smart Craft / Smart Craft MES / S3002</a:t>
            </a:r>
          </a:p>
          <a:p xmlns:a="http://schemas.openxmlformats.org/drawingml/2006/main">
            <a:r>
              <a:t>対象:作業記録・指示・製造履歴を管理する</a:t>
            </a:r>
          </a:p>
          <a:p xmlns:a="http://schemas.openxmlformats.org/drawingml/2006/main">
            <a:r>
              <a:t>公式要約:Smart Craft MESは記録・指示・履歴を一元管理しAPI連携。</a:t>
            </a:r>
          </a:p>
          <a:p xmlns:a="http://schemas.openxmlformats.org/drawingml/2006/main">
            <a:r>
              <a:t>年度:2024個別比較不能。</a:t>
            </a:r>
          </a:p>
          <a:p xmlns:a="http://schemas.openxmlformats.org/drawingml/2006/main">
            <a:r>
              <a:t>人・未確認:AI分析の内容や判断権限、入力作業の残りは未確認。</a:t>
            </a:r>
          </a:p>
          <a:p xmlns:a="http://schemas.openxmlformats.org/drawingml/2006/main">
            <a:r>
              <a:t>Evidence:EOV-V013-2026-1</a:t>
            </a:r>
          </a:p>
          <a:p xmlns:a="http://schemas.openxmlformats.org/drawingml/2006/main">
            <a:r>
              <a:t/>
            </a:r>
          </a:p>
          <a:p xmlns:a="http://schemas.openxmlformats.org/drawingml/2006/main">
            <a:r>
              <a:t>B14-3 ものレボ / MonoRevo：工程計画・スケジューリング / W3042</a:t>
            </a:r>
          </a:p>
          <a:p xmlns:a="http://schemas.openxmlformats.org/drawingml/2006/main">
            <a:r>
              <a:t>対象:工程の順番と生産予定を組む</a:t>
            </a:r>
          </a:p>
          <a:p xmlns:a="http://schemas.openxmlformats.org/drawingml/2006/main">
            <a:r>
              <a:t>公式要約:MonoRevoは工程設計・計画・進捗をまとめ自動計画を支援。</a:t>
            </a:r>
          </a:p>
          <a:p xmlns:a="http://schemas.openxmlformats.org/drawingml/2006/main">
            <a:r>
              <a:t>年度:2024個別比較不能。2026は自動スケジューリングを記載。</a:t>
            </a:r>
          </a:p>
          <a:p xmlns:a="http://schemas.openxmlformats.org/drawingml/2006/main">
            <a:r>
              <a:t>人・未確認:計画制約・再計画確定者・例外対応は未確認。</a:t>
            </a:r>
          </a:p>
          <a:p xmlns:a="http://schemas.openxmlformats.org/drawingml/2006/main">
            <a:r>
              <a:t>Evidence:EOV-V014-2026-1</a:t>
            </a:r>
          </a:p>
          <a:p xmlns:a="http://schemas.openxmlformats.org/drawingml/2006/main">
            <a:r>
              <a:t/>
            </a:r>
          </a:p>
          <a:p xmlns:a="http://schemas.openxmlformats.org/drawingml/2006/main">
            <a:r>
              <a:t>AIモデル作成・機器接続の基盤</a:t>
            </a:r>
          </a:p>
          <a:p xmlns:a="http://schemas.openxmlformats.org/drawingml/2006/main">
            <a:r>
              <a:t>B15-1 ベッコフオートメーション / TwinCAT Machine Learning Creator / E2028</a:t>
            </a:r>
          </a:p>
          <a:p xmlns:a="http://schemas.openxmlformats.org/drawingml/2006/main">
            <a:r>
              <a:t>対象:現場データから判定モデルを作る</a:t>
            </a:r>
          </a:p>
          <a:p xmlns:a="http://schemas.openxmlformats.org/drawingml/2006/main">
            <a:r>
              <a:t>公式要約:ML Creatorは学習・モデル選択を自動化し、解析とONNX出力を支援。</a:t>
            </a:r>
          </a:p>
          <a:p xmlns:a="http://schemas.openxmlformats.org/drawingml/2006/main">
            <a:r>
              <a:t>年度:データ分割・ONNX統合は2024公式資料にも記載。</a:t>
            </a:r>
          </a:p>
          <a:p xmlns:a="http://schemas.openxmlformats.org/drawingml/2006/main">
            <a:r>
              <a:t>人・未確認:人がデータ・注釈・目的を準備。実機採用基準は要確認。</a:t>
            </a:r>
          </a:p>
          <a:p xmlns:a="http://schemas.openxmlformats.org/drawingml/2006/main">
            <a:r>
              <a:t>Evidence:EOV-V005-2026-1,EOV-W01,EDP-04</a:t>
            </a:r>
          </a:p>
          <a:p xmlns:a="http://schemas.openxmlformats.org/drawingml/2006/main">
            <a:r>
              <a:t/>
            </a:r>
          </a:p>
          <a:p xmlns:a="http://schemas.openxmlformats.org/drawingml/2006/main">
            <a:r>
              <a:t>B15-2 たけびし / OPC UA情報モデルとエージェント連携 / S3015</a:t>
            </a:r>
          </a:p>
          <a:p xmlns:a="http://schemas.openxmlformats.org/drawingml/2006/main">
            <a:r>
              <a:t>対象:設備データをAIが扱える形で渡す</a:t>
            </a:r>
          </a:p>
          <a:p xmlns:a="http://schemas.openxmlformats.org/drawingml/2006/main">
            <a:r>
              <a:t>公式要約:OPC UA情報モデルで機器情報をエージェントへ連携する構想。</a:t>
            </a:r>
          </a:p>
          <a:p xmlns:a="http://schemas.openxmlformats.org/drawingml/2006/main">
            <a:r>
              <a:t>年度:2024は多ベンダー接続。2026はAI連携シナリオを追加。</a:t>
            </a:r>
          </a:p>
          <a:p xmlns:a="http://schemas.openxmlformats.org/drawingml/2006/main">
            <a:r>
              <a:t>人・未確認:公開するデータ・メソッド、書込権限、承認と復帰は未確認。</a:t>
            </a:r>
          </a:p>
          <a:p xmlns:a="http://schemas.openxmlformats.org/drawingml/2006/main">
            <a:r>
              <a:t>Evidence:EOV-V011-2024-1,EOV-V011-2026-1,EDP-06</a:t>
            </a:r>
          </a:p>
          <a:p xmlns:a="http://schemas.openxmlformats.org/drawingml/2006/main">
            <a:r>
              <a:t/>
            </a:r>
          </a:p>
          <a:p xmlns:a="http://schemas.openxmlformats.org/drawingml/2006/main">
            <a:r>
              <a:t>B15-3 シーイーシー / Facteye／Resolana / E2006</a:t>
            </a:r>
          </a:p>
          <a:p xmlns:a="http://schemas.openxmlformats.org/drawingml/2006/main">
            <a:r>
              <a:t>対象:既設設備の情報を集め品質と結ぶ</a:t>
            </a:r>
          </a:p>
          <a:p xmlns:a="http://schemas.openxmlformats.org/drawingml/2006/main">
            <a:r>
              <a:t>公式要約:既設設備のデータ収集・可視化を品質やAI利用へ接続。</a:t>
            </a:r>
          </a:p>
          <a:p xmlns:a="http://schemas.openxmlformats.org/drawingml/2006/main">
            <a:r>
              <a:t>年度:収集・対話AIは2024にも説明。2026は連携課題を具体化。</a:t>
            </a:r>
          </a:p>
          <a:p xmlns:a="http://schemas.openxmlformats.org/drawingml/2006/main">
            <a:r>
              <a:t>人・未確認:自動制御や工場全体最適化の実装は未確認。</a:t>
            </a:r>
          </a:p>
          <a:p xmlns:a="http://schemas.openxmlformats.org/drawingml/2006/main">
            <a:r>
              <a:t>Evidence:EOV-V012-2024-1,EOV-V012-2026-1</a:t>
            </a:r>
          </a:p>
          <a:p xmlns:a="http://schemas.openxmlformats.org/drawingml/2006/main">
            <a:r>
              <a:t/>
            </a:r>
          </a:p>
          <a:p xmlns:a="http://schemas.openxmlformats.org/drawingml/2006/main">
            <a:r>
              <a:t>デジタルツイン・物理学習用データ</a:t>
            </a:r>
          </a:p>
          <a:p xmlns:a="http://schemas.openxmlformats.org/drawingml/2006/main">
            <a:r>
              <a:t>B16-1 ファナック / FANUC Smart Digital Twin / S2001</a:t>
            </a:r>
          </a:p>
          <a:p xmlns:a="http://schemas.openxmlformats.org/drawingml/2006/main">
            <a:r>
              <a:t>対象:加工前に機械の動きを確かめる</a:t>
            </a:r>
          </a:p>
          <a:p xmlns:a="http://schemas.openxmlformats.org/drawingml/2006/main">
            <a:r>
              <a:t>公式要約:Smart Digital Twinで加工前の挙動確認を支援。</a:t>
            </a:r>
          </a:p>
          <a:p xmlns:a="http://schemas.openxmlformats.org/drawingml/2006/main">
            <a:r>
              <a:t>年度:同名ツインは2024から継続。</a:t>
            </a:r>
          </a:p>
          <a:p xmlns:a="http://schemas.openxmlformats.org/drawingml/2006/main">
            <a:r>
              <a:t>人・未確認:モデルと実機の一致や、検証対象外事象の扱いは未確認。</a:t>
            </a:r>
          </a:p>
          <a:p xmlns:a="http://schemas.openxmlformats.org/drawingml/2006/main">
            <a:r>
              <a:t>Evidence:EOV-V002-2024-1,EOV-V002-2026-1</a:t>
            </a:r>
          </a:p>
          <a:p xmlns:a="http://schemas.openxmlformats.org/drawingml/2006/main">
            <a:r>
              <a:t/>
            </a:r>
          </a:p>
          <a:p xmlns:a="http://schemas.openxmlformats.org/drawingml/2006/main">
            <a:r>
              <a:t>B16-2 シーメンス株式会社 / Digital Thread：工作機械ツイン・工程内品質保証 / E3006</a:t>
            </a:r>
          </a:p>
          <a:p xmlns:a="http://schemas.openxmlformats.org/drawingml/2006/main">
            <a:r>
              <a:t>対象:加工の仮想検証・計測連携を確認する</a:t>
            </a:r>
          </a:p>
          <a:p xmlns:a="http://schemas.openxmlformats.org/drawingml/2006/main">
            <a:r>
              <a:t>公式要約:Tokn工作機械ツイン、Equator品質保証、ヒューマノイドを別展示。</a:t>
            </a:r>
          </a:p>
          <a:p xmlns:a="http://schemas.openxmlformats.org/drawingml/2006/main">
            <a:r>
              <a:t>年度:Toknの仮想訓練は2024完了の公式事例あり。</a:t>
            </a:r>
          </a:p>
          <a:p xmlns:a="http://schemas.openxmlformats.org/drawingml/2006/main">
            <a:r>
              <a:t>人・未確認:海外HMND実証とJIMTOFの機体・タスクの同一性は未確認。</a:t>
            </a:r>
          </a:p>
          <a:p xmlns:a="http://schemas.openxmlformats.org/drawingml/2006/main">
            <a:r>
              <a:t>Evidence:EEX-EXH-2026-9b991dd8132f51dc,EEX-EXH-2024-558faea07a73f5d8,EDP-16,EDP-17</a:t>
            </a:r>
          </a:p>
          <a:p xmlns:a="http://schemas.openxmlformats.org/drawingml/2006/main">
            <a:r>
              <a:t/>
            </a:r>
          </a:p>
          <a:p xmlns:a="http://schemas.openxmlformats.org/drawingml/2006/main">
            <a:r>
              <a:t>B16-3 NdotLight Co., Ltd. / TRINIX：CADから物理シミュレーション用データ生成 / S4004</a:t>
            </a:r>
          </a:p>
          <a:p xmlns:a="http://schemas.openxmlformats.org/drawingml/2006/main">
            <a:r>
              <a:t>対象:物理シミュレーション用の3Dデータを作る</a:t>
            </a:r>
          </a:p>
          <a:p xmlns:a="http://schemas.openxmlformats.org/drawingml/2006/main">
            <a:r>
              <a:t>公式要約:TRINIXはCADから形状・物理属性等を生成し検証・自己修正を説明。</a:t>
            </a:r>
          </a:p>
          <a:p xmlns:a="http://schemas.openxmlformats.org/drawingml/2006/main">
            <a:r>
              <a:t>年度:2024同名比較不能。DexBenchは共同開発告知で完成済み標準とはしない。</a:t>
            </a:r>
          </a:p>
          <a:p xmlns:a="http://schemas.openxmlformats.org/drawingml/2006/main">
            <a:r>
              <a:t>人・未確認:実測値と推定値の区別、人の承認、収束しない時の対応は未公開。</a:t>
            </a:r>
          </a:p>
          <a:p xmlns:a="http://schemas.openxmlformats.org/drawingml/2006/main">
            <a:r>
              <a:t>Evidence:EEX-EXH-2026-016097f87d1914b2,EEX-WNDOT,ERF-06,ERF-07,ERF-08,ERF-09</a:t>
            </a:r>
          </a:p>
          <a:p xmlns:a="http://schemas.openxmlformats.org/drawingml/2006/main">
            <a:r>
              <a:t/>
            </a:r>
          </a:p>
          <a:p xmlns:a="http://schemas.openxmlformats.org/drawingml/2006/main">
            <a:r>
              <a:t>展示段階と自律化の境界</a:t>
            </a:r>
          </a:p>
          <a:p xmlns:a="http://schemas.openxmlformats.org/drawingml/2006/main">
            <a:r>
              <a:t>B17-1 ファナック / 生成AIによるロボット駆動 / S2001</a:t>
            </a:r>
          </a:p>
          <a:p xmlns:a="http://schemas.openxmlformats.org/drawingml/2006/main">
            <a:r>
              <a:t>対象:指示からロボットを動かす（具体作業未公表）</a:t>
            </a:r>
          </a:p>
          <a:p xmlns:a="http://schemas.openxmlformats.org/drawingml/2006/main">
            <a:r>
              <a:t>公式要約:ファナックは生成AIによるロボット駆動事例を展示予定。</a:t>
            </a:r>
          </a:p>
          <a:p xmlns:a="http://schemas.openxmlformats.org/drawingml/2006/main">
            <a:r>
              <a:t>年度:2024はAIバラ積み等。2026は生成AI駆動を追加記載。</a:t>
            </a:r>
          </a:p>
          <a:p xmlns:a="http://schemas.openxmlformats.org/drawingml/2006/main">
            <a:r>
              <a:t>人・未確認:機体・対象タスク・教示・停止・承認の具体範囲は未確認。</a:t>
            </a:r>
          </a:p>
          <a:p xmlns:a="http://schemas.openxmlformats.org/drawingml/2006/main">
            <a:r>
              <a:t>Evidence:EOV-V002-2024-1,EOV-V002-2026-1</a:t>
            </a:r>
          </a:p>
          <a:p xmlns:a="http://schemas.openxmlformats.org/drawingml/2006/main">
            <a:r>
              <a:t/>
            </a:r>
          </a:p>
          <a:p xmlns:a="http://schemas.openxmlformats.org/drawingml/2006/main">
            <a:r>
              <a:t>B17-2 東京貿易テクノシステム / RBY Series 双腕移動ヒューマノイド / E7038</a:t>
            </a:r>
          </a:p>
          <a:p xmlns:a="http://schemas.openxmlformats.org/drawingml/2006/main">
            <a:r>
              <a:t>対象:双腕人型ロボットを遠隔操作・教示する</a:t>
            </a:r>
          </a:p>
          <a:p xmlns:a="http://schemas.openxmlformats.org/drawingml/2006/main">
            <a:r>
              <a:t>公式要約:RBY双腕移動ヒューマノイドはテレオペと作業教示の参考出展。</a:t>
            </a:r>
          </a:p>
          <a:p xmlns:a="http://schemas.openxmlformats.org/drawingml/2006/main">
            <a:r>
              <a:t>年度:2024の個別差は未照合。</a:t>
            </a:r>
          </a:p>
          <a:p xmlns:a="http://schemas.openxmlformats.org/drawingml/2006/main">
            <a:r>
              <a:t>人・未確認:人が遠隔操作・教示。自律作業の範囲は未確認。</a:t>
            </a:r>
          </a:p>
          <a:p xmlns:a="http://schemas.openxmlformats.org/drawingml/2006/main">
            <a:r>
              <a:t>Evidence:RPT-EXH-2026-d7b599b5d3045611,RPT-EXH-2024-5cbad6b0326d2bee</a:t>
            </a:r>
          </a:p>
          <a:p xmlns:a="http://schemas.openxmlformats.org/drawingml/2006/main">
            <a:r>
              <a:t/>
            </a:r>
          </a:p>
          <a:p xmlns:a="http://schemas.openxmlformats.org/drawingml/2006/main">
            <a:r>
              <a:t>B17-3 神崎高級工機 / FD100 ギヤチェッカー / E1071</a:t>
            </a:r>
          </a:p>
          <a:p xmlns:a="http://schemas.openxmlformats.org/drawingml/2006/main">
            <a:r>
              <a:t>対象:歯車の加工前状態を測り段取りを助ける</a:t>
            </a:r>
          </a:p>
          <a:p xmlns:a="http://schemas.openxmlformats.org/drawingml/2006/main">
            <a:r>
              <a:t>公式要約:FD100に歯合わせ・前加工計測。計測による条件最適化は開発中。</a:t>
            </a:r>
          </a:p>
          <a:p xmlns:a="http://schemas.openxmlformats.org/drawingml/2006/main">
            <a:r>
              <a:t>年度:2024の構造改善等に対し段取りを具体化。開発中を実用済みとしない。</a:t>
            </a:r>
          </a:p>
          <a:p xmlns:a="http://schemas.openxmlformats.org/drawingml/2006/main">
            <a:r>
              <a:t>人・未確認:最適化方式と人の承認、自動反映範囲は未公表。</a:t>
            </a:r>
          </a:p>
          <a:p xmlns:a="http://schemas.openxmlformats.org/drawingml/2006/main">
            <a:r>
              <a:t>Evidence:RPT-EXH-2026-91aa8dd094a4a7b2,RPT-EXH-2024-50a402f6bcce2ab8</a:t>
            </a:r>
          </a:p>
          <a:p xmlns:a="http://schemas.openxmlformats.org/drawingml/2006/main">
            <a:r>
              <a:t/>
            </a:r>
          </a:p>
          <a:p xmlns:a="http://schemas.openxmlformats.org/drawingml/2006/main">
            <a:r>
              <a:t>原典</a:t>
            </a:r>
          </a:p>
          <a:p xmlns:a="http://schemas.openxmlformats.org/drawingml/2006/main">
            <a:r>
              <a:t>EEX-EXH-2026-3b6a1de81c17dfee JIMTOF2026公式出展説明：株式会社Fact Base (S3017)</a:t>
            </a:r>
          </a:p>
          <a:p xmlns:a="http://schemas.openxmlformats.org/drawingml/2006/main">
            <a:r>
              <a:t>https://www.jimtof.org/search/jp/ESdetails?e=hZaNogHdQM4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EDP-11 ズメーン導入事例：ダイニチ</a:t>
            </a:r>
          </a:p>
          <a:p xmlns:a="http://schemas.openxmlformats.org/drawingml/2006/main">
            <a:r>
              <a:t>https://lp.zume-n.com/case-1/sagadainichi</a:t>
            </a:r>
          </a:p>
          <a:p xmlns:a="http://schemas.openxmlformats.org/drawingml/2006/main">
            <a:r>
              <a:t>該当箇所:AI・OCR文字読取／人の目で確認・補正／関連資料・改訂履歴</a:t>
            </a:r>
          </a:p>
          <a:p xmlns:a="http://schemas.openxmlformats.org/drawingml/2006/main">
            <a:r>
              <a:t>確認:2026-10-16</a:t>
            </a:r>
          </a:p>
          <a:p xmlns:a="http://schemas.openxmlformats.org/drawingml/2006/main">
            <a:r>
              <a:t>種類:企業公式サイトに掲載された顧客発言</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EOV-V041-2026-1 JIMTOF2026公式カタログ：匠技研工業株式会社 (S3011)</a:t>
            </a:r>
          </a:p>
          <a:p xmlns:a="http://schemas.openxmlformats.org/drawingml/2006/main">
            <a:r>
              <a:t>https://www.jimtof.org/search/jp/ESdetails?e=i_4zCxJP258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EDP-05 匠フォースAIエージェント発表</a:t>
            </a:r>
          </a:p>
          <a:p xmlns:a="http://schemas.openxmlformats.org/drawingml/2006/main">
            <a:r>
              <a:t>https://prtimes.jp/main/html/rd/p/000000031.000057137.html</a:t>
            </a:r>
          </a:p>
          <a:p xmlns:a="http://schemas.openxmlformats.org/drawingml/2006/main">
            <a:r>
              <a:t>該当箇所:見積金額算出／人の修正による再学習／引合受領から見積書作成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EOV-V014-2026-1 JIMTOF2026公式カタログ：ものレボ株式会社 (W3042)</a:t>
            </a:r>
          </a:p>
          <a:p xmlns:a="http://schemas.openxmlformats.org/drawingml/2006/main">
            <a:r>
              <a:t>https://www.jimtof.org/search/jp/ESdetails?e=sccKfxE4bYo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EOV-V007-2026-2 JIMTOF2026公式カタログ：Hexagon Manufacturing Intelligence株式会社 (E2013)</a:t>
            </a:r>
          </a:p>
          <a:p xmlns:a="http://schemas.openxmlformats.org/drawingml/2006/main">
            <a:r>
              <a:t>https://www.jimtof.org/search/jp/ESdetails?e=6l20Qo0pjl4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EOV-W02 ESPRIT EDGE Release Highlights</a:t>
            </a:r>
          </a:p>
          <a:p xmlns:a="http://schemas.openxmlformats.org/drawingml/2006/main">
            <a:r>
              <a:t>https://hexagon.com/products/esprit-edge/release-highlights</a:t>
            </a:r>
          </a:p>
          <a:p xmlns:a="http://schemas.openxmlformats.org/drawingml/2006/main">
            <a:r>
              <a:t>該当箇所:2025.2 PROPLANAI、2026.1 ProPlanAI for Turning, Mill-Turn &amp; Swiss</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展示:メーカーの提供状況。対象機種や契約、顧客実績は未確認</a:t>
            </a:r>
          </a:p>
          <a:p xmlns:a="http://schemas.openxmlformats.org/drawingml/2006/main">
            <a:r>
              <a:t/>
            </a:r>
          </a:p>
          <a:p xmlns:a="http://schemas.openxmlformats.org/drawingml/2006/main">
            <a:r>
              <a:t>EOV-V008-2024-1 JIMTOF2024公式カタログ：ジェービーエムエンジニアリング株式会社 (E5028)</a:t>
            </a:r>
          </a:p>
          <a:p xmlns:a="http://schemas.openxmlformats.org/drawingml/2006/main">
            <a:r>
              <a:t>https://www.jimtof.org/2024/search/jp/ESdetails?e=G-8gydwhMvE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EOV-V008-2024-2 JIMTOF2024公式カタログ：ジェービーエムエンジニアリング株式会社 (AM111)</a:t>
            </a:r>
          </a:p>
          <a:p xmlns:a="http://schemas.openxmlformats.org/drawingml/2006/main">
            <a:r>
              <a:t>https://www.jimtof.org/2024/search/jp/ESdetails?e=ZBxZW2vyjUw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EOV-V008-2026-1 JIMTOF2026公式カタログ：ジェービーエムエンジニアリング株式会社 (E2002)</a:t>
            </a:r>
          </a:p>
          <a:p xmlns:a="http://schemas.openxmlformats.org/drawingml/2006/main">
            <a:r>
              <a:t>https://www.jimtof.org/search/jp/ESdetails?e=VrAjMTKmxdw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EDP-09 Mastercam向けCAM Assist</a:t>
            </a:r>
          </a:p>
          <a:p xmlns:a="http://schemas.openxmlformats.org/drawingml/2006/main">
            <a:r>
              <a:t>https://www.cloudnc.com/ja/mastercam</a:t>
            </a:r>
          </a:p>
          <a:p xmlns:a="http://schemas.openxmlformats.org/drawingml/2006/main">
            <a:r>
              <a:t>該当箇所:仕組みステップ1〜4／FAQの対象加工・顧客データ学習の否定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EDP-10 Mastercam向けCAM Assist提供開始</a:t>
            </a:r>
          </a:p>
          <a:p xmlns:a="http://schemas.openxmlformats.org/drawingml/2006/main">
            <a:r>
              <a:t>https://www.cloudnc.com/news-room/cam-assist-the-first-ai-plug-in-for-cam-is-now-available-for-mastercam</a:t>
            </a:r>
          </a:p>
          <a:p xmlns:a="http://schemas.openxmlformats.org/drawingml/2006/main">
            <a:r>
              <a:t>該当箇所:July 25, 2024／3軸・3+2軸向け。北米販売開始の説明</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ERF-03 Mastercam CAM Assist：確認・調整と学習方針</a:t>
            </a:r>
          </a:p>
          <a:p xmlns:a="http://schemas.openxmlformats.org/drawingml/2006/main">
            <a:r>
              <a:t>https://www.cloudnc.com/ja/mastercam</a:t>
            </a:r>
          </a:p>
          <a:p xmlns:a="http://schemas.openxmlformats.org/drawingml/2006/main">
            <a:r>
              <a:t>該当箇所:仕組みStep 2–4／FAQ：顧客データで学習しない、加工性評価、編集可能CAM</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EEX-EXH-2026-0436fc7b61f51a8e JIMTOF2026公式出展説明：タクテックス株式会社 (S1016)</a:t>
            </a:r>
          </a:p>
          <a:p xmlns:a="http://schemas.openxmlformats.org/drawingml/2006/main">
            <a:r>
              <a:t>https://www.jimtof.org/search/jp/ESdetails?e=2TVzwvOqLxI</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EEX-EXH-2024-eb84f3b7fa9cf6db JIMTOF2024公式出展説明：タクテックス株式会社 (E5030)</a:t>
            </a:r>
          </a:p>
          <a:p xmlns:a="http://schemas.openxmlformats.org/drawingml/2006/main">
            <a:r>
              <a:t>https://www.jimtof.org/2024/search/jp/ESdetails?e=p_i9WuUhNRg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EDP-07 SolidCAM向けCAM Assist</a:t>
            </a:r>
          </a:p>
          <a:p xmlns:a="http://schemas.openxmlformats.org/drawingml/2006/main">
            <a:r>
              <a:t>https://www.cloudnc.com/ja/solidcam</a:t>
            </a:r>
          </a:p>
          <a:p xmlns:a="http://schemas.openxmlformats.org/drawingml/2006/main">
            <a:r>
              <a:t>該当箇所:仕組みステップ1〜4／FAQの対象加工・通信・戦略生成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EDP-08 CloudNC CAM Assist公式ヘルプ</a:t>
            </a:r>
          </a:p>
          <a:p xmlns:a="http://schemas.openxmlformats.org/drawingml/2006/main">
            <a:r>
              <a:t>https://help.solidcam.com/topics/solutions/cloudnc-cam-assist.htm</a:t>
            </a:r>
          </a:p>
          <a:p xmlns:a="http://schemas.openxmlformats.org/drawingml/2006/main">
            <a:r>
              <a:t>該当箇所:形状・工具・材種・段取りの入力／プログラマーの修正・検証・NC出力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ERF-04 CAM Assistの生成後の編集・検証</a:t>
            </a:r>
          </a:p>
          <a:p xmlns:a="http://schemas.openxmlformats.org/drawingml/2006/main">
            <a:r>
              <a:t>https://help.solidcam.com/topics/solutions/cloudnc-cam-assist.htm</a:t>
            </a:r>
          </a:p>
          <a:p xmlns:a="http://schemas.openxmlformats.org/drawingml/2006/main">
            <a:r>
              <a:t>該当箇所:L11–19／プログラマーがreview・refine、既存のsimulation・verification・NC生成</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EOV-V009-2024-1 JIMTOF2024公式カタログ：株式会社CGTech (E5042)</a:t>
            </a:r>
          </a:p>
          <a:p xmlns:a="http://schemas.openxmlformats.org/drawingml/2006/main">
            <a:r>
              <a:t>https://www.jimtof.org/2024/search/jp/ESdetails?e=AxDUk3YbQDI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EOV-V009-2026-1 JIMTOF2026公式カタログ：株式会社CGTech (S3014)</a:t>
            </a:r>
          </a:p>
          <a:p xmlns:a="http://schemas.openxmlformats.org/drawingml/2006/main">
            <a:r>
              <a:t>https://www.jimtof.org/search/jp/ESdetails?e=41U8xW4UkcM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RPT-S04 Vericut Force FAQ</a:t>
            </a:r>
          </a:p>
          <a:p xmlns:a="http://schemas.openxmlformats.org/drawingml/2006/main">
            <a:r>
              <a:t>https://archive.vericut.com/force-faq/</a:t>
            </a:r>
          </a:p>
          <a:p xmlns:a="http://schemas.openxmlformats.org/drawingml/2006/main">
            <a:r>
              <a:t>該当箇所:Force physics-based optimization</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RPT-EXH-2026-3f24aaee60d77db1 Third Wave Systems Japan合同会社 JIMTOF2026</a:t>
            </a:r>
          </a:p>
          <a:p xmlns:a="http://schemas.openxmlformats.org/drawingml/2006/main">
            <a:r>
              <a:t>https://www.jimtof.org/search/jp/ESdetails?e=L43LSAjxuyc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RPT-S05 Production Module v8.2 release</a:t>
            </a:r>
          </a:p>
          <a:p xmlns:a="http://schemas.openxmlformats.org/drawingml/2006/main">
            <a:r>
              <a:t>https://thirdwavesys.com/latest-news/production-module-v8-2-release/</a:t>
            </a:r>
          </a:p>
          <a:p xmlns:a="http://schemas.openxmlformats.org/drawingml/2006/main">
            <a:r>
              <a:t>該当箇所:工具たわみ・entry/exit feedrate constraints</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RPT-EXH-2026-107042c6cf64ba96 西部商工株式会社 JIMTOF2026</a:t>
            </a:r>
          </a:p>
          <a:p xmlns:a="http://schemas.openxmlformats.org/drawingml/2006/main">
            <a:r>
              <a:t>https://www.jimtof.org/search/jp/ESdetails?e=OC6R-wdDduM</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RPT-EXH-2024-151b23d9e05ccb13 西部商工株式会社 JIMTOF2024</a:t>
            </a:r>
          </a:p>
          <a:p xmlns:a="http://schemas.openxmlformats.org/drawingml/2006/main">
            <a:r>
              <a:t>https://www.jimtof.org/2024/search/jp/ESdetails?e=YRTw8XJWi9g</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EOV-V005-2026-1 JIMTOF2026公式カタログ：ベッコフオートメーション株式会社 (E2028)</a:t>
            </a:r>
          </a:p>
          <a:p xmlns:a="http://schemas.openxmlformats.org/drawingml/2006/main">
            <a:r>
              <a:t>https://www.jimtof.org/search/jp/ESdetails?e=K7DqahO2h08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EAT-N03 CoAgent for Engineering TE1700</a:t>
            </a:r>
          </a:p>
          <a:p xmlns:a="http://schemas.openxmlformats.org/drawingml/2006/main">
            <a:r>
              <a:t>https://www.beckhoff.com/ko-kr/products/automation/twincat/texxxx-twincat-3-engineering/te1700.html</a:t>
            </a:r>
          </a:p>
          <a:p xmlns:a="http://schemas.openxmlformats.org/drawingml/2006/main">
            <a:r>
              <a:t>該当箇所:Features／Product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EAT-N05 TwinCAT projects with AI-assisted engineering</a:t>
            </a:r>
          </a:p>
          <a:p xmlns:a="http://schemas.openxmlformats.org/drawingml/2006/main">
            <a:r>
              <a:t>https://www.beckhoff.com/ko-kr/products/automation/twincat-projects-with-ai-supported-engineering/</a:t>
            </a:r>
          </a:p>
          <a:p xmlns:a="http://schemas.openxmlformats.org/drawingml/2006/main">
            <a:r>
              <a:t>該当箇所:CoAgents for development and machine operation</a:t>
            </a:r>
          </a:p>
          <a:p xmlns:a="http://schemas.openxmlformats.org/drawingml/2006/main">
            <a:r>
              <a:t>確認:2026-10-16</a:t>
            </a:r>
          </a:p>
          <a:p xmlns:a="http://schemas.openxmlformats.org/drawingml/2006/main">
            <a:r>
              <a:t>種類:企業公式説明・メーカー主張</a:t>
            </a:r>
          </a:p>
          <a:p xmlns:a="http://schemas.openxmlformats.org/drawingml/2006/main">
            <a:r>
              <a:t>展示:製品群の方式説明。日本展示版の範囲は別確認</a:t>
            </a:r>
          </a:p>
          <a:p xmlns:a="http://schemas.openxmlformats.org/drawingml/2006/main">
            <a:r>
              <a:t/>
            </a:r>
          </a:p>
          <a:p xmlns:a="http://schemas.openxmlformats.org/drawingml/2006/main">
            <a:r>
              <a:t>EDP-03 TwinCAT Chat発表</a:t>
            </a:r>
          </a:p>
          <a:p xmlns:a="http://schemas.openxmlformats.org/drawingml/2006/main">
            <a:r>
              <a:t>https://www.beckhoff.com/en-en/company/press/twincat-chat-using-innovative-chatbot-technology-in-twincat-engineering-2023-04.html</a:t>
            </a:r>
          </a:p>
          <a:p xmlns:a="http://schemas.openxmlformats.org/drawingml/2006/main">
            <a:r>
              <a:t>該当箇所:TwinCAT XAE／コード作成・追加・最適化・文書化</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ERF-01 From chatbot to intelligent agent</a:t>
            </a:r>
          </a:p>
          <a:p xmlns:a="http://schemas.openxmlformats.org/drawingml/2006/main">
            <a:r>
              <a:t>https://www.beckhoff.com/en-gb/company/news/from-chatbot-to-intelligent-agent.html</a:t>
            </a:r>
          </a:p>
          <a:p xmlns:a="http://schemas.openxmlformats.org/drawingml/2006/main">
            <a:r>
              <a:t>該当箇所:2025/6/13／Placing people at the heart of automation；PLC・I/O・HMI、専門家がreview・confirm・approve</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EOV-V006-2024-1 JIMTOF2024公式カタログ：EPLAN株式会社 (E2033)</a:t>
            </a:r>
          </a:p>
          <a:p xmlns:a="http://schemas.openxmlformats.org/drawingml/2006/main">
            <a:r>
              <a:t>https://www.jimtof.org/2024/search/jp/ESdetails?e=50efK4rQsHs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EOV-V006-2026-1 JIMTOF2026公式カタログ：EPLAN株式会社 (S1067)</a:t>
            </a:r>
          </a:p>
          <a:p xmlns:a="http://schemas.openxmlformats.org/drawingml/2006/main">
            <a:r>
              <a:t>https://www.jimtof.org/search/jp/ESdetails?e=FHsQAvmFusY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EAT-N06 Eplan Copilot</a:t>
            </a:r>
          </a:p>
          <a:p xmlns:a="http://schemas.openxmlformats.org/drawingml/2006/main">
            <a:r>
              <a:t>https://www.eplan.com/us-en/about-us/innovations/eplan-copilot/</a:t>
            </a:r>
          </a:p>
          <a:p xmlns:a="http://schemas.openxmlformats.org/drawingml/2006/main">
            <a:r>
              <a:t>該当箇所:Based on a described task／Looking ahead／conceptual phase</a:t>
            </a:r>
          </a:p>
          <a:p xmlns:a="http://schemas.openxmlformats.org/drawingml/2006/main">
            <a:r>
              <a:t>確認:2026-10-16</a:t>
            </a:r>
          </a:p>
          <a:p xmlns:a="http://schemas.openxmlformats.org/drawingml/2006/main">
            <a:r>
              <a:t>種類:企業公式説明・メーカー主張</a:t>
            </a:r>
          </a:p>
          <a:p xmlns:a="http://schemas.openxmlformats.org/drawingml/2006/main">
            <a:r>
              <a:t>展示:現行支援と将来構想を分離</a:t>
            </a:r>
          </a:p>
          <a:p xmlns:a="http://schemas.openxmlformats.org/drawingml/2006/main">
            <a:r>
              <a:t/>
            </a:r>
          </a:p>
          <a:p xmlns:a="http://schemas.openxmlformats.org/drawingml/2006/main">
            <a:r>
              <a:t>EOV-V003-2024-1 JIMTOF2024公式カタログ：オークマ株式会社 (E6048)</a:t>
            </a:r>
          </a:p>
          <a:p xmlns:a="http://schemas.openxmlformats.org/drawingml/2006/main">
            <a:r>
              <a:t>https://www.jimtof.org/2024/search/jp/ESdetails?e=iFfGVH0vPS8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EOV-V003-2026-1 JIMTOF2026公式カタログ：オークマ株式会社 (E3028)</a:t>
            </a:r>
          </a:p>
          <a:p xmlns:a="http://schemas.openxmlformats.org/drawingml/2006/main">
            <a:r>
              <a:t>https://www.jimtof.org/search/jp/ESdetails?e=30li0vWcseI</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RPT-S02 オークマ サーモフレンドリーコンセプト</a:t>
            </a:r>
          </a:p>
          <a:p xmlns:a="http://schemas.openxmlformats.org/drawingml/2006/main">
            <a:r>
              <a:t>https://www.okuma.co.jp/thermo-aniv/</a:t>
            </a:r>
          </a:p>
          <a:p xmlns:a="http://schemas.openxmlformats.org/drawingml/2006/main">
            <a:r>
              <a:t>該当箇所:サーモフレンドリーコンセプトの説明・沿革</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RPT-S03 Mazak Accuracy / Ai Thermal Shield</a:t>
            </a:r>
          </a:p>
          <a:p xmlns:a="http://schemas.openxmlformats.org/drawingml/2006/main">
            <a:r>
              <a:t>https://www.mazak.com/uk-en/technology/accuracy/</a:t>
            </a:r>
          </a:p>
          <a:p xmlns:a="http://schemas.openxmlformats.org/drawingml/2006/main">
            <a:r>
              <a:t>該当箇所:Ai Thermal Shield／Smooth Thermal Shield</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EOV-V004-2024-1 JIMTOF2024公式カタログ：ヤマザキマザック株式会社 (E5001)</a:t>
            </a:r>
          </a:p>
          <a:p xmlns:a="http://schemas.openxmlformats.org/drawingml/2006/main">
            <a:r>
              <a:t>https://www.jimtof.org/2024/search/jp/ESdetails?e=q0OrZBKM3uQ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EOV-V004-2026-1 JIMTOF2026公式カタログ：ヤマザキマザック株式会社 (E1001)</a:t>
            </a:r>
          </a:p>
          <a:p xmlns:a="http://schemas.openxmlformats.org/drawingml/2006/main">
            <a:r>
              <a:t>https://www.jimtof.org/search/jp/ESdetails?e=PJEgqNYlWes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EAT-N08 JIMTOF2026 Machines &amp; Automation Systems</a:t>
            </a:r>
          </a:p>
          <a:p xmlns:a="http://schemas.openxmlformats.org/drawingml/2006/main">
            <a:r>
              <a:t>https://www.mazak.com/jp-en/news-media/upcoming-events/jimtof2026/</a:t>
            </a:r>
          </a:p>
          <a:p xmlns:a="http://schemas.openxmlformats.org/drawingml/2006/main">
            <a:r>
              <a:t>該当箇所:Machines &amp; Automation Systems／Automation Systems</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展示:2026展示予定。AI機能の方式説明はない</a:t>
            </a:r>
          </a:p>
          <a:p xmlns:a="http://schemas.openxmlformats.org/drawingml/2006/main">
            <a:r>
              <a:t/>
            </a:r>
          </a:p>
          <a:p xmlns:a="http://schemas.openxmlformats.org/drawingml/2006/main">
            <a:r>
              <a:t>RPT-S01 オークマ 加工ナビ</a:t>
            </a:r>
          </a:p>
          <a:p xmlns:a="http://schemas.openxmlformats.org/drawingml/2006/main">
            <a:r>
              <a:t>https://www.okuma.co.jp/solution_technology/process/</a:t>
            </a:r>
          </a:p>
          <a:p xmlns:a="http://schemas.openxmlformats.org/drawingml/2006/main">
            <a:r>
              <a:t>該当箇所:加工ナビ M-i／M-gⅡ</a:t>
            </a:r>
          </a:p>
          <a:p xmlns:a="http://schemas.openxmlformats.org/drawingml/2006/main">
            <a:r>
              <a:t>確認:2026-10-18</a:t>
            </a:r>
          </a:p>
          <a:p xmlns:a="http://schemas.openxmlformats.org/drawingml/2006/main">
            <a:r>
              <a:t>種類:公式記載（メーカー主張）。実測・独立評価ではない</a:t>
            </a:r>
          </a:p>
          <a:p xmlns:a="http://schemas.openxmlformats.org/drawingml/2006/main">
            <a:r>
              <a:t>展示:技術説明。JIMTOF2026の同機能・版の実演は未確認</a:t>
            </a:r>
          </a:p>
          <a:p xmlns:a="http://schemas.openxmlformats.org/drawingml/2006/main">
            <a:r>
              <a:t/>
            </a:r>
          </a:p>
          <a:p xmlns:a="http://schemas.openxmlformats.org/drawingml/2006/main">
            <a:r>
              <a:t>EOV-V018-2024-1 JIMTOF2024公式カタログ：レニショー株式会社 (E7026)</a:t>
            </a:r>
          </a:p>
          <a:p xmlns:a="http://schemas.openxmlformats.org/drawingml/2006/main">
            <a:r>
              <a:t>https://www.jimtof.org/2024/search/jp/ESdetails?e=ekM3exgIAtc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EOV-V018-2026-1 JIMTOF2026公式カタログ：レニショー株式会社 (E7089)</a:t>
            </a:r>
          </a:p>
          <a:p xmlns:a="http://schemas.openxmlformats.org/drawingml/2006/main">
            <a:r>
              <a:t>https://www.jimtof.org/search/jp/ESdetails?e=pYGmVz5GC1c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EOV-W03 Renishaw Central データプラットフォーム</a:t>
            </a:r>
          </a:p>
          <a:p xmlns:a="http://schemas.openxmlformats.org/drawingml/2006/main">
            <a:r>
              <a:t>https://www.renishaw.com/jp/smart-manufacturing-data-platform-for-industrial-process-control--47853</a:t>
            </a:r>
          </a:p>
          <a:p xmlns:a="http://schemas.openxmlformats.org/drawingml/2006/main">
            <a:r>
              <a:t>該当箇所:メカニズム、現場でのクローズドループ、導入効果</a:t>
            </a:r>
          </a:p>
          <a:p xmlns:a="http://schemas.openxmlformats.org/drawingml/2006/main">
            <a:r>
              <a:t>確認:2026-10-16</a:t>
            </a:r>
          </a:p>
          <a:p xmlns:a="http://schemas.openxmlformats.org/drawingml/2006/main">
            <a:r>
              <a:t>種類:企業公式資料・メーカー主張</a:t>
            </a:r>
          </a:p>
          <a:p xmlns:a="http://schemas.openxmlformats.org/drawingml/2006/main">
            <a:r>
              <a:t>展示:2024にも展示掲載済み。既存方式の実装例であり2026新規とはしない</a:t>
            </a:r>
          </a:p>
          <a:p xmlns:a="http://schemas.openxmlformats.org/drawingml/2006/main">
            <a:r>
              <a:t/>
            </a:r>
          </a:p>
          <a:p xmlns:a="http://schemas.openxmlformats.org/drawingml/2006/main">
            <a:r>
              <a:t>EOV-V034-2024-1 JIMTOF2024公式カタログ：Wintech Automation Co., Ltd. (E7025)</a:t>
            </a:r>
          </a:p>
          <a:p xmlns:a="http://schemas.openxmlformats.org/drawingml/2006/main">
            <a:r>
              <a:t>https://www.jimtof.org/2024/search/jp/ESdetails?e=-09Q4AWJx1E</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EOV-V034-2026-1 JIMTOF2026公式カタログ：Wintech Automation Co., Ltd (W3051)</a:t>
            </a:r>
          </a:p>
          <a:p xmlns:a="http://schemas.openxmlformats.org/drawingml/2006/main">
            <a:r>
              <a:t>https://www.jimtof.org/search/jp/ESdetails?e=lMk3zNvQJbg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EEX-EXH-2026-a0cbad27ea34d7c4 JIMTOF2026公式出展説明：株式会社サイバーRC (E7074)</a:t>
            </a:r>
          </a:p>
          <a:p xmlns:a="http://schemas.openxmlformats.org/drawingml/2006/main">
            <a:r>
              <a:t>https://www.jimtof.org/search/jp/ESdetails?e=8ealehgmk8o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EEX-EXH-2024-76ac534a229f7c29 JIMTOF2024公式出展説明：株式会社サイバーRC (W3046)</a:t>
            </a:r>
          </a:p>
          <a:p xmlns:a="http://schemas.openxmlformats.org/drawingml/2006/main">
            <a:r>
              <a:t>https://www.jimtof.org/2024/search/jp/ESdetails?e=wk2AEX5rHpw</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EDP-02 GH5総合カタログ</a:t>
            </a:r>
          </a:p>
          <a:p xmlns:a="http://schemas.openxmlformats.org/drawingml/2006/main">
            <a:r>
              <a:t>https://cyber-rc.com/wp-content/uploads/2025/10/%E7%B7%8F%E5%90%88%E3%82%AB%E3%82%BF%E3%83%AD%E3%82%B0420-x-297-mm%E6%A8%AA%E4%B8%A6%E3%81%B3-.pdf</a:t>
            </a:r>
          </a:p>
          <a:p xmlns:a="http://schemas.openxmlformats.org/drawingml/2006/main">
            <a:r>
              <a:t>該当箇所:GRISTAR HONING 5 AXIS／幅・角度設定、Robot Eye、自動調整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EOV-V021-2026-1 JIMTOF2026公式カタログ：株式会社ＨＡＣＡＲＵＳ (S1031)</a:t>
            </a:r>
          </a:p>
          <a:p xmlns:a="http://schemas.openxmlformats.org/drawingml/2006/main">
            <a:r>
              <a:t>https://www.jimtof.org/search/jp/ESdetails?e=oatArsOZ-Wc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EOV-W06 AI外観検査ソリューション HACARUS Check</a:t>
            </a:r>
          </a:p>
          <a:p xmlns:a="http://schemas.openxmlformats.org/drawingml/2006/main">
            <a:r>
              <a:t>https://hacarus.com/ja/technology/hacarus-check-series/</a:t>
            </a:r>
          </a:p>
          <a:p xmlns:a="http://schemas.openxmlformats.org/drawingml/2006/main">
            <a:r>
              <a:t>該当箇所:2026.04.06本文</a:t>
            </a:r>
          </a:p>
          <a:p xmlns:a="http://schemas.openxmlformats.org/drawingml/2006/main">
            <a:r>
              <a:t>確認:2026-10-16</a:t>
            </a:r>
          </a:p>
          <a:p xmlns:a="http://schemas.openxmlformats.org/drawingml/2006/main">
            <a:r>
              <a:t>種類:企業公式資料・メーカー主張</a:t>
            </a:r>
          </a:p>
          <a:p xmlns:a="http://schemas.openxmlformats.org/drawingml/2006/main">
            <a:r>
              <a:t>展示:メーカー製品説明。独立評価の精度ではない</a:t>
            </a:r>
          </a:p>
          <a:p xmlns:a="http://schemas.openxmlformats.org/drawingml/2006/main">
            <a:r>
              <a:t/>
            </a:r>
          </a:p>
          <a:p xmlns:a="http://schemas.openxmlformats.org/drawingml/2006/main">
            <a:r>
              <a:t>EDP-14 Check ZERO正式販売開始</a:t>
            </a:r>
          </a:p>
          <a:p xmlns:a="http://schemas.openxmlformats.org/drawingml/2006/main">
            <a:r>
              <a:t>https://hacarus.com/ja/press-release/20250707-news/</a:t>
            </a:r>
          </a:p>
          <a:p xmlns:a="http://schemas.openxmlformats.org/drawingml/2006/main">
            <a:r>
              <a:t>該当箇所:2025/7/9販売／良品学習とアノテーション追加学習／判定UI</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EDP-15 Checkシリーズ公式製品説明</a:t>
            </a:r>
          </a:p>
          <a:p xmlns:a="http://schemas.openxmlformats.org/drawingml/2006/main">
            <a:r>
              <a:t>https://check.hacarus.com/ja/</a:t>
            </a:r>
          </a:p>
          <a:p xmlns:a="http://schemas.openxmlformats.org/drawingml/2006/main">
            <a:r>
              <a:t>該当箇所:Check ZERO／デュアルチューニング／機器構成</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ERF-05 Check ZERO公式ソフトウェア説明</a:t>
            </a:r>
          </a:p>
          <a:p xmlns:a="http://schemas.openxmlformats.org/drawingml/2006/main">
            <a:r>
              <a:t>https://check.hacarus.com/ja/aisoftware/</a:t>
            </a:r>
          </a:p>
          <a:p xmlns:a="http://schemas.openxmlformats.org/drawingml/2006/main">
            <a:r>
              <a:t>該当箇所:特徴／異常箇所表示・良否アノテーション追加学習</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EOV-V022-2024-1 JIMTOF2024公式カタログ：日東商事株式会社 (E5040)</a:t>
            </a:r>
          </a:p>
          <a:p xmlns:a="http://schemas.openxmlformats.org/drawingml/2006/main">
            <a:r>
              <a:t>https://www.jimtof.org/2024/search/jp/ESdetails?e=S23RMUbJOQs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EOV-V022-2026-1 JIMTOF2026公式カタログ：日東商事株式会社 (S1031)</a:t>
            </a:r>
          </a:p>
          <a:p xmlns:a="http://schemas.openxmlformats.org/drawingml/2006/main">
            <a:r>
              <a:t>https://www.jimtof.org/search/jp/ESdetails?e=GozGZRxlviw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EOV-V019-2024-1 JIMTOF2024公式カタログ：ブルーム-ノボテスト株式会社 (E7132)</a:t>
            </a:r>
          </a:p>
          <a:p xmlns:a="http://schemas.openxmlformats.org/drawingml/2006/main">
            <a:r>
              <a:t>https://www.jimtof.org/2024/search/jp/ESdetails?e=Zz8BlB0Ylio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EOV-V019-2026-1 JIMTOF2026公式カタログ：ブルーム-ノボテスト株式会社 (E7084)</a:t>
            </a:r>
          </a:p>
          <a:p xmlns:a="http://schemas.openxmlformats.org/drawingml/2006/main">
            <a:r>
              <a:t>https://www.jimtof.org/search/jp/ESdetails?e=_njqMb9vBpc</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EOV-V024-2024-1 JIMTOF2024公式カタログ：モリマシナリー株式会社 (S3017)</a:t>
            </a:r>
          </a:p>
          <a:p xmlns:a="http://schemas.openxmlformats.org/drawingml/2006/main">
            <a:r>
              <a:t>https://www.jimtof.org/2024/search/jp/ESdetails?e=yEoPl5sH6Sg</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EOV-V024-2026-1 JIMTOF2026公式カタログ：モリマシナリー株式会社 (S3048)</a:t>
            </a:r>
          </a:p>
          <a:p xmlns:a="http://schemas.openxmlformats.org/drawingml/2006/main">
            <a:r>
              <a:t>https://www.jimtof.org/search/jp/ESdetails?e=ZvT3Lci-hnM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EDP-12 TOOL SOMMELIER／TOOL COLLAGE</a:t>
            </a:r>
          </a:p>
          <a:p xmlns:a="http://schemas.openxmlformats.org/drawingml/2006/main">
            <a:r>
              <a:t>https://mori-machinery.com/en/product/tool-sommelier?post_id=1066</a:t>
            </a:r>
          </a:p>
          <a:p xmlns:a="http://schemas.openxmlformats.org/drawingml/2006/main">
            <a:r>
              <a:t>該当箇所:刃先撮像・欠け摩耗自動検出／FAQの工具・径制約</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EOV-V023-2024-1 JIMTOF2024公式カタログ：ハイデンハイン株式会社 (E7123)</a:t>
            </a:r>
          </a:p>
          <a:p xmlns:a="http://schemas.openxmlformats.org/drawingml/2006/main">
            <a:r>
              <a:t>https://www.jimtof.org/2024/search/jp/ESdetails?e=GFSwCXSxe9o</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EOV-V023-2026-1 JIMTOF2026公式カタログ：ハイデンハイン株式会社 (E7043)</a:t>
            </a:r>
          </a:p>
          <a:p xmlns:a="http://schemas.openxmlformats.org/drawingml/2006/main">
            <a:r>
              <a:t>https://www.jimtof.org/search/jp/ESdetails?e=iohDR5yR9VA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EAT-V043-2024-1 JIMTOF2024公式カタログ：三菱電機株式会社</a:t>
            </a:r>
          </a:p>
          <a:p xmlns:a="http://schemas.openxmlformats.org/drawingml/2006/main">
            <a:r>
              <a:t>https://www.jimtof.org/2024/search/jp/ESdetails?e=30li0vWcseI</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展示:2024当時の説明・事後実演確認ではない</a:t>
            </a:r>
          </a:p>
          <a:p xmlns:a="http://schemas.openxmlformats.org/drawingml/2006/main">
            <a:r>
              <a:t/>
            </a:r>
          </a:p>
          <a:p xmlns:a="http://schemas.openxmlformats.org/drawingml/2006/main">
            <a:r>
              <a:t>EAT-V043-2026-1 JIMTOF2026公式カタログ：三菱電機株式会社</a:t>
            </a:r>
          </a:p>
          <a:p xmlns:a="http://schemas.openxmlformats.org/drawingml/2006/main">
            <a:r>
              <a:t>https://www.jimtof.org/search/jp/ESdetails?e=AjLnzm01WWU</a:t>
            </a:r>
          </a:p>
          <a:p xmlns:a="http://schemas.openxmlformats.org/drawingml/2006/main">
            <a:r>
              <a:t>該当箇所:出展紹介・主な出展物（カードの製品名・機能語で検索）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EOV-W08 工具の欠け・摩耗・寿命を推定するAI研究発表</a:t>
            </a:r>
          </a:p>
          <a:p xmlns:a="http://schemas.openxmlformats.org/drawingml/2006/main">
            <a:r>
              <a:t>https://mori-machinery.com/wp-content/uploads/2023/06/%E7%86%9F%E7%B7%B4%E8%80%85%E3%81%AE%E7%B5%8C%E9%A8%93%E7%9F%A5%E3%82%92%E3%82%82%E3%81%A8%E3%81%AB%E5%88%87%E5%89%8A%E5%B7%A5%E5%85%B7%E3%81%AE%E6%AC%A0%E3%81%91%E3%83%BB%E6%91%A9%E8%80%97%E3%83%BB%E5%AF%BF%E5%91%BD%E3%82%92%E6%8E%A8%E5%AE%9A%E3%81%99%E3%82%8BAI%E3%82%92%E9%96%8B%E7%99%BA.pdf</a:t>
            </a:r>
          </a:p>
          <a:p xmlns:a="http://schemas.openxmlformats.org/drawingml/2006/main">
            <a:r>
              <a:t>該当箇所:2023年6月2日、成果と今後の展望</a:t>
            </a:r>
          </a:p>
          <a:p xmlns:a="http://schemas.openxmlformats.org/drawingml/2006/main">
            <a:r>
              <a:t>確認:2026-10-16</a:t>
            </a:r>
          </a:p>
          <a:p xmlns:a="http://schemas.openxmlformats.org/drawingml/2006/main">
            <a:r>
              <a:t>種類:企業公式資料・メーカー主張</a:t>
            </a:r>
          </a:p>
          <a:p xmlns:a="http://schemas.openxmlformats.org/drawingml/2006/main">
            <a:r>
              <a:t>展示:公式検索の該当箇所で確認。研究段階の数値を商用性能に転用していない</a:t>
            </a:r>
          </a:p>
          <a:p xmlns:a="http://schemas.openxmlformats.org/drawingml/2006/main">
            <a:r>
              <a:t/>
            </a:r>
          </a:p>
          <a:p xmlns:a="http://schemas.openxmlformats.org/drawingml/2006/main">
            <a:r>
              <a:t>EOV-V042-2026-1 JIMTOF2026公式カタログ：興和オプトロニクス株式会社 (S3104)</a:t>
            </a:r>
          </a:p>
          <a:p xmlns:a="http://schemas.openxmlformats.org/drawingml/2006/main">
            <a:r>
              <a:t>https://www.jimtof.org/search/jp/ESdetails?e=v6nw4APC-vQ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EDP-33 RW回転機構付きビジョンユニット</a:t>
            </a:r>
          </a:p>
          <a:p xmlns:a="http://schemas.openxmlformats.org/drawingml/2006/main">
            <a:r>
              <a:t>https://optical.kowa-opt.co.jp/camera-rw/</a:t>
            </a:r>
          </a:p>
          <a:p xmlns:a="http://schemas.openxmlformats.org/drawingml/2006/main">
            <a:r>
              <a:t>該当箇所:ビジョンプロセッサ併用の不良ヒートマップ・切粉巻付きアラート・工具欠損検出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EOV-V020-2024-1 JIMTOF2024公式カタログ：マーポス株式会社 (E7107)</a:t>
            </a:r>
          </a:p>
          <a:p xmlns:a="http://schemas.openxmlformats.org/drawingml/2006/main">
            <a:r>
              <a:t>https://www.jimtof.org/2024/search/jp/ESdetails?e=K8FKaawJkn0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EOV-V020-2026-1 JIMTOF2026公式カタログ：マーポス株式会社 (E7087)</a:t>
            </a:r>
          </a:p>
          <a:p xmlns:a="http://schemas.openxmlformats.org/drawingml/2006/main">
            <a:r>
              <a:t>https://www.jimtof.org/search/jp/ESdetails?e=tThKOA-gm8s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EEX-EXH-2026-19ce238d137fe275 JIMTOF2026公式出展説明：Masterlink (E1050)</a:t>
            </a:r>
          </a:p>
          <a:p xmlns:a="http://schemas.openxmlformats.org/drawingml/2006/main">
            <a:r>
              <a:t>https://www.jimtof.org/search/jp/ESdetails?e=kygm0UxJL-M</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EEX-EXH-2024-a2fae1d1864676d1 JIMTOF2024公式出展説明：Masterlink (E7052)</a:t>
            </a:r>
          </a:p>
          <a:p xmlns:a="http://schemas.openxmlformats.org/drawingml/2006/main">
            <a:r>
              <a:t>https://www.jimtof.org/2024/search/jp/ESdetails?e=58-lhh4o9Oo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EEX-EXH-2026-308c5194f12fe009 JIMTOF2026公式出展説明：ムラテックＣＣＳ株式会社 (E3031)</a:t>
            </a:r>
          </a:p>
          <a:p xmlns:a="http://schemas.openxmlformats.org/drawingml/2006/main">
            <a:r>
              <a:t>https://www.jimtof.org/search/jp/ESdetails?e=Z_SbvK_hxBY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EEX-EXH-2024-b0a94c1cd407ea8a JIMTOF2024公式出展説明：ムラテックCCS株式会社 (E6019)</a:t>
            </a:r>
          </a:p>
          <a:p xmlns:a="http://schemas.openxmlformats.org/drawingml/2006/main">
            <a:r>
              <a:t>https://www.jimtof.org/2024/search/jp/ESdetails?e=2N7pXq5Aehs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EDP-13 AIを用いた故障診断</a:t>
            </a:r>
          </a:p>
          <a:p xmlns:a="http://schemas.openxmlformats.org/drawingml/2006/main">
            <a:r>
              <a:t>https://www.muratec.jp/company/ti/rd/detail.php?id=7540</a:t>
            </a:r>
          </a:p>
          <a:p xmlns:a="http://schemas.openxmlformats.org/drawingml/2006/main">
            <a:r>
              <a:t>該当箇所:電流・振動を新品データと比較／補正入力回数・軸負荷による劣化判定</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RPT-EXH-2026-2c48cf1373cedc75 アズビルTACO株式会社 JIMTOF2026</a:t>
            </a:r>
          </a:p>
          <a:p xmlns:a="http://schemas.openxmlformats.org/drawingml/2006/main">
            <a:r>
              <a:t>https://www.jimtof.org/search/jp/ESdetails?e=x6DdroBnfSA</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RPT-EXH-2024-2caebd449015630d アズビル株式会社 JIMTOF2024</a:t>
            </a:r>
          </a:p>
          <a:p xmlns:a="http://schemas.openxmlformats.org/drawingml/2006/main">
            <a:r>
              <a:t>https://www.jimtof.org/2024/search/jp/ESdetails?e=7JiCTnsEx48</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EOV-V032-2024-1 JIMTOF2024公式カタログ：日本精工株式会社 (W2026)</a:t>
            </a:r>
          </a:p>
          <a:p xmlns:a="http://schemas.openxmlformats.org/drawingml/2006/main">
            <a:r>
              <a:t>https://www.jimtof.org/2024/search/jp/ESdetails?e=5maDHvHPff8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EOV-V032-2026-1 JIMTOF2026公式カタログ：日本精工株式会社 (W2048)</a:t>
            </a:r>
          </a:p>
          <a:p xmlns:a="http://schemas.openxmlformats.org/drawingml/2006/main">
            <a:r>
              <a:t>https://www.jimtof.org/search/jp/ESdetails?e=hzAGGAi5wL4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EEX-EXH-2026-0daa587f8abf6076 JIMTOF2026公式出展説明：松本機械工業株式会社 (W2070)</a:t>
            </a:r>
          </a:p>
          <a:p xmlns:a="http://schemas.openxmlformats.org/drawingml/2006/main">
            <a:r>
              <a:t>https://www.jimtof.org/search/jp/ESdetails?e=bhpEIIjKNb4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EEX-EXH-2024-1dc10e3b594ed9d8 JIMTOF2024公式出展説明：松本機械工業株式会社 (W2055)</a:t>
            </a:r>
          </a:p>
          <a:p xmlns:a="http://schemas.openxmlformats.org/drawingml/2006/main">
            <a:r>
              <a:t>https://www.jimtof.org/2024/search/jp/ESdetails?e=1cGhqW04Qes</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EDP-26 Smart Terrace Adv</a:t>
            </a:r>
          </a:p>
          <a:p xmlns:a="http://schemas.openxmlformats.org/drawingml/2006/main">
            <a:r>
              <a:t>https://mmkchuck.com/product/7218/</a:t>
            </a:r>
          </a:p>
          <a:p xmlns:a="http://schemas.openxmlformats.org/drawingml/2006/main">
            <a:r>
              <a:t>該当箇所:7つの革新／寸法パラメータ入力・出荷時組込プログラム／レトロフィット</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EDP-27 JIMTOF2024出展報告</a:t>
            </a:r>
          </a:p>
          <a:p xmlns:a="http://schemas.openxmlformats.org/drawingml/2006/main">
            <a:r>
              <a:t>https://mmkchuck.com/news/2024/5903/</a:t>
            </a:r>
          </a:p>
          <a:p xmlns:a="http://schemas.openxmlformats.org/drawingml/2006/main">
            <a:r>
              <a:t>該当箇所:爪・ケレ・計測／展示会初披露のCAPTO・MAC</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EDP-28 Smart Terrace関連資料公開</a:t>
            </a:r>
          </a:p>
          <a:p xmlns:a="http://schemas.openxmlformats.org/drawingml/2006/main">
            <a:r>
              <a:t>https://mmkchuck.com/news/2026/7380/</a:t>
            </a:r>
          </a:p>
          <a:p xmlns:a="http://schemas.openxmlformats.org/drawingml/2006/main">
            <a:r>
              <a:t>該当箇所:Advハード単体・ストッカー単体販売への対応</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EOV-V025-2024-1 JIMTOF2024公式カタログ：株式会社イマオコーポレーション (W2002)</a:t>
            </a:r>
          </a:p>
          <a:p xmlns:a="http://schemas.openxmlformats.org/drawingml/2006/main">
            <a:r>
              <a:t>https://www.jimtof.org/2024/search/jp/ESdetails?e=MTYTZ2Km3zM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EOV-V025-2026-1 JIMTOF2026公式カタログ：株式会社イマオコーポレーション (W2001)</a:t>
            </a:r>
          </a:p>
          <a:p xmlns:a="http://schemas.openxmlformats.org/drawingml/2006/main">
            <a:r>
              <a:t>https://www.jimtof.org/search/jp/ESdetails?e=shuDpJLDn-A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EDP-30 ナットランナー治具</a:t>
            </a:r>
          </a:p>
          <a:p xmlns:a="http://schemas.openxmlformats.org/drawingml/2006/main">
            <a:r>
              <a:t>https://www.imao.co.jp/products/nutrunnerclamp.html</a:t>
            </a:r>
          </a:p>
          <a:p xmlns:a="http://schemas.openxmlformats.org/drawingml/2006/main">
            <a:r>
              <a:t>該当箇所:ロボットのナットランナーでクランプ／配管配線不要／手動も可能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EDP-32 JIMTOF2024出展パンフレット</a:t>
            </a:r>
          </a:p>
          <a:p xmlns:a="http://schemas.openxmlformats.org/drawingml/2006/main">
            <a:r>
              <a:t>https://www.imao.co.jp/event-20241105-1110-jimtof/jimtof.pdf</a:t>
            </a:r>
          </a:p>
          <a:p xmlns:a="http://schemas.openxmlformats.org/drawingml/2006/main">
            <a:r>
              <a:t>該当箇所:ナットランナー治具各型式／人でもロボットでも操作可能</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EOV-V029-2024-1 JIMTOF2024公式カタログ：中村留精密工業株式会社 (E5033)</a:t>
            </a:r>
          </a:p>
          <a:p xmlns:a="http://schemas.openxmlformats.org/drawingml/2006/main">
            <a:r>
              <a:t>https://www.jimtof.org/2024/search/jp/ESdetails?e=RYK326OoMn4</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EOV-V029-2026-1 JIMTOF2026公式カタログ：中村留精密工業株式会社 (E2027)</a:t>
            </a:r>
          </a:p>
          <a:p xmlns:a="http://schemas.openxmlformats.org/drawingml/2006/main">
            <a:r>
              <a:t>https://www.jimtof.org/search/jp/ESdetails?e=C7A_2ZTDXNw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EOV-W04 RoboSync</a:t>
            </a:r>
          </a:p>
          <a:p xmlns:a="http://schemas.openxmlformats.org/drawingml/2006/main">
            <a:r>
              <a:t>https://www.nakamura-tome.co.jp/products/automation/robosync/</a:t>
            </a:r>
          </a:p>
          <a:p xmlns:a="http://schemas.openxmlformats.org/drawingml/2006/main">
            <a:r>
              <a:t>該当箇所:製品の特長 &gt; 簡単復旧、簡単操作</a:t>
            </a:r>
          </a:p>
          <a:p xmlns:a="http://schemas.openxmlformats.org/drawingml/2006/main">
            <a:r>
              <a:t>確認:2026-10-16</a:t>
            </a:r>
          </a:p>
          <a:p xmlns:a="http://schemas.openxmlformats.org/drawingml/2006/main">
            <a:r>
              <a:t>種類:企業公式資料・メーカー主張</a:t>
            </a:r>
          </a:p>
          <a:p xmlns:a="http://schemas.openxmlformats.org/drawingml/2006/main">
            <a:r>
              <a:t>展示:自律的な未知例外復帰の証明ではない</a:t>
            </a:r>
          </a:p>
          <a:p xmlns:a="http://schemas.openxmlformats.org/drawingml/2006/main">
            <a:r>
              <a:t/>
            </a:r>
          </a:p>
          <a:p xmlns:a="http://schemas.openxmlformats.org/drawingml/2006/main">
            <a:r>
              <a:t>EEX-EXH-2026-1c8938d47b63e4bb JIMTOF2026公式出展説明：共立精機株式会社 (W2025)</a:t>
            </a:r>
          </a:p>
          <a:p xmlns:a="http://schemas.openxmlformats.org/drawingml/2006/main">
            <a:r>
              <a:t>https://www.jimtof.org/search/jp/ESdetails?e=9k7ro8sL0VA</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EEX-EXH-2024-3a9bfb48fcb6542c JIMTOF2024公式出展説明：共立精機株式会社 (W2037)</a:t>
            </a:r>
          </a:p>
          <a:p xmlns:a="http://schemas.openxmlformats.org/drawingml/2006/main">
            <a:r>
              <a:t>https://www.jimtof.org/2024/search/jp/ESdetails?e=xT1gIvXxCpQ</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EOV-V001-2024-1 JIMTOF2024公式カタログ：DMG森精機株式会社 (E8001)</a:t>
            </a:r>
          </a:p>
          <a:p xmlns:a="http://schemas.openxmlformats.org/drawingml/2006/main">
            <a:r>
              <a:t>https://www.jimtof.org/2024/search/jp/ESdetails?e=lOXEEpvlXpM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EOV-V001-2026-1 JIMTOF2026公式カタログ：DMG森精機株式会社 (E8005)</a:t>
            </a:r>
          </a:p>
          <a:p xmlns:a="http://schemas.openxmlformats.org/drawingml/2006/main">
            <a:r>
              <a:t>https://www.jimtof.org/search/jp/ESdetails?e=zcqDj1lSkGs</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EEX-EXH-2026-d8a50e23a9101b11 JIMTOF2026公式出展説明：株式会社白山機工 (E2007)</a:t>
            </a:r>
          </a:p>
          <a:p xmlns:a="http://schemas.openxmlformats.org/drawingml/2006/main">
            <a:r>
              <a:t>https://www.jimtof.org/search/jp/ESdetails?e=FNFR7REQOl4</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EEX-EXH-2024-89cb7807f64be75b JIMTOF2024公式出展説明：株式会社白山機工 (E4038)</a:t>
            </a:r>
          </a:p>
          <a:p xmlns:a="http://schemas.openxmlformats.org/drawingml/2006/main">
            <a:r>
              <a:t>https://www.jimtof.org/2024/search/jp/ESdetails?e=krDglZoYKFc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EDP-29 JIMTOF2026出展告知</a:t>
            </a:r>
          </a:p>
          <a:p xmlns:a="http://schemas.openxmlformats.org/drawingml/2006/main">
            <a:r>
              <a:t>https://www.hakusankiko.co.jp/news/event/8837/</a:t>
            </a:r>
          </a:p>
          <a:p xmlns:a="http://schemas.openxmlformats.org/drawingml/2006/main">
            <a:r>
              <a:t>該当箇所:AMR切り屑回収システムを実演・模型で紹介</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EOV-V030-2024-1 JIMTOF2024公式カタログ：株式会社TAKISAWA (E3013)</a:t>
            </a:r>
          </a:p>
          <a:p xmlns:a="http://schemas.openxmlformats.org/drawingml/2006/main">
            <a:r>
              <a:t>https://www.jimtof.org/2024/search/jp/ESdetails?e=K00DRD-BngA</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EOV-V030-2026-1 JIMTOF2026公式カタログ：株式会社TAKISAWA (E3013)</a:t>
            </a:r>
          </a:p>
          <a:p xmlns:a="http://schemas.openxmlformats.org/drawingml/2006/main">
            <a:r>
              <a:t>https://www.jimtof.org/search/jp/ESdetails?e=3dTDRAMwZpM</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EAT-N01 JIMTOF2026 TR-20W</a:t>
            </a:r>
          </a:p>
          <a:p xmlns:a="http://schemas.openxmlformats.org/drawingml/2006/main">
            <a:r>
              <a:t>https://www.nidec.com/jp/products/machine-tools/contents/machine-tool-jimtof2026/</a:t>
            </a:r>
          </a:p>
          <a:p xmlns:a="http://schemas.openxmlformats.org/drawingml/2006/main">
            <a:r>
              <a:t>該当箇所:TR-20W：フィジカルAI搭載のロボットシステム（参考出品）</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展示:2026展示予定・参考出品</a:t>
            </a:r>
          </a:p>
          <a:p xmlns:a="http://schemas.openxmlformats.org/drawingml/2006/main">
            <a:r>
              <a:t/>
            </a:r>
          </a:p>
          <a:p xmlns:a="http://schemas.openxmlformats.org/drawingml/2006/main">
            <a:r>
              <a:t>EAT-N02 MGC300開発発表</a:t>
            </a:r>
          </a:p>
          <a:p xmlns:a="http://schemas.openxmlformats.org/drawingml/2006/main">
            <a:r>
              <a:t>https://www.nidec.com/jp/product/news/2024/news1101-03/</a:t>
            </a:r>
          </a:p>
          <a:p xmlns:a="http://schemas.openxmlformats.org/drawingml/2006/main">
            <a:r>
              <a:t>該当箇所:2024年11月1日／MGC300の出展説明</a:t>
            </a:r>
          </a:p>
          <a:p xmlns:a="http://schemas.openxmlformats.org/drawingml/2006/main">
            <a:r>
              <a:t>確認:2026-10-16</a:t>
            </a:r>
          </a:p>
          <a:p xmlns:a="http://schemas.openxmlformats.org/drawingml/2006/main">
            <a:r>
              <a:t>種類:企業公式説明・メーカー主張</a:t>
            </a:r>
          </a:p>
          <a:p xmlns:a="http://schemas.openxmlformats.org/drawingml/2006/main">
            <a:r>
              <a:t>展示:2024当時の予定説明</a:t>
            </a:r>
          </a:p>
          <a:p xmlns:a="http://schemas.openxmlformats.org/drawingml/2006/main">
            <a:r>
              <a:t/>
            </a:r>
          </a:p>
          <a:p xmlns:a="http://schemas.openxmlformats.org/drawingml/2006/main">
            <a:r>
              <a:t>ERF-13 JIMTOF2026：TR-20W参考出品</a:t>
            </a:r>
          </a:p>
          <a:p xmlns:a="http://schemas.openxmlformats.org/drawingml/2006/main">
            <a:r>
              <a:t>https://www.nidec.com/jp/products/machine-tools/contents/machine-tool-jimtof2026/</a:t>
            </a:r>
          </a:p>
          <a:p xmlns:a="http://schemas.openxmlformats.org/drawingml/2006/main">
            <a:r>
              <a:t>該当箇所:TAKISAWA／TR-20W、主軸の切粉認識・判断・除去、参考出品</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EEX-EXH-2026-30b70a74241de123 JIMTOF2026公式出展説明：カネテック株式会社 (W2013)</a:t>
            </a:r>
          </a:p>
          <a:p xmlns:a="http://schemas.openxmlformats.org/drawingml/2006/main">
            <a:r>
              <a:t>https://www.jimtof.org/search/jp/ESdetails?e=ekM3exgIAtc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EEX-EXH-2024-45415d070f47dc6e JIMTOF2024公式出展説明：カネテック株式会社 (W2030)</a:t>
            </a:r>
          </a:p>
          <a:p xmlns:a="http://schemas.openxmlformats.org/drawingml/2006/main">
            <a:r>
              <a:t>https://www.jimtof.org/2024/search/jp/ESdetails?e=ot0Fx36wI0g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EDP-01 MagnetPinset</a:t>
            </a:r>
          </a:p>
          <a:p xmlns:a="http://schemas.openxmlformats.org/drawingml/2006/main">
            <a:r>
              <a:t>https://kanetec.co.jp/lp/MagnetPinset%40LP.html</a:t>
            </a:r>
          </a:p>
          <a:p xmlns:a="http://schemas.openxmlformats.org/drawingml/2006/main">
            <a:r>
              <a:t>該当箇所:小径ネジの課題／JIMTOF2024出展／ネジ整列器</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EEX-EXH-2026-8c08de1ffed47316 JIMTOF2026公式出展説明：東京エレクトロンデバイス株式会社 (E7073)</a:t>
            </a:r>
          </a:p>
          <a:p xmlns:a="http://schemas.openxmlformats.org/drawingml/2006/main">
            <a:r>
              <a:t>https://www.jimtof.org/search/jp/ESdetails?e=c4cChQniAm8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EEX-WTED 企業公式の展示告知</a:t>
            </a:r>
          </a:p>
          <a:p xmlns:a="http://schemas.openxmlformats.org/drawingml/2006/main">
            <a:r>
              <a:t>https://www.inrevium.com/news-event/event/p7331/</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展示:2026展示予定</a:t>
            </a:r>
          </a:p>
          <a:p xmlns:a="http://schemas.openxmlformats.org/drawingml/2006/main">
            <a:r>
              <a:t/>
            </a:r>
          </a:p>
          <a:p xmlns:a="http://schemas.openxmlformats.org/drawingml/2006/main">
            <a:r>
              <a:t>EEX-EXH-2026-ba283a239e52d644 JIMTOF2026公式出展説明：株式会社ジーベックテクノロジー (WA006)</a:t>
            </a:r>
          </a:p>
          <a:p xmlns:a="http://schemas.openxmlformats.org/drawingml/2006/main">
            <a:r>
              <a:t>https://www.jimtof.org/search/jp/ESdetails?e=jbu03Ik4s00</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EEX-EXH-2024-1632c66ef4d28e78 JIMTOF2024公式出展説明：株式会社ジーベックテクノロジー (WA007)</a:t>
            </a:r>
          </a:p>
          <a:p xmlns:a="http://schemas.openxmlformats.org/drawingml/2006/main">
            <a:r>
              <a:t>https://www.jimtof.org/2024/search/jp/ESdetails?e=mnvwVRInyM8</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EAT-N04 CoAgent for Operations TF1700</a:t>
            </a:r>
          </a:p>
          <a:p xmlns:a="http://schemas.openxmlformats.org/drawingml/2006/main">
            <a:r>
              <a:t>https://www.beckhoff.com/ko-kr/products/automation/twincat/tfxxxx-twincat-3-functions/tf1xxx-system/tf1700.html</a:t>
            </a:r>
          </a:p>
          <a:p xmlns:a="http://schemas.openxmlformats.org/drawingml/2006/main">
            <a:r>
              <a:t>該当箇所:Properties／Product status</a:t>
            </a:r>
          </a:p>
          <a:p xmlns:a="http://schemas.openxmlformats.org/drawingml/2006/main">
            <a:r>
              <a:t>確認:2026-10-16</a:t>
            </a:r>
          </a:p>
          <a:p xmlns:a="http://schemas.openxmlformats.org/drawingml/2006/main">
            <a:r>
              <a:t>種類:企業公式説明・メーカー主張</a:t>
            </a:r>
          </a:p>
          <a:p xmlns:a="http://schemas.openxmlformats.org/drawingml/2006/main">
            <a:r>
              <a:t>展示:製品発表・市場投入時期要問い合わせ</a:t>
            </a:r>
          </a:p>
          <a:p xmlns:a="http://schemas.openxmlformats.org/drawingml/2006/main">
            <a:r>
              <a:t/>
            </a:r>
          </a:p>
          <a:p xmlns:a="http://schemas.openxmlformats.org/drawingml/2006/main">
            <a:r>
              <a:t>ERF-02 TF1700 CoAgent for Operations</a:t>
            </a:r>
          </a:p>
          <a:p xmlns:a="http://schemas.openxmlformats.org/drawingml/2006/main">
            <a:r>
              <a:t>https://www.beckhoff.com/en-en/products/automation/twincat/tfxxxx-twincat-3-functions/tf1xxx-system/tf1700.html</a:t>
            </a:r>
          </a:p>
          <a:p xmlns:a="http://schemas.openxmlformats.org/drawingml/2006/main">
            <a:r>
              <a:t>該当箇所:Properties／direct system access；Product status／market release on request</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EOV-V015-2024-1 JIMTOF2024公式カタログ：株式会社ソフィックス (E4046)</a:t>
            </a:r>
          </a:p>
          <a:p xmlns:a="http://schemas.openxmlformats.org/drawingml/2006/main">
            <a:r>
              <a:t>https://www.jimtof.org/2024/search/jp/ESdetails?e=WNiUW-E-atY</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EOV-V015-2026-1 JIMTOF2026公式カタログ：株式会社ソフィックス (E1067)</a:t>
            </a:r>
          </a:p>
          <a:p xmlns:a="http://schemas.openxmlformats.org/drawingml/2006/main">
            <a:r>
              <a:t>https://www.jimtof.org/search/jp/ESdetails?e=rYRhOM0muPQ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EDP-21 SOFIXCAN AI Forecast</a:t>
            </a:r>
          </a:p>
          <a:p xmlns:a="http://schemas.openxmlformats.org/drawingml/2006/main">
            <a:r>
              <a:t>https://www.sofix.co.jp/products/sofixcan_ai_forecast/</a:t>
            </a:r>
          </a:p>
          <a:p xmlns:a="http://schemas.openxmlformats.org/drawingml/2006/main">
            <a:r>
              <a:t>該当箇所:時系列データ予測／形状領域予測／顧客別予測システム開発</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EDP-22 SOFIXCAN Fleeter</a:t>
            </a:r>
          </a:p>
          <a:p xmlns:a="http://schemas.openxmlformats.org/drawingml/2006/main">
            <a:r>
              <a:t>https://www.sofix.co.jp/products/sofixcan_fleeter/</a:t>
            </a:r>
          </a:p>
          <a:p xmlns:a="http://schemas.openxmlformats.org/drawingml/2006/main">
            <a:r>
              <a:t>該当箇所:上位システム命令をトリガーに各機器を制御／通信モジュール追加</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EDP-23 JIMTOF2026告知とミニ工場の過去告知</a:t>
            </a:r>
          </a:p>
          <a:p xmlns:a="http://schemas.openxmlformats.org/drawingml/2006/main">
            <a:r>
              <a:t>https://www.sofix.co.jp/</a:t>
            </a:r>
          </a:p>
          <a:p xmlns:a="http://schemas.openxmlformats.org/drawingml/2006/main">
            <a:r>
              <a:t>該当箇所:2026/9/29告知／2025/11/4国際ロボット展でもミニ工場を予告</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EOV-V016-2026-1 JIMTOF2026公式カタログ：パナソニックプロダクションエンジニアリング株式会社 (W3086)</a:t>
            </a:r>
          </a:p>
          <a:p xmlns:a="http://schemas.openxmlformats.org/drawingml/2006/main">
            <a:r>
              <a:t>https://www.jimtof.org/search/jp/ESdetails?e=5mrMofo3nN8</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EOV-W05 X-Area</a:t>
            </a:r>
          </a:p>
          <a:p xmlns:a="http://schemas.openxmlformats.org/drawingml/2006/main">
            <a:r>
              <a:t>https://www.panasonic.com/jp/company/ppe/products/x-area.html</a:t>
            </a:r>
          </a:p>
          <a:p xmlns:a="http://schemas.openxmlformats.org/drawingml/2006/main">
            <a:r>
              <a:t>該当箇所:サービス概要、システム構成</a:t>
            </a:r>
          </a:p>
          <a:p xmlns:a="http://schemas.openxmlformats.org/drawingml/2006/main">
            <a:r>
              <a:t>確認:2026-10-16</a:t>
            </a:r>
          </a:p>
          <a:p xmlns:a="http://schemas.openxmlformats.org/drawingml/2006/main">
            <a:r>
              <a:t>種類:企業公式資料・メーカー主張</a:t>
            </a:r>
          </a:p>
          <a:p xmlns:a="http://schemas.openxmlformats.org/drawingml/2006/main">
            <a:r>
              <a:t>展示:人の介入を含む運用方式。無人運用・同時台数の保証ではない</a:t>
            </a:r>
          </a:p>
          <a:p xmlns:a="http://schemas.openxmlformats.org/drawingml/2006/main">
            <a:r>
              <a:t/>
            </a:r>
          </a:p>
          <a:p xmlns:a="http://schemas.openxmlformats.org/drawingml/2006/main">
            <a:r>
              <a:t>EOV-W09 工場敷地内でのX-Area Remote実証</a:t>
            </a:r>
          </a:p>
          <a:p xmlns:a="http://schemas.openxmlformats.org/drawingml/2006/main">
            <a:r>
              <a:t>https://tech.panasonic.com/jp/td/news/20221124.html</a:t>
            </a:r>
          </a:p>
          <a:p xmlns:a="http://schemas.openxmlformats.org/drawingml/2006/main">
            <a:r>
              <a:t>該当箇所:2022/11/24 NEWS &amp; TOPICS</a:t>
            </a:r>
          </a:p>
          <a:p xmlns:a="http://schemas.openxmlformats.org/drawingml/2006/main">
            <a:r>
              <a:t>確認:2026-10-16</a:t>
            </a:r>
          </a:p>
          <a:p xmlns:a="http://schemas.openxmlformats.org/drawingml/2006/main">
            <a:r>
              <a:t>種類:企業公式資料・メーカー主張</a:t>
            </a:r>
          </a:p>
          <a:p xmlns:a="http://schemas.openxmlformats.org/drawingml/2006/main">
            <a:r>
              <a:t>展示:2024出展比較はできないが、2026に初めて遠隔管制が生まれたという解釈を否定する根拠</a:t>
            </a:r>
          </a:p>
          <a:p xmlns:a="http://schemas.openxmlformats.org/drawingml/2006/main">
            <a:r>
              <a:t/>
            </a:r>
          </a:p>
          <a:p xmlns:a="http://schemas.openxmlformats.org/drawingml/2006/main">
            <a:r>
              <a:t>EDP-24 屋外自動搬送とX-Area Remoteの実証</a:t>
            </a:r>
          </a:p>
          <a:p xmlns:a="http://schemas.openxmlformats.org/drawingml/2006/main">
            <a:r>
              <a:t>https://news.panasonic.com/jp/press/jn260713-1</a:t>
            </a:r>
          </a:p>
          <a:p xmlns:a="http://schemas.openxmlformats.org/drawingml/2006/main">
            <a:r>
              <a:t>該当箇所:障害物停止時に自動運転から人の遠隔操作へ切替／担当者とセーフティドライバー</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EEX-EXH-2026-4fb92ba6b82546d7 JIMTOF2026公式出展説明：WinTool AG (E1049)</a:t>
            </a:r>
          </a:p>
          <a:p xmlns:a="http://schemas.openxmlformats.org/drawingml/2006/main">
            <a:r>
              <a:t>https://www.jimtof.org/search/jp/ESdetails?e=sSFZV23clJo</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EEX-EXH-2024-3f1fa1966a57e011 JIMTOF2024公式出展説明：WinTool AG (E5003)</a:t>
            </a:r>
          </a:p>
          <a:p xmlns:a="http://schemas.openxmlformats.org/drawingml/2006/main">
            <a:r>
              <a:t>https://www.jimtof.org/2024/search/jp/ESdetails?e=-n22F1d_CDc</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EDP-18 ERP Integration</a:t>
            </a:r>
          </a:p>
          <a:p xmlns:a="http://schemas.openxmlformats.org/drawingml/2006/main">
            <a:r>
              <a:t>https://www.wintool.com/en/tool-management-software/cnc-inventory-manager/erp-integration</a:t>
            </a:r>
          </a:p>
          <a:p xmlns:a="http://schemas.openxmlformats.org/drawingml/2006/main">
            <a:r>
              <a:t>該当箇所:最低在庫で購買要求を生成し、管理者承認後にERPへ自動送信</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EDP-19 CNC Process Manager</a:t>
            </a:r>
          </a:p>
          <a:p xmlns:a="http://schemas.openxmlformats.org/drawingml/2006/main">
            <a:r>
              <a:t>https://www.wintool.com/software/cnc-prozessverwaltung</a:t>
            </a:r>
          </a:p>
          <a:p xmlns:a="http://schemas.openxmlformats.org/drawingml/2006/main">
            <a:r>
              <a:t>該当箇所:工具積卸リスト・在庫確認・プリセッター指示・NCと測定値の転送</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EOV-V013-2026-1 JIMTOF2026公式カタログ：株式会社Smart Craft (S3002)</a:t>
            </a:r>
          </a:p>
          <a:p xmlns:a="http://schemas.openxmlformats.org/drawingml/2006/main">
            <a:r>
              <a:t>https://www.jimtof.org/search/jp/ESdetails?e=WqjRB6DEqN0</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EOV-W01 TwinCAT 3 Machine Learning Creator</a:t>
            </a:r>
          </a:p>
          <a:p xmlns:a="http://schemas.openxmlformats.org/drawingml/2006/main">
            <a:r>
              <a:t>https://www.beckhoff.com/en-za/products/automation/twincat/texxxx-twincat-3-engineering/te3850.html</a:t>
            </a:r>
          </a:p>
          <a:p xmlns:a="http://schemas.openxmlformats.org/drawingml/2006/main">
            <a:r>
              <a:t>該当箇所:製品説明冒頭、Product status</a:t>
            </a:r>
          </a:p>
          <a:p xmlns:a="http://schemas.openxmlformats.org/drawingml/2006/main">
            <a:r>
              <a:t>確認:2026-10-16</a:t>
            </a:r>
          </a:p>
          <a:p xmlns:a="http://schemas.openxmlformats.org/drawingml/2006/main">
            <a:r>
              <a:t>種類:企業公式資料・メーカー主張</a:t>
            </a:r>
          </a:p>
          <a:p xmlns:a="http://schemas.openxmlformats.org/drawingml/2006/main">
            <a:r>
              <a:t>展示:既存製品の方式確認。2026展示はEOV-V005-2026-1で別確認</a:t>
            </a:r>
          </a:p>
          <a:p xmlns:a="http://schemas.openxmlformats.org/drawingml/2006/main">
            <a:r>
              <a:t/>
            </a:r>
          </a:p>
          <a:p xmlns:a="http://schemas.openxmlformats.org/drawingml/2006/main">
            <a:r>
              <a:t>EDP-04 PC Control 02/2024：Machine Learning Creator</a:t>
            </a:r>
          </a:p>
          <a:p xmlns:a="http://schemas.openxmlformats.org/drawingml/2006/main">
            <a:r>
              <a:t>https://www.beckhoff.com/media/downloads/information-media/pc-control/pcc_0224_e.pdf</a:t>
            </a:r>
          </a:p>
          <a:p xmlns:a="http://schemas.openxmlformats.org/drawingml/2006/main">
            <a:r>
              <a:t>該当箇所:TE3850／訓練・テストデータ分割、モデル解析、ONNX出力</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EOV-V011-2024-1 JIMTOF2024公式カタログ：株式会社たけびし (E7053)</a:t>
            </a:r>
          </a:p>
          <a:p xmlns:a="http://schemas.openxmlformats.org/drawingml/2006/main">
            <a:r>
              <a:t>https://www.jimtof.org/2024/search/jp/ESdetails?e=SiZMI-OH8_k</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EOV-V011-2026-1 JIMTOF2026公式カタログ：株式会社たけびし (S3015)</a:t>
            </a:r>
          </a:p>
          <a:p xmlns:a="http://schemas.openxmlformats.org/drawingml/2006/main">
            <a:r>
              <a:t>https://www.jimtof.org/search/jp/ESdetails?e=Qh27DAtEkbw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EDP-06 OPC UA情報モデルとAIエージェント</a:t>
            </a:r>
          </a:p>
          <a:p xmlns:a="http://schemas.openxmlformats.org/drawingml/2006/main">
            <a:r>
              <a:t>https://opcconnect.opcfoundation.org/2026/06/toward-realizing-ai-utilization-in-manufacturing-exploring-the-potential-of-integrating-the-opc-ua-information-model-with-ai-agents/</a:t>
            </a:r>
          </a:p>
          <a:p xmlns:a="http://schemas.openxmlformats.org/drawingml/2006/main">
            <a:r>
              <a:t>該当箇所:A New Approach to Connecting AI Agents／MCP Adapterはplanning to provide</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EOV-V012-2024-1 JIMTOF2024公式カタログ：株式会社シーイーシー (E5022)</a:t>
            </a:r>
          </a:p>
          <a:p xmlns:a="http://schemas.openxmlformats.org/drawingml/2006/main">
            <a:r>
              <a:t>https://www.jimtof.org/2024/search/jp/ESdetails?e=WS9ql5D41fQ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EOV-V012-2026-1 JIMTOF2026公式カタログ：株式会社シーイーシー (E2006)</a:t>
            </a:r>
          </a:p>
          <a:p xmlns:a="http://schemas.openxmlformats.org/drawingml/2006/main">
            <a:r>
              <a:t>https://www.jimtof.org/search/jp/ESdetails?e=tW-C9oF94EQ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EOV-V002-2024-1 JIMTOF2024公式カタログ：ファナック株式会社 (S2001)</a:t>
            </a:r>
          </a:p>
          <a:p xmlns:a="http://schemas.openxmlformats.org/drawingml/2006/main">
            <a:r>
              <a:t>https://www.jimtof.org/2024/search/jp/ESdetails?e=N0RgOmmcwZw</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展示:2024当時の出展説明・実演実施の事後確認ではない</a:t>
            </a:r>
          </a:p>
          <a:p xmlns:a="http://schemas.openxmlformats.org/drawingml/2006/main">
            <a:r>
              <a:t/>
            </a:r>
          </a:p>
          <a:p xmlns:a="http://schemas.openxmlformats.org/drawingml/2006/main">
            <a:r>
              <a:t>EOV-V002-2026-1 JIMTOF2026公式カタログ：ファナック株式会社 (S2001)</a:t>
            </a:r>
          </a:p>
          <a:p xmlns:a="http://schemas.openxmlformats.org/drawingml/2006/main">
            <a:r>
              <a:t>https://www.jimtof.org/search/jp/ESdetails?e=q0OrZBKM3uQ</a:t>
            </a:r>
          </a:p>
          <a:p xmlns:a="http://schemas.openxmlformats.org/drawingml/2006/main">
            <a:r>
              <a:t>該当箇所:main &gt; div.col-md-8.mb-5 の出展紹介、見出し「主な出展物」直後</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EEX-EXH-2026-9b991dd8132f51dc JIMTOF2026公式出展説明：シーメンス株式会社 (E3006)</a:t>
            </a:r>
          </a:p>
          <a:p xmlns:a="http://schemas.openxmlformats.org/drawingml/2006/main">
            <a:r>
              <a:t>https://www.jimtof.org/search/jp/ESdetails?e=EBIotJu7lrg</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EEX-EXH-2024-558faea07a73f5d8 JIMTOF2024公式出展説明：シーメンス株式会社 (E5008)</a:t>
            </a:r>
          </a:p>
          <a:p xmlns:a="http://schemas.openxmlformats.org/drawingml/2006/main">
            <a:r>
              <a:t>https://www.jimtof.org/2024/search/jp/ESdetails?e=nYvFR1vpbuE</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展示:2024当時の説明・実演事後確認ではない</a:t>
            </a:r>
          </a:p>
          <a:p xmlns:a="http://schemas.openxmlformats.org/drawingml/2006/main">
            <a:r>
              <a:t/>
            </a:r>
          </a:p>
          <a:p xmlns:a="http://schemas.openxmlformats.org/drawingml/2006/main">
            <a:r>
              <a:t>EDP-16 HELLER Toknとデジタルツインの訓練事例</a:t>
            </a:r>
          </a:p>
          <a:p xmlns:a="http://schemas.openxmlformats.org/drawingml/2006/main">
            <a:r>
              <a:t>https://references.siemens.com/en/reference/heller-tokn-digital-twin?id=41137</a:t>
            </a:r>
          </a:p>
          <a:p xmlns:a="http://schemas.openxmlformats.org/drawingml/2006/main">
            <a:r>
              <a:t>該当箇所:Completion: 2024／仮想SINUMERIK ONEと3D機械モデルによる訓練</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EDP-17 Humanoidとの工場内物流の運用試験</a:t>
            </a:r>
          </a:p>
          <a:p xmlns:a="http://schemas.openxmlformats.org/drawingml/2006/main">
            <a:r>
              <a:t>https://press.siemens.com/jp/ja/pressrelease/pr-20260416</a:t>
            </a:r>
          </a:p>
          <a:p xmlns:a="http://schemas.openxmlformats.org/drawingml/2006/main">
            <a:r>
              <a:t>該当箇所:HMND 01 Alphaのトート把持・搬送・配置／Jetson Thor・Isaac Sim/Lab</a:t>
            </a:r>
          </a:p>
          <a:p xmlns:a="http://schemas.openxmlformats.org/drawingml/2006/main">
            <a:r>
              <a:t>確認:2026-10-16</a:t>
            </a:r>
          </a:p>
          <a:p xmlns:a="http://schemas.openxmlformats.org/drawingml/2006/main">
            <a:r>
              <a:t>種類:企業／開発元公式説明・メーカー主張</a:t>
            </a:r>
          </a:p>
          <a:p xmlns:a="http://schemas.openxmlformats.org/drawingml/2006/main">
            <a:r>
              <a:t>展示:製品・技術説明／他展示会・実証を含む。JIMTOF2026の展示確定とは別</a:t>
            </a:r>
          </a:p>
          <a:p xmlns:a="http://schemas.openxmlformats.org/drawingml/2006/main">
            <a:r>
              <a:t/>
            </a:r>
          </a:p>
          <a:p xmlns:a="http://schemas.openxmlformats.org/drawingml/2006/main">
            <a:r>
              <a:t>EEX-EXH-2026-016097f87d1914b2 JIMTOF2026公式出展説明：NdotLight Co., Ltd. (S4004)</a:t>
            </a:r>
          </a:p>
          <a:p xmlns:a="http://schemas.openxmlformats.org/drawingml/2006/main">
            <a:r>
              <a:t>https://www.jimtof.org/search/jp/ESdetails?e=6Ds1v9hxvrY</a:t>
            </a:r>
          </a:p>
          <a:p xmlns:a="http://schemas.openxmlformats.org/drawingml/2006/main">
            <a:r>
              <a:t>該当箇所:出展紹介・主な出展物。追加カードの原典抜粋で検索</a:t>
            </a:r>
          </a:p>
          <a:p xmlns:a="http://schemas.openxmlformats.org/drawingml/2006/main">
            <a:r>
              <a:t>確認:2026-10-16</a:t>
            </a:r>
          </a:p>
          <a:p xmlns:a="http://schemas.openxmlformats.org/drawingml/2006/main">
            <a:r>
              <a:t>種類:公式掲載の出展者記述・メーカー主張</a:t>
            </a:r>
          </a:p>
          <a:p xmlns:a="http://schemas.openxmlformats.org/drawingml/2006/main">
            <a:r>
              <a:t>展示:2026展示予定・現地未確認</a:t>
            </a:r>
          </a:p>
          <a:p xmlns:a="http://schemas.openxmlformats.org/drawingml/2006/main">
            <a:r>
              <a:t/>
            </a:r>
          </a:p>
          <a:p xmlns:a="http://schemas.openxmlformats.org/drawingml/2006/main">
            <a:r>
              <a:t>EEX-WNDOT TRINIX：Physical AI向け3Dデータの企業公式説明</a:t>
            </a:r>
          </a:p>
          <a:p xmlns:a="http://schemas.openxmlformats.org/drawingml/2006/main">
            <a:r>
              <a:t>https://ndotlight.com/newsroom/ndotlight-proposes-a-new-3d-data-standard-for-the-physical-ai-era-with-trinix</a:t>
            </a:r>
          </a:p>
          <a:p xmlns:a="http://schemas.openxmlformats.org/drawingml/2006/main">
            <a:r>
              <a:t>該当箇所:展示会概要・出展製品／2026年5月13日の製品説明</a:t>
            </a:r>
          </a:p>
          <a:p xmlns:a="http://schemas.openxmlformats.org/drawingml/2006/main">
            <a:r>
              <a:t>確認:2026-10-16</a:t>
            </a:r>
          </a:p>
          <a:p xmlns:a="http://schemas.openxmlformats.org/drawingml/2006/main">
            <a:r>
              <a:t>種類:企業公式説明・メーカー主張</a:t>
            </a:r>
          </a:p>
          <a:p xmlns:a="http://schemas.openxmlformats.org/drawingml/2006/main">
            <a:r>
              <a:t>展示:製品の方式説明。JIMTOFの実演範囲とは区別</a:t>
            </a:r>
          </a:p>
          <a:p xmlns:a="http://schemas.openxmlformats.org/drawingml/2006/main">
            <a:r>
              <a:t/>
            </a:r>
          </a:p>
          <a:p xmlns:a="http://schemas.openxmlformats.org/drawingml/2006/main">
            <a:r>
              <a:t>ERF-06 TRINIX：物理属性生成と自己修正</a:t>
            </a:r>
          </a:p>
          <a:p xmlns:a="http://schemas.openxmlformats.org/drawingml/2006/main">
            <a:r>
              <a:t>https://ndotlight.com/</a:t>
            </a:r>
          </a:p>
          <a:p xmlns:a="http://schemas.openxmlformats.org/drawingml/2006/main">
            <a:r>
              <a:t>該当箇所:Physics Injection／Self-corrective Closed Loop／FAQ</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ERF-07 SimReady FAQ：静的検証と実行時検証</a:t>
            </a:r>
          </a:p>
          <a:p xmlns:a="http://schemas.openxmlformats.org/drawingml/2006/main">
            <a:r>
              <a:t>https://docs.omniverse.nvidia.com/simready/latest/simready-faq.html</a:t>
            </a:r>
          </a:p>
          <a:p xmlns:a="http://schemas.openxmlformats.org/drawingml/2006/main">
            <a:r>
              <a:t>該当箇所:What Is the Difference…Foundation；How Do I Validate My Composed Scene…（L526–538）</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ERF-08 SimReady Physics Best Practices</a:t>
            </a:r>
          </a:p>
          <a:p xmlns:a="http://schemas.openxmlformats.org/drawingml/2006/main">
            <a:r>
              <a:t>https://docs.omniverse.nvidia.com/simready/latest/simready-asset-creation/physics-best-practices.html</a:t>
            </a:r>
          </a:p>
          <a:p xmlns:a="http://schemas.openxmlformats.org/drawingml/2006/main">
            <a:r>
              <a:t>該当箇所:Typical USDPhysics Components／Collider、Mass、materialの摩擦・密度・反発</a:t>
            </a:r>
          </a:p>
          <a:p xmlns:a="http://schemas.openxmlformats.org/drawingml/2006/main">
            <a:r>
              <a:t>確認:2026-10-18</a:t>
            </a:r>
          </a:p>
          <a:p xmlns:a="http://schemas.openxmlformats.org/drawingml/2006/main">
            <a:r>
              <a:t>種類:周辺基盤の公式仕様・個別出展製品の搭載確認とは別</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ERF-09 DexBench共同開発の告知</a:t>
            </a:r>
          </a:p>
          <a:p xmlns:a="http://schemas.openxmlformats.org/drawingml/2006/main">
            <a:r>
              <a:t>https://ndotlight.com/newsroom/ndotlight-to-co-develop-dexbench-a-global-standard-for-humanoid-evaluation-with-nvidia-and-rlwrld</a:t>
            </a:r>
          </a:p>
          <a:p xmlns:a="http://schemas.openxmlformats.org/drawingml/2006/main">
            <a:r>
              <a:t>該当箇所:2026/8/7／SimReady環境・操作評価・sim-to-real gap低減の共同開発</a:t>
            </a:r>
          </a:p>
          <a:p xmlns:a="http://schemas.openxmlformats.org/drawingml/2006/main">
            <a:r>
              <a:t>確認:2026-10-18</a:t>
            </a:r>
          </a:p>
          <a:p xmlns:a="http://schemas.openxmlformats.org/drawingml/2006/main">
            <a:r>
              <a:t>種類:企業／開発元／展示会の公式説明</a:t>
            </a:r>
          </a:p>
          <a:p xmlns:a="http://schemas.openxmlformats.org/drawingml/2006/main">
            <a:r>
              <a:t>展示:展示予定・製品説明・共同開発告知・周辺仕様を区別。現地実演の確認ではない。</a:t>
            </a:r>
          </a:p>
          <a:p xmlns:a="http://schemas.openxmlformats.org/drawingml/2006/main">
            <a:r>
              <a:t/>
            </a:r>
          </a:p>
          <a:p xmlns:a="http://schemas.openxmlformats.org/drawingml/2006/main">
            <a:r>
              <a:t>RPT-EXH-2026-d7b599b5d3045611 東京貿易テクノシステム株式会社 JIMTOF2026</a:t>
            </a:r>
          </a:p>
          <a:p xmlns:a="http://schemas.openxmlformats.org/drawingml/2006/main">
            <a:r>
              <a:t>https://www.jimtof.org/search/jp/ESdetails?e=q65eJorv2LU</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RPT-EXH-2024-5cbad6b0326d2bee 東京貿易テクノシステム株式会社 JIMTOF2024</a:t>
            </a:r>
          </a:p>
          <a:p xmlns:a="http://schemas.openxmlformats.org/drawingml/2006/main">
            <a:r>
              <a:t>https://www.jimtof.org/2024/search/jp/ESdetails?e=RD73EqDannI</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RPT-EXH-2026-91aa8dd094a4a7b2 株式会社神崎高級工機製作所 JIMTOF2026</a:t>
            </a:r>
          </a:p>
          <a:p xmlns:a="http://schemas.openxmlformats.org/drawingml/2006/main">
            <a:r>
              <a:t>https://www.jimtof.org/search/jp/ESdetails?e=bpuT_4Xpv_c</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a:p xmlns:a="http://schemas.openxmlformats.org/drawingml/2006/main">
            <a:r>
              <a:t/>
            </a:r>
          </a:p>
          <a:p xmlns:a="http://schemas.openxmlformats.org/drawingml/2006/main">
            <a:r>
              <a:t>RPT-EXH-2024-50a402f6bcce2ab8 株式会社神崎高級工機製作所 JIMTOF2024</a:t>
            </a:r>
          </a:p>
          <a:p xmlns:a="http://schemas.openxmlformats.org/drawingml/2006/main">
            <a:r>
              <a:t>https://www.jimtof.org/2024/search/jp/ESdetails?e=C7Uh8Jc1Y2s</a:t>
            </a:r>
          </a:p>
          <a:p xmlns:a="http://schemas.openxmlformats.org/drawingml/2006/main">
            <a:r>
              <a:t>該当箇所:main &gt; div.container &gt; div.row &gt; div.col-md-8.mb-5; 見出し「主な出展物」と直後のp</a:t>
            </a:r>
          </a:p>
          <a:p xmlns:a="http://schemas.openxmlformats.org/drawingml/2006/main">
            <a:r>
              <a:t>確認:2026-10-16</a:t>
            </a:r>
          </a:p>
          <a:p xmlns:a="http://schemas.openxmlformats.org/drawingml/2006/main">
            <a:r>
              <a:t>種類:公式カタログ掲載・出展者記述。2026は展示予定で現地実演未確認。</a:t>
            </a:r>
          </a:p>
          <a:p xmlns:a="http://schemas.openxmlformats.org/drawingml/2006/main">
            <a:r>
              <a:t>展示:2026は展示予定／現地未確認</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3e4692bfcf48a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bf698312e64d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0ee793a3e640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5b9f8a3a094d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f4c5f81ec24c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361fe94c4845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125016-61F9-4E93-B1F0-63EEE0594793}"/>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5826AD-7913-451A-8319-E9D9F704D7BA}"/>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D53927-56FF-4760-BB14-3F1748E2C17B}"/>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440F67-2EC6-443A-B1A2-3B94B1CA996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6C4423-1E7A-4CB5-A2BD-240A5147235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7CE5CC-2253-46A0-B5A1-7105094FB24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6786D0-DD54-4B23-99C8-32A5A235760C}"/>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ADB288-6C2C-437B-BAB2-B47C47E2E5D7}"/>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A585FC-5A9F-40E8-93AB-BD37E231FD4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03D375-3F55-41FD-AFDA-1A869418D646}"/>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79e173bc2d4dcc" /><Relationship Type="http://schemas.openxmlformats.org/officeDocument/2006/relationships/slideLayout" Target="/ppt/slideLayouts/slideLayout1.xml" Id="R17a4f44194194ffe" /><Relationship Type="http://schemas.openxmlformats.org/officeDocument/2006/relationships/slideLayout" Target="/ppt/slideLayouts/slideLayout2.xml" Id="Rff0543bc31ef4d61" /><Relationship Type="http://schemas.openxmlformats.org/officeDocument/2006/relationships/slideLayout" Target="/ppt/slideLayouts/slideLayout3.xml" Id="R6f4563b47c1c4939" /><Relationship Type="http://schemas.openxmlformats.org/officeDocument/2006/relationships/slideLayout" Target="/ppt/slideLayouts/slideLayout4.xml" Id="R1b6b8f89e1f64ac8" /><Relationship Type="http://schemas.openxmlformats.org/officeDocument/2006/relationships/slideLayout" Target="/ppt/slideLayouts/slideLayout5.xml" Id="Re4e8e06b0e9d4d8b" /><Relationship Type="http://schemas.openxmlformats.org/officeDocument/2006/relationships/slideLayout" Target="/ppt/slideLayouts/slideLayout6.xml" Id="R8f1d367e79a546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a4f44194194ffe"/>
    <p:sldLayoutId xmlns:r="http://schemas.openxmlformats.org/officeDocument/2006/relationships" id="2147483650" r:id="Rff0543bc31ef4d61"/>
    <p:sldLayoutId xmlns:r="http://schemas.openxmlformats.org/officeDocument/2006/relationships" id="2147483651" r:id="R6f4563b47c1c4939"/>
    <p:sldLayoutId xmlns:r="http://schemas.openxmlformats.org/officeDocument/2006/relationships" id="2147483652" r:id="R1b6b8f89e1f64ac8"/>
    <p:sldLayoutId xmlns:r="http://schemas.openxmlformats.org/officeDocument/2006/relationships" id="2147483653" r:id="Re4e8e06b0e9d4d8b"/>
    <p:sldLayoutId xmlns:r="http://schemas.openxmlformats.org/officeDocument/2006/relationships" id="2147483654" r:id="R8f1d367e79a546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1760b4b9264898" /><Relationship Type="http://schemas.openxmlformats.org/officeDocument/2006/relationships/notesSlide" Target="/ppt/notesSlides/notesSlide1.xml" Id="Rb6f542e0ea724391" /></Relationships>
</file>

<file path=ppt/slides/slide1.xml><?xml version="1.0" encoding="utf-8"?>
<p:sld xmlns:p="http://schemas.openxmlformats.org/presentationml/2006/main">
  <p:cSld>
    <p:bg>
      <p:bgPr>
        <a:solidFill xmlns:a="http://schemas.openxmlformats.org/drawingml/2006/main">
          <a:srgbClr val="F4F6FA"/>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0B56B271-DD43-4083-B9C5-0AB5530A9366}"/>
              </a:ext>
            </a:extLst>
          </p:cNvPr>
          <p:cNvSpPr>
            <a:spLocks xmlns:a="http://schemas.openxmlformats.org/drawingml/2006/main" noGrp="1"/>
          </p:cNvSpPr>
          <p:nvPr/>
        </p:nvSpPr>
        <p:spPr>
          <a:xfrm xmlns:a="http://schemas.openxmlformats.org/drawingml/2006/main">
            <a:off x="609600" y="333375"/>
            <a:ext cx="17068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182D43"/>
                </a:solidFill>
                <a:latin typeface="Noto Sans JP"/>
                <a:ea typeface="Noto Sans JP"/>
                <a:cs typeface="Noto Sans JP"/>
              </a:defRPr>
            </a:defPPr>
          </a:lstStyle>
          <a:p xmlns:a="http://schemas.openxmlformats.org/drawingml/2006/main">
            <a:pPr>
              <a:defRPr sz="3375" b="1">
                <a:solidFill>
                  <a:srgbClr val="182D43"/>
                </a:solidFill>
                <a:latin typeface="Noto Sans JP"/>
                <a:ea typeface="Noto Sans JP"/>
                <a:cs typeface="Noto Sans JP"/>
              </a:defRPr>
            </a:pPr>
            <a:r>
              <a:rPr sz="3375" b="1">
                <a:solidFill>
                  <a:srgbClr val="182D43"/>
                </a:solidFill>
                <a:latin typeface="Noto Sans JP"/>
                <a:ea typeface="Noto Sans JP"/>
                <a:cs typeface="Noto Sans JP"/>
              </a:rPr>
              <a:t>JIMTOF2026　現場の人手と技能を、どの技術で補うか</a:t>
            </a:r>
          </a:p>
        </p:txBody>
      </p:sp>
      <p:sp>
        <p:nvSpPr>
          <p:cNvPr id="2" name="sub">
            <a:extLst xmlns:a="http://schemas.openxmlformats.org/drawingml/2006/main">
              <a:ext uri="{FF2B5EF4-FFF2-40B4-BE49-F238E27FC236}">
                <a16:creationId xmlns:a16="http://schemas.microsoft.com/office/drawing/2014/main" id="{5A04A897-BF84-4578-84DB-1365B2FD90BD}"/>
              </a:ext>
            </a:extLst>
          </p:cNvPr>
          <p:cNvSpPr>
            <a:spLocks xmlns:a="http://schemas.openxmlformats.org/drawingml/2006/main" noGrp="1"/>
          </p:cNvSpPr>
          <p:nvPr/>
        </p:nvSpPr>
        <p:spPr>
          <a:xfrm xmlns:a="http://schemas.openxmlformats.org/drawingml/2006/main">
            <a:off x="628650" y="1190625"/>
            <a:ext cx="16954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37286"/>
                </a:solidFill>
                <a:latin typeface="Noto Sans JP"/>
                <a:ea typeface="Noto Sans JP"/>
                <a:cs typeface="Noto Sans JP"/>
              </a:defRPr>
            </a:defPPr>
          </a:lstStyle>
          <a:p xmlns:a="http://schemas.openxmlformats.org/drawingml/2006/main">
            <a:pPr>
              <a:defRPr sz="1950" b="0">
                <a:solidFill>
                  <a:srgbClr val="637286"/>
                </a:solidFill>
                <a:latin typeface="Noto Sans JP"/>
                <a:ea typeface="Noto Sans JP"/>
                <a:cs typeface="Noto Sans JP"/>
              </a:defRPr>
            </a:pPr>
            <a:r>
              <a:rPr sz="1950" b="0">
                <a:solidFill>
                  <a:srgbClr val="637286"/>
                </a:solidFill>
                <a:latin typeface="Noto Sans JP"/>
                <a:ea typeface="Noto Sans JP"/>
                <a:cs typeface="Noto Sans JP"/>
              </a:rPr>
              <a:t>事前共有 v0　2026年10月18日。公式説明から見える動向と、研究開発の候補。</a:t>
            </a:r>
          </a:p>
        </p:txBody>
      </p:sp>
      <p:sp>
        <p:nvSpPr>
          <p:cNvPr id="3" name="page">
            <a:extLst xmlns:a="http://schemas.openxmlformats.org/drawingml/2006/main">
              <a:ext uri="{FF2B5EF4-FFF2-40B4-BE49-F238E27FC236}">
                <a16:creationId xmlns:a16="http://schemas.microsoft.com/office/drawing/2014/main" id="{2A47B162-AFDF-4B39-879D-9700CFD514C9}"/>
              </a:ext>
            </a:extLst>
          </p:cNvPr>
          <p:cNvSpPr>
            <a:spLocks xmlns:a="http://schemas.openxmlformats.org/drawingml/2006/main" noGrp="1"/>
          </p:cNvSpPr>
          <p:nvPr/>
        </p:nvSpPr>
        <p:spPr>
          <a:xfrm xmlns:a="http://schemas.openxmlformats.org/drawingml/2006/main">
            <a:off x="16954500" y="981075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75" b="0">
                <a:solidFill>
                  <a:srgbClr val="637286"/>
                </a:solidFill>
                <a:latin typeface="Noto Sans JP"/>
                <a:ea typeface="Noto Sans JP"/>
                <a:cs typeface="Noto Sans JP"/>
              </a:defRPr>
            </a:defPPr>
          </a:lstStyle>
          <a:p xmlns:a="http://schemas.openxmlformats.org/drawingml/2006/main">
            <a:pPr>
              <a:defRPr sz="1575" b="0">
                <a:solidFill>
                  <a:srgbClr val="637286"/>
                </a:solidFill>
                <a:latin typeface="Noto Sans JP"/>
                <a:ea typeface="Noto Sans JP"/>
                <a:cs typeface="Noto Sans JP"/>
              </a:defRPr>
            </a:pPr>
            <a:r>
              <a:rPr sz="1575" b="0">
                <a:solidFill>
                  <a:srgbClr val="637286"/>
                </a:solidFill>
                <a:latin typeface="Noto Sans JP"/>
                <a:ea typeface="Noto Sans JP"/>
                <a:cs typeface="Noto Sans JP"/>
              </a:rPr>
              <a:t>01</a:t>
            </a:r>
          </a:p>
        </p:txBody>
      </p:sp>
      <p:sp>
        <p:nvSpPr>
          <p:cNvPr id="4" name="section-0">
            <a:extLst xmlns:a="http://schemas.openxmlformats.org/drawingml/2006/main">
              <a:ext uri="{FF2B5EF4-FFF2-40B4-BE49-F238E27FC236}">
                <a16:creationId xmlns:a16="http://schemas.microsoft.com/office/drawing/2014/main" id="{0D7C32C3-0563-4BEA-8398-98EDB660E1BD}"/>
              </a:ext>
            </a:extLst>
          </p:cNvPr>
          <p:cNvSpPr>
            <a:spLocks xmlns:a="http://schemas.openxmlformats.org/drawingml/2006/main" noGrp="1"/>
          </p:cNvSpPr>
          <p:nvPr/>
        </p:nvSpPr>
        <p:spPr>
          <a:xfrm xmlns:a="http://schemas.openxmlformats.org/drawingml/2006/main">
            <a:off x="609600" y="2143125"/>
            <a:ext cx="8286750" cy="3524250"/>
          </a:xfrm>
          <a:prstGeom xmlns:a="http://schemas.openxmlformats.org/drawingml/2006/main" prst="rect">
            <a:avLst/>
          </a:prstGeom>
          <a:solidFill xmlns:a="http://schemas.openxmlformats.org/drawingml/2006/main">
            <a:srgbClr val="EDF3FA"/>
          </a:solidFill>
          <a:ln xmlns:a="http://schemas.openxmlformats.org/drawingml/2006/main" w="9525">
            <a:solidFill>
              <a:srgbClr val="D5DFEA"/>
            </a:solidFill>
          </a:ln>
        </p:spPr>
      </p:sp>
      <p:sp>
        <p:nvSpPr>
          <p:cNvPr id="5" name="heading-1">
            <a:extLst xmlns:a="http://schemas.openxmlformats.org/drawingml/2006/main">
              <a:ext uri="{FF2B5EF4-FFF2-40B4-BE49-F238E27FC236}">
                <a16:creationId xmlns:a16="http://schemas.microsoft.com/office/drawing/2014/main" id="{EFEE3E40-A866-4A49-BEA8-1B90B07684D7}"/>
              </a:ext>
            </a:extLst>
          </p:cNvPr>
          <p:cNvSpPr>
            <a:spLocks xmlns:a="http://schemas.openxmlformats.org/drawingml/2006/main" noGrp="1"/>
          </p:cNvSpPr>
          <p:nvPr/>
        </p:nvSpPr>
        <p:spPr>
          <a:xfrm xmlns:a="http://schemas.openxmlformats.org/drawingml/2006/main">
            <a:off x="847725" y="23526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1　結果サマリ</a:t>
            </a:r>
          </a:p>
        </p:txBody>
      </p:sp>
      <p:sp>
        <p:nvSpPr>
          <p:cNvPr id="6" name="type-1">
            <a:extLst xmlns:a="http://schemas.openxmlformats.org/drawingml/2006/main">
              <a:ext uri="{FF2B5EF4-FFF2-40B4-BE49-F238E27FC236}">
                <a16:creationId xmlns:a16="http://schemas.microsoft.com/office/drawing/2014/main" id="{2399F398-219B-46CE-A1BD-9E16AC6F890D}"/>
              </a:ext>
            </a:extLst>
          </p:cNvPr>
          <p:cNvSpPr>
            <a:spLocks xmlns:a="http://schemas.openxmlformats.org/drawingml/2006/main" noGrp="1"/>
          </p:cNvSpPr>
          <p:nvPr/>
        </p:nvSpPr>
        <p:spPr>
          <a:xfrm xmlns:a="http://schemas.openxmlformats.org/drawingml/2006/main">
            <a:off x="6086475" y="24098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ニーズ・技術の横断分析</a:t>
            </a:r>
          </a:p>
        </p:txBody>
      </p:sp>
      <p:sp>
        <p:nvSpPr>
          <p:cNvPr id="7" name="body-0">
            <a:extLst xmlns:a="http://schemas.openxmlformats.org/drawingml/2006/main">
              <a:ext uri="{FF2B5EF4-FFF2-40B4-BE49-F238E27FC236}">
                <a16:creationId xmlns:a16="http://schemas.microsoft.com/office/drawing/2014/main" id="{693C0B64-622E-465E-B65C-18DD652D41EA}"/>
              </a:ext>
            </a:extLst>
          </p:cNvPr>
          <p:cNvSpPr>
            <a:spLocks xmlns:a="http://schemas.openxmlformats.org/drawingml/2006/main" noGrp="1"/>
          </p:cNvSpPr>
          <p:nvPr/>
        </p:nvSpPr>
        <p:spPr>
          <a:xfrm xmlns:a="http://schemas.openxmlformats.org/drawingml/2006/main">
            <a:off x="866775" y="3038475"/>
            <a:ext cx="7734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1">
                <a:solidFill>
                  <a:srgbClr val="182D43"/>
                </a:solidFill>
                <a:latin typeface="Noto Sans JP"/>
                <a:ea typeface="Noto Sans JP"/>
                <a:cs typeface="Noto Sans JP"/>
              </a:defRPr>
            </a:defPPr>
          </a:lstStyle>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準備の技能依存には図面・工程・コードの生成支援、加工の</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ばらつきにはモデルと計測を使う調整が提案されている。</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検査・交換判断には画像や稼働データ、段取り・付帯作業に</a:t>
            </a:r>
          </a:p>
          <a:p xmlns:a="http://schemas.openxmlformats.org/drawingml/2006/main">
            <a:pPr>
              <a:defRPr sz="2100" b="1">
                <a:solidFill>
                  <a:srgbClr val="182D43"/>
                </a:solidFill>
                <a:latin typeface="Noto Sans JP"/>
                <a:ea typeface="Noto Sans JP"/>
                <a:cs typeface="Noto Sans JP"/>
              </a:defRPr>
            </a:pPr>
            <a:r>
              <a:rPr sz="2100" b="1">
                <a:solidFill>
                  <a:srgbClr val="182D43"/>
                </a:solidFill>
                <a:latin typeface="Noto Sans JP"/>
                <a:ea typeface="Noto Sans JP"/>
                <a:cs typeface="Noto Sans JP"/>
              </a:rPr>
              <a:t>は交換機構と認識を使うロボットを組み合わせる。</a:t>
            </a:r>
          </a:p>
        </p:txBody>
      </p:sp>
      <p:sp>
        <p:nvSpPr>
          <p:cNvPr id="8" name="section-1">
            <a:extLst xmlns:a="http://schemas.openxmlformats.org/drawingml/2006/main">
              <a:ext uri="{FF2B5EF4-FFF2-40B4-BE49-F238E27FC236}">
                <a16:creationId xmlns:a16="http://schemas.microsoft.com/office/drawing/2014/main" id="{848AA9EC-A5BF-43D5-832D-5DCA29241E09}"/>
              </a:ext>
            </a:extLst>
          </p:cNvPr>
          <p:cNvSpPr>
            <a:spLocks xmlns:a="http://schemas.openxmlformats.org/drawingml/2006/main" noGrp="1"/>
          </p:cNvSpPr>
          <p:nvPr/>
        </p:nvSpPr>
        <p:spPr>
          <a:xfrm xmlns:a="http://schemas.openxmlformats.org/drawingml/2006/main">
            <a:off x="9391650" y="2143125"/>
            <a:ext cx="8286750" cy="352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9" name="heading-2">
            <a:extLst xmlns:a="http://schemas.openxmlformats.org/drawingml/2006/main">
              <a:ext uri="{FF2B5EF4-FFF2-40B4-BE49-F238E27FC236}">
                <a16:creationId xmlns:a16="http://schemas.microsoft.com/office/drawing/2014/main" id="{F160D642-1F6D-4F00-AD32-BF5535372C40}"/>
              </a:ext>
            </a:extLst>
          </p:cNvPr>
          <p:cNvSpPr>
            <a:spLocks xmlns:a="http://schemas.openxmlformats.org/drawingml/2006/main" noGrp="1"/>
          </p:cNvSpPr>
          <p:nvPr/>
        </p:nvSpPr>
        <p:spPr>
          <a:xfrm xmlns:a="http://schemas.openxmlformats.org/drawingml/2006/main">
            <a:off x="9629775" y="2352675"/>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2　技術動向</a:t>
            </a:r>
          </a:p>
        </p:txBody>
      </p:sp>
      <p:sp>
        <p:nvSpPr>
          <p:cNvPr id="10" name="type-2">
            <a:extLst xmlns:a="http://schemas.openxmlformats.org/drawingml/2006/main">
              <a:ext uri="{FF2B5EF4-FFF2-40B4-BE49-F238E27FC236}">
                <a16:creationId xmlns:a16="http://schemas.microsoft.com/office/drawing/2014/main" id="{B3C0DDD0-9096-42CB-B31D-E9A572EA9B79}"/>
              </a:ext>
            </a:extLst>
          </p:cNvPr>
          <p:cNvSpPr>
            <a:spLocks xmlns:a="http://schemas.openxmlformats.org/drawingml/2006/main" noGrp="1"/>
          </p:cNvSpPr>
          <p:nvPr/>
        </p:nvSpPr>
        <p:spPr>
          <a:xfrm xmlns:a="http://schemas.openxmlformats.org/drawingml/2006/main">
            <a:off x="14868525" y="24098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公式説明の比較・分析</a:t>
            </a:r>
          </a:p>
        </p:txBody>
      </p:sp>
      <p:sp>
        <p:nvSpPr>
          <p:cNvPr id="11" name="body-1">
            <a:extLst xmlns:a="http://schemas.openxmlformats.org/drawingml/2006/main">
              <a:ext uri="{FF2B5EF4-FFF2-40B4-BE49-F238E27FC236}">
                <a16:creationId xmlns:a16="http://schemas.microsoft.com/office/drawing/2014/main" id="{48725C62-C800-44BA-B8CE-8D0CC5C15489}"/>
              </a:ext>
            </a:extLst>
          </p:cNvPr>
          <p:cNvSpPr>
            <a:spLocks xmlns:a="http://schemas.openxmlformats.org/drawingml/2006/main" noGrp="1"/>
          </p:cNvSpPr>
          <p:nvPr/>
        </p:nvSpPr>
        <p:spPr>
          <a:xfrm xmlns:a="http://schemas.openxmlformats.org/drawingml/2006/main">
            <a:off x="9648825" y="3038475"/>
            <a:ext cx="7734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182D43"/>
                </a:solidFill>
                <a:latin typeface="Noto Sans JP"/>
                <a:ea typeface="Noto Sans JP"/>
                <a:cs typeface="Noto Sans JP"/>
              </a:defRPr>
            </a:defPPr>
          </a:lstStyle>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2024にもAI判定・自動CAM・機上補正・段取り自動化は存在</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した。</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2026の注目は、案を作る仕事の拡張、測定から次の工程判</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断への接続、変動する付帯作業への適用。新登場と継続は分</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けて見る。</a:t>
            </a:r>
          </a:p>
        </p:txBody>
      </p:sp>
      <p:sp>
        <p:nvSpPr>
          <p:cNvPr id="12" name="section-2">
            <a:extLst xmlns:a="http://schemas.openxmlformats.org/drawingml/2006/main">
              <a:ext uri="{FF2B5EF4-FFF2-40B4-BE49-F238E27FC236}">
                <a16:creationId xmlns:a16="http://schemas.microsoft.com/office/drawing/2014/main" id="{3ED41F53-BAF0-4CB1-8CBF-A4B2874FB590}"/>
              </a:ext>
            </a:extLst>
          </p:cNvPr>
          <p:cNvSpPr>
            <a:spLocks xmlns:a="http://schemas.openxmlformats.org/drawingml/2006/main" noGrp="1"/>
          </p:cNvSpPr>
          <p:nvPr/>
        </p:nvSpPr>
        <p:spPr>
          <a:xfrm xmlns:a="http://schemas.openxmlformats.org/drawingml/2006/main">
            <a:off x="609600" y="6000750"/>
            <a:ext cx="8286750" cy="352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3" name="heading-3">
            <a:extLst xmlns:a="http://schemas.openxmlformats.org/drawingml/2006/main">
              <a:ext uri="{FF2B5EF4-FFF2-40B4-BE49-F238E27FC236}">
                <a16:creationId xmlns:a16="http://schemas.microsoft.com/office/drawing/2014/main" id="{C111CA39-576E-4B5A-8F09-D3731F30AD1A}"/>
              </a:ext>
            </a:extLst>
          </p:cNvPr>
          <p:cNvSpPr>
            <a:spLocks xmlns:a="http://schemas.openxmlformats.org/drawingml/2006/main" noGrp="1"/>
          </p:cNvSpPr>
          <p:nvPr/>
        </p:nvSpPr>
        <p:spPr>
          <a:xfrm xmlns:a="http://schemas.openxmlformats.org/drawingml/2006/main">
            <a:off x="847725" y="62103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3　今後の方向性</a:t>
            </a:r>
          </a:p>
        </p:txBody>
      </p:sp>
      <p:sp>
        <p:nvSpPr>
          <p:cNvPr id="14" name="type-3">
            <a:extLst xmlns:a="http://schemas.openxmlformats.org/drawingml/2006/main">
              <a:ext uri="{FF2B5EF4-FFF2-40B4-BE49-F238E27FC236}">
                <a16:creationId xmlns:a16="http://schemas.microsoft.com/office/drawing/2014/main" id="{26544C07-61DE-49BF-9C5E-42157317A167}"/>
              </a:ext>
            </a:extLst>
          </p:cNvPr>
          <p:cNvSpPr>
            <a:spLocks xmlns:a="http://schemas.openxmlformats.org/drawingml/2006/main" noGrp="1"/>
          </p:cNvSpPr>
          <p:nvPr/>
        </p:nvSpPr>
        <p:spPr>
          <a:xfrm xmlns:a="http://schemas.openxmlformats.org/drawingml/2006/main">
            <a:off x="6086475" y="6267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将来方向の仮説</a:t>
            </a:r>
          </a:p>
        </p:txBody>
      </p:sp>
      <p:sp>
        <p:nvSpPr>
          <p:cNvPr id="15" name="body-2">
            <a:extLst xmlns:a="http://schemas.openxmlformats.org/drawingml/2006/main">
              <a:ext uri="{FF2B5EF4-FFF2-40B4-BE49-F238E27FC236}">
                <a16:creationId xmlns:a16="http://schemas.microsoft.com/office/drawing/2014/main" id="{651BC9FD-80FF-4CF9-B380-21DF07B30DCA}"/>
              </a:ext>
            </a:extLst>
          </p:cNvPr>
          <p:cNvSpPr>
            <a:spLocks xmlns:a="http://schemas.openxmlformats.org/drawingml/2006/main" noGrp="1"/>
          </p:cNvSpPr>
          <p:nvPr/>
        </p:nvSpPr>
        <p:spPr>
          <a:xfrm xmlns:a="http://schemas.openxmlformats.org/drawingml/2006/main">
            <a:off x="866775" y="6896100"/>
            <a:ext cx="7734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182D43"/>
                </a:solidFill>
                <a:latin typeface="Noto Sans JP"/>
                <a:ea typeface="Noto Sans JP"/>
                <a:cs typeface="Noto Sans JP"/>
              </a:defRPr>
            </a:defPPr>
          </a:lstStyle>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人が情報を集め直し、条件を調整し、品種変更へ対応する仕</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事を減らす方向が考えられる。</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個別機能を工程の流れに組み込み、適用できる品種・条件と、</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人が担う仕事を具体化することが焦点になる。</a:t>
            </a:r>
          </a:p>
        </p:txBody>
      </p:sp>
      <p:sp>
        <p:nvSpPr>
          <p:cNvPr id="16" name="section-3">
            <a:extLst xmlns:a="http://schemas.openxmlformats.org/drawingml/2006/main">
              <a:ext uri="{FF2B5EF4-FFF2-40B4-BE49-F238E27FC236}">
                <a16:creationId xmlns:a16="http://schemas.microsoft.com/office/drawing/2014/main" id="{887006F7-B9D6-400C-9F8E-E9B7064E0B7C}"/>
              </a:ext>
            </a:extLst>
          </p:cNvPr>
          <p:cNvSpPr>
            <a:spLocks xmlns:a="http://schemas.openxmlformats.org/drawingml/2006/main" noGrp="1"/>
          </p:cNvSpPr>
          <p:nvPr/>
        </p:nvSpPr>
        <p:spPr>
          <a:xfrm xmlns:a="http://schemas.openxmlformats.org/drawingml/2006/main">
            <a:off x="9391650" y="6000750"/>
            <a:ext cx="8286750" cy="3524250"/>
          </a:xfrm>
          <a:prstGeom xmlns:a="http://schemas.openxmlformats.org/drawingml/2006/main" prst="rect">
            <a:avLst/>
          </a:prstGeom>
          <a:solidFill xmlns:a="http://schemas.openxmlformats.org/drawingml/2006/main">
            <a:srgbClr val="FFFFFF"/>
          </a:solidFill>
          <a:ln xmlns:a="http://schemas.openxmlformats.org/drawingml/2006/main" w="9525">
            <a:solidFill>
              <a:srgbClr val="D5DFEA"/>
            </a:solidFill>
          </a:ln>
        </p:spPr>
      </p:sp>
      <p:sp>
        <p:nvSpPr>
          <p:cNvPr id="17" name="heading-4">
            <a:extLst xmlns:a="http://schemas.openxmlformats.org/drawingml/2006/main">
              <a:ext uri="{FF2B5EF4-FFF2-40B4-BE49-F238E27FC236}">
                <a16:creationId xmlns:a16="http://schemas.microsoft.com/office/drawing/2014/main" id="{64378A11-1CB0-48BA-B1DE-7F793C2AA28B}"/>
              </a:ext>
            </a:extLst>
          </p:cNvPr>
          <p:cNvSpPr>
            <a:spLocks xmlns:a="http://schemas.openxmlformats.org/drawingml/2006/main" noGrp="1"/>
          </p:cNvSpPr>
          <p:nvPr/>
        </p:nvSpPr>
        <p:spPr>
          <a:xfrm xmlns:a="http://schemas.openxmlformats.org/drawingml/2006/main">
            <a:off x="9629775" y="6210300"/>
            <a:ext cx="781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50" b="1">
                <a:solidFill>
                  <a:srgbClr val="225B92"/>
                </a:solidFill>
                <a:latin typeface="Noto Sans JP"/>
                <a:ea typeface="Noto Sans JP"/>
                <a:cs typeface="Noto Sans JP"/>
              </a:defRPr>
            </a:defPPr>
          </a:lstStyle>
          <a:p xmlns:a="http://schemas.openxmlformats.org/drawingml/2006/main">
            <a:pPr>
              <a:defRPr sz="2250" b="1">
                <a:solidFill>
                  <a:srgbClr val="225B92"/>
                </a:solidFill>
                <a:latin typeface="Noto Sans JP"/>
                <a:ea typeface="Noto Sans JP"/>
                <a:cs typeface="Noto Sans JP"/>
              </a:defRPr>
            </a:pPr>
            <a:r>
              <a:rPr sz="2250" b="1">
                <a:solidFill>
                  <a:srgbClr val="225B92"/>
                </a:solidFill>
                <a:latin typeface="Noto Sans JP"/>
                <a:ea typeface="Noto Sans JP"/>
                <a:cs typeface="Noto Sans JP"/>
              </a:rPr>
              <a:t>4　調査結果の提言</a:t>
            </a:r>
          </a:p>
        </p:txBody>
      </p:sp>
      <p:sp>
        <p:nvSpPr>
          <p:cNvPr id="18" name="type-4">
            <a:extLst xmlns:a="http://schemas.openxmlformats.org/drawingml/2006/main">
              <a:ext uri="{FF2B5EF4-FFF2-40B4-BE49-F238E27FC236}">
                <a16:creationId xmlns:a16="http://schemas.microsoft.com/office/drawing/2014/main" id="{F43BB4EE-3A8D-41BD-A878-A2077726741B}"/>
              </a:ext>
            </a:extLst>
          </p:cNvPr>
          <p:cNvSpPr>
            <a:spLocks xmlns:a="http://schemas.openxmlformats.org/drawingml/2006/main" noGrp="1"/>
          </p:cNvSpPr>
          <p:nvPr/>
        </p:nvSpPr>
        <p:spPr>
          <a:xfrm xmlns:a="http://schemas.openxmlformats.org/drawingml/2006/main">
            <a:off x="14868525" y="62674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637286"/>
                </a:solidFill>
                <a:latin typeface="Noto Sans JP"/>
                <a:ea typeface="Noto Sans JP"/>
                <a:cs typeface="Noto Sans JP"/>
              </a:defRPr>
            </a:defPPr>
          </a:lstStyle>
          <a:p xmlns:a="http://schemas.openxmlformats.org/drawingml/2006/main">
            <a:pPr>
              <a:defRPr sz="1275" b="0">
                <a:solidFill>
                  <a:srgbClr val="637286"/>
                </a:solidFill>
                <a:latin typeface="Noto Sans JP"/>
                <a:ea typeface="Noto Sans JP"/>
                <a:cs typeface="Noto Sans JP"/>
              </a:defRPr>
            </a:pPr>
            <a:r>
              <a:rPr sz="1275" b="0">
                <a:solidFill>
                  <a:srgbClr val="637286"/>
                </a:solidFill>
                <a:latin typeface="Noto Sans JP"/>
                <a:ea typeface="Noto Sans JP"/>
                <a:cs typeface="Noto Sans JP"/>
              </a:rPr>
              <a:t>開発候補の仮説</a:t>
            </a:r>
          </a:p>
        </p:txBody>
      </p:sp>
      <p:sp>
        <p:nvSpPr>
          <p:cNvPr id="19" name="body-3">
            <a:extLst xmlns:a="http://schemas.openxmlformats.org/drawingml/2006/main">
              <a:ext uri="{FF2B5EF4-FFF2-40B4-BE49-F238E27FC236}">
                <a16:creationId xmlns:a16="http://schemas.microsoft.com/office/drawing/2014/main" id="{EA9650C8-0857-42CC-8DAA-7424FCF5ED8B}"/>
              </a:ext>
            </a:extLst>
          </p:cNvPr>
          <p:cNvSpPr>
            <a:spLocks xmlns:a="http://schemas.openxmlformats.org/drawingml/2006/main" noGrp="1"/>
          </p:cNvSpPr>
          <p:nvPr/>
        </p:nvSpPr>
        <p:spPr>
          <a:xfrm xmlns:a="http://schemas.openxmlformats.org/drawingml/2006/main">
            <a:off x="9648825" y="6896100"/>
            <a:ext cx="77343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182D43"/>
                </a:solidFill>
                <a:latin typeface="Noto Sans JP"/>
                <a:ea typeface="Noto Sans JP"/>
                <a:cs typeface="Noto Sans JP"/>
              </a:defRPr>
            </a:defPPr>
          </a:lstStyle>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重点候補は、加工知識を扱う生産準備AI、品質・工具状態</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を使う自律加工、付帯作業に特化したフィジカルAI。</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工場運用AIは一つの例外業務から適用を検討する。既存製</a:t>
            </a:r>
          </a:p>
          <a:p xmlns:a="http://schemas.openxmlformats.org/drawingml/2006/main">
            <a:pPr>
              <a:defRPr sz="2100" b="0">
                <a:solidFill>
                  <a:srgbClr val="182D43"/>
                </a:solidFill>
                <a:latin typeface="Noto Sans JP"/>
                <a:ea typeface="Noto Sans JP"/>
                <a:cs typeface="Noto Sans JP"/>
              </a:defRPr>
            </a:pPr>
            <a:r>
              <a:rPr sz="2100" b="0">
                <a:solidFill>
                  <a:srgbClr val="182D43"/>
                </a:solidFill>
                <a:latin typeface="Noto Sans JP"/>
                <a:ea typeface="Noto Sans JP"/>
                <a:cs typeface="Noto Sans JP"/>
              </a:rPr>
              <a:t>品との差と顧客需要を確かめ、開発範囲を絞る。</a:t>
            </a:r>
          </a:p>
        </p:txBody>
      </p:sp>
      <p:sp>
        <p:nvSpPr>
          <p:cNvPr id="20" name="foot">
            <a:extLst xmlns:a="http://schemas.openxmlformats.org/drawingml/2006/main">
              <a:ext uri="{FF2B5EF4-FFF2-40B4-BE49-F238E27FC236}">
                <a16:creationId xmlns:a16="http://schemas.microsoft.com/office/drawing/2014/main" id="{65BEC0AC-D83D-4A35-A238-37540B76848A}"/>
              </a:ext>
            </a:extLst>
          </p:cNvPr>
          <p:cNvSpPr>
            <a:spLocks xmlns:a="http://schemas.openxmlformats.org/drawingml/2006/main" noGrp="1"/>
          </p:cNvSpPr>
          <p:nvPr/>
        </p:nvSpPr>
        <p:spPr>
          <a:xfrm xmlns:a="http://schemas.openxmlformats.org/drawingml/2006/main">
            <a:off x="628650" y="9810750"/>
            <a:ext cx="1581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637286"/>
                </a:solidFill>
                <a:latin typeface="Noto Sans JP"/>
                <a:ea typeface="Noto Sans JP"/>
                <a:cs typeface="Noto Sans JP"/>
              </a:defRPr>
            </a:defPPr>
          </a:lstStyle>
          <a:p xmlns:a="http://schemas.openxmlformats.org/drawingml/2006/main">
            <a:pPr>
              <a:defRPr sz="1500" b="0">
                <a:solidFill>
                  <a:srgbClr val="637286"/>
                </a:solidFill>
                <a:latin typeface="Noto Sans JP"/>
                <a:ea typeface="Noto Sans JP"/>
                <a:cs typeface="Noto Sans JP"/>
              </a:defRPr>
            </a:pPr>
            <a:r>
              <a:rPr sz="1500" b="0">
                <a:solidFill>
                  <a:srgbClr val="637286"/>
                </a:solidFill>
                <a:latin typeface="Noto Sans JP"/>
                <a:ea typeface="Noto Sans JP"/>
                <a:cs typeface="Noto Sans JP"/>
              </a:rPr>
              <a:t>具体的な企業・展示・年度比較は補足資料へ。開発の優先は分析案で、市場の空白や効果を実証したものではありません。</a:t>
            </a:r>
          </a:p>
        </p:txBody>
      </p:sp>
    </p:spTree>
    <p:extLst>
      <p:ext uri="{BB962C8B-B14F-4D97-AF65-F5344CB8AC3E}">
        <p14:creationId xmlns:p14="http://schemas.microsoft.com/office/powerpoint/2010/main" val="114070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2026-10-18T13:17:59.3760000Z</dcterms:created>
  <dcterms:modified xsi:type="dcterms:W3CDTF">2026-10-18T13:17:59.3760000Z</dcterms:modified>
</coreProperties>
</file>