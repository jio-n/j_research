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25546c36604e4e" /><Relationship Type="http://schemas.openxmlformats.org/officeDocument/2006/relationships/extended-properties" Target="/docProps/app.xml" Id="R9f622baa5663455e" /><Relationship Type="http://schemas.openxmlformats.org/officeDocument/2006/relationships/officeDocument" Target="/ppt/presentation.xml" Id="Rb63d0034b2af4b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923f67f3914681"/>
  </p:sldMasterIdLst>
  <p:notesMasterIdLst>
    <p:notesMasterId xmlns:r="http://schemas.openxmlformats.org/officeDocument/2006/relationships" r:id="Rdb76b3d0735642dc"/>
  </p:notesMasterIdLst>
  <p:sldIdLst>
    <p:sldId xmlns:r="http://schemas.openxmlformats.org/officeDocument/2006/relationships" id="256" r:id="Rd0aad8598ee44bc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802b5be44447dd" /><Relationship Type="http://schemas.openxmlformats.org/officeDocument/2006/relationships/slideMaster" Target="/ppt/slideMasters/slideMaster1.xml" Id="R15923f67f3914681" /><Relationship Type="http://schemas.openxmlformats.org/officeDocument/2006/relationships/notesMaster" Target="/ppt/notesMasters/notesMaster1.xml" Id="Rdb76b3d0735642dc" /><Relationship Type="http://schemas.openxmlformats.org/officeDocument/2006/relationships/presProps" Target="/ppt/presProps.xml" Id="Rd1b9f9366a7a4f88" /><Relationship Type="http://schemas.openxmlformats.org/officeDocument/2006/relationships/tableStyles" Target="/ppt/tableStyles.xml" Id="Rd451c07f637e455a" /><Relationship Type="http://schemas.openxmlformats.org/officeDocument/2006/relationships/slide" Target="/ppt/slides/slide1.xml" Id="Rd0aad8598ee44b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bd32092fad48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dc726d23e540d4" /><Relationship Type="http://schemas.openxmlformats.org/officeDocument/2006/relationships/notesMaster" Target="/ppt/notesMasters/notesMaster1.xml" Id="Ra509c7a156574e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仮説版。現地未検証。メーカー主張と分析を区別。根拠台帳は data/research/evidence_v0.json と claims_v0.json。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C001 [メーカー主張] 加工損傷への対策として、制御情報のAI診断と工具退避を組み合わせる方式がある。</a:t>
            </a:r>
          </a:p>
          <a:p xmlns:a="http://schemas.openxmlformats.org/drawingml/2006/main">
            <a:r>
              <a:t>範囲: 既存技術。2026個別展示は要確認</a:t>
            </a:r>
          </a:p>
          <a:p xmlns:a="http://schemas.openxmlformats.org/drawingml/2006/main">
            <a:r>
              <a:t>E002 オークマ AI機械診断機能 AI加工診断機能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該当箇所: AI加工診断機能 &gt; 常時監視で工具の突発異常を検出・退避、ページ末尾の特別仕様注記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一部特別仕様。適用加工・工具の範囲、誤検知率、停止後の復帰可否は別途確認。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C002 [メーカー主張] 試削・段取りの負担に対し、サーボモデルの事前検証とデジタルツインの準備支援がある。</a:t>
            </a:r>
          </a:p>
          <a:p xmlns:a="http://schemas.openxmlformats.org/drawingml/2006/main">
            <a:r>
              <a:t>範囲: 2024技術の基準線。2026進化とは断定しない</a:t>
            </a:r>
          </a:p>
          <a:p xmlns:a="http://schemas.openxmlformats.org/drawingml/2006/main">
            <a:r>
              <a:t>E001 ファナック JIMTOF2024特設ページ</a:t>
            </a:r>
          </a:p>
          <a:p xmlns:a="http://schemas.openxmlformats.org/drawingml/2006/main">
            <a:r>
              <a:t>https://www.fanuc.co.jp/ja/JIMTOF2024/</a:t>
            </a:r>
          </a:p>
          <a:p xmlns:a="http://schemas.openxmlformats.org/drawingml/2006/main">
            <a:r>
              <a:t>該当箇所: 出展内容と見どころ &gt; FA &gt; 『削る前に判る』CNCのデジタルツイン、ロボット &gt; AIを含む多彩なアプリケーション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独立した性能評価ではない。2026への機能継続・向上はこの資料から判断不可。</a:t>
            </a:r>
          </a:p>
          <a:p xmlns:a="http://schemas.openxmlformats.org/drawingml/2006/main">
            <a:r>
              <a:t>E003 ファナック FANUC Smart Digital Twin</a:t>
            </a:r>
          </a:p>
          <a:p xmlns:a="http://schemas.openxmlformats.org/drawingml/2006/main">
            <a:r>
              <a:t>https://www.fanuc.co.jp/ja/product/cnc/f_digitaltwin.html</a:t>
            </a:r>
          </a:p>
          <a:p xmlns:a="http://schemas.openxmlformats.org/drawingml/2006/main">
            <a:r>
              <a:t>該当箇所: 3つの『判る』と導入メリット &gt; 機械動作が判る／加工時間が判る／加工面品位が判る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メーカー主張。工具・材料・熱状態等のモデル化範囲と予測誤差は未確認。</a:t>
            </a:r>
          </a:p>
          <a:p xmlns:a="http://schemas.openxmlformats.org/drawingml/2006/main">
            <a:r>
              <a:t>E007 オークマ JIMTOF2024 特設ページ（英語）</a:t>
            </a:r>
          </a:p>
          <a:p xmlns:a="http://schemas.openxmlformats.org/drawingml/2006/main">
            <a:r>
              <a:t>https://www.okuma.co.jp/english/show/jimtof/2024/</a:t>
            </a:r>
          </a:p>
          <a:p xmlns:a="http://schemas.openxmlformats.org/drawingml/2006/main">
            <a:r>
              <a:t>該当箇所: Automation solutions &gt; Robot manufacturing cell suitable for high-mix production &gt; smarTwinCELL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再起動ガイダンスを自動復帰や自律復帰と解釈しない。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C003 [発表事実] 2026展示予告はAIと自動化を掲げる。別途、実工場学習による段取り替えの共同実証計画が発表された。</a:t>
            </a:r>
          </a:p>
          <a:p xmlns:a="http://schemas.openxmlformats.org/drawingml/2006/main">
            <a:r>
              <a:t>範囲: 展示予告と展示外の共同実証計画を区別</a:t>
            </a:r>
          </a:p>
          <a:p xmlns:a="http://schemas.openxmlformats.org/drawingml/2006/main">
            <a:r>
              <a:t>E004 オークマ JIMTOF 2026 特設サイト</a:t>
            </a:r>
          </a:p>
          <a:p xmlns:a="http://schemas.openxmlformats.org/drawingml/2006/main">
            <a:r>
              <a:t>https://www.okuma.co.jp/event/jimtof/2026/</a:t>
            </a:r>
          </a:p>
          <a:p xmlns:a="http://schemas.openxmlformats.org/drawingml/2006/main">
            <a:r>
              <a:t>該当箇所: 3つのソリューション &gt; AI・知能化、出品機種一覧 &gt; AIコーナー／知能化コーナー、会場MAP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AI加工診断の特定機能が2026展示されるかは未確認。展示は変更の可能性あり。</a:t>
            </a:r>
          </a:p>
          <a:p xmlns:a="http://schemas.openxmlformats.org/drawingml/2006/main">
            <a:r>
              <a:t>E005 ヤマザキマザック JIMTOF2026 特設サイト開設</a:t>
            </a:r>
          </a:p>
          <a:p xmlns:a="http://schemas.openxmlformats.org/drawingml/2006/main">
            <a:r>
              <a:t>https://www.mazak.com/jp-ja/news-media/news/jimtof2026_202610/</a:t>
            </a:r>
          </a:p>
          <a:p xmlns:a="http://schemas.openxmlformats.org/drawingml/2006/main">
            <a:r>
              <a:t>該当箇所: 2026/9/1本文 &gt; 最新INTEGREXと自動化・デジタル・AIの最新ソリューション、開催日／会場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個々のAI機能、方式、2024との差分はこの告知だけでは比較不能。</a:t>
            </a:r>
          </a:p>
          <a:p xmlns:a="http://schemas.openxmlformats.org/drawingml/2006/main">
            <a:r>
              <a:t>E006 ファナック／日立製作所 フィジカルAI実装の共同事業化に向けた戦略的パートナーシップ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該当箇所: 共同実証の概要、戦略的パートナーシップの背景、2027年度からの共同展開の記述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実証・展開計画であり、量産導入効果や商用実績の証明ではない。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C004 [分析・予測仮説] 業界の研究重点は、個別処理の自動化に加え、状態変化への適応と異常後の復帰へ広がる可能性がある。</a:t>
            </a:r>
          </a:p>
          <a:p xmlns:a="http://schemas.openxmlformats.org/drawingml/2006/main">
            <a:r>
              <a:t>範囲: 少数企業の一次資料に基づく仮説。業界全体の実装成熟度・市場規模は未評価</a:t>
            </a:r>
          </a:p>
          <a:p xmlns:a="http://schemas.openxmlformats.org/drawingml/2006/main">
            <a:r>
              <a:t>E002 オークマ AI機械診断機能 AI加工診断機能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該当箇所: AI加工診断機能 &gt; 常時監視で工具の突発異常を検出・退避、ページ末尾の特別仕様注記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一部特別仕様。適用加工・工具の範囲、誤検知率、停止後の復帰可否は別途確認。</a:t>
            </a:r>
          </a:p>
          <a:p xmlns:a="http://schemas.openxmlformats.org/drawingml/2006/main">
            <a:r>
              <a:t>E006 ファナック／日立製作所 フィジカルAI実装の共同事業化に向けた戦略的パートナーシップ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該当箇所: 共同実証の概要、戦略的パートナーシップの背景、2027年度からの共同展開の記述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実証・展開計画であり、量産導入効果や商用実績の証明ではない。</a:t>
            </a:r>
          </a:p>
          <a:p xmlns:a="http://schemas.openxmlformats.org/drawingml/2006/main">
            <a:r>
              <a:t>E007 オークマ JIMTOF2024 特設ページ（英語）</a:t>
            </a:r>
          </a:p>
          <a:p xmlns:a="http://schemas.openxmlformats.org/drawingml/2006/main">
            <a:r>
              <a:t>https://www.okuma.co.jp/english/show/jimtof/2024/</a:t>
            </a:r>
          </a:p>
          <a:p xmlns:a="http://schemas.openxmlformats.org/drawingml/2006/main">
            <a:r>
              <a:t>該当箇所: Automation solutions &gt; Robot manufacturing cell suitable for high-mix production &gt; smarTwinCELL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再起動ガイダンスを自動復帰や自律復帰と解釈しない。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C005 [研究提案・仮説] 制御時系列の異常検知、原因候補の推定、制約付き復帰手順生成を結合した加工セル復帰支援を研究する。</a:t>
            </a:r>
          </a:p>
          <a:p xmlns:a="http://schemas.openxmlformats.org/drawingml/2006/main">
            <a:r>
              <a:t>範囲: 新たな提案。自動復帰の実証済み主張ではない</a:t>
            </a:r>
          </a:p>
          <a:p xmlns:a="http://schemas.openxmlformats.org/drawingml/2006/main">
            <a:r>
              <a:t>E002 オークマ AI機械診断機能 AI加工診断機能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該当箇所: AI加工診断機能 &gt; 常時監視で工具の突発異常を検出・退避、ページ末尾の特別仕様注記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一部特別仕様。適用加工・工具の範囲、誤検知率、停止後の復帰可否は別途確認。</a:t>
            </a:r>
          </a:p>
          <a:p xmlns:a="http://schemas.openxmlformats.org/drawingml/2006/main">
            <a:r>
              <a:t>E007 オークマ JIMTOF2024 特設ページ（英語）</a:t>
            </a:r>
          </a:p>
          <a:p xmlns:a="http://schemas.openxmlformats.org/drawingml/2006/main">
            <a:r>
              <a:t>https://www.okuma.co.jp/english/show/jimtof/2024/</a:t>
            </a:r>
          </a:p>
          <a:p xmlns:a="http://schemas.openxmlformats.org/drawingml/2006/main">
            <a:r>
              <a:t>該当箇所: Automation solutions &gt; Robot manufacturing cell suitable for high-mix production &gt; smarTwinCELL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再起動ガイダンスを自動復帰や自律復帰と解釈しない。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C006 [研究提案・仮説] デジタルツインでの事前検証と実機での少量データ適応を結合し、品種変更時の再教示と試行を減らす。</a:t>
            </a:r>
          </a:p>
          <a:p xmlns:a="http://schemas.openxmlformats.org/drawingml/2006/main">
            <a:r>
              <a:t>範囲: 新たな提案。研究成立性・投資採否は未評価</a:t>
            </a:r>
          </a:p>
          <a:p xmlns:a="http://schemas.openxmlformats.org/drawingml/2006/main">
            <a:r>
              <a:t>E001 ファナック JIMTOF2024特設ページ</a:t>
            </a:r>
          </a:p>
          <a:p xmlns:a="http://schemas.openxmlformats.org/drawingml/2006/main">
            <a:r>
              <a:t>https://www.fanuc.co.jp/ja/JIMTOF2024/</a:t>
            </a:r>
          </a:p>
          <a:p xmlns:a="http://schemas.openxmlformats.org/drawingml/2006/main">
            <a:r>
              <a:t>該当箇所: 出展内容と見どころ &gt; FA &gt; 『削る前に判る』CNCのデジタルツイン、ロボット &gt; AIを含む多彩なアプリケーション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独立した性能評価ではない。2026への機能継続・向上はこの資料から判断不可。</a:t>
            </a:r>
          </a:p>
          <a:p xmlns:a="http://schemas.openxmlformats.org/drawingml/2006/main">
            <a:r>
              <a:t>E003 ファナック FANUC Smart Digital Twin</a:t>
            </a:r>
          </a:p>
          <a:p xmlns:a="http://schemas.openxmlformats.org/drawingml/2006/main">
            <a:r>
              <a:t>https://www.fanuc.co.jp/ja/product/cnc/f_digitaltwin.html</a:t>
            </a:r>
          </a:p>
          <a:p xmlns:a="http://schemas.openxmlformats.org/drawingml/2006/main">
            <a:r>
              <a:t>該当箇所: 3つの『判る』と導入メリット &gt; 機械動作が判る／加工時間が判る／加工面品位が判る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メーカー主張。工具・材料・熱状態等のモデル化範囲と予測誤差は未確認。</a:t>
            </a:r>
          </a:p>
          <a:p xmlns:a="http://schemas.openxmlformats.org/drawingml/2006/main">
            <a:r>
              <a:t>E006 ファナック／日立製作所 フィジカルAI実装の共同事業化に向けた戦略的パートナーシップ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該当箇所: 共同実証の概要、戦略的パートナーシップの背景、2027年度からの共同展開の記述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実証・展開計画であり、量産導入効果や商用実績の証明ではない。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8be6df2da40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de7fece2a42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315d9c1bb4a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721f8d5594b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adfb89a454a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3bcbfba3e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164A50-B6AE-4640-A407-671BDA1AE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85A0AD-19A3-4630-A4D3-ABAECB582C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E72384-E540-4DAF-AFB3-48A1F2AF1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6C3F83-2BE4-4E98-B937-98CC1CEAA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0D71C3-154E-4176-AF3D-CB29334194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E1F622-F6C1-4FB4-A1F2-85159145AE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81096C-6D74-486B-A18A-ABF46B8FC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56E128-FD12-437E-8719-72B1128DD9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2CE471-806D-4564-A5FE-06F7DF100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567022-BC5F-4E30-803D-C54E00152B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64eb340f3c418b" /><Relationship Type="http://schemas.openxmlformats.org/officeDocument/2006/relationships/slideLayout" Target="/ppt/slideLayouts/slideLayout1.xml" Id="R5c20e297c76345f8" /><Relationship Type="http://schemas.openxmlformats.org/officeDocument/2006/relationships/slideLayout" Target="/ppt/slideLayouts/slideLayout2.xml" Id="R988f9e5f5d2d4109" /><Relationship Type="http://schemas.openxmlformats.org/officeDocument/2006/relationships/slideLayout" Target="/ppt/slideLayouts/slideLayout3.xml" Id="R96f86b49cbed47b5" /><Relationship Type="http://schemas.openxmlformats.org/officeDocument/2006/relationships/slideLayout" Target="/ppt/slideLayouts/slideLayout4.xml" Id="Rad967ce9e12d493f" /><Relationship Type="http://schemas.openxmlformats.org/officeDocument/2006/relationships/slideLayout" Target="/ppt/slideLayouts/slideLayout5.xml" Id="Rae3fa79bf766447b" /><Relationship Type="http://schemas.openxmlformats.org/officeDocument/2006/relationships/slideLayout" Target="/ppt/slideLayouts/slideLayout6.xml" Id="Raceb1ed440c14a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0e297c76345f8"/>
    <p:sldLayoutId xmlns:r="http://schemas.openxmlformats.org/officeDocument/2006/relationships" id="2147483650" r:id="R988f9e5f5d2d4109"/>
    <p:sldLayoutId xmlns:r="http://schemas.openxmlformats.org/officeDocument/2006/relationships" id="2147483651" r:id="R96f86b49cbed47b5"/>
    <p:sldLayoutId xmlns:r="http://schemas.openxmlformats.org/officeDocument/2006/relationships" id="2147483652" r:id="Rad967ce9e12d493f"/>
    <p:sldLayoutId xmlns:r="http://schemas.openxmlformats.org/officeDocument/2006/relationships" id="2147483653" r:id="Rae3fa79bf766447b"/>
    <p:sldLayoutId xmlns:r="http://schemas.openxmlformats.org/officeDocument/2006/relationships" id="2147483654" r:id="Raceb1ed440c14a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5f675b3244fed" /><Relationship Type="http://schemas.openxmlformats.org/officeDocument/2006/relationships/notesSlide" Target="/ppt/notesSlides/notesSlide1.xml" Id="R0fd78af57a534d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B010FCA8-B47B-4AA1-A2E1-4B3C167C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JIMTOF2026 事前共有 v0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7C05B9-48AD-43E6-BD4A-4401FFA8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6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6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675"/>
                </a:solidFill>
                <a:latin typeface="Noto Sans JP"/>
                <a:ea typeface="Noto Sans JP"/>
                <a:cs typeface="Noto Sans JP"/>
              </a:rPr>
              <a:t>AI・自動化・自律化の研究開発テーマ仮説　2026年10月16日</a:t>
            </a:r>
          </a:p>
        </p:txBody>
      </p:sp>
      <p:sp>
        <p:nvSpPr>
          <p:cNvPr id="3" name="heading-180">
            <a:extLst xmlns:a="http://schemas.openxmlformats.org/drawingml/2006/main">
              <a:ext uri="{FF2B5EF4-FFF2-40B4-BE49-F238E27FC236}">
                <a16:creationId xmlns:a16="http://schemas.microsoft.com/office/drawing/2014/main" id="{CFF5BFCE-907F-4D91-B197-CF59DCEB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rPr>
              <a:t>1　結果サマリ</a:t>
            </a:r>
          </a:p>
        </p:txBody>
      </p:sp>
      <p:sp>
        <p:nvSpPr>
          <p:cNvPr id="4" name="line-180-0">
            <a:extLst xmlns:a="http://schemas.openxmlformats.org/drawingml/2006/main">
              <a:ext uri="{FF2B5EF4-FFF2-40B4-BE49-F238E27FC236}">
                <a16:creationId xmlns:a16="http://schemas.microsoft.com/office/drawing/2014/main" id="{3C07E78D-E044-498A-98DF-1FD7D0C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加工損傷：制御情報のAI診断と工具退避で、不良・工具損傷を抑制［C001］</a:t>
            </a:r>
          </a:p>
        </p:txBody>
      </p:sp>
      <p:sp>
        <p:nvSpPr>
          <p:cNvPr id="5" name="line-180-1">
            <a:extLst xmlns:a="http://schemas.openxmlformats.org/drawingml/2006/main">
              <a:ext uri="{FF2B5EF4-FFF2-40B4-BE49-F238E27FC236}">
                <a16:creationId xmlns:a16="http://schemas.microsoft.com/office/drawing/2014/main" id="{5DDAA4F1-90BA-4A0C-8E72-38A3DCA4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試削・段取り：サーボモデルとデジタルツインで加工前に検証［C002］</a:t>
            </a:r>
          </a:p>
        </p:txBody>
      </p:sp>
      <p:sp>
        <p:nvSpPr>
          <p:cNvPr id="6" name="heading-332">
            <a:extLst xmlns:a="http://schemas.openxmlformats.org/drawingml/2006/main">
              <a:ext uri="{FF2B5EF4-FFF2-40B4-BE49-F238E27FC236}">
                <a16:creationId xmlns:a16="http://schemas.microsoft.com/office/drawing/2014/main" id="{C9F3E1F4-FAEF-4C7F-9D3E-886B0056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rPr>
              <a:t>2　技術動向</a:t>
            </a:r>
          </a:p>
        </p:txBody>
      </p:sp>
      <p:sp>
        <p:nvSpPr>
          <p:cNvPr id="7" name="line-332-0">
            <a:extLst xmlns:a="http://schemas.openxmlformats.org/drawingml/2006/main">
              <a:ext uri="{FF2B5EF4-FFF2-40B4-BE49-F238E27FC236}">
                <a16:creationId xmlns:a16="http://schemas.microsoft.com/office/drawing/2014/main" id="{0230ABC8-FB64-48EC-8DF1-D3B0A177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ニーズ：異常停止と技能依存。既存技術は診断・退避、復帰手順を支援［C001/2］</a:t>
            </a:r>
          </a:p>
        </p:txBody>
      </p:sp>
      <p:sp>
        <p:nvSpPr>
          <p:cNvPr id="8" name="line-332-1">
            <a:extLst xmlns:a="http://schemas.openxmlformats.org/drawingml/2006/main">
              <a:ext uri="{FF2B5EF4-FFF2-40B4-BE49-F238E27FC236}">
                <a16:creationId xmlns:a16="http://schemas.microsoft.com/office/drawing/2014/main" id="{9791B30B-EB97-4BE5-9262-B04A1FE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方式の差：固定動作に加え、実工場で変化に適応するAIの共同実証計画［C003］</a:t>
            </a:r>
          </a:p>
        </p:txBody>
      </p:sp>
      <p:sp>
        <p:nvSpPr>
          <p:cNvPr id="9" name="line-332-2">
            <a:extLst xmlns:a="http://schemas.openxmlformats.org/drawingml/2006/main">
              <a:ext uri="{FF2B5EF4-FFF2-40B4-BE49-F238E27FC236}">
                <a16:creationId xmlns:a16="http://schemas.microsoft.com/office/drawing/2014/main" id="{4014DCFB-D2B7-4606-9766-F65870A6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2024年と2026年の機能差は精査中。AI展示予告だけでは比較不能［C003］</a:t>
            </a:r>
          </a:p>
        </p:txBody>
      </p:sp>
      <p:sp>
        <p:nvSpPr>
          <p:cNvPr id="10" name="heading-536">
            <a:extLst xmlns:a="http://schemas.openxmlformats.org/drawingml/2006/main">
              <a:ext uri="{FF2B5EF4-FFF2-40B4-BE49-F238E27FC236}">
                <a16:creationId xmlns:a16="http://schemas.microsoft.com/office/drawing/2014/main" id="{712F4729-72ED-4302-97CB-6009D5CB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rPr>
              <a:t>3　今後の方向性</a:t>
            </a:r>
          </a:p>
        </p:txBody>
      </p:sp>
      <p:sp>
        <p:nvSpPr>
          <p:cNvPr id="11" name="line-536-0">
            <a:extLst xmlns:a="http://schemas.openxmlformats.org/drawingml/2006/main">
              <a:ext uri="{FF2B5EF4-FFF2-40B4-BE49-F238E27FC236}">
                <a16:creationId xmlns:a16="http://schemas.microsoft.com/office/drawing/2014/main" id="{A9A88EC5-4F87-49AA-98B6-CF6875A5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事実：2026はAI・知能化を展示予告。フィジカルAI共同実証も発表［C003］</a:t>
            </a:r>
          </a:p>
        </p:txBody>
      </p:sp>
      <p:sp>
        <p:nvSpPr>
          <p:cNvPr id="12" name="line-536-1">
            <a:extLst xmlns:a="http://schemas.openxmlformats.org/drawingml/2006/main">
              <a:ext uri="{FF2B5EF4-FFF2-40B4-BE49-F238E27FC236}">
                <a16:creationId xmlns:a16="http://schemas.microsoft.com/office/drawing/2014/main" id="{1F884CF3-CD2C-49AE-8DEB-DB96EC3C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435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予測・仮説：状態変化への適応と異常後の復帰が研究重点に［C004・要現地確認］</a:t>
            </a:r>
          </a:p>
        </p:txBody>
      </p:sp>
      <p:sp>
        <p:nvSpPr>
          <p:cNvPr id="13" name="heading-678">
            <a:extLst xmlns:a="http://schemas.openxmlformats.org/drawingml/2006/main">
              <a:ext uri="{FF2B5EF4-FFF2-40B4-BE49-F238E27FC236}">
                <a16:creationId xmlns:a16="http://schemas.microsoft.com/office/drawing/2014/main" id="{093C67F9-7279-48B1-937C-81B7D45F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rPr>
              <a:t>4　調査結果の提言</a:t>
            </a:r>
          </a:p>
        </p:txBody>
      </p:sp>
      <p:sp>
        <p:nvSpPr>
          <p:cNvPr id="14" name="line-678-0">
            <a:extLst xmlns:a="http://schemas.openxmlformats.org/drawingml/2006/main">
              <a:ext uri="{FF2B5EF4-FFF2-40B4-BE49-F238E27FC236}">
                <a16:creationId xmlns:a16="http://schemas.microsoft.com/office/drawing/2014/main" id="{06B2EAE1-539B-4E6D-95AB-93B045BF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4579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仮説① 加工セル復帰支援：停止損失を減らす異常検知＋制約付き手順生成［C005］</a:t>
            </a:r>
          </a:p>
        </p:txBody>
      </p:sp>
      <p:sp>
        <p:nvSpPr>
          <p:cNvPr id="15" name="line-678-1">
            <a:extLst xmlns:a="http://schemas.openxmlformats.org/drawingml/2006/main">
              <a:ext uri="{FF2B5EF4-FFF2-40B4-BE49-F238E27FC236}">
                <a16:creationId xmlns:a16="http://schemas.microsoft.com/office/drawing/2014/main" id="{A309B6DF-3202-465E-B52C-218F0C5C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8961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仮説② 品種変更の適応：再教示を減らすツイン検証＋実機少量データ学習［C006］</a:t>
            </a:r>
          </a:p>
        </p:txBody>
      </p:sp>
      <p:sp>
        <p:nvSpPr>
          <p:cNvPr id="16" name="line-678-2">
            <a:extLst xmlns:a="http://schemas.openxmlformats.org/drawingml/2006/main">
              <a:ext uri="{FF2B5EF4-FFF2-40B4-BE49-F238E27FC236}">
                <a16:creationId xmlns:a16="http://schemas.microsoft.com/office/drawing/2014/main" id="{BCE17FE2-CC2E-4204-9D5F-B2B91FE9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3342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現地で適用限界・介入回数・導入実績・市場規模の根拠を確認し、テーマを選別</a:t>
            </a:r>
          </a:p>
        </p:txBody>
      </p:sp>
    </p:spTree>
    <p:extLst>
      <p:ext uri="{BB962C8B-B14F-4D97-AF65-F5344CB8AC3E}">
        <p14:creationId xmlns:p14="http://schemas.microsoft.com/office/powerpoint/2010/main" val="2144942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2026-10-15T16:10:08.6970000Z</dcterms:created>
  <dcterms:modified xsi:type="dcterms:W3CDTF">2026-10-15T16:10:08.6970000Z</dcterms:modified>
</coreProperties>
</file>