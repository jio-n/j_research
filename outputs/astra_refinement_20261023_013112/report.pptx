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37896d08dc4e42" /><Relationship Type="http://schemas.openxmlformats.org/officeDocument/2006/relationships/extended-properties" Target="/docProps/app.xml" Id="R7283d9b6ad8e4ee9" /><Relationship Type="http://schemas.openxmlformats.org/officeDocument/2006/relationships/officeDocument" Target="/ppt/presentation.xml" Id="R67b010c3820249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2e9c50ac0c42cb"/>
  </p:sldMasterIdLst>
  <p:notesMasterIdLst>
    <p:notesMasterId xmlns:r="http://schemas.openxmlformats.org/officeDocument/2006/relationships" r:id="Rf3ce79e4d3914b80"/>
  </p:notesMasterIdLst>
  <p:sldIdLst>
    <p:sldId xmlns:r="http://schemas.openxmlformats.org/officeDocument/2006/relationships" id="256" r:id="R4006fb607b3d4e96"/>
    <p:sldId xmlns:r="http://schemas.openxmlformats.org/officeDocument/2006/relationships" id="257" r:id="R6244c05b922a4aa4"/>
    <p:sldId xmlns:r="http://schemas.openxmlformats.org/officeDocument/2006/relationships" id="258" r:id="R0b8de4d2fdca49c4"/>
    <p:sldId xmlns:r="http://schemas.openxmlformats.org/officeDocument/2006/relationships" id="259" r:id="R2f448cb2830745bd"/>
    <p:sldId xmlns:r="http://schemas.openxmlformats.org/officeDocument/2006/relationships" id="260" r:id="R0183cc0e8f1e40fd"/>
    <p:sldId xmlns:r="http://schemas.openxmlformats.org/officeDocument/2006/relationships" id="261" r:id="R89e8f7cf87964580"/>
    <p:sldId xmlns:r="http://schemas.openxmlformats.org/officeDocument/2006/relationships" id="262" r:id="Rae79eef82cb14698"/>
    <p:sldId xmlns:r="http://schemas.openxmlformats.org/officeDocument/2006/relationships" id="263" r:id="R99c2b816140f4af6"/>
    <p:sldId xmlns:r="http://schemas.openxmlformats.org/officeDocument/2006/relationships" id="264" r:id="Re477ce78e061410d"/>
    <p:sldId xmlns:r="http://schemas.openxmlformats.org/officeDocument/2006/relationships" id="265" r:id="R6f1827418ef442f9"/>
    <p:sldId xmlns:r="http://schemas.openxmlformats.org/officeDocument/2006/relationships" id="266" r:id="R0963b0e267e94cac"/>
    <p:sldId xmlns:r="http://schemas.openxmlformats.org/officeDocument/2006/relationships" id="267" r:id="R7eae05adcc9e42e2"/>
    <p:sldId xmlns:r="http://schemas.openxmlformats.org/officeDocument/2006/relationships" id="268" r:id="R1afefc3d83b14011"/>
    <p:sldId xmlns:r="http://schemas.openxmlformats.org/officeDocument/2006/relationships" id="269" r:id="Refdece6bc9a44c9e"/>
    <p:sldId xmlns:r="http://schemas.openxmlformats.org/officeDocument/2006/relationships" id="270" r:id="R3acf751ec7d24b25"/>
    <p:sldId xmlns:r="http://schemas.openxmlformats.org/officeDocument/2006/relationships" id="271" r:id="R07958c9e3c144981"/>
    <p:sldId xmlns:r="http://schemas.openxmlformats.org/officeDocument/2006/relationships" id="272" r:id="Re973f5f2dc82409f"/>
    <p:sldId xmlns:r="http://schemas.openxmlformats.org/officeDocument/2006/relationships" id="273" r:id="Rd9e2fb4a6a3e4c39"/>
    <p:sldId xmlns:r="http://schemas.openxmlformats.org/officeDocument/2006/relationships" id="274" r:id="Raadf363461dc42bf"/>
    <p:sldId xmlns:r="http://schemas.openxmlformats.org/officeDocument/2006/relationships" id="275" r:id="R93a33ec6f07e41c2"/>
    <p:sldId xmlns:r="http://schemas.openxmlformats.org/officeDocument/2006/relationships" id="276" r:id="R17aceb28751d43f3"/>
    <p:sldId xmlns:r="http://schemas.openxmlformats.org/officeDocument/2006/relationships" id="277" r:id="R4be64bd9009b4dbc"/>
    <p:sldId xmlns:r="http://schemas.openxmlformats.org/officeDocument/2006/relationships" id="278" r:id="Rdff5eedf10c74969"/>
    <p:sldId xmlns:r="http://schemas.openxmlformats.org/officeDocument/2006/relationships" id="279" r:id="Rfb3f709988e542f3"/>
    <p:sldId xmlns:r="http://schemas.openxmlformats.org/officeDocument/2006/relationships" id="280" r:id="R3394c99ee1d544a8"/>
    <p:sldId xmlns:r="http://schemas.openxmlformats.org/officeDocument/2006/relationships" id="281" r:id="Rc1b154c292564aca"/>
    <p:sldId xmlns:r="http://schemas.openxmlformats.org/officeDocument/2006/relationships" id="282" r:id="Raf043c73a4b94c32"/>
    <p:sldId xmlns:r="http://schemas.openxmlformats.org/officeDocument/2006/relationships" id="283" r:id="Rf411a2ac864e4f6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b4f4304515498d" /><Relationship Type="http://schemas.openxmlformats.org/officeDocument/2006/relationships/slideMaster" Target="/ppt/slideMasters/slideMaster1.xml" Id="Ra02e9c50ac0c42cb" /><Relationship Type="http://schemas.openxmlformats.org/officeDocument/2006/relationships/notesMaster" Target="/ppt/notesMasters/notesMaster1.xml" Id="Rf3ce79e4d3914b80" /><Relationship Type="http://schemas.openxmlformats.org/officeDocument/2006/relationships/presProps" Target="/ppt/presProps.xml" Id="R501b1e15daa748c4" /><Relationship Type="http://schemas.openxmlformats.org/officeDocument/2006/relationships/tableStyles" Target="/ppt/tableStyles.xml" Id="R51117decc6dc469f" /><Relationship Type="http://schemas.openxmlformats.org/officeDocument/2006/relationships/slide" Target="/ppt/slides/slide1.xml" Id="R4006fb607b3d4e96" /><Relationship Type="http://schemas.openxmlformats.org/officeDocument/2006/relationships/slide" Target="/ppt/slides/slide2.xml" Id="R6244c05b922a4aa4" /><Relationship Type="http://schemas.openxmlformats.org/officeDocument/2006/relationships/slide" Target="/ppt/slides/slide3.xml" Id="R0b8de4d2fdca49c4" /><Relationship Type="http://schemas.openxmlformats.org/officeDocument/2006/relationships/slide" Target="/ppt/slides/slide4.xml" Id="R2f448cb2830745bd" /><Relationship Type="http://schemas.openxmlformats.org/officeDocument/2006/relationships/slide" Target="/ppt/slides/slide5.xml" Id="R0183cc0e8f1e40fd" /><Relationship Type="http://schemas.openxmlformats.org/officeDocument/2006/relationships/slide" Target="/ppt/slides/slide6.xml" Id="R89e8f7cf87964580" /><Relationship Type="http://schemas.openxmlformats.org/officeDocument/2006/relationships/slide" Target="/ppt/slides/slide7.xml" Id="Rae79eef82cb14698" /><Relationship Type="http://schemas.openxmlformats.org/officeDocument/2006/relationships/slide" Target="/ppt/slides/slide8.xml" Id="R99c2b816140f4af6" /><Relationship Type="http://schemas.openxmlformats.org/officeDocument/2006/relationships/slide" Target="/ppt/slides/slide9.xml" Id="Re477ce78e061410d" /><Relationship Type="http://schemas.openxmlformats.org/officeDocument/2006/relationships/slide" Target="/ppt/slides/slide10.xml" Id="R6f1827418ef442f9" /><Relationship Type="http://schemas.openxmlformats.org/officeDocument/2006/relationships/slide" Target="/ppt/slides/slide11.xml" Id="R0963b0e267e94cac" /><Relationship Type="http://schemas.openxmlformats.org/officeDocument/2006/relationships/slide" Target="/ppt/slides/slide12.xml" Id="R7eae05adcc9e42e2" /><Relationship Type="http://schemas.openxmlformats.org/officeDocument/2006/relationships/slide" Target="/ppt/slides/slide13.xml" Id="R1afefc3d83b14011" /><Relationship Type="http://schemas.openxmlformats.org/officeDocument/2006/relationships/slide" Target="/ppt/slides/slide14.xml" Id="Refdece6bc9a44c9e" /><Relationship Type="http://schemas.openxmlformats.org/officeDocument/2006/relationships/slide" Target="/ppt/slides/slide15.xml" Id="R3acf751ec7d24b25" /><Relationship Type="http://schemas.openxmlformats.org/officeDocument/2006/relationships/slide" Target="/ppt/slides/slide16.xml" Id="R07958c9e3c144981" /><Relationship Type="http://schemas.openxmlformats.org/officeDocument/2006/relationships/slide" Target="/ppt/slides/slide17.xml" Id="Re973f5f2dc82409f" /><Relationship Type="http://schemas.openxmlformats.org/officeDocument/2006/relationships/slide" Target="/ppt/slides/slide18.xml" Id="Rd9e2fb4a6a3e4c39" /><Relationship Type="http://schemas.openxmlformats.org/officeDocument/2006/relationships/slide" Target="/ppt/slides/slide19.xml" Id="Raadf363461dc42bf" /><Relationship Type="http://schemas.openxmlformats.org/officeDocument/2006/relationships/slide" Target="/ppt/slides/slide20.xml" Id="R93a33ec6f07e41c2" /><Relationship Type="http://schemas.openxmlformats.org/officeDocument/2006/relationships/slide" Target="/ppt/slides/slide21.xml" Id="R17aceb28751d43f3" /><Relationship Type="http://schemas.openxmlformats.org/officeDocument/2006/relationships/slide" Target="/ppt/slides/slide22.xml" Id="R4be64bd9009b4dbc" /><Relationship Type="http://schemas.openxmlformats.org/officeDocument/2006/relationships/slide" Target="/ppt/slides/slide23.xml" Id="Rdff5eedf10c74969" /><Relationship Type="http://schemas.openxmlformats.org/officeDocument/2006/relationships/slide" Target="/ppt/slides/slide24.xml" Id="Rfb3f709988e542f3" /><Relationship Type="http://schemas.openxmlformats.org/officeDocument/2006/relationships/slide" Target="/ppt/slides/slide25.xml" Id="R3394c99ee1d544a8" /><Relationship Type="http://schemas.openxmlformats.org/officeDocument/2006/relationships/slide" Target="/ppt/slides/slide26.xml" Id="Rc1b154c292564aca" /><Relationship Type="http://schemas.openxmlformats.org/officeDocument/2006/relationships/slide" Target="/ppt/slides/slide27.xml" Id="Raf043c73a4b94c32" /><Relationship Type="http://schemas.openxmlformats.org/officeDocument/2006/relationships/slide" Target="/ppt/slides/slide28.xml" Id="Rf411a2ac864e4f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40490a7c1c4c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b005c3526546b4" /><Relationship Type="http://schemas.openxmlformats.org/officeDocument/2006/relationships/notesMaster" Target="/ppt/notesMasters/notesMaster1.xml" Id="Rd87132130ee54d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cdc73b8faa41c2" /><Relationship Type="http://schemas.openxmlformats.org/officeDocument/2006/relationships/notesMaster" Target="/ppt/notesMasters/notesMaster1.xml" Id="Re5e17945b16a4e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817edba7234636" /><Relationship Type="http://schemas.openxmlformats.org/officeDocument/2006/relationships/notesMaster" Target="/ppt/notesMasters/notesMaster1.xml" Id="R4a6d7ec8a34d48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445a3cffda4eca" /><Relationship Type="http://schemas.openxmlformats.org/officeDocument/2006/relationships/notesMaster" Target="/ppt/notesMasters/notesMaster1.xml" Id="Re3feff5cb3ef41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20ea8357614bcf" /><Relationship Type="http://schemas.openxmlformats.org/officeDocument/2006/relationships/notesMaster" Target="/ppt/notesMasters/notesMaster1.xml" Id="R2c218142797a40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7cd18a58fd4fae" /><Relationship Type="http://schemas.openxmlformats.org/officeDocument/2006/relationships/notesMaster" Target="/ppt/notesMasters/notesMaster1.xml" Id="R94d83274c7bf44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ccad6ef38d4b66" /><Relationship Type="http://schemas.openxmlformats.org/officeDocument/2006/relationships/notesMaster" Target="/ppt/notesMasters/notesMaster1.xml" Id="R7a93c05a58c844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48dd70a2494e51" /><Relationship Type="http://schemas.openxmlformats.org/officeDocument/2006/relationships/notesMaster" Target="/ppt/notesMasters/notesMaster1.xml" Id="R080df2d04d2243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f2ae944e23416f" /><Relationship Type="http://schemas.openxmlformats.org/officeDocument/2006/relationships/notesMaster" Target="/ppt/notesMasters/notesMaster1.xml" Id="Rbffbb6c7744e4c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1bd0156cec4c35" /><Relationship Type="http://schemas.openxmlformats.org/officeDocument/2006/relationships/notesMaster" Target="/ppt/notesMasters/notesMaster1.xml" Id="R8d3216e17a8446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688508cf054387" /><Relationship Type="http://schemas.openxmlformats.org/officeDocument/2006/relationships/notesMaster" Target="/ppt/notesMasters/notesMaster1.xml" Id="Rbaecbee217c14e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66b3c4d2be497e" /><Relationship Type="http://schemas.openxmlformats.org/officeDocument/2006/relationships/notesMaster" Target="/ppt/notesMasters/notesMaster1.xml" Id="R539ad2bdf4254c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e3ac0a8863414d" /><Relationship Type="http://schemas.openxmlformats.org/officeDocument/2006/relationships/notesMaster" Target="/ppt/notesMasters/notesMaster1.xml" Id="Rb9594b6a292349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13a7f14f774edd" /><Relationship Type="http://schemas.openxmlformats.org/officeDocument/2006/relationships/notesMaster" Target="/ppt/notesMasters/notesMaster1.xml" Id="Reb55167616a840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691e31348244d7" /><Relationship Type="http://schemas.openxmlformats.org/officeDocument/2006/relationships/notesMaster" Target="/ppt/notesMasters/notesMaster1.xml" Id="R7571af818d7540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936f9bc81a494f" /><Relationship Type="http://schemas.openxmlformats.org/officeDocument/2006/relationships/notesMaster" Target="/ppt/notesMasters/notesMaster1.xml" Id="R7b3405b4e3d24d3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60a9f5574954c89" /><Relationship Type="http://schemas.openxmlformats.org/officeDocument/2006/relationships/notesMaster" Target="/ppt/notesMasters/notesMaster1.xml" Id="R14b0030aaa2746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b2121a7d6e477c" /><Relationship Type="http://schemas.openxmlformats.org/officeDocument/2006/relationships/notesMaster" Target="/ppt/notesMasters/notesMaster1.xml" Id="R64cd43559c5446e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82688ab56dd469c" /><Relationship Type="http://schemas.openxmlformats.org/officeDocument/2006/relationships/notesMaster" Target="/ppt/notesMasters/notesMaster1.xml" Id="R3fa6f6275dbc43e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5e0bf32a9084176" /><Relationship Type="http://schemas.openxmlformats.org/officeDocument/2006/relationships/notesMaster" Target="/ppt/notesMasters/notesMaster1.xml" Id="R7449143b1a0c426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15abc3d3a674bf8" /><Relationship Type="http://schemas.openxmlformats.org/officeDocument/2006/relationships/notesMaster" Target="/ppt/notesMasters/notesMaster1.xml" Id="R1c4ff8a731fb4f8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82d3445756d4632" /><Relationship Type="http://schemas.openxmlformats.org/officeDocument/2006/relationships/notesMaster" Target="/ppt/notesMasters/notesMaster1.xml" Id="Rcfa977c19fc24df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c7064620ae94c92" /><Relationship Type="http://schemas.openxmlformats.org/officeDocument/2006/relationships/notesMaster" Target="/ppt/notesMasters/notesMaster1.xml" Id="R5d7f2f7164124c1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2561a423f4d447e" /><Relationship Type="http://schemas.openxmlformats.org/officeDocument/2006/relationships/notesMaster" Target="/ppt/notesMasters/notesMaster1.xml" Id="Ra96b9251cea34d7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395992b37c9472f" /><Relationship Type="http://schemas.openxmlformats.org/officeDocument/2006/relationships/notesMaster" Target="/ppt/notesMasters/notesMaster1.xml" Id="R82e4b82c86eb460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ef5d336634e48af" /><Relationship Type="http://schemas.openxmlformats.org/officeDocument/2006/relationships/notesMaster" Target="/ppt/notesMasters/notesMaster1.xml" Id="R9ba7584499bf46d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2a875eae0e947c8" /><Relationship Type="http://schemas.openxmlformats.org/officeDocument/2006/relationships/notesMaster" Target="/ppt/notesMasters/notesMaster1.xml" Id="Ra1b90892f77b4c7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d32919265074b4c" /><Relationship Type="http://schemas.openxmlformats.org/officeDocument/2006/relationships/notesMaster" Target="/ppt/notesMasters/notesMaster1.xml" Id="R04530cc1b8c745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AR04 ヤマザキマザック｜生産性向上 MAZATROL DX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https://www.mazak.com/jp-ja/technology/productivity/</a:t>
            </a:r>
          </a:p>
          <a:p xmlns:a="http://schemas.openxmlformats.org/drawingml/2006/main">
            <a:r>
              <a:t>掲載位置 SOLID MAZATROL／VIRTUAL MACHINING／CUTTING ADVISER／SETUP GUIDE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形状モデル・工具情報・過去プログラムを活用する自動プログラミングと、仮想検証・条件解析・段取り支援を統合。</a:t>
            </a:r>
          </a:p>
          <a:p xmlns:a="http://schemas.openxmlformats.org/drawingml/2006/main">
            <a:r>
              <a:t>留保 各モジュールがすべてAIであるとは言えない。工程設計の共同開発AIと既存製品は別。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AR05 ファナック｜フィジカルAI CNC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https://www.fanuc.co.jp/ja/product/cnc/physical-ai-cnc/index.html</a:t>
            </a:r>
          </a:p>
          <a:p xmlns:a="http://schemas.openxmlformats.org/drawingml/2006/main">
            <a:r>
              <a:t>掲載位置 CONCEPT／MCP／デジタルツイン／実現すること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その結果をオペレータが確認・承認した上で実機へ適用できます。</a:t>
            </a:r>
          </a:p>
          <a:p xmlns:a="http://schemas.openxmlformats.org/drawingml/2006/main">
            <a:r>
              <a:t>文脈要約 生成AIの解析・提案を仮想環境で検証し、人が承認して実機へ適用する。プログラム・設定・アラーム対応を支援。</a:t>
            </a:r>
          </a:p>
          <a:p xmlns:a="http://schemas.openxmlformats.org/drawingml/2006/main">
            <a:r>
              <a:t>留保 完全無人加工や無承認の自動復旧を証明しない。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AR12 ABEJA・ヤマザキマザック｜製造業のフィジカルAI実現に向けた協業</a:t>
            </a:r>
          </a:p>
          <a:p xmlns:a="http://schemas.openxmlformats.org/drawingml/2006/main">
            <a:r>
              <a:t>発行 2026-10-16 確認 2026-10-23</a:t>
            </a:r>
          </a:p>
          <a:p xmlns:a="http://schemas.openxmlformats.org/drawingml/2006/main">
            <a:r>
              <a:t>https://www.abejainc.com/news/20261016/2</a:t>
            </a:r>
          </a:p>
          <a:p xmlns:a="http://schemas.openxmlformats.org/drawingml/2006/main">
            <a:r>
              <a:t>掲載位置 Engineering AI Agent／Scheduling AI Agent／Robotics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工程設計の技能と生産計画の制約を取り込み、人を含む検証を伴うAIエージェントを開発する構想。</a:t>
            </a:r>
          </a:p>
          <a:p xmlns:a="http://schemas.openxmlformats.org/drawingml/2006/main">
            <a:r>
              <a:t>留保 製品版の提供・実演成功・工場全体の最適化達成は証明しない。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AR14 DMG森精機｜GENIAC採択：生産設備データと製造フィジカルAI</a:t>
            </a:r>
          </a:p>
          <a:p xmlns:a="http://schemas.openxmlformats.org/drawingml/2006/main">
            <a:r>
              <a:t>発行 2026-07-06 確認 2026-10-23</a:t>
            </a:r>
          </a:p>
          <a:p xmlns:a="http://schemas.openxmlformats.org/drawingml/2006/main">
            <a:r>
              <a:t>https://www.dmgmori.co.jp/corporate/news/2026/20260706_geniac.html</a:t>
            </a:r>
          </a:p>
          <a:p xmlns:a="http://schemas.openxmlformats.org/drawingml/2006/main">
            <a:r>
              <a:t>掲載位置 自律的AI開発基盤／対象設備・データ</a:t>
            </a:r>
          </a:p>
          <a:p xmlns:a="http://schemas.openxmlformats.org/drawingml/2006/main">
            <a:r>
              <a:t>確認方式 既存保存本文を今回再照合（再取得失敗）</a:t>
            </a:r>
          </a:p>
          <a:p xmlns:a="http://schemas.openxmlformats.org/drawingml/2006/main">
            <a:r>
              <a:t>原文 市場投入済みの設備から継続的にデータを収集・学習・評価する仕組み</a:t>
            </a:r>
          </a:p>
          <a:p xmlns:a="http://schemas.openxmlformats.org/drawingml/2006/main">
            <a:r>
              <a:t>文脈要約 100社・1,000設備・100TB規模を目指すデータ取得と、異常検知から品質・電力予測、セル最適化へ展開する計画。</a:t>
            </a:r>
          </a:p>
          <a:p xmlns:a="http://schemas.openxmlformats.org/drawingml/2006/main">
            <a:r>
              <a:t>留保 数値は目標。データ取得完了・収益改善実績ではない。今回は再取得失敗のため保存済み公式本文で再照合。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AR15 オークマ｜OSP-AI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https://www.okuma.co.jp/smart-factory/osp-suite/osp-ai.php</a:t>
            </a:r>
          </a:p>
          <a:p xmlns:a="http://schemas.openxmlformats.org/drawingml/2006/main">
            <a:r>
              <a:t>掲載位置 AI機械診断／AI加工診断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機械診断は診断運転から異常箇所を提示。加工診断は制御情報の異常レベルに応じ工具を自動退避する。</a:t>
            </a:r>
          </a:p>
          <a:p xmlns:a="http://schemas.openxmlformats.org/drawingml/2006/main">
            <a:r>
              <a:t>留保 診断後の修理・復帰の自律化や、あらゆる工具・加工への適用は未確認。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AR16 ModuleWorks｜See you at JIMTOF 2026</a:t>
            </a:r>
          </a:p>
          <a:p xmlns:a="http://schemas.openxmlformats.org/drawingml/2006/main">
            <a:r>
              <a:t>発行 2026-10-15 確認 2026-10-23</a:t>
            </a:r>
          </a:p>
          <a:p xmlns:a="http://schemas.openxmlformats.org/drawingml/2006/main">
            <a:r>
              <a:t>https://www.moduleworks.com/see-you-at-jimtof-2026/</a:t>
            </a:r>
          </a:p>
          <a:p xmlns:a="http://schemas.openxmlformats.org/drawingml/2006/main">
            <a:r>
              <a:t>掲載位置 SmartRoughing／FeedControl／NGSP／CAS／MDES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工具経路・切削負荷の最適化から機上シミュレーション、衝突防止、データ交換までを提示。</a:t>
            </a:r>
          </a:p>
          <a:p xmlns:a="http://schemas.openxmlformats.org/drawingml/2006/main">
            <a:r>
              <a:t>留保 FeedControlの物理量による送り最適化を機械学習AIと推定しない。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AR17 レニショー｜Renishaw Central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掲載位置 IPC／工作機械への補正／ダッシュボード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測定・加工状態を収集し、IPCで機械変数に補正を返す。分析・監視表示も提供。</a:t>
            </a:r>
          </a:p>
          <a:p xmlns:a="http://schemas.openxmlformats.org/drawingml/2006/main">
            <a:r>
              <a:t>留保 閉ループ制御の説明はあるが、学習AIを使う証拠にはならない。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AR01 コマツ｜JIMTOF2026に出展</a:t>
            </a:r>
          </a:p>
          <a:p xmlns:a="http://schemas.openxmlformats.org/drawingml/2006/main">
            <a:r>
              <a:t>発行 2026-10-22 確認 2026-10-23</a:t>
            </a:r>
          </a:p>
          <a:p xmlns:a="http://schemas.openxmlformats.org/drawingml/2006/main">
            <a:r>
              <a:t>https://www.komatsu.jp/ja/newsroom/2026/20261022_01</a:t>
            </a:r>
          </a:p>
          <a:p xmlns:a="http://schemas.openxmlformats.org/drawingml/2006/main">
            <a:r>
              <a:t>掲載位置 CX500／KOM-Scheduler／Gate Keeper／KOMTAS／KOM-MICS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画像による切りくず堆積検知、工具交換時期の予測、加工異常のしきい値設定を別機能として展示。Gate Keeperはコンセプト展示。</a:t>
            </a:r>
          </a:p>
          <a:p xmlns:a="http://schemas.openxmlformats.org/drawingml/2006/main">
            <a:r>
              <a:t>留保 切りくずの自動除去、全工場の自動再計画、KOMTASの機械学習方式は確認できない。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FC006 ファナック フィジカルAI CNC</a:t>
            </a:r>
          </a:p>
          <a:p xmlns:a="http://schemas.openxmlformats.org/drawingml/2006/main">
            <a:r>
              <a:t>小間 S2001</a:t>
            </a:r>
          </a:p>
          <a:p xmlns:a="http://schemas.openxmlformats.org/drawingml/2006/main">
            <a:r>
              <a:t>展示 展示予定を明記 公式JIMTOF特設ページにフィジカルAI CNCを明記。個別デモ範囲は現地確認。</a:t>
            </a:r>
          </a:p>
          <a:p xmlns:a="http://schemas.openxmlformats.org/drawingml/2006/main">
            <a:r>
              <a:t>入力 加工情報・設備状態・自然言語による指示。許可されたCNC／ツイン機能をMCPで呼び出す。</a:t>
            </a:r>
          </a:p>
          <a:p xmlns:a="http://schemas.openxmlformats.org/drawingml/2006/main">
            <a:r>
              <a:t>方式 生成AIをMCPでCNC・デジタルツインへ接続。改善案を仮想検証し、人の承認後に実機適用する。</a:t>
            </a:r>
          </a:p>
          <a:p xmlns:a="http://schemas.openxmlformats.org/drawingml/2006/main">
            <a:r>
              <a:t>出力 プログラム・条件・操作案、仮想検証結果。オペレータ承認後に実機適用。</a:t>
            </a:r>
          </a:p>
          <a:p xmlns:a="http://schemas.openxmlformats.org/drawingml/2006/main">
            <a:r>
              <a:t>人 目標・条件の指定、仮想検証の確認、実機適用の承認。失敗後の復帰・権限設計は要確認。</a:t>
            </a:r>
          </a:p>
          <a:p xmlns:a="http://schemas.openxmlformats.org/drawingml/2006/main">
            <a:r>
              <a:t>限界 製品名だけで完全自律加工と判断しない。「自動復旧」の説明も原因推定・対策提案まで。</a:t>
            </a:r>
          </a:p>
          <a:p xmlns:a="http://schemas.openxmlformats.org/drawingml/2006/main">
            <a:r>
              <a:t>現地 MCPで許可する読取り・書込み操作、仮想モデルの精度、検証不能時の停止、人承認の単位を確認。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AR06 ファナック JIMTOF2026 特設ページ</a:t>
            </a:r>
          </a:p>
          <a:p xmlns:a="http://schemas.openxmlformats.org/drawingml/2006/main">
            <a:r>
              <a:t>https://www.fanuc.co.jp/ja/JIMTOF2026/</a:t>
            </a:r>
          </a:p>
          <a:p xmlns:a="http://schemas.openxmlformats.org/drawingml/2006/main">
            <a:r>
              <a:t>掲載位置 FA／ROBOT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AR05 ファナック フィジカルAI CNC</a:t>
            </a:r>
          </a:p>
          <a:p xmlns:a="http://schemas.openxmlformats.org/drawingml/2006/main">
            <a:r>
              <a:t>https://www.fanuc.co.jp/ja/product/cnc/physical-ai-cnc/index.html</a:t>
            </a:r>
          </a:p>
          <a:p xmlns:a="http://schemas.openxmlformats.org/drawingml/2006/main">
            <a:r>
              <a:t>掲載位置 CONCEPT／MCP／デジタルツイン／実現すること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EOV-V002-2024-1 ファナック株式会社 JIMTOF2024公式カタログ：ファナック株式会社 (S2001)</a:t>
            </a:r>
          </a:p>
          <a:p xmlns:a="http://schemas.openxmlformats.org/drawingml/2006/main">
            <a:r>
              <a:t>https://www.jimtof.org/2024/search/jp/ESdetails?e=N0RgOmmcwZw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EOV-V002-2026-1 ファナック株式会社 JIMTOF2026公式カタログ：ファナック株式会社 (S2001)</a:t>
            </a:r>
          </a:p>
          <a:p xmlns:a="http://schemas.openxmlformats.org/drawingml/2006/main">
            <a:r>
              <a:t>https://www.jimtof.org/search/jp/ESdetails?e=q0OrZBKM3uQ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FT-Z01 ヤマザキマザック株式会社 MAZATROL DX／SOLID MAZATROL</a:t>
            </a:r>
          </a:p>
          <a:p xmlns:a="http://schemas.openxmlformats.org/drawingml/2006/main">
            <a:r>
              <a:t>小間 E1001</a:t>
            </a:r>
          </a:p>
          <a:p xmlns:a="http://schemas.openxmlformats.org/drawingml/2006/main">
            <a:r>
              <a:t>展示 展示未確認 企業公式製品資料。個別の搭載展示機・版は未確認。</a:t>
            </a:r>
          </a:p>
          <a:p xmlns:a="http://schemas.openxmlformats.org/drawingml/2006/main">
            <a:r>
              <a:t>入力 3D形状、工具ライブラリ、過去の加工プログラム、必要に応じ実加工データ。</a:t>
            </a:r>
          </a:p>
          <a:p xmlns:a="http://schemas.openxmlformats.org/drawingml/2006/main">
            <a:r>
              <a:t>方式 SOLID MAZATROLのパターン学習によるプログラミング。仮想加工で干渉を確認し、CUTTING ADVISERで条件を解析、SETUP GUIDEで準備を支援。</a:t>
            </a:r>
          </a:p>
          <a:p xmlns:a="http://schemas.openxmlformats.org/drawingml/2006/main">
            <a:r>
              <a:t>出力 MAZATROLプログラム、条件案、工具・治具等の段取り情報。</a:t>
            </a:r>
          </a:p>
          <a:p xmlns:a="http://schemas.openxmlformats.org/drawingml/2006/main">
            <a:r>
              <a:t>人 工具・機械の条件整備、結果確認、実際の段取り。全モジュールの自動実行範囲は要確認。</a:t>
            </a:r>
          </a:p>
          <a:p xmlns:a="http://schemas.openxmlformats.org/drawingml/2006/main">
            <a:r>
              <a:t>限界 共同開発する工程設計AIとは別製品。パターン学習と条件解析を同一AIとみなさない。</a:t>
            </a:r>
          </a:p>
          <a:p xmlns:a="http://schemas.openxmlformats.org/drawingml/2006/main">
            <a:r>
              <a:t>現地 誰のどの加工判断を学習するか、過去プログラムの必要量、材料・工具変更時の適用と人の修正を確認。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AR04 ヤマザキマザック 生産性向上 MAZATROL DX</a:t>
            </a:r>
          </a:p>
          <a:p xmlns:a="http://schemas.openxmlformats.org/drawingml/2006/main">
            <a:r>
              <a:t>https://www.mazak.com/jp-ja/technology/productivity/</a:t>
            </a:r>
          </a:p>
          <a:p xmlns:a="http://schemas.openxmlformats.org/drawingml/2006/main">
            <a:r>
              <a:t>掲載位置 SOLID MAZATROL／VIRTUAL MACHINING／CUTTING ADVISER／SETUP GUIDE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FT24 ヤマザキマザック JIMTOF2026 特設サイト</a:t>
            </a:r>
          </a:p>
          <a:p xmlns:a="http://schemas.openxmlformats.org/drawingml/2006/main">
            <a:r>
              <a:t>https://www.mazak.com/discover/jp-ja/jimtof2026/</a:t>
            </a:r>
          </a:p>
          <a:p xmlns:a="http://schemas.openxmlformats.org/drawingml/2006/main">
            <a:r>
              <a:t>掲載位置 出展機・AI活用紹介。個別製品の展示範囲は要確認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FT-O01 オークマ株式会社 OSP-AI 機械診断／加工診断</a:t>
            </a:r>
          </a:p>
          <a:p xmlns:a="http://schemas.openxmlformats.org/drawingml/2006/main">
            <a:r>
              <a:t>小間 E3028</a:t>
            </a:r>
          </a:p>
          <a:p xmlns:a="http://schemas.openxmlformats.org/drawingml/2006/main">
            <a:r>
              <a:t>展示 展示未確認 AIコーナーの予告と製品資料は確認。同版・同機能の実演を明記した資料は未確認。</a:t>
            </a:r>
          </a:p>
          <a:p xmlns:a="http://schemas.openxmlformats.org/drawingml/2006/main">
            <a:r>
              <a:t>入力 機械診断：診断運転中の制御データ。加工診断：主軸・送り軸等の加工中制御情報。</a:t>
            </a:r>
          </a:p>
          <a:p xmlns:a="http://schemas.openxmlformats.org/drawingml/2006/main">
            <a:r>
              <a:t>方式 機械診断は異常・異常箇所を推定。加工診断は異常レベルを評価し閾値超過で工具を退避。</a:t>
            </a:r>
          </a:p>
          <a:p xmlns:a="http://schemas.openxmlformats.org/drawingml/2006/main">
            <a:r>
              <a:t>出力 診断箇所の表示／加工異常時の工具退避。修理の自動化は確認できない。</a:t>
            </a:r>
          </a:p>
          <a:p xmlns:a="http://schemas.openxmlformats.org/drawingml/2006/main">
            <a:r>
              <a:t>人 機械診断の開始、診断結果に基づく整備、工具確認・再開。しきい値と適用機種の設定条件は要確認。</a:t>
            </a:r>
          </a:p>
          <a:p xmlns:a="http://schemas.openxmlformats.org/drawingml/2006/main">
            <a:r>
              <a:t>限界 一部特別仕様。今回の特設はAIコーナーを予告するが、同機能・版の個別実演は未確認。</a:t>
            </a:r>
          </a:p>
          <a:p xmlns:a="http://schemas.openxmlformats.org/drawingml/2006/main">
            <a:r>
              <a:t>現地 診断用運転と加工中監視の違い、ドリル以外の適用、退避指令・復帰条件、新版の追加能力を確認。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AR15 オークマ OSP-AI</a:t>
            </a:r>
          </a:p>
          <a:p xmlns:a="http://schemas.openxmlformats.org/drawingml/2006/main">
            <a:r>
              <a:t>https://www.okuma.co.jp/smart-factory/osp-suite/osp-ai.php</a:t>
            </a:r>
          </a:p>
          <a:p xmlns:a="http://schemas.openxmlformats.org/drawingml/2006/main">
            <a:r>
              <a:t>掲載位置 AI機械診断／AI加工診断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FT20 オークマ JIMTOF2026 特設サイト</a:t>
            </a:r>
          </a:p>
          <a:p xmlns:a="http://schemas.openxmlformats.org/drawingml/2006/main">
            <a:r>
              <a:t>https://www.okuma.co.jp/event/jimtof/2026/</a:t>
            </a:r>
          </a:p>
          <a:p xmlns:a="http://schemas.openxmlformats.org/drawingml/2006/main">
            <a:r>
              <a:t>掲載位置 AIコーナー／知能化コーナー／ARMROID等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FC033 レニショー Renishaw Central＋IPC</a:t>
            </a:r>
          </a:p>
          <a:p xmlns:a="http://schemas.openxmlformats.org/drawingml/2006/main">
            <a:r>
              <a:t>小間 E7089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計測、装置状態、アラーム</a:t>
            </a:r>
          </a:p>
          <a:p xmlns:a="http://schemas.openxmlformats.org/drawingml/2006/main">
            <a:r>
              <a:t>方式 測定・加工状態・アラームをオンプレミスに収集。IPCで測定結果から工作機械の変数へ補正を返す。</a:t>
            </a:r>
          </a:p>
          <a:p xmlns:a="http://schemas.openxmlformats.org/drawingml/2006/main">
            <a:r>
              <a:t>出力 加工へのクローズドループ補正</a:t>
            </a:r>
          </a:p>
          <a:p xmlns:a="http://schemas.openxmlformats.org/drawingml/2006/main">
            <a:r>
              <a:t>人 測定・補正対象と許容範囲の設定、アラーム時の処置。補正承認条件は要確認。</a:t>
            </a:r>
          </a:p>
          <a:p xmlns:a="http://schemas.openxmlformats.org/drawingml/2006/main">
            <a:r>
              <a:t>限界 どの寸法がどのオフセットを変えるか。誤計測時の補正抑止と顧客実績を確認する。</a:t>
            </a:r>
          </a:p>
          <a:p xmlns:a="http://schemas.openxmlformats.org/drawingml/2006/main">
            <a:r>
              <a:t>現地 Renishaw Central＋IPCの対象品種・変更条件は何か。測定から加工へ補正で人が設定する内容、異常時の停止・復帰、他工程との接続仕様を確認する。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AR17 レニショー Renishaw Central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掲載位置 IPC／工作機械への補正／ダッシュボード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EOV-V018-2024-1 レニショー株式会社 JIMTOF2024公式カタログ：レニショー株式会社 (E7026)</a:t>
            </a:r>
          </a:p>
          <a:p xmlns:a="http://schemas.openxmlformats.org/drawingml/2006/main">
            <a:r>
              <a:t>https://www.jimtof.org/2024/search/jp/ESdetails?e=ekM3exgIAtc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EOV-V018-2026-1 レニショー株式会社 JIMTOF2026公式カタログ：レニショー株式会社 (E7089)</a:t>
            </a:r>
          </a:p>
          <a:p xmlns:a="http://schemas.openxmlformats.org/drawingml/2006/main">
            <a:r>
              <a:t>https://www.jimtof.org/search/jp/ESdetails?e=pYGmVz5GC1c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AR-C03 コマツNTC株式会社 KOM-Scheduler</a:t>
            </a:r>
          </a:p>
          <a:p xmlns:a="http://schemas.openxmlformats.org/drawingml/2006/main">
            <a:r>
              <a:t>小間 E1058</a:t>
            </a:r>
          </a:p>
          <a:p xmlns:a="http://schemas.openxmlformats.org/drawingml/2006/main">
            <a:r>
              <a:t>展示 展示予定を明記 コマツの2026年10月22日付告知で個別機能を明記。</a:t>
            </a:r>
          </a:p>
          <a:p xmlns:a="http://schemas.openxmlformats.org/drawingml/2006/main">
            <a:r>
              <a:t>入力 加工予定・工具の使用状況等。入力仕様は要確認。</a:t>
            </a:r>
          </a:p>
          <a:p xmlns:a="http://schemas.openxmlformats.org/drawingml/2006/main">
            <a:r>
              <a:t>方式 生産スケジュールを表示し、工具不足と交換時期を予測する。</a:t>
            </a:r>
          </a:p>
          <a:p xmlns:a="http://schemas.openxmlformats.org/drawingml/2006/main">
            <a:r>
              <a:t>出力 スケジュールと工具交換タイミングの提示。</a:t>
            </a:r>
          </a:p>
          <a:p xmlns:a="http://schemas.openxmlformats.org/drawingml/2006/main">
            <a:r>
              <a:t>人 計画の入力・調整、工具補給・交換の実施。</a:t>
            </a:r>
          </a:p>
          <a:p xmlns:a="http://schemas.openxmlformats.org/drawingml/2006/main">
            <a:r>
              <a:t>限界 自動再計画、最適化目的関数、機械学習採用は未確認。</a:t>
            </a:r>
          </a:p>
          <a:p xmlns:a="http://schemas.openxmlformats.org/drawingml/2006/main">
            <a:r>
              <a:t>現地 工具寿命の実測値と計画が接続するか。突発停止・急な割込み時に再計画するか。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AR01 コマツ JIMTOF2026に出展</a:t>
            </a:r>
          </a:p>
          <a:p xmlns:a="http://schemas.openxmlformats.org/drawingml/2006/main">
            <a:r>
              <a:t>https://www.komatsu.jp/ja/newsroom/2026/20261022_01</a:t>
            </a:r>
          </a:p>
          <a:p xmlns:a="http://schemas.openxmlformats.org/drawingml/2006/main">
            <a:r>
              <a:t>掲載位置 CX500／KOM-Scheduler／Gate Keeper／KOMTAS／KOM-MICS</a:t>
            </a:r>
          </a:p>
          <a:p xmlns:a="http://schemas.openxmlformats.org/drawingml/2006/main">
            <a:r>
              <a:t>確認 2026-10-23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AR14 DMG森精機｜GENIAC採択：生産設備データと製造フィジカルAI</a:t>
            </a:r>
          </a:p>
          <a:p xmlns:a="http://schemas.openxmlformats.org/drawingml/2006/main">
            <a:r>
              <a:t>発行 2026-07-06 確認 2026-10-23</a:t>
            </a:r>
          </a:p>
          <a:p xmlns:a="http://schemas.openxmlformats.org/drawingml/2006/main">
            <a:r>
              <a:t>https://www.dmgmori.co.jp/corporate/news/2026/20260706_geniac.html</a:t>
            </a:r>
          </a:p>
          <a:p xmlns:a="http://schemas.openxmlformats.org/drawingml/2006/main">
            <a:r>
              <a:t>掲載位置 自律的AI開発基盤／対象設備・データ</a:t>
            </a:r>
          </a:p>
          <a:p xmlns:a="http://schemas.openxmlformats.org/drawingml/2006/main">
            <a:r>
              <a:t>確認方式 既存保存本文を今回再照合（再取得失敗）</a:t>
            </a:r>
          </a:p>
          <a:p xmlns:a="http://schemas.openxmlformats.org/drawingml/2006/main">
            <a:r>
              <a:t>原文 市場投入済みの設備から継続的にデータを収集・学習・評価する仕組み</a:t>
            </a:r>
          </a:p>
          <a:p xmlns:a="http://schemas.openxmlformats.org/drawingml/2006/main">
            <a:r>
              <a:t>文脈要約 100社・1,000設備・100TB規模を目指すデータ取得と、異常検知から品質・電力予測、セル最適化へ展開する計画。</a:t>
            </a:r>
          </a:p>
          <a:p xmlns:a="http://schemas.openxmlformats.org/drawingml/2006/main">
            <a:r>
              <a:t>留保 数値は目標。データ取得完了・収益改善実績ではない。今回は再取得失敗のため保存済み公式本文で再照合。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AR04 ヤマザキマザック｜生産性向上 MAZATROL DX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https://www.mazak.com/jp-ja/technology/productivity/</a:t>
            </a:r>
          </a:p>
          <a:p xmlns:a="http://schemas.openxmlformats.org/drawingml/2006/main">
            <a:r>
              <a:t>掲載位置 SOLID MAZATROL／VIRTUAL MACHINING／CUTTING ADVISER／SETUP GUIDE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形状モデル・工具情報・過去プログラムを活用する自動プログラミングと、仮想検証・条件解析・段取り支援を統合。</a:t>
            </a:r>
          </a:p>
          <a:p xmlns:a="http://schemas.openxmlformats.org/drawingml/2006/main">
            <a:r>
              <a:t>留保 各モジュールがすべてAIであるとは言えない。工程設計の共同開発AIと既存製品は別。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AR12 ABEJA・ヤマザキマザック｜製造業のフィジカルAI実現に向けた協業</a:t>
            </a:r>
          </a:p>
          <a:p xmlns:a="http://schemas.openxmlformats.org/drawingml/2006/main">
            <a:r>
              <a:t>発行 2026-10-16 確認 2026-10-23</a:t>
            </a:r>
          </a:p>
          <a:p xmlns:a="http://schemas.openxmlformats.org/drawingml/2006/main">
            <a:r>
              <a:t>https://www.abejainc.com/news/20261016/2</a:t>
            </a:r>
          </a:p>
          <a:p xmlns:a="http://schemas.openxmlformats.org/drawingml/2006/main">
            <a:r>
              <a:t>掲載位置 Engineering AI Agent／Scheduling AI Agent／Robotics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工程設計の技能と生産計画の制約を取り込み、人を含む検証を伴うAIエージェントを開発する構想。</a:t>
            </a:r>
          </a:p>
          <a:p xmlns:a="http://schemas.openxmlformats.org/drawingml/2006/main">
            <a:r>
              <a:t>留保 製品版の提供・実演成功・工場全体の最適化達成は証明しない。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AR05 ファナック｜フィジカルAI CNC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https://www.fanuc.co.jp/ja/product/cnc/physical-ai-cnc/index.html</a:t>
            </a:r>
          </a:p>
          <a:p xmlns:a="http://schemas.openxmlformats.org/drawingml/2006/main">
            <a:r>
              <a:t>掲載位置 CONCEPT／MCP／デジタルツイン／実現すること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その結果をオペレータが確認・承認した上で実機へ適用できます。</a:t>
            </a:r>
          </a:p>
          <a:p xmlns:a="http://schemas.openxmlformats.org/drawingml/2006/main">
            <a:r>
              <a:t>文脈要約 生成AIの解析・提案を仮想環境で検証し、人が承認して実機へ適用する。プログラム・設定・アラーム対応を支援。</a:t>
            </a:r>
          </a:p>
          <a:p xmlns:a="http://schemas.openxmlformats.org/drawingml/2006/main">
            <a:r>
              <a:t>留保 完全無人加工や無承認の自動復旧を証明しない。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AR11 ファナック・日立｜フィジカルAI実装に向けた戦略的協業</a:t>
            </a:r>
          </a:p>
          <a:p xmlns:a="http://schemas.openxmlformats.org/drawingml/2006/main">
            <a:r>
              <a:t>発行 2026-09-30 確認 2026-10-23</a:t>
            </a:r>
          </a:p>
          <a:p xmlns:a="http://schemas.openxmlformats.org/drawingml/2006/main">
            <a:r>
              <a:t>https://www.fanuc.co.jp/ja/profile/pr/newsrelease/2026/news20260930.html</a:t>
            </a:r>
          </a:p>
          <a:p xmlns:a="http://schemas.openxmlformats.org/drawingml/2006/main">
            <a:r>
              <a:t>掲載位置 カスタマーゼロ／実証／2027年度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日立の茨城県内の工場を実証先とし、部品形状変化への対応や認識・動作生成、品質・タクトを検証する計画。</a:t>
            </a:r>
          </a:p>
          <a:p xmlns:a="http://schemas.openxmlformats.org/drawingml/2006/main">
            <a:r>
              <a:t>留保 ファナック自社工場での実証とは書かれていない。計画は展示実証・量産性能の証拠ではない。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AR15 オークマ｜OSP-AI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https://www.okuma.co.jp/smart-factory/osp-suite/osp-ai.php</a:t>
            </a:r>
          </a:p>
          <a:p xmlns:a="http://schemas.openxmlformats.org/drawingml/2006/main">
            <a:r>
              <a:t>掲載位置 AI機械診断／AI加工診断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機械診断は診断運転から異常箇所を提示。加工診断は制御情報の異常レベルに応じ工具を自動退避する。</a:t>
            </a:r>
          </a:p>
          <a:p xmlns:a="http://schemas.openxmlformats.org/drawingml/2006/main">
            <a:r>
              <a:t>留保 診断後の修理・復帰の自律化や、あらゆる工具・加工への適用は未確認。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FC004 DMG森精機 Condition Agent</a:t>
            </a:r>
          </a:p>
          <a:p xmlns:a="http://schemas.openxmlformats.org/drawingml/2006/main">
            <a:r>
              <a:t>小間 E8005</a:t>
            </a:r>
          </a:p>
          <a:p xmlns:a="http://schemas.openxmlformats.org/drawingml/2006/main">
            <a:r>
              <a:t>展示 展示予定を明記 10/16公式出展発表でCondition AgentをDX体験エリアの展示として明記。従来の「展示未確認」から更新。</a:t>
            </a:r>
          </a:p>
          <a:p xmlns:a="http://schemas.openxmlformats.org/drawingml/2006/main">
            <a:r>
              <a:t>入力 診断専用NC動作のデータ、設計・製造データ</a:t>
            </a:r>
          </a:p>
          <a:p xmlns:a="http://schemas.openxmlformats.org/drawingml/2006/main">
            <a:r>
              <a:t>方式 クラウドAIで異常兆候を分析</a:t>
            </a:r>
          </a:p>
          <a:p xmlns:a="http://schemas.openxmlformats.org/drawingml/2006/main">
            <a:r>
              <a:t>出力 コンポーネント状態の診断・通知</a:t>
            </a:r>
          </a:p>
          <a:p xmlns:a="http://schemas.openxmlformats.org/drawingml/2006/main">
            <a:r>
              <a:t>人 現場操作で診断開始。修理・部品交換まで自律実行する説明なし</a:t>
            </a:r>
          </a:p>
          <a:p xmlns:a="http://schemas.openxmlformats.org/drawingml/2006/main">
            <a:r>
              <a:t>限界 診断頻度、誤警報、後付け対象機、診断後の保全意思決定。名称だけで生成AIエージェントに分類しない。</a:t>
            </a:r>
          </a:p>
          <a:p xmlns:a="http://schemas.openxmlformats.org/drawingml/2006/main">
            <a:r>
              <a:t>現地 Condition Agentの対象品種・変更条件は何か。保全診断・知識支援で人が設定する内容、異常時の停止・復帰、他工程との接続仕様を確認する。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EOV-V001-2024-1 DMG森精機株式会社 JIMTOF2024公式カタログ：DMG森精機株式会社 (E8001)</a:t>
            </a:r>
          </a:p>
          <a:p xmlns:a="http://schemas.openxmlformats.org/drawingml/2006/main">
            <a:r>
              <a:t>https://www.jimtof.org/2024/search/jp/ESdetails?e=lOXEEpvlXpM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EOV-V001-2026-1 DMG森精機株式会社 JIMTOF2026公式カタログ：DMG森精機株式会社 (E8005)</a:t>
            </a:r>
          </a:p>
          <a:p xmlns:a="http://schemas.openxmlformats.org/drawingml/2006/main">
            <a:r>
              <a:t>https://www.jimtof.org/search/jp/ESdetails?e=zcqDj1lSkGs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EAT-N07 DMG森精機 Condition Agent 提供開始</a:t>
            </a:r>
          </a:p>
          <a:p xmlns:a="http://schemas.openxmlformats.org/drawingml/2006/main">
            <a:r>
              <a:t>https://www.dmgmori.co.jp/corporate/news/2026/20260706_conditionagent.html</a:t>
            </a:r>
          </a:p>
          <a:p xmlns:a="http://schemas.openxmlformats.org/drawingml/2006/main">
            <a:r>
              <a:t>掲載位置 2026/07/06本文・主な特長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FT08 DMG森精機 JIMTOF2026出展（2026/10/16）</a:t>
            </a:r>
          </a:p>
          <a:p xmlns:a="http://schemas.openxmlformats.org/drawingml/2006/main">
            <a:r>
              <a:t>https://www.dmgmori.co.jp/corporate/news/2026/20261016_jimtof2026.html</a:t>
            </a:r>
          </a:p>
          <a:p xmlns:a="http://schemas.openxmlformats.org/drawingml/2006/main">
            <a:r>
              <a:t>掲載位置 東8 E8005：GX Flex／AMR／DX体験エリア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FT-D01 ＤＭＧ森精機株式会社 my DMG MORI サービスエージェント</a:t>
            </a:r>
          </a:p>
          <a:p xmlns:a="http://schemas.openxmlformats.org/drawingml/2006/main">
            <a:r>
              <a:t>小間 E8005</a:t>
            </a:r>
          </a:p>
          <a:p xmlns:a="http://schemas.openxmlformats.org/drawingml/2006/main">
            <a:r>
              <a:t>展示 展示予定を明記 10/19公式発表でJIMTOFデモを明記。</a:t>
            </a:r>
          </a:p>
          <a:p xmlns:a="http://schemas.openxmlformats.org/drawingml/2006/main">
            <a:r>
              <a:t>入力 機番に応じた公開マニュアル、MRO知見を反映した問診、顧客の回答。</a:t>
            </a:r>
          </a:p>
          <a:p xmlns:a="http://schemas.openxmlformats.org/drawingml/2006/main">
            <a:r>
              <a:t>方式 選択式を中心とした対話で症状を整理し、マニュアルに基づく対処案と問い合わせ文を生成する。</a:t>
            </a:r>
          </a:p>
          <a:p xmlns:a="http://schemas.openxmlformats.org/drawingml/2006/main">
            <a:r>
              <a:t>出力 解決策・サービスリクエスト文案。</a:t>
            </a:r>
          </a:p>
          <a:p xmlns:a="http://schemas.openxmlformats.org/drawingml/2006/main">
            <a:r>
              <a:t>人 顧客が対処を試し、未解決ならリクエストを送信する。機械の自動復旧ではない。</a:t>
            </a:r>
          </a:p>
          <a:p xmlns:a="http://schemas.openxmlformats.org/drawingml/2006/main">
            <a:r>
              <a:t>限界 GENIAC診断データを使うアラーム自動診断は今後の計画。現在機能と混同しない。</a:t>
            </a:r>
          </a:p>
          <a:p xmlns:a="http://schemas.openxmlformats.org/drawingml/2006/main">
            <a:r>
              <a:t>現地 機番別の回答根拠、曖昧な故障症状の問診、誤提案の検出、診断データとの今後の接続を確認。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FT07 DMG森精機 my DMG MORI サービスエージェント（2026/10/19）</a:t>
            </a:r>
          </a:p>
          <a:p xmlns:a="http://schemas.openxmlformats.org/drawingml/2006/main">
            <a:r>
              <a:t>https://www.dmgmori.co.jp/corporate/news/2026/20261019_serviceagent.html</a:t>
            </a:r>
          </a:p>
          <a:p xmlns:a="http://schemas.openxmlformats.org/drawingml/2006/main">
            <a:r>
              <a:t>掲載位置 提供開始／マニュアル検索／診断・問い合わせ生成／GENIACは今後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FT08 DMG森精機 JIMTOF2026出展（2026/10/16）</a:t>
            </a:r>
          </a:p>
          <a:p xmlns:a="http://schemas.openxmlformats.org/drawingml/2006/main">
            <a:r>
              <a:t>https://www.dmgmori.co.jp/corporate/news/2026/20261016_jimtof2026.html</a:t>
            </a:r>
          </a:p>
          <a:p xmlns:a="http://schemas.openxmlformats.org/drawingml/2006/main">
            <a:r>
              <a:t>掲載位置 東8 E8005：GX Flex／AMR／DX体験エリア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FT-Z01 ヤマザキマザック株式会社 MAZATROL DX／SOLID MAZATROL</a:t>
            </a:r>
          </a:p>
          <a:p xmlns:a="http://schemas.openxmlformats.org/drawingml/2006/main">
            <a:r>
              <a:t>小間 E1001</a:t>
            </a:r>
          </a:p>
          <a:p xmlns:a="http://schemas.openxmlformats.org/drawingml/2006/main">
            <a:r>
              <a:t>展示 展示未確認 企業公式製品資料。個別の搭載展示機・版は未確認。</a:t>
            </a:r>
          </a:p>
          <a:p xmlns:a="http://schemas.openxmlformats.org/drawingml/2006/main">
            <a:r>
              <a:t>入力 3D形状、工具ライブラリ、過去の加工プログラム、必要に応じ実加工データ。</a:t>
            </a:r>
          </a:p>
          <a:p xmlns:a="http://schemas.openxmlformats.org/drawingml/2006/main">
            <a:r>
              <a:t>方式 SOLID MAZATROLのパターン学習によるプログラミング。仮想加工で干渉を確認し、CUTTING ADVISERで条件を解析、SETUP GUIDEで準備を支援。</a:t>
            </a:r>
          </a:p>
          <a:p xmlns:a="http://schemas.openxmlformats.org/drawingml/2006/main">
            <a:r>
              <a:t>出力 MAZATROLプログラム、条件案、工具・治具等の段取り情報。</a:t>
            </a:r>
          </a:p>
          <a:p xmlns:a="http://schemas.openxmlformats.org/drawingml/2006/main">
            <a:r>
              <a:t>人 工具・機械の条件整備、結果確認、実際の段取り。全モジュールの自動実行範囲は要確認。</a:t>
            </a:r>
          </a:p>
          <a:p xmlns:a="http://schemas.openxmlformats.org/drawingml/2006/main">
            <a:r>
              <a:t>限界 共同開発する工程設計AIとは別製品。パターン学習と条件解析を同一AIとみなさない。</a:t>
            </a:r>
          </a:p>
          <a:p xmlns:a="http://schemas.openxmlformats.org/drawingml/2006/main">
            <a:r>
              <a:t>現地 誰のどの加工判断を学習するか、過去プログラムの必要量、材料・工具変更時の適用と人の修正を確認。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AR04 ヤマザキマザック 生産性向上 MAZATROL DX</a:t>
            </a:r>
          </a:p>
          <a:p xmlns:a="http://schemas.openxmlformats.org/drawingml/2006/main">
            <a:r>
              <a:t>https://www.mazak.com/jp-ja/technology/productivity/</a:t>
            </a:r>
          </a:p>
          <a:p xmlns:a="http://schemas.openxmlformats.org/drawingml/2006/main">
            <a:r>
              <a:t>掲載位置 SOLID MAZATROL／VIRTUAL MACHINING／CUTTING ADVISER／SETUP GUIDE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FT24 ヤマザキマザック JIMTOF2026 特設サイト</a:t>
            </a:r>
          </a:p>
          <a:p xmlns:a="http://schemas.openxmlformats.org/drawingml/2006/main">
            <a:r>
              <a:t>https://www.mazak.com/discover/jp-ja/jimtof2026/</a:t>
            </a:r>
          </a:p>
          <a:p xmlns:a="http://schemas.openxmlformats.org/drawingml/2006/main">
            <a:r>
              <a:t>掲載位置 出展機・AI活用紹介。個別製品の展示範囲は要確認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FC006 ファナック フィジカルAI CNC</a:t>
            </a:r>
          </a:p>
          <a:p xmlns:a="http://schemas.openxmlformats.org/drawingml/2006/main">
            <a:r>
              <a:t>小間 S2001</a:t>
            </a:r>
          </a:p>
          <a:p xmlns:a="http://schemas.openxmlformats.org/drawingml/2006/main">
            <a:r>
              <a:t>展示 展示予定を明記 公式JIMTOF特設ページにフィジカルAI CNCを明記。個別デモ範囲は現地確認。</a:t>
            </a:r>
          </a:p>
          <a:p xmlns:a="http://schemas.openxmlformats.org/drawingml/2006/main">
            <a:r>
              <a:t>入力 加工情報・設備状態・自然言語による指示。許可されたCNC／ツイン機能をMCPで呼び出す。</a:t>
            </a:r>
          </a:p>
          <a:p xmlns:a="http://schemas.openxmlformats.org/drawingml/2006/main">
            <a:r>
              <a:t>方式 生成AIをMCPでCNC・デジタルツインへ接続。改善案を仮想検証し、人の承認後に実機適用する。</a:t>
            </a:r>
          </a:p>
          <a:p xmlns:a="http://schemas.openxmlformats.org/drawingml/2006/main">
            <a:r>
              <a:t>出力 プログラム・条件・操作案、仮想検証結果。オペレータ承認後に実機適用。</a:t>
            </a:r>
          </a:p>
          <a:p xmlns:a="http://schemas.openxmlformats.org/drawingml/2006/main">
            <a:r>
              <a:t>人 目標・条件の指定、仮想検証の確認、実機適用の承認。失敗後の復帰・権限設計は要確認。</a:t>
            </a:r>
          </a:p>
          <a:p xmlns:a="http://schemas.openxmlformats.org/drawingml/2006/main">
            <a:r>
              <a:t>限界 製品名だけで完全自律加工と判断しない。「自動復旧」の説明も原因推定・対策提案まで。</a:t>
            </a:r>
          </a:p>
          <a:p xmlns:a="http://schemas.openxmlformats.org/drawingml/2006/main">
            <a:r>
              <a:t>現地 MCPで許可する読取り・書込み操作、仮想モデルの精度、検証不能時の停止、人承認の単位を確認。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AR06 ファナック JIMTOF2026 特設ページ</a:t>
            </a:r>
          </a:p>
          <a:p xmlns:a="http://schemas.openxmlformats.org/drawingml/2006/main">
            <a:r>
              <a:t>https://www.fanuc.co.jp/ja/JIMTOF2026/</a:t>
            </a:r>
          </a:p>
          <a:p xmlns:a="http://schemas.openxmlformats.org/drawingml/2006/main">
            <a:r>
              <a:t>掲載位置 FA／ROBOT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AR05 ファナック フィジカルAI CNC</a:t>
            </a:r>
          </a:p>
          <a:p xmlns:a="http://schemas.openxmlformats.org/drawingml/2006/main">
            <a:r>
              <a:t>https://www.fanuc.co.jp/ja/product/cnc/physical-ai-cnc/index.html</a:t>
            </a:r>
          </a:p>
          <a:p xmlns:a="http://schemas.openxmlformats.org/drawingml/2006/main">
            <a:r>
              <a:t>掲載位置 CONCEPT／MCP／デジタルツイン／実現すること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EOV-V002-2024-1 ファナック株式会社 JIMTOF2024公式カタログ：ファナック株式会社 (S2001)</a:t>
            </a:r>
          </a:p>
          <a:p xmlns:a="http://schemas.openxmlformats.org/drawingml/2006/main">
            <a:r>
              <a:t>https://www.jimtof.org/2024/search/jp/ESdetails?e=N0RgOmmcwZw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EOV-V002-2026-1 ファナック株式会社 JIMTOF2026公式カタログ：ファナック株式会社 (S2001)</a:t>
            </a:r>
          </a:p>
          <a:p xmlns:a="http://schemas.openxmlformats.org/drawingml/2006/main">
            <a:r>
              <a:t>https://www.jimtof.org/search/jp/ESdetails?e=q0OrZBKM3uQ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FT-O01 オークマ株式会社 OSP-AI 機械診断／加工診断</a:t>
            </a:r>
          </a:p>
          <a:p xmlns:a="http://schemas.openxmlformats.org/drawingml/2006/main">
            <a:r>
              <a:t>小間 E3028</a:t>
            </a:r>
          </a:p>
          <a:p xmlns:a="http://schemas.openxmlformats.org/drawingml/2006/main">
            <a:r>
              <a:t>展示 展示未確認 AIコーナーの予告と製品資料は確認。同版・同機能の実演を明記した資料は未確認。</a:t>
            </a:r>
          </a:p>
          <a:p xmlns:a="http://schemas.openxmlformats.org/drawingml/2006/main">
            <a:r>
              <a:t>入力 機械診断：診断運転中の制御データ。加工診断：主軸・送り軸等の加工中制御情報。</a:t>
            </a:r>
          </a:p>
          <a:p xmlns:a="http://schemas.openxmlformats.org/drawingml/2006/main">
            <a:r>
              <a:t>方式 機械診断は異常・異常箇所を推定。加工診断は異常レベルを評価し閾値超過で工具を退避。</a:t>
            </a:r>
          </a:p>
          <a:p xmlns:a="http://schemas.openxmlformats.org/drawingml/2006/main">
            <a:r>
              <a:t>出力 診断箇所の表示／加工異常時の工具退避。修理の自動化は確認できない。</a:t>
            </a:r>
          </a:p>
          <a:p xmlns:a="http://schemas.openxmlformats.org/drawingml/2006/main">
            <a:r>
              <a:t>人 機械診断の開始、診断結果に基づく整備、工具確認・再開。しきい値と適用機種の設定条件は要確認。</a:t>
            </a:r>
          </a:p>
          <a:p xmlns:a="http://schemas.openxmlformats.org/drawingml/2006/main">
            <a:r>
              <a:t>限界 一部特別仕様。今回の特設はAIコーナーを予告するが、同機能・版の個別実演は未確認。</a:t>
            </a:r>
          </a:p>
          <a:p xmlns:a="http://schemas.openxmlformats.org/drawingml/2006/main">
            <a:r>
              <a:t>現地 診断用運転と加工中監視の違い、ドリル以外の適用、退避指令・復帰条件、新版の追加能力を確認。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AR15 オークマ OSP-AI</a:t>
            </a:r>
          </a:p>
          <a:p xmlns:a="http://schemas.openxmlformats.org/drawingml/2006/main">
            <a:r>
              <a:t>https://www.okuma.co.jp/smart-factory/osp-suite/osp-ai.php</a:t>
            </a:r>
          </a:p>
          <a:p xmlns:a="http://schemas.openxmlformats.org/drawingml/2006/main">
            <a:r>
              <a:t>掲載位置 AI機械診断／AI加工診断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FT20 オークマ JIMTOF2026 特設サイト</a:t>
            </a:r>
          </a:p>
          <a:p xmlns:a="http://schemas.openxmlformats.org/drawingml/2006/main">
            <a:r>
              <a:t>https://www.okuma.co.jp/event/jimtof/2026/</a:t>
            </a:r>
          </a:p>
          <a:p xmlns:a="http://schemas.openxmlformats.org/drawingml/2006/main">
            <a:r>
              <a:t>掲載位置 AIコーナー／知能化コーナー／ARMROID等</a:t>
            </a:r>
          </a:p>
          <a:p xmlns:a="http://schemas.openxmlformats.org/drawingml/2006/main">
            <a:r>
              <a:t>確認 2026-10-22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AR01 コマツ｜JIMTOF2026に出展</a:t>
            </a:r>
          </a:p>
          <a:p xmlns:a="http://schemas.openxmlformats.org/drawingml/2006/main">
            <a:r>
              <a:t>発行 2026-10-22 確認 2026-10-23</a:t>
            </a:r>
          </a:p>
          <a:p xmlns:a="http://schemas.openxmlformats.org/drawingml/2006/main">
            <a:r>
              <a:t>https://www.komatsu.jp/ja/newsroom/2026/20261022_01</a:t>
            </a:r>
          </a:p>
          <a:p xmlns:a="http://schemas.openxmlformats.org/drawingml/2006/main">
            <a:r>
              <a:t>掲載位置 CX500／KOM-Scheduler／Gate Keeper／KOMTAS／KOM-MICS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画像による切りくず堆積検知、工具交換時期の予測、加工異常のしきい値設定を別機能として展示。Gate Keeperはコンセプト展示。</a:t>
            </a:r>
          </a:p>
          <a:p xmlns:a="http://schemas.openxmlformats.org/drawingml/2006/main">
            <a:r>
              <a:t>留保 切りくずの自動除去、全工場の自動再計画、KOMTASの機械学習方式は確認できない。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AR04 ヤマザキマザック｜生産性向上 MAZATROL DX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https://www.mazak.com/jp-ja/technology/productivity/</a:t>
            </a:r>
          </a:p>
          <a:p xmlns:a="http://schemas.openxmlformats.org/drawingml/2006/main">
            <a:r>
              <a:t>掲載位置 SOLID MAZATROL／VIRTUAL MACHINING／CUTTING ADVISER／SETUP GUIDE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形状モデル・工具情報・過去プログラムを活用する自動プログラミングと、仮想検証・条件解析・段取り支援を統合。</a:t>
            </a:r>
          </a:p>
          <a:p xmlns:a="http://schemas.openxmlformats.org/drawingml/2006/main">
            <a:r>
              <a:t>留保 各モジュールがすべてAIであるとは言えない。工程設計の共同開発AIと既存製品は別。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AR06 ファナック｜JIMTOF2026 特設ページ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https://www.fanuc.co.jp/ja/JIMTOF2026/</a:t>
            </a:r>
          </a:p>
          <a:p xmlns:a="http://schemas.openxmlformats.org/drawingml/2006/main">
            <a:r>
              <a:t>掲載位置 FA／ROBOT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フィジカルAI CNC、Smart Digital Twin、生成AIを用いたロボット駆動事例等を予告。</a:t>
            </a:r>
          </a:p>
          <a:p xmlns:a="http://schemas.openxmlformats.org/drawingml/2006/main">
            <a:r>
              <a:t>留保 溶接・VLA・キッティングの個別事例のJIMTOF展示を特定できない。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AR16 ModuleWorks｜See you at JIMTOF 2026</a:t>
            </a:r>
          </a:p>
          <a:p xmlns:a="http://schemas.openxmlformats.org/drawingml/2006/main">
            <a:r>
              <a:t>発行 2026-10-15 確認 2026-10-23</a:t>
            </a:r>
          </a:p>
          <a:p xmlns:a="http://schemas.openxmlformats.org/drawingml/2006/main">
            <a:r>
              <a:t>https://www.moduleworks.com/see-you-at-jimtof-2026/</a:t>
            </a:r>
          </a:p>
          <a:p xmlns:a="http://schemas.openxmlformats.org/drawingml/2006/main">
            <a:r>
              <a:t>掲載位置 SmartRoughing／FeedControl／NGSP／CAS／MDES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工具経路・切削負荷の最適化から機上シミュレーション、衝突防止、データ交換までを提示。</a:t>
            </a:r>
          </a:p>
          <a:p xmlns:a="http://schemas.openxmlformats.org/drawingml/2006/main">
            <a:r>
              <a:t>留保 FeedControlの物理量による送り最適化を機械学習AIと推定しない。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AR17 レニショー｜Renishaw Central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掲載位置 IPC／工作機械への補正／ダッシュボード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測定・加工状態を収集し、IPCで機械変数に補正を返す。分析・監視表示も提供。</a:t>
            </a:r>
          </a:p>
          <a:p xmlns:a="http://schemas.openxmlformats.org/drawingml/2006/main">
            <a:r>
              <a:t>留保 閉ループ制御の説明はあるが、学習AIを使う証拠にはならない。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AR19 Phoxter｜JIMTOF2026に出展</a:t>
            </a:r>
          </a:p>
          <a:p xmlns:a="http://schemas.openxmlformats.org/drawingml/2006/main">
            <a:r>
              <a:t>発行 2026-10-19 確認 2026-10-23</a:t>
            </a:r>
          </a:p>
          <a:p xmlns:a="http://schemas.openxmlformats.org/drawingml/2006/main">
            <a:r>
              <a:t>https://www.phoxter.co.jp/news/jimtof2026</a:t>
            </a:r>
          </a:p>
          <a:p xmlns:a="http://schemas.openxmlformats.org/drawingml/2006/main">
            <a:r>
              <a:t>掲載位置 良品学習／6軸ロボット連携／全方位AI外観検査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良品のみの学習と難検査ワーク、多視点のロボット検査を予告。</a:t>
            </a:r>
          </a:p>
          <a:p xmlns:a="http://schemas.openxmlformats.org/drawingml/2006/main">
            <a:r>
              <a:t>留保 AIが撮像姿勢を再計画するとは記載されていない。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AR22 ジェイテクト｜JIMTOF2026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https://toyoda.jtekt.co.jp/jimtof2026/</a:t>
            </a:r>
          </a:p>
          <a:p xmlns:a="http://schemas.openxmlformats.org/drawingml/2006/main">
            <a:r>
              <a:t>掲載位置 Mill-Plan／fine-teachless／mJM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工具・姿勢・条件を含む工程設計、仮想教示と実機誤差の補正、運用支援を提示。</a:t>
            </a:r>
          </a:p>
          <a:p xmlns:a="http://schemas.openxmlformats.org/drawingml/2006/main">
            <a:r>
              <a:t>留保 工程設計自動化と幾何補正の説明だけで機械学習AIとしない。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AR35 CloudNC｜CAM Assist for Mastercam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掲載位置 工具・材料・機械設定／加工方向／生成・確認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工具・保持・加工方向等を設定し、生成した工程・経路を人が調整してCAMに取り込む。</a:t>
            </a:r>
          </a:p>
          <a:p xmlns:a="http://schemas.openxmlformats.org/drawingml/2006/main">
            <a:r>
              <a:t>留保 NC出力後の実機運転まで自律化したとは扱わない。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FC004 DMG森精機 Condition Agent</a:t>
            </a:r>
          </a:p>
          <a:p xmlns:a="http://schemas.openxmlformats.org/drawingml/2006/main">
            <a:r>
              <a:t>小間 E8005</a:t>
            </a:r>
          </a:p>
          <a:p xmlns:a="http://schemas.openxmlformats.org/drawingml/2006/main">
            <a:r>
              <a:t>展示 展示予定を明記 10/16公式出展発表でCondition AgentをDX体験エリアの展示として明記。従来の「展示未確認」から更新。</a:t>
            </a:r>
          </a:p>
          <a:p xmlns:a="http://schemas.openxmlformats.org/drawingml/2006/main">
            <a:r>
              <a:t>入力 診断専用NC動作のデータ、設計・製造データ</a:t>
            </a:r>
          </a:p>
          <a:p xmlns:a="http://schemas.openxmlformats.org/drawingml/2006/main">
            <a:r>
              <a:t>方式 クラウドAIで異常兆候を分析</a:t>
            </a:r>
          </a:p>
          <a:p xmlns:a="http://schemas.openxmlformats.org/drawingml/2006/main">
            <a:r>
              <a:t>出力 コンポーネント状態の診断・通知</a:t>
            </a:r>
          </a:p>
          <a:p xmlns:a="http://schemas.openxmlformats.org/drawingml/2006/main">
            <a:r>
              <a:t>人 現場操作で診断開始。修理・部品交換まで自律実行する説明なし</a:t>
            </a:r>
          </a:p>
          <a:p xmlns:a="http://schemas.openxmlformats.org/drawingml/2006/main">
            <a:r>
              <a:t>限界 診断頻度、誤警報、後付け対象機、診断後の保全意思決定。名称だけで生成AIエージェントに分類しない。</a:t>
            </a:r>
          </a:p>
          <a:p xmlns:a="http://schemas.openxmlformats.org/drawingml/2006/main">
            <a:r>
              <a:t>現地 Condition Agentの対象品種・変更条件は何か。保全診断・知識支援で人が設定する内容、異常時の停止・復帰、他工程との接続仕様を確認する。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EOV-V001-2024-1 DMG森精機株式会社 JIMTOF2024公式カタログ：DMG森精機株式会社 (E8001)</a:t>
            </a:r>
          </a:p>
          <a:p xmlns:a="http://schemas.openxmlformats.org/drawingml/2006/main">
            <a:r>
              <a:t>https://www.jimtof.org/2024/search/jp/ESdetails?e=lOXEEpvlXpM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EOV-V001-2026-1 DMG森精機株式会社 JIMTOF2026公式カタログ：DMG森精機株式会社 (E8005)</a:t>
            </a:r>
          </a:p>
          <a:p xmlns:a="http://schemas.openxmlformats.org/drawingml/2006/main">
            <a:r>
              <a:t>https://www.jimtof.org/search/jp/ESdetails?e=zcqDj1lSkGs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EAT-N07 DMG森精機 Condition Agent 提供開始</a:t>
            </a:r>
          </a:p>
          <a:p xmlns:a="http://schemas.openxmlformats.org/drawingml/2006/main">
            <a:r>
              <a:t>https://www.dmgmori.co.jp/corporate/news/2026/20260706_conditionagent.html</a:t>
            </a:r>
          </a:p>
          <a:p xmlns:a="http://schemas.openxmlformats.org/drawingml/2006/main">
            <a:r>
              <a:t>掲載位置 2026/07/06本文・主な特長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FT08 DMG森精機 JIMTOF2026出展（2026/10/16）</a:t>
            </a:r>
          </a:p>
          <a:p xmlns:a="http://schemas.openxmlformats.org/drawingml/2006/main">
            <a:r>
              <a:t>https://www.dmgmori.co.jp/corporate/news/2026/20261016_jimtof2026.html</a:t>
            </a:r>
          </a:p>
          <a:p xmlns:a="http://schemas.openxmlformats.org/drawingml/2006/main">
            <a:r>
              <a:t>掲載位置 東8 E8005：GX Flex／AMR／DX体験エリア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FT-D01 ＤＭＧ森精機株式会社 my DMG MORI サービスエージェント</a:t>
            </a:r>
          </a:p>
          <a:p xmlns:a="http://schemas.openxmlformats.org/drawingml/2006/main">
            <a:r>
              <a:t>小間 E8005</a:t>
            </a:r>
          </a:p>
          <a:p xmlns:a="http://schemas.openxmlformats.org/drawingml/2006/main">
            <a:r>
              <a:t>展示 展示予定を明記 10/19公式発表でJIMTOFデモを明記。</a:t>
            </a:r>
          </a:p>
          <a:p xmlns:a="http://schemas.openxmlformats.org/drawingml/2006/main">
            <a:r>
              <a:t>入力 機番に応じた公開マニュアル、MRO知見を反映した問診、顧客の回答。</a:t>
            </a:r>
          </a:p>
          <a:p xmlns:a="http://schemas.openxmlformats.org/drawingml/2006/main">
            <a:r>
              <a:t>方式 選択式を中心とした対話で症状を整理し、マニュアルに基づく対処案と問い合わせ文を生成する。</a:t>
            </a:r>
          </a:p>
          <a:p xmlns:a="http://schemas.openxmlformats.org/drawingml/2006/main">
            <a:r>
              <a:t>出力 解決策・サービスリクエスト文案。</a:t>
            </a:r>
          </a:p>
          <a:p xmlns:a="http://schemas.openxmlformats.org/drawingml/2006/main">
            <a:r>
              <a:t>人 顧客が対処を試し、未解決ならリクエストを送信する。機械の自動復旧ではない。</a:t>
            </a:r>
          </a:p>
          <a:p xmlns:a="http://schemas.openxmlformats.org/drawingml/2006/main">
            <a:r>
              <a:t>限界 GENIAC診断データを使うアラーム自動診断は今後の計画。現在機能と混同しない。</a:t>
            </a:r>
          </a:p>
          <a:p xmlns:a="http://schemas.openxmlformats.org/drawingml/2006/main">
            <a:r>
              <a:t>現地 機番別の回答根拠、曖昧な故障症状の問診、誤提案の検出、診断データとの今後の接続を確認。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FT07 DMG森精機 my DMG MORI サービスエージェント（2026/10/19）</a:t>
            </a:r>
          </a:p>
          <a:p xmlns:a="http://schemas.openxmlformats.org/drawingml/2006/main">
            <a:r>
              <a:t>https://www.dmgmori.co.jp/corporate/news/2026/20261019_serviceagent.html</a:t>
            </a:r>
          </a:p>
          <a:p xmlns:a="http://schemas.openxmlformats.org/drawingml/2006/main">
            <a:r>
              <a:t>掲載位置 提供開始／マニュアル検索／診断・問い合わせ生成／GENIACは今後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FT08 DMG森精機 JIMTOF2026出展（2026/10/16）</a:t>
            </a:r>
          </a:p>
          <a:p xmlns:a="http://schemas.openxmlformats.org/drawingml/2006/main">
            <a:r>
              <a:t>https://www.dmgmori.co.jp/corporate/news/2026/20261016_jimtof2026.html</a:t>
            </a:r>
          </a:p>
          <a:p xmlns:a="http://schemas.openxmlformats.org/drawingml/2006/main">
            <a:r>
              <a:t>掲載位置 東8 E8005：GX Flex／AMR／DX体験エリア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FC049 TAKISAWA TR-20W：主軸の切粉除去</a:t>
            </a:r>
          </a:p>
          <a:p xmlns:a="http://schemas.openxmlformats.org/drawingml/2006/main">
            <a:r>
              <a:t>小間 E3013</a:t>
            </a:r>
          </a:p>
          <a:p xmlns:a="http://schemas.openxmlformats.org/drawingml/2006/main">
            <a:r>
              <a:t>展示 参考出展予定 公式特設でTR20Wによる切粉の認識・判断・除去を参考出品と明記。</a:t>
            </a:r>
          </a:p>
          <a:p xmlns:a="http://schemas.openxmlformats.org/drawingml/2006/main">
            <a:r>
              <a:t>入力 主軸に絡まった切粉の状況。センサ種・学習データは非開示</a:t>
            </a:r>
          </a:p>
          <a:p xmlns:a="http://schemas.openxmlformats.org/drawingml/2006/main">
            <a:r>
              <a:t>方式 切粉の絡まり状況を認識・判断するとメーカーが説明</a:t>
            </a:r>
          </a:p>
          <a:p xmlns:a="http://schemas.openxmlformats.org/drawingml/2006/main">
            <a:r>
              <a:t>出力 台車型TR-20Wのロボットが主軸の切粉を除去する予定</a:t>
            </a:r>
          </a:p>
          <a:p xmlns:a="http://schemas.openxmlformats.org/drawingml/2006/main">
            <a:r>
              <a:t>人 未記載：対象切粉・機械配置・除去具の設定手順／未記載：動作前の承認、機械インターロックと許可範囲／未記載：除去失敗の検出・再試行・停止後の人への引継ぎ</a:t>
            </a:r>
          </a:p>
          <a:p xmlns:a="http://schemas.openxmlformats.org/drawingml/2006/main">
            <a:r>
              <a:t>限界 未知の絡まり、除去力・接触回避・完了確認・成功率は未確認。市販済みと扱わない</a:t>
            </a:r>
          </a:p>
          <a:p xmlns:a="http://schemas.openxmlformats.org/drawingml/2006/main">
            <a:r>
              <a:t>現地 未知の絡まり・絡まり方の変化への対応、認識センサ・学習法、接触力・除去完了判定、失敗後の再試行を確認。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EOV-V030-2024-1 株式会社TAKISAWA JIMTOF2024公式カタログ：株式会社TAKISAWA (E3013)</a:t>
            </a:r>
          </a:p>
          <a:p xmlns:a="http://schemas.openxmlformats.org/drawingml/2006/main">
            <a:r>
              <a:t>https://www.jimtof.org/2024/search/jp/ESdetails?e=K00DRD-BngA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EOV-V030-2026-1 株式会社TAKISAWA JIMTOF2026公式カタログ：株式会社TAKISAWA (E3013)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EAT-N01 ニデック JIMTOF2026 TR-20W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掲載位置 TR-20W：フィジカルAI搭載のロボットシステム（参考出品）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EAT-N02 ニデック MGC300開発発表</a:t>
            </a:r>
          </a:p>
          <a:p xmlns:a="http://schemas.openxmlformats.org/drawingml/2006/main">
            <a:r>
              <a:t>https://www.nidec.com/jp/product/news/2024/news1101-03/</a:t>
            </a:r>
          </a:p>
          <a:p xmlns:a="http://schemas.openxmlformats.org/drawingml/2006/main">
            <a:r>
              <a:t>掲載位置 2024年11月1日／MGC300の出展説明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ERF-13 ニデック／TAKISAWA JIMTOF2026：TR-20W参考出品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掲載位置 TAKISAWA／TR-20W、主軸の切粉認識・判断・除去、参考出品</a:t>
            </a:r>
          </a:p>
          <a:p xmlns:a="http://schemas.openxmlformats.org/drawingml/2006/main">
            <a:r>
              <a:t>確認 2026-10-18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FT-O01 オークマ株式会社 OSP-AI 機械診断／加工診断</a:t>
            </a:r>
          </a:p>
          <a:p xmlns:a="http://schemas.openxmlformats.org/drawingml/2006/main">
            <a:r>
              <a:t>小間 E3028</a:t>
            </a:r>
          </a:p>
          <a:p xmlns:a="http://schemas.openxmlformats.org/drawingml/2006/main">
            <a:r>
              <a:t>展示 展示未確認 AIコーナーの予告と製品資料は確認。同版・同機能の実演を明記した資料は未確認。</a:t>
            </a:r>
          </a:p>
          <a:p xmlns:a="http://schemas.openxmlformats.org/drawingml/2006/main">
            <a:r>
              <a:t>入力 機械診断：診断運転中の制御データ。加工診断：主軸・送り軸等の加工中制御情報。</a:t>
            </a:r>
          </a:p>
          <a:p xmlns:a="http://schemas.openxmlformats.org/drawingml/2006/main">
            <a:r>
              <a:t>方式 機械診断は異常・異常箇所を推定。加工診断は異常レベルを評価し閾値超過で工具を退避。</a:t>
            </a:r>
          </a:p>
          <a:p xmlns:a="http://schemas.openxmlformats.org/drawingml/2006/main">
            <a:r>
              <a:t>出力 診断箇所の表示／加工異常時の工具退避。修理の自動化は確認できない。</a:t>
            </a:r>
          </a:p>
          <a:p xmlns:a="http://schemas.openxmlformats.org/drawingml/2006/main">
            <a:r>
              <a:t>人 機械診断の開始、診断結果に基づく整備、工具確認・再開。しきい値と適用機種の設定条件は要確認。</a:t>
            </a:r>
          </a:p>
          <a:p xmlns:a="http://schemas.openxmlformats.org/drawingml/2006/main">
            <a:r>
              <a:t>限界 一部特別仕様。今回の特設はAIコーナーを予告するが、同機能・版の個別実演は未確認。</a:t>
            </a:r>
          </a:p>
          <a:p xmlns:a="http://schemas.openxmlformats.org/drawingml/2006/main">
            <a:r>
              <a:t>現地 診断用運転と加工中監視の違い、ドリル以外の適用、退避指令・復帰条件、新版の追加能力を確認。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AR15 オークマ OSP-AI</a:t>
            </a:r>
          </a:p>
          <a:p xmlns:a="http://schemas.openxmlformats.org/drawingml/2006/main">
            <a:r>
              <a:t>https://www.okuma.co.jp/smart-factory/osp-suite/osp-ai.php</a:t>
            </a:r>
          </a:p>
          <a:p xmlns:a="http://schemas.openxmlformats.org/drawingml/2006/main">
            <a:r>
              <a:t>掲載位置 AI機械診断／AI加工診断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FT20 オークマ JIMTOF2026 特設サイト</a:t>
            </a:r>
          </a:p>
          <a:p xmlns:a="http://schemas.openxmlformats.org/drawingml/2006/main">
            <a:r>
              <a:t>https://www.okuma.co.jp/event/jimtof/2026/</a:t>
            </a:r>
          </a:p>
          <a:p xmlns:a="http://schemas.openxmlformats.org/drawingml/2006/main">
            <a:r>
              <a:t>掲載位置 AIコーナー／知能化コーナー／ARMROID等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FC006 ファナック フィジカルAI CNC</a:t>
            </a:r>
          </a:p>
          <a:p xmlns:a="http://schemas.openxmlformats.org/drawingml/2006/main">
            <a:r>
              <a:t>小間 S2001</a:t>
            </a:r>
          </a:p>
          <a:p xmlns:a="http://schemas.openxmlformats.org/drawingml/2006/main">
            <a:r>
              <a:t>展示 展示予定を明記 公式JIMTOF特設ページにフィジカルAI CNCを明記。個別デモ範囲は現地確認。</a:t>
            </a:r>
          </a:p>
          <a:p xmlns:a="http://schemas.openxmlformats.org/drawingml/2006/main">
            <a:r>
              <a:t>入力 加工情報・設備状態・自然言語による指示。許可されたCNC／ツイン機能をMCPで呼び出す。</a:t>
            </a:r>
          </a:p>
          <a:p xmlns:a="http://schemas.openxmlformats.org/drawingml/2006/main">
            <a:r>
              <a:t>方式 生成AIをMCPでCNC・デジタルツインへ接続。改善案を仮想検証し、人の承認後に実機適用する。</a:t>
            </a:r>
          </a:p>
          <a:p xmlns:a="http://schemas.openxmlformats.org/drawingml/2006/main">
            <a:r>
              <a:t>出力 プログラム・条件・操作案、仮想検証結果。オペレータ承認後に実機適用。</a:t>
            </a:r>
          </a:p>
          <a:p xmlns:a="http://schemas.openxmlformats.org/drawingml/2006/main">
            <a:r>
              <a:t>人 目標・条件の指定、仮想検証の確認、実機適用の承認。失敗後の復帰・権限設計は要確認。</a:t>
            </a:r>
          </a:p>
          <a:p xmlns:a="http://schemas.openxmlformats.org/drawingml/2006/main">
            <a:r>
              <a:t>限界 製品名だけで完全自律加工と判断しない。「自動復旧」の説明も原因推定・対策提案まで。</a:t>
            </a:r>
          </a:p>
          <a:p xmlns:a="http://schemas.openxmlformats.org/drawingml/2006/main">
            <a:r>
              <a:t>現地 MCPで許可する読取り・書込み操作、仮想モデルの精度、検証不能時の停止、人承認の単位を確認。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AR06 ファナック JIMTOF2026 特設ページ</a:t>
            </a:r>
          </a:p>
          <a:p xmlns:a="http://schemas.openxmlformats.org/drawingml/2006/main">
            <a:r>
              <a:t>https://www.fanuc.co.jp/ja/JIMTOF2026/</a:t>
            </a:r>
          </a:p>
          <a:p xmlns:a="http://schemas.openxmlformats.org/drawingml/2006/main">
            <a:r>
              <a:t>掲載位置 FA／ROBOT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AR05 ファナック フィジカルAI CNC</a:t>
            </a:r>
          </a:p>
          <a:p xmlns:a="http://schemas.openxmlformats.org/drawingml/2006/main">
            <a:r>
              <a:t>https://www.fanuc.co.jp/ja/product/cnc/physical-ai-cnc/index.html</a:t>
            </a:r>
          </a:p>
          <a:p xmlns:a="http://schemas.openxmlformats.org/drawingml/2006/main">
            <a:r>
              <a:t>掲載位置 CONCEPT／MCP／デジタルツイン／実現すること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EOV-V002-2024-1 ファナック株式会社 JIMTOF2024公式カタログ：ファナック株式会社 (S2001)</a:t>
            </a:r>
          </a:p>
          <a:p xmlns:a="http://schemas.openxmlformats.org/drawingml/2006/main">
            <a:r>
              <a:t>https://www.jimtof.org/2024/search/jp/ESdetails?e=N0RgOmmcwZw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EOV-V002-2026-1 ファナック株式会社 JIMTOF2026公式カタログ：ファナック株式会社 (S2001)</a:t>
            </a:r>
          </a:p>
          <a:p xmlns:a="http://schemas.openxmlformats.org/drawingml/2006/main">
            <a:r>
              <a:t>https://www.jimtof.org/search/jp/ESdetails?e=q0OrZBKM3uQ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AR-C01 コマツNTC株式会社 KOM-MICS AI予知保全（切りくず検知）</a:t>
            </a:r>
          </a:p>
          <a:p xmlns:a="http://schemas.openxmlformats.org/drawingml/2006/main">
            <a:r>
              <a:t>小間 E1058</a:t>
            </a:r>
          </a:p>
          <a:p xmlns:a="http://schemas.openxmlformats.org/drawingml/2006/main">
            <a:r>
              <a:t>展示 展示予定を明記 コマツの2026年10月22日付告知で個別機能を明記。</a:t>
            </a:r>
          </a:p>
          <a:p xmlns:a="http://schemas.openxmlformats.org/drawingml/2006/main">
            <a:r>
              <a:t>入力 機内カメラ画像。</a:t>
            </a:r>
          </a:p>
          <a:p xmlns:a="http://schemas.openxmlformats.org/drawingml/2006/main">
            <a:r>
              <a:t>方式 AIが切りくずの堆積増加・異常を画像で検知する。</a:t>
            </a:r>
          </a:p>
          <a:p xmlns:a="http://schemas.openxmlformats.org/drawingml/2006/main">
            <a:r>
              <a:t>出力 洗浄を促す通知。</a:t>
            </a:r>
          </a:p>
          <a:p xmlns:a="http://schemas.openxmlformats.org/drawingml/2006/main">
            <a:r>
              <a:t>人 通知を受けて洗浄・処置する。撮像・学習・閾値設定は現地確認。</a:t>
            </a:r>
          </a:p>
          <a:p xmlns:a="http://schemas.openxmlformats.org/drawingml/2006/main">
            <a:r>
              <a:t>限界 AIが洗浄・除去動作を実行する記載はない。</a:t>
            </a:r>
          </a:p>
          <a:p xmlns:a="http://schemas.openxmlformats.org/drawingml/2006/main">
            <a:r>
              <a:t>現地 切りくず材質・照明変化への頑健性、誤報・見逃し、通知後の対応時間と洗浄との接続。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AR01 コマツ JIMTOF2026に出展</a:t>
            </a:r>
          </a:p>
          <a:p xmlns:a="http://schemas.openxmlformats.org/drawingml/2006/main">
            <a:r>
              <a:t>https://www.komatsu.jp/ja/newsroom/2026/20261022_01</a:t>
            </a:r>
          </a:p>
          <a:p xmlns:a="http://schemas.openxmlformats.org/drawingml/2006/main">
            <a:r>
              <a:t>掲載位置 CX500／KOM-Scheduler／Gate Keeper／KOMTAS／KOM-MICS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AR-C03 コマツNTC株式会社 KOM-Scheduler</a:t>
            </a:r>
          </a:p>
          <a:p xmlns:a="http://schemas.openxmlformats.org/drawingml/2006/main">
            <a:r>
              <a:t>小間 E1058</a:t>
            </a:r>
          </a:p>
          <a:p xmlns:a="http://schemas.openxmlformats.org/drawingml/2006/main">
            <a:r>
              <a:t>展示 展示予定を明記 コマツの2026年10月22日付告知で個別機能を明記。</a:t>
            </a:r>
          </a:p>
          <a:p xmlns:a="http://schemas.openxmlformats.org/drawingml/2006/main">
            <a:r>
              <a:t>入力 加工予定・工具の使用状況等。入力仕様は要確認。</a:t>
            </a:r>
          </a:p>
          <a:p xmlns:a="http://schemas.openxmlformats.org/drawingml/2006/main">
            <a:r>
              <a:t>方式 生産スケジュールを表示し、工具不足と交換時期を予測する。</a:t>
            </a:r>
          </a:p>
          <a:p xmlns:a="http://schemas.openxmlformats.org/drawingml/2006/main">
            <a:r>
              <a:t>出力 スケジュールと工具交換タイミングの提示。</a:t>
            </a:r>
          </a:p>
          <a:p xmlns:a="http://schemas.openxmlformats.org/drawingml/2006/main">
            <a:r>
              <a:t>人 計画の入力・調整、工具補給・交換の実施。</a:t>
            </a:r>
          </a:p>
          <a:p xmlns:a="http://schemas.openxmlformats.org/drawingml/2006/main">
            <a:r>
              <a:t>限界 自動再計画、最適化目的関数、機械学習採用は未確認。</a:t>
            </a:r>
          </a:p>
          <a:p xmlns:a="http://schemas.openxmlformats.org/drawingml/2006/main">
            <a:r>
              <a:t>現地 工具寿命の実測値と計画が接続するか。突発停止・急な割込み時に再計画するか。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AR01 コマツ JIMTOF2026に出展</a:t>
            </a:r>
          </a:p>
          <a:p xmlns:a="http://schemas.openxmlformats.org/drawingml/2006/main">
            <a:r>
              <a:t>https://www.komatsu.jp/ja/newsroom/2026/20261022_01</a:t>
            </a:r>
          </a:p>
          <a:p xmlns:a="http://schemas.openxmlformats.org/drawingml/2006/main">
            <a:r>
              <a:t>掲載位置 CX500／KOM-Scheduler／Gate Keeper／KOMTAS／KOM-MICS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AC209 牧野フライス精機株式会社 SG10EX＋monocam2</a:t>
            </a:r>
          </a:p>
          <a:p xmlns:a="http://schemas.openxmlformats.org/drawingml/2006/main">
            <a:r>
              <a:t>小間 E7090</a:t>
            </a:r>
          </a:p>
          <a:p xmlns:a="http://schemas.openxmlformats.org/drawingml/2006/main">
            <a:r>
              <a:t>展示 展示予定を明記 SG10EX＋monocam2の画像認識測定・自動補正を公式に実演予告。</a:t>
            </a:r>
          </a:p>
          <a:p xmlns:a="http://schemas.openxmlformats.org/drawingml/2006/main">
            <a:r>
              <a:t>入力 内蔵ビジョンで取得するエンドミル側面形状。</a:t>
            </a:r>
          </a:p>
          <a:p xmlns:a="http://schemas.openxmlformats.org/drawingml/2006/main">
            <a:r>
              <a:t>方式 monocam2で工具を機内測定し、研削へ自動補正を返す。</a:t>
            </a:r>
          </a:p>
          <a:p xmlns:a="http://schemas.openxmlformats.org/drawingml/2006/main">
            <a:r>
              <a:t>出力 工具形状の測定値と研削補正。</a:t>
            </a:r>
          </a:p>
          <a:p xmlns:a="http://schemas.openxmlformats.org/drawingml/2006/main">
            <a:r>
              <a:t>人 測定基準・補正限界・再測定の設定は要確認。</a:t>
            </a:r>
          </a:p>
          <a:p xmlns:a="http://schemas.openxmlformats.org/drawingml/2006/main">
            <a:r>
              <a:t>限界 個別モデル・設定条件・適用限界・人の残作業を未確認として残す。</a:t>
            </a:r>
          </a:p>
          <a:p xmlns:a="http://schemas.openxmlformats.org/drawingml/2006/main">
            <a:r>
              <a:t>現地 SG10EX＋monocam2の対象品種・変更条件は何か。工程設計・プログラム生成で人が設定する内容、異常時の停止・復帰、他工程との接続仕様を確認する。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AR36 牧野フライス精機 JIMTOF2026</a:t>
            </a:r>
          </a:p>
          <a:p xmlns:a="http://schemas.openxmlformats.org/drawingml/2006/main">
            <a:r>
              <a:t>https://www.makinoseiki.co.jp/exhibition/jimtof2026.html</a:t>
            </a:r>
          </a:p>
          <a:p xmlns:a="http://schemas.openxmlformats.org/drawingml/2006/main">
            <a:r>
              <a:t>掲載位置 SG10EX／monocam2／AGE30FX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EEX-EXH-2026-41a8f9ad241e4c0e 牧野フライス精機株式会社 JIMTOF2026公式出展説明：牧野フライス精機株式会社 (E7090)</a:t>
            </a:r>
          </a:p>
          <a:p xmlns:a="http://schemas.openxmlformats.org/drawingml/2006/main">
            <a:r>
              <a:t>https://www.jimtof.org/search/jp/ESdetails?e=jlC7OSSk2O4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EEX-EXH-2024-8678f2b8e7d82522 牧野フライス精機株式会社 JIMTOF2024公式出展説明：牧野フライス精機株式会社 (E1049)</a:t>
            </a:r>
          </a:p>
          <a:p xmlns:a="http://schemas.openxmlformats.org/drawingml/2006/main">
            <a:r>
              <a:t>https://www.jimtof.org/2024/search/jp/ESdetails?e=uvTY1qMfjes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FT-P01 株式会社Phoxter StellaDeepVision Studio／StellaController2.0</a:t>
            </a:r>
          </a:p>
          <a:p xmlns:a="http://schemas.openxmlformats.org/drawingml/2006/main">
            <a:r>
              <a:t>小間 S4028</a:t>
            </a:r>
          </a:p>
          <a:p xmlns:a="http://schemas.openxmlformats.org/drawingml/2006/main">
            <a:r>
              <a:t>展示 展示予定を明記 10/19公式出展記事、S4028。</a:t>
            </a:r>
          </a:p>
          <a:p xmlns:a="http://schemas.openxmlformats.org/drawingml/2006/main">
            <a:r>
              <a:t>入力 良品画像、鋳造部品・オイルシール等の検査画像。</a:t>
            </a:r>
          </a:p>
          <a:p xmlns:a="http://schemas.openxmlformats.org/drawingml/2006/main">
            <a:r>
              <a:t>方式 新しい数理モデルによる良品学習とルール検査を併用。6軸ロボット連携の多面検査を実演予定。</a:t>
            </a:r>
          </a:p>
          <a:p xmlns:a="http://schemas.openxmlformats.org/drawingml/2006/main">
            <a:r>
              <a:t>出力 欠陥判定・多方向からの検査。</a:t>
            </a:r>
          </a:p>
          <a:p xmlns:a="http://schemas.openxmlformats.org/drawingml/2006/main">
            <a:r>
              <a:t>人 良品画像の準備、判定閾値と撮像・ロボット条件の設定。再撮像の判断を誰が行うか要確認。</a:t>
            </a:r>
          </a:p>
          <a:p xmlns:a="http://schemas.openxmlformats.org/drawingml/2006/main">
            <a:r>
              <a:t>限界 AI判定でロボットの視点・動作を変更するかは不明。固定撮像＋AI検査だけでは先端フィジカルAIと認定しない。</a:t>
            </a:r>
          </a:p>
          <a:p xmlns:a="http://schemas.openxmlformats.org/drawingml/2006/main">
            <a:r>
              <a:t>現地 必要画像のばらつき、不良流出・過検出、既存方式との差、検査NG時の再撮像・搬送変更を確認。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AR19 Phoxter JIMTOF2026に出展</a:t>
            </a:r>
          </a:p>
          <a:p xmlns:a="http://schemas.openxmlformats.org/drawingml/2006/main">
            <a:r>
              <a:t>https://www.phoxter.co.jp/news/jimtof2026</a:t>
            </a:r>
          </a:p>
          <a:p xmlns:a="http://schemas.openxmlformats.org/drawingml/2006/main">
            <a:r>
              <a:t>掲載位置 良品学習／6軸ロボット連携／全方位AI外観検査</a:t>
            </a:r>
          </a:p>
          <a:p xmlns:a="http://schemas.openxmlformats.org/drawingml/2006/main">
            <a:r>
              <a:t>確認 2026-10-23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詳細はresearch.json・evidence_review.json・change_log.json。全候補HTMLとExcelを一次参照先とする。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タグ別件数は重複し、呼称・基盤・構成要素を含む。実装数や採用率ではない。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AR05 ファナック｜フィジカルAI CNC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https://www.fanuc.co.jp/ja/product/cnc/physical-ai-cnc/index.html</a:t>
            </a:r>
          </a:p>
          <a:p xmlns:a="http://schemas.openxmlformats.org/drawingml/2006/main">
            <a:r>
              <a:t>掲載位置 CONCEPT／MCP／デジタルツイン／実現すること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その結果をオペレータが確認・承認した上で実機へ適用できます。</a:t>
            </a:r>
          </a:p>
          <a:p xmlns:a="http://schemas.openxmlformats.org/drawingml/2006/main">
            <a:r>
              <a:t>文脈要約 生成AIの解析・提案を仮想環境で検証し、人が承認して実機へ適用する。プログラム・設定・アラーム対応を支援。</a:t>
            </a:r>
          </a:p>
          <a:p xmlns:a="http://schemas.openxmlformats.org/drawingml/2006/main">
            <a:r>
              <a:t>留保 完全無人加工や無承認の自動復旧を証明しない。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AR07 ファナック｜AI溶接エージェント</a:t>
            </a:r>
          </a:p>
          <a:p xmlns:a="http://schemas.openxmlformats.org/drawingml/2006/main">
            <a:r>
              <a:t>発行 2026-09-11 確認 2026-10-23</a:t>
            </a:r>
          </a:p>
          <a:p xmlns:a="http://schemas.openxmlformats.org/drawingml/2006/main">
            <a:r>
              <a:t>https://www.fanuc.co.jp/ja/profile/pr/newsrelease/2026/news20260911.html</a:t>
            </a:r>
          </a:p>
          <a:p xmlns:a="http://schemas.openxmlformats.org/drawingml/2006/main">
            <a:r>
              <a:t>掲載位置 図面読取／条件・動作生成／展示と販売予定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図面を撮影して生成AIが溶接条件とロボット動作を生成。ユーザーは確認・変更し実行する。国際ウエルディングショーで展示を予告、12月末販売予定。</a:t>
            </a:r>
          </a:p>
          <a:p xmlns:a="http://schemas.openxmlformats.org/drawingml/2006/main">
            <a:r>
              <a:t>留保 JIMTOF展示の証拠ではない。多品種の成功率や溶接品質保証の範囲は未確認。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AR09 ファナック｜模倣学習AIロボット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https://www.fanuc.co.jp/ja/product/robot/academia/case_study/imitation-learning-ai-robot.html</a:t>
            </a:r>
          </a:p>
          <a:p xmlns:a="http://schemas.openxmlformats.org/drawingml/2006/main">
            <a:r>
              <a:t>掲載位置 リーダー・フォロワー／VLA／Tシャツ折り畳み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教示中の画像と動作、言語ラベルで学習し、視覚・言語から動作を推論する。</a:t>
            </a:r>
          </a:p>
          <a:p xmlns:a="http://schemas.openxmlformats.org/drawingml/2006/main">
            <a:r>
              <a:t>留保 方式の新しさと、未学習の布・失敗からの復帰・現場稼働率は別。JIMTOF展示未確認。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AR15 オークマ｜OSP-AI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https://www.okuma.co.jp/smart-factory/osp-suite/osp-ai.php</a:t>
            </a:r>
          </a:p>
          <a:p xmlns:a="http://schemas.openxmlformats.org/drawingml/2006/main">
            <a:r>
              <a:t>掲載位置 AI機械診断／AI加工診断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機械診断は診断運転から異常箇所を提示。加工診断は制御情報の異常レベルに応じ工具を自動退避する。</a:t>
            </a:r>
          </a:p>
          <a:p xmlns:a="http://schemas.openxmlformats.org/drawingml/2006/main">
            <a:r>
              <a:t>留保 診断後の修理・復帰の自律化や、あらゆる工具・加工への適用は未確認。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AR20 NdotLight｜TRINIX / Physical AI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https://ndotlight.com/</a:t>
            </a:r>
          </a:p>
          <a:p xmlns:a="http://schemas.openxmlformats.org/drawingml/2006/main">
            <a:r>
              <a:t>掲載位置 SimReady／物理属性・ジョイント／USD・URDF・MJCF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CADや3Dデータを学習・シミュレーション環境に適した形式へ変換する支援。</a:t>
            </a:r>
          </a:p>
          <a:p xmlns:a="http://schemas.openxmlformats.org/drawingml/2006/main">
            <a:r>
              <a:t>留保 推定した物性値が実測同定済みとは限らない。物理AIの動作本体と区別する。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AR23 サイバーRC／JIMTOF｜GH5 出展説明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https://www.jimtof.org/search/jp/ESdetails?e=8ealehgmk8o</a:t>
            </a:r>
          </a:p>
          <a:p xmlns:a="http://schemas.openxmlformats.org/drawingml/2006/main">
            <a:r>
              <a:t>掲載位置 主な出展物／3D画像とAI補正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カメラで工具形状を認識し、設定された幅・角度へ加工を補正するホーニングを訴求。</a:t>
            </a:r>
          </a:p>
          <a:p xmlns:a="http://schemas.openxmlformats.org/drawingml/2006/main">
            <a:r>
              <a:t>留保 AIモデルの種類、精度と再試行条件は未公開。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AR27 シマダマシンツール／JIMTOF｜HS4200 出展説明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https://www.jimtof.org/search/jp/ESdetails?e=xntdeqgs_F4</a:t>
            </a:r>
          </a:p>
          <a:p xmlns:a="http://schemas.openxmlformats.org/drawingml/2006/main">
            <a:r>
              <a:t>掲載位置 主な出展物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フィジカルAIを用いた自動段取り替えを掲載。</a:t>
            </a:r>
          </a:p>
          <a:p xmlns:a="http://schemas.openxmlformats.org/drawingml/2006/main">
            <a:r>
              <a:t>留保 名称だけでは生成AI・VLA・再試行などの能力を特定できない。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FC006 ファナック フィジカルAI CNC</a:t>
            </a:r>
          </a:p>
          <a:p xmlns:a="http://schemas.openxmlformats.org/drawingml/2006/main">
            <a:r>
              <a:t>小間 S2001</a:t>
            </a:r>
          </a:p>
          <a:p xmlns:a="http://schemas.openxmlformats.org/drawingml/2006/main">
            <a:r>
              <a:t>展示 展示予定を明記 公式JIMTOF特設ページにフィジカルAI CNCを明記。個別デモ範囲は現地確認。</a:t>
            </a:r>
          </a:p>
          <a:p xmlns:a="http://schemas.openxmlformats.org/drawingml/2006/main">
            <a:r>
              <a:t>入力 加工情報・設備状態・自然言語による指示。許可されたCNC／ツイン機能をMCPで呼び出す。</a:t>
            </a:r>
          </a:p>
          <a:p xmlns:a="http://schemas.openxmlformats.org/drawingml/2006/main">
            <a:r>
              <a:t>方式 生成AIをMCPでCNC・デジタルツインへ接続。改善案を仮想検証し、人の承認後に実機適用する。</a:t>
            </a:r>
          </a:p>
          <a:p xmlns:a="http://schemas.openxmlformats.org/drawingml/2006/main">
            <a:r>
              <a:t>出力 プログラム・条件・操作案、仮想検証結果。オペレータ承認後に実機適用。</a:t>
            </a:r>
          </a:p>
          <a:p xmlns:a="http://schemas.openxmlformats.org/drawingml/2006/main">
            <a:r>
              <a:t>人 目標・条件の指定、仮想検証の確認、実機適用の承認。失敗後の復帰・権限設計は要確認。</a:t>
            </a:r>
          </a:p>
          <a:p xmlns:a="http://schemas.openxmlformats.org/drawingml/2006/main">
            <a:r>
              <a:t>限界 製品名だけで完全自律加工と判断しない。「自動復旧」の説明も原因推定・対策提案まで。</a:t>
            </a:r>
          </a:p>
          <a:p xmlns:a="http://schemas.openxmlformats.org/drawingml/2006/main">
            <a:r>
              <a:t>現地 MCPで許可する読取り・書込み操作、仮想モデルの精度、検証不能時の停止、人承認の単位を確認。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AR06 ファナック JIMTOF2026 特設ページ</a:t>
            </a:r>
          </a:p>
          <a:p xmlns:a="http://schemas.openxmlformats.org/drawingml/2006/main">
            <a:r>
              <a:t>https://www.fanuc.co.jp/ja/JIMTOF2026/</a:t>
            </a:r>
          </a:p>
          <a:p xmlns:a="http://schemas.openxmlformats.org/drawingml/2006/main">
            <a:r>
              <a:t>掲載位置 FA／ROBOT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AR05 ファナック フィジカルAI CNC</a:t>
            </a:r>
          </a:p>
          <a:p xmlns:a="http://schemas.openxmlformats.org/drawingml/2006/main">
            <a:r>
              <a:t>https://www.fanuc.co.jp/ja/product/cnc/physical-ai-cnc/index.html</a:t>
            </a:r>
          </a:p>
          <a:p xmlns:a="http://schemas.openxmlformats.org/drawingml/2006/main">
            <a:r>
              <a:t>掲載位置 CONCEPT／MCP／デジタルツイン／実現すること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EOV-V002-2024-1 ファナック株式会社 JIMTOF2024公式カタログ：ファナック株式会社 (S2001)</a:t>
            </a:r>
          </a:p>
          <a:p xmlns:a="http://schemas.openxmlformats.org/drawingml/2006/main">
            <a:r>
              <a:t>https://www.jimtof.org/2024/search/jp/ESdetails?e=N0RgOmmcwZw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EOV-V002-2026-1 ファナック株式会社 JIMTOF2026公式カタログ：ファナック株式会社 (S2001)</a:t>
            </a:r>
          </a:p>
          <a:p xmlns:a="http://schemas.openxmlformats.org/drawingml/2006/main">
            <a:r>
              <a:t>https://www.jimtof.org/search/jp/ESdetails?e=q0OrZBKM3uQ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FT-F01 ファナック株式会社 AI溶接エージェント</a:t>
            </a:r>
          </a:p>
          <a:p xmlns:a="http://schemas.openxmlformats.org/drawingml/2006/main">
            <a:r>
              <a:t>小間 S2001</a:t>
            </a:r>
          </a:p>
          <a:p xmlns:a="http://schemas.openxmlformats.org/drawingml/2006/main">
            <a:r>
              <a:t>展示 展示未確認 会社のJIMTOF出展は確認。特定の事例・デモが今回展示される明記は未確認。</a:t>
            </a:r>
          </a:p>
          <a:p xmlns:a="http://schemas.openxmlformats.org/drawingml/2006/main">
            <a:r>
              <a:t>入力 CRXタブレットTPのカメラで撮影した部品図面。</a:t>
            </a:r>
          </a:p>
          <a:p xmlns:a="http://schemas.openxmlformats.org/drawingml/2006/main">
            <a:r>
              <a:t>方式 Google CloudのGemini Enterpriseを利用し、電流・電圧等の条件とロボット動作を生成。</a:t>
            </a:r>
          </a:p>
          <a:p xmlns:a="http://schemas.openxmlformats.org/drawingml/2006/main">
            <a:r>
              <a:t>出力 ロボット溶接プログラムとCRXによるアーク溶接。</a:t>
            </a:r>
          </a:p>
          <a:p xmlns:a="http://schemas.openxmlformats.org/drawingml/2006/main">
            <a:r>
              <a:t>人 図面撮影、生成された条件・動作の確認または調整、実行指示。</a:t>
            </a:r>
          </a:p>
          <a:p xmlns:a="http://schemas.openxmlformats.org/drawingml/2006/main">
            <a:r>
              <a:t>限界 公開情報は図面→条件・動作生成の構成。学習外図面の成功率、品質検証、異常後復帰は未確認。</a:t>
            </a:r>
          </a:p>
          <a:p xmlns:a="http://schemas.openxmlformats.org/drawingml/2006/main">
            <a:r>
              <a:t>現地 JIMTOFで実演されるか。図面の適用形式、ロボット座標・治具設定、生成結果の安全検証と人の修正量を確認。</a:t>
            </a:r>
          </a:p>
          <a:p xmlns:a="http://schemas.openxmlformats.org/drawingml/2006/main">
            <a:r>
              <a:t>確認 既存根拠の再整理</a:t>
            </a:r>
          </a:p>
          <a:p xmlns:a="http://schemas.openxmlformats.org/drawingml/2006/main">
            <a:r>
              <a:t>AR06 ファナック JIMTOF2026 特設ページ</a:t>
            </a:r>
          </a:p>
          <a:p xmlns:a="http://schemas.openxmlformats.org/drawingml/2006/main">
            <a:r>
              <a:t>https://www.fanuc.co.jp/ja/JIMTOF2026/</a:t>
            </a:r>
          </a:p>
          <a:p xmlns:a="http://schemas.openxmlformats.org/drawingml/2006/main">
            <a:r>
              <a:t>掲載位置 FA／ROBOT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AR07 ファナック AI溶接エージェント</a:t>
            </a:r>
          </a:p>
          <a:p xmlns:a="http://schemas.openxmlformats.org/drawingml/2006/main">
            <a:r>
              <a:t>https://www.fanuc.co.jp/ja/profile/pr/newsrelease/2026/news20260911.html</a:t>
            </a:r>
          </a:p>
          <a:p xmlns:a="http://schemas.openxmlformats.org/drawingml/2006/main">
            <a:r>
              <a:t>掲載位置 図面読取／条件・動作生成／展示と販売予定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FT-F04 ファナック株式会社 VLA模倣学習・双腕柔軟物操作</a:t>
            </a:r>
          </a:p>
          <a:p xmlns:a="http://schemas.openxmlformats.org/drawingml/2006/main">
            <a:r>
              <a:t>小間 S2001</a:t>
            </a:r>
          </a:p>
          <a:p xmlns:a="http://schemas.openxmlformats.org/drawingml/2006/main">
            <a:r>
              <a:t>展示 展示未確認 会社のJIMTOF出展は確認。特定の事例・デモが今回展示される明記は未確認。</a:t>
            </a:r>
          </a:p>
          <a:p xmlns:a="http://schemas.openxmlformats.org/drawingml/2006/main">
            <a:r>
              <a:t>入力 遠隔操作時の動作・カメラ画像と、言語指示ラベル。</a:t>
            </a:r>
          </a:p>
          <a:p xmlns:a="http://schemas.openxmlformats.org/drawingml/2006/main">
            <a:r>
              <a:t>方式 リーダ・フォロワ操作で収集したデータでVLA基盤モデルを模倣学習する。</a:t>
            </a:r>
          </a:p>
          <a:p xmlns:a="http://schemas.openxmlformats.org/drawingml/2006/main">
            <a:r>
              <a:t>出力 視覚と言語に応じた双腕動作。</a:t>
            </a:r>
          </a:p>
          <a:p xmlns:a="http://schemas.openxmlformats.org/drawingml/2006/main">
            <a:r>
              <a:t>人 人が遠隔操作で学習データを収集し、言語ラベルを付ける。</a:t>
            </a:r>
          </a:p>
          <a:p xmlns:a="http://schemas.openxmlformats.org/drawingml/2006/main">
            <a:r>
              <a:t>限界 加工部品への移行、データ量・成功率・未知状態・再試行は未確認。</a:t>
            </a:r>
          </a:p>
          <a:p xmlns:a="http://schemas.openxmlformats.org/drawingml/2006/main">
            <a:r>
              <a:t>現地 展示有無、使用モデル、実演データの収集量、初期姿勢を変えた試行・未学習品種・失敗復帰を確認。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AR06 ファナック JIMTOF2026 特設ページ</a:t>
            </a:r>
          </a:p>
          <a:p xmlns:a="http://schemas.openxmlformats.org/drawingml/2006/main">
            <a:r>
              <a:t>https://www.fanuc.co.jp/ja/JIMTOF2026/</a:t>
            </a:r>
          </a:p>
          <a:p xmlns:a="http://schemas.openxmlformats.org/drawingml/2006/main">
            <a:r>
              <a:t>掲載位置 FA／ROBOT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AR09 ファナック 模倣学習AIロボット</a:t>
            </a:r>
          </a:p>
          <a:p xmlns:a="http://schemas.openxmlformats.org/drawingml/2006/main">
            <a:r>
              <a:t>https://www.fanuc.co.jp/ja/product/robot/academia/case_study/imitation-learning-ai-robot.html</a:t>
            </a:r>
          </a:p>
          <a:p xmlns:a="http://schemas.openxmlformats.org/drawingml/2006/main">
            <a:r>
              <a:t>掲載位置 リーダー・フォロワー／VLA／Tシャツ折り畳み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AC085 株式会社サイバーRC GH5 AI補正ホーニング</a:t>
            </a:r>
          </a:p>
          <a:p xmlns:a="http://schemas.openxmlformats.org/drawingml/2006/main">
            <a:r>
              <a:t>小間 E7074</a:t>
            </a:r>
          </a:p>
          <a:p xmlns:a="http://schemas.openxmlformats.org/drawingml/2006/main">
            <a:r>
              <a:t>展示 出展説明に掲載 2026公式カタログ掲載・現地未確認</a:t>
            </a:r>
          </a:p>
          <a:p xmlns:a="http://schemas.openxmlformats.org/drawingml/2006/main">
            <a:r>
              <a:t>入力 機内カメラによる工具形状の画像、目標の幅・角度等。</a:t>
            </a:r>
          </a:p>
          <a:p xmlns:a="http://schemas.openxmlformats.org/drawingml/2006/main">
            <a:r>
              <a:t>方式 3D画像とAIによる形状認識・補正をうたい、ホーニングを目標幅・角度へ調整する。</a:t>
            </a:r>
          </a:p>
          <a:p xmlns:a="http://schemas.openxmlformats.org/drawingml/2006/main">
            <a:r>
              <a:t>出力 GH5がホーニングを自動調整。測定・加工・検査を一体化</a:t>
            </a:r>
          </a:p>
          <a:p xmlns:a="http://schemas.openxmlformats.org/drawingml/2006/main">
            <a:r>
              <a:t>人 数値・対話式の条件設定、加工品の準備、結果確認。</a:t>
            </a:r>
          </a:p>
          <a:p xmlns:a="http://schemas.openxmlformats.org/drawingml/2006/main">
            <a:r>
              <a:t>限界 学習法、精度、未学習形状、失敗後の補正・再試行条件は未公開。</a:t>
            </a:r>
          </a:p>
          <a:p xmlns:a="http://schemas.openxmlformats.org/drawingml/2006/main">
            <a:r>
              <a:t>現地 GH5 AI補正ホーニングの対象品種・変更条件は何か。検査・計測・補正で人が設定する内容、異常時の停止・復帰、他工程との接続仕様を確認する。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AR23 サイバーRC／JIMTOF GH5 出展説明</a:t>
            </a:r>
          </a:p>
          <a:p xmlns:a="http://schemas.openxmlformats.org/drawingml/2006/main">
            <a:r>
              <a:t>https://www.jimtof.org/search/jp/ESdetails?e=8ealehgmk8o</a:t>
            </a:r>
          </a:p>
          <a:p xmlns:a="http://schemas.openxmlformats.org/drawingml/2006/main">
            <a:r>
              <a:t>掲載位置 主な出展物／3D画像とAI補正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EEX-EXH-2024-76ac534a229f7c29 株式会社サイバーRC JIMTOF2024公式出展説明：株式会社サイバーRC (W3046)</a:t>
            </a:r>
          </a:p>
          <a:p xmlns:a="http://schemas.openxmlformats.org/drawingml/2006/main">
            <a:r>
              <a:t>https://www.jimtof.org/2024/search/jp/ESdetails?e=wk2AEX5rHpw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EDP-02 サイバーRC GH5総合カタログ</a:t>
            </a:r>
          </a:p>
          <a:p xmlns:a="http://schemas.openxmlformats.org/drawingml/2006/main">
            <a:r>
              <a:t>https://cyber-rc.com/wp-content/uploads/2025/10/%E7%B7%8F%E5%90%88%E3%82%AB%E3%82%BF%E3%83%AD%E3%82%B0420-x-297-mm%E6%A8%AA%E4%B8%A6%E3%81%B3-.pdf</a:t>
            </a:r>
          </a:p>
          <a:p xmlns:a="http://schemas.openxmlformats.org/drawingml/2006/main">
            <a:r>
              <a:t>掲載位置 GRISTAR HONING 5 AXIS／幅・角度設定、Robot Eye、自動調整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FT-O01 オークマ株式会社 OSP-AI 機械診断／加工診断</a:t>
            </a:r>
          </a:p>
          <a:p xmlns:a="http://schemas.openxmlformats.org/drawingml/2006/main">
            <a:r>
              <a:t>小間 E3028</a:t>
            </a:r>
          </a:p>
          <a:p xmlns:a="http://schemas.openxmlformats.org/drawingml/2006/main">
            <a:r>
              <a:t>展示 展示未確認 AIコーナーの予告と製品資料は確認。同版・同機能の実演を明記した資料は未確認。</a:t>
            </a:r>
          </a:p>
          <a:p xmlns:a="http://schemas.openxmlformats.org/drawingml/2006/main">
            <a:r>
              <a:t>入力 機械診断：診断運転中の制御データ。加工診断：主軸・送り軸等の加工中制御情報。</a:t>
            </a:r>
          </a:p>
          <a:p xmlns:a="http://schemas.openxmlformats.org/drawingml/2006/main">
            <a:r>
              <a:t>方式 機械診断は異常・異常箇所を推定。加工診断は異常レベルを評価し閾値超過で工具を退避。</a:t>
            </a:r>
          </a:p>
          <a:p xmlns:a="http://schemas.openxmlformats.org/drawingml/2006/main">
            <a:r>
              <a:t>出力 診断箇所の表示／加工異常時の工具退避。修理の自動化は確認できない。</a:t>
            </a:r>
          </a:p>
          <a:p xmlns:a="http://schemas.openxmlformats.org/drawingml/2006/main">
            <a:r>
              <a:t>人 機械診断の開始、診断結果に基づく整備、工具確認・再開。しきい値と適用機種の設定条件は要確認。</a:t>
            </a:r>
          </a:p>
          <a:p xmlns:a="http://schemas.openxmlformats.org/drawingml/2006/main">
            <a:r>
              <a:t>限界 一部特別仕様。今回の特設はAIコーナーを予告するが、同機能・版の個別実演は未確認。</a:t>
            </a:r>
          </a:p>
          <a:p xmlns:a="http://schemas.openxmlformats.org/drawingml/2006/main">
            <a:r>
              <a:t>現地 診断用運転と加工中監視の違い、ドリル以外の適用、退避指令・復帰条件、新版の追加能力を確認。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AR15 オークマ OSP-AI</a:t>
            </a:r>
          </a:p>
          <a:p xmlns:a="http://schemas.openxmlformats.org/drawingml/2006/main">
            <a:r>
              <a:t>https://www.okuma.co.jp/smart-factory/osp-suite/osp-ai.php</a:t>
            </a:r>
          </a:p>
          <a:p xmlns:a="http://schemas.openxmlformats.org/drawingml/2006/main">
            <a:r>
              <a:t>掲載位置 AI機械診断／AI加工診断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FT20 オークマ JIMTOF2026 特設サイト</a:t>
            </a:r>
          </a:p>
          <a:p xmlns:a="http://schemas.openxmlformats.org/drawingml/2006/main">
            <a:r>
              <a:t>https://www.okuma.co.jp/event/jimtof/2026/</a:t>
            </a:r>
          </a:p>
          <a:p xmlns:a="http://schemas.openxmlformats.org/drawingml/2006/main">
            <a:r>
              <a:t>掲載位置 AIコーナー／知能化コーナー／ARMROID等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AC273 NdotLight Co., Ltd. TRINIX CAD／SimReady生成</a:t>
            </a:r>
          </a:p>
          <a:p xmlns:a="http://schemas.openxmlformats.org/drawingml/2006/main">
            <a:r>
              <a:t>小間 S4004</a:t>
            </a:r>
          </a:p>
          <a:p xmlns:a="http://schemas.openxmlformats.org/drawingml/2006/main">
            <a:r>
              <a:t>展示 出展説明に掲載 2026のライブデモ・ロボット学習用データ展示を予告。実機ロボットの作業実演とは未確認</a:t>
            </a:r>
          </a:p>
          <a:p xmlns:a="http://schemas.openxmlformats.org/drawingml/2006/main">
            <a:r>
              <a:t>入力 CAD・3D形状とシミュレーション用途の条件。</a:t>
            </a:r>
          </a:p>
          <a:p xmlns:a="http://schemas.openxmlformats.org/drawingml/2006/main">
            <a:r>
              <a:t>方式 物理属性・ジョイント等を推定し、USD／URDF／MJCF等のSimReady資産を生成する。</a:t>
            </a:r>
          </a:p>
          <a:p xmlns:a="http://schemas.openxmlformats.org/drawingml/2006/main">
            <a:r>
              <a:t>出力 シミュレーション・学習環境で使う3Dデータ。</a:t>
            </a:r>
          </a:p>
          <a:p xmlns:a="http://schemas.openxmlformats.org/drawingml/2006/main">
            <a:r>
              <a:t>人 属性・拘束の妥当性確認、実測値による校正、対象ロボットでの検証。</a:t>
            </a:r>
          </a:p>
          <a:p xmlns:a="http://schemas.openxmlformats.org/drawingml/2006/main">
            <a:r>
              <a:t>限界 推定物性の実測検証、接触モデル精度、実機動作の成功率は未確認。</a:t>
            </a:r>
          </a:p>
          <a:p xmlns:a="http://schemas.openxmlformats.org/drawingml/2006/main">
            <a:r>
              <a:t>現地 TRINIX CAD／SimReady生成の対象品種・変更条件は何か。搬送・供給・工程接続で人が設定する内容、異常時の停止・復帰、他工程との接続仕様を確認する。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AR20 NdotLight TRINIX / Physical AI</a:t>
            </a:r>
          </a:p>
          <a:p xmlns:a="http://schemas.openxmlformats.org/drawingml/2006/main">
            <a:r>
              <a:t>https://ndotlight.com/</a:t>
            </a:r>
          </a:p>
          <a:p xmlns:a="http://schemas.openxmlformats.org/drawingml/2006/main">
            <a:r>
              <a:t>掲載位置 SimReady／物理属性・ジョイント／USD・URDF・MJCF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EEX-EXH-2026-016097f87d1914b2 NdotLight Co., Ltd. JIMTOF2026公式出展説明：NdotLight Co., Ltd. (S4004)</a:t>
            </a:r>
          </a:p>
          <a:p xmlns:a="http://schemas.openxmlformats.org/drawingml/2006/main">
            <a:r>
              <a:t>https://www.jimtof.org/search/jp/ESdetails?e=6Ds1v9hxvrY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EEX-WNDOT NdotLight Co., Ltd. TRINIX：Physical AI向け3Dデータの企業公式説明</a:t>
            </a:r>
          </a:p>
          <a:p xmlns:a="http://schemas.openxmlformats.org/drawingml/2006/main">
            <a:r>
              <a:t>https://ndotlight.com/newsroom/ndotlight-proposes-a-new-3d-data-standard-for-the-physical-ai-era-with-trinix</a:t>
            </a:r>
          </a:p>
          <a:p xmlns:a="http://schemas.openxmlformats.org/drawingml/2006/main">
            <a:r>
              <a:t>掲載位置 展示会概要・出展製品／2026年5月13日の製品説明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ERF-07 NVIDIA SimReady FAQ：静的検証と実行時検証</a:t>
            </a:r>
          </a:p>
          <a:p xmlns:a="http://schemas.openxmlformats.org/drawingml/2006/main">
            <a:r>
              <a:t>https://docs.omniverse.nvidia.com/simready/latest/simready-faq.html</a:t>
            </a:r>
          </a:p>
          <a:p xmlns:a="http://schemas.openxmlformats.org/drawingml/2006/main">
            <a:r>
              <a:t>掲載位置 What Is the Difference…Foundation；How Do I Validate My Composed Scene…（L526–538）</a:t>
            </a:r>
          </a:p>
          <a:p xmlns:a="http://schemas.openxmlformats.org/drawingml/2006/main">
            <a:r>
              <a:t>確認 2026-10-18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ERF-08 NVIDIA SimReady Physics Best Practices</a:t>
            </a:r>
          </a:p>
          <a:p xmlns:a="http://schemas.openxmlformats.org/drawingml/2006/main">
            <a:r>
              <a:t>https://docs.omniverse.nvidia.com/simready/latest/simready-asset-creation/physics-best-practices.html</a:t>
            </a:r>
          </a:p>
          <a:p xmlns:a="http://schemas.openxmlformats.org/drawingml/2006/main">
            <a:r>
              <a:t>掲載位置 Typical USDPhysics Components／Collider、Mass、materialの摩擦・密度・反発</a:t>
            </a:r>
          </a:p>
          <a:p xmlns:a="http://schemas.openxmlformats.org/drawingml/2006/main">
            <a:r>
              <a:t>確認 2026-10-18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ERF-09 NdotLight DexBench共同開発の告知</a:t>
            </a:r>
          </a:p>
          <a:p xmlns:a="http://schemas.openxmlformats.org/drawingml/2006/main">
            <a:r>
              <a:t>https://ndotlight.com/newsroom/ndotlight-to-co-develop-dexbench-a-global-standard-for-humanoid-evaluation-with-nvidia-and-rlwrld</a:t>
            </a:r>
          </a:p>
          <a:p xmlns:a="http://schemas.openxmlformats.org/drawingml/2006/main">
            <a:r>
              <a:t>掲載位置 2026/8/7／SimReady環境・操作評価・sim-to-real gap低減の共同開発</a:t>
            </a:r>
          </a:p>
          <a:p xmlns:a="http://schemas.openxmlformats.org/drawingml/2006/main">
            <a:r>
              <a:t>確認 2026-10-18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FC051 シマダマシンツール HS4200：フィジカルAI自動段取り替え</a:t>
            </a:r>
          </a:p>
          <a:p xmlns:a="http://schemas.openxmlformats.org/drawingml/2006/main">
            <a:r>
              <a:t>小間 E2018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段取り指示・対象。音声や画像などの入力方式は一次資料では未確認</a:t>
            </a:r>
          </a:p>
          <a:p xmlns:a="http://schemas.openxmlformats.org/drawingml/2006/main">
            <a:r>
              <a:t>方式 誰でも簡単な自動段取り替えとのメーカー説明</a:t>
            </a:r>
          </a:p>
          <a:p xmlns:a="http://schemas.openxmlformats.org/drawingml/2006/main">
            <a:r>
              <a:t>出力 具体的に交換・変更する対象は未記載</a:t>
            </a:r>
          </a:p>
          <a:p xmlns:a="http://schemas.openxmlformats.org/drawingml/2006/main">
            <a:r>
              <a:t>人 治具・爪・位置・プログラム等のどこを自動化するか未確認</a:t>
            </a:r>
          </a:p>
          <a:p xmlns:a="http://schemas.openxmlformats.org/drawingml/2006/main">
            <a:r>
              <a:t>限界 段取りの何をAIが認識・計画するか未公開。ロボット＋AIの名称からVLA・自律復帰を推定しない。</a:t>
            </a:r>
          </a:p>
          <a:p xmlns:a="http://schemas.openxmlformats.org/drawingml/2006/main">
            <a:r>
              <a:t>現地 ワーク・治具の変更を何で認識し、どの段取り動作を再生成するか。人の教示量、失敗時の復帰、新旧方式の差を実演で確認。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AR27 シマダマシンツール／JIMTOF HS4200 出展説明</a:t>
            </a:r>
          </a:p>
          <a:p xmlns:a="http://schemas.openxmlformats.org/drawingml/2006/main">
            <a:r>
              <a:t>https://www.jimtof.org/search/jp/ESdetails?e=xntdeqgs_F4</a:t>
            </a:r>
          </a:p>
          <a:p xmlns:a="http://schemas.openxmlformats.org/drawingml/2006/main">
            <a:r>
              <a:t>掲載位置 主な出展物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AR26 シマダマシンツール JIMTOF2026に出展</a:t>
            </a:r>
          </a:p>
          <a:p xmlns:a="http://schemas.openxmlformats.org/drawingml/2006/main">
            <a:r>
              <a:t>https://smd.co.jp/news/jimtof2026/</a:t>
            </a:r>
          </a:p>
          <a:p xmlns:a="http://schemas.openxmlformats.org/drawingml/2006/main">
            <a:r>
              <a:t>掲載位置 HS4200／SAM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EOV-V031-2024-1 株式会社シマダマシンツール JIMTOF2024公式カタログ：株式会社シマダマシンツール (E6026)</a:t>
            </a:r>
          </a:p>
          <a:p xmlns:a="http://schemas.openxmlformats.org/drawingml/2006/main">
            <a:r>
              <a:t>https://www.jimtof.org/2024/search/jp/ESdetails?e=WZjeoEoTWXw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EOV-V031-2024-2 株式会社シマダマシンツール JIMTOF2024公式カタログ：株式会社シマダマシンツール (AM103)</a:t>
            </a:r>
          </a:p>
          <a:p xmlns:a="http://schemas.openxmlformats.org/drawingml/2006/main">
            <a:r>
              <a:t>https://www.jimtof.org/2024/search/jp/ESdetails?e=bLvQhW7XtZw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AR18 Phoxter｜StellaDrive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https://www.phoxter.co.jp/automated-logistics/products/stelladrive</a:t>
            </a:r>
          </a:p>
          <a:p xmlns:a="http://schemas.openxmlformats.org/drawingml/2006/main">
            <a:r>
              <a:t>掲載位置 移動方式／生成AIチャットボット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SLAM等の移動機能と、任意の保守・初動対応チャット機能を分けて説明。</a:t>
            </a:r>
          </a:p>
          <a:p xmlns:a="http://schemas.openxmlformats.org/drawingml/2006/main">
            <a:r>
              <a:t>留保 生成AIがAMRの走行軌道を生成するとは扱わない。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AR19 Phoxter｜JIMTOF2026に出展</a:t>
            </a:r>
          </a:p>
          <a:p xmlns:a="http://schemas.openxmlformats.org/drawingml/2006/main">
            <a:r>
              <a:t>発行 2026-10-19 確認 2026-10-23</a:t>
            </a:r>
          </a:p>
          <a:p xmlns:a="http://schemas.openxmlformats.org/drawingml/2006/main">
            <a:r>
              <a:t>https://www.phoxter.co.jp/news/jimtof2026</a:t>
            </a:r>
          </a:p>
          <a:p xmlns:a="http://schemas.openxmlformats.org/drawingml/2006/main">
            <a:r>
              <a:t>掲載位置 良品学習／6軸ロボット連携／全方位AI外観検査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良品のみの学習と難検査ワーク、多視点のロボット検査を予告。</a:t>
            </a:r>
          </a:p>
          <a:p xmlns:a="http://schemas.openxmlformats.org/drawingml/2006/main">
            <a:r>
              <a:t>留保 AIが撮像姿勢を再計画するとは記載されていない。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AR01 コマツ｜JIMTOF2026に出展</a:t>
            </a:r>
          </a:p>
          <a:p xmlns:a="http://schemas.openxmlformats.org/drawingml/2006/main">
            <a:r>
              <a:t>発行 2026-10-22 確認 2026-10-23</a:t>
            </a:r>
          </a:p>
          <a:p xmlns:a="http://schemas.openxmlformats.org/drawingml/2006/main">
            <a:r>
              <a:t>https://www.komatsu.jp/ja/newsroom/2026/20261022_01</a:t>
            </a:r>
          </a:p>
          <a:p xmlns:a="http://schemas.openxmlformats.org/drawingml/2006/main">
            <a:r>
              <a:t>掲載位置 CX500／KOM-Scheduler／Gate Keeper／KOMTAS／KOM-MICS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画像による切りくず堆積検知、工具交換時期の予測、加工異常のしきい値設定を別機能として展示。Gate Keeperはコンセプト展示。</a:t>
            </a:r>
          </a:p>
          <a:p xmlns:a="http://schemas.openxmlformats.org/drawingml/2006/main">
            <a:r>
              <a:t>留保 切りくずの自動除去、全工場の自動再計画、KOMTASの機械学習方式は確認できない。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AR17 レニショー｜Renishaw Central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掲載位置 IPC／工作機械への補正／ダッシュボード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測定・加工状態を収集し、IPCで機械変数に補正を返す。分析・監視表示も提供。</a:t>
            </a:r>
          </a:p>
          <a:p xmlns:a="http://schemas.openxmlformats.org/drawingml/2006/main">
            <a:r>
              <a:t>留保 閉ループ制御の説明はあるが、学習AIを使う証拠にはならない。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FT-P01 株式会社Phoxter StellaDeepVision Studio／StellaController2.0</a:t>
            </a:r>
          </a:p>
          <a:p xmlns:a="http://schemas.openxmlformats.org/drawingml/2006/main">
            <a:r>
              <a:t>小間 S4028</a:t>
            </a:r>
          </a:p>
          <a:p xmlns:a="http://schemas.openxmlformats.org/drawingml/2006/main">
            <a:r>
              <a:t>展示 展示予定を明記 10/19公式出展記事、S4028。</a:t>
            </a:r>
          </a:p>
          <a:p xmlns:a="http://schemas.openxmlformats.org/drawingml/2006/main">
            <a:r>
              <a:t>入力 良品画像、鋳造部品・オイルシール等の検査画像。</a:t>
            </a:r>
          </a:p>
          <a:p xmlns:a="http://schemas.openxmlformats.org/drawingml/2006/main">
            <a:r>
              <a:t>方式 新しい数理モデルによる良品学習とルール検査を併用。6軸ロボット連携の多面検査を実演予定。</a:t>
            </a:r>
          </a:p>
          <a:p xmlns:a="http://schemas.openxmlformats.org/drawingml/2006/main">
            <a:r>
              <a:t>出力 欠陥判定・多方向からの検査。</a:t>
            </a:r>
          </a:p>
          <a:p xmlns:a="http://schemas.openxmlformats.org/drawingml/2006/main">
            <a:r>
              <a:t>人 良品画像の準備、判定閾値と撮像・ロボット条件の設定。再撮像の判断を誰が行うか要確認。</a:t>
            </a:r>
          </a:p>
          <a:p xmlns:a="http://schemas.openxmlformats.org/drawingml/2006/main">
            <a:r>
              <a:t>限界 AI判定でロボットの視点・動作を変更するかは不明。固定撮像＋AI検査だけでは先端フィジカルAIと認定しない。</a:t>
            </a:r>
          </a:p>
          <a:p xmlns:a="http://schemas.openxmlformats.org/drawingml/2006/main">
            <a:r>
              <a:t>現地 必要画像のばらつき、不良流出・過検出、既存方式との差、検査NG時の再撮像・搬送変更を確認。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AR19 Phoxter JIMTOF2026に出展</a:t>
            </a:r>
          </a:p>
          <a:p xmlns:a="http://schemas.openxmlformats.org/drawingml/2006/main">
            <a:r>
              <a:t>https://www.phoxter.co.jp/news/jimtof2026</a:t>
            </a:r>
          </a:p>
          <a:p xmlns:a="http://schemas.openxmlformats.org/drawingml/2006/main">
            <a:r>
              <a:t>掲載位置 良品学習／6軸ロボット連携／全方位AI外観検査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AR-C01 コマツNTC株式会社 KOM-MICS AI予知保全（切りくず検知）</a:t>
            </a:r>
          </a:p>
          <a:p xmlns:a="http://schemas.openxmlformats.org/drawingml/2006/main">
            <a:r>
              <a:t>小間 E1058</a:t>
            </a:r>
          </a:p>
          <a:p xmlns:a="http://schemas.openxmlformats.org/drawingml/2006/main">
            <a:r>
              <a:t>展示 展示予定を明記 コマツの2026年10月22日付告知で個別機能を明記。</a:t>
            </a:r>
          </a:p>
          <a:p xmlns:a="http://schemas.openxmlformats.org/drawingml/2006/main">
            <a:r>
              <a:t>入力 機内カメラ画像。</a:t>
            </a:r>
          </a:p>
          <a:p xmlns:a="http://schemas.openxmlformats.org/drawingml/2006/main">
            <a:r>
              <a:t>方式 AIが切りくずの堆積増加・異常を画像で検知する。</a:t>
            </a:r>
          </a:p>
          <a:p xmlns:a="http://schemas.openxmlformats.org/drawingml/2006/main">
            <a:r>
              <a:t>出力 洗浄を促す通知。</a:t>
            </a:r>
          </a:p>
          <a:p xmlns:a="http://schemas.openxmlformats.org/drawingml/2006/main">
            <a:r>
              <a:t>人 通知を受けて洗浄・処置する。撮像・学習・閾値設定は現地確認。</a:t>
            </a:r>
          </a:p>
          <a:p xmlns:a="http://schemas.openxmlformats.org/drawingml/2006/main">
            <a:r>
              <a:t>限界 AIが洗浄・除去動作を実行する記載はない。</a:t>
            </a:r>
          </a:p>
          <a:p xmlns:a="http://schemas.openxmlformats.org/drawingml/2006/main">
            <a:r>
              <a:t>現地 切りくず材質・照明変化への頑健性、誤報・見逃し、通知後の対応時間と洗浄との接続。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AR01 コマツ JIMTOF2026に出展</a:t>
            </a:r>
          </a:p>
          <a:p xmlns:a="http://schemas.openxmlformats.org/drawingml/2006/main">
            <a:r>
              <a:t>https://www.komatsu.jp/ja/newsroom/2026/20261022_01</a:t>
            </a:r>
          </a:p>
          <a:p xmlns:a="http://schemas.openxmlformats.org/drawingml/2006/main">
            <a:r>
              <a:t>掲載位置 CX500／KOM-Scheduler／Gate Keeper／KOMTAS／KOM-MICS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FC049 TAKISAWA TR-20W：主軸の切粉除去</a:t>
            </a:r>
          </a:p>
          <a:p xmlns:a="http://schemas.openxmlformats.org/drawingml/2006/main">
            <a:r>
              <a:t>小間 E3013</a:t>
            </a:r>
          </a:p>
          <a:p xmlns:a="http://schemas.openxmlformats.org/drawingml/2006/main">
            <a:r>
              <a:t>展示 参考出展予定 公式特設でTR20Wによる切粉の認識・判断・除去を参考出品と明記。</a:t>
            </a:r>
          </a:p>
          <a:p xmlns:a="http://schemas.openxmlformats.org/drawingml/2006/main">
            <a:r>
              <a:t>入力 主軸に絡まった切粉の状況。センサ種・学習データは非開示</a:t>
            </a:r>
          </a:p>
          <a:p xmlns:a="http://schemas.openxmlformats.org/drawingml/2006/main">
            <a:r>
              <a:t>方式 切粉の絡まり状況を認識・判断するとメーカーが説明</a:t>
            </a:r>
          </a:p>
          <a:p xmlns:a="http://schemas.openxmlformats.org/drawingml/2006/main">
            <a:r>
              <a:t>出力 台車型TR-20Wのロボットが主軸の切粉を除去する予定</a:t>
            </a:r>
          </a:p>
          <a:p xmlns:a="http://schemas.openxmlformats.org/drawingml/2006/main">
            <a:r>
              <a:t>人 未記載：対象切粉・機械配置・除去具の設定手順／未記載：動作前の承認、機械インターロックと許可範囲／未記載：除去失敗の検出・再試行・停止後の人への引継ぎ</a:t>
            </a:r>
          </a:p>
          <a:p xmlns:a="http://schemas.openxmlformats.org/drawingml/2006/main">
            <a:r>
              <a:t>限界 未知の絡まり、除去力・接触回避・完了確認・成功率は未確認。市販済みと扱わない</a:t>
            </a:r>
          </a:p>
          <a:p xmlns:a="http://schemas.openxmlformats.org/drawingml/2006/main">
            <a:r>
              <a:t>現地 未知の絡まり・絡まり方の変化への対応、認識センサ・学習法、接触力・除去完了判定、失敗後の再試行を確認。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EOV-V030-2024-1 株式会社TAKISAWA JIMTOF2024公式カタログ：株式会社TAKISAWA (E3013)</a:t>
            </a:r>
          </a:p>
          <a:p xmlns:a="http://schemas.openxmlformats.org/drawingml/2006/main">
            <a:r>
              <a:t>https://www.jimtof.org/2024/search/jp/ESdetails?e=K00DRD-BngA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EOV-V030-2026-1 株式会社TAKISAWA JIMTOF2026公式カタログ：株式会社TAKISAWA (E3013)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EAT-N01 ニデック JIMTOF2026 TR-20W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掲載位置 TR-20W：フィジカルAI搭載のロボットシステム（参考出品）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EAT-N02 ニデック MGC300開発発表</a:t>
            </a:r>
          </a:p>
          <a:p xmlns:a="http://schemas.openxmlformats.org/drawingml/2006/main">
            <a:r>
              <a:t>https://www.nidec.com/jp/product/news/2024/news1101-03/</a:t>
            </a:r>
          </a:p>
          <a:p xmlns:a="http://schemas.openxmlformats.org/drawingml/2006/main">
            <a:r>
              <a:t>掲載位置 2024年11月1日／MGC300の出展説明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ERF-13 ニデック／TAKISAWA JIMTOF2026：TR-20W参考出品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掲載位置 TAKISAWA／TR-20W、主軸の切粉認識・判断・除去、参考出品</a:t>
            </a:r>
          </a:p>
          <a:p xmlns:a="http://schemas.openxmlformats.org/drawingml/2006/main">
            <a:r>
              <a:t>確認 2026-10-18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FC033 レニショー Renishaw Central＋IPC</a:t>
            </a:r>
          </a:p>
          <a:p xmlns:a="http://schemas.openxmlformats.org/drawingml/2006/main">
            <a:r>
              <a:t>小間 E7089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計測、装置状態、アラーム</a:t>
            </a:r>
          </a:p>
          <a:p xmlns:a="http://schemas.openxmlformats.org/drawingml/2006/main">
            <a:r>
              <a:t>方式 測定・加工状態・アラームをオンプレミスに収集。IPCで測定結果から工作機械の変数へ補正を返す。</a:t>
            </a:r>
          </a:p>
          <a:p xmlns:a="http://schemas.openxmlformats.org/drawingml/2006/main">
            <a:r>
              <a:t>出力 加工へのクローズドループ補正</a:t>
            </a:r>
          </a:p>
          <a:p xmlns:a="http://schemas.openxmlformats.org/drawingml/2006/main">
            <a:r>
              <a:t>人 測定・補正対象と許容範囲の設定、アラーム時の処置。補正承認条件は要確認。</a:t>
            </a:r>
          </a:p>
          <a:p xmlns:a="http://schemas.openxmlformats.org/drawingml/2006/main">
            <a:r>
              <a:t>限界 どの寸法がどのオフセットを変えるか。誤計測時の補正抑止と顧客実績を確認する。</a:t>
            </a:r>
          </a:p>
          <a:p xmlns:a="http://schemas.openxmlformats.org/drawingml/2006/main">
            <a:r>
              <a:t>現地 Renishaw Central＋IPCの対象品種・変更条件は何か。測定から加工へ補正で人が設定する内容、異常時の停止・復帰、他工程との接続仕様を確認する。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AR17 レニショー Renishaw Central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掲載位置 IPC／工作機械への補正／ダッシュボード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EOV-V018-2024-1 レニショー株式会社 JIMTOF2024公式カタログ：レニショー株式会社 (E7026)</a:t>
            </a:r>
          </a:p>
          <a:p xmlns:a="http://schemas.openxmlformats.org/drawingml/2006/main">
            <a:r>
              <a:t>https://www.jimtof.org/2024/search/jp/ESdetails?e=ekM3exgIAtc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EOV-V018-2026-1 レニショー株式会社 JIMTOF2026公式カタログ：レニショー株式会社 (E7089)</a:t>
            </a:r>
          </a:p>
          <a:p xmlns:a="http://schemas.openxmlformats.org/drawingml/2006/main">
            <a:r>
              <a:t>https://www.jimtof.org/search/jp/ESdetails?e=pYGmVz5GC1c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AR04 ヤマザキマザック｜生産性向上 MAZATROL DX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https://www.mazak.com/jp-ja/technology/productivity/</a:t>
            </a:r>
          </a:p>
          <a:p xmlns:a="http://schemas.openxmlformats.org/drawingml/2006/main">
            <a:r>
              <a:t>掲載位置 SOLID MAZATROL／VIRTUAL MACHINING／CUTTING ADVISER／SETUP GUIDE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形状モデル・工具情報・過去プログラムを活用する自動プログラミングと、仮想検証・条件解析・段取り支援を統合。</a:t>
            </a:r>
          </a:p>
          <a:p xmlns:a="http://schemas.openxmlformats.org/drawingml/2006/main">
            <a:r>
              <a:t>留保 各モジュールがすべてAIであるとは言えない。工程設計の共同開発AIと既存製品は別。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AR35 CloudNC｜CAM Assist for Mastercam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掲載位置 工具・材料・機械設定／加工方向／生成・確認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工具・保持・加工方向等を設定し、生成した工程・経路を人が調整してCAMに取り込む。</a:t>
            </a:r>
          </a:p>
          <a:p xmlns:a="http://schemas.openxmlformats.org/drawingml/2006/main">
            <a:r>
              <a:t>留保 NC出力後の実機運転まで自律化したとは扱わない。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AR22 ジェイテクト｜JIMTOF2026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https://toyoda.jtekt.co.jp/jimtof2026/</a:t>
            </a:r>
          </a:p>
          <a:p xmlns:a="http://schemas.openxmlformats.org/drawingml/2006/main">
            <a:r>
              <a:t>掲載位置 Mill-Plan／fine-teachless／mJM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工具・姿勢・条件を含む工程設計、仮想教示と実機誤差の補正、運用支援を提示。</a:t>
            </a:r>
          </a:p>
          <a:p xmlns:a="http://schemas.openxmlformats.org/drawingml/2006/main">
            <a:r>
              <a:t>留保 工程設計自動化と幾何補正の説明だけで機械学習AIとしない。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FT-Z01 ヤマザキマザック株式会社 MAZATROL DX／SOLID MAZATROL</a:t>
            </a:r>
          </a:p>
          <a:p xmlns:a="http://schemas.openxmlformats.org/drawingml/2006/main">
            <a:r>
              <a:t>小間 E1001</a:t>
            </a:r>
          </a:p>
          <a:p xmlns:a="http://schemas.openxmlformats.org/drawingml/2006/main">
            <a:r>
              <a:t>展示 展示未確認 企業公式製品資料。個別の搭載展示機・版は未確認。</a:t>
            </a:r>
          </a:p>
          <a:p xmlns:a="http://schemas.openxmlformats.org/drawingml/2006/main">
            <a:r>
              <a:t>入力 3D形状、工具ライブラリ、過去の加工プログラム、必要に応じ実加工データ。</a:t>
            </a:r>
          </a:p>
          <a:p xmlns:a="http://schemas.openxmlformats.org/drawingml/2006/main">
            <a:r>
              <a:t>方式 SOLID MAZATROLのパターン学習によるプログラミング。仮想加工で干渉を確認し、CUTTING ADVISERで条件を解析、SETUP GUIDEで準備を支援。</a:t>
            </a:r>
          </a:p>
          <a:p xmlns:a="http://schemas.openxmlformats.org/drawingml/2006/main">
            <a:r>
              <a:t>出力 MAZATROLプログラム、条件案、工具・治具等の段取り情報。</a:t>
            </a:r>
          </a:p>
          <a:p xmlns:a="http://schemas.openxmlformats.org/drawingml/2006/main">
            <a:r>
              <a:t>人 工具・機械の条件整備、結果確認、実際の段取り。全モジュールの自動実行範囲は要確認。</a:t>
            </a:r>
          </a:p>
          <a:p xmlns:a="http://schemas.openxmlformats.org/drawingml/2006/main">
            <a:r>
              <a:t>限界 共同開発する工程設計AIとは別製品。パターン学習と条件解析を同一AIとみなさない。</a:t>
            </a:r>
          </a:p>
          <a:p xmlns:a="http://schemas.openxmlformats.org/drawingml/2006/main">
            <a:r>
              <a:t>現地 誰のどの加工判断を学習するか、過去プログラムの必要量、材料・工具変更時の適用と人の修正を確認。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AR04 ヤマザキマザック 生産性向上 MAZATROL DX</a:t>
            </a:r>
          </a:p>
          <a:p xmlns:a="http://schemas.openxmlformats.org/drawingml/2006/main">
            <a:r>
              <a:t>https://www.mazak.com/jp-ja/technology/productivity/</a:t>
            </a:r>
          </a:p>
          <a:p xmlns:a="http://schemas.openxmlformats.org/drawingml/2006/main">
            <a:r>
              <a:t>掲載位置 SOLID MAZATROL／VIRTUAL MACHINING／CUTTING ADVISER／SETUP GUIDE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FT24 ヤマザキマザック JIMTOF2026 特設サイト</a:t>
            </a:r>
          </a:p>
          <a:p xmlns:a="http://schemas.openxmlformats.org/drawingml/2006/main">
            <a:r>
              <a:t>https://www.mazak.com/discover/jp-ja/jimtof2026/</a:t>
            </a:r>
          </a:p>
          <a:p xmlns:a="http://schemas.openxmlformats.org/drawingml/2006/main">
            <a:r>
              <a:t>掲載位置 出展機・AI活用紹介。個別製品の展示範囲は要確認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FC020 ジェービーエムエンジニアリング Mastercam＋CAMAssist</a:t>
            </a:r>
          </a:p>
          <a:p xmlns:a="http://schemas.openxmlformats.org/drawingml/2006/main">
            <a:r>
              <a:t>小間 E2002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3Dモデル、工具、材料、ワーク保持、機械、加工方向・回避領域。</a:t>
            </a:r>
          </a:p>
          <a:p xmlns:a="http://schemas.openxmlformats.org/drawingml/2006/main">
            <a:r>
              <a:t>方式 加工法の候補を検討し工程・経路・切削条件案を選ぶという説明。顧客のMastercamデータで学習しないと明記</a:t>
            </a:r>
          </a:p>
          <a:p xmlns:a="http://schemas.openxmlformats.org/drawingml/2006/main">
            <a:r>
              <a:t>出力 Mastercam内で修正・シミュレーション可能な工程を作成。人がポスト処理してNCを準備</a:t>
            </a:r>
          </a:p>
          <a:p xmlns:a="http://schemas.openxmlformats.org/drawingml/2006/main">
            <a:r>
              <a:t>人 条件と工具を整備。生成された工程・経路を確認・修正しCAMへ取り込み、ポスト処理後の実機適用を判断。</a:t>
            </a:r>
          </a:p>
          <a:p xmlns:a="http://schemas.openxmlformats.org/drawingml/2006/main">
            <a:r>
              <a:t>限界 3軸・3+2軸ミル中心。2024/7/25に世界向けMastercam対応を発表済み。日本版の供給・展示年とは別</a:t>
            </a:r>
          </a:p>
          <a:p xmlns:a="http://schemas.openxmlformats.org/drawingml/2006/main">
            <a:r>
              <a:t>現地 Mastercam＋CAMAssistの対象品種・変更条件は何か。CAM・NC作成で人が設定する内容、異常時の停止・復帰、他工程との接続仕様を確認する。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AR35 CloudNC CAM Assist for Mastercam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掲載位置 工具・材料・機械設定／加工方向／生成・確認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EOV-V008-2024-1 ジェービーエムエンジニアリング株式会社 JIMTOF2024公式カタログ：ジェービーエムエンジニアリング株式会社 (E5028)</a:t>
            </a:r>
          </a:p>
          <a:p xmlns:a="http://schemas.openxmlformats.org/drawingml/2006/main">
            <a:r>
              <a:t>https://www.jimtof.org/2024/search/jp/ESdetails?e=G-8gydwhMvE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EOV-V008-2024-2 ジェービーエムエンジニアリング株式会社 JIMTOF2024公式カタログ：ジェービーエムエンジニアリング株式会社 (AM111)</a:t>
            </a:r>
          </a:p>
          <a:p xmlns:a="http://schemas.openxmlformats.org/drawingml/2006/main">
            <a:r>
              <a:t>https://www.jimtof.org/2024/search/jp/ESdetails?e=ZBxZW2vyjUw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EOV-V008-2026-1 ジェービーエムエンジニアリング株式会社 JIMTOF2026公式カタログ：ジェービーエムエンジニアリング株式会社 (E2002)</a:t>
            </a:r>
          </a:p>
          <a:p xmlns:a="http://schemas.openxmlformats.org/drawingml/2006/main">
            <a:r>
              <a:t>https://www.jimtof.org/search/jp/ESdetails?e=VrAjMTKmxdw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EDP-10 CloudNC Mastercam向けCAM Assist提供開始</a:t>
            </a:r>
          </a:p>
          <a:p xmlns:a="http://schemas.openxmlformats.org/drawingml/2006/main">
            <a:r>
              <a:t>https://www.cloudnc.com/news-room/cam-assist-the-first-ai-plug-in-for-cam-is-now-available-for-mastercam</a:t>
            </a:r>
          </a:p>
          <a:p xmlns:a="http://schemas.openxmlformats.org/drawingml/2006/main">
            <a:r>
              <a:t>掲載位置 July 25, 2024／3軸・3+2軸向け。北米販売開始の説明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FC018 Hexagon Manufacturing Intelligence ESPRIT EDGE ProPlanAI</a:t>
            </a:r>
          </a:p>
          <a:p xmlns:a="http://schemas.openxmlformats.org/drawingml/2006/main">
            <a:r>
              <a:t>小間 E2013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過去ジョブ、部品の特徴、PMI、素材除去の文脈</a:t>
            </a:r>
          </a:p>
          <a:p xmlns:a="http://schemas.openxmlformats.org/drawingml/2006/main">
            <a:r>
              <a:t>方式 自動特徴認識と工程予測。過去ジョブから新部品の加工工程を提案</a:t>
            </a:r>
          </a:p>
          <a:p xmlns:a="http://schemas.openxmlformats.org/drawingml/2006/main">
            <a:r>
              <a:t>出力 ESPRIT EDGE内の加工工程案を生成。2026.1は旋削・複合・スイス型に商用範囲を拡張</a:t>
            </a:r>
          </a:p>
          <a:p xmlns:a="http://schemas.openxmlformats.org/drawingml/2006/main">
            <a:r>
              <a:t>人 公式：過去ジョブを利用。分析：工具・機械・段取り等の整合確認が必要／推論：予測フィードバック画面で確認可能。最終NC採否・検証・実機実行の権限は未公開／未記載：履歴にない形状・工具欠品・異なる機械への対応と誤案修正</a:t>
            </a:r>
          </a:p>
          <a:p xmlns:a="http://schemas.openxmlformats.org/drawingml/2006/main">
            <a:r>
              <a:t>限界 2025.2は旋削beta、2026.1は商用化。JIMTOFで動くバージョン・加工条件は確認が必要</a:t>
            </a:r>
          </a:p>
          <a:p xmlns:a="http://schemas.openxmlformats.org/drawingml/2006/main">
            <a:r>
              <a:t>現地 ESPRIT EDGE ProPlanAIの対象品種・変更条件は何か。工程設計で人が設定する内容、異常時の停止・復帰、他工程との接続仕様を確認する。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EOV-V007-2026-2 Hexagon Manufacturing Intelligence株式会社 JIMTOF2026公式カタログ：Hexagon Manufacturing Intelligence株式会社 (E2013)</a:t>
            </a:r>
          </a:p>
          <a:p xmlns:a="http://schemas.openxmlformats.org/drawingml/2006/main">
            <a:r>
              <a:t>https://www.jimtof.org/search/jp/ESdetails?e=6l20Qo0pjl4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EOV-W02 Hexagon ESPRIT EDGE Release Highlights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掲載位置 2025.2 PROPLANAI、2026.1 ProPlanAI for Turning, Mill-Turn &amp; Swiss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FT-J01 株式会社ジェイテクト Mill-Plan</a:t>
            </a:r>
          </a:p>
          <a:p xmlns:a="http://schemas.openxmlformats.org/drawingml/2006/main">
            <a:r>
              <a:t>小間 E8003</a:t>
            </a:r>
          </a:p>
          <a:p xmlns:a="http://schemas.openxmlformats.org/drawingml/2006/main">
            <a:r>
              <a:t>展示 展示予定を明記 公式JIMTOF特設に掲載。</a:t>
            </a:r>
          </a:p>
          <a:p xmlns:a="http://schemas.openxmlformats.org/drawingml/2006/main">
            <a:r>
              <a:t>入力 加工対象・機械・工具等。入力仕様の詳細は要確認。</a:t>
            </a:r>
          </a:p>
          <a:p xmlns:a="http://schemas.openxmlformats.org/drawingml/2006/main">
            <a:r>
              <a:t>方式 工具・姿勢・条件を含む工程設計を自動化する。</a:t>
            </a:r>
          </a:p>
          <a:p xmlns:a="http://schemas.openxmlformats.org/drawingml/2006/main">
            <a:r>
              <a:t>出力 加工工程案。</a:t>
            </a:r>
          </a:p>
          <a:p xmlns:a="http://schemas.openxmlformats.org/drawingml/2006/main">
            <a:r>
              <a:t>人 採用・修正・検証の手順は未確認。</a:t>
            </a:r>
          </a:p>
          <a:p xmlns:a="http://schemas.openxmlformats.org/drawingml/2006/main">
            <a:r>
              <a:t>限界 AIモデル利用を明示する資料は今回確認できない。</a:t>
            </a:r>
          </a:p>
          <a:p xmlns:a="http://schemas.openxmlformats.org/drawingml/2006/main">
            <a:r>
              <a:t>現地 CAD入力からの自動範囲、ルール／AIの別、工具DBと条件の同定、修正・検証工数を確認。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AR22 ジェイテクト JIMTOF2026</a:t>
            </a:r>
          </a:p>
          <a:p xmlns:a="http://schemas.openxmlformats.org/drawingml/2006/main">
            <a:r>
              <a:t>https://toyoda.jtekt.co.jp/jimtof2026/</a:t>
            </a:r>
          </a:p>
          <a:p xmlns:a="http://schemas.openxmlformats.org/drawingml/2006/main">
            <a:r>
              <a:t>掲載位置 Mill-Plan／fine-teachless／mJM</a:t>
            </a:r>
          </a:p>
          <a:p xmlns:a="http://schemas.openxmlformats.org/drawingml/2006/main">
            <a:r>
              <a:t>確認 2026-10-23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AR02 C&amp;Gシステムズ｜CAM-TOOL 機能紹介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https://www.cgsys.co.jp/jp/cam-tool/function_features.html</a:t>
            </a:r>
          </a:p>
          <a:p xmlns:a="http://schemas.openxmlformats.org/drawingml/2006/main">
            <a:r>
              <a:t>掲載位置 AI切削条件算出／Ver20.1・Ver22.2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AI技術の「データマイニング手法」を活用し</a:t>
            </a:r>
          </a:p>
          <a:p xmlns:a="http://schemas.openxmlformats.org/drawingml/2006/main">
            <a:r>
              <a:t>文脈要約 データマイニングにより工具・材質・加工条件から切削条件を算出。ユーザーの過去条件も学習できる。</a:t>
            </a:r>
          </a:p>
          <a:p xmlns:a="http://schemas.openxmlformats.org/drawingml/2006/main">
            <a:r>
              <a:t>留保 2026年に初めて実用化した機能ではない。加工中の閉ループ制御や機械への自動適用は不明。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AR16 ModuleWorks｜See you at JIMTOF 2026</a:t>
            </a:r>
          </a:p>
          <a:p xmlns:a="http://schemas.openxmlformats.org/drawingml/2006/main">
            <a:r>
              <a:t>発行 2026-10-15 確認 2026-10-23</a:t>
            </a:r>
          </a:p>
          <a:p xmlns:a="http://schemas.openxmlformats.org/drawingml/2006/main">
            <a:r>
              <a:t>https://www.moduleworks.com/see-you-at-jimtof-2026/</a:t>
            </a:r>
          </a:p>
          <a:p xmlns:a="http://schemas.openxmlformats.org/drawingml/2006/main">
            <a:r>
              <a:t>掲載位置 SmartRoughing／FeedControl／NGSP／CAS／MDES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工具経路・切削負荷の最適化から機上シミュレーション、衝突防止、データ交換までを提示。</a:t>
            </a:r>
          </a:p>
          <a:p xmlns:a="http://schemas.openxmlformats.org/drawingml/2006/main">
            <a:r>
              <a:t>留保 FeedControlの物理量による送り最適化を機械学習AIと推定しない。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AR28 ツールディスカバリー／JIMTOF｜AI切削条件計算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https://www.jimtof.org/search/jp/ESdetails?e=2N7pXq5Aehs</a:t>
            </a:r>
          </a:p>
          <a:p xmlns:a="http://schemas.openxmlformats.org/drawingml/2006/main">
            <a:r>
              <a:t>掲載位置 主な出展物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工具・材料・工程を選び、AIによる切削条件のガイドを得るWebツール。</a:t>
            </a:r>
          </a:p>
          <a:p xmlns:a="http://schemas.openxmlformats.org/drawingml/2006/main">
            <a:r>
              <a:t>留保 AIモデルの種類、再学習、精度保証は未公開。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AC095 株式会社C＆Gシステムズ CAM-TOOL AI切削条件算出</a:t>
            </a:r>
          </a:p>
          <a:p xmlns:a="http://schemas.openxmlformats.org/drawingml/2006/main">
            <a:r>
              <a:t>小間 E2008</a:t>
            </a:r>
          </a:p>
          <a:p xmlns:a="http://schemas.openxmlformats.org/drawingml/2006/main">
            <a:r>
              <a:t>展示 製品出展・当該機能未確認 CAM-TOOLの出展を告知。AI切削条件算出の版・実演対象は未確認。</a:t>
            </a:r>
          </a:p>
          <a:p xmlns:a="http://schemas.openxmlformats.org/drawingml/2006/main">
            <a:r>
              <a:t>入力 工具・ワーク材質・加工条件、ユーザーの過去の切削条件。</a:t>
            </a:r>
          </a:p>
          <a:p xmlns:a="http://schemas.openxmlformats.org/drawingml/2006/main">
            <a:r>
              <a:t>方式 データマイニングによる切削条件算出。ユーザー条件の学習にも対応。</a:t>
            </a:r>
          </a:p>
          <a:p xmlns:a="http://schemas.openxmlformats.org/drawingml/2006/main">
            <a:r>
              <a:t>出力 加工に用いる切削条件の候補。</a:t>
            </a:r>
          </a:p>
          <a:p xmlns:a="http://schemas.openxmlformats.org/drawingml/2006/main">
            <a:r>
              <a:t>人 工具・材料の選択、学習データ整備、算出条件の採否と試加工。</a:t>
            </a:r>
          </a:p>
          <a:p xmlns:a="http://schemas.openxmlformats.org/drawingml/2006/main">
            <a:r>
              <a:t>限界 AI切削条件算出はVer20.1にも記載。Ver22.2の適用拡張と、今回の実演機能は区別。</a:t>
            </a:r>
          </a:p>
          <a:p xmlns:a="http://schemas.openxmlformats.org/drawingml/2006/main">
            <a:r>
              <a:t>現地 学習に必要な成功・失敗条件の件数、未学習材への適用、推奨条件の信頼度と試加工の扱い。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AR03 C&amp;Gシステムズ CAM-TOOL 展示会情報</a:t>
            </a:r>
          </a:p>
          <a:p xmlns:a="http://schemas.openxmlformats.org/drawingml/2006/main">
            <a:r>
              <a:t>https://www.cgsys.co.jp/jp/products/event_ct.html</a:t>
            </a:r>
          </a:p>
          <a:p xmlns:a="http://schemas.openxmlformats.org/drawingml/2006/main">
            <a:r>
              <a:t>掲載位置 JIMTOF2026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AR02 C&amp;Gシステムズ CAM-TOOL 機能紹介</a:t>
            </a:r>
          </a:p>
          <a:p xmlns:a="http://schemas.openxmlformats.org/drawingml/2006/main">
            <a:r>
              <a:t>https://www.cgsys.co.jp/jp/cam-tool/function_features.html</a:t>
            </a:r>
          </a:p>
          <a:p xmlns:a="http://schemas.openxmlformats.org/drawingml/2006/main">
            <a:r>
              <a:t>掲載位置 AI切削条件算出／Ver20.1・Ver22.2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EEX-EXH-2026-8d7ad5c62f3412a9 株式会社C＆Gシステムズ JIMTOF2026公式出展説明：株式会社C＆Gシステムズ (E2008)</a:t>
            </a:r>
          </a:p>
          <a:p xmlns:a="http://schemas.openxmlformats.org/drawingml/2006/main">
            <a:r>
              <a:t>https://www.jimtof.org/search/jp/ESdetails?e=U_kHbhLD6rU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EEX-EXH-2024-bf5a20df5ebf4ff9 株式会社C&amp;Gシステムズ JIMTOF2024公式出展説明：株式会社C&amp;Gシステムズ (E4048)</a:t>
            </a:r>
          </a:p>
          <a:p xmlns:a="http://schemas.openxmlformats.org/drawingml/2006/main">
            <a:r>
              <a:t>https://www.jimtof.org/2024/search/jp/ESdetails?e=RVv4M6_8NyQ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FT-M01 ModuleWorks GmbH SmartRoughing／FeedControl</a:t>
            </a:r>
          </a:p>
          <a:p xmlns:a="http://schemas.openxmlformats.org/drawingml/2006/main">
            <a:r>
              <a:t>小間 S4005</a:t>
            </a:r>
          </a:p>
          <a:p xmlns:a="http://schemas.openxmlformats.org/drawingml/2006/main">
            <a:r>
              <a:t>展示 展示予定を明記 10/15公式出展記事に記載。小間S4005は元一覧に基づく。</a:t>
            </a:r>
          </a:p>
          <a:p xmlns:a="http://schemas.openxmlformats.org/drawingml/2006/main">
            <a:r>
              <a:t>入力 機械・工具・材料、切削力・切屑負荷・主軸トルク等のモデル。</a:t>
            </a:r>
          </a:p>
          <a:p xmlns:a="http://schemas.openxmlformats.org/drawingml/2006/main">
            <a:r>
              <a:t>方式 SmartRoughingで送り・回転・切込み等を設定。FeedControlは切削力、切りくず厚、トルク、動力等の制約から送りを最適化。</a:t>
            </a:r>
          </a:p>
          <a:p xmlns:a="http://schemas.openxmlformats.org/drawingml/2006/main">
            <a:r>
              <a:t>出力 加工条件・送りの最適化案。</a:t>
            </a:r>
          </a:p>
          <a:p xmlns:a="http://schemas.openxmlformats.org/drawingml/2006/main">
            <a:r>
              <a:t>人 モデル設定・適用限界と採用時の確認は要確認。</a:t>
            </a:r>
          </a:p>
          <a:p xmlns:a="http://schemas.openxmlformats.org/drawingml/2006/main">
            <a:r>
              <a:t>限界 機械学習の採用は未確認。加工モデルの校正条件と、機上での動的再計算範囲は確認が必要。</a:t>
            </a:r>
          </a:p>
          <a:p xmlns:a="http://schemas.openxmlformats.org/drawingml/2006/main">
            <a:r>
              <a:t>現地 モデル同定に必要な実測、材料・工具の適用範囲、予測誤差、最適化後の検証を確認。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AR16 ModuleWorks See you at JIMTOF 2026</a:t>
            </a:r>
          </a:p>
          <a:p xmlns:a="http://schemas.openxmlformats.org/drawingml/2006/main">
            <a:r>
              <a:t>https://www.moduleworks.com/see-you-at-jimtof-2026/</a:t>
            </a:r>
          </a:p>
          <a:p xmlns:a="http://schemas.openxmlformats.org/drawingml/2006/main">
            <a:r>
              <a:t>掲載位置 SmartRoughing／FeedControl／NGSP／CAS／MDES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AC136 有限会社ツールディスカバリー 切削条件AI計算ツール</a:t>
            </a:r>
          </a:p>
          <a:p xmlns:a="http://schemas.openxmlformats.org/drawingml/2006/main">
            <a:r>
              <a:t>小間 W1069</a:t>
            </a:r>
          </a:p>
          <a:p xmlns:a="http://schemas.openxmlformats.org/drawingml/2006/main">
            <a:r>
              <a:t>展示 出展説明に掲載 2026公式カタログ掲載・現地未確認</a:t>
            </a:r>
          </a:p>
          <a:p xmlns:a="http://schemas.openxmlformats.org/drawingml/2006/main">
            <a:r>
              <a:t>入力 工具・材料・加工工程の選択情報。</a:t>
            </a:r>
          </a:p>
          <a:p xmlns:a="http://schemas.openxmlformats.org/drawingml/2006/main">
            <a:r>
              <a:t>方式 スマートフォン等のWeb画面で指定した条件からAIが推奨切削条件を計算する。</a:t>
            </a:r>
          </a:p>
          <a:p xmlns:a="http://schemas.openxmlformats.org/drawingml/2006/main">
            <a:r>
              <a:t>出力 切削条件のガイド。</a:t>
            </a:r>
          </a:p>
          <a:p xmlns:a="http://schemas.openxmlformats.org/drawingml/2006/main">
            <a:r>
              <a:t>人 入力条件の選択と推奨値の採否、試加工・機械設定。</a:t>
            </a:r>
          </a:p>
          <a:p xmlns:a="http://schemas.openxmlformats.org/drawingml/2006/main">
            <a:r>
              <a:t>限界 モデル・学習データ・推奨精度の根拠は未確認。</a:t>
            </a:r>
          </a:p>
          <a:p xmlns:a="http://schemas.openxmlformats.org/drawingml/2006/main">
            <a:r>
              <a:t>現地 切削条件AI計算ツールの対象品種・変更条件は何か。加工・仕上げ制御で人が設定する内容、異常時の停止・復帰、他工程との接続仕様を確認する。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AR28 ツールディスカバリー／JIMTOF AI切削条件計算</a:t>
            </a:r>
          </a:p>
          <a:p xmlns:a="http://schemas.openxmlformats.org/drawingml/2006/main">
            <a:r>
              <a:t>https://www.jimtof.org/search/jp/ESdetails?e=2N7pXq5Aehs</a:t>
            </a:r>
          </a:p>
          <a:p xmlns:a="http://schemas.openxmlformats.org/drawingml/2006/main">
            <a:r>
              <a:t>掲載位置 主な出展物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ERF-12 JIMTOF公式・ツールディスカバリー W1069合同掲載：切削条件カリキュレーター</a:t>
            </a:r>
          </a:p>
          <a:p xmlns:a="http://schemas.openxmlformats.org/drawingml/2006/main">
            <a:r>
              <a:t>https://www.jimtof.org/search/jp/ExhibitorDetails?b=W1069</a:t>
            </a:r>
          </a:p>
          <a:p xmlns:a="http://schemas.openxmlformats.org/drawingml/2006/main">
            <a:r>
              <a:t>掲載位置 有限会社ツールディスカバリー見出し／工具・被削材・加工方法、AI条件目安、登録不要</a:t>
            </a:r>
          </a:p>
          <a:p xmlns:a="http://schemas.openxmlformats.org/drawingml/2006/main">
            <a:r>
              <a:t>確認 2026-10-18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AR15 オークマ｜OSP-AI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https://www.okuma.co.jp/smart-factory/osp-suite/osp-ai.php</a:t>
            </a:r>
          </a:p>
          <a:p xmlns:a="http://schemas.openxmlformats.org/drawingml/2006/main">
            <a:r>
              <a:t>掲載位置 AI機械診断／AI加工診断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機械診断は診断運転から異常箇所を提示。加工診断は制御情報の異常レベルに応じ工具を自動退避する。</a:t>
            </a:r>
          </a:p>
          <a:p xmlns:a="http://schemas.openxmlformats.org/drawingml/2006/main">
            <a:r>
              <a:t>留保 診断後の修理・復帰の自律化や、あらゆる工具・加工への適用は未確認。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AR01 コマツ｜JIMTOF2026に出展</a:t>
            </a:r>
          </a:p>
          <a:p xmlns:a="http://schemas.openxmlformats.org/drawingml/2006/main">
            <a:r>
              <a:t>発行 2026-10-22 確認 2026-10-23</a:t>
            </a:r>
          </a:p>
          <a:p xmlns:a="http://schemas.openxmlformats.org/drawingml/2006/main">
            <a:r>
              <a:t>https://www.komatsu.jp/ja/newsroom/2026/20261022_01</a:t>
            </a:r>
          </a:p>
          <a:p xmlns:a="http://schemas.openxmlformats.org/drawingml/2006/main">
            <a:r>
              <a:t>掲載位置 CX500／KOM-Scheduler／Gate Keeper／KOMTAS／KOM-MICS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画像による切りくず堆積検知、工具交換時期の予測、加工異常のしきい値設定を別機能として展示。Gate Keeperはコンセプト展示。</a:t>
            </a:r>
          </a:p>
          <a:p xmlns:a="http://schemas.openxmlformats.org/drawingml/2006/main">
            <a:r>
              <a:t>留保 切りくずの自動除去、全工場の自動再計画、KOMTASの機械学習方式は確認できない。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FT-O01 オークマ株式会社 OSP-AI 機械診断／加工診断</a:t>
            </a:r>
          </a:p>
          <a:p xmlns:a="http://schemas.openxmlformats.org/drawingml/2006/main">
            <a:r>
              <a:t>小間 E3028</a:t>
            </a:r>
          </a:p>
          <a:p xmlns:a="http://schemas.openxmlformats.org/drawingml/2006/main">
            <a:r>
              <a:t>展示 展示未確認 AIコーナーの予告と製品資料は確認。同版・同機能の実演を明記した資料は未確認。</a:t>
            </a:r>
          </a:p>
          <a:p xmlns:a="http://schemas.openxmlformats.org/drawingml/2006/main">
            <a:r>
              <a:t>入力 機械診断：診断運転中の制御データ。加工診断：主軸・送り軸等の加工中制御情報。</a:t>
            </a:r>
          </a:p>
          <a:p xmlns:a="http://schemas.openxmlformats.org/drawingml/2006/main">
            <a:r>
              <a:t>方式 機械診断は異常・異常箇所を推定。加工診断は異常レベルを評価し閾値超過で工具を退避。</a:t>
            </a:r>
          </a:p>
          <a:p xmlns:a="http://schemas.openxmlformats.org/drawingml/2006/main">
            <a:r>
              <a:t>出力 診断箇所の表示／加工異常時の工具退避。修理の自動化は確認できない。</a:t>
            </a:r>
          </a:p>
          <a:p xmlns:a="http://schemas.openxmlformats.org/drawingml/2006/main">
            <a:r>
              <a:t>人 機械診断の開始、診断結果に基づく整備、工具確認・再開。しきい値と適用機種の設定条件は要確認。</a:t>
            </a:r>
          </a:p>
          <a:p xmlns:a="http://schemas.openxmlformats.org/drawingml/2006/main">
            <a:r>
              <a:t>限界 一部特別仕様。今回の特設はAIコーナーを予告するが、同機能・版の個別実演は未確認。</a:t>
            </a:r>
          </a:p>
          <a:p xmlns:a="http://schemas.openxmlformats.org/drawingml/2006/main">
            <a:r>
              <a:t>現地 診断用運転と加工中監視の違い、ドリル以外の適用、退避指令・復帰条件、新版の追加能力を確認。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AR15 オークマ OSP-AI</a:t>
            </a:r>
          </a:p>
          <a:p xmlns:a="http://schemas.openxmlformats.org/drawingml/2006/main">
            <a:r>
              <a:t>https://www.okuma.co.jp/smart-factory/osp-suite/osp-ai.php</a:t>
            </a:r>
          </a:p>
          <a:p xmlns:a="http://schemas.openxmlformats.org/drawingml/2006/main">
            <a:r>
              <a:t>掲載位置 AI機械診断／AI加工診断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FT20 オークマ JIMTOF2026 特設サイト</a:t>
            </a:r>
          </a:p>
          <a:p xmlns:a="http://schemas.openxmlformats.org/drawingml/2006/main">
            <a:r>
              <a:t>https://www.okuma.co.jp/event/jimtof/2026/</a:t>
            </a:r>
          </a:p>
          <a:p xmlns:a="http://schemas.openxmlformats.org/drawingml/2006/main">
            <a:r>
              <a:t>掲載位置 AIコーナー／知能化コーナー／ARMROID等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FC049 TAKISAWA TR-20W：主軸の切粉除去</a:t>
            </a:r>
          </a:p>
          <a:p xmlns:a="http://schemas.openxmlformats.org/drawingml/2006/main">
            <a:r>
              <a:t>小間 E3013</a:t>
            </a:r>
          </a:p>
          <a:p xmlns:a="http://schemas.openxmlformats.org/drawingml/2006/main">
            <a:r>
              <a:t>展示 参考出展予定 公式特設でTR20Wによる切粉の認識・判断・除去を参考出品と明記。</a:t>
            </a:r>
          </a:p>
          <a:p xmlns:a="http://schemas.openxmlformats.org/drawingml/2006/main">
            <a:r>
              <a:t>入力 主軸に絡まった切粉の状況。センサ種・学習データは非開示</a:t>
            </a:r>
          </a:p>
          <a:p xmlns:a="http://schemas.openxmlformats.org/drawingml/2006/main">
            <a:r>
              <a:t>方式 切粉の絡まり状況を認識・判断するとメーカーが説明</a:t>
            </a:r>
          </a:p>
          <a:p xmlns:a="http://schemas.openxmlformats.org/drawingml/2006/main">
            <a:r>
              <a:t>出力 台車型TR-20Wのロボットが主軸の切粉を除去する予定</a:t>
            </a:r>
          </a:p>
          <a:p xmlns:a="http://schemas.openxmlformats.org/drawingml/2006/main">
            <a:r>
              <a:t>人 未記載：対象切粉・機械配置・除去具の設定手順／未記載：動作前の承認、機械インターロックと許可範囲／未記載：除去失敗の検出・再試行・停止後の人への引継ぎ</a:t>
            </a:r>
          </a:p>
          <a:p xmlns:a="http://schemas.openxmlformats.org/drawingml/2006/main">
            <a:r>
              <a:t>限界 未知の絡まり、除去力・接触回避・完了確認・成功率は未確認。市販済みと扱わない</a:t>
            </a:r>
          </a:p>
          <a:p xmlns:a="http://schemas.openxmlformats.org/drawingml/2006/main">
            <a:r>
              <a:t>現地 未知の絡まり・絡まり方の変化への対応、認識センサ・学習法、接触力・除去完了判定、失敗後の再試行を確認。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EOV-V030-2024-1 株式会社TAKISAWA JIMTOF2024公式カタログ：株式会社TAKISAWA (E3013)</a:t>
            </a:r>
          </a:p>
          <a:p xmlns:a="http://schemas.openxmlformats.org/drawingml/2006/main">
            <a:r>
              <a:t>https://www.jimtof.org/2024/search/jp/ESdetails?e=K00DRD-BngA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EOV-V030-2026-1 株式会社TAKISAWA JIMTOF2026公式カタログ：株式会社TAKISAWA (E3013)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EAT-N01 ニデック JIMTOF2026 TR-20W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掲載位置 TR-20W：フィジカルAI搭載のロボットシステム（参考出品）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EAT-N02 ニデック MGC300開発発表</a:t>
            </a:r>
          </a:p>
          <a:p xmlns:a="http://schemas.openxmlformats.org/drawingml/2006/main">
            <a:r>
              <a:t>https://www.nidec.com/jp/product/news/2024/news1101-03/</a:t>
            </a:r>
          </a:p>
          <a:p xmlns:a="http://schemas.openxmlformats.org/drawingml/2006/main">
            <a:r>
              <a:t>掲載位置 2024年11月1日／MGC300の出展説明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ERF-13 ニデック／TAKISAWA JIMTOF2026：TR-20W参考出品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掲載位置 TAKISAWA／TR-20W、主軸の切粉認識・判断・除去、参考出品</a:t>
            </a:r>
          </a:p>
          <a:p xmlns:a="http://schemas.openxmlformats.org/drawingml/2006/main">
            <a:r>
              <a:t>確認 2026-10-18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AR-C01 コマツNTC株式会社 KOM-MICS AI予知保全（切りくず検知）</a:t>
            </a:r>
          </a:p>
          <a:p xmlns:a="http://schemas.openxmlformats.org/drawingml/2006/main">
            <a:r>
              <a:t>小間 E1058</a:t>
            </a:r>
          </a:p>
          <a:p xmlns:a="http://schemas.openxmlformats.org/drawingml/2006/main">
            <a:r>
              <a:t>展示 展示予定を明記 コマツの2026年10月22日付告知で個別機能を明記。</a:t>
            </a:r>
          </a:p>
          <a:p xmlns:a="http://schemas.openxmlformats.org/drawingml/2006/main">
            <a:r>
              <a:t>入力 機内カメラ画像。</a:t>
            </a:r>
          </a:p>
          <a:p xmlns:a="http://schemas.openxmlformats.org/drawingml/2006/main">
            <a:r>
              <a:t>方式 AIが切りくずの堆積増加・異常を画像で検知する。</a:t>
            </a:r>
          </a:p>
          <a:p xmlns:a="http://schemas.openxmlformats.org/drawingml/2006/main">
            <a:r>
              <a:t>出力 洗浄を促す通知。</a:t>
            </a:r>
          </a:p>
          <a:p xmlns:a="http://schemas.openxmlformats.org/drawingml/2006/main">
            <a:r>
              <a:t>人 通知を受けて洗浄・処置する。撮像・学習・閾値設定は現地確認。</a:t>
            </a:r>
          </a:p>
          <a:p xmlns:a="http://schemas.openxmlformats.org/drawingml/2006/main">
            <a:r>
              <a:t>限界 AIが洗浄・除去動作を実行する記載はない。</a:t>
            </a:r>
          </a:p>
          <a:p xmlns:a="http://schemas.openxmlformats.org/drawingml/2006/main">
            <a:r>
              <a:t>現地 切りくず材質・照明変化への頑健性、誤報・見逃し、通知後の対応時間と洗浄との接続。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AR01 コマツ JIMTOF2026に出展</a:t>
            </a:r>
          </a:p>
          <a:p xmlns:a="http://schemas.openxmlformats.org/drawingml/2006/main">
            <a:r>
              <a:t>https://www.komatsu.jp/ja/newsroom/2026/20261022_01</a:t>
            </a:r>
          </a:p>
          <a:p xmlns:a="http://schemas.openxmlformats.org/drawingml/2006/main">
            <a:r>
              <a:t>掲載位置 CX500／KOM-Scheduler／Gate Keeper／KOMTAS／KOM-MICS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AR-C02 コマツNTC株式会社 KOMTAS 異常判定しきい値の自動設定</a:t>
            </a:r>
          </a:p>
          <a:p xmlns:a="http://schemas.openxmlformats.org/drawingml/2006/main">
            <a:r>
              <a:t>小間 E1058</a:t>
            </a:r>
          </a:p>
          <a:p xmlns:a="http://schemas.openxmlformats.org/drawingml/2006/main">
            <a:r>
              <a:t>展示 展示予定を明記 コマツの2026年10月22日付告知で個別機能を明記。</a:t>
            </a:r>
          </a:p>
          <a:p xmlns:a="http://schemas.openxmlformats.org/drawingml/2006/main">
            <a:r>
              <a:t>入力 加工負荷等の監視データ。信号・学習期間の詳細は要確認。</a:t>
            </a:r>
          </a:p>
          <a:p xmlns:a="http://schemas.openxmlformats.org/drawingml/2006/main">
            <a:r>
              <a:t>方式 正常・異常を判定するしきい値を自動設定する。AI方式は告知から確認できない。</a:t>
            </a:r>
          </a:p>
          <a:p xmlns:a="http://schemas.openxmlformats.org/drawingml/2006/main">
            <a:r>
              <a:t>出力 加工異常監視の判定条件。</a:t>
            </a:r>
          </a:p>
          <a:p xmlns:a="http://schemas.openxmlformats.org/drawingml/2006/main">
            <a:r>
              <a:t>人 適用工程の選択、判定結果の確認、異常時の処置。</a:t>
            </a:r>
          </a:p>
          <a:p xmlns:a="http://schemas.openxmlformats.org/drawingml/2006/main">
            <a:r>
              <a:t>限界 自動設定のアルゴリズム、追従更新、工具停止制御は未確認。</a:t>
            </a:r>
          </a:p>
          <a:p xmlns:a="http://schemas.openxmlformats.org/drawingml/2006/main">
            <a:r>
              <a:t>現地 正常学習期間、工具交換後の再設定、誤検知率、停止・退避とのインターフェース。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AR01 コマツ JIMTOF2026に出展</a:t>
            </a:r>
          </a:p>
          <a:p xmlns:a="http://schemas.openxmlformats.org/drawingml/2006/main">
            <a:r>
              <a:t>https://www.komatsu.jp/ja/newsroom/2026/20261022_01</a:t>
            </a:r>
          </a:p>
          <a:p xmlns:a="http://schemas.openxmlformats.org/drawingml/2006/main">
            <a:r>
              <a:t>掲載位置 CX500／KOM-Scheduler／Gate Keeper／KOMTAS／KOM-MICS</a:t>
            </a:r>
          </a:p>
          <a:p xmlns:a="http://schemas.openxmlformats.org/drawingml/2006/main">
            <a:r>
              <a:t>確認 2026-10-23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AR17 レニショー｜Renishaw Central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掲載位置 IPC／工作機械への補正／ダッシュボード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測定・加工状態を収集し、IPCで機械変数に補正を返す。分析・監視表示も提供。</a:t>
            </a:r>
          </a:p>
          <a:p xmlns:a="http://schemas.openxmlformats.org/drawingml/2006/main">
            <a:r>
              <a:t>留保 閉ループ制御の説明はあるが、学習AIを使う証拠にはならない。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AR36 牧野フライス精機｜JIMTOF2026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https://www.makinoseiki.co.jp/exhibition/jimtof2026.html</a:t>
            </a:r>
          </a:p>
          <a:p xmlns:a="http://schemas.openxmlformats.org/drawingml/2006/main">
            <a:r>
              <a:t>掲載位置 SG10EX／monocam2／AGE30FX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工具の画像計測と自動補正、再研削のスケジュール機能を紹介。</a:t>
            </a:r>
          </a:p>
          <a:p xmlns:a="http://schemas.openxmlformats.org/drawingml/2006/main">
            <a:r>
              <a:t>留保 自動計測・補正だけでは学習AIの証拠にならない。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AR23 サイバーRC／JIMTOF｜GH5 出展説明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https://www.jimtof.org/search/jp/ESdetails?e=8ealehgmk8o</a:t>
            </a:r>
          </a:p>
          <a:p xmlns:a="http://schemas.openxmlformats.org/drawingml/2006/main">
            <a:r>
              <a:t>掲載位置 主な出展物／3D画像とAI補正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カメラで工具形状を認識し、設定された幅・角度へ加工を補正するホーニングを訴求。</a:t>
            </a:r>
          </a:p>
          <a:p xmlns:a="http://schemas.openxmlformats.org/drawingml/2006/main">
            <a:r>
              <a:t>留保 AIモデルの種類、精度と再試行条件は未公開。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FC033 レニショー Renishaw Central＋IPC</a:t>
            </a:r>
          </a:p>
          <a:p xmlns:a="http://schemas.openxmlformats.org/drawingml/2006/main">
            <a:r>
              <a:t>小間 E7089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計測、装置状態、アラーム</a:t>
            </a:r>
          </a:p>
          <a:p xmlns:a="http://schemas.openxmlformats.org/drawingml/2006/main">
            <a:r>
              <a:t>方式 測定・加工状態・アラームをオンプレミスに収集。IPCで測定結果から工作機械の変数へ補正を返す。</a:t>
            </a:r>
          </a:p>
          <a:p xmlns:a="http://schemas.openxmlformats.org/drawingml/2006/main">
            <a:r>
              <a:t>出力 加工へのクローズドループ補正</a:t>
            </a:r>
          </a:p>
          <a:p xmlns:a="http://schemas.openxmlformats.org/drawingml/2006/main">
            <a:r>
              <a:t>人 測定・補正対象と許容範囲の設定、アラーム時の処置。補正承認条件は要確認。</a:t>
            </a:r>
          </a:p>
          <a:p xmlns:a="http://schemas.openxmlformats.org/drawingml/2006/main">
            <a:r>
              <a:t>限界 どの寸法がどのオフセットを変えるか。誤計測時の補正抑止と顧客実績を確認する。</a:t>
            </a:r>
          </a:p>
          <a:p xmlns:a="http://schemas.openxmlformats.org/drawingml/2006/main">
            <a:r>
              <a:t>現地 Renishaw Central＋IPCの対象品種・変更条件は何か。測定から加工へ補正で人が設定する内容、異常時の停止・復帰、他工程との接続仕様を確認する。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AR17 レニショー Renishaw Central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掲載位置 IPC／工作機械への補正／ダッシュボード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EOV-V018-2024-1 レニショー株式会社 JIMTOF2024公式カタログ：レニショー株式会社 (E7026)</a:t>
            </a:r>
          </a:p>
          <a:p xmlns:a="http://schemas.openxmlformats.org/drawingml/2006/main">
            <a:r>
              <a:t>https://www.jimtof.org/2024/search/jp/ESdetails?e=ekM3exgIAtc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EOV-V018-2026-1 レニショー株式会社 JIMTOF2026公式カタログ：レニショー株式会社 (E7089)</a:t>
            </a:r>
          </a:p>
          <a:p xmlns:a="http://schemas.openxmlformats.org/drawingml/2006/main">
            <a:r>
              <a:t>https://www.jimtof.org/search/jp/ESdetails?e=pYGmVz5GC1c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AC209 牧野フライス精機株式会社 SG10EX＋monocam2</a:t>
            </a:r>
          </a:p>
          <a:p xmlns:a="http://schemas.openxmlformats.org/drawingml/2006/main">
            <a:r>
              <a:t>小間 E7090</a:t>
            </a:r>
          </a:p>
          <a:p xmlns:a="http://schemas.openxmlformats.org/drawingml/2006/main">
            <a:r>
              <a:t>展示 展示予定を明記 SG10EX＋monocam2の画像認識測定・自動補正を公式に実演予告。</a:t>
            </a:r>
          </a:p>
          <a:p xmlns:a="http://schemas.openxmlformats.org/drawingml/2006/main">
            <a:r>
              <a:t>入力 内蔵ビジョンで取得するエンドミル側面形状。</a:t>
            </a:r>
          </a:p>
          <a:p xmlns:a="http://schemas.openxmlformats.org/drawingml/2006/main">
            <a:r>
              <a:t>方式 monocam2で工具を機内測定し、研削へ自動補正を返す。</a:t>
            </a:r>
          </a:p>
          <a:p xmlns:a="http://schemas.openxmlformats.org/drawingml/2006/main">
            <a:r>
              <a:t>出力 工具形状の測定値と研削補正。</a:t>
            </a:r>
          </a:p>
          <a:p xmlns:a="http://schemas.openxmlformats.org/drawingml/2006/main">
            <a:r>
              <a:t>人 測定基準・補正限界・再測定の設定は要確認。</a:t>
            </a:r>
          </a:p>
          <a:p xmlns:a="http://schemas.openxmlformats.org/drawingml/2006/main">
            <a:r>
              <a:t>限界 個別モデル・設定条件・適用限界・人の残作業を未確認として残す。</a:t>
            </a:r>
          </a:p>
          <a:p xmlns:a="http://schemas.openxmlformats.org/drawingml/2006/main">
            <a:r>
              <a:t>現地 SG10EX＋monocam2の対象品種・変更条件は何か。工程設計・プログラム生成で人が設定する内容、異常時の停止・復帰、他工程との接続仕様を確認する。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AR36 牧野フライス精機 JIMTOF2026</a:t>
            </a:r>
          </a:p>
          <a:p xmlns:a="http://schemas.openxmlformats.org/drawingml/2006/main">
            <a:r>
              <a:t>https://www.makinoseiki.co.jp/exhibition/jimtof2026.html</a:t>
            </a:r>
          </a:p>
          <a:p xmlns:a="http://schemas.openxmlformats.org/drawingml/2006/main">
            <a:r>
              <a:t>掲載位置 SG10EX／monocam2／AGE30FX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EEX-EXH-2026-41a8f9ad241e4c0e 牧野フライス精機株式会社 JIMTOF2026公式出展説明：牧野フライス精機株式会社 (E7090)</a:t>
            </a:r>
          </a:p>
          <a:p xmlns:a="http://schemas.openxmlformats.org/drawingml/2006/main">
            <a:r>
              <a:t>https://www.jimtof.org/search/jp/ESdetails?e=jlC7OSSk2O4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EEX-EXH-2024-8678f2b8e7d82522 牧野フライス精機株式会社 JIMTOF2024公式出展説明：牧野フライス精機株式会社 (E1049)</a:t>
            </a:r>
          </a:p>
          <a:p xmlns:a="http://schemas.openxmlformats.org/drawingml/2006/main">
            <a:r>
              <a:t>https://www.jimtof.org/2024/search/jp/ESdetails?e=uvTY1qMfjes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AC085 株式会社サイバーRC GH5 AI補正ホーニング</a:t>
            </a:r>
          </a:p>
          <a:p xmlns:a="http://schemas.openxmlformats.org/drawingml/2006/main">
            <a:r>
              <a:t>小間 E7074</a:t>
            </a:r>
          </a:p>
          <a:p xmlns:a="http://schemas.openxmlformats.org/drawingml/2006/main">
            <a:r>
              <a:t>展示 出展説明に掲載 2026公式カタログ掲載・現地未確認</a:t>
            </a:r>
          </a:p>
          <a:p xmlns:a="http://schemas.openxmlformats.org/drawingml/2006/main">
            <a:r>
              <a:t>入力 機内カメラによる工具形状の画像、目標の幅・角度等。</a:t>
            </a:r>
          </a:p>
          <a:p xmlns:a="http://schemas.openxmlformats.org/drawingml/2006/main">
            <a:r>
              <a:t>方式 3D画像とAIによる形状認識・補正をうたい、ホーニングを目標幅・角度へ調整する。</a:t>
            </a:r>
          </a:p>
          <a:p xmlns:a="http://schemas.openxmlformats.org/drawingml/2006/main">
            <a:r>
              <a:t>出力 GH5がホーニングを自動調整。測定・加工・検査を一体化</a:t>
            </a:r>
          </a:p>
          <a:p xmlns:a="http://schemas.openxmlformats.org/drawingml/2006/main">
            <a:r>
              <a:t>人 数値・対話式の条件設定、加工品の準備、結果確認。</a:t>
            </a:r>
          </a:p>
          <a:p xmlns:a="http://schemas.openxmlformats.org/drawingml/2006/main">
            <a:r>
              <a:t>限界 学習法、精度、未学習形状、失敗後の補正・再試行条件は未公開。</a:t>
            </a:r>
          </a:p>
          <a:p xmlns:a="http://schemas.openxmlformats.org/drawingml/2006/main">
            <a:r>
              <a:t>現地 GH5 AI補正ホーニングの対象品種・変更条件は何か。検査・計測・補正で人が設定する内容、異常時の停止・復帰、他工程との接続仕様を確認する。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AR23 サイバーRC／JIMTOF GH5 出展説明</a:t>
            </a:r>
          </a:p>
          <a:p xmlns:a="http://schemas.openxmlformats.org/drawingml/2006/main">
            <a:r>
              <a:t>https://www.jimtof.org/search/jp/ESdetails?e=8ealehgmk8o</a:t>
            </a:r>
          </a:p>
          <a:p xmlns:a="http://schemas.openxmlformats.org/drawingml/2006/main">
            <a:r>
              <a:t>掲載位置 主な出展物／3D画像とAI補正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EEX-EXH-2024-76ac534a229f7c29 株式会社サイバーRC JIMTOF2024公式出展説明：株式会社サイバーRC (W3046)</a:t>
            </a:r>
          </a:p>
          <a:p xmlns:a="http://schemas.openxmlformats.org/drawingml/2006/main">
            <a:r>
              <a:t>https://www.jimtof.org/2024/search/jp/ESdetails?e=wk2AEX5rHpw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EDP-02 サイバーRC GH5総合カタログ</a:t>
            </a:r>
          </a:p>
          <a:p xmlns:a="http://schemas.openxmlformats.org/drawingml/2006/main">
            <a:r>
              <a:t>https://cyber-rc.com/wp-content/uploads/2025/10/%E7%B7%8F%E5%90%88%E3%82%AB%E3%82%BF%E3%83%AD%E3%82%B0420-x-297-mm%E6%A8%AA%E4%B8%A6%E3%81%B3-.pdf</a:t>
            </a:r>
          </a:p>
          <a:p xmlns:a="http://schemas.openxmlformats.org/drawingml/2006/main">
            <a:r>
              <a:t>掲載位置 GRISTAR HONING 5 AXIS／幅・角度設定、Robot Eye、自動調整</a:t>
            </a:r>
          </a:p>
          <a:p xmlns:a="http://schemas.openxmlformats.org/drawingml/2006/main">
            <a:r>
              <a:t>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AR19 Phoxter｜JIMTOF2026に出展</a:t>
            </a:r>
          </a:p>
          <a:p xmlns:a="http://schemas.openxmlformats.org/drawingml/2006/main">
            <a:r>
              <a:t>発行 2026-10-19 確認 2026-10-23</a:t>
            </a:r>
          </a:p>
          <a:p xmlns:a="http://schemas.openxmlformats.org/drawingml/2006/main">
            <a:r>
              <a:t>https://www.phoxter.co.jp/news/jimtof2026</a:t>
            </a:r>
          </a:p>
          <a:p xmlns:a="http://schemas.openxmlformats.org/drawingml/2006/main">
            <a:r>
              <a:t>掲載位置 良品学習／6軸ロボット連携／全方位AI外観検査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良品のみの学習と難検査ワーク、多視点のロボット検査を予告。</a:t>
            </a:r>
          </a:p>
          <a:p xmlns:a="http://schemas.openxmlformats.org/drawingml/2006/main">
            <a:r>
              <a:t>留保 AIが撮像姿勢を再計画するとは記載されていない。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FT-P01 株式会社Phoxter StellaDeepVision Studio／StellaController2.0</a:t>
            </a:r>
          </a:p>
          <a:p xmlns:a="http://schemas.openxmlformats.org/drawingml/2006/main">
            <a:r>
              <a:t>小間 S4028</a:t>
            </a:r>
          </a:p>
          <a:p xmlns:a="http://schemas.openxmlformats.org/drawingml/2006/main">
            <a:r>
              <a:t>展示 展示予定を明記 10/19公式出展記事、S4028。</a:t>
            </a:r>
          </a:p>
          <a:p xmlns:a="http://schemas.openxmlformats.org/drawingml/2006/main">
            <a:r>
              <a:t>入力 良品画像、鋳造部品・オイルシール等の検査画像。</a:t>
            </a:r>
          </a:p>
          <a:p xmlns:a="http://schemas.openxmlformats.org/drawingml/2006/main">
            <a:r>
              <a:t>方式 新しい数理モデルによる良品学習とルール検査を併用。6軸ロボット連携の多面検査を実演予定。</a:t>
            </a:r>
          </a:p>
          <a:p xmlns:a="http://schemas.openxmlformats.org/drawingml/2006/main">
            <a:r>
              <a:t>出力 欠陥判定・多方向からの検査。</a:t>
            </a:r>
          </a:p>
          <a:p xmlns:a="http://schemas.openxmlformats.org/drawingml/2006/main">
            <a:r>
              <a:t>人 良品画像の準備、判定閾値と撮像・ロボット条件の設定。再撮像の判断を誰が行うか要確認。</a:t>
            </a:r>
          </a:p>
          <a:p xmlns:a="http://schemas.openxmlformats.org/drawingml/2006/main">
            <a:r>
              <a:t>限界 AI判定でロボットの視点・動作を変更するかは不明。固定撮像＋AI検査だけでは先端フィジカルAIと認定しない。</a:t>
            </a:r>
          </a:p>
          <a:p xmlns:a="http://schemas.openxmlformats.org/drawingml/2006/main">
            <a:r>
              <a:t>現地 必要画像のばらつき、不良流出・過検出、既存方式との差、検査NG時の再撮像・搬送変更を確認。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AR19 Phoxter JIMTOF2026に出展</a:t>
            </a:r>
          </a:p>
          <a:p xmlns:a="http://schemas.openxmlformats.org/drawingml/2006/main">
            <a:r>
              <a:t>https://www.phoxter.co.jp/news/jimtof2026</a:t>
            </a:r>
          </a:p>
          <a:p xmlns:a="http://schemas.openxmlformats.org/drawingml/2006/main">
            <a:r>
              <a:t>掲載位置 良品学習／6軸ロボット連携／全方位AI外観検査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FT-G01 株式会社GAZIRU GAZIRU.eye 良品学習AI検査</a:t>
            </a:r>
          </a:p>
          <a:p xmlns:a="http://schemas.openxmlformats.org/drawingml/2006/main">
            <a:r>
              <a:t>小間 E3008</a:t>
            </a:r>
          </a:p>
          <a:p xmlns:a="http://schemas.openxmlformats.org/drawingml/2006/main">
            <a:r>
              <a:t>展示 展示予定を明記 GAZIRU公式出展記事でE3008とGAZIRU.eyeを明記。</a:t>
            </a:r>
          </a:p>
          <a:p xmlns:a="http://schemas.openxmlformats.org/drawingml/2006/main">
            <a:r>
              <a:t>入力 正常画像、運用時の検査画像。</a:t>
            </a:r>
          </a:p>
          <a:p xmlns:a="http://schemas.openxmlformats.org/drawingml/2006/main">
            <a:r>
              <a:t>方式 良品学習後に異常スコア・ヒートマップを出力。複数エンジンの選択・並列実行に対応。</a:t>
            </a:r>
          </a:p>
          <a:p xmlns:a="http://schemas.openxmlformats.org/drawingml/2006/main">
            <a:r>
              <a:t>出力 画像の良否・異常箇所とAPI応答。</a:t>
            </a:r>
          </a:p>
          <a:p xmlns:a="http://schemas.openxmlformats.org/drawingml/2006/main">
            <a:r>
              <a:t>人 事前検証でモデル・パラメータ・閾値を選ぶ。ライン制御は個別のシステム構築。</a:t>
            </a:r>
          </a:p>
          <a:p xmlns:a="http://schemas.openxmlformats.org/drawingml/2006/main">
            <a:r>
              <a:t>限界 異常スコアの可視化は因果的な説明の保証ではない。汚れ・照明・品種変動への性能は要検証。</a:t>
            </a:r>
          </a:p>
          <a:p xmlns:a="http://schemas.openxmlformats.org/drawingml/2006/main">
            <a:r>
              <a:t>現地 新品種での立上げ、NGの定義・閾値、API後の排出制御、加工条件との対応付けを確認。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FT12 GAZIRU JIMTOF2026出展（2026/9/30）</a:t>
            </a:r>
          </a:p>
          <a:p xmlns:a="http://schemas.openxmlformats.org/drawingml/2006/main">
            <a:r>
              <a:t>https://gaziru.co.jp/blogs/19gxg1fly3zd</a:t>
            </a:r>
          </a:p>
          <a:p xmlns:a="http://schemas.openxmlformats.org/drawingml/2006/main">
            <a:r>
              <a:t>掲載位置 GAZIRU.z V5とGAZIRU.eye／東3 E3008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FT13 GAZIRU GAZIRU.eye 異常検知</a:t>
            </a:r>
          </a:p>
          <a:p xmlns:a="http://schemas.openxmlformats.org/drawingml/2006/main">
            <a:r>
              <a:t>https://gaziru.co.jp/eye</a:t>
            </a:r>
          </a:p>
          <a:p xmlns:a="http://schemas.openxmlformats.org/drawingml/2006/main">
            <a:r>
              <a:t>掲載位置 正常画像のみ／エンジン選択／REST API／個別システム構築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FT14 GAZIRU AI異常検知と個体識別技術（2026/9/7）</a:t>
            </a:r>
          </a:p>
          <a:p xmlns:a="http://schemas.openxmlformats.org/drawingml/2006/main">
            <a:r>
              <a:t>https://gaziru.co.jp/blogs/4j7fi3f3fiyg</a:t>
            </a:r>
          </a:p>
          <a:p xmlns:a="http://schemas.openxmlformats.org/drawingml/2006/main">
            <a:r>
              <a:t>掲載位置 2：教師なし異常検知／3：微細紋様照合／5：履歴連携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FT-G02 株式会社GAZIRU GAZIRU.z V5 タグレス個体識別</a:t>
            </a:r>
          </a:p>
          <a:p xmlns:a="http://schemas.openxmlformats.org/drawingml/2006/main">
            <a:r>
              <a:t>小間 E3008</a:t>
            </a:r>
          </a:p>
          <a:p xmlns:a="http://schemas.openxmlformats.org/drawingml/2006/main">
            <a:r>
              <a:t>展示 展示予定を明記 E3008でV5紹介と公式に記載。</a:t>
            </a:r>
          </a:p>
          <a:p xmlns:a="http://schemas.openxmlformats.org/drawingml/2006/main">
            <a:r>
              <a:t>入力 表面の微細紋様画像と登録画像データベース。</a:t>
            </a:r>
          </a:p>
          <a:p xmlns:a="http://schemas.openxmlformats.org/drawingml/2006/main">
            <a:r>
              <a:t>方式 個体固有パターンを照合し位置・角度・倍率のずれを補正する。</a:t>
            </a:r>
          </a:p>
          <a:p xmlns:a="http://schemas.openxmlformats.org/drawingml/2006/main">
            <a:r>
              <a:t>出力 個体識別番号と履歴連携。</a:t>
            </a:r>
          </a:p>
          <a:p xmlns:a="http://schemas.openxmlformats.org/drawingml/2006/main">
            <a:r>
              <a:t>人 適切な撮像条件と工程を経ても識別できる表面の選定が必要。</a:t>
            </a:r>
          </a:p>
          <a:p xmlns:a="http://schemas.openxmlformats.org/drawingml/2006/main">
            <a:r>
              <a:t>限界 学習AIの具体方式は未確認。表面変化・洗浄・加工後の再識別性は適用試験が必要。</a:t>
            </a:r>
          </a:p>
          <a:p xmlns:a="http://schemas.openxmlformats.org/drawingml/2006/main">
            <a:r>
              <a:t>現地 加工で表面が変わる際の追跡、工程間の照明差、誤一致率とID再発行の条件を確認。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FT12 GAZIRU JIMTOF2026出展（2026/9/30）</a:t>
            </a:r>
          </a:p>
          <a:p xmlns:a="http://schemas.openxmlformats.org/drawingml/2006/main">
            <a:r>
              <a:t>https://gaziru.co.jp/blogs/19gxg1fly3zd</a:t>
            </a:r>
          </a:p>
          <a:p xmlns:a="http://schemas.openxmlformats.org/drawingml/2006/main">
            <a:r>
              <a:t>掲載位置 GAZIRU.z V5とGAZIRU.eye／東3 E3008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FT14 GAZIRU AI異常検知と個体識別技術（2026/9/7）</a:t>
            </a:r>
          </a:p>
          <a:p xmlns:a="http://schemas.openxmlformats.org/drawingml/2006/main">
            <a:r>
              <a:t>https://gaziru.co.jp/blogs/4j7fi3f3fiyg</a:t>
            </a:r>
          </a:p>
          <a:p xmlns:a="http://schemas.openxmlformats.org/drawingml/2006/main">
            <a:r>
              <a:t>掲載位置 2：教師なし異常検知／3：微細紋様照合／5：履歴連携</a:t>
            </a:r>
          </a:p>
          <a:p xmlns:a="http://schemas.openxmlformats.org/drawingml/2006/main">
            <a:r>
              <a:t>確認 2026-10-22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AR25 Techman Robot｜AI Vision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https://www.tm-robot.com/ja/product/ai-vision</a:t>
            </a:r>
          </a:p>
          <a:p xmlns:a="http://schemas.openxmlformats.org/drawingml/2006/main">
            <a:r>
              <a:t>掲載位置 AI Training／TMflow／AI Vision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AI学習と画像判断をTMflowのビジョンノードへ統合。画像認識とロボット位置決めを製品体系で提供。</a:t>
            </a:r>
          </a:p>
          <a:p xmlns:a="http://schemas.openxmlformats.org/drawingml/2006/main">
            <a:r>
              <a:t>留保 今回の実演がAIで動作を変えるか、従来の位置検出かは現地確認。VLAの証拠はない。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AR24 カネテック／JIMTOF｜AI・2Dカメラ・マグネットピンセット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https://www.jimtof.org/search/jp/ESdetails?e=ekM3exgIAtc</a:t>
            </a:r>
          </a:p>
          <a:p xmlns:a="http://schemas.openxmlformats.org/drawingml/2006/main">
            <a:r>
              <a:t>掲載位置 主な出展物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カメラ・AIと磁気ハンドで小ねじのばら積みピッキングを行う構成を提示。</a:t>
            </a:r>
          </a:p>
          <a:p xmlns:a="http://schemas.openxmlformats.org/drawingml/2006/main">
            <a:r>
              <a:t>留保 検出・把持点・重なり解消のどこをAIが決めるか、学習法や復帰能力は未公開。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AR26 シマダマシンツール｜JIMTOF2026に出展</a:t>
            </a:r>
          </a:p>
          <a:p xmlns:a="http://schemas.openxmlformats.org/drawingml/2006/main">
            <a:r>
              <a:t>発行 2026-10-06 確認 2026-10-23</a:t>
            </a:r>
          </a:p>
          <a:p xmlns:a="http://schemas.openxmlformats.org/drawingml/2006/main">
            <a:r>
              <a:t>https://smd.co.jp/news/jimtof2026/</a:t>
            </a:r>
          </a:p>
          <a:p xmlns:a="http://schemas.openxmlformats.org/drawingml/2006/main">
            <a:r>
              <a:t>掲載位置 HS4200／SAM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HS4200と投入・加工・排出・梱包をつなぐSAMを案内。</a:t>
            </a:r>
          </a:p>
          <a:p xmlns:a="http://schemas.openxmlformats.org/drawingml/2006/main">
            <a:r>
              <a:t>留保 公式カタログのフィジカルAI段取り替えについて、方式の説明はない。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AR27 シマダマシンツール／JIMTOF｜HS4200 出展説明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https://www.jimtof.org/search/jp/ESdetails?e=xntdeqgs_F4</a:t>
            </a:r>
          </a:p>
          <a:p xmlns:a="http://schemas.openxmlformats.org/drawingml/2006/main">
            <a:r>
              <a:t>掲載位置 主な出展物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フィジカルAIを用いた自動段取り替えを掲載。</a:t>
            </a:r>
          </a:p>
          <a:p xmlns:a="http://schemas.openxmlformats.org/drawingml/2006/main">
            <a:r>
              <a:t>留保 名称だけでは生成AI・VLA・再試行などの能力を特定できない。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FT-D02 ＤＭＧ森精機株式会社 GX Flex 工具・チャック爪・ワーク交換</a:t>
            </a:r>
          </a:p>
          <a:p xmlns:a="http://schemas.openxmlformats.org/drawingml/2006/main">
            <a:r>
              <a:t>小間 E8005</a:t>
            </a:r>
          </a:p>
          <a:p xmlns:a="http://schemas.openxmlformats.org/drawingml/2006/main">
            <a:r>
              <a:t>展示 展示予定を明記 10/16出展発表で新開発GX Flexを明記。</a:t>
            </a:r>
          </a:p>
          <a:p xmlns:a="http://schemas.openxmlformats.org/drawingml/2006/main">
            <a:r>
              <a:t>入力 シャフト・フランジワーク、工具・チャック爪と段取り条件。</a:t>
            </a:r>
          </a:p>
          <a:p xmlns:a="http://schemas.openxmlformats.org/drawingml/2006/main">
            <a:r>
              <a:t>方式 NTX 2500との組合せで複数の交換対象を扱う新開発ガントリローダ。</a:t>
            </a:r>
          </a:p>
          <a:p xmlns:a="http://schemas.openxmlformats.org/drawingml/2006/main">
            <a:r>
              <a:t>出力 多品種加工の搬送・段取り替え。</a:t>
            </a:r>
          </a:p>
          <a:p xmlns:a="http://schemas.openxmlformats.org/drawingml/2006/main">
            <a:r>
              <a:t>人 段取り情報の登録、把持可否・干渉の確認と異常復帰は要確認。</a:t>
            </a:r>
          </a:p>
          <a:p xmlns:a="http://schemas.openxmlformats.org/drawingml/2006/main">
            <a:r>
              <a:t>限界 AI認識・自律段取り計画の説明はない。</a:t>
            </a:r>
          </a:p>
          <a:p xmlns:a="http://schemas.openxmlformats.org/drawingml/2006/main">
            <a:r>
              <a:t>現地 爪・工具交換の対象、段取り情報の生成方法、交換ミス検知と復帰を確認。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FT08 DMG森精機 JIMTOF2026出展（2026/10/16）</a:t>
            </a:r>
          </a:p>
          <a:p xmlns:a="http://schemas.openxmlformats.org/drawingml/2006/main">
            <a:r>
              <a:t>https://www.dmgmori.co.jp/corporate/news/2026/20261016_jimtof2026.html</a:t>
            </a:r>
          </a:p>
          <a:p xmlns:a="http://schemas.openxmlformats.org/drawingml/2006/main">
            <a:r>
              <a:t>掲載位置 東8 E8005：GX Flex／AMR／DX体験エリア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FC051 シマダマシンツール HS4200：フィジカルAI自動段取り替え</a:t>
            </a:r>
          </a:p>
          <a:p xmlns:a="http://schemas.openxmlformats.org/drawingml/2006/main">
            <a:r>
              <a:t>小間 E2018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段取り指示・対象。音声や画像などの入力方式は一次資料では未確認</a:t>
            </a:r>
          </a:p>
          <a:p xmlns:a="http://schemas.openxmlformats.org/drawingml/2006/main">
            <a:r>
              <a:t>方式 誰でも簡単な自動段取り替えとのメーカー説明</a:t>
            </a:r>
          </a:p>
          <a:p xmlns:a="http://schemas.openxmlformats.org/drawingml/2006/main">
            <a:r>
              <a:t>出力 具体的に交換・変更する対象は未記載</a:t>
            </a:r>
          </a:p>
          <a:p xmlns:a="http://schemas.openxmlformats.org/drawingml/2006/main">
            <a:r>
              <a:t>人 治具・爪・位置・プログラム等のどこを自動化するか未確認</a:t>
            </a:r>
          </a:p>
          <a:p xmlns:a="http://schemas.openxmlformats.org/drawingml/2006/main">
            <a:r>
              <a:t>限界 段取りの何をAIが認識・計画するか未公開。ロボット＋AIの名称からVLA・自律復帰を推定しない。</a:t>
            </a:r>
          </a:p>
          <a:p xmlns:a="http://schemas.openxmlformats.org/drawingml/2006/main">
            <a:r>
              <a:t>現地 ワーク・治具の変更を何で認識し、どの段取り動作を再生成するか。人の教示量、失敗時の復帰、新旧方式の差を実演で確認。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AR27 シマダマシンツール／JIMTOF HS4200 出展説明</a:t>
            </a:r>
          </a:p>
          <a:p xmlns:a="http://schemas.openxmlformats.org/drawingml/2006/main">
            <a:r>
              <a:t>https://www.jimtof.org/search/jp/ESdetails?e=xntdeqgs_F4</a:t>
            </a:r>
          </a:p>
          <a:p xmlns:a="http://schemas.openxmlformats.org/drawingml/2006/main">
            <a:r>
              <a:t>掲載位置 主な出展物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AR26 シマダマシンツール JIMTOF2026に出展</a:t>
            </a:r>
          </a:p>
          <a:p xmlns:a="http://schemas.openxmlformats.org/drawingml/2006/main">
            <a:r>
              <a:t>https://smd.co.jp/news/jimtof2026/</a:t>
            </a:r>
          </a:p>
          <a:p xmlns:a="http://schemas.openxmlformats.org/drawingml/2006/main">
            <a:r>
              <a:t>掲載位置 HS4200／SAM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EOV-V031-2024-1 株式会社シマダマシンツール JIMTOF2024公式カタログ：株式会社シマダマシンツール (E6026)</a:t>
            </a:r>
          </a:p>
          <a:p xmlns:a="http://schemas.openxmlformats.org/drawingml/2006/main">
            <a:r>
              <a:t>https://www.jimtof.org/2024/search/jp/ESdetails?e=WZjeoEoTWXw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EOV-V031-2024-2 株式会社シマダマシンツール JIMTOF2024公式カタログ：株式会社シマダマシンツール (AM103)</a:t>
            </a:r>
          </a:p>
          <a:p xmlns:a="http://schemas.openxmlformats.org/drawingml/2006/main">
            <a:r>
              <a:t>https://www.jimtof.org/2024/search/jp/ESdetails?e=bLvQhW7XtZw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AC159 株式会社ナベル TM AI Cobot</a:t>
            </a:r>
          </a:p>
          <a:p xmlns:a="http://schemas.openxmlformats.org/drawingml/2006/main">
            <a:r>
              <a:t>小間 W2041</a:t>
            </a:r>
          </a:p>
          <a:p xmlns:a="http://schemas.openxmlformats.org/drawingml/2006/main">
            <a:r>
              <a:t>展示 出展説明に掲載 2026公式カタログ掲載・現地未確認</a:t>
            </a:r>
          </a:p>
          <a:p xmlns:a="http://schemas.openxmlformats.org/drawingml/2006/main">
            <a:r>
              <a:t>入力 内蔵ビジョン画像と教示・設定条件。</a:t>
            </a:r>
          </a:p>
          <a:p xmlns:a="http://schemas.openxmlformats.org/drawingml/2006/main">
            <a:r>
              <a:t>方式 AI学習と画像判断をTMflowのビジョンノードへ統合。内蔵カメラによる位置決めとロボット作業を提供。</a:t>
            </a:r>
          </a:p>
          <a:p xmlns:a="http://schemas.openxmlformats.org/drawingml/2006/main">
            <a:r>
              <a:t>出力 協働ロボットの作業。個別対象動作は要確認。</a:t>
            </a:r>
          </a:p>
          <a:p xmlns:a="http://schemas.openxmlformats.org/drawingml/2006/main">
            <a:r>
              <a:t>人 画像の準備・学習、TMflowでのタスク設定、安全領域・把持条件の設定。</a:t>
            </a:r>
          </a:p>
          <a:p xmlns:a="http://schemas.openxmlformats.org/drawingml/2006/main">
            <a:r>
              <a:t>限界 AI画像判断と従来位置検出の使い分け、今回の実演対象、AIが動作を変える範囲は未確認。</a:t>
            </a:r>
          </a:p>
          <a:p xmlns:a="http://schemas.openxmlformats.org/drawingml/2006/main">
            <a:r>
              <a:t>現地 TM AI Cobotの対象品種・変更条件は何か。搬送・供給・工程接続で人が設定する内容、異常時の停止・復帰、他工程との接続仕様を確認する。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AR25 Techman Robot AI Vision</a:t>
            </a:r>
          </a:p>
          <a:p xmlns:a="http://schemas.openxmlformats.org/drawingml/2006/main">
            <a:r>
              <a:t>https://www.tm-robot.com/ja/product/ai-vision</a:t>
            </a:r>
          </a:p>
          <a:p xmlns:a="http://schemas.openxmlformats.org/drawingml/2006/main">
            <a:r>
              <a:t>掲載位置 AI Training／TMflow／AI Vision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EEX-EXH-2026-87b7a21b4cef9d01 株式会社ナベル JIMTOF2026公式出展説明：株式会社ナベル (W2041)</a:t>
            </a:r>
          </a:p>
          <a:p xmlns:a="http://schemas.openxmlformats.org/drawingml/2006/main">
            <a:r>
              <a:t>https://www.jimtof.org/search/jp/ESdetails?e=6wciaKIuYB8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EEX-EXH-2024-b38efca212cfc193 株式会社ナベル JIMTOF2024公式出展説明：株式会社ナベル (W2045)</a:t>
            </a:r>
          </a:p>
          <a:p xmlns:a="http://schemas.openxmlformats.org/drawingml/2006/main">
            <a:r>
              <a:t>https://www.jimtof.org/2024/search/jp/ESdetails?e=fYVjWl92q60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FT22 ナベル TM AI Cobot</a:t>
            </a:r>
          </a:p>
          <a:p xmlns:a="http://schemas.openxmlformats.org/drawingml/2006/main">
            <a:r>
              <a:t>https://www.bellows.co.jp/products/tm-robot</a:t>
            </a:r>
          </a:p>
          <a:p xmlns:a="http://schemas.openxmlformats.org/drawingml/2006/main">
            <a:r>
              <a:t>掲載位置 内蔵ビジョン・AI／製品群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AC051 カネテック株式会社 AI・2Dカメラ＋マグネットピンセット</a:t>
            </a:r>
          </a:p>
          <a:p xmlns:a="http://schemas.openxmlformats.org/drawingml/2006/main">
            <a:r>
              <a:t>小間 W2013</a:t>
            </a:r>
          </a:p>
          <a:p xmlns:a="http://schemas.openxmlformats.org/drawingml/2006/main">
            <a:r>
              <a:t>展示 出展説明に掲載 2026公式カタログ掲載・現地未確認</a:t>
            </a:r>
          </a:p>
          <a:p xmlns:a="http://schemas.openxmlformats.org/drawingml/2006/main">
            <a:r>
              <a:t>入力 小ねじ等のばら積み画像、ハンド・ワークの設定。</a:t>
            </a:r>
          </a:p>
          <a:p xmlns:a="http://schemas.openxmlformats.org/drawingml/2006/main">
            <a:r>
              <a:t>方式 2DカメラとAIの認識を協働ロボット・磁気ピンセットのピッキングに使う構成。</a:t>
            </a:r>
          </a:p>
          <a:p xmlns:a="http://schemas.openxmlformats.org/drawingml/2006/main">
            <a:r>
              <a:t>出力 協働ロボットと磁気把持で山積み小部品を取り出す。整列は別の機械治具の提案</a:t>
            </a:r>
          </a:p>
          <a:p xmlns:a="http://schemas.openxmlformats.org/drawingml/2006/main">
            <a:r>
              <a:t>人 未記載：対象材種・品種、画像学習・磁力の設定／未記載：自動実行前の確認・誤把持の採否／未記載：複数個吸着・空振り・取り落としからの復帰</a:t>
            </a:r>
          </a:p>
          <a:p xmlns:a="http://schemas.openxmlformats.org/drawingml/2006/main">
            <a:r>
              <a:t>限界 検出と把持点計画の担当分界、重なり解消、把持失敗の判定・再試行は未確認。</a:t>
            </a:r>
          </a:p>
          <a:p xmlns:a="http://schemas.openxmlformats.org/drawingml/2006/main">
            <a:r>
              <a:t>現地 AI・2Dカメラ＋マグネットピンセットの対象品種・変更条件は何か。検査・計測・補正で人が設定する内容、異常時の停止・復帰、他工程との接続仕様を確認する。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AR24 カネテック／JIMTOF AI・2Dカメラ・マグネットピンセット</a:t>
            </a:r>
          </a:p>
          <a:p xmlns:a="http://schemas.openxmlformats.org/drawingml/2006/main">
            <a:r>
              <a:t>https://www.jimtof.org/search/jp/ESdetails?e=ekM3exgIAtc</a:t>
            </a:r>
          </a:p>
          <a:p xmlns:a="http://schemas.openxmlformats.org/drawingml/2006/main">
            <a:r>
              <a:t>掲載位置 主な出展物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EEX-EXH-2024-45415d070f47dc6e カネテック株式会社 JIMTOF2024公式出展説明：カネテック株式会社 (W2030)</a:t>
            </a:r>
          </a:p>
          <a:p xmlns:a="http://schemas.openxmlformats.org/drawingml/2006/main">
            <a:r>
              <a:t>https://www.jimtof.org/2024/search/jp/ESdetails?e=ot0Fx36wI0g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EDP-01 カネテック MagnetPinset</a:t>
            </a:r>
          </a:p>
          <a:p xmlns:a="http://schemas.openxmlformats.org/drawingml/2006/main">
            <a:r>
              <a:t>https://kanetec.co.jp/lp/MagnetPinset%40LP.html</a:t>
            </a:r>
          </a:p>
          <a:p xmlns:a="http://schemas.openxmlformats.org/drawingml/2006/main">
            <a:r>
              <a:t>掲載位置 小径ネジの課題／JIMTOF2024出展／ネジ整列器</a:t>
            </a:r>
          </a:p>
          <a:p xmlns:a="http://schemas.openxmlformats.org/drawingml/2006/main">
            <a:r>
              <a:t>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AR01 コマツ｜JIMTOF2026に出展</a:t>
            </a:r>
          </a:p>
          <a:p xmlns:a="http://schemas.openxmlformats.org/drawingml/2006/main">
            <a:r>
              <a:t>発行 2026-10-22 確認 2026-10-23</a:t>
            </a:r>
          </a:p>
          <a:p xmlns:a="http://schemas.openxmlformats.org/drawingml/2006/main">
            <a:r>
              <a:t>https://www.komatsu.jp/ja/newsroom/2026/20261022_01</a:t>
            </a:r>
          </a:p>
          <a:p xmlns:a="http://schemas.openxmlformats.org/drawingml/2006/main">
            <a:r>
              <a:t>掲載位置 CX500／KOM-Scheduler／Gate Keeper／KOMTAS／KOM-MICS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画像による切りくず堆積検知、工具交換時期の予測、加工異常のしきい値設定を別機能として展示。Gate Keeperはコンセプト展示。</a:t>
            </a:r>
          </a:p>
          <a:p xmlns:a="http://schemas.openxmlformats.org/drawingml/2006/main">
            <a:r>
              <a:t>留保 切りくずの自動除去、全工場の自動再計画、KOMTASの機械学習方式は確認できない。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AR33 三菱電機｜JIMTOF2026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https://fa-site.mitsubishielectric.co.jp/fa/events-seminars/exhibitions/2026/jimtof2026/index.html</a:t>
            </a:r>
          </a:p>
          <a:p xmlns:a="http://schemas.openxmlformats.org/drawingml/2006/main">
            <a:r>
              <a:t>掲載位置 放電加工機／新開発スケジューラ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放電加工の運用を支えるスケジューラを出展。</a:t>
            </a:r>
          </a:p>
          <a:p xmlns:a="http://schemas.openxmlformats.org/drawingml/2006/main">
            <a:r>
              <a:t>留保 最適化アルゴリズム・AIの利用・再計画の制約は未公開。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AR-C03 コマツNTC株式会社 KOM-Scheduler</a:t>
            </a:r>
          </a:p>
          <a:p xmlns:a="http://schemas.openxmlformats.org/drawingml/2006/main">
            <a:r>
              <a:t>小間 E1058</a:t>
            </a:r>
          </a:p>
          <a:p xmlns:a="http://schemas.openxmlformats.org/drawingml/2006/main">
            <a:r>
              <a:t>展示 展示予定を明記 コマツの2026年10月22日付告知で個別機能を明記。</a:t>
            </a:r>
          </a:p>
          <a:p xmlns:a="http://schemas.openxmlformats.org/drawingml/2006/main">
            <a:r>
              <a:t>入力 加工予定・工具の使用状況等。入力仕様は要確認。</a:t>
            </a:r>
          </a:p>
          <a:p xmlns:a="http://schemas.openxmlformats.org/drawingml/2006/main">
            <a:r>
              <a:t>方式 生産スケジュールを表示し、工具不足と交換時期を予測する。</a:t>
            </a:r>
          </a:p>
          <a:p xmlns:a="http://schemas.openxmlformats.org/drawingml/2006/main">
            <a:r>
              <a:t>出力 スケジュールと工具交換タイミングの提示。</a:t>
            </a:r>
          </a:p>
          <a:p xmlns:a="http://schemas.openxmlformats.org/drawingml/2006/main">
            <a:r>
              <a:t>人 計画の入力・調整、工具補給・交換の実施。</a:t>
            </a:r>
          </a:p>
          <a:p xmlns:a="http://schemas.openxmlformats.org/drawingml/2006/main">
            <a:r>
              <a:t>限界 自動再計画、最適化目的関数、機械学習採用は未確認。</a:t>
            </a:r>
          </a:p>
          <a:p xmlns:a="http://schemas.openxmlformats.org/drawingml/2006/main">
            <a:r>
              <a:t>現地 工具寿命の実測値と計画が接続するか。突発停止・急な割込み時に再計画するか。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AR01 コマツ JIMTOF2026に出展</a:t>
            </a:r>
          </a:p>
          <a:p xmlns:a="http://schemas.openxmlformats.org/drawingml/2006/main">
            <a:r>
              <a:t>https://www.komatsu.jp/ja/newsroom/2026/20261022_01</a:t>
            </a:r>
          </a:p>
          <a:p xmlns:a="http://schemas.openxmlformats.org/drawingml/2006/main">
            <a:r>
              <a:t>掲載位置 CX500／KOM-Scheduler／Gate Keeper／KOMTAS／KOM-MICS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FC065 三菱電機 放電加工の新開発スケジューラ</a:t>
            </a:r>
          </a:p>
          <a:p xmlns:a="http://schemas.openxmlformats.org/drawingml/2006/main">
            <a:r>
              <a:t>小間 S2003</a:t>
            </a:r>
          </a:p>
          <a:p xmlns:a="http://schemas.openxmlformats.org/drawingml/2006/main">
            <a:r>
              <a:t>展示 展示予定を明記 企業の2026特設ページで放電加工機の新開発スケジューラを明記。AI採用・最適化範囲は未確認。</a:t>
            </a:r>
          </a:p>
          <a:p xmlns:a="http://schemas.openxmlformats.org/drawingml/2006/main">
            <a:r>
              <a:t>入力 加工予定・設備等。入力と制約は未記載</a:t>
            </a:r>
          </a:p>
          <a:p xmlns:a="http://schemas.openxmlformats.org/drawingml/2006/main">
            <a:r>
              <a:t>方式 新開発スケジューラによる自動化運用を提案</a:t>
            </a:r>
          </a:p>
          <a:p xmlns:a="http://schemas.openxmlformats.org/drawingml/2006/main">
            <a:r>
              <a:t>出力 放電加工の計画・運用支援</a:t>
            </a:r>
          </a:p>
          <a:p xmlns:a="http://schemas.openxmlformats.org/drawingml/2006/main">
            <a:r>
              <a:t>人 自動確定する工程・工具・順序と人の承認は未確認</a:t>
            </a:r>
          </a:p>
          <a:p xmlns:a="http://schemas.openxmlformats.org/drawingml/2006/main">
            <a:r>
              <a:t>限界 適用条件・操作権限・現場効果・採用実績は未確認</a:t>
            </a:r>
          </a:p>
          <a:p xmlns:a="http://schemas.openxmlformats.org/drawingml/2006/main">
            <a:r>
              <a:t>現地 放電加工の新開発スケジューラの対象品種・変更条件は何か。計画変更・負荷調整で人が設定する内容、異常時の停止・復帰、他工程との接続仕様を確認する。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AR33 三菱電機 JIMTOF2026</a:t>
            </a:r>
          </a:p>
          <a:p xmlns:a="http://schemas.openxmlformats.org/drawingml/2006/main">
            <a:r>
              <a:t>https://fa-site.mitsubishielectric.co.jp/fa/events-seminars/exhibitions/2026/jimtof2026/index.html</a:t>
            </a:r>
          </a:p>
          <a:p xmlns:a="http://schemas.openxmlformats.org/drawingml/2006/main">
            <a:r>
              <a:t>掲載位置 放電加工機／新開発スケジューラ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EAT-V043-2024-1 三菱電機株式会社 JIMTOF2024公式カタログ：三菱電機株式会社</a:t>
            </a:r>
          </a:p>
          <a:p xmlns:a="http://schemas.openxmlformats.org/drawingml/2006/main">
            <a:r>
              <a:t>https://www.jimtof.org/2024/search/jp/ESdetails?e=30li0vWcseI</a:t>
            </a:r>
          </a:p>
          <a:p xmlns:a="http://schemas.openxmlformats.org/drawingml/2006/main">
            <a:r>
              <a:t>掲載位置 出展紹介・主な出展物（カードの製品名・機能語で検索）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EAT-V043-2026-1 三菱電機株式会社 JIMTOF2026公式カタログ：三菱電機株式会社</a:t>
            </a:r>
          </a:p>
          <a:p xmlns:a="http://schemas.openxmlformats.org/drawingml/2006/main">
            <a:r>
              <a:t>https://www.jimtof.org/search/jp/ESdetails?e=AjLnzm01WWU</a:t>
            </a:r>
          </a:p>
          <a:p xmlns:a="http://schemas.openxmlformats.org/drawingml/2006/main">
            <a:r>
              <a:t>掲載位置 出展紹介・主な出展物（カードの製品名・機能語で検索）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FC047 松浦機械製作所 5軸＋マルチパレット／MiOS</a:t>
            </a:r>
          </a:p>
          <a:p xmlns:a="http://schemas.openxmlformats.org/drawingml/2006/main">
            <a:r>
              <a:t>小間 E3030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加工プログラム・指示・画像・ワークオフセット等</a:t>
            </a:r>
          </a:p>
          <a:p xmlns:a="http://schemas.openxmlformats.org/drawingml/2006/main">
            <a:r>
              <a:t>方式 加工データをプロジェクト単位で管理し供給・無人運転を支援</a:t>
            </a:r>
          </a:p>
          <a:p xmlns:a="http://schemas.openxmlformats.org/drawingml/2006/main">
            <a:r>
              <a:t>出力 多品種のパレット加工</a:t>
            </a:r>
          </a:p>
          <a:p xmlns:a="http://schemas.openxmlformats.org/drawingml/2006/main">
            <a:r>
              <a:t>人 事前段取り・工具準備・異常時対応の自動範囲は未確認</a:t>
            </a:r>
          </a:p>
          <a:p xmlns:a="http://schemas.openxmlformats.org/drawingml/2006/main">
            <a:r>
              <a:t>限界 工程集約の仕様差とAI／自律性の進化を混同しない</a:t>
            </a:r>
          </a:p>
          <a:p xmlns:a="http://schemas.openxmlformats.org/drawingml/2006/main">
            <a:r>
              <a:t>現地 5軸＋マルチパレット／MiOSの対象品種・変更条件は何か。パレット供給で人が設定する内容、異常時の停止・復帰、他工程との接続仕様を確認する。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EOV-V028-2024-1 株式会社松浦機械製作所 JIMTOF2024公式カタログ：株式会社松浦機械製作所 (E3019)</a:t>
            </a:r>
          </a:p>
          <a:p xmlns:a="http://schemas.openxmlformats.org/drawingml/2006/main">
            <a:r>
              <a:t>https://www.jimtof.org/2024/search/jp/ESdetails?e=_4GLIXLZuKE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EOV-V028-2024-2 株式会社松浦機械製作所 JIMTOF2024公式カタログ：株式会社松浦機械製作所 (AM115)</a:t>
            </a:r>
          </a:p>
          <a:p xmlns:a="http://schemas.openxmlformats.org/drawingml/2006/main">
            <a:r>
              <a:t>https://www.jimtof.org/2024/search/jp/ESdetails?e=coHqGCjVn0c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EOV-V028-2026-1 株式会社松浦機械製作所 JIMTOF2026公式カタログ：株式会社松浦機械製作所 (E3030)</a:t>
            </a:r>
          </a:p>
          <a:p xmlns:a="http://schemas.openxmlformats.org/drawingml/2006/main">
            <a:r>
              <a:t>https://www.jimtof.org/search/jp/ESdetails?e=K_X61J2xV_w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AR15 オークマ｜OSP-AI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https://www.okuma.co.jp/smart-factory/osp-suite/osp-ai.php</a:t>
            </a:r>
          </a:p>
          <a:p xmlns:a="http://schemas.openxmlformats.org/drawingml/2006/main">
            <a:r>
              <a:t>掲載位置 AI機械診断／AI加工診断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機械診断は診断運転から異常箇所を提示。加工診断は制御情報の異常レベルに応じ工具を自動退避する。</a:t>
            </a:r>
          </a:p>
          <a:p xmlns:a="http://schemas.openxmlformats.org/drawingml/2006/main">
            <a:r>
              <a:t>留保 診断後の修理・復帰の自律化や、あらゆる工具・加工への適用は未確認。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AR14 DMG森精機｜GENIAC採択：生産設備データと製造フィジカルAI</a:t>
            </a:r>
          </a:p>
          <a:p xmlns:a="http://schemas.openxmlformats.org/drawingml/2006/main">
            <a:r>
              <a:t>発行 2026-07-06 確認 2026-10-23</a:t>
            </a:r>
          </a:p>
          <a:p xmlns:a="http://schemas.openxmlformats.org/drawingml/2006/main">
            <a:r>
              <a:t>https://www.dmgmori.co.jp/corporate/news/2026/20260706_geniac.html</a:t>
            </a:r>
          </a:p>
          <a:p xmlns:a="http://schemas.openxmlformats.org/drawingml/2006/main">
            <a:r>
              <a:t>掲載位置 自律的AI開発基盤／対象設備・データ</a:t>
            </a:r>
          </a:p>
          <a:p xmlns:a="http://schemas.openxmlformats.org/drawingml/2006/main">
            <a:r>
              <a:t>確認方式 既存保存本文を今回再照合（再取得失敗）</a:t>
            </a:r>
          </a:p>
          <a:p xmlns:a="http://schemas.openxmlformats.org/drawingml/2006/main">
            <a:r>
              <a:t>原文 市場投入済みの設備から継続的にデータを収集・学習・評価する仕組み</a:t>
            </a:r>
          </a:p>
          <a:p xmlns:a="http://schemas.openxmlformats.org/drawingml/2006/main">
            <a:r>
              <a:t>文脈要約 100社・1,000設備・100TB規模を目指すデータ取得と、異常検知から品質・電力予測、セル最適化へ展開する計画。</a:t>
            </a:r>
          </a:p>
          <a:p xmlns:a="http://schemas.openxmlformats.org/drawingml/2006/main">
            <a:r>
              <a:t>留保 数値は目標。データ取得完了・収益改善実績ではない。今回は再取得失敗のため保存済み公式本文で再照合。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FC004 DMG森精機 Condition Agent</a:t>
            </a:r>
          </a:p>
          <a:p xmlns:a="http://schemas.openxmlformats.org/drawingml/2006/main">
            <a:r>
              <a:t>小間 E8005</a:t>
            </a:r>
          </a:p>
          <a:p xmlns:a="http://schemas.openxmlformats.org/drawingml/2006/main">
            <a:r>
              <a:t>展示 展示予定を明記 10/16公式出展発表でCondition AgentをDX体験エリアの展示として明記。従来の「展示未確認」から更新。</a:t>
            </a:r>
          </a:p>
          <a:p xmlns:a="http://schemas.openxmlformats.org/drawingml/2006/main">
            <a:r>
              <a:t>入力 診断専用NC動作のデータ、設計・製造データ</a:t>
            </a:r>
          </a:p>
          <a:p xmlns:a="http://schemas.openxmlformats.org/drawingml/2006/main">
            <a:r>
              <a:t>方式 クラウドAIで異常兆候を分析</a:t>
            </a:r>
          </a:p>
          <a:p xmlns:a="http://schemas.openxmlformats.org/drawingml/2006/main">
            <a:r>
              <a:t>出力 コンポーネント状態の診断・通知</a:t>
            </a:r>
          </a:p>
          <a:p xmlns:a="http://schemas.openxmlformats.org/drawingml/2006/main">
            <a:r>
              <a:t>人 現場操作で診断開始。修理・部品交換まで自律実行する説明なし</a:t>
            </a:r>
          </a:p>
          <a:p xmlns:a="http://schemas.openxmlformats.org/drawingml/2006/main">
            <a:r>
              <a:t>限界 診断頻度、誤警報、後付け対象機、診断後の保全意思決定。名称だけで生成AIエージェントに分類しない。</a:t>
            </a:r>
          </a:p>
          <a:p xmlns:a="http://schemas.openxmlformats.org/drawingml/2006/main">
            <a:r>
              <a:t>現地 Condition Agentの対象品種・変更条件は何か。保全診断・知識支援で人が設定する内容、異常時の停止・復帰、他工程との接続仕様を確認する。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EOV-V001-2024-1 DMG森精機株式会社 JIMTOF2024公式カタログ：DMG森精機株式会社 (E8001)</a:t>
            </a:r>
          </a:p>
          <a:p xmlns:a="http://schemas.openxmlformats.org/drawingml/2006/main">
            <a:r>
              <a:t>https://www.jimtof.org/2024/search/jp/ESdetails?e=lOXEEpvlXpM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EOV-V001-2026-1 DMG森精機株式会社 JIMTOF2026公式カタログ：DMG森精機株式会社 (E8005)</a:t>
            </a:r>
          </a:p>
          <a:p xmlns:a="http://schemas.openxmlformats.org/drawingml/2006/main">
            <a:r>
              <a:t>https://www.jimtof.org/search/jp/ESdetails?e=zcqDj1lSkGs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EAT-N07 DMG森精機 Condition Agent 提供開始</a:t>
            </a:r>
          </a:p>
          <a:p xmlns:a="http://schemas.openxmlformats.org/drawingml/2006/main">
            <a:r>
              <a:t>https://www.dmgmori.co.jp/corporate/news/2026/20260706_conditionagent.html</a:t>
            </a:r>
          </a:p>
          <a:p xmlns:a="http://schemas.openxmlformats.org/drawingml/2006/main">
            <a:r>
              <a:t>掲載位置 2026/07/06本文・主な特長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FT08 DMG森精機 JIMTOF2026出展（2026/10/16）</a:t>
            </a:r>
          </a:p>
          <a:p xmlns:a="http://schemas.openxmlformats.org/drawingml/2006/main">
            <a:r>
              <a:t>https://www.dmgmori.co.jp/corporate/news/2026/20261016_jimtof2026.html</a:t>
            </a:r>
          </a:p>
          <a:p xmlns:a="http://schemas.openxmlformats.org/drawingml/2006/main">
            <a:r>
              <a:t>掲載位置 東8 E8005：GX Flex／AMR／DX体験エリア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FT-D01 ＤＭＧ森精機株式会社 my DMG MORI サービスエージェント</a:t>
            </a:r>
          </a:p>
          <a:p xmlns:a="http://schemas.openxmlformats.org/drawingml/2006/main">
            <a:r>
              <a:t>小間 E8005</a:t>
            </a:r>
          </a:p>
          <a:p xmlns:a="http://schemas.openxmlformats.org/drawingml/2006/main">
            <a:r>
              <a:t>展示 展示予定を明記 10/19公式発表でJIMTOFデモを明記。</a:t>
            </a:r>
          </a:p>
          <a:p xmlns:a="http://schemas.openxmlformats.org/drawingml/2006/main">
            <a:r>
              <a:t>入力 機番に応じた公開マニュアル、MRO知見を反映した問診、顧客の回答。</a:t>
            </a:r>
          </a:p>
          <a:p xmlns:a="http://schemas.openxmlformats.org/drawingml/2006/main">
            <a:r>
              <a:t>方式 選択式を中心とした対話で症状を整理し、マニュアルに基づく対処案と問い合わせ文を生成する。</a:t>
            </a:r>
          </a:p>
          <a:p xmlns:a="http://schemas.openxmlformats.org/drawingml/2006/main">
            <a:r>
              <a:t>出力 解決策・サービスリクエスト文案。</a:t>
            </a:r>
          </a:p>
          <a:p xmlns:a="http://schemas.openxmlformats.org/drawingml/2006/main">
            <a:r>
              <a:t>人 顧客が対処を試し、未解決ならリクエストを送信する。機械の自動復旧ではない。</a:t>
            </a:r>
          </a:p>
          <a:p xmlns:a="http://schemas.openxmlformats.org/drawingml/2006/main">
            <a:r>
              <a:t>限界 GENIAC診断データを使うアラーム自動診断は今後の計画。現在機能と混同しない。</a:t>
            </a:r>
          </a:p>
          <a:p xmlns:a="http://schemas.openxmlformats.org/drawingml/2006/main">
            <a:r>
              <a:t>現地 機番別の回答根拠、曖昧な故障症状の問診、誤提案の検出、診断データとの今後の接続を確認。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FT07 DMG森精機 my DMG MORI サービスエージェント（2026/10/19）</a:t>
            </a:r>
          </a:p>
          <a:p xmlns:a="http://schemas.openxmlformats.org/drawingml/2006/main">
            <a:r>
              <a:t>https://www.dmgmori.co.jp/corporate/news/2026/20261019_serviceagent.html</a:t>
            </a:r>
          </a:p>
          <a:p xmlns:a="http://schemas.openxmlformats.org/drawingml/2006/main">
            <a:r>
              <a:t>掲載位置 提供開始／マニュアル検索／診断・問い合わせ生成／GENIACは今後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FT08 DMG森精機 JIMTOF2026出展（2026/10/16）</a:t>
            </a:r>
          </a:p>
          <a:p xmlns:a="http://schemas.openxmlformats.org/drawingml/2006/main">
            <a:r>
              <a:t>https://www.dmgmori.co.jp/corporate/news/2026/20261016_jimtof2026.html</a:t>
            </a:r>
          </a:p>
          <a:p xmlns:a="http://schemas.openxmlformats.org/drawingml/2006/main">
            <a:r>
              <a:t>掲載位置 東8 E8005：GX Flex／AMR／DX体験エリア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FT-O01 オークマ株式会社 OSP-AI 機械診断／加工診断</a:t>
            </a:r>
          </a:p>
          <a:p xmlns:a="http://schemas.openxmlformats.org/drawingml/2006/main">
            <a:r>
              <a:t>小間 E3028</a:t>
            </a:r>
          </a:p>
          <a:p xmlns:a="http://schemas.openxmlformats.org/drawingml/2006/main">
            <a:r>
              <a:t>展示 展示未確認 AIコーナーの予告と製品資料は確認。同版・同機能の実演を明記した資料は未確認。</a:t>
            </a:r>
          </a:p>
          <a:p xmlns:a="http://schemas.openxmlformats.org/drawingml/2006/main">
            <a:r>
              <a:t>入力 機械診断：診断運転中の制御データ。加工診断：主軸・送り軸等の加工中制御情報。</a:t>
            </a:r>
          </a:p>
          <a:p xmlns:a="http://schemas.openxmlformats.org/drawingml/2006/main">
            <a:r>
              <a:t>方式 機械診断は異常・異常箇所を推定。加工診断は異常レベルを評価し閾値超過で工具を退避。</a:t>
            </a:r>
          </a:p>
          <a:p xmlns:a="http://schemas.openxmlformats.org/drawingml/2006/main">
            <a:r>
              <a:t>出力 診断箇所の表示／加工異常時の工具退避。修理の自動化は確認できない。</a:t>
            </a:r>
          </a:p>
          <a:p xmlns:a="http://schemas.openxmlformats.org/drawingml/2006/main">
            <a:r>
              <a:t>人 機械診断の開始、診断結果に基づく整備、工具確認・再開。しきい値と適用機種の設定条件は要確認。</a:t>
            </a:r>
          </a:p>
          <a:p xmlns:a="http://schemas.openxmlformats.org/drawingml/2006/main">
            <a:r>
              <a:t>限界 一部特別仕様。今回の特設はAIコーナーを予告するが、同機能・版の個別実演は未確認。</a:t>
            </a:r>
          </a:p>
          <a:p xmlns:a="http://schemas.openxmlformats.org/drawingml/2006/main">
            <a:r>
              <a:t>現地 診断用運転と加工中監視の違い、ドリル以外の適用、退避指令・復帰条件、新版の追加能力を確認。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AR15 オークマ OSP-AI</a:t>
            </a:r>
          </a:p>
          <a:p xmlns:a="http://schemas.openxmlformats.org/drawingml/2006/main">
            <a:r>
              <a:t>https://www.okuma.co.jp/smart-factory/osp-suite/osp-ai.php</a:t>
            </a:r>
          </a:p>
          <a:p xmlns:a="http://schemas.openxmlformats.org/drawingml/2006/main">
            <a:r>
              <a:t>掲載位置 AI機械診断／AI加工診断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FT20 オークマ JIMTOF2026 特設サイト</a:t>
            </a:r>
          </a:p>
          <a:p xmlns:a="http://schemas.openxmlformats.org/drawingml/2006/main">
            <a:r>
              <a:t>https://www.okuma.co.jp/event/jimtof/2026/</a:t>
            </a:r>
          </a:p>
          <a:p xmlns:a="http://schemas.openxmlformats.org/drawingml/2006/main">
            <a:r>
              <a:t>掲載位置 AIコーナー／知能化コーナー／ARMROID等</a:t>
            </a:r>
          </a:p>
          <a:p xmlns:a="http://schemas.openxmlformats.org/drawingml/2006/main">
            <a:r>
              <a:t>確認 2026-10-22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AR20 NdotLight｜TRINIX / Physical AI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https://ndotlight.com/</a:t>
            </a:r>
          </a:p>
          <a:p xmlns:a="http://schemas.openxmlformats.org/drawingml/2006/main">
            <a:r>
              <a:t>掲載位置 SimReady／物理属性・ジョイント／USD・URDF・MJCF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CADや3Dデータを学習・シミュレーション環境に適した形式へ変換する支援。</a:t>
            </a:r>
          </a:p>
          <a:p xmlns:a="http://schemas.openxmlformats.org/drawingml/2006/main">
            <a:r>
              <a:t>留保 推定した物性値が実測同定済みとは限らない。物理AIの動作本体と区別する。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AR16 ModuleWorks｜See you at JIMTOF 2026</a:t>
            </a:r>
          </a:p>
          <a:p xmlns:a="http://schemas.openxmlformats.org/drawingml/2006/main">
            <a:r>
              <a:t>発行 2026-10-15 確認 2026-10-23</a:t>
            </a:r>
          </a:p>
          <a:p xmlns:a="http://schemas.openxmlformats.org/drawingml/2006/main">
            <a:r>
              <a:t>https://www.moduleworks.com/see-you-at-jimtof-2026/</a:t>
            </a:r>
          </a:p>
          <a:p xmlns:a="http://schemas.openxmlformats.org/drawingml/2006/main">
            <a:r>
              <a:t>掲載位置 SmartRoughing／FeedControl／NGSP／CAS／MDES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工具経路・切削負荷の最適化から機上シミュレーション、衝突防止、データ交換までを提示。</a:t>
            </a:r>
          </a:p>
          <a:p xmlns:a="http://schemas.openxmlformats.org/drawingml/2006/main">
            <a:r>
              <a:t>留保 FeedControlの物理量による送り最適化を機械学習AIと推定しない。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AC273 NdotLight Co., Ltd. TRINIX CAD／SimReady生成</a:t>
            </a:r>
          </a:p>
          <a:p xmlns:a="http://schemas.openxmlformats.org/drawingml/2006/main">
            <a:r>
              <a:t>小間 S4004</a:t>
            </a:r>
          </a:p>
          <a:p xmlns:a="http://schemas.openxmlformats.org/drawingml/2006/main">
            <a:r>
              <a:t>展示 出展説明に掲載 2026のライブデモ・ロボット学習用データ展示を予告。実機ロボットの作業実演とは未確認</a:t>
            </a:r>
          </a:p>
          <a:p xmlns:a="http://schemas.openxmlformats.org/drawingml/2006/main">
            <a:r>
              <a:t>入力 CAD・3D形状とシミュレーション用途の条件。</a:t>
            </a:r>
          </a:p>
          <a:p xmlns:a="http://schemas.openxmlformats.org/drawingml/2006/main">
            <a:r>
              <a:t>方式 物理属性・ジョイント等を推定し、USD／URDF／MJCF等のSimReady資産を生成する。</a:t>
            </a:r>
          </a:p>
          <a:p xmlns:a="http://schemas.openxmlformats.org/drawingml/2006/main">
            <a:r>
              <a:t>出力 シミュレーション・学習環境で使う3Dデータ。</a:t>
            </a:r>
          </a:p>
          <a:p xmlns:a="http://schemas.openxmlformats.org/drawingml/2006/main">
            <a:r>
              <a:t>人 属性・拘束の妥当性確認、実測値による校正、対象ロボットでの検証。</a:t>
            </a:r>
          </a:p>
          <a:p xmlns:a="http://schemas.openxmlformats.org/drawingml/2006/main">
            <a:r>
              <a:t>限界 推定物性の実測検証、接触モデル精度、実機動作の成功率は未確認。</a:t>
            </a:r>
          </a:p>
          <a:p xmlns:a="http://schemas.openxmlformats.org/drawingml/2006/main">
            <a:r>
              <a:t>現地 TRINIX CAD／SimReady生成の対象品種・変更条件は何か。搬送・供給・工程接続で人が設定する内容、異常時の停止・復帰、他工程との接続仕様を確認する。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AR20 NdotLight TRINIX / Physical AI</a:t>
            </a:r>
          </a:p>
          <a:p xmlns:a="http://schemas.openxmlformats.org/drawingml/2006/main">
            <a:r>
              <a:t>https://ndotlight.com/</a:t>
            </a:r>
          </a:p>
          <a:p xmlns:a="http://schemas.openxmlformats.org/drawingml/2006/main">
            <a:r>
              <a:t>掲載位置 SimReady／物理属性・ジョイント／USD・URDF・MJCF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EEX-EXH-2026-016097f87d1914b2 NdotLight Co., Ltd. JIMTOF2026公式出展説明：NdotLight Co., Ltd. (S4004)</a:t>
            </a:r>
          </a:p>
          <a:p xmlns:a="http://schemas.openxmlformats.org/drawingml/2006/main">
            <a:r>
              <a:t>https://www.jimtof.org/search/jp/ESdetails?e=6Ds1v9hxvrY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EEX-WNDOT NdotLight Co., Ltd. TRINIX：Physical AI向け3Dデータの企業公式説明</a:t>
            </a:r>
          </a:p>
          <a:p xmlns:a="http://schemas.openxmlformats.org/drawingml/2006/main">
            <a:r>
              <a:t>https://ndotlight.com/newsroom/ndotlight-proposes-a-new-3d-data-standard-for-the-physical-ai-era-with-trinix</a:t>
            </a:r>
          </a:p>
          <a:p xmlns:a="http://schemas.openxmlformats.org/drawingml/2006/main">
            <a:r>
              <a:t>掲載位置 展示会概要・出展製品／2026年5月13日の製品説明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ERF-07 NVIDIA SimReady FAQ：静的検証と実行時検証</a:t>
            </a:r>
          </a:p>
          <a:p xmlns:a="http://schemas.openxmlformats.org/drawingml/2006/main">
            <a:r>
              <a:t>https://docs.omniverse.nvidia.com/simready/latest/simready-faq.html</a:t>
            </a:r>
          </a:p>
          <a:p xmlns:a="http://schemas.openxmlformats.org/drawingml/2006/main">
            <a:r>
              <a:t>掲載位置 What Is the Difference…Foundation；How Do I Validate My Composed Scene…（L526–538）</a:t>
            </a:r>
          </a:p>
          <a:p xmlns:a="http://schemas.openxmlformats.org/drawingml/2006/main">
            <a:r>
              <a:t>確認 2026-10-18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ERF-08 NVIDIA SimReady Physics Best Practices</a:t>
            </a:r>
          </a:p>
          <a:p xmlns:a="http://schemas.openxmlformats.org/drawingml/2006/main">
            <a:r>
              <a:t>https://docs.omniverse.nvidia.com/simready/latest/simready-asset-creation/physics-best-practices.html</a:t>
            </a:r>
          </a:p>
          <a:p xmlns:a="http://schemas.openxmlformats.org/drawingml/2006/main">
            <a:r>
              <a:t>掲載位置 Typical USDPhysics Components／Collider、Mass、materialの摩擦・密度・反発</a:t>
            </a:r>
          </a:p>
          <a:p xmlns:a="http://schemas.openxmlformats.org/drawingml/2006/main">
            <a:r>
              <a:t>確認 2026-10-18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ERF-09 NdotLight DexBench共同開発の告知</a:t>
            </a:r>
          </a:p>
          <a:p xmlns:a="http://schemas.openxmlformats.org/drawingml/2006/main">
            <a:r>
              <a:t>https://ndotlight.com/newsroom/ndotlight-to-co-develop-dexbench-a-global-standard-for-humanoid-evaluation-with-nvidia-and-rlwrld</a:t>
            </a:r>
          </a:p>
          <a:p xmlns:a="http://schemas.openxmlformats.org/drawingml/2006/main">
            <a:r>
              <a:t>掲載位置 2026/8/7／SimReady環境・操作評価・sim-to-real gap低減の共同開発</a:t>
            </a:r>
          </a:p>
          <a:p xmlns:a="http://schemas.openxmlformats.org/drawingml/2006/main">
            <a:r>
              <a:t>確認 2026-10-18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FC024 たけびし OPC UA情報モデルとエージェント連携</a:t>
            </a:r>
          </a:p>
          <a:p xmlns:a="http://schemas.openxmlformats.org/drawingml/2006/main">
            <a:r>
              <a:t>小間 S3015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OPC UAの値・構造・状態・属性・関係、外部エージェントの自然言語要求</a:t>
            </a:r>
          </a:p>
          <a:p xmlns:a="http://schemas.openxmlformats.org/drawingml/2006/main">
            <a:r>
              <a:t>方式 OPC製品自体がAI判断するとは記載なし。分析・保全支援は接続先エージェントの用途</a:t>
            </a:r>
          </a:p>
          <a:p xmlns:a="http://schemas.openxmlformats.org/drawingml/2006/main">
            <a:r>
              <a:t>出力 設備データを構造化して提供。OPC UA×MCP Adapterは提供を計画と記載</a:t>
            </a:r>
          </a:p>
          <a:p xmlns:a="http://schemas.openxmlformats.org/drawingml/2006/main">
            <a:r>
              <a:t>人 分析：接続機器・情報モデル・公開するデータ／メソッドの定義が必要。設定者は要確認／未記載：読出しと書込みの区別、メソッド実行の承認・許可リスト／未記載：状態誤解釈・通信切断・誤ったメソッド呼出し時の復帰</a:t>
            </a:r>
          </a:p>
          <a:p xmlns:a="http://schemas.openxmlformats.org/drawingml/2006/main">
            <a:r>
              <a:t>限界 接続シナリオと提供計画を実装済みの機械制御と扱わない</a:t>
            </a:r>
          </a:p>
          <a:p xmlns:a="http://schemas.openxmlformats.org/drawingml/2006/main">
            <a:r>
              <a:t>現地 OPC UA情報モデルとエージェント連携の対象品種・変更条件は何か。異機種・旧設備の接続で人が設定する内容、異常時の停止・復帰、他工程との接続仕様を確認する。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EOV-V011-2024-1 株式会社たけびし JIMTOF2024公式カタログ：株式会社たけびし (E7053)</a:t>
            </a:r>
          </a:p>
          <a:p xmlns:a="http://schemas.openxmlformats.org/drawingml/2006/main">
            <a:r>
              <a:t>https://www.jimtof.org/2024/search/jp/ESdetails?e=SiZMI-OH8_k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EOV-V011-2026-1 株式会社たけびし JIMTOF2026公式カタログ：株式会社たけびし (S3015)</a:t>
            </a:r>
          </a:p>
          <a:p xmlns:a="http://schemas.openxmlformats.org/drawingml/2006/main">
            <a:r>
              <a:t>https://www.jimtof.org/search/jp/ESdetails?e=Qh27DAtEkbw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EDP-06 たけびし（OPC Foundationへのメーカー寄稿） OPC UA情報モデルとAIエージェント</a:t>
            </a:r>
          </a:p>
          <a:p xmlns:a="http://schemas.openxmlformats.org/drawingml/2006/main">
            <a:r>
              <a:t>https://opcconnect.opcfoundation.org/2026/06/toward-realizing-ai-utilization-in-manufacturing-exploring-the-potential-of-integrating-the-opc-ua-information-model-with-ai-agents/</a:t>
            </a:r>
          </a:p>
          <a:p xmlns:a="http://schemas.openxmlformats.org/drawingml/2006/main">
            <a:r>
              <a:t>掲載位置 A New Approach to Connecting AI Agents／MCP Adapterはplanning to provide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FC011 ベッコフオートメーション TwinCAT CoAgent for Engineering：PLC</a:t>
            </a:r>
          </a:p>
          <a:p xmlns:a="http://schemas.openxmlformats.org/drawingml/2006/main">
            <a:r>
              <a:t>小間 E2028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自然言語の制御要求、既存TwinCATプロジェクト、Beckhoffの文書</a:t>
            </a:r>
          </a:p>
          <a:p xmlns:a="http://schemas.openxmlformats.org/drawingml/2006/main">
            <a:r>
              <a:t>方式 要求とプロジェクト文脈からPLCコード案を提案</a:t>
            </a:r>
          </a:p>
          <a:p xmlns:a="http://schemas.openxmlformats.org/drawingml/2006/main">
            <a:r>
              <a:t>出力 TwinCAT開発環境でPLCコード案を生成。コンパイル・実機書込み・制御開始まで自動とは未確認</a:t>
            </a:r>
          </a:p>
          <a:p xmlns:a="http://schemas.openxmlformats.org/drawingml/2006/main">
            <a:r>
              <a:t>人 公式：設計者が要求やスケッチを入力。機種・プロジェクトを準備／公式2025/6/13：専門家が生成結果を確認・確定・実行承認する方針。コンパイル・実機書込み・起動の個別画面と権限は未確認／未記載：誤った関数・I/O設定時の自動検証、ロールバック</a:t>
            </a:r>
          </a:p>
          <a:p xmlns:a="http://schemas.openxmlformats.org/drawingml/2006/main">
            <a:r>
              <a:t>限界 製品発表段階・市場投入時期は要問合せ。提案と実機制御を混同しない</a:t>
            </a:r>
          </a:p>
          <a:p xmlns:a="http://schemas.openxmlformats.org/drawingml/2006/main">
            <a:r>
              <a:t>現地 TwinCAT CoAgent for Engineering：PLCの対象品種・変更条件は何か。PLCコード作成で人が設定する内容、異常時の停止・復帰、他工程との接続仕様を確認する。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EOV-V005-2026-1 ベッコフオートメーション株式会社 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EAT-N03 Beckhoff CoAgent for Engineering TE1700</a:t>
            </a:r>
          </a:p>
          <a:p xmlns:a="http://schemas.openxmlformats.org/drawingml/2006/main">
            <a:r>
              <a:t>https://www.beckhoff.com/ko-kr/products/automation/twincat/texxxx-twincat-3-engineering/te1700.html</a:t>
            </a:r>
          </a:p>
          <a:p xmlns:a="http://schemas.openxmlformats.org/drawingml/2006/main">
            <a:r>
              <a:t>掲載位置 Features／Product status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EAT-N05 Beckhoff TwinCAT projects with AI-assisted engineering</a:t>
            </a:r>
          </a:p>
          <a:p xmlns:a="http://schemas.openxmlformats.org/drawingml/2006/main">
            <a:r>
              <a:t>https://www.beckhoff.com/ko-kr/products/automation/twincat-projects-with-ai-supported-engineering/</a:t>
            </a:r>
          </a:p>
          <a:p xmlns:a="http://schemas.openxmlformats.org/drawingml/2006/main">
            <a:r>
              <a:t>掲載位置 CoAgents for development and machine operation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 Beckhoff 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掲載位置 TwinCAT XAE／コード作成・追加・最適化・文書化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ERF-01 Beckhoff From chatbot to intelligent agent</a:t>
            </a:r>
          </a:p>
          <a:p xmlns:a="http://schemas.openxmlformats.org/drawingml/2006/main">
            <a:r>
              <a:t>https://www.beckhoff.com/en-gb/company/news/from-chatbot-to-intelligent-agent.html</a:t>
            </a:r>
          </a:p>
          <a:p xmlns:a="http://schemas.openxmlformats.org/drawingml/2006/main">
            <a:r>
              <a:t>掲載位置 2025/6/13／Placing people at the heart of automation；PLC・I/O・HMI、専門家がreview・confirm・approve</a:t>
            </a:r>
          </a:p>
          <a:p xmlns:a="http://schemas.openxmlformats.org/drawingml/2006/main">
            <a:r>
              <a:t>確認 2026-10-18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FT-M02 ModuleWorks GmbH NGSP＋CAS＋MDES</a:t>
            </a:r>
          </a:p>
          <a:p xmlns:a="http://schemas.openxmlformats.org/drawingml/2006/main">
            <a:r>
              <a:t>小間 S4005</a:t>
            </a:r>
          </a:p>
          <a:p xmlns:a="http://schemas.openxmlformats.org/drawingml/2006/main">
            <a:r>
              <a:t>展示 展示予定を明記 10/15出展記事で相談・紹介を案内。</a:t>
            </a:r>
          </a:p>
          <a:p xmlns:a="http://schemas.openxmlformats.org/drawingml/2006/main">
            <a:r>
              <a:t>入力 加工データ・デジタルツイン・カメラによる機械確認。</a:t>
            </a:r>
          </a:p>
          <a:p xmlns:a="http://schemas.openxmlformats.org/drawingml/2006/main">
            <a:r>
              <a:t>方式 NGSP、ツイン、カメラ照合、CASをMDESのデータ表現で結ぶ。</a:t>
            </a:r>
          </a:p>
          <a:p xmlns:a="http://schemas.openxmlformats.org/drawingml/2006/main">
            <a:r>
              <a:t>出力 プログラムから加工までの連続した確認・回避。</a:t>
            </a:r>
          </a:p>
          <a:p xmlns:a="http://schemas.openxmlformats.org/drawingml/2006/main">
            <a:r>
              <a:t>人 プログラム承認・不一致時の介入条件は未確認。</a:t>
            </a:r>
          </a:p>
          <a:p xmlns:a="http://schemas.openxmlformats.org/drawingml/2006/main">
            <a:r>
              <a:t>限界 個別モジュールのAI方式・回避指令と安全機能の範囲は未確認。</a:t>
            </a:r>
          </a:p>
          <a:p xmlns:a="http://schemas.openxmlformats.org/drawingml/2006/main">
            <a:r>
              <a:t>現地 カメラ照合の対象、実機モデルとのズレ、CASが止める・変更する制御、MDES接続先を確認。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AR16 ModuleWorks See you at JIMTOF 2026</a:t>
            </a:r>
          </a:p>
          <a:p xmlns:a="http://schemas.openxmlformats.org/drawingml/2006/main">
            <a:r>
              <a:t>https://www.moduleworks.com/see-you-at-jimtof-2026/</a:t>
            </a:r>
          </a:p>
          <a:p xmlns:a="http://schemas.openxmlformats.org/drawingml/2006/main">
            <a:r>
              <a:t>掲載位置 SmartRoughing／FeedControl／NGSP／CAS／MDES</a:t>
            </a:r>
          </a:p>
          <a:p xmlns:a="http://schemas.openxmlformats.org/drawingml/2006/main">
            <a:r>
              <a:t>確認 2026-10-23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加工現象のモデル化は既存精読S01・S03・S38等、原文集Q38・Q39も参照。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AR13 産業技術総合研究所｜製造AX拠点</a:t>
            </a:r>
          </a:p>
          <a:p xmlns:a="http://schemas.openxmlformats.org/drawingml/2006/main">
            <a:r>
              <a:t>発行 2026-07-02 確認 2026-10-23</a:t>
            </a:r>
          </a:p>
          <a:p xmlns:a="http://schemas.openxmlformats.org/drawingml/2006/main">
            <a:r>
              <a:t>https://www.aist.go.jp/aist_j/news/pr20260702.html</a:t>
            </a:r>
          </a:p>
          <a:p xmlns:a="http://schemas.openxmlformats.org/drawingml/2006/main">
            <a:r>
              <a:t>掲載位置 製造データ取得支援／匿名化・構造化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製造工程の現象理解に基づく製造データ取得の支援</a:t>
            </a:r>
          </a:p>
          <a:p xmlns:a="http://schemas.openxmlformats.org/drawingml/2006/main">
            <a:r>
              <a:t>文脈要約 製造現象の理解に基づくデータ取得と、共有可能な形への加工を支援する。AI開発の前に取得設計が必要。</a:t>
            </a:r>
          </a:p>
          <a:p xmlns:a="http://schemas.openxmlformats.org/drawingml/2006/main">
            <a:r>
              <a:t>留保 データ量だけでAI精度や加工モデルの精度が上がるとは言えない。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AR14 DMG森精機｜GENIAC採択：生産設備データと製造フィジカルAI</a:t>
            </a:r>
          </a:p>
          <a:p xmlns:a="http://schemas.openxmlformats.org/drawingml/2006/main">
            <a:r>
              <a:t>発行 2026-07-06 確認 2026-10-23</a:t>
            </a:r>
          </a:p>
          <a:p xmlns:a="http://schemas.openxmlformats.org/drawingml/2006/main">
            <a:r>
              <a:t>https://www.dmgmori.co.jp/corporate/news/2026/20260706_geniac.html</a:t>
            </a:r>
          </a:p>
          <a:p xmlns:a="http://schemas.openxmlformats.org/drawingml/2006/main">
            <a:r>
              <a:t>掲載位置 自律的AI開発基盤／対象設備・データ</a:t>
            </a:r>
          </a:p>
          <a:p xmlns:a="http://schemas.openxmlformats.org/drawingml/2006/main">
            <a:r>
              <a:t>確認方式 既存保存本文を今回再照合（再取得失敗）</a:t>
            </a:r>
          </a:p>
          <a:p xmlns:a="http://schemas.openxmlformats.org/drawingml/2006/main">
            <a:r>
              <a:t>原文 市場投入済みの設備から継続的にデータを収集・学習・評価する仕組み</a:t>
            </a:r>
          </a:p>
          <a:p xmlns:a="http://schemas.openxmlformats.org/drawingml/2006/main">
            <a:r>
              <a:t>文脈要約 100社・1,000設備・100TB規模を目指すデータ取得と、異常検知から品質・電力予測、セル最適化へ展開する計画。</a:t>
            </a:r>
          </a:p>
          <a:p xmlns:a="http://schemas.openxmlformats.org/drawingml/2006/main">
            <a:r>
              <a:t>留保 数値は目標。データ取得完了・収益改善実績ではない。今回は再取得失敗のため保存済み公式本文で再照合。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AR02 C&amp;Gシステムズ｜CAM-TOOL 機能紹介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https://www.cgsys.co.jp/jp/cam-tool/function_features.html</a:t>
            </a:r>
          </a:p>
          <a:p xmlns:a="http://schemas.openxmlformats.org/drawingml/2006/main">
            <a:r>
              <a:t>掲載位置 AI切削条件算出／Ver20.1・Ver22.2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AI技術の「データマイニング手法」を活用し</a:t>
            </a:r>
          </a:p>
          <a:p xmlns:a="http://schemas.openxmlformats.org/drawingml/2006/main">
            <a:r>
              <a:t>文脈要約 データマイニングにより工具・材質・加工条件から切削条件を算出。ユーザーの過去条件も学習できる。</a:t>
            </a:r>
          </a:p>
          <a:p xmlns:a="http://schemas.openxmlformats.org/drawingml/2006/main">
            <a:r>
              <a:t>留保 2026年に初めて実用化した機能ではない。加工中の閉ループ制御や機械への自動適用は不明。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AR05 ファナック｜フィジカルAI CNC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https://www.fanuc.co.jp/ja/product/cnc/physical-ai-cnc/index.html</a:t>
            </a:r>
          </a:p>
          <a:p xmlns:a="http://schemas.openxmlformats.org/drawingml/2006/main">
            <a:r>
              <a:t>掲載位置 CONCEPT／MCP／デジタルツイン／実現すること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その結果をオペレータが確認・承認した上で実機へ適用できます。</a:t>
            </a:r>
          </a:p>
          <a:p xmlns:a="http://schemas.openxmlformats.org/drawingml/2006/main">
            <a:r>
              <a:t>文脈要約 生成AIの解析・提案を仮想環境で検証し、人が承認して実機へ適用する。プログラム・設定・アラーム対応を支援。</a:t>
            </a:r>
          </a:p>
          <a:p xmlns:a="http://schemas.openxmlformats.org/drawingml/2006/main">
            <a:r>
              <a:t>留保 完全無人加工や無承認の自動復旧を証明しない。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AR09 ファナック｜模倣学習AIロボット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https://www.fanuc.co.jp/ja/product/robot/academia/case_study/imitation-learning-ai-robot.html</a:t>
            </a:r>
          </a:p>
          <a:p xmlns:a="http://schemas.openxmlformats.org/drawingml/2006/main">
            <a:r>
              <a:t>掲載位置 リーダー・フォロワー／VLA／Tシャツ折り畳み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教示中の画像と動作、言語ラベルで学習し、視覚・言語から動作を推論する。</a:t>
            </a:r>
          </a:p>
          <a:p xmlns:a="http://schemas.openxmlformats.org/drawingml/2006/main">
            <a:r>
              <a:t>留保 方式の新しさと、未学習の布・失敗からの復帰・現場稼働率は別。JIMTOF展示未確認。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AR11 ファナック・日立｜フィジカルAI実装に向けた戦略的協業</a:t>
            </a:r>
          </a:p>
          <a:p xmlns:a="http://schemas.openxmlformats.org/drawingml/2006/main">
            <a:r>
              <a:t>発行 2026-09-30 確認 2026-10-23</a:t>
            </a:r>
          </a:p>
          <a:p xmlns:a="http://schemas.openxmlformats.org/drawingml/2006/main">
            <a:r>
              <a:t>https://www.fanuc.co.jp/ja/profile/pr/newsrelease/2026/news20260930.html</a:t>
            </a:r>
          </a:p>
          <a:p xmlns:a="http://schemas.openxmlformats.org/drawingml/2006/main">
            <a:r>
              <a:t>掲載位置 カスタマーゼロ／実証／2027年度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日立の茨城県内の工場を実証先とし、部品形状変化への対応や認識・動作生成、品質・タクトを検証する計画。</a:t>
            </a:r>
          </a:p>
          <a:p xmlns:a="http://schemas.openxmlformats.org/drawingml/2006/main">
            <a:r>
              <a:t>留保 ファナック自社工場での実証とは書かれていない。計画は展示実証・量産性能の証拠ではない。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同名538社の用語集計は既存macro_wording_signalsを継承。2024→2026。計測条件や説明文量は同一ではない。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AR04 ヤマザキマザック｜生産性向上 MAZATROL DX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https://www.mazak.com/jp-ja/technology/productivity/</a:t>
            </a:r>
          </a:p>
          <a:p xmlns:a="http://schemas.openxmlformats.org/drawingml/2006/main">
            <a:r>
              <a:t>掲載位置 SOLID MAZATROL／VIRTUAL MACHINING／CUTTING ADVISER／SETUP GUIDE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形状モデル・工具情報・過去プログラムを活用する自動プログラミングと、仮想検証・条件解析・段取り支援を統合。</a:t>
            </a:r>
          </a:p>
          <a:p xmlns:a="http://schemas.openxmlformats.org/drawingml/2006/main">
            <a:r>
              <a:t>留保 各モジュールがすべてAIであるとは言えない。工程設計の共同開発AIと既存製品は別。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AR16 ModuleWorks｜See you at JIMTOF 2026</a:t>
            </a:r>
          </a:p>
          <a:p xmlns:a="http://schemas.openxmlformats.org/drawingml/2006/main">
            <a:r>
              <a:t>発行 2026-10-15 確認 2026-10-23</a:t>
            </a:r>
          </a:p>
          <a:p xmlns:a="http://schemas.openxmlformats.org/drawingml/2006/main">
            <a:r>
              <a:t>https://www.moduleworks.com/see-you-at-jimtof-2026/</a:t>
            </a:r>
          </a:p>
          <a:p xmlns:a="http://schemas.openxmlformats.org/drawingml/2006/main">
            <a:r>
              <a:t>掲載位置 SmartRoughing／FeedControl／NGSP／CAS／MDES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工具経路・切削負荷の最適化から機上シミュレーション、衝突防止、データ交換までを提示。</a:t>
            </a:r>
          </a:p>
          <a:p xmlns:a="http://schemas.openxmlformats.org/drawingml/2006/main">
            <a:r>
              <a:t>留保 FeedControlの物理量による送り最適化を機械学習AIと推定しない。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AR17 レニショー｜Renishaw Central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掲載位置 IPC／工作機械への補正／ダッシュボード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測定・加工状態を収集し、IPCで機械変数に補正を返す。分析・監視表示も提供。</a:t>
            </a:r>
          </a:p>
          <a:p xmlns:a="http://schemas.openxmlformats.org/drawingml/2006/main">
            <a:r>
              <a:t>留保 閉ループ制御の説明はあるが、学習AIを使う証拠にはならない。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AR01 コマツ｜JIMTOF2026に出展</a:t>
            </a:r>
          </a:p>
          <a:p xmlns:a="http://schemas.openxmlformats.org/drawingml/2006/main">
            <a:r>
              <a:t>発行 2026-10-22 確認 2026-10-23</a:t>
            </a:r>
          </a:p>
          <a:p xmlns:a="http://schemas.openxmlformats.org/drawingml/2006/main">
            <a:r>
              <a:t>https://www.komatsu.jp/ja/newsroom/2026/20261022_01</a:t>
            </a:r>
          </a:p>
          <a:p xmlns:a="http://schemas.openxmlformats.org/drawingml/2006/main">
            <a:r>
              <a:t>掲載位置 CX500／KOM-Scheduler／Gate Keeper／KOMTAS／KOM-MICS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画像による切りくず堆積検知、工具交換時期の予測、加工異常のしきい値設定を別機能として展示。Gate Keeperはコンセプト展示。</a:t>
            </a:r>
          </a:p>
          <a:p xmlns:a="http://schemas.openxmlformats.org/drawingml/2006/main">
            <a:r>
              <a:t>留保 切りくずの自動除去、全工場の自動再計画、KOMTASの機械学習方式は確認できない。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AR12 ABEJA・ヤマザキマザック｜製造業のフィジカルAI実現に向けた協業</a:t>
            </a:r>
          </a:p>
          <a:p xmlns:a="http://schemas.openxmlformats.org/drawingml/2006/main">
            <a:r>
              <a:t>発行 2026-10-16 確認 2026-10-23</a:t>
            </a:r>
          </a:p>
          <a:p xmlns:a="http://schemas.openxmlformats.org/drawingml/2006/main">
            <a:r>
              <a:t>https://www.abejainc.com/news/20261016/2</a:t>
            </a:r>
          </a:p>
          <a:p xmlns:a="http://schemas.openxmlformats.org/drawingml/2006/main">
            <a:r>
              <a:t>掲載位置 Engineering AI Agent／Scheduling AI Agent／Robotics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工程設計の技能と生産計画の制約を取り込み、人を含む検証を伴うAIエージェントを開発する構想。</a:t>
            </a:r>
          </a:p>
          <a:p xmlns:a="http://schemas.openxmlformats.org/drawingml/2006/main">
            <a:r>
              <a:t>留保 製品版の提供・実演成功・工場全体の最適化達成は証明しない。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AR14 DMG森精機｜GENIAC採択：生産設備データと製造フィジカルAI</a:t>
            </a:r>
          </a:p>
          <a:p xmlns:a="http://schemas.openxmlformats.org/drawingml/2006/main">
            <a:r>
              <a:t>発行 2026-07-06 確認 2026-10-23</a:t>
            </a:r>
          </a:p>
          <a:p xmlns:a="http://schemas.openxmlformats.org/drawingml/2006/main">
            <a:r>
              <a:t>https://www.dmgmori.co.jp/corporate/news/2026/20260706_geniac.html</a:t>
            </a:r>
          </a:p>
          <a:p xmlns:a="http://schemas.openxmlformats.org/drawingml/2006/main">
            <a:r>
              <a:t>掲載位置 自律的AI開発基盤／対象設備・データ</a:t>
            </a:r>
          </a:p>
          <a:p xmlns:a="http://schemas.openxmlformats.org/drawingml/2006/main">
            <a:r>
              <a:t>確認方式 既存保存本文を今回再照合（再取得失敗）</a:t>
            </a:r>
          </a:p>
          <a:p xmlns:a="http://schemas.openxmlformats.org/drawingml/2006/main">
            <a:r>
              <a:t>原文 市場投入済みの設備から継続的にデータを収集・学習・評価する仕組み</a:t>
            </a:r>
          </a:p>
          <a:p xmlns:a="http://schemas.openxmlformats.org/drawingml/2006/main">
            <a:r>
              <a:t>文脈要約 100社・1,000設備・100TB規模を目指すデータ取得と、異常検知から品質・電力予測、セル最適化へ展開する計画。</a:t>
            </a:r>
          </a:p>
          <a:p xmlns:a="http://schemas.openxmlformats.org/drawingml/2006/main">
            <a:r>
              <a:t>留保 数値は目標。データ取得完了・収益改善実績ではない。今回は再取得失敗のため保存済み公式本文で再照合。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AR12 ABEJA・ヤマザキマザック｜製造業のフィジカルAI実現に向けた協業</a:t>
            </a:r>
          </a:p>
          <a:p xmlns:a="http://schemas.openxmlformats.org/drawingml/2006/main">
            <a:r>
              <a:t>発行 2026-10-16 確認 2026-10-23</a:t>
            </a:r>
          </a:p>
          <a:p xmlns:a="http://schemas.openxmlformats.org/drawingml/2006/main">
            <a:r>
              <a:t>https://www.abejainc.com/news/20261016/2</a:t>
            </a:r>
          </a:p>
          <a:p xmlns:a="http://schemas.openxmlformats.org/drawingml/2006/main">
            <a:r>
              <a:t>掲載位置 Engineering AI Agent／Scheduling AI Agent／Robotics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工程設計の技能と生産計画の制約を取り込み、人を含む検証を伴うAIエージェントを開発する構想。</a:t>
            </a:r>
          </a:p>
          <a:p xmlns:a="http://schemas.openxmlformats.org/drawingml/2006/main">
            <a:r>
              <a:t>留保 製品版の提供・実演成功・工場全体の最適化達成は証明しない。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AR11 ファナック・日立｜フィジカルAI実装に向けた戦略的協業</a:t>
            </a:r>
          </a:p>
          <a:p xmlns:a="http://schemas.openxmlformats.org/drawingml/2006/main">
            <a:r>
              <a:t>発行 2026-09-30 確認 2026-10-23</a:t>
            </a:r>
          </a:p>
          <a:p xmlns:a="http://schemas.openxmlformats.org/drawingml/2006/main">
            <a:r>
              <a:t>https://www.fanuc.co.jp/ja/profile/pr/newsrelease/2026/news20260930.html</a:t>
            </a:r>
          </a:p>
          <a:p xmlns:a="http://schemas.openxmlformats.org/drawingml/2006/main">
            <a:r>
              <a:t>掲載位置 カスタマーゼロ／実証／2027年度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日立の茨城県内の工場を実証先とし、部品形状変化への対応や認識・動作生成、品質・タクトを検証する計画。</a:t>
            </a:r>
          </a:p>
          <a:p xmlns:a="http://schemas.openxmlformats.org/drawingml/2006/main">
            <a:r>
              <a:t>留保 ファナック自社工場での実証とは書かれていない。計画は展示実証・量産性能の証拠ではない。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上記は調査者の開発仮説。技術動向の根拠を踏まえた候補であり、顧客需要の実証・競合不在の結論ではない。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AR13 産業技術総合研究所｜製造AX拠点</a:t>
            </a:r>
          </a:p>
          <a:p xmlns:a="http://schemas.openxmlformats.org/drawingml/2006/main">
            <a:r>
              <a:t>発行 2026-07-02 確認 2026-10-23</a:t>
            </a:r>
          </a:p>
          <a:p xmlns:a="http://schemas.openxmlformats.org/drawingml/2006/main">
            <a:r>
              <a:t>https://www.aist.go.jp/aist_j/news/pr20260702.html</a:t>
            </a:r>
          </a:p>
          <a:p xmlns:a="http://schemas.openxmlformats.org/drawingml/2006/main">
            <a:r>
              <a:t>掲載位置 製造データ取得支援／匿名化・構造化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製造工程の現象理解に基づく製造データ取得の支援</a:t>
            </a:r>
          </a:p>
          <a:p xmlns:a="http://schemas.openxmlformats.org/drawingml/2006/main">
            <a:r>
              <a:t>文脈要約 製造現象の理解に基づくデータ取得と、共有可能な形への加工を支援する。AI開発の前に取得設計が必要。</a:t>
            </a:r>
          </a:p>
          <a:p xmlns:a="http://schemas.openxmlformats.org/drawingml/2006/main">
            <a:r>
              <a:t>留保 データ量だけでAI精度や加工モデルの精度が上がるとは言えない。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AR14 DMG森精機｜GENIAC採択：生産設備データと製造フィジカルAI</a:t>
            </a:r>
          </a:p>
          <a:p xmlns:a="http://schemas.openxmlformats.org/drawingml/2006/main">
            <a:r>
              <a:t>発行 2026-07-06 確認 2026-10-23</a:t>
            </a:r>
          </a:p>
          <a:p xmlns:a="http://schemas.openxmlformats.org/drawingml/2006/main">
            <a:r>
              <a:t>https://www.dmgmori.co.jp/corporate/news/2026/20260706_geniac.html</a:t>
            </a:r>
          </a:p>
          <a:p xmlns:a="http://schemas.openxmlformats.org/drawingml/2006/main">
            <a:r>
              <a:t>掲載位置 自律的AI開発基盤／対象設備・データ</a:t>
            </a:r>
          </a:p>
          <a:p xmlns:a="http://schemas.openxmlformats.org/drawingml/2006/main">
            <a:r>
              <a:t>確認方式 既存保存本文を今回再照合（再取得失敗）</a:t>
            </a:r>
          </a:p>
          <a:p xmlns:a="http://schemas.openxmlformats.org/drawingml/2006/main">
            <a:r>
              <a:t>原文 市場投入済みの設備から継続的にデータを収集・学習・評価する仕組み</a:t>
            </a:r>
          </a:p>
          <a:p xmlns:a="http://schemas.openxmlformats.org/drawingml/2006/main">
            <a:r>
              <a:t>文脈要約 100社・1,000設備・100TB規模を目指すデータ取得と、異常検知から品質・電力予測、セル最適化へ展開する計画。</a:t>
            </a:r>
          </a:p>
          <a:p xmlns:a="http://schemas.openxmlformats.org/drawingml/2006/main">
            <a:r>
              <a:t>留保 数値は目標。データ取得完了・収益改善実績ではない。今回は再取得失敗のため保存済み公式本文で再照合。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AR01 コマツ｜JIMTOF2026に出展</a:t>
            </a:r>
          </a:p>
          <a:p xmlns:a="http://schemas.openxmlformats.org/drawingml/2006/main">
            <a:r>
              <a:t>発行 2026-10-22 確認 2026-10-23</a:t>
            </a:r>
          </a:p>
          <a:p xmlns:a="http://schemas.openxmlformats.org/drawingml/2006/main">
            <a:r>
              <a:t>https://www.komatsu.jp/ja/newsroom/2026/20261022_01</a:t>
            </a:r>
          </a:p>
          <a:p xmlns:a="http://schemas.openxmlformats.org/drawingml/2006/main">
            <a:r>
              <a:t>掲載位置 CX500／KOM-Scheduler／Gate Keeper／KOMTAS／KOM-MICS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画像による切りくず堆積検知、工具交換時期の予測、加工異常のしきい値設定を別機能として展示。Gate Keeperはコンセプト展示。</a:t>
            </a:r>
          </a:p>
          <a:p xmlns:a="http://schemas.openxmlformats.org/drawingml/2006/main">
            <a:r>
              <a:t>留保 切りくずの自動除去、全工場の自動再計画、KOMTASの機械学習方式は確認できない。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AR05 ファナック｜フィジカルAI CNC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https://www.fanuc.co.jp/ja/product/cnc/physical-ai-cnc/index.html</a:t>
            </a:r>
          </a:p>
          <a:p xmlns:a="http://schemas.openxmlformats.org/drawingml/2006/main">
            <a:r>
              <a:t>掲載位置 CONCEPT／MCP／デジタルツイン／実現すること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その結果をオペレータが確認・承認した上で実機へ適用できます。</a:t>
            </a:r>
          </a:p>
          <a:p xmlns:a="http://schemas.openxmlformats.org/drawingml/2006/main">
            <a:r>
              <a:t>文脈要約 生成AIの解析・提案を仮想環境で検証し、人が承認して実機へ適用する。プログラム・設定・アラーム対応を支援。</a:t>
            </a:r>
          </a:p>
          <a:p xmlns:a="http://schemas.openxmlformats.org/drawingml/2006/main">
            <a:r>
              <a:t>留保 完全無人加工や無承認の自動復旧を証明しない。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AR12 ABEJA・ヤマザキマザック｜製造業のフィジカルAI実現に向けた協業</a:t>
            </a:r>
          </a:p>
          <a:p xmlns:a="http://schemas.openxmlformats.org/drawingml/2006/main">
            <a:r>
              <a:t>発行 2026-10-16 確認 2026-10-23</a:t>
            </a:r>
          </a:p>
          <a:p xmlns:a="http://schemas.openxmlformats.org/drawingml/2006/main">
            <a:r>
              <a:t>https://www.abejainc.com/news/20261016/2</a:t>
            </a:r>
          </a:p>
          <a:p xmlns:a="http://schemas.openxmlformats.org/drawingml/2006/main">
            <a:r>
              <a:t>掲載位置 Engineering AI Agent／Scheduling AI Agent／Robotics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工程設計の技能と生産計画の制約を取り込み、人を含む検証を伴うAIエージェントを開発する構想。</a:t>
            </a:r>
          </a:p>
          <a:p xmlns:a="http://schemas.openxmlformats.org/drawingml/2006/main">
            <a:r>
              <a:t>留保 製品版の提供・実演成功・工場全体の最適化達成は証明しない。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AR20 NdotLight｜TRINIX / Physical AI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https://ndotlight.com/</a:t>
            </a:r>
          </a:p>
          <a:p xmlns:a="http://schemas.openxmlformats.org/drawingml/2006/main">
            <a:r>
              <a:t>掲載位置 SimReady／物理属性・ジョイント／USD・URDF・MJCF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引用なし</a:t>
            </a:r>
          </a:p>
          <a:p xmlns:a="http://schemas.openxmlformats.org/drawingml/2006/main">
            <a:r>
              <a:t>文脈要約 CADや3Dデータを学習・シミュレーション環境に適した形式へ変換する支援。</a:t>
            </a:r>
          </a:p>
          <a:p xmlns:a="http://schemas.openxmlformats.org/drawingml/2006/main">
            <a:r>
              <a:t>留保 推定した物性値が実測同定済みとは限らない。物理AIの動作本体と区別する。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訪問判断・自分優先度・当日メモはExcelの入力欄へ記録。未確認は未確認のまま報告する。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AR13 産業技術総合研究所｜製造AX拠点</a:t>
            </a:r>
          </a:p>
          <a:p xmlns:a="http://schemas.openxmlformats.org/drawingml/2006/main">
            <a:r>
              <a:t>発行 2026-07-02 確認 2026-10-23</a:t>
            </a:r>
          </a:p>
          <a:p xmlns:a="http://schemas.openxmlformats.org/drawingml/2006/main">
            <a:r>
              <a:t>https://www.aist.go.jp/aist_j/news/pr20260702.html</a:t>
            </a:r>
          </a:p>
          <a:p xmlns:a="http://schemas.openxmlformats.org/drawingml/2006/main">
            <a:r>
              <a:t>掲載位置 製造データ取得支援／匿名化・構造化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製造工程の現象理解に基づく製造データ取得の支援</a:t>
            </a:r>
          </a:p>
          <a:p xmlns:a="http://schemas.openxmlformats.org/drawingml/2006/main">
            <a:r>
              <a:t>文脈要約 製造現象の理解に基づくデータ取得と、共有可能な形への加工を支援する。AI開発の前に取得設計が必要。</a:t>
            </a:r>
          </a:p>
          <a:p xmlns:a="http://schemas.openxmlformats.org/drawingml/2006/main">
            <a:r>
              <a:t>留保 データ量だけでAI精度や加工モデルの精度が上がるとは言えない。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AR02 C&amp;Gシステムズ｜CAM-TOOL 機能紹介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https://www.cgsys.co.jp/jp/cam-tool/function_features.html</a:t>
            </a:r>
          </a:p>
          <a:p xmlns:a="http://schemas.openxmlformats.org/drawingml/2006/main">
            <a:r>
              <a:t>掲載位置 AI切削条件算出／Ver20.1・Ver22.2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AI技術の「データマイニング手法」を活用し</a:t>
            </a:r>
          </a:p>
          <a:p xmlns:a="http://schemas.openxmlformats.org/drawingml/2006/main">
            <a:r>
              <a:t>文脈要約 データマイニングにより工具・材質・加工条件から切削条件を算出。ユーザーの過去条件も学習できる。</a:t>
            </a:r>
          </a:p>
          <a:p xmlns:a="http://schemas.openxmlformats.org/drawingml/2006/main">
            <a:r>
              <a:t>留保 2026年に初めて実用化した機能ではない。加工中の閉ループ制御や機械への自動適用は不明。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AR05 ファナック｜フィジカルAI CNC</a:t>
            </a:r>
          </a:p>
          <a:p xmlns:a="http://schemas.openxmlformats.org/drawingml/2006/main">
            <a:r>
              <a:t>発行 未記載 確認 2026-10-23</a:t>
            </a:r>
          </a:p>
          <a:p xmlns:a="http://schemas.openxmlformats.org/drawingml/2006/main">
            <a:r>
              <a:t>https://www.fanuc.co.jp/ja/product/cnc/physical-ai-cnc/index.html</a:t>
            </a:r>
          </a:p>
          <a:p xmlns:a="http://schemas.openxmlformats.org/drawingml/2006/main">
            <a:r>
              <a:t>掲載位置 CONCEPT／MCP／デジタルツイン／実現すること</a:t>
            </a:r>
          </a:p>
          <a:p xmlns:a="http://schemas.openxmlformats.org/drawingml/2006/main">
            <a:r>
              <a:t>確認方式 今回本文照合</a:t>
            </a:r>
          </a:p>
          <a:p xmlns:a="http://schemas.openxmlformats.org/drawingml/2006/main">
            <a:r>
              <a:t>原文 その結果をオペレータが確認・承認した上で実機へ適用できます。</a:t>
            </a:r>
          </a:p>
          <a:p xmlns:a="http://schemas.openxmlformats.org/drawingml/2006/main">
            <a:r>
              <a:t>文脈要約 生成AIの解析・提案を仮想環境で検証し、人が承認して実機へ適用する。プログラム・設定・アラーム対応を支援。</a:t>
            </a:r>
          </a:p>
          <a:p xmlns:a="http://schemas.openxmlformats.org/drawingml/2006/main">
            <a:r>
              <a:t>留保 完全無人加工や無承認の自動復旧を証明しない。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詳細なURL・日付・掲載位置はノートおよびHTML根拠欄。前版2026-10-22の原典照合記録を継承。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Q05 MONOistの記者説明。マザック共同開発を取材</a:t>
            </a:r>
          </a:p>
          <a:p xmlns:a="http://schemas.openxmlformats.org/drawingml/2006/main">
            <a:r>
              <a:t>加工の工程設計をAIエージェントで自動化 2026-10-19</a:t>
            </a:r>
          </a:p>
          <a:p xmlns:a="http://schemas.openxmlformats.org/drawingml/2006/main">
            <a:r>
              <a:t>https://monoist.itmedia.co.jp/mn/articles/2610/19/news039_2.html</a:t>
            </a:r>
          </a:p>
          <a:p xmlns:a="http://schemas.openxmlformats.org/drawingml/2006/main">
            <a:r>
              <a:t>掲載位置 後編 MAZATROLとGコードを比較する段落</a:t>
            </a:r>
          </a:p>
          <a:p xmlns:a="http://schemas.openxmlformats.org/drawingml/2006/main">
            <a:r>
              <a:t>原文 「何をどのように加工したいのか」という作業者の意図や目的</a:t>
            </a:r>
          </a:p>
          <a:p xmlns:a="http://schemas.openxmlformats.org/drawingml/2006/main">
            <a:r>
              <a:t>文脈 対話プログラムの加工意図と判断結果を学習する方式を説明する。</a:t>
            </a:r>
          </a:p>
          <a:p xmlns:a="http://schemas.openxmlformats.org/drawingml/2006/main">
            <a:r>
              <a:t>留保 記者の説明からの抜粋で、発言者の直接発言ではない。</a:t>
            </a:r>
          </a:p>
          <a:p xmlns:a="http://schemas.openxmlformats.org/drawingml/2006/main">
            <a:r>
              <a:t>前版確認 2026-10-22 を継承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Q24 DMG森精機 森雅彦氏の取材発言</a:t>
            </a:r>
          </a:p>
          <a:p xmlns:a="http://schemas.openxmlformats.org/drawingml/2006/main">
            <a:r>
              <a:t>工作機械のソフトウェアデファインド化とMX 2025-09-26</a:t>
            </a:r>
          </a:p>
          <a:p xmlns:a="http://schemas.openxmlformats.org/drawingml/2006/main">
            <a:r>
              <a:t>https://monoist.itmedia.co.jp/mn/articles/2509/27/news004_2.html</a:t>
            </a:r>
          </a:p>
          <a:p xmlns:a="http://schemas.openxmlformats.org/drawingml/2006/main">
            <a:r>
              <a:t>掲載位置 後編 シミュレーションとAIに関する回答</a:t>
            </a:r>
          </a:p>
          <a:p xmlns:a="http://schemas.openxmlformats.org/drawingml/2006/main">
            <a:r>
              <a:t>原文 まずはシミュレーションのモデルをしっかりと作り込んで</a:t>
            </a:r>
          </a:p>
          <a:p xmlns:a="http://schemas.openxmlformats.org/drawingml/2006/main">
            <a:r>
              <a:t>文脈 研究論文への言及として、モデルを土台にAIを使う方法へ関心を示す。</a:t>
            </a:r>
          </a:p>
          <a:p xmlns:a="http://schemas.openxmlformats.org/drawingml/2006/main">
            <a:r>
              <a:t>留保 技術への関心を述べた条件節。特定の自社実装の達成証明ではない。</a:t>
            </a:r>
          </a:p>
          <a:p xmlns:a="http://schemas.openxmlformats.org/drawingml/2006/main">
            <a:r>
              <a:t>前版確認 2026-10-22 を継承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Q38 産総研の公式研究発表</a:t>
            </a:r>
          </a:p>
          <a:p xmlns:a="http://schemas.openxmlformats.org/drawingml/2006/main">
            <a:r>
              <a:t>少数データから短時間で現場環境に応じた最適加工条件を決定 2022-01-17</a:t>
            </a:r>
          </a:p>
          <a:p xmlns:a="http://schemas.openxmlformats.org/drawingml/2006/main">
            <a:r>
              <a:t>https://www.aist.go.jp/aist_j/press_release/pr2022/pr20220117/pr20220117.html</a:t>
            </a:r>
          </a:p>
          <a:p xmlns:a="http://schemas.openxmlformats.org/drawingml/2006/main">
            <a:r>
              <a:t>掲載位置 概要・研究の狙い</a:t>
            </a:r>
          </a:p>
          <a:p xmlns:a="http://schemas.openxmlformats.org/drawingml/2006/main">
            <a:r>
              <a:t>原文 目標仕様から最適加工条件を逆算して求める手法</a:t>
            </a:r>
          </a:p>
          <a:p xmlns:a="http://schemas.openxmlformats.org/drawingml/2006/main">
            <a:r>
              <a:t>文脈 スピニング加工の複数寸法を満たす条件を求める研究。</a:t>
            </a:r>
          </a:p>
          <a:p xmlns:a="http://schemas.openxmlformats.org/drawingml/2006/main">
            <a:r>
              <a:t>留保 特定の加工での実証。あらゆる加工の条件決定を解決したという意味ではない。</a:t>
            </a:r>
          </a:p>
          <a:p xmlns:a="http://schemas.openxmlformats.org/drawingml/2006/main">
            <a:r>
              <a:t>前版確認 2026-10-22 を継承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FC001 DMG森精機 AMR 1000</a:t>
            </a:r>
          </a:p>
          <a:p xmlns:a="http://schemas.openxmlformats.org/drawingml/2006/main">
            <a:r>
              <a:t>小間 E8005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チップバケット等。認識センサ・経路入力は未記載</a:t>
            </a:r>
          </a:p>
          <a:p xmlns:a="http://schemas.openxmlformats.org/drawingml/2006/main">
            <a:r>
              <a:t>方式 AMRで切粉容器等を運搬</a:t>
            </a:r>
          </a:p>
          <a:p xmlns:a="http://schemas.openxmlformats.org/drawingml/2006/main">
            <a:r>
              <a:t>出力 容器の工場内搬送</a:t>
            </a:r>
          </a:p>
          <a:p xmlns:a="http://schemas.openxmlformats.org/drawingml/2006/main">
            <a:r>
              <a:t>人 積み降ろし・通路障害・異常時の介入条件は未確認</a:t>
            </a:r>
          </a:p>
          <a:p xmlns:a="http://schemas.openxmlformats.org/drawingml/2006/main">
            <a:r>
              <a:t>限界 容器の受渡しも自動か。混雑・位置ずれ・満杯時に誰が対応するか。</a:t>
            </a:r>
          </a:p>
          <a:p xmlns:a="http://schemas.openxmlformats.org/drawingml/2006/main">
            <a:r>
              <a:t>現地 AMR 1000の対象品種・変更条件は何か。工場内搬送で人が設定する内容、異常時の停止・復帰、他工程との接続仕様を確認する。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EOV-V001-2024-1 DMG森精機株式会社 JIMTOF2024公式カタログ：DMG森精機株式会社 (E8001)</a:t>
            </a:r>
          </a:p>
          <a:p xmlns:a="http://schemas.openxmlformats.org/drawingml/2006/main">
            <a:r>
              <a:t>https://www.jimtof.org/2024/search/jp/ESdetails?e=lOXEEpvlXpM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EOV-V001-2026-1 DMG森精機株式会社 JIMTOF2026公式カタログ：DMG森精機株式会社 (E8005)</a:t>
            </a:r>
          </a:p>
          <a:p xmlns:a="http://schemas.openxmlformats.org/drawingml/2006/main">
            <a:r>
              <a:t>https://www.jimtof.org/search/jp/ESdetails?e=zcqDj1lSkGs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FC002 DMG森精機 MATRIS WPH 210</a:t>
            </a:r>
          </a:p>
          <a:p xmlns:a="http://schemas.openxmlformats.org/drawingml/2006/main">
            <a:r>
              <a:t>小間 E8005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ワークとパレット、品種別段取り条件</a:t>
            </a:r>
          </a:p>
          <a:p xmlns:a="http://schemas.openxmlformats.org/drawingml/2006/main">
            <a:r>
              <a:t>方式 ワークとパレット両方を供給する変種変量生産向け構成</a:t>
            </a:r>
          </a:p>
          <a:p xmlns:a="http://schemas.openxmlformats.org/drawingml/2006/main">
            <a:r>
              <a:t>出力 工作機械への供給</a:t>
            </a:r>
          </a:p>
          <a:p xmlns:a="http://schemas.openxmlformats.org/drawingml/2006/main">
            <a:r>
              <a:t>人 把持・治具・品種切替の事前準備範囲は未確認</a:t>
            </a:r>
          </a:p>
          <a:p xmlns:a="http://schemas.openxmlformats.org/drawingml/2006/main">
            <a:r>
              <a:t>限界 AIの権限、介入条件、機種互換性と効果は未確認</a:t>
            </a:r>
          </a:p>
          <a:p xmlns:a="http://schemas.openxmlformats.org/drawingml/2006/main">
            <a:r>
              <a:t>現地 MATRIS WPH 210の対象品種・変更条件は何か。パレット供給で人が設定する内容、異常時の停止・復帰、他工程との接続仕様を確認する。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EOV-V001-2024-1 DMG森精機株式会社 JIMTOF2024公式カタログ：DMG森精機株式会社 (E8001)</a:t>
            </a:r>
          </a:p>
          <a:p xmlns:a="http://schemas.openxmlformats.org/drawingml/2006/main">
            <a:r>
              <a:t>https://www.jimtof.org/2024/search/jp/ESdetails?e=lOXEEpvlXpM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EOV-V001-2026-1 DMG森精機株式会社 JIMTOF2026公式カタログ：DMG森精機株式会社 (E8005)</a:t>
            </a:r>
          </a:p>
          <a:p xmlns:a="http://schemas.openxmlformats.org/drawingml/2006/main">
            <a:r>
              <a:t>https://www.jimtof.org/search/jp/ESdetails?e=zcqDj1lSkGs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FC004 DMG森精機 Condition Agent</a:t>
            </a:r>
          </a:p>
          <a:p xmlns:a="http://schemas.openxmlformats.org/drawingml/2006/main">
            <a:r>
              <a:t>小間 E8005</a:t>
            </a:r>
          </a:p>
          <a:p xmlns:a="http://schemas.openxmlformats.org/drawingml/2006/main">
            <a:r>
              <a:t>展示 展示予定を明記 10/16公式出展発表でCondition AgentをDX体験エリアの展示として明記。従来の「展示未確認」から更新。</a:t>
            </a:r>
          </a:p>
          <a:p xmlns:a="http://schemas.openxmlformats.org/drawingml/2006/main">
            <a:r>
              <a:t>入力 診断専用NC動作のデータ、設計・製造データ</a:t>
            </a:r>
          </a:p>
          <a:p xmlns:a="http://schemas.openxmlformats.org/drawingml/2006/main">
            <a:r>
              <a:t>方式 クラウドAIで異常兆候を分析</a:t>
            </a:r>
          </a:p>
          <a:p xmlns:a="http://schemas.openxmlformats.org/drawingml/2006/main">
            <a:r>
              <a:t>出力 コンポーネント状態の診断・通知</a:t>
            </a:r>
          </a:p>
          <a:p xmlns:a="http://schemas.openxmlformats.org/drawingml/2006/main">
            <a:r>
              <a:t>人 現場操作で診断開始。修理・部品交換まで自律実行する説明なし</a:t>
            </a:r>
          </a:p>
          <a:p xmlns:a="http://schemas.openxmlformats.org/drawingml/2006/main">
            <a:r>
              <a:t>限界 診断頻度、誤警報、後付け対象機、診断後の保全意思決定。名称だけで生成AIエージェントに分類しない。</a:t>
            </a:r>
          </a:p>
          <a:p xmlns:a="http://schemas.openxmlformats.org/drawingml/2006/main">
            <a:r>
              <a:t>現地 Condition Agentの対象品種・変更条件は何か。保全診断・知識支援で人が設定する内容、異常時の停止・復帰、他工程との接続仕様を確認する。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EOV-V001-2024-1 DMG森精機株式会社 JIMTOF2024公式カタログ：DMG森精機株式会社 (E8001)</a:t>
            </a:r>
          </a:p>
          <a:p xmlns:a="http://schemas.openxmlformats.org/drawingml/2006/main">
            <a:r>
              <a:t>https://www.jimtof.org/2024/search/jp/ESdetails?e=lOXEEpvlXpM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EOV-V001-2026-1 DMG森精機株式会社 JIMTOF2026公式カタログ：DMG森精機株式会社 (E8005)</a:t>
            </a:r>
          </a:p>
          <a:p xmlns:a="http://schemas.openxmlformats.org/drawingml/2006/main">
            <a:r>
              <a:t>https://www.jimtof.org/search/jp/ESdetails?e=zcqDj1lSkGs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EAT-N07 DMG森精機 Condition Agent 提供開始</a:t>
            </a:r>
          </a:p>
          <a:p xmlns:a="http://schemas.openxmlformats.org/drawingml/2006/main">
            <a:r>
              <a:t>https://www.dmgmori.co.jp/corporate/news/2026/20260706_conditionagent.html</a:t>
            </a:r>
          </a:p>
          <a:p xmlns:a="http://schemas.openxmlformats.org/drawingml/2006/main">
            <a:r>
              <a:t>掲載位置 2026/07/06本文・主な特長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FT08 DMG森精機 JIMTOF2026出展（2026/10/16）</a:t>
            </a:r>
          </a:p>
          <a:p xmlns:a="http://schemas.openxmlformats.org/drawingml/2006/main">
            <a:r>
              <a:t>https://www.dmgmori.co.jp/corporate/news/2026/20261016_jimtof2026.html</a:t>
            </a:r>
          </a:p>
          <a:p xmlns:a="http://schemas.openxmlformats.org/drawingml/2006/main">
            <a:r>
              <a:t>掲載位置 東8 E8005：GX Flex／AMR／DX体験エリア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FT-D01 ＤＭＧ森精機株式会社 my DMG MORI サービスエージェント</a:t>
            </a:r>
          </a:p>
          <a:p xmlns:a="http://schemas.openxmlformats.org/drawingml/2006/main">
            <a:r>
              <a:t>小間 E8005</a:t>
            </a:r>
          </a:p>
          <a:p xmlns:a="http://schemas.openxmlformats.org/drawingml/2006/main">
            <a:r>
              <a:t>展示 展示予定を明記 10/19公式発表でJIMTOFデモを明記。</a:t>
            </a:r>
          </a:p>
          <a:p xmlns:a="http://schemas.openxmlformats.org/drawingml/2006/main">
            <a:r>
              <a:t>入力 機番に応じた公開マニュアル、MRO知見を反映した問診、顧客の回答。</a:t>
            </a:r>
          </a:p>
          <a:p xmlns:a="http://schemas.openxmlformats.org/drawingml/2006/main">
            <a:r>
              <a:t>方式 選択式を中心とした対話で症状を整理し、マニュアルに基づく対処案と問い合わせ文を生成する。</a:t>
            </a:r>
          </a:p>
          <a:p xmlns:a="http://schemas.openxmlformats.org/drawingml/2006/main">
            <a:r>
              <a:t>出力 解決策・サービスリクエスト文案。</a:t>
            </a:r>
          </a:p>
          <a:p xmlns:a="http://schemas.openxmlformats.org/drawingml/2006/main">
            <a:r>
              <a:t>人 顧客が対処を試し、未解決ならリクエストを送信する。機械の自動復旧ではない。</a:t>
            </a:r>
          </a:p>
          <a:p xmlns:a="http://schemas.openxmlformats.org/drawingml/2006/main">
            <a:r>
              <a:t>限界 GENIAC診断データを使うアラーム自動診断は今後の計画。現在機能と混同しない。</a:t>
            </a:r>
          </a:p>
          <a:p xmlns:a="http://schemas.openxmlformats.org/drawingml/2006/main">
            <a:r>
              <a:t>現地 機番別の回答根拠、曖昧な故障症状の問診、誤提案の検出、診断データとの今後の接続を確認。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FT07 DMG森精機 my DMG MORI サービスエージェント（2026/10/19）</a:t>
            </a:r>
          </a:p>
          <a:p xmlns:a="http://schemas.openxmlformats.org/drawingml/2006/main">
            <a:r>
              <a:t>https://www.dmgmori.co.jp/corporate/news/2026/20261019_serviceagent.html</a:t>
            </a:r>
          </a:p>
          <a:p xmlns:a="http://schemas.openxmlformats.org/drawingml/2006/main">
            <a:r>
              <a:t>掲載位置 提供開始／マニュアル検索／診断・問い合わせ生成／GENIACは今後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FT08 DMG森精機 JIMTOF2026出展（2026/10/16）</a:t>
            </a:r>
          </a:p>
          <a:p xmlns:a="http://schemas.openxmlformats.org/drawingml/2006/main">
            <a:r>
              <a:t>https://www.dmgmori.co.jp/corporate/news/2026/20261016_jimtof2026.html</a:t>
            </a:r>
          </a:p>
          <a:p xmlns:a="http://schemas.openxmlformats.org/drawingml/2006/main">
            <a:r>
              <a:t>掲載位置 東8 E8005：GX Flex／AMR／DX体験エリア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FT-D02 ＤＭＧ森精機株式会社 GX Flex 工具・チャック爪・ワーク交換</a:t>
            </a:r>
          </a:p>
          <a:p xmlns:a="http://schemas.openxmlformats.org/drawingml/2006/main">
            <a:r>
              <a:t>小間 E8005</a:t>
            </a:r>
          </a:p>
          <a:p xmlns:a="http://schemas.openxmlformats.org/drawingml/2006/main">
            <a:r>
              <a:t>展示 展示予定を明記 10/16出展発表で新開発GX Flexを明記。</a:t>
            </a:r>
          </a:p>
          <a:p xmlns:a="http://schemas.openxmlformats.org/drawingml/2006/main">
            <a:r>
              <a:t>入力 シャフト・フランジワーク、工具・チャック爪と段取り条件。</a:t>
            </a:r>
          </a:p>
          <a:p xmlns:a="http://schemas.openxmlformats.org/drawingml/2006/main">
            <a:r>
              <a:t>方式 NTX 2500との組合せで複数の交換対象を扱う新開発ガントリローダ。</a:t>
            </a:r>
          </a:p>
          <a:p xmlns:a="http://schemas.openxmlformats.org/drawingml/2006/main">
            <a:r>
              <a:t>出力 多品種加工の搬送・段取り替え。</a:t>
            </a:r>
          </a:p>
          <a:p xmlns:a="http://schemas.openxmlformats.org/drawingml/2006/main">
            <a:r>
              <a:t>人 段取り情報の登録、把持可否・干渉の確認と異常復帰は要確認。</a:t>
            </a:r>
          </a:p>
          <a:p xmlns:a="http://schemas.openxmlformats.org/drawingml/2006/main">
            <a:r>
              <a:t>限界 AI認識・自律段取り計画の説明はない。</a:t>
            </a:r>
          </a:p>
          <a:p xmlns:a="http://schemas.openxmlformats.org/drawingml/2006/main">
            <a:r>
              <a:t>現地 爪・工具交換の対象、段取り情報の生成方法、交換ミス検知と復帰を確認。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FT08 DMG森精機 JIMTOF2026出展（2026/10/16）</a:t>
            </a:r>
          </a:p>
          <a:p xmlns:a="http://schemas.openxmlformats.org/drawingml/2006/main">
            <a:r>
              <a:t>https://www.dmgmori.co.jp/corporate/news/2026/20261016_jimtof2026.html</a:t>
            </a:r>
          </a:p>
          <a:p xmlns:a="http://schemas.openxmlformats.org/drawingml/2006/main">
            <a:r>
              <a:t>掲載位置 東8 E8005：GX Flex／AMR／DX体験エリア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FT-D03 ＤＭＧ森精機株式会社 AMR 2000 工具搬送</a:t>
            </a:r>
          </a:p>
          <a:p xmlns:a="http://schemas.openxmlformats.org/drawingml/2006/main">
            <a:r>
              <a:t>小間 E8005</a:t>
            </a:r>
          </a:p>
          <a:p xmlns:a="http://schemas.openxmlformats.org/drawingml/2006/main">
            <a:r>
              <a:t>展示 展示予定を明記 10/16出展発表に記載。</a:t>
            </a:r>
          </a:p>
          <a:p xmlns:a="http://schemas.openxmlformats.org/drawingml/2006/main">
            <a:r>
              <a:t>入力 工具と搬送要求。</a:t>
            </a:r>
          </a:p>
          <a:p xmlns:a="http://schemas.openxmlformats.org/drawingml/2006/main">
            <a:r>
              <a:t>方式 AMR 2000を用いた工具搬送ソリューション。</a:t>
            </a:r>
          </a:p>
          <a:p xmlns:a="http://schemas.openxmlformats.org/drawingml/2006/main">
            <a:r>
              <a:t>出力 工作機械間の工具受渡し。</a:t>
            </a:r>
          </a:p>
          <a:p xmlns:a="http://schemas.openxmlformats.org/drawingml/2006/main">
            <a:r>
              <a:t>人 搬送要求・工具IDの登録と停止後復帰の担当は未確認。</a:t>
            </a:r>
          </a:p>
          <a:p xmlns:a="http://schemas.openxmlformats.org/drawingml/2006/main">
            <a:r>
              <a:t>限界 AIモデル・群制御・自律再計画を確認できない。</a:t>
            </a:r>
          </a:p>
          <a:p xmlns:a="http://schemas.openxmlformats.org/drawingml/2006/main">
            <a:r>
              <a:t>現地 工具管理との同期、優先順位・配車、閉塞時の再計画と受渡し安全を確認。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FT08 DMG森精機 JIMTOF2026出展（2026/10/16）</a:t>
            </a:r>
          </a:p>
          <a:p xmlns:a="http://schemas.openxmlformats.org/drawingml/2006/main">
            <a:r>
              <a:t>https://www.dmgmori.co.jp/corporate/news/2026/20261016_jimtof2026.html</a:t>
            </a:r>
          </a:p>
          <a:p xmlns:a="http://schemas.openxmlformats.org/drawingml/2006/main">
            <a:r>
              <a:t>掲載位置 東8 E8005：GX Flex／AMR／DX体験エリア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FC010 ヤマザキマザック INTEGREX＋Ez LOADER 30</a:t>
            </a:r>
          </a:p>
          <a:p xmlns:a="http://schemas.openxmlformats.org/drawingml/2006/main">
            <a:r>
              <a:t>小間 E1001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ワーク・搬送プログラムの具体仕様未確認</a:t>
            </a:r>
          </a:p>
          <a:p xmlns:a="http://schemas.openxmlformats.org/drawingml/2006/main">
            <a:r>
              <a:t>方式 工作機械とローダの組合せ</a:t>
            </a:r>
          </a:p>
          <a:p xmlns:a="http://schemas.openxmlformats.org/drawingml/2006/main">
            <a:r>
              <a:t>出力 自動化セルのワーク供給。展示動作は要確認</a:t>
            </a:r>
          </a:p>
          <a:p xmlns:a="http://schemas.openxmlformats.org/drawingml/2006/main">
            <a:r>
              <a:t>人 AIに任せる判断範囲は資料から確認できない</a:t>
            </a:r>
          </a:p>
          <a:p xmlns:a="http://schemas.openxmlformats.org/drawingml/2006/main">
            <a:r>
              <a:t>限界 個別AI機能の役割と既存機能との差を現地確認</a:t>
            </a:r>
          </a:p>
          <a:p xmlns:a="http://schemas.openxmlformats.org/drawingml/2006/main">
            <a:r>
              <a:t>現地 INTEGREX＋Ez LOADER 30の対象品種・変更条件は何か。ワーク搬入出で人が設定する内容、異常時の停止・復帰、他工程との接続仕様を確認する。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EOV-V004-2024-1 ヤマザキマザック株式会社 JIMTOF2024公式カタログ：ヤマザキマザック株式会社 (E5001)</a:t>
            </a:r>
          </a:p>
          <a:p xmlns:a="http://schemas.openxmlformats.org/drawingml/2006/main">
            <a:r>
              <a:t>https://www.jimtof.org/2024/search/jp/ESdetails?e=q0OrZBKM3uQ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EOV-V004-2026-1 ヤマザキマザック株式会社 JIMTOF2026公式カタログ：ヤマザキマザック株式会社 (E1001)</a:t>
            </a:r>
          </a:p>
          <a:p xmlns:a="http://schemas.openxmlformats.org/drawingml/2006/main">
            <a:r>
              <a:t>https://www.jimtof.org/search/jp/ESdetails?e=PJEgqNYlWes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EAT-N08 ヤマザキマザック JIMTOF2026 Machines &amp; Automation Systems</a:t>
            </a:r>
          </a:p>
          <a:p xmlns:a="http://schemas.openxmlformats.org/drawingml/2006/main">
            <a:r>
              <a:t>https://www.mazak.com/jp-en/news-media/upcoming-events/jimtof2026/</a:t>
            </a:r>
          </a:p>
          <a:p xmlns:a="http://schemas.openxmlformats.org/drawingml/2006/main">
            <a:r>
              <a:t>掲載位置 Machines &amp; Automation Systems／Automation Systems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RPT006 ヤマザキマザック Ai Thermal Shield（製品資料による比較）</a:t>
            </a:r>
          </a:p>
          <a:p xmlns:a="http://schemas.openxmlformats.org/drawingml/2006/main">
            <a:r>
              <a:t>小間 E1001</a:t>
            </a:r>
          </a:p>
          <a:p xmlns:a="http://schemas.openxmlformats.org/drawingml/2006/main">
            <a:r>
              <a:t>展示 展示未確認 出展企業は確認。同機能の展示搭載は未確認</a:t>
            </a:r>
          </a:p>
          <a:p xmlns:a="http://schemas.openxmlformats.org/drawingml/2006/main">
            <a:r>
              <a:t>入力 温度・回転等の状態と加工後の測定結果。</a:t>
            </a:r>
          </a:p>
          <a:p xmlns:a="http://schemas.openxmlformats.org/drawingml/2006/main">
            <a:r>
              <a:t>方式 温度・回転等を考慮。加工後測定の学習で熱変位補正を最適化。</a:t>
            </a:r>
          </a:p>
          <a:p xmlns:a="http://schemas.openxmlformats.org/drawingml/2006/main">
            <a:r>
              <a:t>出力 加工後測定も使い熱変位補正を調整する</a:t>
            </a:r>
          </a:p>
          <a:p xmlns:a="http://schemas.openxmlformats.org/drawingml/2006/main">
            <a:r>
              <a:t>人 測定準備・更新採否・補正限界の設定者は未確認。</a:t>
            </a:r>
          </a:p>
          <a:p xmlns:a="http://schemas.openxmlformats.org/drawingml/2006/main">
            <a:r>
              <a:t>限界 同機能・版の2026展示搭載は未確認。</a:t>
            </a:r>
          </a:p>
          <a:p xmlns:a="http://schemas.openxmlformats.org/drawingml/2006/main">
            <a:r>
              <a:t>現地 Ai Thermal Shield（製品資料による比較）の対象品種・変更条件は何か。加工後測定も使い熱変位補正を調整するで人が設定する内容、異常時の停止・復帰、他工程との接続仕様を確認する。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RPT-S03 メーカー公式 Mazak Accuracy / Ai Thermal Shield</a:t>
            </a:r>
          </a:p>
          <a:p xmlns:a="http://schemas.openxmlformats.org/drawingml/2006/main">
            <a:r>
              <a:t>https://www.mazak.com/uk-en/technology/accuracy/</a:t>
            </a:r>
          </a:p>
          <a:p xmlns:a="http://schemas.openxmlformats.org/drawingml/2006/main">
            <a:r>
              <a:t>掲載位置 Ai Thermal Shield／Smooth Thermal Shield</a:t>
            </a:r>
          </a:p>
          <a:p xmlns:a="http://schemas.openxmlformats.org/drawingml/2006/main">
            <a:r>
              <a:t>確認 2026-10-18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EOV-V004-2024-1 ヤマザキマザック株式会社 JIMTOF2024公式カタログ：ヤマザキマザック株式会社 (E5001)</a:t>
            </a:r>
          </a:p>
          <a:p xmlns:a="http://schemas.openxmlformats.org/drawingml/2006/main">
            <a:r>
              <a:t>https://www.jimtof.org/2024/search/jp/ESdetails?e=q0OrZBKM3uQ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EOV-V004-2026-1 ヤマザキマザック株式会社 JIMTOF2026公式カタログ：ヤマザキマザック株式会社 (E1001)</a:t>
            </a:r>
          </a:p>
          <a:p xmlns:a="http://schemas.openxmlformats.org/drawingml/2006/main">
            <a:r>
              <a:t>https://www.jimtof.org/search/jp/ESdetails?e=PJEgqNYlWes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EAT-N08 ヤマザキマザック JIMTOF2026 Machines &amp; Automation Systems</a:t>
            </a:r>
          </a:p>
          <a:p xmlns:a="http://schemas.openxmlformats.org/drawingml/2006/main">
            <a:r>
              <a:t>https://www.mazak.com/jp-en/news-media/upcoming-events/jimtof2026/</a:t>
            </a:r>
          </a:p>
          <a:p xmlns:a="http://schemas.openxmlformats.org/drawingml/2006/main">
            <a:r>
              <a:t>掲載位置 Machines &amp; Automation Systems／Automation Systems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FT-Z01 ヤマザキマザック株式会社 MAZATROL DX／SOLID MAZATROL</a:t>
            </a:r>
          </a:p>
          <a:p xmlns:a="http://schemas.openxmlformats.org/drawingml/2006/main">
            <a:r>
              <a:t>小間 E1001</a:t>
            </a:r>
          </a:p>
          <a:p xmlns:a="http://schemas.openxmlformats.org/drawingml/2006/main">
            <a:r>
              <a:t>展示 展示未確認 企業公式製品資料。個別の搭載展示機・版は未確認。</a:t>
            </a:r>
          </a:p>
          <a:p xmlns:a="http://schemas.openxmlformats.org/drawingml/2006/main">
            <a:r>
              <a:t>入力 3D形状、工具ライブラリ、過去の加工プログラム、必要に応じ実加工データ。</a:t>
            </a:r>
          </a:p>
          <a:p xmlns:a="http://schemas.openxmlformats.org/drawingml/2006/main">
            <a:r>
              <a:t>方式 SOLID MAZATROLのパターン学習によるプログラミング。仮想加工で干渉を確認し、CUTTING ADVISERで条件を解析、SETUP GUIDEで準備を支援。</a:t>
            </a:r>
          </a:p>
          <a:p xmlns:a="http://schemas.openxmlformats.org/drawingml/2006/main">
            <a:r>
              <a:t>出力 MAZATROLプログラム、条件案、工具・治具等の段取り情報。</a:t>
            </a:r>
          </a:p>
          <a:p xmlns:a="http://schemas.openxmlformats.org/drawingml/2006/main">
            <a:r>
              <a:t>人 工具・機械の条件整備、結果確認、実際の段取り。全モジュールの自動実行範囲は要確認。</a:t>
            </a:r>
          </a:p>
          <a:p xmlns:a="http://schemas.openxmlformats.org/drawingml/2006/main">
            <a:r>
              <a:t>限界 共同開発する工程設計AIとは別製品。パターン学習と条件解析を同一AIとみなさない。</a:t>
            </a:r>
          </a:p>
          <a:p xmlns:a="http://schemas.openxmlformats.org/drawingml/2006/main">
            <a:r>
              <a:t>現地 誰のどの加工判断を学習するか、過去プログラムの必要量、材料・工具変更時の適用と人の修正を確認。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AR04 ヤマザキマザック 生産性向上 MAZATROL DX</a:t>
            </a:r>
          </a:p>
          <a:p xmlns:a="http://schemas.openxmlformats.org/drawingml/2006/main">
            <a:r>
              <a:t>https://www.mazak.com/jp-ja/technology/productivity/</a:t>
            </a:r>
          </a:p>
          <a:p xmlns:a="http://schemas.openxmlformats.org/drawingml/2006/main">
            <a:r>
              <a:t>掲載位置 SOLID MAZATROL／VIRTUAL MACHINING／CUTTING ADVISER／SETUP GUIDE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FT24 ヤマザキマザック JIMTOF2026 特設サイト</a:t>
            </a:r>
          </a:p>
          <a:p xmlns:a="http://schemas.openxmlformats.org/drawingml/2006/main">
            <a:r>
              <a:t>https://www.mazak.com/discover/jp-ja/jimtof2026/</a:t>
            </a:r>
          </a:p>
          <a:p xmlns:a="http://schemas.openxmlformats.org/drawingml/2006/main">
            <a:r>
              <a:t>掲載位置 出展機・AI活用紹介。個別製品の展示範囲は要確認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FC008 オークマ ARMROID／OMR20</a:t>
            </a:r>
          </a:p>
          <a:p xmlns:a="http://schemas.openxmlformats.org/drawingml/2006/main">
            <a:r>
              <a:t>小間 E3028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ワークと品種別プログラム。AI知覚方式は未記載</a:t>
            </a:r>
          </a:p>
          <a:p xmlns:a="http://schemas.openxmlformats.org/drawingml/2006/main">
            <a:r>
              <a:t>方式 機内・移動式のロボットで自動化を構成</a:t>
            </a:r>
          </a:p>
          <a:p xmlns:a="http://schemas.openxmlformats.org/drawingml/2006/main">
            <a:r>
              <a:t>出力 加工機とのワーク受渡し等。各機の展示動作は未確認</a:t>
            </a:r>
          </a:p>
          <a:p xmlns:a="http://schemas.openxmlformats.org/drawingml/2006/main">
            <a:r>
              <a:t>人 手作業とロボット運用の切替、品種切替の介入範囲を要確認</a:t>
            </a:r>
          </a:p>
          <a:p xmlns:a="http://schemas.openxmlformats.org/drawingml/2006/main">
            <a:r>
              <a:t>限界 機内型と移動式の使い分け、再配置・品種変更・切粉処理の負担を比較する。</a:t>
            </a:r>
          </a:p>
          <a:p xmlns:a="http://schemas.openxmlformats.org/drawingml/2006/main">
            <a:r>
              <a:t>現地 ARMROID／OMR20の対象品種・変更条件は何か。ワーク搬入出で人が設定する内容、異常時の停止・復帰、他工程との接続仕様を確認する。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EOV-V003-2024-1 オークマ株式会社 JIMTOF2024公式カタログ：オークマ株式会社 (E6048)</a:t>
            </a:r>
          </a:p>
          <a:p xmlns:a="http://schemas.openxmlformats.org/drawingml/2006/main">
            <a:r>
              <a:t>https://www.jimtof.org/2024/search/jp/ESdetails?e=iFfGVH0vPS8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EOV-V003-2026-1 オークマ株式会社 JIMTOF2026公式カタログ：オークマ株式会社 (E3028)</a:t>
            </a:r>
          </a:p>
          <a:p xmlns:a="http://schemas.openxmlformats.org/drawingml/2006/main">
            <a:r>
              <a:t>https://www.jimtof.org/search/jp/ESdetails?e=30li0vWcseI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FC009 オークマ 熱変位制御（AI利用未確認）</a:t>
            </a:r>
          </a:p>
          <a:p xmlns:a="http://schemas.openxmlformats.org/drawingml/2006/main">
            <a:r>
              <a:t>小間 E3028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熱状態等。具体センサ・AI入力は未記載</a:t>
            </a:r>
          </a:p>
          <a:p xmlns:a="http://schemas.openxmlformats.org/drawingml/2006/main">
            <a:r>
              <a:t>方式 独自の熱変位制御とAI活用を説明。両者の方式関係は不明</a:t>
            </a:r>
          </a:p>
          <a:p xmlns:a="http://schemas.openxmlformats.org/drawingml/2006/main">
            <a:r>
              <a:t>出力 加工品質維持を支援</a:t>
            </a:r>
          </a:p>
          <a:p xmlns:a="http://schemas.openxmlformats.org/drawingml/2006/main">
            <a:r>
              <a:t>人 自動補正範囲と校正・学習条件は未確認</a:t>
            </a:r>
          </a:p>
          <a:p xmlns:a="http://schemas.openxmlformats.org/drawingml/2006/main">
            <a:r>
              <a:t>限界 展示テーマだけで自律化性能の向上を断定しない</a:t>
            </a:r>
          </a:p>
          <a:p xmlns:a="http://schemas.openxmlformats.org/drawingml/2006/main">
            <a:r>
              <a:t>現地 熱変位制御・AI知能化の対象品種・変更条件は何か。熱変位補正で人が設定する内容、異常時の停止・復帰、他工程との接続仕様を確認する。</a:t>
            </a:r>
          </a:p>
          <a:p xmlns:a="http://schemas.openxmlformats.org/drawingml/2006/main">
            <a:r>
              <a:t>確認 既存根拠の再整理</a:t>
            </a:r>
          </a:p>
          <a:p xmlns:a="http://schemas.openxmlformats.org/drawingml/2006/main">
            <a:r>
              <a:t>EOV-V003-2024-1 オークマ株式会社 JIMTOF2024公式カタログ：オークマ株式会社 (E6048)</a:t>
            </a:r>
          </a:p>
          <a:p xmlns:a="http://schemas.openxmlformats.org/drawingml/2006/main">
            <a:r>
              <a:t>https://www.jimtof.org/2024/search/jp/ESdetails?e=iFfGVH0vPS8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EOV-V003-2026-1 オークマ株式会社 JIMTOF2026公式カタログ：オークマ株式会社 (E3028)</a:t>
            </a:r>
          </a:p>
          <a:p xmlns:a="http://schemas.openxmlformats.org/drawingml/2006/main">
            <a:r>
              <a:t>https://www.jimtof.org/search/jp/ESdetails?e=30li0vWcseI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RPT007 オークマ 加工ナビM-i／M-gⅡ（製品資料による比較）</a:t>
            </a:r>
          </a:p>
          <a:p xmlns:a="http://schemas.openxmlformats.org/drawingml/2006/main">
            <a:r>
              <a:t>小間 E3028</a:t>
            </a:r>
          </a:p>
          <a:p xmlns:a="http://schemas.openxmlformats.org/drawingml/2006/main">
            <a:r>
              <a:t>展示 展示未確認 出展企業は確認。同機能の展示搭載は未確認</a:t>
            </a:r>
          </a:p>
          <a:p xmlns:a="http://schemas.openxmlformats.org/drawingml/2006/main">
            <a:r>
              <a:t>入力 加工中の振動情報。</a:t>
            </a:r>
          </a:p>
          <a:p xmlns:a="http://schemas.openxmlformats.org/drawingml/2006/main">
            <a:r>
              <a:t>方式 M-iは振動計測から主軸速度を自動変更。M-gⅡは速度候補を提示。</a:t>
            </a:r>
          </a:p>
          <a:p xmlns:a="http://schemas.openxmlformats.org/drawingml/2006/main">
            <a:r>
              <a:t>出力 びびり振動に応じ主軸回転数を調整する</a:t>
            </a:r>
          </a:p>
          <a:p xmlns:a="http://schemas.openxmlformats.org/drawingml/2006/main">
            <a:r>
              <a:t>人 M-iは設定後に自動制御。M-gⅡは人が候補を選ぶ。</a:t>
            </a:r>
          </a:p>
          <a:p xmlns:a="http://schemas.openxmlformats.org/drawingml/2006/main">
            <a:r>
              <a:t>限界 同機能・版の2026展示搭載は未確認。</a:t>
            </a:r>
          </a:p>
          <a:p xmlns:a="http://schemas.openxmlformats.org/drawingml/2006/main">
            <a:r>
              <a:t>現地 加工ナビM-i／M-gⅡ（製品資料による比較）の対象品種・変更条件は何か。びびり振動に応じ主軸回転数を調整するで人が設定する内容、異常時の停止・復帰、他工程との接続仕様を確認する。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RPT-S01 メーカー公式 オークマ 加工ナビ</a:t>
            </a:r>
          </a:p>
          <a:p xmlns:a="http://schemas.openxmlformats.org/drawingml/2006/main">
            <a:r>
              <a:t>https://www.okuma.co.jp/solution_technology/process/</a:t>
            </a:r>
          </a:p>
          <a:p xmlns:a="http://schemas.openxmlformats.org/drawingml/2006/main">
            <a:r>
              <a:t>掲載位置 加工ナビ M-i／M-gⅡ</a:t>
            </a:r>
          </a:p>
          <a:p xmlns:a="http://schemas.openxmlformats.org/drawingml/2006/main">
            <a:r>
              <a:t>確認 2026-10-18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EOV-V003-2024-1 オークマ株式会社 JIMTOF2024公式カタログ：オークマ株式会社 (E6048)</a:t>
            </a:r>
          </a:p>
          <a:p xmlns:a="http://schemas.openxmlformats.org/drawingml/2006/main">
            <a:r>
              <a:t>https://www.jimtof.org/2024/search/jp/ESdetails?e=iFfGVH0vPS8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EOV-V003-2026-1 オークマ株式会社 JIMTOF2026公式カタログ：オークマ株式会社 (E3028)</a:t>
            </a:r>
          </a:p>
          <a:p xmlns:a="http://schemas.openxmlformats.org/drawingml/2006/main">
            <a:r>
              <a:t>https://www.jimtof.org/search/jp/ESdetails?e=30li0vWcseI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FT-O01 オークマ株式会社 OSP-AI 機械診断／加工診断</a:t>
            </a:r>
          </a:p>
          <a:p xmlns:a="http://schemas.openxmlformats.org/drawingml/2006/main">
            <a:r>
              <a:t>小間 E3028</a:t>
            </a:r>
          </a:p>
          <a:p xmlns:a="http://schemas.openxmlformats.org/drawingml/2006/main">
            <a:r>
              <a:t>展示 展示未確認 AIコーナーの予告と製品資料は確認。同版・同機能の実演を明記した資料は未確認。</a:t>
            </a:r>
          </a:p>
          <a:p xmlns:a="http://schemas.openxmlformats.org/drawingml/2006/main">
            <a:r>
              <a:t>入力 機械診断：診断運転中の制御データ。加工診断：主軸・送り軸等の加工中制御情報。</a:t>
            </a:r>
          </a:p>
          <a:p xmlns:a="http://schemas.openxmlformats.org/drawingml/2006/main">
            <a:r>
              <a:t>方式 機械診断は異常・異常箇所を推定。加工診断は異常レベルを評価し閾値超過で工具を退避。</a:t>
            </a:r>
          </a:p>
          <a:p xmlns:a="http://schemas.openxmlformats.org/drawingml/2006/main">
            <a:r>
              <a:t>出力 診断箇所の表示／加工異常時の工具退避。修理の自動化は確認できない。</a:t>
            </a:r>
          </a:p>
          <a:p xmlns:a="http://schemas.openxmlformats.org/drawingml/2006/main">
            <a:r>
              <a:t>人 機械診断の開始、診断結果に基づく整備、工具確認・再開。しきい値と適用機種の設定条件は要確認。</a:t>
            </a:r>
          </a:p>
          <a:p xmlns:a="http://schemas.openxmlformats.org/drawingml/2006/main">
            <a:r>
              <a:t>限界 一部特別仕様。今回の特設はAIコーナーを予告するが、同機能・版の個別実演は未確認。</a:t>
            </a:r>
          </a:p>
          <a:p xmlns:a="http://schemas.openxmlformats.org/drawingml/2006/main">
            <a:r>
              <a:t>現地 診断用運転と加工中監視の違い、ドリル以外の適用、退避指令・復帰条件、新版の追加能力を確認。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AR15 オークマ OSP-AI</a:t>
            </a:r>
          </a:p>
          <a:p xmlns:a="http://schemas.openxmlformats.org/drawingml/2006/main">
            <a:r>
              <a:t>https://www.okuma.co.jp/smart-factory/osp-suite/osp-ai.php</a:t>
            </a:r>
          </a:p>
          <a:p xmlns:a="http://schemas.openxmlformats.org/drawingml/2006/main">
            <a:r>
              <a:t>掲載位置 AI機械診断／AI加工診断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FT20 オークマ JIMTOF2026 特設サイト</a:t>
            </a:r>
          </a:p>
          <a:p xmlns:a="http://schemas.openxmlformats.org/drawingml/2006/main">
            <a:r>
              <a:t>https://www.okuma.co.jp/event/jimtof/2026/</a:t>
            </a:r>
          </a:p>
          <a:p xmlns:a="http://schemas.openxmlformats.org/drawingml/2006/main">
            <a:r>
              <a:t>掲載位置 AIコーナー／知能化コーナー／ARMROID等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FC046 牧野フライス製作所 パレット自動化／MAS・ラインエンジニアリング</a:t>
            </a:r>
          </a:p>
          <a:p xmlns:a="http://schemas.openxmlformats.org/drawingml/2006/main">
            <a:r>
              <a:t>小間 E1024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パレット・作業・設備情報の詳細は未記載</a:t>
            </a:r>
          </a:p>
          <a:p xmlns:a="http://schemas.openxmlformats.org/drawingml/2006/main">
            <a:r>
              <a:t>方式 機械・パレット・ソフト・ライン設計・保守を組み合わせる</a:t>
            </a:r>
          </a:p>
          <a:p xmlns:a="http://schemas.openxmlformats.org/drawingml/2006/main">
            <a:r>
              <a:t>出力 加工と供給・運用の支援</a:t>
            </a:r>
          </a:p>
          <a:p xmlns:a="http://schemas.openxmlformats.org/drawingml/2006/main">
            <a:r>
              <a:t>人 ラインの再計画・例外復帰の自律範囲は未確認</a:t>
            </a:r>
          </a:p>
          <a:p xmlns:a="http://schemas.openxmlformats.org/drawingml/2006/main">
            <a:r>
              <a:t>限界 定量的な自律化性能・新規機能の差は比較不能</a:t>
            </a:r>
          </a:p>
          <a:p xmlns:a="http://schemas.openxmlformats.org/drawingml/2006/main">
            <a:r>
              <a:t>現地 パレット自動化／MAS・ラインエンジニアリングの対象品種・変更条件は何か。パレット供給で人が設定する内容、異常時の停止・復帰、他工程との接続仕様を確認する。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EOV-V027-2024-1 株式会社牧野フライス製作所 JIMTOF2024公式カタログ：株式会社牧野フライス製作所 (E3034)</a:t>
            </a:r>
          </a:p>
          <a:p xmlns:a="http://schemas.openxmlformats.org/drawingml/2006/main">
            <a:r>
              <a:t>https://www.jimtof.org/2024/search/jp/ESdetails?e=95Yl5dQv2vI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EOV-V027-2026-1 株式会社牧野フライス製作所 JIMTOF2026公式カタログ：株式会社牧野フライス製作所 (E1024)</a:t>
            </a:r>
          </a:p>
          <a:p xmlns:a="http://schemas.openxmlformats.org/drawingml/2006/main">
            <a:r>
              <a:t>https://www.jimtof.org/search/jp/ESdetails?e=M5OL10ECBTE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FC005 ファナック 生成AIによるロボット駆動</a:t>
            </a:r>
          </a:p>
          <a:p xmlns:a="http://schemas.openxmlformats.org/drawingml/2006/main">
            <a:r>
              <a:t>小間 S2001</a:t>
            </a:r>
          </a:p>
          <a:p xmlns:a="http://schemas.openxmlformats.org/drawingml/2006/main">
            <a:r>
              <a:t>展示 展示予定を明記 オープンプラットフォームを使う生成AIロボット駆動事例を予告。以下の個別事例がすべて展示されるとは確認できない。</a:t>
            </a:r>
          </a:p>
          <a:p xmlns:a="http://schemas.openxmlformats.org/drawingml/2006/main">
            <a:r>
              <a:t>入力 生成AI利用との記述。音声・画像等の入力は未記載</a:t>
            </a:r>
          </a:p>
          <a:p xmlns:a="http://schemas.openxmlformats.org/drawingml/2006/main">
            <a:r>
              <a:t>方式 生成AIをロボット駆動へ利用する事例</a:t>
            </a:r>
          </a:p>
          <a:p xmlns:a="http://schemas.openxmlformats.org/drawingml/2006/main">
            <a:r>
              <a:t>出力 具体的な搬送・組付け等のタスクは未特定</a:t>
            </a:r>
          </a:p>
          <a:p xmlns:a="http://schemas.openxmlformats.org/drawingml/2006/main">
            <a:r>
              <a:t>人 許可動作、教示、停止、承認は未確認</a:t>
            </a:r>
          </a:p>
          <a:p xmlns:a="http://schemas.openxmlformats.org/drawingml/2006/main">
            <a:r>
              <a:t>限界 どのロボットが何を動かすか。指示→動作生成→検証→実行の分担と対応できない作業は。</a:t>
            </a:r>
          </a:p>
          <a:p xmlns:a="http://schemas.openxmlformats.org/drawingml/2006/main">
            <a:r>
              <a:t>現地 生成AIによるロボット駆動の対象品種・変更条件は何か。担当タスク未特定で人が設定する内容、異常時の停止・復帰、他工程との接続仕様を確認する。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EOV-V002-2024-1 ファナック株式会社 JIMTOF2024公式カタログ：ファナック株式会社 (S2001)</a:t>
            </a:r>
          </a:p>
          <a:p xmlns:a="http://schemas.openxmlformats.org/drawingml/2006/main">
            <a:r>
              <a:t>https://www.jimtof.org/2024/search/jp/ESdetails?e=N0RgOmmcwZw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EOV-V002-2026-1 ファナック株式会社 JIMTOF2026公式カタログ：ファナック株式会社 (S2001)</a:t>
            </a:r>
          </a:p>
          <a:p xmlns:a="http://schemas.openxmlformats.org/drawingml/2006/main">
            <a:r>
              <a:t>https://www.jimtof.org/search/jp/ESdetails?e=q0OrZBKM3uQ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FT02 ファナック JIMTOF2026 特設ページ</a:t>
            </a:r>
          </a:p>
          <a:p xmlns:a="http://schemas.openxmlformats.org/drawingml/2006/main">
            <a:r>
              <a:t>https://www.fanuc.co.jp/ja/JIMTOF2026/</a:t>
            </a:r>
          </a:p>
          <a:p xmlns:a="http://schemas.openxmlformats.org/drawingml/2006/main">
            <a:r>
              <a:t>掲載位置 FA／ROBOT：フィジカルAI CNC・オープンプラットフォーム等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FC006 ファナック フィジカルAI CNC</a:t>
            </a:r>
          </a:p>
          <a:p xmlns:a="http://schemas.openxmlformats.org/drawingml/2006/main">
            <a:r>
              <a:t>小間 S2001</a:t>
            </a:r>
          </a:p>
          <a:p xmlns:a="http://schemas.openxmlformats.org/drawingml/2006/main">
            <a:r>
              <a:t>展示 展示予定を明記 公式JIMTOF特設ページにフィジカルAI CNCを明記。個別デモ範囲は現地確認。</a:t>
            </a:r>
          </a:p>
          <a:p xmlns:a="http://schemas.openxmlformats.org/drawingml/2006/main">
            <a:r>
              <a:t>入力 加工情報・設備状態・自然言語による指示。許可されたCNC／ツイン機能をMCPで呼び出す。</a:t>
            </a:r>
          </a:p>
          <a:p xmlns:a="http://schemas.openxmlformats.org/drawingml/2006/main">
            <a:r>
              <a:t>方式 生成AIをMCPでCNC・デジタルツインへ接続。改善案を仮想検証し、人の承認後に実機適用する。</a:t>
            </a:r>
          </a:p>
          <a:p xmlns:a="http://schemas.openxmlformats.org/drawingml/2006/main">
            <a:r>
              <a:t>出力 プログラム・条件・操作案、仮想検証結果。オペレータ承認後に実機適用。</a:t>
            </a:r>
          </a:p>
          <a:p xmlns:a="http://schemas.openxmlformats.org/drawingml/2006/main">
            <a:r>
              <a:t>人 目標・条件の指定、仮想検証の確認、実機適用の承認。失敗後の復帰・権限設計は要確認。</a:t>
            </a:r>
          </a:p>
          <a:p xmlns:a="http://schemas.openxmlformats.org/drawingml/2006/main">
            <a:r>
              <a:t>限界 製品名だけで完全自律加工と判断しない。「自動復旧」の説明も原因推定・対策提案まで。</a:t>
            </a:r>
          </a:p>
          <a:p xmlns:a="http://schemas.openxmlformats.org/drawingml/2006/main">
            <a:r>
              <a:t>現地 MCPで許可する読取り・書込み操作、仮想モデルの精度、検証不能時の停止、人承認の単位を確認。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AR06 ファナック JIMTOF2026 特設ページ</a:t>
            </a:r>
          </a:p>
          <a:p xmlns:a="http://schemas.openxmlformats.org/drawingml/2006/main">
            <a:r>
              <a:t>https://www.fanuc.co.jp/ja/JIMTOF2026/</a:t>
            </a:r>
          </a:p>
          <a:p xmlns:a="http://schemas.openxmlformats.org/drawingml/2006/main">
            <a:r>
              <a:t>掲載位置 FA／ROBOT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AR05 ファナック フィジカルAI CNC</a:t>
            </a:r>
          </a:p>
          <a:p xmlns:a="http://schemas.openxmlformats.org/drawingml/2006/main">
            <a:r>
              <a:t>https://www.fanuc.co.jp/ja/product/cnc/physical-ai-cnc/index.html</a:t>
            </a:r>
          </a:p>
          <a:p xmlns:a="http://schemas.openxmlformats.org/drawingml/2006/main">
            <a:r>
              <a:t>掲載位置 CONCEPT／MCP／デジタルツイン／実現すること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EOV-V002-2024-1 ファナック株式会社 JIMTOF2024公式カタログ：ファナック株式会社 (S2001)</a:t>
            </a:r>
          </a:p>
          <a:p xmlns:a="http://schemas.openxmlformats.org/drawingml/2006/main">
            <a:r>
              <a:t>https://www.jimtof.org/2024/search/jp/ESdetails?e=N0RgOmmcwZw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EOV-V002-2026-1 ファナック株式会社 JIMTOF2026公式カタログ：ファナック株式会社 (S2001)</a:t>
            </a:r>
          </a:p>
          <a:p xmlns:a="http://schemas.openxmlformats.org/drawingml/2006/main">
            <a:r>
              <a:t>https://www.jimtof.org/search/jp/ESdetails?e=q0OrZBKM3uQ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FC007 ファナック FANUC Smart Digital Twin</a:t>
            </a:r>
          </a:p>
          <a:p xmlns:a="http://schemas.openxmlformats.org/drawingml/2006/main">
            <a:r>
              <a:t>小間 S2001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機械・サーボのモデル。詳細入力未確認</a:t>
            </a:r>
          </a:p>
          <a:p xmlns:a="http://schemas.openxmlformats.org/drawingml/2006/main">
            <a:r>
              <a:t>方式 加工前の挙動確認を支援</a:t>
            </a:r>
          </a:p>
          <a:p xmlns:a="http://schemas.openxmlformats.org/drawingml/2006/main">
            <a:r>
              <a:t>出力 実機前の検討・検証</a:t>
            </a:r>
          </a:p>
          <a:p xmlns:a="http://schemas.openxmlformats.org/drawingml/2006/main">
            <a:r>
              <a:t>人 モデルと実機の一致、検証外事象への対処は未確認</a:t>
            </a:r>
          </a:p>
          <a:p xmlns:a="http://schemas.openxmlformats.org/drawingml/2006/main">
            <a:r>
              <a:t>限界 モデル構成・安全制約・性能差は未確認</a:t>
            </a:r>
          </a:p>
          <a:p xmlns:a="http://schemas.openxmlformats.org/drawingml/2006/main">
            <a:r>
              <a:t>現地 FANUC Smart Digital Twinの対象品種・変更条件は何か。NC・干渉検証で人が設定する内容、異常時の停止・復帰、他工程との接続仕様を確認する。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EOV-V002-2024-1 ファナック株式会社 JIMTOF2024公式カタログ：ファナック株式会社 (S2001)</a:t>
            </a:r>
          </a:p>
          <a:p xmlns:a="http://schemas.openxmlformats.org/drawingml/2006/main">
            <a:r>
              <a:t>https://www.jimtof.org/2024/search/jp/ESdetails?e=N0RgOmmcwZw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EOV-V002-2026-1 ファナック株式会社 JIMTOF2026公式カタログ：ファナック株式会社 (S2001)</a:t>
            </a:r>
          </a:p>
          <a:p xmlns:a="http://schemas.openxmlformats.org/drawingml/2006/main">
            <a:r>
              <a:t>https://www.jimtof.org/search/jp/ESdetails?e=q0OrZBKM3uQ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FT-F01 ファナック株式会社 AI溶接エージェント</a:t>
            </a:r>
          </a:p>
          <a:p xmlns:a="http://schemas.openxmlformats.org/drawingml/2006/main">
            <a:r>
              <a:t>小間 S2001</a:t>
            </a:r>
          </a:p>
          <a:p xmlns:a="http://schemas.openxmlformats.org/drawingml/2006/main">
            <a:r>
              <a:t>展示 展示未確認 会社のJIMTOF出展は確認。特定の事例・デモが今回展示される明記は未確認。</a:t>
            </a:r>
          </a:p>
          <a:p xmlns:a="http://schemas.openxmlformats.org/drawingml/2006/main">
            <a:r>
              <a:t>入力 CRXタブレットTPのカメラで撮影した部品図面。</a:t>
            </a:r>
          </a:p>
          <a:p xmlns:a="http://schemas.openxmlformats.org/drawingml/2006/main">
            <a:r>
              <a:t>方式 Google CloudのGemini Enterpriseを利用し、電流・電圧等の条件とロボット動作を生成。</a:t>
            </a:r>
          </a:p>
          <a:p xmlns:a="http://schemas.openxmlformats.org/drawingml/2006/main">
            <a:r>
              <a:t>出力 ロボット溶接プログラムとCRXによるアーク溶接。</a:t>
            </a:r>
          </a:p>
          <a:p xmlns:a="http://schemas.openxmlformats.org/drawingml/2006/main">
            <a:r>
              <a:t>人 図面撮影、生成された条件・動作の確認または調整、実行指示。</a:t>
            </a:r>
          </a:p>
          <a:p xmlns:a="http://schemas.openxmlformats.org/drawingml/2006/main">
            <a:r>
              <a:t>限界 公開情報は図面→条件・動作生成の構成。学習外図面の成功率、品質検証、異常後復帰は未確認。</a:t>
            </a:r>
          </a:p>
          <a:p xmlns:a="http://schemas.openxmlformats.org/drawingml/2006/main">
            <a:r>
              <a:t>現地 JIMTOFで実演されるか。図面の適用形式、ロボット座標・治具設定、生成結果の安全検証と人の修正量を確認。</a:t>
            </a:r>
          </a:p>
          <a:p xmlns:a="http://schemas.openxmlformats.org/drawingml/2006/main">
            <a:r>
              <a:t>確認 既存根拠の再整理</a:t>
            </a:r>
          </a:p>
          <a:p xmlns:a="http://schemas.openxmlformats.org/drawingml/2006/main">
            <a:r>
              <a:t>AR06 ファナック JIMTOF2026 特設ページ</a:t>
            </a:r>
          </a:p>
          <a:p xmlns:a="http://schemas.openxmlformats.org/drawingml/2006/main">
            <a:r>
              <a:t>https://www.fanuc.co.jp/ja/JIMTOF2026/</a:t>
            </a:r>
          </a:p>
          <a:p xmlns:a="http://schemas.openxmlformats.org/drawingml/2006/main">
            <a:r>
              <a:t>掲載位置 FA／ROBOT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AR07 ファナック AI溶接エージェント</a:t>
            </a:r>
          </a:p>
          <a:p xmlns:a="http://schemas.openxmlformats.org/drawingml/2006/main">
            <a:r>
              <a:t>https://www.fanuc.co.jp/ja/profile/pr/newsrelease/2026/news20260911.html</a:t>
            </a:r>
          </a:p>
          <a:p xmlns:a="http://schemas.openxmlformats.org/drawingml/2006/main">
            <a:r>
              <a:t>掲載位置 図面読取／条件・動作生成／展示と販売予定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FT-F02 ファナック株式会社 AIエージェント・マスタレス認識によるキッティング</a:t>
            </a:r>
          </a:p>
          <a:p xmlns:a="http://schemas.openxmlformats.org/drawingml/2006/main">
            <a:r>
              <a:t>小間 S2001</a:t>
            </a:r>
          </a:p>
          <a:p xmlns:a="http://schemas.openxmlformats.org/drawingml/2006/main">
            <a:r>
              <a:t>展示 展示未確認 会社のJIMTOF出展は確認。特定の事例・デモが今回展示される明記は未確認。</a:t>
            </a:r>
          </a:p>
          <a:p xmlns:a="http://schemas.openxmlformats.org/drawingml/2006/main">
            <a:r>
              <a:t>入力 自然言語指示、注文票画像、ワーク画像。</a:t>
            </a:r>
          </a:p>
          <a:p xmlns:a="http://schemas.openxmlformats.org/drawingml/2006/main">
            <a:r>
              <a:t>方式 AIエージェントと「ボルト」「ギヤ」等の名称によるマスタレス認識を接続する。</a:t>
            </a:r>
          </a:p>
          <a:p xmlns:a="http://schemas.openxmlformats.org/drawingml/2006/main">
            <a:r>
              <a:t>出力 指示された部品・トレーの搬送とキッティング。</a:t>
            </a:r>
          </a:p>
          <a:p xmlns:a="http://schemas.openxmlformats.org/drawingml/2006/main">
            <a:r>
              <a:t>人 開始指示を人が与える。エラー時の確認・復帰は未公表。</a:t>
            </a:r>
          </a:p>
          <a:p xmlns:a="http://schemas.openxmlformats.org/drawingml/2006/main">
            <a:r>
              <a:t>限界 対象部品の広さ、取り違え・把持失敗・注文矛盾の扱いは未確認。</a:t>
            </a:r>
          </a:p>
          <a:p xmlns:a="http://schemas.openxmlformats.org/drawingml/2006/main">
            <a:r>
              <a:t>現地 事例の実演有無、未登録部品の認識、指示変更後の動作再構成と失敗復帰を確認。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AR06 ファナック JIMTOF2026 特設ページ</a:t>
            </a:r>
          </a:p>
          <a:p xmlns:a="http://schemas.openxmlformats.org/drawingml/2006/main">
            <a:r>
              <a:t>https://www.fanuc.co.jp/ja/JIMTOF2026/</a:t>
            </a:r>
          </a:p>
          <a:p xmlns:a="http://schemas.openxmlformats.org/drawingml/2006/main">
            <a:r>
              <a:t>掲載位置 FA／ROBOT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AR08 ファナック AIエージェントとマスタレス認識によるキッティング</a:t>
            </a:r>
          </a:p>
          <a:p xmlns:a="http://schemas.openxmlformats.org/drawingml/2006/main">
            <a:r>
              <a:t>https://www.fanuc.co.jp/ja/product/robot/academia/case_study/ai-agent-robot-kitting-system.html</a:t>
            </a:r>
          </a:p>
          <a:p xmlns:a="http://schemas.openxmlformats.org/drawingml/2006/main">
            <a:r>
              <a:t>掲載位置 自然言語指示／注文票／部品認識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FT-F03 ファナック株式会社 AI追従ねじ締め</a:t>
            </a:r>
          </a:p>
          <a:p xmlns:a="http://schemas.openxmlformats.org/drawingml/2006/main">
            <a:r>
              <a:t>小間 S2001</a:t>
            </a:r>
          </a:p>
          <a:p xmlns:a="http://schemas.openxmlformats.org/drawingml/2006/main">
            <a:r>
              <a:t>展示 展示未確認 会社のJIMTOF出展は確認。特定の事例・デモが今回展示される明記は未確認。</a:t>
            </a:r>
          </a:p>
          <a:p xmlns:a="http://schemas.openxmlformats.org/drawingml/2006/main">
            <a:r>
              <a:t>入力 3次元的に動くワークの状態。センサ構成は未確認。</a:t>
            </a:r>
          </a:p>
          <a:p xmlns:a="http://schemas.openxmlformats.org/drawingml/2006/main">
            <a:r>
              <a:t>方式 ねじ締め位置を自動認識し、動くワークへ追従して締め付ける。</a:t>
            </a:r>
          </a:p>
          <a:p xmlns:a="http://schemas.openxmlformats.org/drawingml/2006/main">
            <a:r>
              <a:t>出力 移動中のワークへのねじ締め。</a:t>
            </a:r>
          </a:p>
          <a:p xmlns:a="http://schemas.openxmlformats.org/drawingml/2006/main">
            <a:r>
              <a:t>人 ワーク・ねじ・トルク等の事前設定と異常対応の詳細は未公開。</a:t>
            </a:r>
          </a:p>
          <a:p xmlns:a="http://schemas.openxmlformats.org/drawingml/2006/main">
            <a:r>
              <a:t>限界 学習モデル、視野遮蔽・速度変化・ねじ不良への対応は未確認。</a:t>
            </a:r>
          </a:p>
          <a:p xmlns:a="http://schemas.openxmlformats.org/drawingml/2006/main">
            <a:r>
              <a:t>現地 固定ワークの繰返しとの差、追従可能な変位・速度、ねじ締め失敗の判定と復帰を確認。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AR06 ファナック JIMTOF2026 特設ページ</a:t>
            </a:r>
          </a:p>
          <a:p xmlns:a="http://schemas.openxmlformats.org/drawingml/2006/main">
            <a:r>
              <a:t>https://www.fanuc.co.jp/ja/JIMTOF2026/</a:t>
            </a:r>
          </a:p>
          <a:p xmlns:a="http://schemas.openxmlformats.org/drawingml/2006/main">
            <a:r>
              <a:t>掲載位置 FA／ROBOT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AR10 ファナック 移動ワークへのAI追従ねじ締め</a:t>
            </a:r>
          </a:p>
          <a:p xmlns:a="http://schemas.openxmlformats.org/drawingml/2006/main">
            <a:r>
              <a:t>https://www.fanuc.co.jp/ja/product/robot/academia/case_study/moving-parts-ai-tracking-screwdriving.html</a:t>
            </a:r>
          </a:p>
          <a:p xmlns:a="http://schemas.openxmlformats.org/drawingml/2006/main">
            <a:r>
              <a:t>掲載位置 3D認識／追従／定トルク締結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FT-F04 ファナック株式会社 VLA模倣学習・双腕柔軟物操作</a:t>
            </a:r>
          </a:p>
          <a:p xmlns:a="http://schemas.openxmlformats.org/drawingml/2006/main">
            <a:r>
              <a:t>小間 S2001</a:t>
            </a:r>
          </a:p>
          <a:p xmlns:a="http://schemas.openxmlformats.org/drawingml/2006/main">
            <a:r>
              <a:t>展示 展示未確認 会社のJIMTOF出展は確認。特定の事例・デモが今回展示される明記は未確認。</a:t>
            </a:r>
          </a:p>
          <a:p xmlns:a="http://schemas.openxmlformats.org/drawingml/2006/main">
            <a:r>
              <a:t>入力 遠隔操作時の動作・カメラ画像と、言語指示ラベル。</a:t>
            </a:r>
          </a:p>
          <a:p xmlns:a="http://schemas.openxmlformats.org/drawingml/2006/main">
            <a:r>
              <a:t>方式 リーダ・フォロワ操作で収集したデータでVLA基盤モデルを模倣学習する。</a:t>
            </a:r>
          </a:p>
          <a:p xmlns:a="http://schemas.openxmlformats.org/drawingml/2006/main">
            <a:r>
              <a:t>出力 視覚と言語に応じた双腕動作。</a:t>
            </a:r>
          </a:p>
          <a:p xmlns:a="http://schemas.openxmlformats.org/drawingml/2006/main">
            <a:r>
              <a:t>人 人が遠隔操作で学習データを収集し、言語ラベルを付ける。</a:t>
            </a:r>
          </a:p>
          <a:p xmlns:a="http://schemas.openxmlformats.org/drawingml/2006/main">
            <a:r>
              <a:t>限界 加工部品への移行、データ量・成功率・未知状態・再試行は未確認。</a:t>
            </a:r>
          </a:p>
          <a:p xmlns:a="http://schemas.openxmlformats.org/drawingml/2006/main">
            <a:r>
              <a:t>現地 展示有無、使用モデル、実演データの収集量、初期姿勢を変えた試行・未学習品種・失敗復帰を確認。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AR06 ファナック JIMTOF2026 特設ページ</a:t>
            </a:r>
          </a:p>
          <a:p xmlns:a="http://schemas.openxmlformats.org/drawingml/2006/main">
            <a:r>
              <a:t>https://www.fanuc.co.jp/ja/JIMTOF2026/</a:t>
            </a:r>
          </a:p>
          <a:p xmlns:a="http://schemas.openxmlformats.org/drawingml/2006/main">
            <a:r>
              <a:t>掲載位置 FA／ROBOT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AR09 ファナック 模倣学習AIロボット</a:t>
            </a:r>
          </a:p>
          <a:p xmlns:a="http://schemas.openxmlformats.org/drawingml/2006/main">
            <a:r>
              <a:t>https://www.fanuc.co.jp/ja/product/robot/academia/case_study/imitation-learning-ai-robot.html</a:t>
            </a:r>
          </a:p>
          <a:p xmlns:a="http://schemas.openxmlformats.org/drawingml/2006/main">
            <a:r>
              <a:t>掲載位置 リーダー・フォロワー／VLA／Tシャツ折り畳み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FC064 三菱電機 NC MachiningAID（2024）／2026 CNC省人化</a:t>
            </a:r>
          </a:p>
          <a:p xmlns:a="http://schemas.openxmlformats.org/drawingml/2006/main">
            <a:r>
              <a:t>小間 S2003</a:t>
            </a:r>
          </a:p>
          <a:p xmlns:a="http://schemas.openxmlformats.org/drawingml/2006/main">
            <a:r>
              <a:t>展示 展示未確認 2026の企業出展は確認。個別AI機能は2024等の比較情報を含み、同版・同機能の展示は未確認。</a:t>
            </a:r>
          </a:p>
          <a:p xmlns:a="http://schemas.openxmlformats.org/drawingml/2006/main">
            <a:r>
              <a:t>入力 加工信号等。今回カタログでは入力方式未記載</a:t>
            </a:r>
          </a:p>
          <a:p xmlns:a="http://schemas.openxmlformats.org/drawingml/2006/main">
            <a:r>
              <a:t>方式 2024はAI・機械学習で加工異常・工具摩耗・作業ミスを検知すると説明</a:t>
            </a:r>
          </a:p>
          <a:p xmlns:a="http://schemas.openxmlformats.org/drawingml/2006/main">
            <a:r>
              <a:t>出力 加工工程の監視・検知</a:t>
            </a:r>
          </a:p>
          <a:p xmlns:a="http://schemas.openxmlformats.org/drawingml/2006/main">
            <a:r>
              <a:t>人 2026の個別製品名・機能継承・自動停止権限は未確認</a:t>
            </a:r>
          </a:p>
          <a:p xmlns:a="http://schemas.openxmlformats.org/drawingml/2006/main">
            <a:r>
              <a:t>限界 2024の3検知がどの製品へ継承・拡張されたか。AIを新搭載したとは説明しない。</a:t>
            </a:r>
          </a:p>
          <a:p xmlns:a="http://schemas.openxmlformats.org/drawingml/2006/main">
            <a:r>
              <a:t>現地 NC MachiningAID（2024）／2026 CNC省人化の対象品種・変更条件は何か。加工信号解析で人が設定する内容、異常時の停止・復帰、他工程との接続仕様を確認する。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EAT-V043-2024-1 三菱電機株式会社 JIMTOF2024公式カタログ：三菱電機株式会社</a:t>
            </a:r>
          </a:p>
          <a:p xmlns:a="http://schemas.openxmlformats.org/drawingml/2006/main">
            <a:r>
              <a:t>https://www.jimtof.org/2024/search/jp/ESdetails?e=30li0vWcseI</a:t>
            </a:r>
          </a:p>
          <a:p xmlns:a="http://schemas.openxmlformats.org/drawingml/2006/main">
            <a:r>
              <a:t>掲載位置 出展紹介・主な出展物（カードの製品名・機能語で検索）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EAT-V043-2026-1 三菱電機株式会社 JIMTOF2026公式カタログ：三菱電機株式会社</a:t>
            </a:r>
          </a:p>
          <a:p xmlns:a="http://schemas.openxmlformats.org/drawingml/2006/main">
            <a:r>
              <a:t>https://www.jimtof.org/search/jp/ESdetails?e=AjLnzm01WWU</a:t>
            </a:r>
          </a:p>
          <a:p xmlns:a="http://schemas.openxmlformats.org/drawingml/2006/main">
            <a:r>
              <a:t>掲載位置 出展紹介・主な出展物（カードの製品名・機能語で検索）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FC065 三菱電機 放電加工の新開発スケジューラ</a:t>
            </a:r>
          </a:p>
          <a:p xmlns:a="http://schemas.openxmlformats.org/drawingml/2006/main">
            <a:r>
              <a:t>小間 S2003</a:t>
            </a:r>
          </a:p>
          <a:p xmlns:a="http://schemas.openxmlformats.org/drawingml/2006/main">
            <a:r>
              <a:t>展示 展示予定を明記 企業の2026特設ページで放電加工機の新開発スケジューラを明記。AI採用・最適化範囲は未確認。</a:t>
            </a:r>
          </a:p>
          <a:p xmlns:a="http://schemas.openxmlformats.org/drawingml/2006/main">
            <a:r>
              <a:t>入力 加工予定・設備等。入力と制約は未記載</a:t>
            </a:r>
          </a:p>
          <a:p xmlns:a="http://schemas.openxmlformats.org/drawingml/2006/main">
            <a:r>
              <a:t>方式 新開発スケジューラによる自動化運用を提案</a:t>
            </a:r>
          </a:p>
          <a:p xmlns:a="http://schemas.openxmlformats.org/drawingml/2006/main">
            <a:r>
              <a:t>出力 放電加工の計画・運用支援</a:t>
            </a:r>
          </a:p>
          <a:p xmlns:a="http://schemas.openxmlformats.org/drawingml/2006/main">
            <a:r>
              <a:t>人 自動確定する工程・工具・順序と人の承認は未確認</a:t>
            </a:r>
          </a:p>
          <a:p xmlns:a="http://schemas.openxmlformats.org/drawingml/2006/main">
            <a:r>
              <a:t>限界 適用条件・操作権限・現場効果・採用実績は未確認</a:t>
            </a:r>
          </a:p>
          <a:p xmlns:a="http://schemas.openxmlformats.org/drawingml/2006/main">
            <a:r>
              <a:t>現地 放電加工の新開発スケジューラの対象品種・変更条件は何か。計画変更・負荷調整で人が設定する内容、異常時の停止・復帰、他工程との接続仕様を確認する。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AR33 三菱電機 JIMTOF2026</a:t>
            </a:r>
          </a:p>
          <a:p xmlns:a="http://schemas.openxmlformats.org/drawingml/2006/main">
            <a:r>
              <a:t>https://fa-site.mitsubishielectric.co.jp/fa/events-seminars/exhibitions/2026/jimtof2026/index.html</a:t>
            </a:r>
          </a:p>
          <a:p xmlns:a="http://schemas.openxmlformats.org/drawingml/2006/main">
            <a:r>
              <a:t>掲載位置 放電加工機／新開発スケジューラ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EAT-V043-2024-1 三菱電機株式会社 JIMTOF2024公式カタログ：三菱電機株式会社</a:t>
            </a:r>
          </a:p>
          <a:p xmlns:a="http://schemas.openxmlformats.org/drawingml/2006/main">
            <a:r>
              <a:t>https://www.jimtof.org/2024/search/jp/ESdetails?e=30li0vWcseI</a:t>
            </a:r>
          </a:p>
          <a:p xmlns:a="http://schemas.openxmlformats.org/drawingml/2006/main">
            <a:r>
              <a:t>掲載位置 出展紹介・主な出展物（カードの製品名・機能語で検索）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EAT-V043-2026-1 三菱電機株式会社 JIMTOF2026公式カタログ：三菱電機株式会社</a:t>
            </a:r>
          </a:p>
          <a:p xmlns:a="http://schemas.openxmlformats.org/drawingml/2006/main">
            <a:r>
              <a:t>https://www.jimtof.org/search/jp/ESdetails?e=AjLnzm01WWU</a:t>
            </a:r>
          </a:p>
          <a:p xmlns:a="http://schemas.openxmlformats.org/drawingml/2006/main">
            <a:r>
              <a:t>掲載位置 出展紹介・主な出展物（カードの製品名・機能語で検索）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AC098 シーメンス株式会社 デジタルツイン／人型ロボット紹介</a:t>
            </a:r>
          </a:p>
          <a:p xmlns:a="http://schemas.openxmlformats.org/drawingml/2006/main">
            <a:r>
              <a:t>小間 E3006</a:t>
            </a:r>
          </a:p>
          <a:p xmlns:a="http://schemas.openxmlformats.org/drawingml/2006/main">
            <a:r>
              <a:t>展示 出展説明に掲載 2026公式カタログ掲載・現地未確認</a:t>
            </a:r>
          </a:p>
          <a:p xmlns:a="http://schemas.openxmlformats.org/drawingml/2006/main">
            <a:r>
              <a:t>入力 Tokn：NCと機械モデル。物流実例：トートと工場状況（具体センサ・モデル入力は非開示）</a:t>
            </a:r>
          </a:p>
          <a:p xmlns:a="http://schemas.openxmlformats.org/drawingml/2006/main">
            <a:r>
              <a:t>方式 ToknのNC構文・衝突検証はAI判断と未確認。別のHMND 01 Alpha試験は認識・行動をAIで処理する説明</a:t>
            </a:r>
          </a:p>
          <a:p xmlns:a="http://schemas.openxmlformats.org/drawingml/2006/main">
            <a:r>
              <a:t>出力 Toknは仮想加工・訓練。2026/4のドイツ工場では車輪型HMND 01 Alphaがトートのピッキング・搬送・配置を試験</a:t>
            </a:r>
          </a:p>
          <a:p xmlns:a="http://schemas.openxmlformats.org/drawingml/2006/main">
            <a:r>
              <a:t>人 公式：物流実例はIsaac Sim/Labでのシミュレーション・ポリシー学習とJetson Thor等を利用／未記載：物流作業の許可・停止・人の承認。JIMTOFのヒューマノイドと同一機体か未確認／未記載：失敗・人との接触リスク・再試行時の介入。成功率の残りの失敗処理は不明</a:t>
            </a:r>
          </a:p>
          <a:p xmlns:a="http://schemas.openxmlformats.org/drawingml/2006/main">
            <a:r>
              <a:t>限界 ドイツ工場のメーカー実証とJIMTOF展示確定を分ける。Tokn・Equator・ヒューマノイドの実装済み一体連携とは確認できない</a:t>
            </a:r>
          </a:p>
          <a:p xmlns:a="http://schemas.openxmlformats.org/drawingml/2006/main">
            <a:r>
              <a:t>現地 デジタルツイン／人型ロボット紹介の対象品種・変更条件は何か。工程設計・プログラム生成で人が設定する内容、異常時の停止・復帰、他工程との接続仕様を確認する。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EEX-EXH-2026-9b991dd8132f51dc シーメンス株式会社 JIMTOF2026公式出展説明：シーメンス株式会社 (E3006)</a:t>
            </a:r>
          </a:p>
          <a:p xmlns:a="http://schemas.openxmlformats.org/drawingml/2006/main">
            <a:r>
              <a:t>https://www.jimtof.org/search/jp/ESdetails?e=EBIotJu7lrg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EEX-EXH-2024-558faea07a73f5d8 シーメンス株式会社 JIMTOF2024公式出展説明：シーメンス株式会社 (E5008)</a:t>
            </a:r>
          </a:p>
          <a:p xmlns:a="http://schemas.openxmlformats.org/drawingml/2006/main">
            <a:r>
              <a:t>https://www.jimtof.org/2024/search/jp/ESdetails?e=nYvFR1vpbuE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EDP-16 Siemens HELLER Toknとデジタルツインの訓練事例</a:t>
            </a:r>
          </a:p>
          <a:p xmlns:a="http://schemas.openxmlformats.org/drawingml/2006/main">
            <a:r>
              <a:t>https://references.siemens.com/en/reference/heller-tokn-digital-twin?id=41137</a:t>
            </a:r>
          </a:p>
          <a:p xmlns:a="http://schemas.openxmlformats.org/drawingml/2006/main">
            <a:r>
              <a:t>掲載位置 Completion: 2024／仮想SINUMERIK ONEと3D機械モデルによる訓練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EDP-17 Siemens Humanoidとの工場内物流の運用試験</a:t>
            </a:r>
          </a:p>
          <a:p xmlns:a="http://schemas.openxmlformats.org/drawingml/2006/main">
            <a:r>
              <a:t>https://press.siemens.com/jp/ja/pressrelease/pr-20260416</a:t>
            </a:r>
          </a:p>
          <a:p xmlns:a="http://schemas.openxmlformats.org/drawingml/2006/main">
            <a:r>
              <a:t>掲載位置 HMND 01 Alphaのトート把持・搬送・配置／Jetson Thor・Isaac Sim/Lab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SUB003 シーメンス株式会社 NX CAM／NX CMM</a:t>
            </a:r>
          </a:p>
          <a:p xmlns:a="http://schemas.openxmlformats.org/drawingml/2006/main">
            <a:r>
              <a:t>小間 E3006</a:t>
            </a:r>
          </a:p>
          <a:p xmlns:a="http://schemas.openxmlformats.org/drawingml/2006/main">
            <a:r>
              <a:t>展示 出展説明に掲載 2026公式カタログ掲載・現地未確認</a:t>
            </a:r>
          </a:p>
          <a:p xmlns:a="http://schemas.openxmlformats.org/drawingml/2006/main">
            <a:r>
              <a:t>入力 CAD形状と加工・測定条件。</a:t>
            </a:r>
          </a:p>
          <a:p xmlns:a="http://schemas.openxmlformats.org/drawingml/2006/main">
            <a:r>
              <a:t>方式 2026公式の主な出展物にNX CAMとNX CMMを掲載。工作機械ツインや人型ロボットとは別の展示アイテム。各ソフトの生成AI機能・2024との機能差は未精査。</a:t>
            </a:r>
          </a:p>
          <a:p xmlns:a="http://schemas.openxmlformats.org/drawingml/2006/main">
            <a:r>
              <a:t>出力 加工・測定プログラム。</a:t>
            </a:r>
          </a:p>
          <a:p xmlns:a="http://schemas.openxmlformats.org/drawingml/2006/main">
            <a:r>
              <a:t>人 作成条件、修正・採用判断、実行前の確認範囲は未精査。</a:t>
            </a:r>
          </a:p>
          <a:p xmlns:a="http://schemas.openxmlformats.org/drawingml/2006/main">
            <a:r>
              <a:t>限界 生成AI機能と、従来のルールによるプログラム生成を区別する必要がある。</a:t>
            </a:r>
          </a:p>
          <a:p xmlns:a="http://schemas.openxmlformats.org/drawingml/2006/main">
            <a:r>
              <a:t>現地 NX CAM／NX CMMの対象品種・変更条件は何か。加工と測定のプログラムを準備するで人が設定する内容、異常時の停止・復帰、他工程との接続仕様を確認する。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EEX-EXH-2026-9b991dd8132f51dc シーメンス株式会社 JIMTOF2026公式出展説明：シーメンス株式会社 (E3006)</a:t>
            </a:r>
          </a:p>
          <a:p xmlns:a="http://schemas.openxmlformats.org/drawingml/2006/main">
            <a:r>
              <a:t>https://www.jimtof.org/search/jp/ESdetails?e=EBIotJu7lrg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EEX-EXH-2024-558faea07a73f5d8 シーメンス株式会社 JIMTOF2024公式出展説明：シーメンス株式会社 (E5008)</a:t>
            </a:r>
          </a:p>
          <a:p xmlns:a="http://schemas.openxmlformats.org/drawingml/2006/main">
            <a:r>
              <a:t>https://www.jimtof.org/2024/search/jp/ESdetails?e=nYvFR1vpbuE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EDP-16 Siemens HELLER Toknとデジタルツインの訓練事例</a:t>
            </a:r>
          </a:p>
          <a:p xmlns:a="http://schemas.openxmlformats.org/drawingml/2006/main">
            <a:r>
              <a:t>https://references.siemens.com/en/reference/heller-tokn-digital-twin?id=41137</a:t>
            </a:r>
          </a:p>
          <a:p xmlns:a="http://schemas.openxmlformats.org/drawingml/2006/main">
            <a:r>
              <a:t>掲載位置 Completion: 2024／仮想SINUMERIK ONEと3D機械モデルによる訓練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EDP-17 Siemens Humanoidとの工場内物流の運用試験</a:t>
            </a:r>
          </a:p>
          <a:p xmlns:a="http://schemas.openxmlformats.org/drawingml/2006/main">
            <a:r>
              <a:t>https://press.siemens.com/jp/ja/pressrelease/pr-20260416</a:t>
            </a:r>
          </a:p>
          <a:p xmlns:a="http://schemas.openxmlformats.org/drawingml/2006/main">
            <a:r>
              <a:t>掲載位置 HMND 01 Alphaのトート把持・搬送・配置／Jetson Thor・Isaac Sim/Lab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FT-SI01 シーメンス株式会社 Eigen Engineering Agent</a:t>
            </a:r>
          </a:p>
          <a:p xmlns:a="http://schemas.openxmlformats.org/drawingml/2006/main">
            <a:r>
              <a:t>小間 E3006</a:t>
            </a:r>
          </a:p>
          <a:p xmlns:a="http://schemas.openxmlformats.org/drawingml/2006/main">
            <a:r>
              <a:t>展示 展示未確認 出展企業は一覧掲載。個別アイテムの展示は未確認。</a:t>
            </a:r>
          </a:p>
          <a:p xmlns:a="http://schemas.openxmlformats.org/drawingml/2006/main">
            <a:r>
              <a:t>入力 TIA Portalプロジェクト、機械の自然言語説明、XML・AML等の電気設計情報。</a:t>
            </a:r>
          </a:p>
          <a:p xmlns:a="http://schemas.openxmlformats.org/drawingml/2006/main">
            <a:r>
              <a:t>方式 プロジェクト内のデバイス・ロジック等を利用し、PLCコード・試験や標準に沿う構成を生成・修正する。</a:t>
            </a:r>
          </a:p>
          <a:p xmlns:a="http://schemas.openxmlformats.org/drawingml/2006/main">
            <a:r>
              <a:t>出力 PLC／HMIコード、テスト、デバイス構成・TIAプロジェクト。</a:t>
            </a:r>
          </a:p>
          <a:p xmlns:a="http://schemas.openxmlformats.org/drawingml/2006/main">
            <a:r>
              <a:t>人 エンジニアが生成結果をレビューする。実機への適用・権限管理は別に確認が必要。</a:t>
            </a:r>
          </a:p>
          <a:p xmlns:a="http://schemas.openxmlformats.org/drawingml/2006/main">
            <a:r>
              <a:t>限界 コードの生成・検証と実機の自律運転は異なる。個別アイテムのJIMTOF展示は未確認。</a:t>
            </a:r>
          </a:p>
          <a:p xmlns:a="http://schemas.openxmlformats.org/drawingml/2006/main">
            <a:r>
              <a:t>現地 JIMTOF展示有無、生成・テスト・自己修正の範囲、既存設計規約、安全制御のレビュー・承認を確認。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FT27 Siemens Industrial AI changes automation engineering</a:t>
            </a:r>
          </a:p>
          <a:p xmlns:a="http://schemas.openxmlformats.org/drawingml/2006/main">
            <a:r>
              <a:t>https://www.siemens.com/en-us/company/insights/industrial-ai-changes-automation-engineers-work/</a:t>
            </a:r>
          </a:p>
          <a:p xmlns:a="http://schemas.openxmlformats.org/drawingml/2006/main">
            <a:r>
              <a:t>掲載位置 Eigen Engineering Agent：PLC・ECAD・プロジェクト生成／人のレビュー</a:t>
            </a:r>
          </a:p>
          <a:p xmlns:a="http://schemas.openxmlformats.org/drawingml/2006/main">
            <a:r>
              <a:t>確認 2026-10-22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AC100 株式会社ジェイテクト 加工・研削自動化／工程設計支援</a:t>
            </a:r>
          </a:p>
          <a:p xmlns:a="http://schemas.openxmlformats.org/drawingml/2006/main">
            <a:r>
              <a:t>小間 E8003</a:t>
            </a:r>
          </a:p>
          <a:p xmlns:a="http://schemas.openxmlformats.org/drawingml/2006/main">
            <a:r>
              <a:t>展示 出展説明に掲載 2026公式カタログ掲載・現地未確認</a:t>
            </a:r>
          </a:p>
          <a:p xmlns:a="http://schemas.openxmlformats.org/drawingml/2006/main">
            <a:r>
              <a:t>入力 詳細な入力仕様・取得信号は今回の出展説明では未特定。</a:t>
            </a:r>
          </a:p>
          <a:p xmlns:a="http://schemas.openxmlformats.org/drawingml/2006/main">
            <a:r>
              <a:t>方式 工作機械と周辺機能の自動化。公式特設サイトで確認できたMill-Plan等は別アイテムに分けて詳述する。</a:t>
            </a:r>
          </a:p>
          <a:p xmlns:a="http://schemas.openxmlformats.org/drawingml/2006/main">
            <a:r>
              <a:t>出力 工作機械と周辺機能の自動化。公式特設サイトで確認できたMill-Plan等は別アイテムに分けて詳述する。</a:t>
            </a:r>
          </a:p>
          <a:p xmlns:a="http://schemas.openxmlformats.org/drawingml/2006/main">
            <a:r>
              <a:t>人 教示・段取り条件、運転開始、停止後の復帰を誰が行うかは未確認。</a:t>
            </a:r>
          </a:p>
          <a:p xmlns:a="http://schemas.openxmlformats.org/drawingml/2006/main">
            <a:r>
              <a:t>限界 個別モデル・設定条件・適用限界・人の残作業を未確認として残す。</a:t>
            </a:r>
          </a:p>
          <a:p xmlns:a="http://schemas.openxmlformats.org/drawingml/2006/main">
            <a:r>
              <a:t>現地 加工・研削自動化／工程設計支援の対象品種・変更条件は何か。工程設計・プログラム生成で人が設定する内容、異常時の停止・復帰、他工程との接続仕様を確認する。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EEX-EXH-2026-18d08a3e4d8ab906 株式会社ジェイテクト JIMTOF2026公式出展説明：株式会社ジェイテクト (E8003)</a:t>
            </a:r>
          </a:p>
          <a:p xmlns:a="http://schemas.openxmlformats.org/drawingml/2006/main">
            <a:r>
              <a:t>https://www.jimtof.org/search/jp/ESdetails?e=cW9RNSMEfso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EEX-EXH-2024-7a92881c6963ceba 株式会社ジェイテクト JIMTOF2024公式出展説明：株式会社ジェイテクト (E3015)</a:t>
            </a:r>
          </a:p>
          <a:p xmlns:a="http://schemas.openxmlformats.org/drawingml/2006/main">
            <a:r>
              <a:t>https://www.jimtof.org/2024/search/jp/ESdetails?e=mjIyOzHh7nU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FT-J01 株式会社ジェイテクト Mill-Plan</a:t>
            </a:r>
          </a:p>
          <a:p xmlns:a="http://schemas.openxmlformats.org/drawingml/2006/main">
            <a:r>
              <a:t>小間 E8003</a:t>
            </a:r>
          </a:p>
          <a:p xmlns:a="http://schemas.openxmlformats.org/drawingml/2006/main">
            <a:r>
              <a:t>展示 展示予定を明記 公式JIMTOF特設に掲載。</a:t>
            </a:r>
          </a:p>
          <a:p xmlns:a="http://schemas.openxmlformats.org/drawingml/2006/main">
            <a:r>
              <a:t>入力 加工対象・機械・工具等。入力仕様の詳細は要確認。</a:t>
            </a:r>
          </a:p>
          <a:p xmlns:a="http://schemas.openxmlformats.org/drawingml/2006/main">
            <a:r>
              <a:t>方式 工具・姿勢・条件を含む工程設計を自動化する。</a:t>
            </a:r>
          </a:p>
          <a:p xmlns:a="http://schemas.openxmlformats.org/drawingml/2006/main">
            <a:r>
              <a:t>出力 加工工程案。</a:t>
            </a:r>
          </a:p>
          <a:p xmlns:a="http://schemas.openxmlformats.org/drawingml/2006/main">
            <a:r>
              <a:t>人 採用・修正・検証の手順は未確認。</a:t>
            </a:r>
          </a:p>
          <a:p xmlns:a="http://schemas.openxmlformats.org/drawingml/2006/main">
            <a:r>
              <a:t>限界 AIモデル利用を明示する資料は今回確認できない。</a:t>
            </a:r>
          </a:p>
          <a:p xmlns:a="http://schemas.openxmlformats.org/drawingml/2006/main">
            <a:r>
              <a:t>現地 CAD入力からの自動範囲、ルール／AIの別、工具DBと条件の同定、修正・検証工数を確認。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AR22 ジェイテクト JIMTOF2026</a:t>
            </a:r>
          </a:p>
          <a:p xmlns:a="http://schemas.openxmlformats.org/drawingml/2006/main">
            <a:r>
              <a:t>https://toyoda.jtekt.co.jp/jimtof2026/</a:t>
            </a:r>
          </a:p>
          <a:p xmlns:a="http://schemas.openxmlformats.org/drawingml/2006/main">
            <a:r>
              <a:t>掲載位置 Mill-Plan／fine-teachless／mJM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FT-J02 株式会社ジェイテクト ファインティーチレスツール</a:t>
            </a:r>
          </a:p>
          <a:p xmlns:a="http://schemas.openxmlformats.org/drawingml/2006/main">
            <a:r>
              <a:t>小間 E8003</a:t>
            </a:r>
          </a:p>
          <a:p xmlns:a="http://schemas.openxmlformats.org/drawingml/2006/main">
            <a:r>
              <a:t>展示 展示予定を明記 公式JIMTOF特設に掲載。</a:t>
            </a:r>
          </a:p>
          <a:p xmlns:a="http://schemas.openxmlformats.org/drawingml/2006/main">
            <a:r>
              <a:t>入力 デジタルモデルと実機の誤差計測。</a:t>
            </a:r>
          </a:p>
          <a:p xmlns:a="http://schemas.openxmlformats.org/drawingml/2006/main">
            <a:r>
              <a:t>方式 測定した誤差に基づき動作プログラムを補正する。</a:t>
            </a:r>
          </a:p>
          <a:p xmlns:a="http://schemas.openxmlformats.org/drawingml/2006/main">
            <a:r>
              <a:t>出力 実機に合わせたロボット動作。</a:t>
            </a:r>
          </a:p>
          <a:p xmlns:a="http://schemas.openxmlformats.org/drawingml/2006/main">
            <a:r>
              <a:t>人 計測準備・誤差モデル設定・実機適用の確認範囲は未公開。</a:t>
            </a:r>
          </a:p>
          <a:p xmlns:a="http://schemas.openxmlformats.org/drawingml/2006/main">
            <a:r>
              <a:t>限界 AI学習モデルや未知作業の生成を示す説明ではない。</a:t>
            </a:r>
          </a:p>
          <a:p xmlns:a="http://schemas.openxmlformats.org/drawingml/2006/main">
            <a:r>
              <a:t>現地 補正する座標・機械誤差、計測時間・再校正条件、複雑工具・複数設備への適用を確認。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FT18 ジェイテクト JIMTOF2026 特設サイト</a:t>
            </a:r>
          </a:p>
          <a:p xmlns:a="http://schemas.openxmlformats.org/drawingml/2006/main">
            <a:r>
              <a:t>https://toyoda.jtekt.co.jp/jimtof2026/</a:t>
            </a:r>
          </a:p>
          <a:p xmlns:a="http://schemas.openxmlformats.org/drawingml/2006/main">
            <a:r>
              <a:t>掲載位置 Mill-Plan／ファインティーチレスツール／mJM画像キャプション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FT-J03 株式会社ジェイテクト mJM AI相談室365／Remote Care</a:t>
            </a:r>
          </a:p>
          <a:p xmlns:a="http://schemas.openxmlformats.org/drawingml/2006/main">
            <a:r>
              <a:t>小間 E8003</a:t>
            </a:r>
          </a:p>
          <a:p xmlns:a="http://schemas.openxmlformats.org/drawingml/2006/main">
            <a:r>
              <a:t>展示 展示予定を明記 公式JIMTOF特設ページに紹介。</a:t>
            </a:r>
          </a:p>
          <a:p xmlns:a="http://schemas.openxmlformats.org/drawingml/2006/main">
            <a:r>
              <a:t>入力 設備異常・アラーム情報。接続・入力仕様は未確認。</a:t>
            </a:r>
          </a:p>
          <a:p xmlns:a="http://schemas.openxmlformats.org/drawingml/2006/main">
            <a:r>
              <a:t>方式 AIで初期対応を提案し、人のコンタクトセンターと接続する構成。</a:t>
            </a:r>
          </a:p>
          <a:p xmlns:a="http://schemas.openxmlformats.org/drawingml/2006/main">
            <a:r>
              <a:t>出力 対処案と遠隔支援。</a:t>
            </a:r>
          </a:p>
          <a:p xmlns:a="http://schemas.openxmlformats.org/drawingml/2006/main">
            <a:r>
              <a:t>人 提案後の処置・遠隔支援は人が担う構成。</a:t>
            </a:r>
          </a:p>
          <a:p xmlns:a="http://schemas.openxmlformats.org/drawingml/2006/main">
            <a:r>
              <a:t>限界 確認根拠は特設サイトの画像キャプション。モデル・自動復旧の範囲は未公開。</a:t>
            </a:r>
          </a:p>
          <a:p xmlns:a="http://schemas.openxmlformats.org/drawingml/2006/main">
            <a:r>
              <a:t>現地 取得アラーム・ログ、回答の根拠、人への引継ぎ、サービス提供段階を確認。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FT18 ジェイテクト JIMTOF2026 特設サイト</a:t>
            </a:r>
          </a:p>
          <a:p xmlns:a="http://schemas.openxmlformats.org/drawingml/2006/main">
            <a:r>
              <a:t>https://toyoda.jtekt.co.jp/jimtof2026/</a:t>
            </a:r>
          </a:p>
          <a:p xmlns:a="http://schemas.openxmlformats.org/drawingml/2006/main">
            <a:r>
              <a:t>掲載位置 Mill-Plan／ファインティーチレスツール／mJM画像キャプション</a:t>
            </a:r>
          </a:p>
          <a:p xmlns:a="http://schemas.openxmlformats.org/drawingml/2006/main">
            <a:r>
              <a:t>確認 2026-10-22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AC172 ニデックマシンツール株式会社 NC Twin 仮想加工検証</a:t>
            </a:r>
          </a:p>
          <a:p xmlns:a="http://schemas.openxmlformats.org/drawingml/2006/main">
            <a:r>
              <a:t>小間 E3011</a:t>
            </a:r>
          </a:p>
          <a:p xmlns:a="http://schemas.openxmlformats.org/drawingml/2006/main">
            <a:r>
              <a:t>展示 出展説明に掲載 2026公式カタログ掲載・現地未確認</a:t>
            </a:r>
          </a:p>
          <a:p xmlns:a="http://schemas.openxmlformats.org/drawingml/2006/main">
            <a:r>
              <a:t>入力 詳細な入力仕様・取得信号は今回の出展説明では未特定。</a:t>
            </a:r>
          </a:p>
          <a:p xmlns:a="http://schemas.openxmlformats.org/drawingml/2006/main">
            <a:r>
              <a:t>方式 工作機械の挙動を仮想確認する。デジタルツインをAI学習モデルと同一視しない。</a:t>
            </a:r>
          </a:p>
          <a:p xmlns:a="http://schemas.openxmlformats.org/drawingml/2006/main">
            <a:r>
              <a:t>出力 工作機械の挙動を仮想確認する。デジタルツインをAI学習モデルと同一視しない。</a:t>
            </a:r>
          </a:p>
          <a:p xmlns:a="http://schemas.openxmlformats.org/drawingml/2006/main">
            <a:r>
              <a:t>人 教示・段取り条件、運転開始、停止後の復帰を誰が行うかは未確認。</a:t>
            </a:r>
          </a:p>
          <a:p xmlns:a="http://schemas.openxmlformats.org/drawingml/2006/main">
            <a:r>
              <a:t>限界 個別モデル・設定条件・適用限界・人の残作業を未確認として残す。</a:t>
            </a:r>
          </a:p>
          <a:p xmlns:a="http://schemas.openxmlformats.org/drawingml/2006/main">
            <a:r>
              <a:t>現地 NC Twin 仮想加工検証の対象品種・変更条件は何か。工程設計・プログラム生成で人が設定する内容、異常時の停止・復帰、他工程との接続仕様を確認する。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EEX-EXH-2026-d31a435d31c2b6eb ニデックマシンツール株式会社 JIMTOF2026公式出展説明：ニデックマシンツール株式会社 (E3011)</a:t>
            </a:r>
          </a:p>
          <a:p xmlns:a="http://schemas.openxmlformats.org/drawingml/2006/main">
            <a:r>
              <a:t>https://www.jimtof.org/search/jp/ESdetails?e=oS1WYTzqdvg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EEX-EXH-2024-0059d4657b27c088 ニデックマシンツール株式会社 JIMTOF2024公式出展説明：ニデックマシンツール株式会社 (E2031)</a:t>
            </a:r>
          </a:p>
          <a:p xmlns:a="http://schemas.openxmlformats.org/drawingml/2006/main">
            <a:r>
              <a:t>https://www.jimtof.org/2024/search/jp/ESdetails?e=F6J7FmEp-qk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EEX-EXH-2024-3301c67db4bb9dd4 ニデックマシンツール株式会社 JIMTOF2024公式出展説明：ニデックマシンツール株式会社 (AM132)</a:t>
            </a:r>
          </a:p>
          <a:p xmlns:a="http://schemas.openxmlformats.org/drawingml/2006/main">
            <a:r>
              <a:t>https://www.jimtof.org/2024/search/jp/ESdetails?e=QF9JlOzN9Gk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AC171 ニデックオーケーケー株式会社 VBX650／GC53RII 自動化</a:t>
            </a:r>
          </a:p>
          <a:p xmlns:a="http://schemas.openxmlformats.org/drawingml/2006/main">
            <a:r>
              <a:t>小間 E3012</a:t>
            </a:r>
          </a:p>
          <a:p xmlns:a="http://schemas.openxmlformats.org/drawingml/2006/main">
            <a:r>
              <a:t>展示 出展説明に掲載 2026公式カタログ掲載・現地未確認</a:t>
            </a:r>
          </a:p>
          <a:p xmlns:a="http://schemas.openxmlformats.org/drawingml/2006/main">
            <a:r>
              <a:t>入力 詳細な入力仕様・取得信号は今回の出展説明では未特定。</a:t>
            </a:r>
          </a:p>
          <a:p xmlns:a="http://schemas.openxmlformats.org/drawingml/2006/main">
            <a:r>
              <a:t>方式 パレット供給、砥石交換等で連続加工・研削を支援する。</a:t>
            </a:r>
          </a:p>
          <a:p xmlns:a="http://schemas.openxmlformats.org/drawingml/2006/main">
            <a:r>
              <a:t>出力 パレット供給、砥石交換等で連続加工・研削を支援する。</a:t>
            </a:r>
          </a:p>
          <a:p xmlns:a="http://schemas.openxmlformats.org/drawingml/2006/main">
            <a:r>
              <a:t>人 教示・段取り条件、運転開始、停止後の復帰を誰が行うかは未確認。</a:t>
            </a:r>
          </a:p>
          <a:p xmlns:a="http://schemas.openxmlformats.org/drawingml/2006/main">
            <a:r>
              <a:t>限界 個別モデル・設定条件・適用限界・人の残作業を未確認として残す。</a:t>
            </a:r>
          </a:p>
          <a:p xmlns:a="http://schemas.openxmlformats.org/drawingml/2006/main">
            <a:r>
              <a:t>現地 VBX650／GC53RII 自動化の対象品種・変更条件は何か。工具・治具・段取り交換で人が設定する内容、異常時の停止・復帰、他工程との接続仕様を確認する。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EEX-EXH-2026-3211cafa924b2f84 ニデックオーケーケー株式会社 JIMTOF2026公式出展説明：ニデックオーケーケー株式会社 (E3012)</a:t>
            </a:r>
          </a:p>
          <a:p xmlns:a="http://schemas.openxmlformats.org/drawingml/2006/main">
            <a:r>
              <a:t>https://www.jimtof.org/search/jp/ESdetails?e=cIGcLA71ub0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EEX-EXH-2024-44f5c8e1a79f9707 ニデックオーケーケー株式会社 JIMTOF2024公式出展説明：ニデックオーケーケー株式会社 (E2032)</a:t>
            </a:r>
          </a:p>
          <a:p xmlns:a="http://schemas.openxmlformats.org/drawingml/2006/main">
            <a:r>
              <a:t>https://www.jimtof.org/2024/search/jp/ESdetails?e=15EOJWcvGE8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AC123 株式会社ソディック ロボット放電加工セル</a:t>
            </a:r>
          </a:p>
          <a:p xmlns:a="http://schemas.openxmlformats.org/drawingml/2006/main">
            <a:r>
              <a:t>小間 E2017</a:t>
            </a:r>
          </a:p>
          <a:p xmlns:a="http://schemas.openxmlformats.org/drawingml/2006/main">
            <a:r>
              <a:t>展示 出展説明に掲載 2026公式カタログ掲載・現地未確認</a:t>
            </a:r>
          </a:p>
          <a:p xmlns:a="http://schemas.openxmlformats.org/drawingml/2006/main">
            <a:r>
              <a:t>入力 詳細な入力仕様・取得信号は今回の出展説明では未特定。</a:t>
            </a:r>
          </a:p>
          <a:p xmlns:a="http://schemas.openxmlformats.org/drawingml/2006/main">
            <a:r>
              <a:t>方式 ワーク・電極の供給と放電加工を接続する自動化構成。</a:t>
            </a:r>
          </a:p>
          <a:p xmlns:a="http://schemas.openxmlformats.org/drawingml/2006/main">
            <a:r>
              <a:t>出力 ワーク・電極の供給と放電加工を接続する自動化構成。</a:t>
            </a:r>
          </a:p>
          <a:p xmlns:a="http://schemas.openxmlformats.org/drawingml/2006/main">
            <a:r>
              <a:t>人 教示・段取り条件、運転開始、停止後の復帰を誰が行うかは未確認。</a:t>
            </a:r>
          </a:p>
          <a:p xmlns:a="http://schemas.openxmlformats.org/drawingml/2006/main">
            <a:r>
              <a:t>限界 個別モデル・設定条件・適用限界・人の残作業を未確認として残す。</a:t>
            </a:r>
          </a:p>
          <a:p xmlns:a="http://schemas.openxmlformats.org/drawingml/2006/main">
            <a:r>
              <a:t>現地 ロボット放電加工セルの対象品種・変更条件は何か。搬送・供給・工程接続で人が設定する内容、異常時の停止・復帰、他工程との接続仕様を確認する。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EEX-EXH-2026-f434da28b26d8f26 株式会社ソディック JIMTOF2026公式出展説明：株式会社ソディック (E2017)</a:t>
            </a:r>
          </a:p>
          <a:p xmlns:a="http://schemas.openxmlformats.org/drawingml/2006/main">
            <a:r>
              <a:t>https://www.jimtof.org/search/jp/ESdetails?e=k6keXdSLQmQ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EEX-EXH-2024-7c4887bf05364088 株式会社ソディック JIMTOF2024公式出展説明：株式会社ソディック (E4015)</a:t>
            </a:r>
          </a:p>
          <a:p xmlns:a="http://schemas.openxmlformats.org/drawingml/2006/main">
            <a:r>
              <a:t>https://www.jimtof.org/2024/search/jp/ESdetails?e=VYjGUrtgdX4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AC010 株式会社アマダ SDEW8010i III＋ALFAS-03KR</a:t>
            </a:r>
          </a:p>
          <a:p xmlns:a="http://schemas.openxmlformats.org/drawingml/2006/main">
            <a:r>
              <a:t>小間 E2012</a:t>
            </a:r>
          </a:p>
          <a:p xmlns:a="http://schemas.openxmlformats.org/drawingml/2006/main">
            <a:r>
              <a:t>展示 出展説明に掲載 2026公式カタログ掲載・現地未確認</a:t>
            </a:r>
          </a:p>
          <a:p xmlns:a="http://schemas.openxmlformats.org/drawingml/2006/main">
            <a:r>
              <a:t>入力 詳細な入力仕様・取得信号は今回の出展説明では未特定。</a:t>
            </a:r>
          </a:p>
          <a:p xmlns:a="http://schemas.openxmlformats.org/drawingml/2006/main">
            <a:r>
              <a:t>方式 プレスとロボットを組み合わせ、材料の供給・搬送を自動化する。</a:t>
            </a:r>
          </a:p>
          <a:p xmlns:a="http://schemas.openxmlformats.org/drawingml/2006/main">
            <a:r>
              <a:t>出力 プレスとロボットを組み合わせ、材料の供給・搬送を自動化する。</a:t>
            </a:r>
          </a:p>
          <a:p xmlns:a="http://schemas.openxmlformats.org/drawingml/2006/main">
            <a:r>
              <a:t>人 教示・段取り条件、運転開始、停止後の復帰を誰が行うかは未確認。</a:t>
            </a:r>
          </a:p>
          <a:p xmlns:a="http://schemas.openxmlformats.org/drawingml/2006/main">
            <a:r>
              <a:t>限界 個別モデル・設定条件・適用限界・人の残作業を未確認として残す。</a:t>
            </a:r>
          </a:p>
          <a:p xmlns:a="http://schemas.openxmlformats.org/drawingml/2006/main">
            <a:r>
              <a:t>現地 SDEW8010i III＋ALFAS-03KRの対象品種・変更条件は何か。搬送・供給・工程接続で人が設定する内容、異常時の停止・復帰、他工程との接続仕様を確認する。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EEX-EXH-2026-650d9d144d109d53 株式会社アマダ JIMTOF2026公式出展説明：株式会社アマダ (E2012)</a:t>
            </a:r>
          </a:p>
          <a:p xmlns:a="http://schemas.openxmlformats.org/drawingml/2006/main">
            <a:r>
              <a:t>https://www.jimtof.org/search/jp/ESdetails?e=lwacRdqPa60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EEX-EXH-2024-6494a99b9e9dbbed 株式会社アマダ JIMTOF2024公式出展説明：株式会社アマダ (E1072)</a:t>
            </a:r>
          </a:p>
          <a:p xmlns:a="http://schemas.openxmlformats.org/drawingml/2006/main">
            <a:r>
              <a:t>https://www.jimtof.org/2024/search/jp/ESdetails?e=Jc5GYaUqS1I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N0667 ブラザー工業株式会社 PC-1 オートパレットチェンジャー</a:t>
            </a:r>
          </a:p>
          <a:p xmlns:a="http://schemas.openxmlformats.org/drawingml/2006/main">
            <a:r>
              <a:t>小間 E1055</a:t>
            </a:r>
          </a:p>
          <a:p xmlns:a="http://schemas.openxmlformats.org/drawingml/2006/main">
            <a:r>
              <a:t>展示 出展説明に掲載 公式出展説明に機能を記載。現地未確認。</a:t>
            </a:r>
          </a:p>
          <a:p xmlns:a="http://schemas.openxmlformats.org/drawingml/2006/main">
            <a:r>
              <a:t>入力 詳細な入力仕様・取得信号は今回の出展説明では未特定。</a:t>
            </a:r>
          </a:p>
          <a:p xmlns:a="http://schemas.openxmlformats.org/drawingml/2006/main">
            <a:r>
              <a:t>方式 加工機のパレット交換を自動化する。AI判断・自律再計画の説明はない。</a:t>
            </a:r>
          </a:p>
          <a:p xmlns:a="http://schemas.openxmlformats.org/drawingml/2006/main">
            <a:r>
              <a:t>出力 加工機のパレット交換を自動化する。AI判断・自律再計画の説明はない。</a:t>
            </a:r>
          </a:p>
          <a:p xmlns:a="http://schemas.openxmlformats.org/drawingml/2006/main">
            <a:r>
              <a:t>人 段取り設定・停止復帰と自動化範囲の境界は要確認。</a:t>
            </a:r>
          </a:p>
          <a:p xmlns:a="http://schemas.openxmlformats.org/drawingml/2006/main">
            <a:r>
              <a:t>限界 今回の資料では具体仕様を未確認。</a:t>
            </a:r>
          </a:p>
          <a:p xmlns:a="http://schemas.openxmlformats.org/drawingml/2006/main">
            <a:r>
              <a:t>現地 PC-1 オートパレットチェンジャーの対象品種・変更条件は何か。搬送・供給・工程接続で人が設定する内容、異常時の停止・復帰、他工程との接続仕様を確認する。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LIST-EXH-2026-f418171804483971 undefined 既存調査の一次資料</a:t>
            </a:r>
          </a:p>
          <a:p xmlns:a="http://schemas.openxmlformats.org/drawingml/2006/main">
            <a:r>
              <a:t>https://www.jimtof.org/search/jp/ESdetails?e=lOXEEpvlXpM</a:t>
            </a:r>
          </a:p>
          <a:p xmlns:a="http://schemas.openxmlformats.org/drawingml/2006/main">
            <a:r>
              <a:t>掲載位置 公式出展紹介・主な出展物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FC047 松浦機械製作所 5軸＋マルチパレット／MiOS</a:t>
            </a:r>
          </a:p>
          <a:p xmlns:a="http://schemas.openxmlformats.org/drawingml/2006/main">
            <a:r>
              <a:t>小間 E3030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加工プログラム・指示・画像・ワークオフセット等</a:t>
            </a:r>
          </a:p>
          <a:p xmlns:a="http://schemas.openxmlformats.org/drawingml/2006/main">
            <a:r>
              <a:t>方式 加工データをプロジェクト単位で管理し供給・無人運転を支援</a:t>
            </a:r>
          </a:p>
          <a:p xmlns:a="http://schemas.openxmlformats.org/drawingml/2006/main">
            <a:r>
              <a:t>出力 多品種のパレット加工</a:t>
            </a:r>
          </a:p>
          <a:p xmlns:a="http://schemas.openxmlformats.org/drawingml/2006/main">
            <a:r>
              <a:t>人 事前段取り・工具準備・異常時対応の自動範囲は未確認</a:t>
            </a:r>
          </a:p>
          <a:p xmlns:a="http://schemas.openxmlformats.org/drawingml/2006/main">
            <a:r>
              <a:t>限界 工程集約の仕様差とAI／自律性の進化を混同しない</a:t>
            </a:r>
          </a:p>
          <a:p xmlns:a="http://schemas.openxmlformats.org/drawingml/2006/main">
            <a:r>
              <a:t>現地 5軸＋マルチパレット／MiOSの対象品種・変更条件は何か。パレット供給で人が設定する内容、異常時の停止・復帰、他工程との接続仕様を確認する。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EOV-V028-2024-1 株式会社松浦機械製作所 JIMTOF2024公式カタログ：株式会社松浦機械製作所 (E3019)</a:t>
            </a:r>
          </a:p>
          <a:p xmlns:a="http://schemas.openxmlformats.org/drawingml/2006/main">
            <a:r>
              <a:t>https://www.jimtof.org/2024/search/jp/ESdetails?e=_4GLIXLZuKE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EOV-V028-2024-2 株式会社松浦機械製作所 JIMTOF2024公式カタログ：株式会社松浦機械製作所 (AM115)</a:t>
            </a:r>
          </a:p>
          <a:p xmlns:a="http://schemas.openxmlformats.org/drawingml/2006/main">
            <a:r>
              <a:t>https://www.jimtof.org/2024/search/jp/ESdetails?e=coHqGCjVn0c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EOV-V028-2026-1 株式会社松浦機械製作所 JIMTOF2026公式カタログ：株式会社松浦機械製作所 (E3030)</a:t>
            </a:r>
          </a:p>
          <a:p xmlns:a="http://schemas.openxmlformats.org/drawingml/2006/main">
            <a:r>
              <a:t>https://www.jimtof.org/search/jp/ESdetails?e=K_X61J2xV_w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AC102 シチズンマシナリー株式会社 LFV・ATC・計測連携自動化</a:t>
            </a:r>
          </a:p>
          <a:p xmlns:a="http://schemas.openxmlformats.org/drawingml/2006/main">
            <a:r>
              <a:t>小間 S2002</a:t>
            </a:r>
          </a:p>
          <a:p xmlns:a="http://schemas.openxmlformats.org/drawingml/2006/main">
            <a:r>
              <a:t>展示 出展説明に掲載 2026公式カタログ掲載・現地未確認</a:t>
            </a:r>
          </a:p>
          <a:p xmlns:a="http://schemas.openxmlformats.org/drawingml/2006/main">
            <a:r>
              <a:t>入力 詳細な入力仕様・取得信号は今回の出展説明では未特定。</a:t>
            </a:r>
          </a:p>
          <a:p xmlns:a="http://schemas.openxmlformats.org/drawingml/2006/main">
            <a:r>
              <a:t>方式 自動旋盤の工具交換・計測・周辺機との連携を紹介。ロボット部品の加工用途だけでフィジカルAIとしない。</a:t>
            </a:r>
          </a:p>
          <a:p xmlns:a="http://schemas.openxmlformats.org/drawingml/2006/main">
            <a:r>
              <a:t>出力 自動旋盤の工具交換・計測・周辺機との連携を紹介。ロボット部品の加工用途だけでフィジカルAIとしない。</a:t>
            </a:r>
          </a:p>
          <a:p xmlns:a="http://schemas.openxmlformats.org/drawingml/2006/main">
            <a:r>
              <a:t>人 教示・段取り条件、運転開始、停止後の復帰を誰が行うかは未確認。</a:t>
            </a:r>
          </a:p>
          <a:p xmlns:a="http://schemas.openxmlformats.org/drawingml/2006/main">
            <a:r>
              <a:t>限界 個別モデル・設定条件・適用限界・人の残作業を未確認として残す。</a:t>
            </a:r>
          </a:p>
          <a:p xmlns:a="http://schemas.openxmlformats.org/drawingml/2006/main">
            <a:r>
              <a:t>現地 LFV・ATC・計測連携自動化の対象品種・変更条件は何か。検査・計測・補正で人が設定する内容、異常時の停止・復帰、他工程との接続仕様を確認する。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EEX-EXH-2026-02147c6f37a0a824 シチズンマシナリー株式会社 JIMTOF2026公式出展説明：シチズンマシナリー株式会社 (S2002)</a:t>
            </a:r>
          </a:p>
          <a:p xmlns:a="http://schemas.openxmlformats.org/drawingml/2006/main">
            <a:r>
              <a:t>https://www.jimtof.org/search/jp/ESdetails?e=sqCigr-Fu70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EEX-EXH-2024-23c080ca7808117c シチズンマシナリー株式会社 JIMTOF2024公式出展説明：シチズンマシナリー株式会社 (E5034)</a:t>
            </a:r>
          </a:p>
          <a:p xmlns:a="http://schemas.openxmlformats.org/drawingml/2006/main">
            <a:r>
              <a:t>https://www.jimtof.org/2024/search/jp/ESdetails?e=Yym6acTNJ3w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AC112 スター精密株式会社 SC系・自動旋盤の連続加工</a:t>
            </a:r>
          </a:p>
          <a:p xmlns:a="http://schemas.openxmlformats.org/drawingml/2006/main">
            <a:r>
              <a:t>小間 S1003</a:t>
            </a:r>
          </a:p>
          <a:p xmlns:a="http://schemas.openxmlformats.org/drawingml/2006/main">
            <a:r>
              <a:t>展示 出展説明に掲載 2026公式カタログ掲載・現地未確認</a:t>
            </a:r>
          </a:p>
          <a:p xmlns:a="http://schemas.openxmlformats.org/drawingml/2006/main">
            <a:r>
              <a:t>入力 詳細な入力仕様・取得信号は今回の出展説明では未特定。</a:t>
            </a:r>
          </a:p>
          <a:p xmlns:a="http://schemas.openxmlformats.org/drawingml/2006/main">
            <a:r>
              <a:t>方式 小物部品を連続加工する旋盤。人型ロボット向け部品の加工用途をAI搭載とは数えない。</a:t>
            </a:r>
          </a:p>
          <a:p xmlns:a="http://schemas.openxmlformats.org/drawingml/2006/main">
            <a:r>
              <a:t>出力 小物部品を連続加工する旋盤。人型ロボット向け部品の加工用途をAI搭載とは数えない。</a:t>
            </a:r>
          </a:p>
          <a:p xmlns:a="http://schemas.openxmlformats.org/drawingml/2006/main">
            <a:r>
              <a:t>人 教示・段取り条件、運転開始、停止後の復帰を誰が行うかは未確認。</a:t>
            </a:r>
          </a:p>
          <a:p xmlns:a="http://schemas.openxmlformats.org/drawingml/2006/main">
            <a:r>
              <a:t>限界 個別モデル・設定条件・適用限界・人の残作業を未確認として残す。</a:t>
            </a:r>
          </a:p>
          <a:p xmlns:a="http://schemas.openxmlformats.org/drawingml/2006/main">
            <a:r>
              <a:t>現地 SC系・自動旋盤の連続加工の対象品種・変更条件は何か。搬送・供給・工程接続で人が設定する内容、異常時の停止・復帰、他工程との接続仕様を確認する。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EEX-EXH-2026-0a5e5a2628606f5f スター精密株式会社 JIMTOF2026公式出展説明：スター精密株式会社 (S1003)</a:t>
            </a:r>
          </a:p>
          <a:p xmlns:a="http://schemas.openxmlformats.org/drawingml/2006/main">
            <a:r>
              <a:t>https://www.jimtof.org/search/jp/ESdetails?e=uGFHKigy2ag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EEX-EXH-2024-1cce6dcfa72ea15d スター精密株式会社 JIMTOF2024公式出展説明：スター精密株式会社 (E6022)</a:t>
            </a:r>
          </a:p>
          <a:p xmlns:a="http://schemas.openxmlformats.org/drawingml/2006/main">
            <a:r>
              <a:t>https://www.jimtof.org/2024/search/jp/ESdetails?e=Lko701EYhhQ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AC139 株式会社ツガミ TMA8F／VA3S 自動供給・計測</a:t>
            </a:r>
          </a:p>
          <a:p xmlns:a="http://schemas.openxmlformats.org/drawingml/2006/main">
            <a:r>
              <a:t>小間 S1004</a:t>
            </a:r>
          </a:p>
          <a:p xmlns:a="http://schemas.openxmlformats.org/drawingml/2006/main">
            <a:r>
              <a:t>展示 出展説明に掲載 2026公式カタログ掲載・現地未確認</a:t>
            </a:r>
          </a:p>
          <a:p xmlns:a="http://schemas.openxmlformats.org/drawingml/2006/main">
            <a:r>
              <a:t>入力 詳細な入力仕様・取得信号は今回の出展説明では未特定。</a:t>
            </a:r>
          </a:p>
          <a:p xmlns:a="http://schemas.openxmlformats.org/drawingml/2006/main">
            <a:r>
              <a:t>方式 ロボットによるコレット交換、外部計測、パレット供給を組み合わせる。</a:t>
            </a:r>
          </a:p>
          <a:p xmlns:a="http://schemas.openxmlformats.org/drawingml/2006/main">
            <a:r>
              <a:t>出力 ロボットによるコレット交換、外部計測、パレット供給を組み合わせる。</a:t>
            </a:r>
          </a:p>
          <a:p xmlns:a="http://schemas.openxmlformats.org/drawingml/2006/main">
            <a:r>
              <a:t>人 教示・段取り条件、運転開始、停止後の復帰を誰が行うかは未確認。</a:t>
            </a:r>
          </a:p>
          <a:p xmlns:a="http://schemas.openxmlformats.org/drawingml/2006/main">
            <a:r>
              <a:t>限界 個別モデル・設定条件・適用限界・人の残作業を未確認として残す。</a:t>
            </a:r>
          </a:p>
          <a:p xmlns:a="http://schemas.openxmlformats.org/drawingml/2006/main">
            <a:r>
              <a:t>現地 TMA8F／VA3S 自動供給・計測の対象品種・変更条件は何か。検査・計測・補正で人が設定する内容、異常時の停止・復帰、他工程との接続仕様を確認する。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EEX-EXH-2026-32c10384bbcaec00 株式会社ツガミ JIMTOF2026公式出展説明：株式会社ツガミ (S1004)</a:t>
            </a:r>
          </a:p>
          <a:p xmlns:a="http://schemas.openxmlformats.org/drawingml/2006/main">
            <a:r>
              <a:t>https://www.jimtof.org/search/jp/ESdetails?e=fKOIqkxqaBI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EEX-EXH-2024-10616a1e9396f3d8 株式会社ツガミ JIMTOF2024公式出展説明：株式会社ツガミ (E6018)</a:t>
            </a:r>
          </a:p>
          <a:p xmlns:a="http://schemas.openxmlformats.org/drawingml/2006/main">
            <a:r>
              <a:t>https://www.jimtof.org/2024/search/jp/ESdetails?e=5KpFSEqJrhg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AC042 オーエスジー株式会社 MONOlith BOX 工具管理</a:t>
            </a:r>
          </a:p>
          <a:p xmlns:a="http://schemas.openxmlformats.org/drawingml/2006/main">
            <a:r>
              <a:t>小間 W1070</a:t>
            </a:r>
          </a:p>
          <a:p xmlns:a="http://schemas.openxmlformats.org/drawingml/2006/main">
            <a:r>
              <a:t>展示 出展説明に掲載 2026公式カタログ掲載・現地未確認</a:t>
            </a:r>
          </a:p>
          <a:p xmlns:a="http://schemas.openxmlformats.org/drawingml/2006/main">
            <a:r>
              <a:t>入力 詳細な入力仕様・取得信号は今回の出展説明では未特定。</a:t>
            </a:r>
          </a:p>
          <a:p xmlns:a="http://schemas.openxmlformats.org/drawingml/2006/main">
            <a:r>
              <a:t>方式 工具保管・在庫管理の省力化を提案。自動払出し・計数と手入力の区分は未確認。</a:t>
            </a:r>
          </a:p>
          <a:p xmlns:a="http://schemas.openxmlformats.org/drawingml/2006/main">
            <a:r>
              <a:t>出力 工具保管・在庫管理の省力化を提案。自動払出し・計数と手入力の区分は未確認。</a:t>
            </a:r>
          </a:p>
          <a:p xmlns:a="http://schemas.openxmlformats.org/drawingml/2006/main">
            <a:r>
              <a:t>人 教示・段取り条件、運転開始、停止後の復帰を誰が行うかは未確認。</a:t>
            </a:r>
          </a:p>
          <a:p xmlns:a="http://schemas.openxmlformats.org/drawingml/2006/main">
            <a:r>
              <a:t>限界 個別モデル・設定条件・適用限界・人の残作業を未確認として残す。</a:t>
            </a:r>
          </a:p>
          <a:p xmlns:a="http://schemas.openxmlformats.org/drawingml/2006/main">
            <a:r>
              <a:t>現地 MONOlith BOX 工具管理の対象品種・変更条件は何か。生産計画・運用で人が設定する内容、異常時の停止・復帰、他工程との接続仕様を確認する。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EEX-EXH-2026-89ee86275a54f434 オーエスジー株式会社 JIMTOF2026公式出展説明：オーエスジー株式会社 (W1070)</a:t>
            </a:r>
          </a:p>
          <a:p xmlns:a="http://schemas.openxmlformats.org/drawingml/2006/main">
            <a:r>
              <a:t>https://www.jimtof.org/search/jp/ESdetails?e=AooPnMJlHW4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EEX-EXH-2024-9a837f72519b8764 オーエスジー株式会社 JIMTOF2024公式出展説明：オーエスジー株式会社 (W1020)</a:t>
            </a:r>
          </a:p>
          <a:p xmlns:a="http://schemas.openxmlformats.org/drawingml/2006/main">
            <a:r>
              <a:t>https://www.jimtof.org/2024/search/jp/ESdetails?e=soucpoaRRyI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AC062 京セラ株式会社 VIMOA 工具・加工監視</a:t>
            </a:r>
          </a:p>
          <a:p xmlns:a="http://schemas.openxmlformats.org/drawingml/2006/main">
            <a:r>
              <a:t>小間 W1046</a:t>
            </a:r>
          </a:p>
          <a:p xmlns:a="http://schemas.openxmlformats.org/drawingml/2006/main">
            <a:r>
              <a:t>展示 出展説明に掲載 2026公式カタログ掲載・現地未確認</a:t>
            </a:r>
          </a:p>
          <a:p xmlns:a="http://schemas.openxmlformats.org/drawingml/2006/main">
            <a:r>
              <a:t>入力 詳細な入力仕様・取得信号は今回の出展説明では未特定。</a:t>
            </a:r>
          </a:p>
          <a:p xmlns:a="http://schemas.openxmlformats.org/drawingml/2006/main">
            <a:r>
              <a:t>方式 加工状態の監視と工具選定支援を紹介。自動検知の条件と学習モデルの有無は未確認。</a:t>
            </a:r>
          </a:p>
          <a:p xmlns:a="http://schemas.openxmlformats.org/drawingml/2006/main">
            <a:r>
              <a:t>出力 加工状態の監視と工具選定支援を紹介。自動検知の条件と学習モデルの有無は未確認。</a:t>
            </a:r>
          </a:p>
          <a:p xmlns:a="http://schemas.openxmlformats.org/drawingml/2006/main">
            <a:r>
              <a:t>人 教示・段取り条件、運転開始、停止後の復帰を誰が行うかは未確認。</a:t>
            </a:r>
          </a:p>
          <a:p xmlns:a="http://schemas.openxmlformats.org/drawingml/2006/main">
            <a:r>
              <a:t>限界 個別モデル・設定条件・適用限界・人の残作業を未確認として残す。</a:t>
            </a:r>
          </a:p>
          <a:p xmlns:a="http://schemas.openxmlformats.org/drawingml/2006/main">
            <a:r>
              <a:t>現地 VIMOA 工具・加工監視の対象品種・変更条件は何か。保全・異常診断で人が設定する内容、異常時の停止・復帰、他工程との接続仕様を確認する。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EEX-EXH-2026-916418fd838030de 京セラ株式会社 JIMTOF2026公式出展説明：京セラ株式会社 (W1046)</a:t>
            </a:r>
          </a:p>
          <a:p xmlns:a="http://schemas.openxmlformats.org/drawingml/2006/main">
            <a:r>
              <a:t>https://www.jimtof.org/search/jp/ESdetails?e=E4SA18YM2G4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EEX-EXH-2024-52636389a1fe85b6 京セラ株式会社 JIMTOF2024公式出展説明：京セラ株式会社 (W1014)</a:t>
            </a:r>
          </a:p>
          <a:p xmlns:a="http://schemas.openxmlformats.org/drawingml/2006/main">
            <a:r>
              <a:t>https://www.jimtof.org/2024/search/jp/ESdetails?e=0vdiPA6Ji_M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AC132 株式会社タンガロイ MATRIX360 工具管理</a:t>
            </a:r>
          </a:p>
          <a:p xmlns:a="http://schemas.openxmlformats.org/drawingml/2006/main">
            <a:r>
              <a:t>小間 W1090</a:t>
            </a:r>
          </a:p>
          <a:p xmlns:a="http://schemas.openxmlformats.org/drawingml/2006/main">
            <a:r>
              <a:t>展示 出展説明に掲載 2026公式カタログ掲載・現地未確認</a:t>
            </a:r>
          </a:p>
          <a:p xmlns:a="http://schemas.openxmlformats.org/drawingml/2006/main">
            <a:r>
              <a:t>入力 詳細な入力仕様・取得信号は今回の出展説明では未特定。</a:t>
            </a:r>
          </a:p>
          <a:p xmlns:a="http://schemas.openxmlformats.org/drawingml/2006/main">
            <a:r>
              <a:t>方式 工具保管・在庫把握・払出しの管理を支援する。自動購買・払出しの実装範囲を確認する。</a:t>
            </a:r>
          </a:p>
          <a:p xmlns:a="http://schemas.openxmlformats.org/drawingml/2006/main">
            <a:r>
              <a:t>出力 工具保管・在庫把握・払出しの管理を支援する。自動購買・払出しの実装範囲を確認する。</a:t>
            </a:r>
          </a:p>
          <a:p xmlns:a="http://schemas.openxmlformats.org/drawingml/2006/main">
            <a:r>
              <a:t>人 教示・段取り条件、運転開始、停止後の復帰を誰が行うかは未確認。</a:t>
            </a:r>
          </a:p>
          <a:p xmlns:a="http://schemas.openxmlformats.org/drawingml/2006/main">
            <a:r>
              <a:t>限界 個別モデル・設定条件・適用限界・人の残作業を未確認として残す。</a:t>
            </a:r>
          </a:p>
          <a:p xmlns:a="http://schemas.openxmlformats.org/drawingml/2006/main">
            <a:r>
              <a:t>現地 MATRIX360 工具管理の対象品種・変更条件は何か。生産計画・運用で人が設定する内容、異常時の停止・復帰、他工程との接続仕様を確認する。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EEX-EXH-2026-b1217429663a31e7 株式会社タンガロイ JIMTOF2026公式出展説明：株式会社タンガロイ (W1090)</a:t>
            </a:r>
          </a:p>
          <a:p xmlns:a="http://schemas.openxmlformats.org/drawingml/2006/main">
            <a:r>
              <a:t>https://www.jimtof.org/search/jp/ESdetails?e=VUyVyFPIn2Q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EEX-EXH-2024-fad88568a77814de 株式会社タンガロイ JIMTOF2024公式出展説明：株式会社タンガロイ (W1021)</a:t>
            </a:r>
          </a:p>
          <a:p xmlns:a="http://schemas.openxmlformats.org/drawingml/2006/main">
            <a:r>
              <a:t>https://www.jimtof.org/2024/search/jp/ESdetails?e=vm3yerTfsk0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FC032 ミツトヨ 自動測定／MiCAT Planner・MiBOT系</a:t>
            </a:r>
          </a:p>
          <a:p xmlns:a="http://schemas.openxmlformats.org/drawingml/2006/main">
            <a:r>
              <a:t>小間 E7085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CAD・測定対象・測定結果</a:t>
            </a:r>
          </a:p>
          <a:p xmlns:a="http://schemas.openxmlformats.org/drawingml/2006/main">
            <a:r>
              <a:t>方式 測定プログラム作成と測定作業を自動化</a:t>
            </a:r>
          </a:p>
          <a:p xmlns:a="http://schemas.openxmlformats.org/drawingml/2006/main">
            <a:r>
              <a:t>出力 測定結果・品質情報</a:t>
            </a:r>
          </a:p>
          <a:p xmlns:a="http://schemas.openxmlformats.org/drawingml/2006/main">
            <a:r>
              <a:t>人 計測から加工補正への全機種接続は未確認</a:t>
            </a:r>
          </a:p>
          <a:p xmlns:a="http://schemas.openxmlformats.org/drawingml/2006/main">
            <a:r>
              <a:t>限界 計測から機械への自動補正の全機種対応は未確認</a:t>
            </a:r>
          </a:p>
          <a:p xmlns:a="http://schemas.openxmlformats.org/drawingml/2006/main">
            <a:r>
              <a:t>現地 自動測定／MiCAT Planner・MiBOT系の対象品種・変更条件は何か。寸法・形状計測で人が設定する内容、異常時の停止・復帰、他工程との接続仕様を確認する。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EOV-V017-2024-1 株式会社ミツトヨ JIMTOF2024公式カタログ：株式会社ミツトヨ (E7131)</a:t>
            </a:r>
          </a:p>
          <a:p xmlns:a="http://schemas.openxmlformats.org/drawingml/2006/main">
            <a:r>
              <a:t>https://www.jimtof.org/2024/search/jp/ESdetails?e=1CDoltPa9rk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EOV-V017-2026-1 株式会社ミツトヨ JIMTOF2026公式カタログ：株式会社ミツトヨ (E7085)</a:t>
            </a:r>
          </a:p>
          <a:p xmlns:a="http://schemas.openxmlformats.org/drawingml/2006/main">
            <a:r>
              <a:t>https://www.jimtof.org/search/jp/ESdetails?e=a7y3JtW8DXM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FC033 レニショー Renishaw Central＋IPC</a:t>
            </a:r>
          </a:p>
          <a:p xmlns:a="http://schemas.openxmlformats.org/drawingml/2006/main">
            <a:r>
              <a:t>小間 E7089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計測、装置状態、アラーム</a:t>
            </a:r>
          </a:p>
          <a:p xmlns:a="http://schemas.openxmlformats.org/drawingml/2006/main">
            <a:r>
              <a:t>方式 測定・加工状態・アラームをオンプレミスに収集。IPCで測定結果から工作機械の変数へ補正を返す。</a:t>
            </a:r>
          </a:p>
          <a:p xmlns:a="http://schemas.openxmlformats.org/drawingml/2006/main">
            <a:r>
              <a:t>出力 加工へのクローズドループ補正</a:t>
            </a:r>
          </a:p>
          <a:p xmlns:a="http://schemas.openxmlformats.org/drawingml/2006/main">
            <a:r>
              <a:t>人 測定・補正対象と許容範囲の設定、アラーム時の処置。補正承認条件は要確認。</a:t>
            </a:r>
          </a:p>
          <a:p xmlns:a="http://schemas.openxmlformats.org/drawingml/2006/main">
            <a:r>
              <a:t>限界 どの寸法がどのオフセットを変えるか。誤計測時の補正抑止と顧客実績を確認する。</a:t>
            </a:r>
          </a:p>
          <a:p xmlns:a="http://schemas.openxmlformats.org/drawingml/2006/main">
            <a:r>
              <a:t>現地 Renishaw Central＋IPCの対象品種・変更条件は何か。測定から加工へ補正で人が設定する内容、異常時の停止・復帰、他工程との接続仕様を確認する。</a:t>
            </a:r>
          </a:p>
          <a:p xmlns:a="http://schemas.openxmlformats.org/drawingml/2006/main">
            <a:r>
              <a:t>確認 今回原典照合</a:t>
            </a:r>
          </a:p>
          <a:p xmlns:a="http://schemas.openxmlformats.org/drawingml/2006/main">
            <a:r>
              <a:t>AR17 レニショー Renishaw Central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掲載位置 IPC／工作機械への補正／ダッシュボード</a:t>
            </a:r>
          </a:p>
          <a:p xmlns:a="http://schemas.openxmlformats.org/drawingml/2006/main">
            <a:r>
              <a:t>確認 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EOV-V018-2024-1 レニショー株式会社 JIMTOF2024公式カタログ：レニショー株式会社 (E7026)</a:t>
            </a:r>
          </a:p>
          <a:p xmlns:a="http://schemas.openxmlformats.org/drawingml/2006/main">
            <a:r>
              <a:t>https://www.jimtof.org/2024/search/jp/ESdetails?e=ekM3exgIAtc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EOV-V018-2026-1 レニショー株式会社 JIMTOF2026公式カタログ：レニショー株式会社 (E7089)</a:t>
            </a:r>
          </a:p>
          <a:p xmlns:a="http://schemas.openxmlformats.org/drawingml/2006/main">
            <a:r>
              <a:t>https://www.jimtof.org/search/jp/ESdetails?e=pYGmVz5GC1c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FC038 ハイデンハイン VT122＋VTC 6.0</a:t>
            </a:r>
          </a:p>
          <a:p xmlns:a="http://schemas.openxmlformats.org/drawingml/2006/main">
            <a:r>
              <a:t>小間 E7043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工具画像</a:t>
            </a:r>
          </a:p>
          <a:p xmlns:a="http://schemas.openxmlformats.org/drawingml/2006/main">
            <a:r>
              <a:t>方式 VTC 6.0のAI摩耗診断・工具長機能</a:t>
            </a:r>
          </a:p>
          <a:p xmlns:a="http://schemas.openxmlformats.org/drawingml/2006/main">
            <a:r>
              <a:t>出力 摩耗状態の診断・工具検査</a:t>
            </a:r>
          </a:p>
          <a:p xmlns:a="http://schemas.openxmlformats.org/drawingml/2006/main">
            <a:r>
              <a:t>人 交換指示・自動交換までの接続は未確認</a:t>
            </a:r>
          </a:p>
          <a:p xmlns:a="http://schemas.openxmlformats.org/drawingml/2006/main">
            <a:r>
              <a:t>限界 判定精度・対応工具・交換判断への接続は未確認</a:t>
            </a:r>
          </a:p>
          <a:p xmlns:a="http://schemas.openxmlformats.org/drawingml/2006/main">
            <a:r>
              <a:t>現地 VT122＋VTC 6.0の対象品種・変更条件は何か。刃先・摩耗判定で人が設定する内容、異常時の停止・復帰、他工程との接続仕様を確認する。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EOV-V023-2024-1 ハイデンハイン株式会社 JIMTOF2024公式カタログ：ハイデンハイン株式会社 (E7123)</a:t>
            </a:r>
          </a:p>
          <a:p xmlns:a="http://schemas.openxmlformats.org/drawingml/2006/main">
            <a:r>
              <a:t>https://www.jimtof.org/2024/search/jp/ESdetails?e=GFSwCXSxe9o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EOV-V023-2026-1 ハイデンハイン株式会社 JIMTOF2026公式カタログ：ハイデンハイン株式会社 (E7043)</a:t>
            </a:r>
          </a:p>
          <a:p xmlns:a="http://schemas.openxmlformats.org/drawingml/2006/main">
            <a:r>
              <a:t>https://www.jimtof.org/search/jp/ESdetails?e=iohDR5yR9VA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FC011 ベッコフオートメーション TwinCAT CoAgent for Engineering：PLC</a:t>
            </a:r>
          </a:p>
          <a:p xmlns:a="http://schemas.openxmlformats.org/drawingml/2006/main">
            <a:r>
              <a:t>小間 E2028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自然言語の制御要求、既存TwinCATプロジェクト、Beckhoffの文書</a:t>
            </a:r>
          </a:p>
          <a:p xmlns:a="http://schemas.openxmlformats.org/drawingml/2006/main">
            <a:r>
              <a:t>方式 要求とプロジェクト文脈からPLCコード案を提案</a:t>
            </a:r>
          </a:p>
          <a:p xmlns:a="http://schemas.openxmlformats.org/drawingml/2006/main">
            <a:r>
              <a:t>出力 TwinCAT開発環境でPLCコード案を生成。コンパイル・実機書込み・制御開始まで自動とは未確認</a:t>
            </a:r>
          </a:p>
          <a:p xmlns:a="http://schemas.openxmlformats.org/drawingml/2006/main">
            <a:r>
              <a:t>人 公式：設計者が要求やスケッチを入力。機種・プロジェクトを準備／公式2025/6/13：専門家が生成結果を確認・確定・実行承認する方針。コンパイル・実機書込み・起動の個別画面と権限は未確認／未記載：誤った関数・I/O設定時の自動検証、ロールバック</a:t>
            </a:r>
          </a:p>
          <a:p xmlns:a="http://schemas.openxmlformats.org/drawingml/2006/main">
            <a:r>
              <a:t>限界 製品発表段階・市場投入時期は要問合せ。提案と実機制御を混同しない</a:t>
            </a:r>
          </a:p>
          <a:p xmlns:a="http://schemas.openxmlformats.org/drawingml/2006/main">
            <a:r>
              <a:t>現地 TwinCAT CoAgent for Engineering：PLCの対象品種・変更条件は何か。PLCコード作成で人が設定する内容、異常時の停止・復帰、他工程との接続仕様を確認する。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EOV-V005-2026-1 ベッコフオートメーション株式会社 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EAT-N03 Beckhoff CoAgent for Engineering TE1700</a:t>
            </a:r>
          </a:p>
          <a:p xmlns:a="http://schemas.openxmlformats.org/drawingml/2006/main">
            <a:r>
              <a:t>https://www.beckhoff.com/ko-kr/products/automation/twincat/texxxx-twincat-3-engineering/te1700.html</a:t>
            </a:r>
          </a:p>
          <a:p xmlns:a="http://schemas.openxmlformats.org/drawingml/2006/main">
            <a:r>
              <a:t>掲載位置 Features／Product status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EAT-N05 Beckhoff TwinCAT projects with AI-assisted engineering</a:t>
            </a:r>
          </a:p>
          <a:p xmlns:a="http://schemas.openxmlformats.org/drawingml/2006/main">
            <a:r>
              <a:t>https://www.beckhoff.com/ko-kr/products/automation/twincat-projects-with-ai-supported-engineering/</a:t>
            </a:r>
          </a:p>
          <a:p xmlns:a="http://schemas.openxmlformats.org/drawingml/2006/main">
            <a:r>
              <a:t>掲載位置 CoAgents for development and machine operation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 Beckhoff 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掲載位置 TwinCAT XAE／コード作成・追加・最適化・文書化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ERF-01 Beckhoff From chatbot to intelligent agent</a:t>
            </a:r>
          </a:p>
          <a:p xmlns:a="http://schemas.openxmlformats.org/drawingml/2006/main">
            <a:r>
              <a:t>https://www.beckhoff.com/en-gb/company/news/from-chatbot-to-intelligent-agent.html</a:t>
            </a:r>
          </a:p>
          <a:p xmlns:a="http://schemas.openxmlformats.org/drawingml/2006/main">
            <a:r>
              <a:t>掲載位置 2025/6/13／Placing people at the heart of automation；PLC・I/O・HMI、専門家がreview・confirm・approve</a:t>
            </a:r>
          </a:p>
          <a:p xmlns:a="http://schemas.openxmlformats.org/drawingml/2006/main">
            <a:r>
              <a:t>確認 2026-10-18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FC012 ベッコフオートメーション TwinCAT CoAgent for Engineering：I/O・HMI</a:t>
            </a:r>
          </a:p>
          <a:p xmlns:a="http://schemas.openxmlformats.org/drawingml/2006/main">
            <a:r>
              <a:t>小間 E2028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自然言語のI/O構成要求、既存プロジェクト、HMIのスケッチ</a:t>
            </a:r>
          </a:p>
          <a:p xmlns:a="http://schemas.openxmlformats.org/drawingml/2006/main">
            <a:r>
              <a:t>方式 チャットでI/O構成案、スケッチからHMIレイアウト・設計案を提案</a:t>
            </a:r>
          </a:p>
          <a:p xmlns:a="http://schemas.openxmlformats.org/drawingml/2006/main">
            <a:r>
              <a:t>出力 I/O設定とHMI画面の案を作成。機器接続確認・実機への適用権限は未公開</a:t>
            </a:r>
          </a:p>
          <a:p xmlns:a="http://schemas.openxmlformats.org/drawingml/2006/main">
            <a:r>
              <a:t>人 公式：設計者が要求やスケッチを入力。機種・プロジェクトを準備／公式2025/6/13：人が結果を確認・調整し、実行を承認する方針。I/O・HMIの変更反映、実機適用の個別権限は未確認／未記載：誤った関数・I/O設定時の自動検証、ロールバック</a:t>
            </a:r>
          </a:p>
          <a:p xmlns:a="http://schemas.openxmlformats.org/drawingml/2006/main">
            <a:r>
              <a:t>限界 製品発表段階・市場投入時期は要問合せ。提案と実機制御を混同しない</a:t>
            </a:r>
          </a:p>
          <a:p xmlns:a="http://schemas.openxmlformats.org/drawingml/2006/main">
            <a:r>
              <a:t>現地 TwinCAT CoAgent for Engineering：I/O・HMIの対象品種・変更条件は何か。I/O・HMI設計で人が設定する内容、異常時の停止・復帰、他工程との接続仕様を確認する。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EOV-V005-2026-1 ベッコフオートメーション株式会社 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EAT-N03 Beckhoff CoAgent for Engineering TE1700</a:t>
            </a:r>
          </a:p>
          <a:p xmlns:a="http://schemas.openxmlformats.org/drawingml/2006/main">
            <a:r>
              <a:t>https://www.beckhoff.com/ko-kr/products/automation/twincat/texxxx-twincat-3-engineering/te1700.html</a:t>
            </a:r>
          </a:p>
          <a:p xmlns:a="http://schemas.openxmlformats.org/drawingml/2006/main">
            <a:r>
              <a:t>掲載位置 Features／Product status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EAT-N05 Beckhoff TwinCAT projects with AI-assisted engineering</a:t>
            </a:r>
          </a:p>
          <a:p xmlns:a="http://schemas.openxmlformats.org/drawingml/2006/main">
            <a:r>
              <a:t>https://www.beckhoff.com/ko-kr/products/automation/twincat-projects-with-ai-supported-engineering/</a:t>
            </a:r>
          </a:p>
          <a:p xmlns:a="http://schemas.openxmlformats.org/drawingml/2006/main">
            <a:r>
              <a:t>掲載位置 CoAgents for development and machine operation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 Beckhoff 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掲載位置 TwinCAT XAE／コード作成・追加・最適化・文書化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ERF-01 Beckhoff From chatbot to intelligent agent</a:t>
            </a:r>
          </a:p>
          <a:p xmlns:a="http://schemas.openxmlformats.org/drawingml/2006/main">
            <a:r>
              <a:t>https://www.beckhoff.com/en-gb/company/news/from-chatbot-to-intelligent-agent.html</a:t>
            </a:r>
          </a:p>
          <a:p xmlns:a="http://schemas.openxmlformats.org/drawingml/2006/main">
            <a:r>
              <a:t>掲載位置 2025/6/13／Placing people at the heart of automation；PLC・I/O・HMI、専門家がreview・confirm・approve</a:t>
            </a:r>
          </a:p>
          <a:p xmlns:a="http://schemas.openxmlformats.org/drawingml/2006/main">
            <a:r>
              <a:t>確認 2026-10-18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FC013 ベッコフオートメーション TwinCAT CoAgent for Operations</a:t>
            </a:r>
          </a:p>
          <a:p xmlns:a="http://schemas.openxmlformats.org/drawingml/2006/main">
            <a:r>
              <a:t>小間 E2028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自然言語、ライブデータ、ログ、システムメッセージ、顧客の保守文書</a:t>
            </a:r>
          </a:p>
          <a:p xmlns:a="http://schemas.openxmlformats.org/drawingml/2006/main">
            <a:r>
              <a:t>方式 原因仮説・診断・対処案を機械・工程データと文書に基づいて作成</a:t>
            </a:r>
          </a:p>
          <a:p xmlns:a="http://schemas.openxmlformats.org/drawingml/2006/main">
            <a:r>
              <a:t>出力 チャットからTwinCATコマンド実行・可視化照会を説明。許可コマンドの範囲は非開示</a:t>
            </a:r>
          </a:p>
          <a:p xmlns:a="http://schemas.openxmlformats.org/drawingml/2006/main">
            <a:r>
              <a:t>人 公式：自社保守手順・知識ベースを追加できる／公式：専門家が制御権を保持。毎回承認の有無、書込先・コマンド権限は未確認／未記載：コマンド失敗時の復旧、二重実行、誤診断からの引継ぎ</a:t>
            </a:r>
          </a:p>
          <a:p xmlns:a="http://schemas.openxmlformats.org/drawingml/2006/main">
            <a:r>
              <a:t>限界 10/18の製品ページでも製品発表・投入時期要問合せ。命令ごとの許可・人の承認・二重実行防止・失敗復帰は未記載。Engineeringの承認方針だけでOperationsの毎回承認を断定しない</a:t>
            </a:r>
          </a:p>
          <a:p xmlns:a="http://schemas.openxmlformats.org/drawingml/2006/main">
            <a:r>
              <a:t>現地 TwinCAT CoAgent for Operationsの対象品種・変更条件は何か。保全診断・知識支援で人が設定する内容、異常時の停止・復帰、他工程との接続仕様を確認する。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EOV-V005-2026-1 ベッコフオートメーション株式会社 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EAT-N04 Beckhoff CoAgent for Operations TF1700</a:t>
            </a:r>
          </a:p>
          <a:p xmlns:a="http://schemas.openxmlformats.org/drawingml/2006/main">
            <a:r>
              <a:t>https://www.beckhoff.com/ko-kr/products/automation/twincat/tfxxxx-twincat-3-functions/tf1xxx-system/tf1700.html</a:t>
            </a:r>
          </a:p>
          <a:p xmlns:a="http://schemas.openxmlformats.org/drawingml/2006/main">
            <a:r>
              <a:t>掲載位置 Properties／Product status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EAT-N05 Beckhoff TwinCAT projects with AI-assisted engineering</a:t>
            </a:r>
          </a:p>
          <a:p xmlns:a="http://schemas.openxmlformats.org/drawingml/2006/main">
            <a:r>
              <a:t>https://www.beckhoff.com/ko-kr/products/automation/twincat-projects-with-ai-supported-engineering/</a:t>
            </a:r>
          </a:p>
          <a:p xmlns:a="http://schemas.openxmlformats.org/drawingml/2006/main">
            <a:r>
              <a:t>掲載位置 CoAgents for development and machine operation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 Beckhoff 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掲載位置 TwinCAT XAE／コード作成・追加・最適化・文書化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ERF-02 Beckhoff TF1700 CoAgent for Operations</a:t>
            </a:r>
          </a:p>
          <a:p xmlns:a="http://schemas.openxmlformats.org/drawingml/2006/main">
            <a:r>
              <a:t>https://www.beckhoff.com/en-en/products/automation/twincat/tfxxxx-twincat-3-functions/tf1xxx-system/tf1700.html</a:t>
            </a:r>
          </a:p>
          <a:p xmlns:a="http://schemas.openxmlformats.org/drawingml/2006/main">
            <a:r>
              <a:t>掲載位置 Properties／direct system access；Product status／market release on request</a:t>
            </a:r>
          </a:p>
          <a:p xmlns:a="http://schemas.openxmlformats.org/drawingml/2006/main">
            <a:r>
              <a:t>確認 2026-10-18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FC014 ベッコフオートメーション TwinCAT Machine Learning Creator</a:t>
            </a:r>
          </a:p>
          <a:p xmlns:a="http://schemas.openxmlformats.org/drawingml/2006/main">
            <a:r>
              <a:t>小間 E2028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人が収集・整理した学習用データと課題設定</a:t>
            </a:r>
          </a:p>
          <a:p xmlns:a="http://schemas.openxmlformats.org/drawingml/2006/main">
            <a:r>
              <a:t>方式 学習・モデル選択／最適化を自動化。訓練とテストに分けてモデルを解析</a:t>
            </a:r>
          </a:p>
          <a:p xmlns:a="http://schemas.openxmlformats.org/drawingml/2006/main">
            <a:r>
              <a:t>出力 モデルをONNX等で出力し制御へ導入。モデルが実機で何を判断するかは用途ごとに別設定</a:t>
            </a:r>
          </a:p>
          <a:p xmlns:a="http://schemas.openxmlformats.org/drawingml/2006/main">
            <a:r>
              <a:t>人 公式：データ準備・アノテーション・目的を設定する工程／公式：解析・レポートでモデル評価を支援。実機採用基準と承認者は要確認／未記載：ドリフト検出・再学習採否・モデル差替え失敗時の復帰</a:t>
            </a:r>
          </a:p>
          <a:p xmlns:a="http://schemas.openxmlformats.org/drawingml/2006/main">
            <a:r>
              <a:t>限界 AutoMLを備えるだけで実機が自律運転するとはいえない</a:t>
            </a:r>
          </a:p>
          <a:p xmlns:a="http://schemas.openxmlformats.org/drawingml/2006/main">
            <a:r>
              <a:t>現地 TwinCAT Machine Learning Creatorの対象品種・変更条件は何か。学習モデル実装で人が設定する内容、異常時の停止・復帰、他工程との接続仕様を確認する。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EOV-V005-2026-1 ベッコフオートメーション株式会社 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EOV-W01 Beckhoff TwinCAT 3 Machine Learning Creator</a:t>
            </a:r>
          </a:p>
          <a:p xmlns:a="http://schemas.openxmlformats.org/drawingml/2006/main">
            <a:r>
              <a:t>https://www.beckhoff.com/en-za/products/automation/twincat/texxxx-twincat-3-engineering/te3850.html</a:t>
            </a:r>
          </a:p>
          <a:p xmlns:a="http://schemas.openxmlformats.org/drawingml/2006/main">
            <a:r>
              <a:t>掲載位置 製品説明冒頭、Product status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EDP-04 Beckhoff PC Control 02/2024：Machine Learning Creator</a:t>
            </a:r>
          </a:p>
          <a:p xmlns:a="http://schemas.openxmlformats.org/drawingml/2006/main">
            <a:r>
              <a:t>https://www.beckhoff.com/media/downloads/information-media/pc-control/pcc_0224_e.pdf</a:t>
            </a:r>
          </a:p>
          <a:p xmlns:a="http://schemas.openxmlformats.org/drawingml/2006/main">
            <a:r>
              <a:t>掲載位置 TE3850／訓練・テストデータ分割、モデル解析、ONNX出力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FC015 ベッコフオートメーション TwinCAT CNC：切削信号の解析・独自制御</a:t>
            </a:r>
          </a:p>
          <a:p xmlns:a="http://schemas.openxmlformats.org/drawingml/2006/main">
            <a:r>
              <a:t>小間 E2028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多様なセンサ信号・制御情報</a:t>
            </a:r>
          </a:p>
          <a:p xmlns:a="http://schemas.openxmlformats.org/drawingml/2006/main">
            <a:r>
              <a:t>方式 高速サンプリング・FFT・C++／Simulinkの独自ロジックを接続</a:t>
            </a:r>
          </a:p>
          <a:p xmlns:a="http://schemas.openxmlformats.org/drawingml/2006/main">
            <a:r>
              <a:t>出力 切削状態モニタリング・独自CNCフィードバック</a:t>
            </a:r>
          </a:p>
          <a:p xmlns:a="http://schemas.openxmlformats.org/drawingml/2006/main">
            <a:r>
              <a:t>人 制御ロジック設計・安定性確認・機種適合は開発者の範囲。AI使用は必須ではない</a:t>
            </a:r>
          </a:p>
          <a:p xmlns:a="http://schemas.openxmlformats.org/drawingml/2006/main">
            <a:r>
              <a:t>限界 開放性は機種依存。AIモデル作成と生成AI支援を区別</a:t>
            </a:r>
          </a:p>
          <a:p xmlns:a="http://schemas.openxmlformats.org/drawingml/2006/main">
            <a:r>
              <a:t>現地 TwinCAT CNC：切削信号の解析・独自制御の対象品種・変更条件は何か。加工信号解析で人が設定する内容、異常時の停止・復帰、他工程との接続仕様を確認する。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EOV-V005-2026-1 ベッコフオートメーション株式会社 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FC018 Hexagon Manufacturing Intelligence ESPRIT EDGE ProPlanAI</a:t>
            </a:r>
          </a:p>
          <a:p xmlns:a="http://schemas.openxmlformats.org/drawingml/2006/main">
            <a:r>
              <a:t>小間 E2013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過去ジョブ、部品の特徴、PMI、素材除去の文脈</a:t>
            </a:r>
          </a:p>
          <a:p xmlns:a="http://schemas.openxmlformats.org/drawingml/2006/main">
            <a:r>
              <a:t>方式 自動特徴認識と工程予測。過去ジョブから新部品の加工工程を提案</a:t>
            </a:r>
          </a:p>
          <a:p xmlns:a="http://schemas.openxmlformats.org/drawingml/2006/main">
            <a:r>
              <a:t>出力 ESPRIT EDGE内の加工工程案を生成。2026.1は旋削・複合・スイス型に商用範囲を拡張</a:t>
            </a:r>
          </a:p>
          <a:p xmlns:a="http://schemas.openxmlformats.org/drawingml/2006/main">
            <a:r>
              <a:t>人 公式：過去ジョブを利用。分析：工具・機械・段取り等の整合確認が必要／推論：予測フィードバック画面で確認可能。最終NC採否・検証・実機実行の権限は未公開／未記載：履歴にない形状・工具欠品・異なる機械への対応と誤案修正</a:t>
            </a:r>
          </a:p>
          <a:p xmlns:a="http://schemas.openxmlformats.org/drawingml/2006/main">
            <a:r>
              <a:t>限界 2025.2は旋削beta、2026.1は商用化。JIMTOFで動くバージョン・加工条件は確認が必要</a:t>
            </a:r>
          </a:p>
          <a:p xmlns:a="http://schemas.openxmlformats.org/drawingml/2006/main">
            <a:r>
              <a:t>現地 ESPRIT EDGE ProPlanAIの対象品種・変更条件は何か。工程設計で人が設定する内容、異常時の停止・復帰、他工程との接続仕様を確認する。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EOV-V007-2026-2 Hexagon Manufacturing Intelligence株式会社 JIMTOF2026公式カタログ：Hexagon Manufacturing Intelligence株式会社 (E2013)</a:t>
            </a:r>
          </a:p>
          <a:p xmlns:a="http://schemas.openxmlformats.org/drawingml/2006/main">
            <a:r>
              <a:t>https://www.jimtof.org/search/jp/ESdetails?e=6l20Qo0pjl4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EOV-W02 Hexagon ESPRIT EDGE Release Highlights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掲載位置 2025.2 PROPLANAI、2026.1 ProPlanAI for Turning, Mill-Turn &amp; Swiss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FC019 Hexagon Manufacturing Intelligence MAESTRO／PRESTO／品質ソフト群</a:t>
            </a:r>
          </a:p>
          <a:p xmlns:a="http://schemas.openxmlformats.org/drawingml/2006/main">
            <a:r>
              <a:t>小間 E7035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寸法・形状・CT・品質データ</a:t>
            </a:r>
          </a:p>
          <a:p xmlns:a="http://schemas.openxmlformats.org/drawingml/2006/main">
            <a:r>
              <a:t>方式 測定機とPC-DMIS、VG、Q-Das等を紹介</a:t>
            </a:r>
          </a:p>
          <a:p xmlns:a="http://schemas.openxmlformats.org/drawingml/2006/main">
            <a:r>
              <a:t>出力 測定・解析・品質情報</a:t>
            </a:r>
          </a:p>
          <a:p xmlns:a="http://schemas.openxmlformats.org/drawingml/2006/main">
            <a:r>
              <a:t>人 個々の測定から加工への自動補正接続は未確認</a:t>
            </a:r>
          </a:p>
          <a:p xmlns:a="http://schemas.openxmlformats.org/drawingml/2006/main">
            <a:r>
              <a:t>限界 過去ジョブに基づく予測であり無条件に正しいNCを生成する保証ではない</a:t>
            </a:r>
          </a:p>
          <a:p xmlns:a="http://schemas.openxmlformats.org/drawingml/2006/main">
            <a:r>
              <a:t>現地 MAESTRO／PRESTO／品質ソフト群の対象品種・変更条件は何か。寸法・形状計測で人が設定する内容、異常時の停止・復帰、他工程との接続仕様を確認する。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EOV-V007-2026-1 Hexagon Manufacturing Intelligence株式会社 JIMTOF2026公式カタログ：Hexagon Manufacturing Intelligence株式会社 (E7035)</a:t>
            </a:r>
          </a:p>
          <a:p xmlns:a="http://schemas.openxmlformats.org/drawingml/2006/main">
            <a:r>
              <a:t>https://www.jimtof.org/search/jp/ESdetails?e=oUyVPjxvy-U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視察前資料／2026-10-23。主張・顧客課題・推奨理由は調査者の分析。メーカーの記載と性能の独立実証を区別。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FC048 中村留精密工業 RoboSync：移設後の位置復旧</a:t>
            </a:r>
          </a:p>
          <a:p xmlns:a="http://schemas.openxmlformats.org/drawingml/2006/main">
            <a:r>
              <a:t>小間 E2027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各設備のマーカ画像</a:t>
            </a:r>
          </a:p>
          <a:p xmlns:a="http://schemas.openxmlformats.org/drawingml/2006/main">
            <a:r>
              <a:t>方式 移動後にマーカを読み相対位置を補正</a:t>
            </a:r>
          </a:p>
          <a:p xmlns:a="http://schemas.openxmlformats.org/drawingml/2006/main">
            <a:r>
              <a:t>出力 再設置の位置合わせ</a:t>
            </a:r>
          </a:p>
          <a:p xmlns:a="http://schemas.openxmlformats.org/drawingml/2006/main">
            <a:r>
              <a:t>人 人の移設・復旧操作を含む。未知トラブルの自律復帰の証明ではない</a:t>
            </a:r>
          </a:p>
          <a:p xmlns:a="http://schemas.openxmlformats.org/drawingml/2006/main">
            <a:r>
              <a:t>限界 どの位置ずれを補正できるか。治具・台車が変わると何を再教示するか。</a:t>
            </a:r>
          </a:p>
          <a:p xmlns:a="http://schemas.openxmlformats.org/drawingml/2006/main">
            <a:r>
              <a:t>現地 RoboSync：移設後の位置復旧の対象品種・変更条件は何か。教示・位置合わせで人が設定する内容、異常時の停止・復帰、他工程との接続仕様を確認する。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EOV-V029-2024-1 中村留精密工業株式会社 JIMTOF2024公式カタログ：中村留精密工業株式会社 (E5033)</a:t>
            </a:r>
          </a:p>
          <a:p xmlns:a="http://schemas.openxmlformats.org/drawingml/2006/main">
            <a:r>
              <a:t>https://www.jimtof.org/2024/search/jp/ESdetails?e=RYK326OoMn4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EOV-V029-2026-1 中村留精密工業株式会社 JIMTOF2026公式カタログ：中村留精密工業株式会社 (E2027)</a:t>
            </a:r>
          </a:p>
          <a:p xmlns:a="http://schemas.openxmlformats.org/drawingml/2006/main">
            <a:r>
              <a:t>https://www.jimtof.org/search/jp/ESdetails?e=C7A_2ZTDXNw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EOV-W04 中村留精密工業 RoboSync</a:t>
            </a:r>
          </a:p>
          <a:p xmlns:a="http://schemas.openxmlformats.org/drawingml/2006/main">
            <a:r>
              <a:t>https://www.nakamura-tome.co.jp/products/automation/robosync/</a:t>
            </a:r>
          </a:p>
          <a:p xmlns:a="http://schemas.openxmlformats.org/drawingml/2006/main">
            <a:r>
              <a:t>掲載位置 製品の特長 &gt; 簡単復旧、簡単操作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AC198 株式会社FUJI VN40／TN400II／ACUFLEX</a:t>
            </a:r>
          </a:p>
          <a:p xmlns:a="http://schemas.openxmlformats.org/drawingml/2006/main">
            <a:r>
              <a:t>小間 E3021</a:t>
            </a:r>
          </a:p>
          <a:p xmlns:a="http://schemas.openxmlformats.org/drawingml/2006/main">
            <a:r>
              <a:t>展示 出展説明に掲載 2026公式カタログ掲載・現地未確認</a:t>
            </a:r>
          </a:p>
          <a:p xmlns:a="http://schemas.openxmlformats.org/drawingml/2006/main">
            <a:r>
              <a:t>入力 詳細な入力仕様・取得信号は今回の出展説明では未特定。</a:t>
            </a:r>
          </a:p>
          <a:p xmlns:a="http://schemas.openxmlformats.org/drawingml/2006/main">
            <a:r>
              <a:t>方式 加工・搬送を接続する自動化提案。Quist等の個別動作と担当範囲を確認する。</a:t>
            </a:r>
          </a:p>
          <a:p xmlns:a="http://schemas.openxmlformats.org/drawingml/2006/main">
            <a:r>
              <a:t>出力 加工・搬送を接続する自動化提案。Quist等の個別動作と担当範囲を確認する。</a:t>
            </a:r>
          </a:p>
          <a:p xmlns:a="http://schemas.openxmlformats.org/drawingml/2006/main">
            <a:r>
              <a:t>人 教示・段取り条件、運転開始、停止後の復帰を誰が行うかは未確認。</a:t>
            </a:r>
          </a:p>
          <a:p xmlns:a="http://schemas.openxmlformats.org/drawingml/2006/main">
            <a:r>
              <a:t>限界 個別モデル・設定条件・適用限界・人の残作業を未確認として残す。</a:t>
            </a:r>
          </a:p>
          <a:p xmlns:a="http://schemas.openxmlformats.org/drawingml/2006/main">
            <a:r>
              <a:t>現地 VN40／TN400II／ACUFLEXの対象品種・変更条件は何か。搬送・供給・工程接続で人が設定する内容、異常時の停止・復帰、他工程との接続仕様を確認する。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EEX-EXH-2026-c0de70c161714618 株式会社FUJI JIMTOF2026公式出展説明：株式会社FUJI (E3021)</a:t>
            </a:r>
          </a:p>
          <a:p xmlns:a="http://schemas.openxmlformats.org/drawingml/2006/main">
            <a:r>
              <a:t>https://www.jimtof.org/search/jp/ESdetails?e=xJlXi-VNzio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EEX-EXH-2024-e023ed8f23dcf72e 株式会社FUJI JIMTOF2024公式出展説明：株式会社FUJI (E6021)</a:t>
            </a:r>
          </a:p>
          <a:p xmlns:a="http://schemas.openxmlformats.org/drawingml/2006/main">
            <a:r>
              <a:t>https://www.jimtof.org/2024/search/jp/ESdetails?e=UZiobfgROkY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FC049 TAKISAWA TR-20W：主軸の切粉除去</a:t>
            </a:r>
          </a:p>
          <a:p xmlns:a="http://schemas.openxmlformats.org/drawingml/2006/main">
            <a:r>
              <a:t>小間 E3013</a:t>
            </a:r>
          </a:p>
          <a:p xmlns:a="http://schemas.openxmlformats.org/drawingml/2006/main">
            <a:r>
              <a:t>展示 参考出展予定 公式特設でTR20Wによる切粉の認識・判断・除去を参考出品と明記。</a:t>
            </a:r>
          </a:p>
          <a:p xmlns:a="http://schemas.openxmlformats.org/drawingml/2006/main">
            <a:r>
              <a:t>入力 主軸に絡まった切粉の状況。センサ種・学習データは非開示</a:t>
            </a:r>
          </a:p>
          <a:p xmlns:a="http://schemas.openxmlformats.org/drawingml/2006/main">
            <a:r>
              <a:t>方式 切粉の絡まり状況を認識・判断するとメーカーが説明</a:t>
            </a:r>
          </a:p>
          <a:p xmlns:a="http://schemas.openxmlformats.org/drawingml/2006/main">
            <a:r>
              <a:t>出力 台車型TR-20Wのロボットが主軸の切粉を除去する予定</a:t>
            </a:r>
          </a:p>
          <a:p xmlns:a="http://schemas.openxmlformats.org/drawingml/2006/main">
            <a:r>
              <a:t>人 未記載：対象切粉・機械配置・除去具の設定手順／未記載：動作前の承認、機械インターロックと許可範囲／未記載：除去失敗の検出・再試行・停止後の人への引継ぎ</a:t>
            </a:r>
          </a:p>
          <a:p xmlns:a="http://schemas.openxmlformats.org/drawingml/2006/main">
            <a:r>
              <a:t>限界 未知の絡まり、除去力・接触回避・完了確認・成功率は未確認。市販済みと扱わない</a:t>
            </a:r>
          </a:p>
          <a:p xmlns:a="http://schemas.openxmlformats.org/drawingml/2006/main">
            <a:r>
              <a:t>現地 未知の絡まり・絡まり方の変化への対応、認識センサ・学習法、接触力・除去完了判定、失敗後の再試行を確認。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EOV-V030-2024-1 株式会社TAKISAWA JIMTOF2024公式カタログ：株式会社TAKISAWA (E3013)</a:t>
            </a:r>
          </a:p>
          <a:p xmlns:a="http://schemas.openxmlformats.org/drawingml/2006/main">
            <a:r>
              <a:t>https://www.jimtof.org/2024/search/jp/ESdetails?e=K00DRD-BngA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EOV-V030-2026-1 株式会社TAKISAWA JIMTOF2026公式カタログ：株式会社TAKISAWA (E3013)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EAT-N01 ニデック JIMTOF2026 TR-20W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掲載位置 TR-20W：フィジカルAI搭載のロボットシステム（参考出品）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EAT-N02 ニデック MGC300開発発表</a:t>
            </a:r>
          </a:p>
          <a:p xmlns:a="http://schemas.openxmlformats.org/drawingml/2006/main">
            <a:r>
              <a:t>https://www.nidec.com/jp/product/news/2024/news1101-03/</a:t>
            </a:r>
          </a:p>
          <a:p xmlns:a="http://schemas.openxmlformats.org/drawingml/2006/main">
            <a:r>
              <a:t>掲載位置 2024年11月1日／MGC300の出展説明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ERF-13 ニデック／TAKISAWA JIMTOF2026：TR-20W参考出品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掲載位置 TAKISAWA／TR-20W、主軸の切粉認識・判断・除去、参考出品</a:t>
            </a:r>
          </a:p>
          <a:p xmlns:a="http://schemas.openxmlformats.org/drawingml/2006/main">
            <a:r>
              <a:t>確認 2026-10-18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FC023 オートデスク Fusion／FeatureCAM／PLM連携</a:t>
            </a:r>
          </a:p>
          <a:p xmlns:a="http://schemas.openxmlformats.org/drawingml/2006/main">
            <a:r>
              <a:t>小間 S3019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設計モデル・加工・製造関連データ</a:t>
            </a:r>
          </a:p>
          <a:p xmlns:a="http://schemas.openxmlformats.org/drawingml/2006/main">
            <a:r>
              <a:t>方式 CAD/CAMとPLM・AI支援を組み合わせる提案</a:t>
            </a:r>
          </a:p>
          <a:p xmlns:a="http://schemas.openxmlformats.org/drawingml/2006/main">
            <a:r>
              <a:t>出力 設計製造の情報連携</a:t>
            </a:r>
          </a:p>
          <a:p xmlns:a="http://schemas.openxmlformats.org/drawingml/2006/main">
            <a:r>
              <a:t>人 AIが担当する具体タスクと自動確定範囲は未確認</a:t>
            </a:r>
          </a:p>
          <a:p xmlns:a="http://schemas.openxmlformats.org/drawingml/2006/main">
            <a:r>
              <a:t>限界 AI個別方式と効果は展示説明から未確定</a:t>
            </a:r>
          </a:p>
          <a:p xmlns:a="http://schemas.openxmlformats.org/drawingml/2006/main">
            <a:r>
              <a:t>現地 Fusion／FeatureCAM／PLM連携の対象品種・変更条件は何か。設計製造データ連携で人が設定する内容、異常時の停止・復帰、他工程との接続仕様を確認する。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EOV-V010-2024-1 オートデスク株式会社 JIMTOF2024公式カタログ：オートデスク株式会社 (E5009)</a:t>
            </a:r>
          </a:p>
          <a:p xmlns:a="http://schemas.openxmlformats.org/drawingml/2006/main">
            <a:r>
              <a:t>https://www.jimtof.org/2024/search/jp/ESdetails?e=5CWUqNS_dBw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EOV-V010-2026-1 オートデスク株式会社 JIMTOF2026公式カタログ：オートデスク株式会社 (S3019)</a:t>
            </a:r>
          </a:p>
          <a:p xmlns:a="http://schemas.openxmlformats.org/drawingml/2006/main">
            <a:r>
              <a:t>https://www.jimtof.org/search/jp/ESdetails?e=Y_kC6hMTghk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FC057 ニコン NEXIV・CT・ロボットビジョン等</a:t>
            </a:r>
          </a:p>
          <a:p xmlns:a="http://schemas.openxmlformats.org/drawingml/2006/main">
            <a:r>
              <a:t>小間 E7001</a:t>
            </a:r>
          </a:p>
          <a:p xmlns:a="http://schemas.openxmlformats.org/drawingml/2006/main">
            <a:r>
              <a:t>展示 出展説明に掲載 JIMTOF2026公式カタログ掲載・現地未確認</a:t>
            </a:r>
          </a:p>
          <a:p xmlns:a="http://schemas.openxmlformats.org/drawingml/2006/main">
            <a:r>
              <a:t>入力 画像・CT・測定対象</a:t>
            </a:r>
          </a:p>
          <a:p xmlns:a="http://schemas.openxmlformats.org/drawingml/2006/main">
            <a:r>
              <a:t>方式 異なる計測手段で工程別の品質を評価</a:t>
            </a:r>
          </a:p>
          <a:p xmlns:a="http://schemas.openxmlformats.org/drawingml/2006/main">
            <a:r>
              <a:t>出力 外観・寸法・内部品質の情報</a:t>
            </a:r>
          </a:p>
          <a:p xmlns:a="http://schemas.openxmlformats.org/drawingml/2006/main">
            <a:r>
              <a:t>人 一体化した自律補正やAIの性能向上は資料から不明</a:t>
            </a:r>
          </a:p>
          <a:p xmlns:a="http://schemas.openxmlformats.org/drawingml/2006/main">
            <a:r>
              <a:t>限界 品質制御の閉ループやAI精度向上はカタログから断定不可</a:t>
            </a:r>
          </a:p>
          <a:p xmlns:a="http://schemas.openxmlformats.org/drawingml/2006/main">
            <a:r>
              <a:t>現地 NEXIV・CT・ロボットビジョン等の対象品種・変更条件は何か。寸法・形状計測で人が設定する内容、異常時の停止・復帰、他工程との接続仕様を確認する。</a:t>
            </a:r>
          </a:p>
          <a:p xmlns:a="http://schemas.openxmlformats.org/drawingml/2006/main">
            <a:r>
              <a:t>確認 既存台帳を継承（今回個別本文未再照合）</a:t>
            </a:r>
          </a:p>
          <a:p xmlns:a="http://schemas.openxmlformats.org/drawingml/2006/main">
            <a:r>
              <a:t>EOV-V037-2024-1 株式会社ニコン JIMTOF2024公式カタログ：株式会社ニコン (E7073)</a:t>
            </a:r>
          </a:p>
          <a:p xmlns:a="http://schemas.openxmlformats.org/drawingml/2006/main">
            <a:r>
              <a:t>https://www.jimtof.org/2024/search/jp/ESdetails?e=anszOsTbjDI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EOV-V037-2026-1 株式会社ニコン JIMTOF2026公式カタログ：株式会社ニコン (E7001)</a:t>
            </a:r>
          </a:p>
          <a:p xmlns:a="http://schemas.openxmlformats.org/drawingml/2006/main">
            <a:r>
              <a:t>https://www.jimtof.org/search/jp/ESdetails?e=lmqsWTyiVAY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>確認 2026-10-16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19a63da2642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c779267a7444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7db6e613824a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85eeaa41ac4b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7fe896b68e42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9b46d1ae945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11B8BB-EE5B-4E57-98FB-396BC1BE5F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A8B89A-FA21-4DBA-B11B-BCCB77C38D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6CD2A77-E0B8-4CD6-BBC8-99BB14264A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181F6B-8C1C-49EA-9F72-2919625528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9E4DE79-95BE-409A-917B-EC8573858A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4A321F-F490-4078-B3B2-1F6D9DB75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355245-F785-41B7-A17A-16F910D693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C63C1B2-142E-4C4F-96DD-1D1BEDBE34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BA4BC9-439F-4B5A-BE54-0813DD449B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68ECA3-4ED1-4423-AC0D-EBD140A543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91e136874d45b0" /><Relationship Type="http://schemas.openxmlformats.org/officeDocument/2006/relationships/slideLayout" Target="/ppt/slideLayouts/slideLayout1.xml" Id="R833acd8c9c954ca7" /><Relationship Type="http://schemas.openxmlformats.org/officeDocument/2006/relationships/slideLayout" Target="/ppt/slideLayouts/slideLayout2.xml" Id="R7e7516161f8541fb" /><Relationship Type="http://schemas.openxmlformats.org/officeDocument/2006/relationships/slideLayout" Target="/ppt/slideLayouts/slideLayout3.xml" Id="R2188299d69934dc6" /><Relationship Type="http://schemas.openxmlformats.org/officeDocument/2006/relationships/slideLayout" Target="/ppt/slideLayouts/slideLayout4.xml" Id="Rf03f9c855f664613" /><Relationship Type="http://schemas.openxmlformats.org/officeDocument/2006/relationships/slideLayout" Target="/ppt/slideLayouts/slideLayout5.xml" Id="Rf9ffef3db20c4860" /><Relationship Type="http://schemas.openxmlformats.org/officeDocument/2006/relationships/slideLayout" Target="/ppt/slideLayouts/slideLayout6.xml" Id="Rd165bafc20ad4a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3acd8c9c954ca7"/>
    <p:sldLayoutId xmlns:r="http://schemas.openxmlformats.org/officeDocument/2006/relationships" id="2147483650" r:id="R7e7516161f8541fb"/>
    <p:sldLayoutId xmlns:r="http://schemas.openxmlformats.org/officeDocument/2006/relationships" id="2147483651" r:id="R2188299d69934dc6"/>
    <p:sldLayoutId xmlns:r="http://schemas.openxmlformats.org/officeDocument/2006/relationships" id="2147483652" r:id="Rf03f9c855f664613"/>
    <p:sldLayoutId xmlns:r="http://schemas.openxmlformats.org/officeDocument/2006/relationships" id="2147483653" r:id="Rf9ffef3db20c4860"/>
    <p:sldLayoutId xmlns:r="http://schemas.openxmlformats.org/officeDocument/2006/relationships" id="2147483654" r:id="Rd165bafc20ad4a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53c718f4574dbd" /><Relationship Type="http://schemas.openxmlformats.org/officeDocument/2006/relationships/notesSlide" Target="/ppt/notesSlides/notesSlide1.xml" Id="R80fae737730d47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42500ed2044992" /><Relationship Type="http://schemas.openxmlformats.org/officeDocument/2006/relationships/notesSlide" Target="/ppt/notesSlides/notesSlide2.xml" Id="R04fedc82c6894f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ff9f47eb7d41c0" /><Relationship Type="http://schemas.openxmlformats.org/officeDocument/2006/relationships/notesSlide" Target="/ppt/notesSlides/notesSlide3.xml" Id="Rda4026368daa49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8c7f55f0b749ca" /><Relationship Type="http://schemas.openxmlformats.org/officeDocument/2006/relationships/notesSlide" Target="/ppt/notesSlides/notesSlide4.xml" Id="R8a5bca98f4b74a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bede16c35641a8" /><Relationship Type="http://schemas.openxmlformats.org/officeDocument/2006/relationships/notesSlide" Target="/ppt/notesSlides/notesSlide5.xml" Id="R961409a71e5f42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1961ade31d48cf" /><Relationship Type="http://schemas.openxmlformats.org/officeDocument/2006/relationships/notesSlide" Target="/ppt/notesSlides/notesSlide6.xml" Id="R96d7551b11014c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89f45eb3764d68" /><Relationship Type="http://schemas.openxmlformats.org/officeDocument/2006/relationships/notesSlide" Target="/ppt/notesSlides/notesSlide7.xml" Id="R2f8736deb8d34d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39fd7057f84b59" /><Relationship Type="http://schemas.openxmlformats.org/officeDocument/2006/relationships/notesSlide" Target="/ppt/notesSlides/notesSlide8.xml" Id="Rfc3db23378824f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6d74924c234ad3" /><Relationship Type="http://schemas.openxmlformats.org/officeDocument/2006/relationships/notesSlide" Target="/ppt/notesSlides/notesSlide9.xml" Id="Re5b3ac96b87948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7fe0d62cb748a4" /><Relationship Type="http://schemas.openxmlformats.org/officeDocument/2006/relationships/notesSlide" Target="/ppt/notesSlides/notesSlide10.xml" Id="Re0cd95598fa947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fac632adcc4fbd" /><Relationship Type="http://schemas.openxmlformats.org/officeDocument/2006/relationships/notesSlide" Target="/ppt/notesSlides/notesSlide11.xml" Id="R62b24dfa167a41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8af5a481534e05" /><Relationship Type="http://schemas.openxmlformats.org/officeDocument/2006/relationships/notesSlide" Target="/ppt/notesSlides/notesSlide12.xml" Id="R678e27ea78f74d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ad505ed9a54519" /><Relationship Type="http://schemas.openxmlformats.org/officeDocument/2006/relationships/notesSlide" Target="/ppt/notesSlides/notesSlide13.xml" Id="R2d93483316ca4d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c14fb746ee4b49" /><Relationship Type="http://schemas.openxmlformats.org/officeDocument/2006/relationships/notesSlide" Target="/ppt/notesSlides/notesSlide14.xml" Id="R9dec2b8353d44d1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acdf85c10a4cba" /><Relationship Type="http://schemas.openxmlformats.org/officeDocument/2006/relationships/notesSlide" Target="/ppt/notesSlides/notesSlide15.xml" Id="Ra67ccd7f878a4d1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abd88a7a1747d6" /><Relationship Type="http://schemas.openxmlformats.org/officeDocument/2006/relationships/notesSlide" Target="/ppt/notesSlides/notesSlide16.xml" Id="R946a06653d68455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47e95312cc46bf" /><Relationship Type="http://schemas.openxmlformats.org/officeDocument/2006/relationships/notesSlide" Target="/ppt/notesSlides/notesSlide17.xml" Id="Rae17f1a7393f43a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fb61b835474e12" /><Relationship Type="http://schemas.openxmlformats.org/officeDocument/2006/relationships/notesSlide" Target="/ppt/notesSlides/notesSlide18.xml" Id="Raad80f58a629445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8ca23af8124b54" /><Relationship Type="http://schemas.openxmlformats.org/officeDocument/2006/relationships/notesSlide" Target="/ppt/notesSlides/notesSlide19.xml" Id="Rb25fec92560849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de78d74acd45ed" /><Relationship Type="http://schemas.openxmlformats.org/officeDocument/2006/relationships/notesSlide" Target="/ppt/notesSlides/notesSlide20.xml" Id="Ra519d7d22a374d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caf72cde944d46" /><Relationship Type="http://schemas.openxmlformats.org/officeDocument/2006/relationships/notesSlide" Target="/ppt/notesSlides/notesSlide21.xml" Id="R7b2c412f88dd43a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8e39ee7ed64f39" /><Relationship Type="http://schemas.openxmlformats.org/officeDocument/2006/relationships/notesSlide" Target="/ppt/notesSlides/notesSlide22.xml" Id="R5c328f533530486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69449efbc640c9" /><Relationship Type="http://schemas.openxmlformats.org/officeDocument/2006/relationships/notesSlide" Target="/ppt/notesSlides/notesSlide23.xml" Id="R0a30010bef084bb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04053e0be44a66" /><Relationship Type="http://schemas.openxmlformats.org/officeDocument/2006/relationships/notesSlide" Target="/ppt/notesSlides/notesSlide24.xml" Id="Rc93d03267a0b41b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420cb67fec4705" /><Relationship Type="http://schemas.openxmlformats.org/officeDocument/2006/relationships/notesSlide" Target="/ppt/notesSlides/notesSlide25.xml" Id="R1c8d241b91404d1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5dc3ebea754c1e" /><Relationship Type="http://schemas.openxmlformats.org/officeDocument/2006/relationships/notesSlide" Target="/ppt/notesSlides/notesSlide26.xml" Id="Rac78f3887ffd402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c794ce88d3412a" /><Relationship Type="http://schemas.openxmlformats.org/officeDocument/2006/relationships/notesSlide" Target="/ppt/notesSlides/notesSlide27.xml" Id="R5633b9e551714a4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9bc1edd4b34511" /><Relationship Type="http://schemas.openxmlformats.org/officeDocument/2006/relationships/notesSlide" Target="/ppt/notesSlides/notesSlide28.xml" Id="Rb55c226963364d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AE7D4C39-BB78-4805-B13B-BF7031AC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JIMTOF2026｜技術動向・訪問調査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CA97857F-2BB5-47E8-A9F8-8926F557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技術動向：工程接続と限定自律機能の拡張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AD0647FE-132B-4CE0-B968-A258479E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2026年10月23日までの公開資料による視察前分析。工程接続は具体化しているが、全工場の自律運営は開発目標の段階。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4F958-FD19-4666-A8B3-C82FAE4A579C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6858000"/>
                <a:gridCol w="626745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顧客課題・対象タスク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技術の方向と具体例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到達範囲・現地で確かめること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技能依存／工程設計・条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件決定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MAZATROL DX、CAM Assist、CAM-TOOL：形状・履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歴・条件から工程や条件を生成。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学習型・物理モデル型・ルール型を区別。工具・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治具の設定と生成結果の承認は人に残る。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品質・稼働率／監視・補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正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OSP-AI：異常→工具退避。Renishaw Central：測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定→機械変数補正。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判断と実機動作の接続は製品化。ただしAIを使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わない閉ループもある。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多品種対応／柔軟なロボ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ット作業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ファナック：図面→溶接動作、VLAによる変形物操作。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TAKISAWA：切りくず認識→除去。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生成・学習方式と適応能力を分けて評価。個別事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例のJIMTOF展示は未確認を含む。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工程間分断／計画・デー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タ連携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KOM-Scheduler、ModuleWorks。DMG・マザック・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日立/FANUCはデータ・モデル・実証へ投資。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計画と設備状態の接続は進展。工程横断の再計画、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例外復帰、全体最適の効果は要検証。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02BFA68-840C-47F8-AD8A-CAC0A812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75686070-2C86-4327-9AD5-9C4A15D9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01 / 28</a:t>
            </a:r>
          </a:p>
        </p:txBody>
      </p:sp>
    </p:spTree>
    <p:extLst>
      <p:ext uri="{BB962C8B-B14F-4D97-AF65-F5344CB8AC3E}">
        <p14:creationId xmlns:p14="http://schemas.microsoft.com/office/powerpoint/2010/main" val="1155554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139B229A-0D73-4E9E-B403-FFE83198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JIMTOF2026｜技術動向・訪問調査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E64534F1-52BB-44F4-93BA-2B802542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主要各社：同じAIでも担当タスクと実現方式が異なる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7E38A077-6976-4ED4-A308-8FCCD006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製品・展示機能と、データ基盤・共同開発の計画を分けて比較する。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76B14-2969-4FA1-A211-465509DB1994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6715125"/>
                <a:gridCol w="6315075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企業／顧客価値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製品・技術の担当範囲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人の役割・開発上の焦点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763411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DMG森精機／保全・運用支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援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Condition Agent・サービスエージェント。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GENIACでは市場設備データの収集・学習・評価を計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画。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異常の解釈、問診・依頼の支援。実機自動復旧と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区別。収益改善は機能精度・運用費・利用継続に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依存。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3803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マザック／加工準備の短縮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MAZATROL DXでプログラム・仮想検証・段取り支援。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ABEJAとの開発は工程設計・計画・ロボット。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工具・過去プログラムを整備。熟練判断の形式知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化と、人による検証が開発課題。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143803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ファナック／生成から実行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への接続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CNC：生成AI→MCP→ツイン→実機。ロボット：図面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解釈、視覚・言語・行動学習等。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CNCの実機適用は人が承認。日立工場で認識・動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作・品質・タクトを検証する計画。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3803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オークマ／品質・停止損失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の低減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OSP-AIで診断と工具退避を分離。熱変位補正・自動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化セルは方式を個別確認。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診断後の整備・再開は人。限定タスクの保護と、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未知作業への一般化は別の能力。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8CD3EFC-736C-42C5-A077-073EA04B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6D6DF47-6913-46F8-B73A-BA73DE4E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02 / 28</a:t>
            </a:r>
          </a:p>
        </p:txBody>
      </p:sp>
    </p:spTree>
    <p:extLst>
      <p:ext uri="{BB962C8B-B14F-4D97-AF65-F5344CB8AC3E}">
        <p14:creationId xmlns:p14="http://schemas.microsoft.com/office/powerpoint/2010/main" val="15505027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8600B3AD-7C2E-494E-9DF3-6B4C483D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JIMTOF2026｜技術動向・訪問調査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1A35FBAB-FD9E-46FB-9F58-BF871814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優先訪問：方式の差を比較できるブースを組み合わせる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3CAF2EDB-6652-4D36-A663-0C842435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訪問価値は「目的への適合」「方式を比較できること」「展示確度」で判断。会場内の移動順ではない。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CE860-9C71-4839-82FB-F5375032AA58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6667500"/>
                <a:gridCol w="664845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調査テーマ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訪問先・小間・対象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持ち帰るべき確認結果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工程設計・条件生成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マザック E1001／JBM E2002／C&amp;G E2008／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ModuleWorks S4005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形状・工具・履歴の入力、学習と物理モデルの分担、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人の手直し、未学習条件の扱い。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AI判断から物理動作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ファナック S2001／TAKISAWA E3013／オークマ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E3028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CNC承認単位、切りくず除去の失敗判定、工具退避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後の復帰。溶接・VLAの実演有無を先に確認。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検査・補正と現場データ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レニショー E7089／牧野フライス精機 E7090／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Phoxter S4028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良否判定・測定値が、加工条件・動作を実際に変え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るか。誤判定時の処置とデータの再利用。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工程接続・サービス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DMG森精機 E8005／コマツNTC E1058／ジェイテク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ト E8003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計画→加工→監視の接続範囲。保全は通知・提案・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実行のどこまでか。既存設備との接続費用。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D1ED4F3-9A42-4ECD-9F23-DE5FE9DF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FB0AFD21-9E6E-45E9-A0DC-C25154DD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03 / 28</a:t>
            </a:r>
          </a:p>
        </p:txBody>
      </p:sp>
    </p:spTree>
    <p:extLst>
      <p:ext uri="{BB962C8B-B14F-4D97-AF65-F5344CB8AC3E}">
        <p14:creationId xmlns:p14="http://schemas.microsoft.com/office/powerpoint/2010/main" val="6673128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1BCF1A01-1751-40B6-9FA8-325258E7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987BAF6F-C421-4E85-8FED-087347F9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母集団・確認深度・件数の読み方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D8B8BAED-9CF6-4F7B-9946-4788ABFB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全候補を残したうえで、原典照合と従来台帳の継承を区別。取得ログの件数を技術確認件数として使わない。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03D48-7FD9-4758-9C10-444C66096616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6477000"/>
                <a:gridCol w="712470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範囲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新版の状態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解釈・限界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全出展者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1,146掲載行／名称正規化1,131社／説明本文806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行。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同じ会社の複数小間を保持。情報不足330行を非該当と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断定しない。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候補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387→389アイテム。総称1件を統合、コマツ3機能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を追加。344社。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全社・全製品の網羅ではない。全掲載行の判定・候補ID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対応をExcelに保持。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今回の優先照合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32候補を原典で再照合。戦略・方式・展示の36資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料を根拠台帳に収録。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それ以外は前版の確認深度と日付を維持。方式未公開・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展示未確認を残す。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資料の階層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企業公式／公式出展説明／研究論文／専門記事の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解釈を分ける。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メーカー説明は独立した性能検証ではない。2024比較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は名称・記載の変化であり普及率ではない。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77591D4-1983-4CC0-A416-7DAF8B9D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詳細はresearch.json・evidence_review.json・change_log.json。全候補HTMLとExcelを一次参照先とする。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528853-842A-4CF5-B2FA-B7DB4B29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04 / 28</a:t>
            </a:r>
          </a:p>
        </p:txBody>
      </p:sp>
    </p:spTree>
    <p:extLst>
      <p:ext uri="{BB962C8B-B14F-4D97-AF65-F5344CB8AC3E}">
        <p14:creationId xmlns:p14="http://schemas.microsoft.com/office/powerpoint/2010/main" val="15756767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342E9DCC-BE67-4B17-828E-E4CE8D82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7DFE9FF6-F8E0-4719-A960-AC753B06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四タグと製造タスク：目的の異なる二つの軸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B6B25FCA-F974-4DDA-B634-C39DF259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タグは重複可。タグの有無と、技術の先端性・成熟度・JIMTOF展示確度を独立して扱う。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BA666-E08D-4761-82AB-9A8C5D012A48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6858000"/>
                <a:gridCol w="674370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タグ／新版の件数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本資料の分類基準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代表例と境界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AI／66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学習・生成・認識・推定の担当機能を確認。呼称のみ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・関連基盤も区分して残す。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CAM-TOOLの条件算出、GAZIRUの良品学習。自動計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算や数式だけではAIとしない。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フィジカルAI／15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AI出力が物理作業の手順・動作・制御を生成または変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更する接続を重視。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10機能記載、3呼称、2基盤。CNCの人承認や従来型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画像認識も含み、VLAと別表示。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自律化／40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状態・要求・制約に応じて補正・判断・再計画。限定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機能・人承認付きも表示。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測定→寸法補正はAI未確認でも該当し得る。工場全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体の無人運営とは区別。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自動化／380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決められた処理・動作をソフトや機械が実行。直接の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構成要素を含む。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パレット・工具交換、機械的倣いも対象。高度な知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能を示す指標ではない。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0119F2F-6226-4280-B101-D4054AE7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タグ別件数は重複し、呼称・基盤・構成要素を含む。実装数や採用率ではない。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DFFCE59-1738-45CA-BC73-54A7BA4A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05 / 28</a:t>
            </a:r>
          </a:p>
        </p:txBody>
      </p:sp>
    </p:spTree>
    <p:extLst>
      <p:ext uri="{BB962C8B-B14F-4D97-AF65-F5344CB8AC3E}">
        <p14:creationId xmlns:p14="http://schemas.microsoft.com/office/powerpoint/2010/main" val="14224433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AC7CCF28-3B81-4B06-9425-31F29B99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0CFCE7B6-F877-4651-8D93-E16AC4B8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フィジカルAI：方式・能力・新規性の分離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9022F5B8-B294-45E3-AE4A-4DA22D1B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固定設置・単一タスクでも該当し得る。新しい方式の採用だけで、高い一般化性能や自律復帰を認定しない。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C37A5-912F-4C17-94CA-18D826797000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6667500"/>
                <a:gridCol w="683895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方式層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入力→認識・判断→実行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能力の確認と留保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生成AI・エージェント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ファナック：図面・自然言語→条件・手順→溶接／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CNC操作。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工程横断の生成が特徴。承認・仮想検証・実機適用の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単位、異常時の停止を確認。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VLA・模倣学習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ファナック：画像＋言語→行動推論→変形物操作。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学習時の教示方法は説明あり。未知の形状・材質・作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業、失敗後の再試行は未確認。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認識・予測と限定動作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GH5：画像→形状補正→加工。OSP-AI：異常評価→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工具退避。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閉ループは具体的だが、学習方式・適応範囲・動作生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成の自由度は製品ごとに異なる。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基盤／呼称のみ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TRINIX：SimReadyデータ。HS4200：フィジカル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AI段取り替えの訴求。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前者は学習基盤、後者は方式の情報不足。自律動作の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実証例として一括計上しない。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2284BE0-7F9F-4CC0-9DDE-040527C7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009B153-E56E-4125-B45B-32F160D3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06 / 28</a:t>
            </a:r>
          </a:p>
        </p:txBody>
      </p:sp>
    </p:spTree>
    <p:extLst>
      <p:ext uri="{BB962C8B-B14F-4D97-AF65-F5344CB8AC3E}">
        <p14:creationId xmlns:p14="http://schemas.microsoft.com/office/powerpoint/2010/main" val="797489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C63AEB6A-8695-44D4-B16C-E3CCBB98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53894F3E-FF4D-4A10-9CAD-2E4510CC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境界事例：AI搭載と動作AIは同義ではない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7F663204-5636-4B4A-B88A-8B11D495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報告時は、AIが判断する対象と、その結果がどこへ渡るかを特定する。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6668D-C42C-4A32-8B8E-549D994BDDBA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6191250"/>
                <a:gridCol w="674370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候補・機能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確認できる接続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本調査の扱い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Phoxter StellaDrive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SLAM等の走行と、生成AIによる保守チャットを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併設。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生成AIが経路を生成するとは言えない。走行の自律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性と問診AIを分ける。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Phoxter 全方位AI外観検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査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6軸ロボットの搬送・位置決めとAI画像判定を連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携。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AIが撮像位置を再計画する記載はない。検査AI＋ロ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ボット自動化として扱う。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コマツ KOM-MICS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画像→切りくずの堆積検知→洗浄を促す。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AI監視。物理除去の自動実行は未確認。TAKISAWAの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除去機能と比較する。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Renishaw Central＋IPC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測定→機械変数更新→加工補正。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限定的な自律補正・自動化。学習AIの採用は未確認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でも工程接続の重要例。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A9413D8-6C3B-4219-9089-9EA85BE1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CE99B07-53E4-4805-B24D-6DC074DA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07 / 28</a:t>
            </a:r>
          </a:p>
        </p:txBody>
      </p:sp>
    </p:spTree>
    <p:extLst>
      <p:ext uri="{BB962C8B-B14F-4D97-AF65-F5344CB8AC3E}">
        <p14:creationId xmlns:p14="http://schemas.microsoft.com/office/powerpoint/2010/main" val="10880687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7BB1D5AC-7ECC-4F10-8C9F-18D99D17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391B8745-5908-424D-A2E4-8BBE857C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工程設計・NC生成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6E9EAC21-EFD1-49A9-A2B4-9430783F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技能を、入力条件・履歴・工程選択・検証へ分解して比較する。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A9027-9BD9-4CB8-8625-2AD5D0534A18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5810250"/>
                <a:gridCol w="636270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企業・アイテム・小間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入力・方式・出力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人の役割・適用条件・展示確度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68206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ヤマザキマザック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MAZATROL DX／SOLID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MAZATROL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E1001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形状・工具・過去プログラム→パターン学習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→MAZATROLプログラム。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工具整備・仮想検証・段取り。全機能がAIという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説明ではない。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【展示未確認】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56693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ジェービーエムエンジニアリング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Mastercam＋CAMAssist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E2002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モデル・材料・工具・方向→AI CAM→工程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・経路。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生成前の制約設定と生成後の修正。NC適用は人が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判断。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【出展説明に掲載】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168206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Hexagon Manufacturing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Intelligence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ESPRIT EDGE ProPlanAI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E2013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加工ノウハウを用いた工程提案。既存資料で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はESPRIT EDGE ProPlanAI。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学習対象と加工先の再利用範囲を確認。新規性・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性能は未検証。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【出展説明に掲載】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56693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ジェイテクト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Mill-Plan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E8003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工具・姿勢・条件を含む工程設計自動化。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Mill-PlanのAI方式は未確認。自動工程設計その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ものを比較。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【展示予定を明記】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DD5BEDC-6099-4A31-82C3-9DE46792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4170C5A-8E64-4279-A567-455C1945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08 / 28</a:t>
            </a:r>
          </a:p>
        </p:txBody>
      </p:sp>
    </p:spTree>
    <p:extLst>
      <p:ext uri="{BB962C8B-B14F-4D97-AF65-F5344CB8AC3E}">
        <p14:creationId xmlns:p14="http://schemas.microsoft.com/office/powerpoint/2010/main" val="1394482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E3DFB245-0617-418E-9DF7-7C99CA78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56336931-68C9-4289-B2DC-EB896D09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加工条件最適化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398B6DC4-9390-4366-A9CA-7CED726A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経験データを学ぶ方式と、物理量・シミュレーションによる最適化を同列にしない。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96F51-39C2-4064-A1CE-0D10D1D4E7AA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5810250"/>
                <a:gridCol w="636270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企業・アイテム・小間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入力・方式・出力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人の役割・適用条件・展示確度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2025841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C＆Gシステムズ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CAM-TOOL AI切削条件算出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E2008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工具・材質・条件→データマイニング→切削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条件案。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ユーザー条件の学習可。未学習材料への対応と試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加工が課題。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【製品出展・当該機能未確認】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25841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ModuleWorks GmbH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SmartRoughing／FeedControl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S4005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切削力・切りくず厚・トルク・動力→送り最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適化。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物理モデル・制約型の説明。学習AIは未確認。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【展示予定を明記】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2025841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有限会社ツールディスカバリー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切削条件AI計算ツール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W1069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工具・材料・工程の選択→AI条件計算→ガイ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ド。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AI担当機能は明確。モデル・学習データ・精度根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拠は未公開。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【出展説明に掲載】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AFB7294-3907-433E-8CE0-77BB2347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40E9666-EBE8-40B2-9CD0-4C0D0943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09 / 28</a:t>
            </a:r>
          </a:p>
        </p:txBody>
      </p:sp>
    </p:spTree>
    <p:extLst>
      <p:ext uri="{BB962C8B-B14F-4D97-AF65-F5344CB8AC3E}">
        <p14:creationId xmlns:p14="http://schemas.microsoft.com/office/powerpoint/2010/main" val="9544470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76C01E90-5C3A-4DF8-8DE5-D13E4B38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6C79D51E-D173-48CC-A39B-24C43B63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加工監視・保護・切りくず処理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27CE1FE9-900A-4D66-8B59-8F30B153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異常検知後の通知、退避、物理除去は、それぞれ異なる自動化範囲。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19C70-DEB2-4737-8A64-6CB012145975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5810250"/>
                <a:gridCol w="636270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企業・アイテム・小間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入力・方式・出力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人の役割・適用条件・展示確度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356693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オークマ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OSP-AI 機械診断／加工診断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E3028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制御情報→異常レベル→工具退避。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機械診断の故障箇所提示は別機能。修理・再開は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人が担当。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【展示未確認】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56693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TAKISAWA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TR-20W：主軸の切粉除去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E3013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切りくずの絡まり状況をAI認識→主軸の切り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くず除去。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対象材・形状の限界、除去失敗の判定と再試行を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確認。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【参考出展予定】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168206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コマツNTC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KOM-MICS AI予知保全（切りく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ず検知）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E1058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機内画像→堆積異常検知→洗浄を促す通知。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通知後に誰が何を行うか。除去の自動化は未確認。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【展示予定を明記】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8206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コマツNTC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KOMTAS 異常判定しきい値の自動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設定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E1058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加工監視データ→正常・異常のしきい値を自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動設定。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設定の省力化が主眼。AI・連続学習・停止制御は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未確認。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【展示予定を明記】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50429D3-9D02-4335-9B78-C64374B3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8541637-88E9-4A07-9279-6F150F14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10 / 28</a:t>
            </a:r>
          </a:p>
        </p:txBody>
      </p:sp>
    </p:spTree>
    <p:extLst>
      <p:ext uri="{BB962C8B-B14F-4D97-AF65-F5344CB8AC3E}">
        <p14:creationId xmlns:p14="http://schemas.microsoft.com/office/powerpoint/2010/main" val="8089738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76376C9D-5714-424E-B8BB-8FA741D1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262C1B4C-B8C5-4393-981E-394ED95F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寸法計測・補正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C116B598-8A47-405C-B12B-4F0D62F6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計測値が制御へ戻るか、検査で終わるかを区別する。AIの有無より接続の実装範囲を確認。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101D5-F15D-413A-A0CA-FCCF919E1D92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5810250"/>
                <a:gridCol w="636270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企業・アイテム・小間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入力・方式・出力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人の役割・適用条件・展示確度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2025841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レニショー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Renishaw Central＋IPC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E7089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測定・工程状態→IPC→機械変数の補正。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許容範囲・補正の承認・更新周期・機種対応が評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価点。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【出展説明に掲載】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25841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牧野フライス精機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SG10EX＋monocam2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E7090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工具側面の画像計測→monocam2→自動補正。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SG10EXの実演告知あり。学習AIは未確認。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【展示予定を明記】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2025841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サイバーRC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GH5 AI補正ホーニング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E7074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工具の3D画像→AI形状認識・補正→ホーニン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グ。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モデル方式と精度の検証条件、再試行は未公開。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【出展説明に掲載】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B655587-CDED-44FF-972D-C34DCEEB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A9E5AF1-1508-4640-A7A1-73CC82AD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11 / 28</a:t>
            </a:r>
          </a:p>
        </p:txBody>
      </p:sp>
    </p:spTree>
    <p:extLst>
      <p:ext uri="{BB962C8B-B14F-4D97-AF65-F5344CB8AC3E}">
        <p14:creationId xmlns:p14="http://schemas.microsoft.com/office/powerpoint/2010/main" val="17269104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38157BE6-5C70-4D2B-8D23-79D8C279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04337D7A-87BF-4F38-961A-F350536A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外観検査・個体識別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C2B661B7-32F3-4CEF-A4CA-CA4CAE74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良品データの学習と、検査姿勢の自動化、個体IDによる履歴接続を分ける。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CECB3-A3ED-4925-B8C1-A8FE82C9A5E2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5810250"/>
                <a:gridCol w="636270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企業・アイテム・小間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入力・方式・出力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人の役割・適用条件・展示確度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224275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Phoxter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StellaDeepVision Studio／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StellaController2.0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S4028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良品画像→AI判定。6軸ロボットで多視点の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検査を実演予定。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AIによる撮像姿勢再計画は未確認。照明・良品変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動の扱いを確認。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【展示予定を明記】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17383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GAZIRU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GAZIRU.eye 良品学習AI検査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E3008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良品画像を学習し、異常検知・検査立上げを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支援。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必要画像数、良品内のばらつき、見逃し・過検出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の調整を比較。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【展示予定を明記】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1917383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GAZIRU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GAZIRU.z V5 タグレス個体識別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E3008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固体の表面特徴からタグなしで個体を識別。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加工・検査結果を同一個体へ結ぶデータ基盤とし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て評価。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【展示予定を明記】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0EB7D10-9AB9-439D-92BE-63024795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8C27EE2-8179-41BE-B416-4A7DEFF8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12 / 28</a:t>
            </a:r>
          </a:p>
        </p:txBody>
      </p:sp>
    </p:spTree>
    <p:extLst>
      <p:ext uri="{BB962C8B-B14F-4D97-AF65-F5344CB8AC3E}">
        <p14:creationId xmlns:p14="http://schemas.microsoft.com/office/powerpoint/2010/main" val="16616789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BA0001ED-B400-4884-8118-1B3B4040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9D188B27-23D3-411E-925E-41537A4A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段取り・搬送・ロボット作業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077434C2-9A1A-497C-8169-9F795272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ハンド・治具の自動交換と、認識に応じた動作変更を分けて評価する。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ADF3D-D9EC-49FE-BAB7-F3521C9FFDEC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5810250"/>
                <a:gridCol w="636270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企業・アイテム・小間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入力・方式・出力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人の役割・適用条件・展示確度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600724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ＤＭＧ森精機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GX Flex 工具・チャック爪・ワ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ーク交換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E8005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工具・チャック爪・ワーク交換を統合するGX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Flex。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交換可能範囲と供給準備、例外時の人の復帰を確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認。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【展示予定を明記】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00724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シマダマシンツール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HS4200：フィジカルAI自動段取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り替え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E2018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HS4200でフィジカルAIによる自動段取り替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えを訴求。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認識対象・再計画・教示量が未公開。方式確認を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目的に訪問。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【出展説明に掲載】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12753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ナベル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TM AI Cobot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W2041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 VisionをTMflowに組み込み、視覚とロ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ボットを統合。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AI画像判断が実演の動作を変えるか確認。VLAは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未確認。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【出展説明に掲載】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00724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カネテック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AI・2Dカメラ＋マグネットピンセ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ット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W2013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2D画像・AIと磁気ハンドによる小ねじピッキ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ング。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把持点・重なり解消・失敗判定のAI担当範囲を確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認。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【出展説明に掲載】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33015C2-E4FB-485F-A5E4-9261430F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34B3E8C-FAF5-4618-985B-679F0E78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13 / 28</a:t>
            </a:r>
          </a:p>
        </p:txBody>
      </p:sp>
    </p:spTree>
    <p:extLst>
      <p:ext uri="{BB962C8B-B14F-4D97-AF65-F5344CB8AC3E}">
        <p14:creationId xmlns:p14="http://schemas.microsoft.com/office/powerpoint/2010/main" val="1419118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833665F5-E477-42EA-9DBB-72CA7237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191768AE-92AA-424F-A894-5F63337C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生産計画・設備運用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E3A04022-7350-4E99-916F-736B5EB7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計画の表示、予測、再計画、実行指示を区別。最適化の対象・制約を具体的に聞く。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6D7D4-F733-4F81-A381-ED7828386E77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5810250"/>
                <a:gridCol w="636270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企業・アイテム・小間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入力・方式・出力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人の役割・適用条件・展示確度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2025841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コマツNTC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KOM-Scheduler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E1058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加工予定・工具状態→工具不足・交換時期予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測と計画表示。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突発停止や割込み時の再計画、寿命実測との接続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は未確認。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【展示予定を明記】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25841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三菱電機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放電加工の新開発スケジューラ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S2003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放電加工の新開発スケジューラを展示予定。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加工時間・段取り・工具等の制約と、自動確定の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範囲を確認。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【展示予定を明記】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2025841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松浦機械製作所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5軸＋マルチパレット／MiOS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E3030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多軸機・パレットとMiOSによる運用を比較。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計画変更と実際の設備・工具状態が接続するかを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確認。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【出展説明に掲載】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6B56B24-B3B3-4C14-816F-AD372B6F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13BA40C-FCC5-4AB2-ADE6-5E21A1F8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14 / 28</a:t>
            </a:r>
          </a:p>
        </p:txBody>
      </p:sp>
    </p:spTree>
    <p:extLst>
      <p:ext uri="{BB962C8B-B14F-4D97-AF65-F5344CB8AC3E}">
        <p14:creationId xmlns:p14="http://schemas.microsoft.com/office/powerpoint/2010/main" val="2000816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F27C3BDA-61C7-486F-844F-D76D38D4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963EEC0D-FF10-4EA7-B9E3-25A68DB1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保全・サービス支援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9E333888-09CB-4654-A8C9-EE9B8874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異常を見つける、原因を説明する、対応を手配する、復旧する、の責任範囲を分ける。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17B83-562E-4B2F-A19A-3B974B63357A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5810250"/>
                <a:gridCol w="636270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企業・アイテム・小間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入力・方式・出力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人の役割・適用条件・展示確度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917383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DMG森精機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Condition Agent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E8005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機械データの状態監視と異常の解釈を支援す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るCondition Agent。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モデルの学習データ、劣化と異常の区別、通知後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の対応を確認。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【展示予定を明記】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275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ＤＭＧ森精機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my DMG MORI サービスエージェ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ント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E8005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my DMG MORI上の問診・情報検索・サービ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ス依頼を支援。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修理の自動化ではない。情報の正確性、サービス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応答と継続利用価値が評価点。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【展示予定を明記】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1917383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オークマ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OSP-AI 機械診断／加工診断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E3028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診断運転のデータ→AI機械診断→異常箇所の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表示。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故障箇所の確度、診断可能な条件、整備後の再確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認手順を確認。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【展示未確認】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718EF7B-9D1C-4402-9470-1D7212E5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A24EF15-5556-4FFE-A3F4-708BFB58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15 / 28</a:t>
            </a:r>
          </a:p>
        </p:txBody>
      </p:sp>
    </p:spTree>
    <p:extLst>
      <p:ext uri="{BB962C8B-B14F-4D97-AF65-F5344CB8AC3E}">
        <p14:creationId xmlns:p14="http://schemas.microsoft.com/office/powerpoint/2010/main" val="9601913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A41AAA0F-31A7-450B-AB83-EB6EB3F4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648D5EBC-5907-4C52-B653-E7593558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データ・モデル・制御開発基盤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26874DB0-6F95-452A-A278-FB3A118A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データを集めるだけでなく、意味・時刻・条件・正解・権限を揃えることが接続の前提。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60860-260B-47C2-9B1D-D93A73B4B855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5810250"/>
                <a:gridCol w="636270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企業・アイテム・小間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入力・方式・出力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人の役割・適用条件・展示確度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356693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NdotLight Co., Ltd.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TRINIX CAD／SimReady生成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S4004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CAD→物理属性・ジョイントの推定→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SimReady資産。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物性の実測同定、接触モデル、実機検証との誤差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を確認。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【出展説明に掲載】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8206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たけびし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OPC UA情報モデルとエージェン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ト連携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S3015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OPC UA情報モデルで異種機器のデータの意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味を揃える。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名前・単位・更新周期・品質指標まで共通化する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か。読取りと操作権限を分離。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【出展説明に掲載】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168206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ベッコフオートメーション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TwinCAT CoAgent for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Engineering：PLC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E2028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TwinCAT CoAgentで要求からPLCコード生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成を支援。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生成コードのレビュー・仮想検証・実機適用の承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認は人の責任を含む。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【出展説明に掲載】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56693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ModuleWorks GmbH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NGSP＋CAS＋MDES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S4005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NGSP・CAS・MDESで機上検証・衝突防止・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データ交換。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実行可能な機械モデルとデータ交換の適用機種・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範囲を確認。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【展示予定を明記】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36C73C5-B5CB-4171-913B-7D425D9C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B5AC0AD-7FAD-4E1A-873A-4812CB5C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16 / 28</a:t>
            </a:r>
          </a:p>
        </p:txBody>
      </p:sp>
    </p:spTree>
    <p:extLst>
      <p:ext uri="{BB962C8B-B14F-4D97-AF65-F5344CB8AC3E}">
        <p14:creationId xmlns:p14="http://schemas.microsoft.com/office/powerpoint/2010/main" val="21264718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C8237ABA-838E-4901-8AF0-24F2D965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10FFD4D8-F175-4743-BFFA-7D6A1A3D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製造データ：学習・物理モデル・実機検証を支える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DA31ADCB-B20D-45B5-A1C6-79E9F9EF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数量だけでなく、現象とタスクに沿った観測条件・ラベル・対応関係がモデルの有効性を左右する。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7D4ED-E6E6-49A2-9229-79A788B208F4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572250"/>
                <a:gridCol w="721995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段階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必要なデータ・技術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企業・研究と開発上の論点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現象の取得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負荷・振動・温度・画像・品質を、工具・材料・工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程・時刻に結び付ける。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産総研の取得支援、DMGの設備データ基盤。標本周期・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センサ位置・失敗条件の偏りを確認。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物理モデルの同定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加工結果に加え、境界条件・材料特性・摩擦・機械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剛性等を同定する。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産総研の加工現象研究、切削シミュレーション。形状の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デジタル化だけでは精度が決まらない。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AIの学習・評価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教師データ、技能者の選択理由、正常・異常・条件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変更を分離する。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CAM-TOOLの履歴学習、VLAの画像・動作、工程設計AIの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検証。未知条件で評価する。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仮想検証と実機適用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シミュレーション誤差、接触・衝突、品質・タクト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・停止条件を確認。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ファナックCNCのツイン＋人承認、日立工場の実証計画。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仮想で通ることと実機成功を区別。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ACB5427-1E55-4537-9293-42237829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加工現象のモデル化は既存精読S01・S03・S38等、原文集Q38・Q39も参照。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E43E48A-049E-421F-8AF5-B2EDD8DD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17 / 28</a:t>
            </a:r>
          </a:p>
        </p:txBody>
      </p:sp>
    </p:spTree>
    <p:extLst>
      <p:ext uri="{BB962C8B-B14F-4D97-AF65-F5344CB8AC3E}">
        <p14:creationId xmlns:p14="http://schemas.microsoft.com/office/powerpoint/2010/main" val="12800147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5948346D-2DDF-46FA-9B34-A66C1203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9066E81F-B576-4A7E-9DC3-B64CACDF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工程接続の仮説：支持根拠と反例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A3F146CB-91AB-4034-8488-24AB7264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支持されるのは「個別機能を接続する製品・開発が増える方向」。全工場の最適化が達成済みという結論は支持できない。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8BC2D-07E8-4295-A518-3FA40CE7D0E0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572250"/>
                <a:gridCol w="721995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論点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支持する根拠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反例・結論の範囲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設計から加工へ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MAZATROL DX、CAM Assist、ModuleWorksは工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程・工具経路・検証を接続。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工具・治具・機械設定、人の確認が残る。企業をまたぐ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一貫運用は別途確認。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計測から加工へ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Renishaw IPC、monocam2、OSP-AIは測定・判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断から機械補正や保護へ接続。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全てがAIではない。限定された機種・信号・タスクの閉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ループが中心。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計画から設備状態へ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KOM-Scheduler、マザック・ABEJAの計画AI開発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が工具・設備・計画を結ぶ。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表示・予測と自動再計画は別。後者は開発構想を含み、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全工場実績を確認できない。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業界全体への広がり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同名538社の説明でAI言及22→40、自動化172→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193。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工場データ連携59→57、監視・補正31→26。文言だけ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で普及率や単一方向の進化は判定できない。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21CA7D9-84F9-4D69-8C0A-4813AD14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同名538社の用語集計は既存macro_wording_signalsを継承。2024→2026。計測条件や説明文量は同一ではない。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7E3FE2DE-C311-4F20-8537-680857D4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18 / 28</a:t>
            </a:r>
          </a:p>
        </p:txBody>
      </p:sp>
    </p:spTree>
    <p:extLst>
      <p:ext uri="{BB962C8B-B14F-4D97-AF65-F5344CB8AC3E}">
        <p14:creationId xmlns:p14="http://schemas.microsoft.com/office/powerpoint/2010/main" val="16499641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C73211DE-3FB9-4169-ACA9-46787B40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AF80D255-99BA-4CDB-AEB8-253EE1BB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データ基盤・協業：各社が確保しようとする能力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B04899DA-D87A-415F-ADA7-4535B062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協業の発表は事業の狙いを示す。保有データ量、完成モデル、顧客への効果は別に確認する。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408EF-2637-4F8A-9B17-95DAD9F814A8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6286500"/>
                <a:gridCol w="721995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企業・計画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獲得するデータ・能力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実装・事業への接続と留保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2025841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DMG森精機＋研究開発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市場設備から状態・加工・品質データを継続取得。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100社・1,000設備・100TBを目標。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異常検知から品質・電力予測、セル運用へ。サブスク価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値向上は仮説で、AIによる利益増加の実証ではない。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25841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マザック＋ABEJA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熟練者の工程設計、生産計画、ロボット学習のデ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ータと現場検証。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顧客ごとの条件を取り込む支援へ。既存MAZATROL DXと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開発中エージェントの提供時期は別。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2025841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ファナック＋日立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日立工場で認識・動作生成・品質・タクトを検証。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ロボット・制御とAI・エッジ技術を接続。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2027年度の技術確立・展開を目指す。今回の展示品と、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将来の共同開発を混同しない。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ED70D79-7576-424A-9995-9062B7A1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4FEC3A6-56E4-46FD-BDE1-3980777B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19 / 28</a:t>
            </a:r>
          </a:p>
        </p:txBody>
      </p:sp>
    </p:spTree>
    <p:extLst>
      <p:ext uri="{BB962C8B-B14F-4D97-AF65-F5344CB8AC3E}">
        <p14:creationId xmlns:p14="http://schemas.microsoft.com/office/powerpoint/2010/main" val="19862173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22446968-F89E-4BF4-B8C5-7A2C87B0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950D9469-7DED-4E92-954F-3380C6EC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顧客向けサービス：差別化余地の検証仮説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8AFFF27E-BED4-4198-8A94-64CCBE9C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競合が未対応と断定する「空白市場」ではなく、今回の資料で十分に確認できなかった課題を候補とする。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BDD2E-85AD-4927-A02E-C16F92A0815B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6572250"/>
                <a:gridCol w="683895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顧客課題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開発・サービス候補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確認すべき成立条件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データを集めても原因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が分からない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現象理解に基づく計測設計、時間同期、工具・材質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・品質との対応付け。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取得費用、顧客データ権利、モデル改善に寄与する信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号、既存設備への導入性。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仮想では成立しても実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機で外れる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加工・接触モデルのパラメータ同定、実測による校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正、適用範囲の保証。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モデル誤差を工程能力・品質・タクトへ換算し、校正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・保守の費用を回収できるか。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生成案の確認・手直し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が多い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不確かさ・根拠を示す条件推奨、承認可能な差分表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示、例外復帰支援。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提案精度だけでなく総作業時間、誤採用コスト、再学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習・運用負担で評価。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設備状態と計画が分断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する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工具寿命・検査・停止情報を計画へ返し、実行可能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な代替案を提示。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多メーカー接続、標準データ、現場の承認・優先順位、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再計画の効果測定。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A9AC154-EB97-482E-8062-689C1159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上記は調査者の開発仮説。技術動向の根拠を踏まえた候補であり、顧客需要の実証・競合不在の結論ではない。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75E8C418-AB62-45FE-9714-A7DA0484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20 / 28</a:t>
            </a:r>
          </a:p>
        </p:txBody>
      </p:sp>
    </p:spTree>
    <p:extLst>
      <p:ext uri="{BB962C8B-B14F-4D97-AF65-F5344CB8AC3E}">
        <p14:creationId xmlns:p14="http://schemas.microsoft.com/office/powerpoint/2010/main" val="130629598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76C1E396-F377-4046-B156-9D339E67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C0D8AC74-2698-49C6-9DFC-481992EA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現地確認票：入力・判断・実行・例外を追う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52BAB48A-2503-4BB8-95A0-9FF867F9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説明用の名称ではなく、実演で確認できる能力と条件を持ち帰る。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18F6B-248A-4C3C-9B49-39F4B791EDBB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001000"/>
                <a:gridCol w="588645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観点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質問・記録項目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報告で使える証拠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入力・準備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未学習品種を投入できるか。工具・材料・画像・CAD・教示デ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ータを誰が何件準備したか。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入力例、準備時間、対象の条件範囲。デモ専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用条件かを記録。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AI担当と判断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認識、条件提案、計画、動作のどこをAIが担当するか。ルール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・幾何補正との分担は何か。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方式・モデルの名称、ブロック図、判断結果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と機械指令の対応。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実行・人の承認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どの操作が自動実行か。誰がいつ承認するか。異常判定から再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試行・停止・復帰はどうなるか。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承認画面、停止条件、失敗例、再試行の手順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と回数。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1938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性能・導入・接続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タクト・成功率・誤報率・適用機種、外部システムの接口、料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金と継続運用費。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試験の母数・前提・比較基準。提供版と参考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展示を区別。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0785BF7-4BC3-4BCA-996B-534290F5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訪問判断・自分優先度・当日メモはExcelの入力欄へ記録。未確認は未確認のまま報告する。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25B9FDF-335F-4492-A881-696B8218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21 / 28</a:t>
            </a:r>
          </a:p>
        </p:txBody>
      </p:sp>
    </p:spTree>
    <p:extLst>
      <p:ext uri="{BB962C8B-B14F-4D97-AF65-F5344CB8AC3E}">
        <p14:creationId xmlns:p14="http://schemas.microsoft.com/office/powerpoint/2010/main" val="6549750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D574C18B-9535-4BE4-AD4E-6213230B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9A304DCB-0AA2-4B66-B0F2-B57A38C1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原文根拠：データ取得・条件算出・人の承認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BC6CA6CB-C553-4F03-B69D-886E94BF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引用は短い原文。下の意味付けは文脈の要約であり、引用文そのものではない。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77AA9-D94F-45C3-A154-E51D55212687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953000"/>
                <a:gridCol w="502920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発行者・原文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文脈の要約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この引用だけでは言えないこと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213429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産総研／2026-07-02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「製造工程の現象理解に基づく製造データ取得の支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援」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モデル開発の前提として、現象に合っ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た取得を支える。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特定の取得方式の性能、データ量と精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度の単純な比例。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08924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C&amp;Gシステムズ／掲載日未記載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「AI技術の「データマイニング手法」を活用し」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工具・材質等から切削条件を算出。ユ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ーザーの過去条件も活用。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2026年初登場、加工中の自律制御、全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条件での推奨精度。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213429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ファナック／掲載日未記載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「その結果をオペレータが確認・承認した上で実機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へ適用できます。」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生成・解析した案を仮想検証し、人が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承認してCNCへ適用。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無承認の機械操作、故障からの完全自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律復旧。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9622A2B-69DA-41F8-8A6B-496D7ABE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EA5908C-E94B-40BF-AE31-6AEFDE14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22 / 28</a:t>
            </a:r>
          </a:p>
        </p:txBody>
      </p:sp>
    </p:spTree>
    <p:extLst>
      <p:ext uri="{BB962C8B-B14F-4D97-AF65-F5344CB8AC3E}">
        <p14:creationId xmlns:p14="http://schemas.microsoft.com/office/powerpoint/2010/main" val="10317718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3D70F06A-0AD9-4CDE-BE2F-AC0351D0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E4D5C0F0-238C-47C0-B9C0-75CE8A10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原文根拠：戦略・技能・物理モデル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04B0951A-B324-407B-BA5B-18D596E3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既存40資料の精読・原文集を土台にする。以下は前版で原典照合された抜粋で、今回の再取得確認とは分ける。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1200C-4A95-4B5D-830B-9B2B8B1FC4E7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5619750"/>
                <a:gridCol w="455295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発行者・短い原文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文脈・関連タスク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確認の範囲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2025841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MONOistの記者説明。マザック共同開発を取材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「「何をどのように加工したいのか」という作業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者の意図や目的」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対話プログラムの加工意図と判断結果を学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習する方式を説明する。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記者の説明からの抜粋で、発言者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の直接発言ではない。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25841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DMG森精機 森雅彦氏の取材発言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「まずはシミュレーションのモデルをしっかりと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作り込んで」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研究論文への言及として、モデルを土台に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AIを使う方法へ関心を示す。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技術への関心を述べた条件節。特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定の自社実装の達成証明ではない。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2025841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産総研の公式研究発表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「目標仕様から最適加工条件を逆算して求める手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法」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スピニング加工の複数寸法を満たす条件を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求める研究。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特定の加工での実証。あらゆる加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工の条件決定を解決したという意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味ではない。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994D454-F952-49DB-83FE-5C230015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詳細なURL・日付・掲載位置はノートおよびHTML根拠欄。前版2026-10-22の原典照合記録を継承。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1EBCBA9-0186-4EC5-91EF-618C32CE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23 / 28</a:t>
            </a:r>
          </a:p>
        </p:txBody>
      </p:sp>
    </p:spTree>
    <p:extLst>
      <p:ext uri="{BB962C8B-B14F-4D97-AF65-F5344CB8AC3E}">
        <p14:creationId xmlns:p14="http://schemas.microsoft.com/office/powerpoint/2010/main" val="2509522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5B431C2F-D6D8-416D-A01C-0AEE5647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CC30A808-9B39-483C-B163-98F0362C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主要企業索引 1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44913390-1F29-428C-B602-D8FE3360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主要企業を候補と対応付ける。索引の製品名は代表例。全件と未確認内容はHTML・Excelの候補IDから参照。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23219-7C50-4D30-8421-39E75DBAB69E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8286750"/>
                <a:gridCol w="3886200"/>
              </a:tblGrid>
              <a:tr h="5524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企業・小間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対象アイテム（代表例）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候補ID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83101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DMG森精機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E8005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AMR 1000／MATRIS WPH 210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FC001 / FC002 / FC004 /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FT-D01 / FT-D02 / FT-D03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101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ヤマザキマザック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E1001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INTEGREX＋Ez LOADER 30／Ai Thermal Shield（製品資料による比較）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FC010 / RPT006 / FT-Z01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83101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オークマ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E3028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ARMROID／OMR20／熱変位制御（AI利用未確認）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FC008 / FC009 / RPT007 /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FT-O01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101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牧野フライス製作所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E1024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パレット自動化／MAS・ラインエンジニアリング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FC046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110990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ファナック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S2001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生成AIによるロボット駆動／フィジカルAI CNC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FC005 / FC006 / FC007 /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FT-F01 / FT-F02 / FT-F03 /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FT-F04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101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三菱電機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S2003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NC MachiningAID（2024）／2026 CNC省人化／放電加工の新開発スケジ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ューラ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FC064 / FC065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83101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シーメンス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E3006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デジタルツイン／人型ロボット紹介／NX CAM／NX CMM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AC098 / SUB003 / FT-SI01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DCD313D-D489-4079-9A53-F50DEB31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B746143-66AD-45D7-96AD-8E6CA03A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24 / 28</a:t>
            </a:r>
          </a:p>
        </p:txBody>
      </p:sp>
    </p:spTree>
    <p:extLst>
      <p:ext uri="{BB962C8B-B14F-4D97-AF65-F5344CB8AC3E}">
        <p14:creationId xmlns:p14="http://schemas.microsoft.com/office/powerpoint/2010/main" val="10946966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BA091B11-DD85-4311-BC5F-A16C81F7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CE0A450F-272D-4001-A348-2B3A95C5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主要企業索引 2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8C2B8AC1-53EC-41EA-AA6D-DACF76AF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主要企業を候補と対応付ける。索引の製品名は代表例。全件と未確認内容はHTML・Excelの候補IDから参照。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EDB91-D062-4DB2-9BB8-F5A6EC75A4BE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8286750"/>
                <a:gridCol w="3886200"/>
              </a:tblGrid>
              <a:tr h="5524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企業・小間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対象アイテム（代表例）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候補ID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87085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ジェイテクト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E8003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加工・研削自動化／工程設計支援／Mill-Plan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AC100 / FT-J01 / FT-J02 /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FT-J03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085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ニデックマシンツール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E3011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NC Twin 仮想加工検証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AC172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87085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ニデックオーケーケー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E3012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VBX650／GC53RII 自動化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AC171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085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ソディック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E2017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ロボット放電加工セル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AC123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87085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アマダ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E2012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SDEW8010i III＋ALFAS-03KR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AC010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085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ブラザー工業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E1055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PC-1 オートパレットチェンジャー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N0667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87085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松浦機械製作所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E3030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5軸＋マルチパレット／MiOS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FC047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7CC9F37-0A0E-4BE3-8E10-E6FC431E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CF2DE0E-2CB1-4C3E-9B28-10E83E60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25 / 28</a:t>
            </a:r>
          </a:p>
        </p:txBody>
      </p:sp>
    </p:spTree>
    <p:extLst>
      <p:ext uri="{BB962C8B-B14F-4D97-AF65-F5344CB8AC3E}">
        <p14:creationId xmlns:p14="http://schemas.microsoft.com/office/powerpoint/2010/main" val="708240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BE099C6A-140A-4932-9A58-CC4355AA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CA577137-42ED-40C0-B336-8A009CD8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主要企業索引 3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7BBD44E7-3C27-46AA-A00F-8BE6944B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主要企業を候補と対応付ける。索引の製品名は代表例。全件と未確認内容はHTML・Excelの候補IDから参照。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36211-E45D-4C06-B026-777ECF047EFA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8286750"/>
                <a:gridCol w="3886200"/>
              </a:tblGrid>
              <a:tr h="5524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企業・小間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対象アイテム（代表例）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候補ID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87085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シチズンマシナリー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S2002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LFV・ATC・計測連携自動化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AC102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085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スター精密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S1003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SC系・自動旋盤の連続加工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AC112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87085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ツガミ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S1004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TMA8F／VA3S 自動供給・計測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AC139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085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オーエスジー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W1070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MONOlith BOX 工具管理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AC042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87085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三菱マテリアル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W1065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個別対象の情報不足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情報不足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085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京セラ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W1046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VIMOA 工具・加工監視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AC062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87085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タンガロイ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W1090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MATRIX360 工具管理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75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AC132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D76B83E-8E17-4906-8D7C-15EEBE59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2B3C826-2CE9-4D23-9DD9-CE46CBF1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26 / 28</a:t>
            </a:r>
          </a:p>
        </p:txBody>
      </p:sp>
    </p:spTree>
    <p:extLst>
      <p:ext uri="{BB962C8B-B14F-4D97-AF65-F5344CB8AC3E}">
        <p14:creationId xmlns:p14="http://schemas.microsoft.com/office/powerpoint/2010/main" val="85734167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0B1F05D0-1525-462A-A73F-F86E35C5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65E203D1-7606-44F7-86B5-FCB9FBD5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主要企業索引 4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D3A38FE2-FA6F-4931-8E33-C251033D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主要企業を候補と対応付ける。索引の製品名は代表例。全件と未確認内容はHTML・Excelの候補IDから参照。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88C11-F230-490B-AE2D-34E4320D74A0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8286750"/>
                <a:gridCol w="3886200"/>
              </a:tblGrid>
              <a:tr h="5524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企業・小間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対象アイテム（代表例）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候補ID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83101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ミツトヨ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E3008 / E7085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自動測定／MiCAT Planner・MiBOT系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FC032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101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東京精密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E7044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個別対象の情報不足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情報不足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83101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レニショー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E7089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Renishaw Central＋IPC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FC033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101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ハイデンハイン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E7043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VT122＋VTC 6.0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FC038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83101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ベッコフオートメーション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E2028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TwinCAT CoAgent for Engineering：PLC／TwinCAT CoAgent for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Engineer…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FC011 / FC012 / FC013 /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FC014 / FC015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09907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Hexagon Manufacturing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Intelligence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E7035 / E2013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ESPRIT EDGE ProPlanAI／MAESTRO／PRESTO／品質ソフト群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FC018 / FC019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83101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住友電気工業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W1027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個別対象の情報不足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18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情報不足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3304350-8F41-41FD-B730-063AE602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C2E1E319-5645-487D-8023-74FCB041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27 / 28</a:t>
            </a:r>
          </a:p>
        </p:txBody>
      </p:sp>
    </p:spTree>
    <p:extLst>
      <p:ext uri="{BB962C8B-B14F-4D97-AF65-F5344CB8AC3E}">
        <p14:creationId xmlns:p14="http://schemas.microsoft.com/office/powerpoint/2010/main" val="9677680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BB659DBA-FAB1-48A7-8956-14660C91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664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0B7B7C"/>
                </a:solidFill>
                <a:latin typeface="Yu Gothic UI"/>
                <a:ea typeface="Yu Gothic UI"/>
                <a:cs typeface="Yu Gothic UI"/>
              </a:rPr>
              <a:t>JIMTOF2026｜補足資料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EF53D37B-2F83-4E78-B15D-749BAEE9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1664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defRPr>
            </a:pPr>
            <a:r>
              <a:rPr sz="3300" b="1">
                <a:solidFill>
                  <a:srgbClr val="17374A"/>
                </a:solidFill>
                <a:latin typeface="Yu Gothic UI"/>
                <a:ea typeface="Yu Gothic UI"/>
                <a:cs typeface="Yu Gothic UI"/>
              </a:rPr>
              <a:t>主要企業索引 5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C80F4DAD-87BD-4FD0-949D-409360DF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28775"/>
            <a:ext cx="16573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主要企業を候補と対応付ける。索引の製品名は代表例。全件と未確認内容はHTML・Excelの候補IDから参照。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9297D-BC3C-4050-9FE7-0777B112F8DB}"/>
              </a:ext>
            </a:extLst>
          </p:cNvPr>
          <p:cNvGraphicFramePr/>
          <p:nvPr/>
        </p:nvGraphicFramePr>
        <p:xfrm>
          <a:off xmlns:a="http://schemas.openxmlformats.org/drawingml/2006/main" x="819150" y="25908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8286750"/>
                <a:gridCol w="3886200"/>
              </a:tblGrid>
              <a:tr h="570929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企業・小間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対象アイテム（代表例）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候補ID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T w="9525">
                      <a:solidFill>
                        <a:srgbClr val="CCDCE2"/>
                      </a:solidFill>
                      <a:prstDash val="solid"/>
                    </a:lnT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17374A"/>
                    </a:solidFill>
                  </a:tcPr>
                </a:tc>
              </a:tr>
              <a:tr h="1215504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中村留精密工業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E2027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RoboSync：移設後の位置復旧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FC048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5504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FUJI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E3021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VN40／TN400II／ACUFLEX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AC198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1215504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TAKISAWA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E3013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TR-20W：主軸の切粉除去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FC049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5504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オートデスク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S3019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Fusion／FeatureCAM／PLM連携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FC023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0F5F6"/>
                    </a:solidFill>
                  </a:tcPr>
                </a:tc>
              </a:tr>
              <a:tr h="1215504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ニコン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E7001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CDCE2"/>
                      </a:solidFill>
                      <a:prstDash val="solid"/>
                    </a:lnL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NEXIV・CT・ロボットビジョン等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17374A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FC057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CDCE2"/>
                      </a:solidFill>
                      <a:prstDash val="solid"/>
                    </a:lnR>
                    <a:lnB w="9525">
                      <a:solidFill>
                        <a:srgbClr val="CCDC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2194DA-11DA-455E-813C-04FEDE0B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1524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公開情報の事前分析｜現地未確認｜出典URL・掲載位置・留保はスピーカーノートに記載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7AA6FA2-5BC1-4355-92F2-E2DFC223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16978"/>
                </a:solidFill>
                <a:latin typeface="Yu Gothic UI"/>
                <a:ea typeface="Yu Gothic UI"/>
                <a:cs typeface="Yu Gothic UI"/>
              </a:rPr>
              <a:t>28 / 28</a:t>
            </a:r>
          </a:p>
        </p:txBody>
      </p:sp>
    </p:spTree>
    <p:extLst>
      <p:ext uri="{BB962C8B-B14F-4D97-AF65-F5344CB8AC3E}">
        <p14:creationId xmlns:p14="http://schemas.microsoft.com/office/powerpoint/2010/main" val="1764470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2026-10-22T17:08:36.5650000Z</dcterms:created>
  <dcterms:modified xsi:type="dcterms:W3CDTF">2026-10-22T17:08:36.5650000Z</dcterms:modified>
</coreProperties>
</file>