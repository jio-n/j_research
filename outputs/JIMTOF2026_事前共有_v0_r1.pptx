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1f06639954376" /><Relationship Type="http://schemas.openxmlformats.org/officeDocument/2006/relationships/extended-properties" Target="/docProps/app.xml" Id="R81ebd0c0427f4787" /><Relationship Type="http://schemas.openxmlformats.org/officeDocument/2006/relationships/officeDocument" Target="/ppt/presentation.xml" Id="R0924de979d9a49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f3d5bcf1a4cd1"/>
  </p:sldMasterIdLst>
  <p:notesMasterIdLst>
    <p:notesMasterId xmlns:r="http://schemas.openxmlformats.org/officeDocument/2006/relationships" r:id="R9811a2a3b1044be8"/>
  </p:notesMasterIdLst>
  <p:sldIdLst>
    <p:sldId xmlns:r="http://schemas.openxmlformats.org/officeDocument/2006/relationships" id="256" r:id="Rb4a143ae391842e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e8e111f674f7c" /><Relationship Type="http://schemas.openxmlformats.org/officeDocument/2006/relationships/slideMaster" Target="/ppt/slideMasters/slideMaster1.xml" Id="R881f3d5bcf1a4cd1" /><Relationship Type="http://schemas.openxmlformats.org/officeDocument/2006/relationships/notesMaster" Target="/ppt/notesMasters/notesMaster1.xml" Id="R9811a2a3b1044be8" /><Relationship Type="http://schemas.openxmlformats.org/officeDocument/2006/relationships/presProps" Target="/ppt/presProps.xml" Id="R152916498bc44831" /><Relationship Type="http://schemas.openxmlformats.org/officeDocument/2006/relationships/tableStyles" Target="/ppt/tableStyles.xml" Id="R970f6a41cc074836" /><Relationship Type="http://schemas.openxmlformats.org/officeDocument/2006/relationships/slide" Target="/ppt/slides/slide1.xml" Id="Rb4a143ae3918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1c3600be704a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6976a956f7483c" /><Relationship Type="http://schemas.openxmlformats.org/officeDocument/2006/relationships/notesMaster" Target="/ppt/notesMasters/notesMaster1.xml" Id="R530b826f2460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仮説版。現地未検証。メーカー主張と分析を区別。根拠台帳は data/research/evidence_v0.json と claims_v0.json。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C001 [メーカー主張] 加工損傷への対策として、制御情報のAI診断と工具退避を組み合わせる方式がある。</a:t>
            </a:r>
          </a:p>
          <a:p xmlns:a="http://schemas.openxmlformats.org/drawingml/2006/main">
            <a:r>
              <a:t>範囲: 既存技術。2026個別展示は要確認</a:t>
            </a:r>
          </a:p>
          <a:p xmlns:a="http://schemas.openxmlformats.org/drawingml/2006/main">
            <a:r>
              <a:t>E002 オークマ AI機械診断機能 AI加工診断機能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該当箇所: AI加工診断機能 &gt; 常時監視で工具の突発異常を検出・退避、ページ末尾の特別仕様注記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一部特別仕様。適用加工・工具の範囲、誤検知率、停止後の復帰可否は別途確認。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C002 [メーカー主張] 試削・段取りの負担に対し、サーボモデルの事前検証とデジタルツインの準備支援がある。</a:t>
            </a:r>
          </a:p>
          <a:p xmlns:a="http://schemas.openxmlformats.org/drawingml/2006/main">
            <a:r>
              <a:t>範囲: 2024技術の基準線。2026進化とは断定しない</a:t>
            </a:r>
          </a:p>
          <a:p xmlns:a="http://schemas.openxmlformats.org/drawingml/2006/main">
            <a:r>
              <a:t>E001 ファナック JIMTOF2024特設ページ</a:t>
            </a:r>
          </a:p>
          <a:p xmlns:a="http://schemas.openxmlformats.org/drawingml/2006/main">
            <a:r>
              <a:t>https://www.fanuc.co.jp/ja/JIMTOF2024/</a:t>
            </a:r>
          </a:p>
          <a:p xmlns:a="http://schemas.openxmlformats.org/drawingml/2006/main">
            <a:r>
              <a:t>該当箇所: 出展内容と見どころ &gt; FA &gt; 『削る前に判る』CNCのデジタルツイン、ロボット &gt; AIを含む多彩なアプリケーション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独立した性能評価ではない。2026への機能継続・向上はこの資料から判断不可。</a:t>
            </a:r>
          </a:p>
          <a:p xmlns:a="http://schemas.openxmlformats.org/drawingml/2006/main">
            <a:r>
              <a:t>E003 ファナック FANUC Smart Digital Twin</a:t>
            </a:r>
          </a:p>
          <a:p xmlns:a="http://schemas.openxmlformats.org/drawingml/2006/main">
            <a:r>
              <a:t>https://www.fanuc.co.jp/ja/product/cnc/f_digitaltwin.html</a:t>
            </a:r>
          </a:p>
          <a:p xmlns:a="http://schemas.openxmlformats.org/drawingml/2006/main">
            <a:r>
              <a:t>該当箇所: 3つの『判る』と導入メリット &gt; 機械動作が判る／加工時間が判る／加工面品位が判る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メーカー主張。工具・材料・熱状態等のモデル化範囲と予測誤差は未確認。</a:t>
            </a:r>
          </a:p>
          <a:p xmlns:a="http://schemas.openxmlformats.org/drawingml/2006/main">
            <a:r>
              <a:t>E007 オークマ JIMTOF2024 特設ページ（英語）</a:t>
            </a:r>
          </a:p>
          <a:p xmlns:a="http://schemas.openxmlformats.org/drawingml/2006/main">
            <a:r>
              <a:t>https://www.okuma.co.jp/english/show/jimtof/2024/</a:t>
            </a:r>
          </a:p>
          <a:p xmlns:a="http://schemas.openxmlformats.org/drawingml/2006/main">
            <a:r>
              <a:t>該当箇所: Automation solutions &gt; Robot manufacturing cell suitable for high-mix production &gt; smarTwinCELL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再起動ガイダンスを自動復帰や自律復帰と解釈しない。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C003 [発表事実] 2024のAIバラ積み等に対し、2026公式カタログにはフィジカルAI CNCと生成AIロボット駆動の展示予告がある。別途、実工場の共同実証計画も発表された。</a:t>
            </a:r>
          </a:p>
          <a:p xmlns:a="http://schemas.openxmlformats.org/drawingml/2006/main">
            <a:r>
              <a:t>範囲: 展示記述の差は確認。性能差・自律化度・共同実証と展示の関係は未確認</a:t>
            </a:r>
          </a:p>
          <a:p xmlns:a="http://schemas.openxmlformats.org/drawingml/2006/main">
            <a:r>
              <a:t>E009 ファナック株式会社（JIMTOF公式カタログ） 2024公式出展者詳細：ファナック株式会社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該当箇所: 出展紹介本文、見出し「主な出展物」の直後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出展者の説明。実演内容・性能・商用成熟度は現地未確認。</a:t>
            </a:r>
          </a:p>
          <a:p xmlns:a="http://schemas.openxmlformats.org/drawingml/2006/main">
            <a:r>
              <a:t>E012 ファナック株式会社（JIMTOF公式カタログ） 2026公式出展者詳細：ファナック株式会社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該当箇所: 出展紹介本文、見出し「主な出展物」の直後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出展者の説明。実演内容・性能・商用成熟度は現地未確認。</a:t>
            </a:r>
          </a:p>
          <a:p xmlns:a="http://schemas.openxmlformats.org/drawingml/2006/main">
            <a:r>
              <a:t>E006 ファナック／日立製作所 フィジカルAI実装の共同事業化に向けた戦略的パートナーシップ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該当箇所: 共同実証の概要、戦略的パートナーシップの背景、2027年度からの共同展開の記述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実証・展開計画であり、量産導入効果や商用実績の証明ではない。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C004 [分析・予測仮説] 業界の研究重点は、個別処理の自動化に加え、状態変化への適応と異常後の復帰へ広がる可能性がある。</a:t>
            </a:r>
          </a:p>
          <a:p xmlns:a="http://schemas.openxmlformats.org/drawingml/2006/main">
            <a:r>
              <a:t>範囲: 少数企業の一次資料に基づく仮説。業界全体の実装成熟度・市場規模は未評価</a:t>
            </a:r>
          </a:p>
          <a:p xmlns:a="http://schemas.openxmlformats.org/drawingml/2006/main">
            <a:r>
              <a:t>E002 オークマ AI機械診断機能 AI加工診断機能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該当箇所: AI加工診断機能 &gt; 常時監視で工具の突発異常を検出・退避、ページ末尾の特別仕様注記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一部特別仕様。適用加工・工具の範囲、誤検知率、停止後の復帰可否は別途確認。</a:t>
            </a:r>
          </a:p>
          <a:p xmlns:a="http://schemas.openxmlformats.org/drawingml/2006/main">
            <a:r>
              <a:t>E006 ファナック／日立製作所 フィジカルAI実装の共同事業化に向けた戦略的パートナーシップ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該当箇所: 共同実証の概要、戦略的パートナーシップの背景、2027年度からの共同展開の記述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実証・展開計画であり、量産導入効果や商用実績の証明ではない。</a:t>
            </a:r>
          </a:p>
          <a:p xmlns:a="http://schemas.openxmlformats.org/drawingml/2006/main">
            <a:r>
              <a:t>E007 オークマ JIMTOF2024 特設ページ（英語）</a:t>
            </a:r>
          </a:p>
          <a:p xmlns:a="http://schemas.openxmlformats.org/drawingml/2006/main">
            <a:r>
              <a:t>https://www.okuma.co.jp/english/show/jimtof/2024/</a:t>
            </a:r>
          </a:p>
          <a:p xmlns:a="http://schemas.openxmlformats.org/drawingml/2006/main">
            <a:r>
              <a:t>該当箇所: Automation solutions &gt; Robot manufacturing cell suitable for high-mix production &gt; smarTwinCELL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再起動ガイダンスを自動復帰や自律復帰と解釈しない。</a:t>
            </a:r>
          </a:p>
          <a:p xmlns:a="http://schemas.openxmlformats.org/drawingml/2006/main">
            <a:r>
              <a:t>E012 ファナック株式会社（JIMTOF公式カタログ） 2026公式出展者詳細：ファナック株式会社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該当箇所: 出展紹介本文、見出し「主な出展物」の直後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出展者の説明。実演内容・性能・商用成熟度は現地未確認。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C005 [研究提案・仮説] 制御時系列の異常検知、原因候補の推定、制約付き復帰手順生成を結合した加工セル復帰支援を研究する。</a:t>
            </a:r>
          </a:p>
          <a:p xmlns:a="http://schemas.openxmlformats.org/drawingml/2006/main">
            <a:r>
              <a:t>範囲: 新たな提案。自動復帰の実証済み主張ではない</a:t>
            </a:r>
          </a:p>
          <a:p xmlns:a="http://schemas.openxmlformats.org/drawingml/2006/main">
            <a:r>
              <a:t>E002 オークマ AI機械診断機能 AI加工診断機能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該当箇所: AI加工診断機能 &gt; 常時監視で工具の突発異常を検出・退避、ページ末尾の特別仕様注記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一部特別仕様。適用加工・工具の範囲、誤検知率、停止後の復帰可否は別途確認。</a:t>
            </a:r>
          </a:p>
          <a:p xmlns:a="http://schemas.openxmlformats.org/drawingml/2006/main">
            <a:r>
              <a:t>E007 オークマ JIMTOF2024 特設ページ（英語）</a:t>
            </a:r>
          </a:p>
          <a:p xmlns:a="http://schemas.openxmlformats.org/drawingml/2006/main">
            <a:r>
              <a:t>https://www.okuma.co.jp/english/show/jimtof/2024/</a:t>
            </a:r>
          </a:p>
          <a:p xmlns:a="http://schemas.openxmlformats.org/drawingml/2006/main">
            <a:r>
              <a:t>該当箇所: Automation solutions &gt; Robot manufacturing cell suitable for high-mix production &gt; smarTwinCELL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再起動ガイダンスを自動復帰や自律復帰と解釈しない。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C006 [研究提案・仮説] デジタルツインでの事前検証と実機での少量データ適応を結合し、品種変更時の再教示と試行を減らす。</a:t>
            </a:r>
          </a:p>
          <a:p xmlns:a="http://schemas.openxmlformats.org/drawingml/2006/main">
            <a:r>
              <a:t>範囲: 新たな提案。研究成立性・投資採否は未評価</a:t>
            </a:r>
          </a:p>
          <a:p xmlns:a="http://schemas.openxmlformats.org/drawingml/2006/main">
            <a:r>
              <a:t>E001 ファナック JIMTOF2024特設ページ</a:t>
            </a:r>
          </a:p>
          <a:p xmlns:a="http://schemas.openxmlformats.org/drawingml/2006/main">
            <a:r>
              <a:t>https://www.fanuc.co.jp/ja/JIMTOF2024/</a:t>
            </a:r>
          </a:p>
          <a:p xmlns:a="http://schemas.openxmlformats.org/drawingml/2006/main">
            <a:r>
              <a:t>該当箇所: 出展内容と見どころ &gt; FA &gt; 『削る前に判る』CNCのデジタルツイン、ロボット &gt; AIを含む多彩なアプリケーション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独立した性能評価ではない。2026への機能継続・向上はこの資料から判断不可。</a:t>
            </a:r>
          </a:p>
          <a:p xmlns:a="http://schemas.openxmlformats.org/drawingml/2006/main">
            <a:r>
              <a:t>E003 ファナック FANUC Smart Digital Twin</a:t>
            </a:r>
          </a:p>
          <a:p xmlns:a="http://schemas.openxmlformats.org/drawingml/2006/main">
            <a:r>
              <a:t>https://www.fanuc.co.jp/ja/product/cnc/f_digitaltwin.html</a:t>
            </a:r>
          </a:p>
          <a:p xmlns:a="http://schemas.openxmlformats.org/drawingml/2006/main">
            <a:r>
              <a:t>該当箇所: 3つの『判る』と導入メリット &gt; 機械動作が判る／加工時間が判る／加工面品位が判る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メーカー主張。工具・材料・熱状態等のモデル化範囲と予測誤差は未確認。</a:t>
            </a:r>
          </a:p>
          <a:p xmlns:a="http://schemas.openxmlformats.org/drawingml/2006/main">
            <a:r>
              <a:t>E006 ファナック／日立製作所 フィジカルAI実装の共同事業化に向けた戦略的パートナーシップ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該当箇所: 共同実証の概要、戦略的パートナーシップの背景、2027年度からの共同展開の記述</a:t>
            </a:r>
          </a:p>
          <a:p xmlns:a="http://schemas.openxmlformats.org/drawingml/2006/main">
            <a:r>
              <a:t>確認日: 2026-10-16</a:t>
            </a:r>
          </a:p>
          <a:p xmlns:a="http://schemas.openxmlformats.org/drawingml/2006/main">
            <a:r>
              <a:t>留意: 実証・展開計画であり、量産導入効果や商用実績の証明ではない。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dba3a28974a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57028b7f144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1eca2520d4a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a6c8e068a49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b7d99a62942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844ee2e28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EBBAD6-641C-423E-8391-25531EA10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0835F0-2441-4271-BBAF-34F5D458CE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008CB0-4D12-4031-8563-7A4462A177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F0C34-DA00-4B0C-9AC7-B50E73AA6D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D9B82E-7A74-41CB-B01D-72B0A28B9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63F368-B916-4F8B-BECA-5BA1752BD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E035E6-82A4-4EAD-A3EB-84AE5632EB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216814-CF40-4AC1-9CFB-F9C50FAEEA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1C9C40-579B-44F2-A9C5-9E0BA6ACF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656ED3-6A2A-4543-B7DC-6C75B8150A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0f3f3031d4d83" /><Relationship Type="http://schemas.openxmlformats.org/officeDocument/2006/relationships/slideLayout" Target="/ppt/slideLayouts/slideLayout1.xml" Id="Rc7651d2031f54d48" /><Relationship Type="http://schemas.openxmlformats.org/officeDocument/2006/relationships/slideLayout" Target="/ppt/slideLayouts/slideLayout2.xml" Id="Ra06987c531e04df8" /><Relationship Type="http://schemas.openxmlformats.org/officeDocument/2006/relationships/slideLayout" Target="/ppt/slideLayouts/slideLayout3.xml" Id="R5ca8d06010824d54" /><Relationship Type="http://schemas.openxmlformats.org/officeDocument/2006/relationships/slideLayout" Target="/ppt/slideLayouts/slideLayout4.xml" Id="Rb21dbd04a6c54c77" /><Relationship Type="http://schemas.openxmlformats.org/officeDocument/2006/relationships/slideLayout" Target="/ppt/slideLayouts/slideLayout5.xml" Id="R22a90e8223464df7" /><Relationship Type="http://schemas.openxmlformats.org/officeDocument/2006/relationships/slideLayout" Target="/ppt/slideLayouts/slideLayout6.xml" Id="Rb84b2bbe17e34a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651d2031f54d48"/>
    <p:sldLayoutId xmlns:r="http://schemas.openxmlformats.org/officeDocument/2006/relationships" id="2147483650" r:id="Ra06987c531e04df8"/>
    <p:sldLayoutId xmlns:r="http://schemas.openxmlformats.org/officeDocument/2006/relationships" id="2147483651" r:id="R5ca8d06010824d54"/>
    <p:sldLayoutId xmlns:r="http://schemas.openxmlformats.org/officeDocument/2006/relationships" id="2147483652" r:id="Rb21dbd04a6c54c77"/>
    <p:sldLayoutId xmlns:r="http://schemas.openxmlformats.org/officeDocument/2006/relationships" id="2147483653" r:id="R22a90e8223464df7"/>
    <p:sldLayoutId xmlns:r="http://schemas.openxmlformats.org/officeDocument/2006/relationships" id="2147483654" r:id="Rb84b2bbe17e34a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6e10c77534840" /><Relationship Type="http://schemas.openxmlformats.org/officeDocument/2006/relationships/notesSlide" Target="/ppt/notesSlides/notesSlide1.xml" Id="R47c0d9264b204b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E9E6A970-B33D-49D2-98A1-D17842A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JIMTOF2026 事前共有 v0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DA2CA0-0C99-47BD-80B5-9562FD8F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060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67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675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675"/>
                </a:solidFill>
                <a:latin typeface="Noto Sans JP"/>
                <a:ea typeface="Noto Sans JP"/>
                <a:cs typeface="Noto Sans JP"/>
              </a:rPr>
              <a:t>AI・自動化・自律化の研究開発テーマ仮説　2026年10月16日</a:t>
            </a:r>
          </a:p>
        </p:txBody>
      </p:sp>
      <p:sp>
        <p:nvSpPr>
          <p:cNvPr id="3" name="heading-180">
            <a:extLst xmlns:a="http://schemas.openxmlformats.org/drawingml/2006/main">
              <a:ext uri="{FF2B5EF4-FFF2-40B4-BE49-F238E27FC236}">
                <a16:creationId xmlns:a16="http://schemas.microsoft.com/office/drawing/2014/main" id="{31EF5CD5-6015-446A-9DAD-57C4F23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1　結果サマリ</a:t>
            </a:r>
          </a:p>
        </p:txBody>
      </p:sp>
      <p:sp>
        <p:nvSpPr>
          <p:cNvPr id="4" name="line-180-0">
            <a:extLst xmlns:a="http://schemas.openxmlformats.org/drawingml/2006/main">
              <a:ext uri="{FF2B5EF4-FFF2-40B4-BE49-F238E27FC236}">
                <a16:creationId xmlns:a16="http://schemas.microsoft.com/office/drawing/2014/main" id="{3F7054F6-83AD-4288-ADFB-4D68030C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加工損傷：制御情報のAI診断と工具退避で、不良・工具損傷を抑制［C001］</a:t>
            </a:r>
          </a:p>
        </p:txBody>
      </p:sp>
      <p:sp>
        <p:nvSpPr>
          <p:cNvPr id="5" name="line-180-1">
            <a:extLst xmlns:a="http://schemas.openxmlformats.org/drawingml/2006/main">
              <a:ext uri="{FF2B5EF4-FFF2-40B4-BE49-F238E27FC236}">
                <a16:creationId xmlns:a16="http://schemas.microsoft.com/office/drawing/2014/main" id="{6CAC3453-93F2-4175-B377-C280C1C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試削・段取り：サーボモデルとデジタルツインで加工前に検証［C002］</a:t>
            </a:r>
          </a:p>
        </p:txBody>
      </p:sp>
      <p:sp>
        <p:nvSpPr>
          <p:cNvPr id="6" name="heading-332">
            <a:extLst xmlns:a="http://schemas.openxmlformats.org/drawingml/2006/main">
              <a:ext uri="{FF2B5EF4-FFF2-40B4-BE49-F238E27FC236}">
                <a16:creationId xmlns:a16="http://schemas.microsoft.com/office/drawing/2014/main" id="{CCD4D2E2-AB46-49B0-A1BD-CE0DC214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2　技術動向</a:t>
            </a:r>
          </a:p>
        </p:txBody>
      </p:sp>
      <p:sp>
        <p:nvSpPr>
          <p:cNvPr id="7" name="line-332-0">
            <a:extLst xmlns:a="http://schemas.openxmlformats.org/drawingml/2006/main">
              <a:ext uri="{FF2B5EF4-FFF2-40B4-BE49-F238E27FC236}">
                <a16:creationId xmlns:a16="http://schemas.microsoft.com/office/drawing/2014/main" id="{415F6209-106D-4C05-BCF0-0C663B9E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ニーズ：異常停止と技能依存。既存技術は診断・退避、復帰手順を支援［C001/2］</a:t>
            </a:r>
          </a:p>
        </p:txBody>
      </p:sp>
      <p:sp>
        <p:nvSpPr>
          <p:cNvPr id="8" name="line-332-1">
            <a:extLst xmlns:a="http://schemas.openxmlformats.org/drawingml/2006/main">
              <a:ext uri="{FF2B5EF4-FFF2-40B4-BE49-F238E27FC236}">
                <a16:creationId xmlns:a16="http://schemas.microsoft.com/office/drawing/2014/main" id="{7B8EA1E4-BA6D-463F-829C-DC8440E2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2024はAIバラ積み、2026はフィジカルAI CNC・生成AIロボットを予告［C003］</a:t>
            </a:r>
          </a:p>
        </p:txBody>
      </p:sp>
      <p:sp>
        <p:nvSpPr>
          <p:cNvPr id="9" name="line-332-2">
            <a:extLst xmlns:a="http://schemas.openxmlformats.org/drawingml/2006/main">
              <a:ext uri="{FF2B5EF4-FFF2-40B4-BE49-F238E27FC236}">
                <a16:creationId xmlns:a16="http://schemas.microsoft.com/office/drawing/2014/main" id="{0EB5E9AC-0AF3-4179-989D-CF802843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差分は作業対象の拡張。性能・自律化度の改善は未検証［C003・要現地確認］</a:t>
            </a:r>
          </a:p>
        </p:txBody>
      </p:sp>
      <p:sp>
        <p:nvSpPr>
          <p:cNvPr id="10" name="heading-536">
            <a:extLst xmlns:a="http://schemas.openxmlformats.org/drawingml/2006/main">
              <a:ext uri="{FF2B5EF4-FFF2-40B4-BE49-F238E27FC236}">
                <a16:creationId xmlns:a16="http://schemas.microsoft.com/office/drawing/2014/main" id="{EE32A133-5338-4F98-A02D-014810A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3　今後の方向性</a:t>
            </a:r>
          </a:p>
        </p:txBody>
      </p:sp>
      <p:sp>
        <p:nvSpPr>
          <p:cNvPr id="11" name="line-536-0">
            <a:extLst xmlns:a="http://schemas.openxmlformats.org/drawingml/2006/main">
              <a:ext uri="{FF2B5EF4-FFF2-40B4-BE49-F238E27FC236}">
                <a16:creationId xmlns:a16="http://schemas.microsoft.com/office/drawing/2014/main" id="{F10B1206-730B-43E1-BE27-19834D16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事実：2026はフィジカルAIを展示予告。実工場での共同実証も別途発表［C003］</a:t>
            </a:r>
          </a:p>
        </p:txBody>
      </p:sp>
      <p:sp>
        <p:nvSpPr>
          <p:cNvPr id="12" name="line-536-1">
            <a:extLst xmlns:a="http://schemas.openxmlformats.org/drawingml/2006/main">
              <a:ext uri="{FF2B5EF4-FFF2-40B4-BE49-F238E27FC236}">
                <a16:creationId xmlns:a16="http://schemas.microsoft.com/office/drawing/2014/main" id="{CE10AF3F-E92B-45C9-9A8F-C3E26CF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435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予測・仮説：状態変化への適応と異常後の復帰が研究重点に［C004・要現地確認］</a:t>
            </a:r>
          </a:p>
        </p:txBody>
      </p:sp>
      <p:sp>
        <p:nvSpPr>
          <p:cNvPr id="13" name="heading-678">
            <a:extLst xmlns:a="http://schemas.openxmlformats.org/drawingml/2006/main">
              <a:ext uri="{FF2B5EF4-FFF2-40B4-BE49-F238E27FC236}">
                <a16:creationId xmlns:a16="http://schemas.microsoft.com/office/drawing/2014/main" id="{90B439B2-EC3E-407D-998F-9AD5E5D0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6"/>
                </a:solidFill>
                <a:latin typeface="Noto Sans JP"/>
                <a:ea typeface="Noto Sans JP"/>
                <a:cs typeface="Noto Sans JP"/>
              </a:rPr>
              <a:t>4　調査結果の提言</a:t>
            </a:r>
          </a:p>
        </p:txBody>
      </p:sp>
      <p:sp>
        <p:nvSpPr>
          <p:cNvPr id="14" name="line-678-0">
            <a:extLst xmlns:a="http://schemas.openxmlformats.org/drawingml/2006/main">
              <a:ext uri="{FF2B5EF4-FFF2-40B4-BE49-F238E27FC236}">
                <a16:creationId xmlns:a16="http://schemas.microsoft.com/office/drawing/2014/main" id="{6ECEF1EA-46A2-43B4-A4FE-209B8BF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4579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仮説① 加工セル復帰支援：停止損失を減らす異常検知＋制約付き手順生成［C005］</a:t>
            </a:r>
          </a:p>
        </p:txBody>
      </p:sp>
      <p:sp>
        <p:nvSpPr>
          <p:cNvPr id="15" name="line-678-1">
            <a:extLst xmlns:a="http://schemas.openxmlformats.org/drawingml/2006/main">
              <a:ext uri="{FF2B5EF4-FFF2-40B4-BE49-F238E27FC236}">
                <a16:creationId xmlns:a16="http://schemas.microsoft.com/office/drawing/2014/main" id="{7FDCF116-AEF3-4641-8C0B-05CA63C6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8961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仮説② 品種変更の適応：再教示を減らすツイン検証＋実機少量データ学習［C006］</a:t>
            </a:r>
          </a:p>
        </p:txBody>
      </p:sp>
      <p:sp>
        <p:nvSpPr>
          <p:cNvPr id="16" name="line-678-2">
            <a:extLst xmlns:a="http://schemas.openxmlformats.org/drawingml/2006/main">
              <a:ext uri="{FF2B5EF4-FFF2-40B4-BE49-F238E27FC236}">
                <a16:creationId xmlns:a16="http://schemas.microsoft.com/office/drawing/2014/main" id="{FB4133AC-7D71-4CFC-B241-86632528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33425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B3D"/>
                </a:solidFill>
                <a:latin typeface="Noto Sans JP"/>
                <a:ea typeface="Noto Sans JP"/>
                <a:cs typeface="Noto Sans JP"/>
              </a:rPr>
              <a:t>現地で適用限界・介入回数・導入実績・市場規模の根拠を確認し、テーマを選別</a:t>
            </a:r>
          </a:p>
        </p:txBody>
      </p:sp>
    </p:spTree>
    <p:extLst>
      <p:ext uri="{BB962C8B-B14F-4D97-AF65-F5344CB8AC3E}">
        <p14:creationId xmlns:p14="http://schemas.microsoft.com/office/powerpoint/2010/main" val="1173008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2026-10-15T16:13:30.6150000Z</dcterms:created>
  <dcterms:modified xsi:type="dcterms:W3CDTF">2026-10-15T16:13:30.6150000Z</dcterms:modified>
</coreProperties>
</file>