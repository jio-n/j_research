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c338f7e814fa9" /><Relationship Type="http://schemas.openxmlformats.org/officeDocument/2006/relationships/extended-properties" Target="/docProps/app.xml" Id="R74e42265b4f741da" /><Relationship Type="http://schemas.openxmlformats.org/officeDocument/2006/relationships/officeDocument" Target="/ppt/presentation.xml" Id="R17fe8883f610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2efacad50840a9"/>
  </p:sldMasterIdLst>
  <p:notesMasterIdLst>
    <p:notesMasterId xmlns:r="http://schemas.openxmlformats.org/officeDocument/2006/relationships" r:id="Rc573b9dfe3d241bf"/>
  </p:notesMasterIdLst>
  <p:sldIdLst>
    <p:sldId xmlns:r="http://schemas.openxmlformats.org/officeDocument/2006/relationships" id="256" r:id="R84b3f786a7ef4f59"/>
    <p:sldId xmlns:r="http://schemas.openxmlformats.org/officeDocument/2006/relationships" id="257" r:id="R26cb6e9c45f34938"/>
    <p:sldId xmlns:r="http://schemas.openxmlformats.org/officeDocument/2006/relationships" id="258" r:id="R75bda99a37934bd0"/>
    <p:sldId xmlns:r="http://schemas.openxmlformats.org/officeDocument/2006/relationships" id="259" r:id="R0201b465d9894c57"/>
    <p:sldId xmlns:r="http://schemas.openxmlformats.org/officeDocument/2006/relationships" id="260" r:id="R0a8fcc12a65c45f8"/>
    <p:sldId xmlns:r="http://schemas.openxmlformats.org/officeDocument/2006/relationships" id="261" r:id="R607af1b096ff477e"/>
    <p:sldId xmlns:r="http://schemas.openxmlformats.org/officeDocument/2006/relationships" id="262" r:id="R5d221e0b15c14962"/>
    <p:sldId xmlns:r="http://schemas.openxmlformats.org/officeDocument/2006/relationships" id="263" r:id="R08a874bc962b4737"/>
    <p:sldId xmlns:r="http://schemas.openxmlformats.org/officeDocument/2006/relationships" id="264" r:id="R70373c6672974822"/>
    <p:sldId xmlns:r="http://schemas.openxmlformats.org/officeDocument/2006/relationships" id="265" r:id="R50e6e1eacb884f52"/>
    <p:sldId xmlns:r="http://schemas.openxmlformats.org/officeDocument/2006/relationships" id="266" r:id="R561e73f809eb4827"/>
    <p:sldId xmlns:r="http://schemas.openxmlformats.org/officeDocument/2006/relationships" id="267" r:id="Rd1396d5f0ada4e90"/>
    <p:sldId xmlns:r="http://schemas.openxmlformats.org/officeDocument/2006/relationships" id="268" r:id="R0c4b6bc7aea04952"/>
    <p:sldId xmlns:r="http://schemas.openxmlformats.org/officeDocument/2006/relationships" id="269" r:id="R07a88311f1ba43aa"/>
    <p:sldId xmlns:r="http://schemas.openxmlformats.org/officeDocument/2006/relationships" id="270" r:id="Recab3ffde5fd4287"/>
    <p:sldId xmlns:r="http://schemas.openxmlformats.org/officeDocument/2006/relationships" id="271" r:id="R6fd68209bf204b8a"/>
    <p:sldId xmlns:r="http://schemas.openxmlformats.org/officeDocument/2006/relationships" id="272" r:id="R6b41a75ba61841d4"/>
    <p:sldId xmlns:r="http://schemas.openxmlformats.org/officeDocument/2006/relationships" id="273" r:id="Ra82f8e0a26c64afa"/>
    <p:sldId xmlns:r="http://schemas.openxmlformats.org/officeDocument/2006/relationships" id="274" r:id="R6472a3d249b44932"/>
    <p:sldId xmlns:r="http://schemas.openxmlformats.org/officeDocument/2006/relationships" id="275" r:id="R8e85a94bdee24074"/>
    <p:sldId xmlns:r="http://schemas.openxmlformats.org/officeDocument/2006/relationships" id="276" r:id="R6bebdf7de5d547b5"/>
    <p:sldId xmlns:r="http://schemas.openxmlformats.org/officeDocument/2006/relationships" id="277" r:id="Rbddb2d7bca6a48ef"/>
    <p:sldId xmlns:r="http://schemas.openxmlformats.org/officeDocument/2006/relationships" id="278" r:id="R284ef5872bf145fb"/>
    <p:sldId xmlns:r="http://schemas.openxmlformats.org/officeDocument/2006/relationships" id="279" r:id="Rb019482a25d247c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8d605f0b946d3" /><Relationship Type="http://schemas.openxmlformats.org/officeDocument/2006/relationships/slideMaster" Target="/ppt/slideMasters/slideMaster1.xml" Id="R862efacad50840a9" /><Relationship Type="http://schemas.openxmlformats.org/officeDocument/2006/relationships/notesMaster" Target="/ppt/notesMasters/notesMaster1.xml" Id="Rc573b9dfe3d241bf" /><Relationship Type="http://schemas.openxmlformats.org/officeDocument/2006/relationships/presProps" Target="/ppt/presProps.xml" Id="R04abac54f3c143b0" /><Relationship Type="http://schemas.openxmlformats.org/officeDocument/2006/relationships/tableStyles" Target="/ppt/tableStyles.xml" Id="Rf47eb0c9ddee487f" /><Relationship Type="http://schemas.openxmlformats.org/officeDocument/2006/relationships/slide" Target="/ppt/slides/slide1.xml" Id="R84b3f786a7ef4f59" /><Relationship Type="http://schemas.openxmlformats.org/officeDocument/2006/relationships/slide" Target="/ppt/slides/slide2.xml" Id="R26cb6e9c45f34938" /><Relationship Type="http://schemas.openxmlformats.org/officeDocument/2006/relationships/slide" Target="/ppt/slides/slide3.xml" Id="R75bda99a37934bd0" /><Relationship Type="http://schemas.openxmlformats.org/officeDocument/2006/relationships/slide" Target="/ppt/slides/slide4.xml" Id="R0201b465d9894c57" /><Relationship Type="http://schemas.openxmlformats.org/officeDocument/2006/relationships/slide" Target="/ppt/slides/slide5.xml" Id="R0a8fcc12a65c45f8" /><Relationship Type="http://schemas.openxmlformats.org/officeDocument/2006/relationships/slide" Target="/ppt/slides/slide6.xml" Id="R607af1b096ff477e" /><Relationship Type="http://schemas.openxmlformats.org/officeDocument/2006/relationships/slide" Target="/ppt/slides/slide7.xml" Id="R5d221e0b15c14962" /><Relationship Type="http://schemas.openxmlformats.org/officeDocument/2006/relationships/slide" Target="/ppt/slides/slide8.xml" Id="R08a874bc962b4737" /><Relationship Type="http://schemas.openxmlformats.org/officeDocument/2006/relationships/slide" Target="/ppt/slides/slide9.xml" Id="R70373c6672974822" /><Relationship Type="http://schemas.openxmlformats.org/officeDocument/2006/relationships/slide" Target="/ppt/slides/slide10.xml" Id="R50e6e1eacb884f52" /><Relationship Type="http://schemas.openxmlformats.org/officeDocument/2006/relationships/slide" Target="/ppt/slides/slide11.xml" Id="R561e73f809eb4827" /><Relationship Type="http://schemas.openxmlformats.org/officeDocument/2006/relationships/slide" Target="/ppt/slides/slide12.xml" Id="Rd1396d5f0ada4e90" /><Relationship Type="http://schemas.openxmlformats.org/officeDocument/2006/relationships/slide" Target="/ppt/slides/slide13.xml" Id="R0c4b6bc7aea04952" /><Relationship Type="http://schemas.openxmlformats.org/officeDocument/2006/relationships/slide" Target="/ppt/slides/slide14.xml" Id="R07a88311f1ba43aa" /><Relationship Type="http://schemas.openxmlformats.org/officeDocument/2006/relationships/slide" Target="/ppt/slides/slide15.xml" Id="Recab3ffde5fd4287" /><Relationship Type="http://schemas.openxmlformats.org/officeDocument/2006/relationships/slide" Target="/ppt/slides/slide16.xml" Id="R6fd68209bf204b8a" /><Relationship Type="http://schemas.openxmlformats.org/officeDocument/2006/relationships/slide" Target="/ppt/slides/slide17.xml" Id="R6b41a75ba61841d4" /><Relationship Type="http://schemas.openxmlformats.org/officeDocument/2006/relationships/slide" Target="/ppt/slides/slide18.xml" Id="Ra82f8e0a26c64afa" /><Relationship Type="http://schemas.openxmlformats.org/officeDocument/2006/relationships/slide" Target="/ppt/slides/slide19.xml" Id="R6472a3d249b44932" /><Relationship Type="http://schemas.openxmlformats.org/officeDocument/2006/relationships/slide" Target="/ppt/slides/slide20.xml" Id="R8e85a94bdee24074" /><Relationship Type="http://schemas.openxmlformats.org/officeDocument/2006/relationships/slide" Target="/ppt/slides/slide21.xml" Id="R6bebdf7de5d547b5" /><Relationship Type="http://schemas.openxmlformats.org/officeDocument/2006/relationships/slide" Target="/ppt/slides/slide22.xml" Id="Rbddb2d7bca6a48ef" /><Relationship Type="http://schemas.openxmlformats.org/officeDocument/2006/relationships/slide" Target="/ppt/slides/slide23.xml" Id="R284ef5872bf145fb" /><Relationship Type="http://schemas.openxmlformats.org/officeDocument/2006/relationships/slide" Target="/ppt/slides/slide24.xml" Id="Rb019482a25d2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8aa73e3a44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138fd982334d5f" /><Relationship Type="http://schemas.openxmlformats.org/officeDocument/2006/relationships/notesMaster" Target="/ppt/notesMasters/notesMaster1.xml" Id="Rce6b0a3e4f12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56a815c5447ee" /><Relationship Type="http://schemas.openxmlformats.org/officeDocument/2006/relationships/notesMaster" Target="/ppt/notesMasters/notesMaster1.xml" Id="R721032428817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46fd8f2f7349af" /><Relationship Type="http://schemas.openxmlformats.org/officeDocument/2006/relationships/notesMaster" Target="/ppt/notesMasters/notesMaster1.xml" Id="Rb1d913ab252b40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41ed3d58542dc" /><Relationship Type="http://schemas.openxmlformats.org/officeDocument/2006/relationships/notesMaster" Target="/ppt/notesMasters/notesMaster1.xml" Id="R349aab13fb7e46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6739ff9ff476a" /><Relationship Type="http://schemas.openxmlformats.org/officeDocument/2006/relationships/notesMaster" Target="/ppt/notesMasters/notesMaster1.xml" Id="R11e4dd686434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854e110bad458d" /><Relationship Type="http://schemas.openxmlformats.org/officeDocument/2006/relationships/notesMaster" Target="/ppt/notesMasters/notesMaster1.xml" Id="R035a2110e7f14d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1c6ae87304b7b" /><Relationship Type="http://schemas.openxmlformats.org/officeDocument/2006/relationships/notesMaster" Target="/ppt/notesMasters/notesMaster1.xml" Id="Rc65a4147d45346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e97c5026254952" /><Relationship Type="http://schemas.openxmlformats.org/officeDocument/2006/relationships/notesMaster" Target="/ppt/notesMasters/notesMaster1.xml" Id="R507ed4afc11047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8edd6aa5b044f3" /><Relationship Type="http://schemas.openxmlformats.org/officeDocument/2006/relationships/notesMaster" Target="/ppt/notesMasters/notesMaster1.xml" Id="R9fb72566ae494f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98f94f35004262" /><Relationship Type="http://schemas.openxmlformats.org/officeDocument/2006/relationships/notesMaster" Target="/ppt/notesMasters/notesMaster1.xml" Id="Ra46884856a6144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46e1d4687f4f50" /><Relationship Type="http://schemas.openxmlformats.org/officeDocument/2006/relationships/notesMaster" Target="/ppt/notesMasters/notesMaster1.xml" Id="R70e2f4ac0c4044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cc6fc49ac415f" /><Relationship Type="http://schemas.openxmlformats.org/officeDocument/2006/relationships/notesMaster" Target="/ppt/notesMasters/notesMaster1.xml" Id="R1459269cc7f04b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6c7b1290c144c2" /><Relationship Type="http://schemas.openxmlformats.org/officeDocument/2006/relationships/notesMaster" Target="/ppt/notesMasters/notesMaster1.xml" Id="R117106f0512f46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095ab084874117" /><Relationship Type="http://schemas.openxmlformats.org/officeDocument/2006/relationships/notesMaster" Target="/ppt/notesMasters/notesMaster1.xml" Id="R61a6f409d3eb45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78bd7c9ed74594" /><Relationship Type="http://schemas.openxmlformats.org/officeDocument/2006/relationships/notesMaster" Target="/ppt/notesMasters/notesMaster1.xml" Id="R1fabd421ee5749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9ef7936a1a425a" /><Relationship Type="http://schemas.openxmlformats.org/officeDocument/2006/relationships/notesMaster" Target="/ppt/notesMasters/notesMaster1.xml" Id="R5ded92fc4b314d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a93b0ed6ba4a88" /><Relationship Type="http://schemas.openxmlformats.org/officeDocument/2006/relationships/notesMaster" Target="/ppt/notesMasters/notesMaster1.xml" Id="R1e457d06d4ba4b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4cadd8be2348b7" /><Relationship Type="http://schemas.openxmlformats.org/officeDocument/2006/relationships/notesMaster" Target="/ppt/notesMasters/notesMaster1.xml" Id="R0758a7d48ac241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29cdb14a9f4438" /><Relationship Type="http://schemas.openxmlformats.org/officeDocument/2006/relationships/notesMaster" Target="/ppt/notesMasters/notesMaster1.xml" Id="Rd1beb42406e945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3ff80d518d4e52" /><Relationship Type="http://schemas.openxmlformats.org/officeDocument/2006/relationships/notesMaster" Target="/ppt/notesMasters/notesMaster1.xml" Id="Rd9e14e07a28047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ac412d4c54487b" /><Relationship Type="http://schemas.openxmlformats.org/officeDocument/2006/relationships/notesMaster" Target="/ppt/notesMasters/notesMaster1.xml" Id="R49413613b4e942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46e588437945c8" /><Relationship Type="http://schemas.openxmlformats.org/officeDocument/2006/relationships/notesMaster" Target="/ppt/notesMasters/notesMaster1.xml" Id="Rb56a59f4c05147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6997dc2829444a" /><Relationship Type="http://schemas.openxmlformats.org/officeDocument/2006/relationships/notesMaster" Target="/ppt/notesMasters/notesMaster1.xml" Id="Ra63b5726de6a4f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4feb781c244c43" /><Relationship Type="http://schemas.openxmlformats.org/officeDocument/2006/relationships/notesMaster" Target="/ppt/notesMasters/notesMaster1.xml" Id="R3c4bf4e83c5a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S01 JIMTOF2026 開催概要</a:t>
            </a:r>
          </a:p>
          <a:p xmlns:a="http://schemas.openxmlformats.org/drawingml/2006/main">
            <a:r>
              <a:t>https://www.jimtof.org/jp/outline.html</a:t>
            </a:r>
          </a:p>
          <a:p xmlns:a="http://schemas.openxmlformats.org/drawingml/2006/main">
            <a:r>
              <a:t>該当箇所 会期・開場時間・東4〜6ホール休館</a:t>
            </a:r>
          </a:p>
          <a:p xmlns:a="http://schemas.openxmlformats.org/drawingml/2006/main">
            <a:r>
              <a:t>公開 掲載日記載なし／確認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AIの訴求は全体集計と同名企業の比較の両方で増えている。生産準備、制御開発、運用支援が具体的な比較対象になっている。</a:t>
            </a:r>
          </a:p>
          <a:p xmlns:a="http://schemas.openxmlformats.org/drawingml/2006/main">
            <a:r>
              <a:t>自動化は2024からの継続が大きい。2026では爪・工具交換、切粉処理、計測連携など、人手が残る対象作業と構成の広がりを比較する。</a:t>
            </a:r>
          </a:p>
          <a:p xmlns:a="http://schemas.openxmlformats.org/drawingml/2006/main">
            <a:r>
              <a:t>フィジカルAIとエージェントは注目テーマだが、参考出品、提供予定、基盤・部品を含む。商用の自律工場が一般化したとは判断できない。</a:t>
            </a:r>
          </a:p>
          <a:p xmlns:a="http://schemas.openxmlformats.org/drawingml/2006/main">
            <a:r>
              <a:t>視察では生成・判定のデモに加え、実機適用の検証、承認、例外復帰までを確認すると、導入判断に必要な差が見える。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原典 data/exhibitors_2024_with_details.csv、data/exhibitors_2026_with_details.csv</a:t>
            </a:r>
          </a:p>
          <a:p xmlns:a="http://schemas.openxmlformats.org/drawingml/2006/main">
            <a:r>
              <a:t>全2,427掲載行処理。規則と入力ハッシュはcensus.json。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同名パネル538。AI22→40、自動化172→193、工場運用59→57、設計製造43→39。説明量の年度差がある。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全AI語86ヒットの文脈レビュー。2024はYEU LIANのAI/AO、2026は三旺・西部電機・Formnext・Theta・WALSINを技術実装の証拠にしない。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S16 Hexagon JIMTOF2026 国内初展示</a:t>
            </a:r>
          </a:p>
          <a:p xmlns:a="http://schemas.openxmlformats.org/drawingml/2006/main">
            <a:r>
              <a:t>https://prtimes.jp/main/html/rd/p/000000027.000148625.html</a:t>
            </a:r>
          </a:p>
          <a:p xmlns:a="http://schemas.openxmlformats.org/drawingml/2006/main">
            <a:r>
              <a:t>該当箇所 E2013・E7035・ProPlanAIとMAESTRO</a:t>
            </a:r>
          </a:p>
          <a:p xmlns:a="http://schemas.openxmlformats.org/drawingml/2006/main">
            <a:r>
              <a:t>公開 2026-10-14／確認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ESPRIT EDGE リリース履歴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ProPlanAI導入・2026.1旋削等の商用拡張・2026.2も掲載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CloudNC Mastercam向け提供開始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3軸・3+2軸、北米販売を含む提供開始発表</a:t>
            </a:r>
          </a:p>
          <a:p xmlns:a="http://schemas.openxmlformats.org/drawingml/2006/main">
            <a:r>
              <a:t>公開 2024-07-25／確認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CloudNC CAM Assist for Mastercam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戦略生成とプログラマーの確認・調整。版と国内提供条件は現地確認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Beckhoff TwinCAT Chat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PLCコード作成支援の既存性</a:t>
            </a:r>
          </a:p>
          <a:p xmlns:a="http://schemas.openxmlformats.org/drawingml/2006/main">
            <a:r>
              <a:t>公開 2023-04／確認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匠フォース 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引合受領から見積書作成・人の確認修正承認</a:t>
            </a:r>
          </a:p>
          <a:p xmlns:a="http://schemas.openxmlformats.org/drawingml/2006/main">
            <a:r>
              <a:t>公開 2026-07-17／確認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JIMTOF2026 企画展示と特別企画</a:t>
            </a:r>
          </a:p>
          <a:p xmlns:a="http://schemas.openxmlformats.org/drawingml/2006/main">
            <a:r>
              <a:t>https://www.jimtof.org/jp/evt_show.html</a:t>
            </a:r>
          </a:p>
          <a:p xmlns:a="http://schemas.openxmlformats.org/drawingml/2006/main">
            <a:r>
              <a:t>該当箇所 ロボティクス企画・きさげロボット・AM ZONE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オークマ JIMTOF2026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ARMROID・OMR20・Tower APC・AI and Intelligent Technologies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中村留 JIMTOF2026</a:t>
            </a:r>
          </a:p>
          <a:p xmlns:a="http://schemas.openxmlformats.org/drawingml/2006/main">
            <a:r>
              <a:t>https://www.nakamura-tome.co.jp/lp/jimtof2026/</a:t>
            </a:r>
          </a:p>
          <a:p xmlns:a="http://schemas.openxmlformats.org/drawingml/2006/main">
            <a:r>
              <a:t>該当箇所 RoboSync・既存台車／パレットの利用・E2027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松浦機械 JIMTOF2026</a:t>
            </a:r>
          </a:p>
          <a:p xmlns:a="http://schemas.openxmlformats.org/drawingml/2006/main">
            <a:r>
              <a:t>https://exhibition-matsuura.com/entrance/</a:t>
            </a:r>
          </a:p>
          <a:p xmlns:a="http://schemas.openxmlformats.org/drawingml/2006/main">
            <a:r>
              <a:t>該当箇所 MX-850T PC4・MX-520T PC7・GibbsCAM2026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レニショー JIMTOF2024 Central紹介</a:t>
            </a:r>
          </a:p>
          <a:p xmlns:a="http://schemas.openxmlformats.org/drawingml/2006/main">
            <a:r>
              <a:t>https://www.renishaw.com/jp/renishaws-new-smart-manufacturing-data-platform-showcases-smart-factory-automation-at-imts-2024--48184</a:t>
            </a:r>
          </a:p>
          <a:p xmlns:a="http://schemas.openxmlformats.org/drawingml/2006/main">
            <a:r>
              <a:t>該当箇所 2024年時点のRenishaw Central展示</a:t>
            </a:r>
          </a:p>
          <a:p xmlns:a="http://schemas.openxmlformats.org/drawingml/2006/main">
            <a:r>
              <a:t>公開 2024年の展示案内／確認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Renishaw Centralと工程制御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計測データ収集・処理・工程制御。既存根拠台帳も参照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 HACARUS Check ZERO 正式販売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少量良品学習・追加学習。発売は2025年</a:t>
            </a:r>
          </a:p>
          <a:p xmlns:a="http://schemas.openxmlformats.org/drawingml/2006/main">
            <a:r>
              <a:t>公開 2025-07-07／確認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DMG MORI Condition Agent</a:t>
            </a:r>
          </a:p>
          <a:p xmlns:a="http://schemas.openxmlformats.org/drawingml/2006/main">
            <a:r>
              <a:t>https://www.dmgmori.co.jp/corporate/en/news/2026/20260706_conditionagent_e.html</a:t>
            </a:r>
          </a:p>
          <a:p xmlns:a="http://schemas.openxmlformats.org/drawingml/2006/main">
            <a:r>
              <a:t>該当箇所 対象機と2026年4月受注分からの標準提供。検索収録と既存根拠台帳で確認</a:t>
            </a:r>
          </a:p>
          <a:p xmlns:a="http://schemas.openxmlformats.org/drawingml/2006/main">
            <a:r>
              <a:t>公開 2026-07-06／確認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三菱電機 JIMTOF2026 出展案内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該当箇所 CNC・省人化ソリューションと実機展示なしの注記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ジェイテクト JIMTOF2026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該当箇所 Mill-Plan・ファインティーチレス・工場マネジメント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S25 パナソニック AI支援型遠隔操作の実証</a:t>
            </a:r>
          </a:p>
          <a:p xmlns:a="http://schemas.openxmlformats.org/drawingml/2006/main">
            <a:r>
              <a:t>https://news.panasonic.com/jp/press/jn260713-1</a:t>
            </a:r>
          </a:p>
          <a:p xmlns:a="http://schemas.openxmlformats.org/drawingml/2006/main">
            <a:r>
              <a:t>該当箇所 障害物停止時の人による遠隔回避。別会場の実証</a:t>
            </a:r>
          </a:p>
          <a:p xmlns:a="http://schemas.openxmlformats.org/drawingml/2006/main">
            <a:r>
              <a:t>公開 2026-07-13／確認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2026年版ものづくり白書 概要</a:t>
            </a:r>
          </a:p>
          <a:p xmlns:a="http://schemas.openxmlformats.org/drawingml/2006/main">
            <a:r>
              <a:t>https://www.meti.go.jp/report/whitepaper/mono/2026/pdf/gaiyo.pdf</a:t>
            </a:r>
          </a:p>
          <a:p xmlns:a="http://schemas.openxmlformats.org/drawingml/2006/main">
            <a:r>
              <a:t>該当箇所 20ページ AIロボティクス戦略の整理</a:t>
            </a:r>
          </a:p>
          <a:p xmlns:a="http://schemas.openxmlformats.org/drawingml/2006/main">
            <a:r>
              <a:t>公開 2026-05／確認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MCP Adapterは提供計画。既存台帳EDP-06と照合</a:t>
            </a:r>
          </a:p>
          <a:p xmlns:a="http://schemas.openxmlformats.org/drawingml/2006/main">
            <a:r>
              <a:t>公開 2026-06／確認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S16 Hexagon JIMTOF2026 国内初展示</a:t>
            </a:r>
          </a:p>
          <a:p xmlns:a="http://schemas.openxmlformats.org/drawingml/2006/main">
            <a:r>
              <a:t>https://prtimes.jp/main/html/rd/p/000000027.000148625.html</a:t>
            </a:r>
          </a:p>
          <a:p xmlns:a="http://schemas.openxmlformats.org/drawingml/2006/main">
            <a:r>
              <a:t>該当箇所 E2013・E7035・ProPlanAIとMAESTRO</a:t>
            </a:r>
          </a:p>
          <a:p xmlns:a="http://schemas.openxmlformats.org/drawingml/2006/main">
            <a:r>
              <a:t>公開 2026-10-14／確認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ESPRIT EDGE リリース履歴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ProPlanAI導入・2026.1旋削等の商用拡張・2026.2も掲載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CloudNC Mastercam向け提供開始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3軸・3+2軸、北米販売を含む提供開始発表</a:t>
            </a:r>
          </a:p>
          <a:p xmlns:a="http://schemas.openxmlformats.org/drawingml/2006/main">
            <a:r>
              <a:t>公開 2024-07-25／確認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CloudNC CAM Assist for Mastercam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戦略生成とプログラマーの確認・調整。版と国内提供条件は現地確認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Beckhoff TwinCAT Chat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PLCコード作成支援の既存性</a:t>
            </a:r>
          </a:p>
          <a:p xmlns:a="http://schemas.openxmlformats.org/drawingml/2006/main">
            <a:r>
              <a:t>公開 2023-04／確認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匠フォース 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引合受領から見積書作成・人の確認修正承認</a:t>
            </a:r>
          </a:p>
          <a:p xmlns:a="http://schemas.openxmlformats.org/drawingml/2006/main">
            <a:r>
              <a:t>公開 2026-07-17／確認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オークマ JIMTOF2026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ARMROID・OMR20・Tower APC・AI and Intelligent Technologies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中村留 JIMTOF2026</a:t>
            </a:r>
          </a:p>
          <a:p xmlns:a="http://schemas.openxmlformats.org/drawingml/2006/main">
            <a:r>
              <a:t>https://www.nakamura-tome.co.jp/lp/jimtof2026/</a:t>
            </a:r>
          </a:p>
          <a:p xmlns:a="http://schemas.openxmlformats.org/drawingml/2006/main">
            <a:r>
              <a:t>該当箇所 RoboSync・既存台車／パレットの利用・E2027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C17-2026-1 株式会社ツガミ 2026公式出展説明</a:t>
            </a:r>
          </a:p>
          <a:p xmlns:a="http://schemas.openxmlformats.org/drawingml/2006/main">
            <a:r>
              <a:t>https://www.jimtof.org/search/jp/ESdetails?e=fKOIqkxqaBI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C17-2024-1 株式会社ツガミ 2024公式出展説明</a:t>
            </a:r>
          </a:p>
          <a:p xmlns:a="http://schemas.openxmlformats.org/drawingml/2006/main">
            <a:r>
              <a:t>https://www.jimtof.org/2024/search/jp/ESdetails?e=5KpFSEqJrhg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C30-2026-1 株式会社FUJI 2026公式出展説明</a:t>
            </a:r>
          </a:p>
          <a:p xmlns:a="http://schemas.openxmlformats.org/drawingml/2006/main">
            <a:r>
              <a:t>https://www.jimtof.org/search/jp/ESdetails?e=xJlXi-VNzio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C30-2024-1 株式会社FUJI 2024公式出展説明</a:t>
            </a:r>
          </a:p>
          <a:p xmlns:a="http://schemas.openxmlformats.org/drawingml/2006/main">
            <a:r>
              <a:t>https://www.jimtof.org/2024/search/jp/ESdetails?e=UZiobfgROkY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レニショー JIMTOF2024 Central紹介</a:t>
            </a:r>
          </a:p>
          <a:p xmlns:a="http://schemas.openxmlformats.org/drawingml/2006/main">
            <a:r>
              <a:t>https://www.renishaw.com/jp/renishaws-new-smart-manufacturing-data-platform-showcases-smart-factory-automation-at-imts-2024--48184</a:t>
            </a:r>
          </a:p>
          <a:p xmlns:a="http://schemas.openxmlformats.org/drawingml/2006/main">
            <a:r>
              <a:t>該当箇所 2024年時点のRenishaw Central展示</a:t>
            </a:r>
          </a:p>
          <a:p xmlns:a="http://schemas.openxmlformats.org/drawingml/2006/main">
            <a:r>
              <a:t>公開 2024年の展示案内／確認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Renishaw Centralと工程制御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計測データ収集・処理・工程制御。既存根拠台帳も参照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 HACARUS Check ZERO 正式販売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少量良品学習・追加学習。発売は2025年</a:t>
            </a:r>
          </a:p>
          <a:p xmlns:a="http://schemas.openxmlformats.org/drawingml/2006/main">
            <a:r>
              <a:t>公開 2025-07-07／確認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EOV-V021-2026-1 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EOV-W06 AI外観検査ソリューション HACARUS Check</a:t>
            </a:r>
          </a:p>
          <a:p xmlns:a="http://schemas.openxmlformats.org/drawingml/2006/main">
            <a:r>
              <a:t>https://hacarus.com/ja/technology/hacarus-check-series/</a:t>
            </a:r>
          </a:p>
          <a:p xmlns:a="http://schemas.openxmlformats.org/drawingml/2006/main">
            <a:r>
              <a:t>該当箇所 2026.04.06本文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 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公開 2025年資料／確認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EDP-15 Checkシリーズ公式製品説明</a:t>
            </a:r>
          </a:p>
          <a:p xmlns:a="http://schemas.openxmlformats.org/drawingml/2006/main">
            <a:r>
              <a:t>https://check.hacarus.com/ja/</a:t>
            </a:r>
          </a:p>
          <a:p xmlns:a="http://schemas.openxmlformats.org/drawingml/2006/main">
            <a:r>
              <a:t>該当箇所 Check ZERO／デュアルチューニング／機器構成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 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公開 2026年資料／確認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2024年資料／確認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C25-2026-1 ハイデンハイン株式会社 2026公式出展説明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C25-2024-1 ハイデンハイン株式会社 2024公式出展説明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S06 DMG MORI Condition Agent</a:t>
            </a:r>
          </a:p>
          <a:p xmlns:a="http://schemas.openxmlformats.org/drawingml/2006/main">
            <a:r>
              <a:t>https://www.dmgmori.co.jp/corporate/en/news/2026/20260706_conditionagent_e.html</a:t>
            </a:r>
          </a:p>
          <a:p xmlns:a="http://schemas.openxmlformats.org/drawingml/2006/main">
            <a:r>
              <a:t>該当箇所 対象機と2026年4月受注分からの標準提供。検索収録と既存根拠台帳で確認</a:t>
            </a:r>
          </a:p>
          <a:p xmlns:a="http://schemas.openxmlformats.org/drawingml/2006/main">
            <a:r>
              <a:t>公開 2026-07-06／確認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三菱電機 JIMTOF2026 出展案内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該当箇所 CNC・省人化ソリューションと実機展示なしの注記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S25 パナソニック AI支援型遠隔操作の実証</a:t>
            </a:r>
          </a:p>
          <a:p xmlns:a="http://schemas.openxmlformats.org/drawingml/2006/main">
            <a:r>
              <a:t>https://news.panasonic.com/jp/press/jn260713-1</a:t>
            </a:r>
          </a:p>
          <a:p xmlns:a="http://schemas.openxmlformats.org/drawingml/2006/main">
            <a:r>
              <a:t>該当箇所 障害物停止時の人による遠隔回避。別会場の実証</a:t>
            </a:r>
          </a:p>
          <a:p xmlns:a="http://schemas.openxmlformats.org/drawingml/2006/main">
            <a:r>
              <a:t>公開 2026-07-13／確認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EOV-V016-2026-1 JIMTOF2026公式カタログ：パナソニックプロダクションエンジニアリング株式会社 (W3086)</a:t>
            </a:r>
          </a:p>
          <a:p xmlns:a="http://schemas.openxmlformats.org/drawingml/2006/main">
            <a:r>
              <a:t>https://www.jimtof.org/search/jp/ESdetails?e=5mrMofo3nN8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EOV-W05 X-Area</a:t>
            </a:r>
          </a:p>
          <a:p xmlns:a="http://schemas.openxmlformats.org/drawingml/2006/main">
            <a:r>
              <a:t>https://www.panasonic.com/jp/company/ppe/products/x-area.html</a:t>
            </a:r>
          </a:p>
          <a:p xmlns:a="http://schemas.openxmlformats.org/drawingml/2006/main">
            <a:r>
              <a:t>該当箇所 サービス概要、システム構成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EOV-W09 工場敷地内でのX-Area Remote実証</a:t>
            </a:r>
          </a:p>
          <a:p xmlns:a="http://schemas.openxmlformats.org/drawingml/2006/main">
            <a:r>
              <a:t>https://tech.panasonic.com/jp/td/news/20221124.html</a:t>
            </a:r>
          </a:p>
          <a:p xmlns:a="http://schemas.openxmlformats.org/drawingml/2006/main">
            <a:r>
              <a:t>該当箇所 2022/11/24 NEWS &amp; TOPICS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EDP-24 屋外自動搬送とX-Area Remoteの実証</a:t>
            </a:r>
          </a:p>
          <a:p xmlns:a="http://schemas.openxmlformats.org/drawingml/2006/main">
            <a:r>
              <a:t>https://news.panasonic.com/jp/press/jn260713-1</a:t>
            </a:r>
          </a:p>
          <a:p xmlns:a="http://schemas.openxmlformats.org/drawingml/2006/main">
            <a:r>
              <a:t>該当箇所 障害物停止時に自動運転から人の遠隔操作へ切替／担当者とセーフティドライバー</a:t>
            </a:r>
          </a:p>
          <a:p xmlns:a="http://schemas.openxmlformats.org/drawingml/2006/main">
            <a:r>
              <a:t>公開 2026年資料／確認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S03 2026年版ものづくり白書 概要</a:t>
            </a:r>
          </a:p>
          <a:p xmlns:a="http://schemas.openxmlformats.org/drawingml/2006/main">
            <a:r>
              <a:t>https://www.meti.go.jp/report/whitepaper/mono/2026/pdf/gaiyo.pdf</a:t>
            </a:r>
          </a:p>
          <a:p xmlns:a="http://schemas.openxmlformats.org/drawingml/2006/main">
            <a:r>
              <a:t>該当箇所 20ページ AIロボティクス戦略の整理</a:t>
            </a:r>
          </a:p>
          <a:p xmlns:a="http://schemas.openxmlformats.org/drawingml/2006/main">
            <a:r>
              <a:t>公開 2026-05／確認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MCP Adapterは提供計画。既存台帳EDP-06と照合</a:t>
            </a:r>
          </a:p>
          <a:p xmlns:a="http://schemas.openxmlformats.org/drawingml/2006/main">
            <a:r>
              <a:t>公開 2026-06／確認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C07-2026-1 シーメンス株式会社 2026公式出展説明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C07-2024-1 シーメンス株式会社 2024公式出展説明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DMG MORI Condition Agent</a:t>
            </a:r>
          </a:p>
          <a:p xmlns:a="http://schemas.openxmlformats.org/drawingml/2006/main">
            <a:r>
              <a:t>https://www.dmgmori.co.jp/corporate/en/news/2026/20260706_conditionagent_e.html</a:t>
            </a:r>
          </a:p>
          <a:p xmlns:a="http://schemas.openxmlformats.org/drawingml/2006/main">
            <a:r>
              <a:t>該当箇所 対象機と2026年4月受注分からの標準提供。検索収録と既存根拠台帳で確認</a:t>
            </a:r>
          </a:p>
          <a:p xmlns:a="http://schemas.openxmlformats.org/drawingml/2006/main">
            <a:r>
              <a:t>公開 2026-07-06／確認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C01-2026-1 DMG森精機株式会社 2026公式出展説明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C01-2024-1 DMG森精機株式会社 2024公式出展説明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C01-2024-2 DMG森精機株式会社 2024公式出展説明</a:t>
            </a:r>
          </a:p>
          <a:p xmlns:a="http://schemas.openxmlformats.org/drawingml/2006/main">
            <a:r>
              <a:t>https://www.jimtof.org/2024/search/jp/ESdetails?e=ym-EER7BJeY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オークマ JIMTOF2026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ARMROID・OMR20・Tower APC・AI and Intelligent Technologies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C03-2026-1 オークマ株式会社 2026公式出展説明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C03-2024-1 オークマ株式会社 2024公式出展説明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マザック JIMTOF2026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該当箇所 工程集約・E1001・AI紹介動画の公開予定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C02-2026-1 ヤマザキマザック株式会社 2026公式出展説明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C02-2024-1 ヤマザキマザック株式会社 2024公式出展説明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Hexagon JIMTOF2026 国内初展示</a:t>
            </a:r>
          </a:p>
          <a:p xmlns:a="http://schemas.openxmlformats.org/drawingml/2006/main">
            <a:r>
              <a:t>https://prtimes.jp/main/html/rd/p/000000027.000148625.html</a:t>
            </a:r>
          </a:p>
          <a:p xmlns:a="http://schemas.openxmlformats.org/drawingml/2006/main">
            <a:r>
              <a:t>該当箇所 E2013・E7035・ProPlanAIとMAESTRO</a:t>
            </a:r>
          </a:p>
          <a:p xmlns:a="http://schemas.openxmlformats.org/drawingml/2006/main">
            <a:r>
              <a:t>公開 2026-10-14／確認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ESPRIT EDGE リリース履歴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ProPlanAI導入・2026.1旋削等の商用拡張・2026.2も掲載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C27-2026-1 Hexagon Manufacturing Intelligence株式会社 2026公式出展説明</a:t>
            </a:r>
          </a:p>
          <a:p xmlns:a="http://schemas.openxmlformats.org/drawingml/2006/main">
            <a:r>
              <a:t>https://www.jimtof.org/search/jp/ESdetails?e=oUyVPjxvy-U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C27-2026-2 Hexagon Manufacturing Intelligence株式会社 2026公式出展説明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Beckhoff TwinCAT Chat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PLCコード作成支援の既存性</a:t>
            </a:r>
          </a:p>
          <a:p xmlns:a="http://schemas.openxmlformats.org/drawingml/2006/main">
            <a:r>
              <a:t>公開 2023-04／確認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C26-2026-1 ベッコフオートメーション株式会社 2026公式出展説明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C31-2026-1 株式会社TAKISAWA 2026公式出展説明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C31-2024-1 株式会社TAKISAWA 2024公式出展説明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C22-2026-1 株式会社ミツトヨ 2026公式出展説明</a:t>
            </a:r>
          </a:p>
          <a:p xmlns:a="http://schemas.openxmlformats.org/drawingml/2006/main">
            <a:r>
              <a:t>https://www.jimtof.org/search/jp/ESdetails?e=a7y3JtW8DXM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C22-2024-1 株式会社ミツトヨ 2024公式出展説明</a:t>
            </a:r>
          </a:p>
          <a:p xmlns:a="http://schemas.openxmlformats.org/drawingml/2006/main">
            <a:r>
              <a:t>https://www.jimtof.org/2024/search/jp/ESdetails?e=1CDoltPa9rk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レニショー JIMTOF2024 Central紹介</a:t>
            </a:r>
          </a:p>
          <a:p xmlns:a="http://schemas.openxmlformats.org/drawingml/2006/main">
            <a:r>
              <a:t>https://www.renishaw.com/jp/renishaws-new-smart-manufacturing-data-platform-showcases-smart-factory-automation-at-imts-2024--48184</a:t>
            </a:r>
          </a:p>
          <a:p xmlns:a="http://schemas.openxmlformats.org/drawingml/2006/main">
            <a:r>
              <a:t>該当箇所 2024年時点のRenishaw Central展示</a:t>
            </a:r>
          </a:p>
          <a:p xmlns:a="http://schemas.openxmlformats.org/drawingml/2006/main">
            <a:r>
              <a:t>公開 2024年の展示案内／確認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Renishaw Centralと工程制御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計測データ収集・処理・工程制御。既存根拠台帳も参照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C24-2026-1 レニショー株式会社 2026公式出展説明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C24-2024-1 レニショー株式会社 2024公式出展説明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C07-2026-1 シーメンス株式会社 2026公式出展説明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C07-2024-1 シーメンス株式会社 2024公式出展説明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中村留 JIMTOF2026</a:t>
            </a:r>
          </a:p>
          <a:p xmlns:a="http://schemas.openxmlformats.org/drawingml/2006/main">
            <a:r>
              <a:t>https://www.nakamura-tome.co.jp/lp/jimtof2026/</a:t>
            </a:r>
          </a:p>
          <a:p xmlns:a="http://schemas.openxmlformats.org/drawingml/2006/main">
            <a:r>
              <a:t>該当箇所 RoboSync・既存台車／パレットの利用・E2027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C29-2026-1 中村留精密工業株式会社 2026公式出展説明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C29-2024-1 中村留精密工業株式会社 2024公式出展説明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2024年資料／確認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2024年資料／確認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July 25, 2024／3軸・3+2軸向け。北米販売開始の説明</a:t>
            </a:r>
          </a:p>
          <a:p xmlns:a="http://schemas.openxmlformats.org/drawingml/2006/main">
            <a:r>
              <a:t>公開 2024年資料／確認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ERF-03 Mastercam CAM Assist：確認・調整と学習方針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仕組みStep 2–4／FAQ：顧客データで学習しない、加工性評価、編集可能CAM</a:t>
            </a:r>
          </a:p>
          <a:p xmlns:a="http://schemas.openxmlformats.org/drawingml/2006/main">
            <a:r>
              <a:t>公開 2026年資料／確認 2026-10-18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C05-2026-1 ファナック株式会社 2026公式出展説明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C05-2024-1 ファナック株式会社 2024公式出展説明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三菱電機 JIMTOF2026 出展案内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該当箇所 CNC・省人化ソリューションと実機展示なしの注記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C06-2026-1 三菱電機株式会社 2026公式出展説明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C06-2024-1 三菱電機株式会社 2024公式出展説明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EOV-V021-2026-1 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EOV-W06 AI外観検査ソリューション HACARUS Check</a:t>
            </a:r>
          </a:p>
          <a:p xmlns:a="http://schemas.openxmlformats.org/drawingml/2006/main">
            <a:r>
              <a:t>https://hacarus.com/ja/technology/hacarus-check-series/</a:t>
            </a:r>
          </a:p>
          <a:p xmlns:a="http://schemas.openxmlformats.org/drawingml/2006/main">
            <a:r>
              <a:t>該当箇所 2026.04.06本文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 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公開 2025年資料／確認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EDP-15 Checkシリーズ公式製品説明</a:t>
            </a:r>
          </a:p>
          <a:p xmlns:a="http://schemas.openxmlformats.org/drawingml/2006/main">
            <a:r>
              <a:t>https://check.hacarus.com/ja/</a:t>
            </a:r>
          </a:p>
          <a:p xmlns:a="http://schemas.openxmlformats.org/drawingml/2006/main">
            <a:r>
              <a:t>該当箇所 Check ZERO／デュアルチューニング／機器構成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 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公開 2026年資料／確認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2024年資料／確認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EOV-V011-2024-1 JIMTOF2024公式カタログ：株式会社たけびし (E7053)</a:t>
            </a:r>
          </a:p>
          <a:p xmlns:a="http://schemas.openxmlformats.org/drawingml/2006/main">
            <a:r>
              <a:t>https://www.jimtof.org/2024/search/jp/ESdetails?e=SiZMI-OH8_k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2024年資料／確認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EOV-V011-2026-1 JIMTOF2026公式カタログ：株式会社たけびし (S3015)</a:t>
            </a:r>
          </a:p>
          <a:p xmlns:a="http://schemas.openxmlformats.org/drawingml/2006/main">
            <a:r>
              <a:t>https://www.jimtof.org/search/jp/ESdetails?e=Qh27DAtEkbw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EDP-06 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A New Approach to Connecting AI Agents／MCP Adapterはplanning to provide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EOV-V016-2026-1 JIMTOF2026公式カタログ：パナソニックプロダクションエンジニアリング株式会社 (W3086)</a:t>
            </a:r>
          </a:p>
          <a:p xmlns:a="http://schemas.openxmlformats.org/drawingml/2006/main">
            <a:r>
              <a:t>https://www.jimtof.org/search/jp/ESdetails?e=5mrMofo3nN8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EOV-W05 X-Area</a:t>
            </a:r>
          </a:p>
          <a:p xmlns:a="http://schemas.openxmlformats.org/drawingml/2006/main">
            <a:r>
              <a:t>https://www.panasonic.com/jp/company/ppe/products/x-area.html</a:t>
            </a:r>
          </a:p>
          <a:p xmlns:a="http://schemas.openxmlformats.org/drawingml/2006/main">
            <a:r>
              <a:t>該当箇所 サービス概要、システム構成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EOV-W09 工場敷地内でのX-Area Remote実証</a:t>
            </a:r>
          </a:p>
          <a:p xmlns:a="http://schemas.openxmlformats.org/drawingml/2006/main">
            <a:r>
              <a:t>https://tech.panasonic.com/jp/td/news/20221124.html</a:t>
            </a:r>
          </a:p>
          <a:p xmlns:a="http://schemas.openxmlformats.org/drawingml/2006/main">
            <a:r>
              <a:t>該当箇所 2022/11/24 NEWS &amp; TOPICS</a:t>
            </a:r>
          </a:p>
          <a:p xmlns:a="http://schemas.openxmlformats.org/drawingml/2006/main">
            <a:r>
              <a:t>公開 0年資料／確認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EDP-24 屋外自動搬送とX-Area Remoteの実証</a:t>
            </a:r>
          </a:p>
          <a:p xmlns:a="http://schemas.openxmlformats.org/drawingml/2006/main">
            <a:r>
              <a:t>https://news.panasonic.com/jp/press/jn260713-1</a:t>
            </a:r>
          </a:p>
          <a:p xmlns:a="http://schemas.openxmlformats.org/drawingml/2006/main">
            <a:r>
              <a:t>該当箇所 障害物停止時に自動運転から人の遠隔操作へ切替／担当者とセーフティドライバー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EOV-V041-2026-1 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 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EOV-V042-2026-1 JIMTOF2026公式カタログ：興和オプトロニクス株式会社 (S3104)</a:t>
            </a:r>
          </a:p>
          <a:p xmlns:a="http://schemas.openxmlformats.org/drawingml/2006/main">
            <a:r>
              <a:t>https://www.jimtof.org/search/jp/ESdetails?e=v6nw4APC-vQ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公開 2026年資料／確認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EDP-33 RW回転機構付きビジョンユニット</a:t>
            </a:r>
          </a:p>
          <a:p xmlns:a="http://schemas.openxmlformats.org/drawingml/2006/main">
            <a:r>
              <a:t>https://optical.kowa-opt.co.jp/camera-rw/</a:t>
            </a:r>
          </a:p>
          <a:p xmlns:a="http://schemas.openxmlformats.org/drawingml/2006/main">
            <a:r>
              <a:t>該当箇所 ビジョンプロセッサ併用の不良ヒートマップ・切粉巻付きアラート・工具欠損検出</a:t>
            </a:r>
          </a:p>
          <a:p xmlns:a="http://schemas.openxmlformats.org/drawingml/2006/main">
            <a:r>
              <a:t>公開 2026年資料／確認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1日しかない場合は東と南に絞り、マザック、Hexagon CAM、Beckhoff、オークマ、TAKISAWA、DMG森精機、ファナックを中心に、計測はミツトヨかレニショーのどちらかを選ぶ。西の工具・周辺は別担当または事前資料で補完する。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S01 JIMTOF2026 開催概要</a:t>
            </a:r>
          </a:p>
          <a:p xmlns:a="http://schemas.openxmlformats.org/drawingml/2006/main">
            <a:r>
              <a:t>https://www.jimtof.org/jp/outline.html</a:t>
            </a:r>
          </a:p>
          <a:p xmlns:a="http://schemas.openxmlformats.org/drawingml/2006/main">
            <a:r>
              <a:t>該当箇所 会期・開場時間・東4〜6ホール休館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JIMTOF2026 企画展示と特別企画</a:t>
            </a:r>
          </a:p>
          <a:p xmlns:a="http://schemas.openxmlformats.org/drawingml/2006/main">
            <a:r>
              <a:t>https://www.jimtof.org/jp/evt_show.html</a:t>
            </a:r>
          </a:p>
          <a:p xmlns:a="http://schemas.openxmlformats.org/drawingml/2006/main">
            <a:r>
              <a:t>該当箇所 ロボティクス企画・きさげロボット・AM ZONE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S16 Hexagon JIMTOF2026 国内初展示</a:t>
            </a:r>
          </a:p>
          <a:p xmlns:a="http://schemas.openxmlformats.org/drawingml/2006/main">
            <a:r>
              <a:t>https://prtimes.jp/main/html/rd/p/000000027.000148625.html</a:t>
            </a:r>
          </a:p>
          <a:p xmlns:a="http://schemas.openxmlformats.org/drawingml/2006/main">
            <a:r>
              <a:t>該当箇所 E2013・E7035・ProPlanAIとMAESTRO</a:t>
            </a:r>
          </a:p>
          <a:p xmlns:a="http://schemas.openxmlformats.org/drawingml/2006/main">
            <a:r>
              <a:t>公開 2026-10-14／確認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ESPRIT EDGE リリース履歴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ProPlanAI導入・2026.1旋削等の商用拡張・2026.2も掲載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CloudNC Mastercam向け提供開始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3軸・3+2軸、北米販売を含む提供開始発表</a:t>
            </a:r>
          </a:p>
          <a:p xmlns:a="http://schemas.openxmlformats.org/drawingml/2006/main">
            <a:r>
              <a:t>公開 2024-07-25／確認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CloudNC CAM Assist for Mastercam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戦略生成とプログラマーの確認・調整。版と国内提供条件は現地確認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Beckhoff TwinCAT Chat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PLCコード作成支援の既存性</a:t>
            </a:r>
          </a:p>
          <a:p xmlns:a="http://schemas.openxmlformats.org/drawingml/2006/main">
            <a:r>
              <a:t>公開 2023-04／確認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匠フォース 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引合受領から見積書作成・人の確認修正承認</a:t>
            </a:r>
          </a:p>
          <a:p xmlns:a="http://schemas.openxmlformats.org/drawingml/2006/main">
            <a:r>
              <a:t>公開 2026-07-17／確認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JIMTOF2026 企画展示と特別企画</a:t>
            </a:r>
          </a:p>
          <a:p xmlns:a="http://schemas.openxmlformats.org/drawingml/2006/main">
            <a:r>
              <a:t>https://www.jimtof.org/jp/evt_show.html</a:t>
            </a:r>
          </a:p>
          <a:p xmlns:a="http://schemas.openxmlformats.org/drawingml/2006/main">
            <a:r>
              <a:t>該当箇所 ロボティクス企画・きさげロボット・AM ZONE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オークマ JIMTOF2026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ARMROID・OMR20・Tower APC・AI and Intelligent Technologies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中村留 JIMTOF2026</a:t>
            </a:r>
          </a:p>
          <a:p xmlns:a="http://schemas.openxmlformats.org/drawingml/2006/main">
            <a:r>
              <a:t>https://www.nakamura-tome.co.jp/lp/jimtof2026/</a:t>
            </a:r>
          </a:p>
          <a:p xmlns:a="http://schemas.openxmlformats.org/drawingml/2006/main">
            <a:r>
              <a:t>該当箇所 RoboSync・既存台車／パレットの利用・E2027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松浦機械 JIMTOF2026</a:t>
            </a:r>
          </a:p>
          <a:p xmlns:a="http://schemas.openxmlformats.org/drawingml/2006/main">
            <a:r>
              <a:t>https://exhibition-matsuura.com/entrance/</a:t>
            </a:r>
          </a:p>
          <a:p xmlns:a="http://schemas.openxmlformats.org/drawingml/2006/main">
            <a:r>
              <a:t>該当箇所 MX-850T PC4・MX-520T PC7・GibbsCAM2026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レニショー JIMTOF2024 Central紹介</a:t>
            </a:r>
          </a:p>
          <a:p xmlns:a="http://schemas.openxmlformats.org/drawingml/2006/main">
            <a:r>
              <a:t>https://www.renishaw.com/jp/renishaws-new-smart-manufacturing-data-platform-showcases-smart-factory-automation-at-imts-2024--48184</a:t>
            </a:r>
          </a:p>
          <a:p xmlns:a="http://schemas.openxmlformats.org/drawingml/2006/main">
            <a:r>
              <a:t>該当箇所 2024年時点のRenishaw Central展示</a:t>
            </a:r>
          </a:p>
          <a:p xmlns:a="http://schemas.openxmlformats.org/drawingml/2006/main">
            <a:r>
              <a:t>公開 2024年の展示案内／確認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Renishaw Centralと工程制御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計測データ収集・処理・工程制御。既存根拠台帳も参照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 HACARUS Check ZERO 正式販売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少量良品学習・追加学習。発売は2025年</a:t>
            </a:r>
          </a:p>
          <a:p xmlns:a="http://schemas.openxmlformats.org/drawingml/2006/main">
            <a:r>
              <a:t>公開 2025-07-07／確認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DMG MORI Condition Agent</a:t>
            </a:r>
          </a:p>
          <a:p xmlns:a="http://schemas.openxmlformats.org/drawingml/2006/main">
            <a:r>
              <a:t>https://www.dmgmori.co.jp/corporate/en/news/2026/20260706_conditionagent_e.html</a:t>
            </a:r>
          </a:p>
          <a:p xmlns:a="http://schemas.openxmlformats.org/drawingml/2006/main">
            <a:r>
              <a:t>該当箇所 対象機と2026年4月受注分からの標準提供。検索収録と既存根拠台帳で確認</a:t>
            </a:r>
          </a:p>
          <a:p xmlns:a="http://schemas.openxmlformats.org/drawingml/2006/main">
            <a:r>
              <a:t>公開 2026-07-06／確認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三菱電機 JIMTOF2026 出展案内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該当箇所 CNC・省人化ソリューションと実機展示なしの注記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ジェイテクト JIMTOF2026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該当箇所 Mill-Plan・ファインティーチレス・工場マネジメント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S25 パナソニック AI支援型遠隔操作の実証</a:t>
            </a:r>
          </a:p>
          <a:p xmlns:a="http://schemas.openxmlformats.org/drawingml/2006/main">
            <a:r>
              <a:t>https://news.panasonic.com/jp/press/jn260713-1</a:t>
            </a:r>
          </a:p>
          <a:p xmlns:a="http://schemas.openxmlformats.org/drawingml/2006/main">
            <a:r>
              <a:t>該当箇所 障害物停止時の人による遠隔回避。別会場の実証</a:t>
            </a:r>
          </a:p>
          <a:p xmlns:a="http://schemas.openxmlformats.org/drawingml/2006/main">
            <a:r>
              <a:t>公開 2026-07-13／確認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2026年版ものづくり白書 概要</a:t>
            </a:r>
          </a:p>
          <a:p xmlns:a="http://schemas.openxmlformats.org/drawingml/2006/main">
            <a:r>
              <a:t>https://www.meti.go.jp/report/whitepaper/mono/2026/pdf/gaiyo.pdf</a:t>
            </a:r>
          </a:p>
          <a:p xmlns:a="http://schemas.openxmlformats.org/drawingml/2006/main">
            <a:r>
              <a:t>該当箇所 20ページ AIロボティクス戦略の整理</a:t>
            </a:r>
          </a:p>
          <a:p xmlns:a="http://schemas.openxmlformats.org/drawingml/2006/main">
            <a:r>
              <a:t>公開 2026-05／確認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MCP Adapterは提供計画。既存台帳EDP-06と照合</a:t>
            </a:r>
          </a:p>
          <a:p xmlns:a="http://schemas.openxmlformats.org/drawingml/2006/main">
            <a:r>
              <a:t>公開 2026-06／確認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DMG森精機</a:t>
            </a:r>
          </a:p>
          <a:p xmlns:a="http://schemas.openxmlformats.org/drawingml/2006/main">
            <a:r>
              <a:t>2024との比較 2024の工程集約・AMR・DXを継続し、搬送対象と爪・工具交換、保全までの構成を具体化。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ヤマザキマザック</a:t>
            </a:r>
          </a:p>
          <a:p xmlns:a="http://schemas.openxmlformats.org/drawingml/2006/main">
            <a:r>
              <a:t>2024との比較 2024から工程集約と自動化を提案。2026はINTEGREXを軸に加工領域を拡張。AIの新機能差は要確認。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オークマ</a:t>
            </a:r>
          </a:p>
          <a:p xmlns:a="http://schemas.openxmlformats.org/drawingml/2006/main">
            <a:r>
              <a:t>2024との比較 ARMROID・OMR20は2024から継続。2026は新機種とAI・熱変位制御を訴求。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牧野フライス製作所</a:t>
            </a:r>
          </a:p>
          <a:p xmlns:a="http://schemas.openxmlformats.org/drawingml/2006/main">
            <a:r>
              <a:t>2024との比較 2024に自動化パッケージ。2026はライン全体とソフト・保守を含む提案を記載。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ファナック</a:t>
            </a:r>
          </a:p>
          <a:p xmlns:a="http://schemas.openxmlformats.org/drawingml/2006/main">
            <a:r>
              <a:t>2024との比較 2024のAIバラ積み・CNC・ツインに対し、2026は生成AIとフィジカルAIを明示。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DMG MORI Condition Agent</a:t>
            </a:r>
          </a:p>
          <a:p xmlns:a="http://schemas.openxmlformats.org/drawingml/2006/main">
            <a:r>
              <a:t>https://www.dmgmori.co.jp/corporate/en/news/2026/20260706_conditionagent_e.html</a:t>
            </a:r>
          </a:p>
          <a:p xmlns:a="http://schemas.openxmlformats.org/drawingml/2006/main">
            <a:r>
              <a:t>該当箇所 対象機と2026年4月受注分からの標準提供。検索収録と既存根拠台帳で確認</a:t>
            </a:r>
          </a:p>
          <a:p xmlns:a="http://schemas.openxmlformats.org/drawingml/2006/main">
            <a:r>
              <a:t>公開 2026-07-06／確認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C01-2026-1 DMG森精機株式会社 2026公式出展説明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C01-2024-1 DMG森精機株式会社 2024公式出展説明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C01-2024-2 DMG森精機株式会社 2024公式出展説明</a:t>
            </a:r>
          </a:p>
          <a:p xmlns:a="http://schemas.openxmlformats.org/drawingml/2006/main">
            <a:r>
              <a:t>https://www.jimtof.org/2024/search/jp/ESdetails?e=ym-EER7BJeY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マザック JIMTOF2026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該当箇所 工程集約・E1001・AI紹介動画の公開予定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C02-2026-1 ヤマザキマザック株式会社 2026公式出展説明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C02-2024-1 ヤマザキマザック株式会社 2024公式出展説明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オークマ JIMTOF2026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ARMROID・OMR20・Tower APC・AI and Intelligent Technologies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C03-2026-1 オークマ株式会社 2026公式出展説明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C03-2024-1 オークマ株式会社 2024公式出展説明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C04-2026-1 株式会社牧野フライス製作所 2026公式出展説明</a:t>
            </a:r>
          </a:p>
          <a:p xmlns:a="http://schemas.openxmlformats.org/drawingml/2006/main">
            <a:r>
              <a:t>https://www.jimtof.org/search/jp/ESdetails?e=M5OL10ECBTE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C04-2024-1 株式会社牧野フライス製作所 2024公式出展説明</a:t>
            </a:r>
          </a:p>
          <a:p xmlns:a="http://schemas.openxmlformats.org/drawingml/2006/main">
            <a:r>
              <a:t>https://www.jimtof.org/2024/search/jp/ESdetails?e=95Yl5dQv2vI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C05-2026-1 ファナック株式会社 2026公式出展説明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C05-2024-1 ファナック株式会社 2024公式出展説明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三菱電機</a:t>
            </a:r>
          </a:p>
          <a:p xmlns:a="http://schemas.openxmlformats.org/drawingml/2006/main">
            <a:r>
              <a:t>2024との比較 2024にもAI診断あり。2026は設計・加工・保守をつなぐ省人化を訴求。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シーメンス</a:t>
            </a:r>
          </a:p>
          <a:p xmlns:a="http://schemas.openxmlformats.org/drawingml/2006/main">
            <a:r>
              <a:t>2024との比較 2024のXcelerator・NX・CNCから、2026は設計と品質保証をつなぐ構成を訴求。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ジェイテクト</a:t>
            </a:r>
          </a:p>
          <a:p xmlns:a="http://schemas.openxmlformats.org/drawingml/2006/main">
            <a:r>
              <a:t>2024との比較 2024の研削・操作支援に対し、2026は設備・人作業・情報・エネルギーを横断。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ニデックマシンツール</a:t>
            </a:r>
          </a:p>
          <a:p xmlns:a="http://schemas.openxmlformats.org/drawingml/2006/main">
            <a:r>
              <a:t>2024との比較 2024の機械・歯車ソリューションを継続。2026は大型機の仮想検証を具体化。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ニデックオーケーケー</a:t>
            </a:r>
          </a:p>
          <a:p xmlns:a="http://schemas.openxmlformats.org/drawingml/2006/main">
            <a:r>
              <a:t>2024との比較 2024から5軸・自動化。2026は省人化オプションと研削自動化を具体記載。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S10 三菱電機 JIMTOF2026 出展案内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該当箇所 CNC・省人化ソリューションと実機展示なしの注記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C06-2026-1 三菱電機株式会社 2026公式出展説明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C06-2024-1 三菱電機株式会社 2024公式出展説明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C07-2026-1 シーメンス株式会社 2026公式出展説明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C07-2024-1 シーメンス株式会社 2024公式出展説明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ジェイテクト JIMTOF2026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該当箇所 Mill-Plan・ファインティーチレス・工場マネジメント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C08-2026-1 株式会社ジェイテクト 2026公式出展説明</a:t>
            </a:r>
          </a:p>
          <a:p xmlns:a="http://schemas.openxmlformats.org/drawingml/2006/main">
            <a:r>
              <a:t>https://www.jimtof.org/search/jp/ESdetails?e=cW9RNSMEfso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C08-2024-1 株式会社ジェイテクト 2024公式出展説明</a:t>
            </a:r>
          </a:p>
          <a:p xmlns:a="http://schemas.openxmlformats.org/drawingml/2006/main">
            <a:r>
              <a:t>https://www.jimtof.org/2024/search/jp/ESdetails?e=mjIyOzHh7nU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C09-2026-1 ニデックマシンツール株式会社 2026公式出展説明</a:t>
            </a:r>
          </a:p>
          <a:p xmlns:a="http://schemas.openxmlformats.org/drawingml/2006/main">
            <a:r>
              <a:t>https://www.jimtof.org/search/jp/ESdetails?e=oS1WYTzqdvg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C09-2024-1 ニデックマシンツール株式会社 2024公式出展説明</a:t>
            </a:r>
          </a:p>
          <a:p xmlns:a="http://schemas.openxmlformats.org/drawingml/2006/main">
            <a:r>
              <a:t>https://www.jimtof.org/2024/search/jp/ESdetails?e=F6J7FmEp-qk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C09-2024-2 ニデックマシンツール株式会社 2024公式出展説明</a:t>
            </a:r>
          </a:p>
          <a:p xmlns:a="http://schemas.openxmlformats.org/drawingml/2006/main">
            <a:r>
              <a:t>https://www.jimtof.org/2024/search/jp/ESdetails?e=QF9JlOzN9Gk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C10-2026-1 ニデックオーケーケー株式会社 2026公式出展説明</a:t>
            </a:r>
          </a:p>
          <a:p xmlns:a="http://schemas.openxmlformats.org/drawingml/2006/main">
            <a:r>
              <a:t>https://www.jimtof.org/search/jp/ESdetails?e=cIGcLA71ub0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C10-2024-1 ニデックオーケーケー株式会社 2024公式出展説明</a:t>
            </a:r>
          </a:p>
          <a:p xmlns:a="http://schemas.openxmlformats.org/drawingml/2006/main">
            <a:r>
              <a:t>https://www.jimtof.org/2024/search/jp/ESdetails?e=15EOJWcvGE8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ソディック</a:t>
            </a:r>
          </a:p>
          <a:p xmlns:a="http://schemas.openxmlformats.org/drawingml/2006/main">
            <a:r>
              <a:t>2024との比較 2024にもAMR・ワークチェンジャ。2026は機械と搬送・IoTの組合せを訴求。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アマダ</a:t>
            </a:r>
          </a:p>
          <a:p xmlns:a="http://schemas.openxmlformats.org/drawingml/2006/main">
            <a:r>
              <a:t>2024との比較 2024にはAI-TASと自動計測補正を掲載。2026は5機種と省スペース化を訴求。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ブラザー工業</a:t>
            </a:r>
          </a:p>
          <a:p xmlns:a="http://schemas.openxmlformats.org/drawingml/2006/main">
            <a:r>
              <a:t>2024との比較 2024のNC機能・暖機レス支援から、2026は工具容量と多品種段取りを強調。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松浦機械製作所</a:t>
            </a:r>
          </a:p>
          <a:p xmlns:a="http://schemas.openxmlformats.org/drawingml/2006/main">
            <a:r>
              <a:t>2024との比較 2024から多パレット・MiOS4。2026は旋削と5軸の集約で加工対象を拡張。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シチズンマシナリー</a:t>
            </a:r>
          </a:p>
          <a:p xmlns:a="http://schemas.openxmlformats.org/drawingml/2006/main">
            <a:r>
              <a:t>2024との比較 2024からデジタルとFA支援。2026はATC・自動計測等の融合を訴求。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C11-2026-1 株式会社ソディック 2026公式出展説明</a:t>
            </a:r>
          </a:p>
          <a:p xmlns:a="http://schemas.openxmlformats.org/drawingml/2006/main">
            <a:r>
              <a:t>https://www.jimtof.org/search/jp/ESdetails?e=k6keXdSLQmQ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C11-2024-1 株式会社ソディック 2024公式出展説明</a:t>
            </a:r>
          </a:p>
          <a:p xmlns:a="http://schemas.openxmlformats.org/drawingml/2006/main">
            <a:r>
              <a:t>https://www.jimtof.org/2024/search/jp/ESdetails?e=VYjGUrtgdX4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C12-2026-1 株式会社アマダ 2026公式出展説明</a:t>
            </a:r>
          </a:p>
          <a:p xmlns:a="http://schemas.openxmlformats.org/drawingml/2006/main">
            <a:r>
              <a:t>https://www.jimtof.org/search/jp/ESdetails?e=lwacRdqPa60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C12-2024-1 株式会社アマダ 2024公式出展説明</a:t>
            </a:r>
          </a:p>
          <a:p xmlns:a="http://schemas.openxmlformats.org/drawingml/2006/main">
            <a:r>
              <a:t>https://www.jimtof.org/2024/search/jp/ESdetails?e=Jc5GYaUqS1I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C13-2026-1 ブラザー工業株式会社 2026公式出展説明</a:t>
            </a:r>
          </a:p>
          <a:p xmlns:a="http://schemas.openxmlformats.org/drawingml/2006/main">
            <a:r>
              <a:t>https://www.jimtof.org/search/jp/ESdetails?e=lOXEEpvlXpM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C13-2024-1 ブラザー工業株式会社 2024公式出展説明</a:t>
            </a:r>
          </a:p>
          <a:p xmlns:a="http://schemas.openxmlformats.org/drawingml/2006/main">
            <a:r>
              <a:t>https://www.jimtof.org/2024/search/jp/ESdetails?e=hoSOue_ZEek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松浦機械 JIMTOF2026</a:t>
            </a:r>
          </a:p>
          <a:p xmlns:a="http://schemas.openxmlformats.org/drawingml/2006/main">
            <a:r>
              <a:t>https://exhibition-matsuura.com/entrance/</a:t>
            </a:r>
          </a:p>
          <a:p xmlns:a="http://schemas.openxmlformats.org/drawingml/2006/main">
            <a:r>
              <a:t>該当箇所 MX-850T PC4・MX-520T PC7・GibbsCAM2026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C14-2026-1 株式会社松浦機械製作所 2026公式出展説明</a:t>
            </a:r>
          </a:p>
          <a:p xmlns:a="http://schemas.openxmlformats.org/drawingml/2006/main">
            <a:r>
              <a:t>https://www.jimtof.org/search/jp/ESdetails?e=K_X61J2xV_w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C14-2024-1 株式会社松浦機械製作所 2024公式出展説明</a:t>
            </a:r>
          </a:p>
          <a:p xmlns:a="http://schemas.openxmlformats.org/drawingml/2006/main">
            <a:r>
              <a:t>https://www.jimtof.org/2024/search/jp/ESdetails?e=_4GLIXLZuKE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C14-2024-2 株式会社松浦機械製作所 2024公式出展説明</a:t>
            </a:r>
          </a:p>
          <a:p xmlns:a="http://schemas.openxmlformats.org/drawingml/2006/main">
            <a:r>
              <a:t>https://www.jimtof.org/2024/search/jp/ESdetails?e=coHqGCjVn0c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C15-2026-1 シチズンマシナリー株式会社 2026公式出展説明</a:t>
            </a:r>
          </a:p>
          <a:p xmlns:a="http://schemas.openxmlformats.org/drawingml/2006/main">
            <a:r>
              <a:t>https://www.jimtof.org/search/jp/ESdetails?e=sqCigr-Fu70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C15-2024-1 シチズンマシナリー株式会社 2024公式出展説明</a:t>
            </a:r>
          </a:p>
          <a:p xmlns:a="http://schemas.openxmlformats.org/drawingml/2006/main">
            <a:r>
              <a:t>https://www.jimtof.org/2024/search/jp/ESdetails?e=Yym6acTNJ3w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スター精密</a:t>
            </a:r>
          </a:p>
          <a:p xmlns:a="http://schemas.openxmlformats.org/drawingml/2006/main">
            <a:r>
              <a:t>2024との比較 2024の医療向け実演から、2026はロボット・医療・ドローン・自動車の4分野。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ツガミ</a:t>
            </a:r>
          </a:p>
          <a:p xmlns:a="http://schemas.openxmlformats.org/drawingml/2006/main">
            <a:r>
              <a:t>2024との比較 2024にも自動運転システム。2026は交換・計測・外段取りの実演を具体記載。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オーエスジー</a:t>
            </a:r>
          </a:p>
          <a:p xmlns:a="http://schemas.openxmlformats.org/drawingml/2006/main">
            <a:r>
              <a:t>2024との比較 2024にも工具自販機と省人化提案。2026は工具管理DXとして継続訴求。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三菱マテリアル</a:t>
            </a:r>
          </a:p>
          <a:p xmlns:a="http://schemas.openxmlformats.org/drawingml/2006/main">
            <a:r>
              <a:t>2024との比較 2024の工具・DX提案から、2026はリサイクル・ソリューション・新製品を重点化。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京セラ</a:t>
            </a:r>
          </a:p>
          <a:p xmlns:a="http://schemas.openxmlformats.org/drawingml/2006/main">
            <a:r>
              <a:t>2024との比較 2024からセンシングと工具選定。2026はVIMOAとCAM連携事例を具体記載。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C16-2026-1 スター精密株式会社 2026公式出展説明</a:t>
            </a:r>
          </a:p>
          <a:p xmlns:a="http://schemas.openxmlformats.org/drawingml/2006/main">
            <a:r>
              <a:t>https://www.jimtof.org/search/jp/ESdetails?e=uGFHKigy2ag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C16-2024-1 スター精密株式会社 2024公式出展説明</a:t>
            </a:r>
          </a:p>
          <a:p xmlns:a="http://schemas.openxmlformats.org/drawingml/2006/main">
            <a:r>
              <a:t>https://www.jimtof.org/2024/search/jp/ESdetails?e=Lko701EYhhQ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C17-2026-1 株式会社ツガミ 2026公式出展説明</a:t>
            </a:r>
          </a:p>
          <a:p xmlns:a="http://schemas.openxmlformats.org/drawingml/2006/main">
            <a:r>
              <a:t>https://www.jimtof.org/search/jp/ESdetails?e=fKOIqkxqaBI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C17-2024-1 株式会社ツガミ 2024公式出展説明</a:t>
            </a:r>
          </a:p>
          <a:p xmlns:a="http://schemas.openxmlformats.org/drawingml/2006/main">
            <a:r>
              <a:t>https://www.jimtof.org/2024/search/jp/ESdetails?e=5KpFSEqJrhg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C18-2026-1 オーエスジー株式会社 2026公式出展説明</a:t>
            </a:r>
          </a:p>
          <a:p xmlns:a="http://schemas.openxmlformats.org/drawingml/2006/main">
            <a:r>
              <a:t>https://www.jimtof.org/search/jp/ESdetails?e=AooPnMJlHW4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C18-2024-1 オーエスジー株式会社 2024公式出展説明</a:t>
            </a:r>
          </a:p>
          <a:p xmlns:a="http://schemas.openxmlformats.org/drawingml/2006/main">
            <a:r>
              <a:t>https://www.jimtof.org/2024/search/jp/ESdetails?e=soucpoaRRyI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C19-2026-1 三菱マテリアル株式会社 2026公式出展説明</a:t>
            </a:r>
          </a:p>
          <a:p xmlns:a="http://schemas.openxmlformats.org/drawingml/2006/main">
            <a:r>
              <a:t>https://www.jimtof.org/search/jp/ESdetails?e=8cRbffPwDP4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C19-2024-1 三菱マテリアル株式会社 2024公式出展説明</a:t>
            </a:r>
          </a:p>
          <a:p xmlns:a="http://schemas.openxmlformats.org/drawingml/2006/main">
            <a:r>
              <a:t>https://www.jimtof.org/2024/search/jp/ESdetails?e=hpqsb6ow7y8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C20-2026-1 京セラ株式会社 2026公式出展説明</a:t>
            </a:r>
          </a:p>
          <a:p xmlns:a="http://schemas.openxmlformats.org/drawingml/2006/main">
            <a:r>
              <a:t>https://www.jimtof.org/search/jp/ESdetails?e=E4SA18YM2G4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C20-2024-1 京セラ株式会社 2024公式出展説明</a:t>
            </a:r>
          </a:p>
          <a:p xmlns:a="http://schemas.openxmlformats.org/drawingml/2006/main">
            <a:r>
              <a:t>https://www.jimtof.org/2024/search/jp/ESdetails?e=0vdiPA6Ji_M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タンガロイ</a:t>
            </a:r>
          </a:p>
          <a:p xmlns:a="http://schemas.openxmlformats.org/drawingml/2006/main">
            <a:r>
              <a:t>2024との比較 2024の工具・コスト改善から、2026は工具管理と省人化も訴求。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ミツトヨ</a:t>
            </a:r>
          </a:p>
          <a:p xmlns:a="http://schemas.openxmlformats.org/drawingml/2006/main">
            <a:r>
              <a:t>2024との比較 2024の自動測定・MiCATから、2026は加工から測定までの連携を具体化。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東京精密</a:t>
            </a:r>
          </a:p>
          <a:p xmlns:a="http://schemas.openxmlformats.org/drawingml/2006/main">
            <a:r>
              <a:t>2024との比較 一覧でE7044を確認。保存CSVの2026説明は空欄。2024の自動測定を今回予定に転用しない。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レニショー</a:t>
            </a:r>
          </a:p>
          <a:p xmlns:a="http://schemas.openxmlformats.org/drawingml/2006/main">
            <a:r>
              <a:t>2024との比較 Centralは2024にも展示。2026は計測で自動化を支える提案を継続。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ハイデンハイン</a:t>
            </a:r>
          </a:p>
          <a:p xmlns:a="http://schemas.openxmlformats.org/drawingml/2006/main">
            <a:r>
              <a:t>2024との比較 2024にVT 122。2026は工具長とAI摩耗診断を具体記載。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C21-2026-1 株式会社タンガロイ 2026公式出展説明</a:t>
            </a:r>
          </a:p>
          <a:p xmlns:a="http://schemas.openxmlformats.org/drawingml/2006/main">
            <a:r>
              <a:t>https://www.jimtof.org/search/jp/ESdetails?e=VUyVyFPIn2Q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C21-2024-1 株式会社タンガロイ 2024公式出展説明</a:t>
            </a:r>
          </a:p>
          <a:p xmlns:a="http://schemas.openxmlformats.org/drawingml/2006/main">
            <a:r>
              <a:t>https://www.jimtof.org/2024/search/jp/ESdetails?e=vm3yerTfsk0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C22-2026-1 株式会社ミツトヨ 2026公式出展説明</a:t>
            </a:r>
          </a:p>
          <a:p xmlns:a="http://schemas.openxmlformats.org/drawingml/2006/main">
            <a:r>
              <a:t>https://www.jimtof.org/search/jp/ESdetails?e=a7y3JtW8DXM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C22-2024-1 株式会社ミツトヨ 2024公式出展説明</a:t>
            </a:r>
          </a:p>
          <a:p xmlns:a="http://schemas.openxmlformats.org/drawingml/2006/main">
            <a:r>
              <a:t>https://www.jimtof.org/2024/search/jp/ESdetails?e=1CDoltPa9rk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東京精密 JIMTOF2026</a:t>
            </a:r>
          </a:p>
          <a:p xmlns:a="http://schemas.openxmlformats.org/drawingml/2006/main">
            <a:r>
              <a:t>https://www.accretech.com/jp/product/measuring/event/20261026_jimtof.html</a:t>
            </a:r>
          </a:p>
          <a:p xmlns:a="http://schemas.openxmlformats.org/drawingml/2006/main">
            <a:r>
              <a:t>該当箇所 出展日程確認。具体展示内容の記載不足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C23-2024-1 株式会社東京精密 2024公式出展説明</a:t>
            </a:r>
          </a:p>
          <a:p xmlns:a="http://schemas.openxmlformats.org/drawingml/2006/main">
            <a:r>
              <a:t>https://www.jimtof.org/2024/search/jp/ESdetails?e=Rtj9rox8Zj4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レニショー JIMTOF2024 Central紹介</a:t>
            </a:r>
          </a:p>
          <a:p xmlns:a="http://schemas.openxmlformats.org/drawingml/2006/main">
            <a:r>
              <a:t>https://www.renishaw.com/jp/renishaws-new-smart-manufacturing-data-platform-showcases-smart-factory-automation-at-imts-2024--48184</a:t>
            </a:r>
          </a:p>
          <a:p xmlns:a="http://schemas.openxmlformats.org/drawingml/2006/main">
            <a:r>
              <a:t>該当箇所 2024年時点のRenishaw Central展示</a:t>
            </a:r>
          </a:p>
          <a:p xmlns:a="http://schemas.openxmlformats.org/drawingml/2006/main">
            <a:r>
              <a:t>公開 2024年の展示案内／確認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Renishaw Centralと工程制御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計測データ収集・処理・工程制御。既存根拠台帳も参照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C24-2026-1 レニショー株式会社 2026公式出展説明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C24-2024-1 レニショー株式会社 2024公式出展説明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C25-2026-1 ハイデンハイン株式会社 2026公式出展説明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C25-2024-1 ハイデンハイン株式会社 2024公式出展説明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ベッコフオートメーション</a:t>
            </a:r>
          </a:p>
          <a:p xmlns:a="http://schemas.openxmlformats.org/drawingml/2006/main">
            <a:r>
              <a:t>2024との比較 2023からコード支援。2026はPLC・I/O・HMIと運用支援を訴求。2024展示詳細は不足。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Hexagon Manufacturing Intelligence</a:t>
            </a:r>
          </a:p>
          <a:p xmlns:a="http://schemas.openxmlformats.org/drawingml/2006/main">
            <a:r>
              <a:t>2024との比較 2025.2でAI工程予測導入、2026.1で加工対象拡張。2026は国内初展示。2024同名照合は不足。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住友電気工業</a:t>
            </a:r>
          </a:p>
          <a:p xmlns:a="http://schemas.openxmlformats.org/drawingml/2006/main">
            <a:r>
              <a:t>2024との比較 2024からセンシング・GX・DX。2026は安定加工、長寿命、資源制約への提案が中心。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中村留精密工業</a:t>
            </a:r>
          </a:p>
          <a:p xmlns:a="http://schemas.openxmlformats.org/drawingml/2006/main">
            <a:r>
              <a:t>2024との比較 2024にもロボットシステム。2026は既存台車利用と省スペースを具体化。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FUJI</a:t>
            </a:r>
          </a:p>
          <a:p xmlns:a="http://schemas.openxmlformats.org/drawingml/2006/main">
            <a:r>
              <a:t>2024との比較 2024からターンキーと工具管理。2026はつかみ方と難しいワークの扱いに焦点。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S20 Beckhoff TwinCAT Chat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PLCコード作成支援の既存性</a:t>
            </a:r>
          </a:p>
          <a:p xmlns:a="http://schemas.openxmlformats.org/drawingml/2006/main">
            <a:r>
              <a:t>公開 2023-04／確認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C26-2026-1 ベッコフオートメーション株式会社 2026公式出展説明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Hexagon JIMTOF2026 国内初展示</a:t>
            </a:r>
          </a:p>
          <a:p xmlns:a="http://schemas.openxmlformats.org/drawingml/2006/main">
            <a:r>
              <a:t>https://prtimes.jp/main/html/rd/p/000000027.000148625.html</a:t>
            </a:r>
          </a:p>
          <a:p xmlns:a="http://schemas.openxmlformats.org/drawingml/2006/main">
            <a:r>
              <a:t>該当箇所 E2013・E7035・ProPlanAIとMAESTRO</a:t>
            </a:r>
          </a:p>
          <a:p xmlns:a="http://schemas.openxmlformats.org/drawingml/2006/main">
            <a:r>
              <a:t>公開 2026-10-14／確認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ESPRIT EDGE リリース履歴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ProPlanAI導入・2026.1旋削等の商用拡張・2026.2も掲載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C27-2026-1 Hexagon Manufacturing Intelligence株式会社 2026公式出展説明</a:t>
            </a:r>
          </a:p>
          <a:p xmlns:a="http://schemas.openxmlformats.org/drawingml/2006/main">
            <a:r>
              <a:t>https://www.jimtof.org/search/jp/ESdetails?e=oUyVPjxvy-U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C27-2026-2 Hexagon Manufacturing Intelligence株式会社 2026公式出展説明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C28-2026-1 住友電気工業株式会社 2026公式出展説明</a:t>
            </a:r>
          </a:p>
          <a:p xmlns:a="http://schemas.openxmlformats.org/drawingml/2006/main">
            <a:r>
              <a:t>https://www.jimtof.org/search/jp/ESdetails?e=fUD_CMl54Kw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C28-2024-1 住友電気工業株式会社 2024公式出展説明</a:t>
            </a:r>
          </a:p>
          <a:p xmlns:a="http://schemas.openxmlformats.org/drawingml/2006/main">
            <a:r>
              <a:t>https://www.jimtof.org/2024/search/jp/ESdetails?e=qIDqZhLSNgg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中村留 JIMTOF2026</a:t>
            </a:r>
          </a:p>
          <a:p xmlns:a="http://schemas.openxmlformats.org/drawingml/2006/main">
            <a:r>
              <a:t>https://www.nakamura-tome.co.jp/lp/jimtof2026/</a:t>
            </a:r>
          </a:p>
          <a:p xmlns:a="http://schemas.openxmlformats.org/drawingml/2006/main">
            <a:r>
              <a:t>該当箇所 RoboSync・既存台車／パレットの利用・E2027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C29-2026-1 中村留精密工業株式会社 2026公式出展説明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C29-2024-1 中村留精密工業株式会社 2024公式出展説明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C30-2026-1 株式会社FUJI 2026公式出展説明</a:t>
            </a:r>
          </a:p>
          <a:p xmlns:a="http://schemas.openxmlformats.org/drawingml/2006/main">
            <a:r>
              <a:t>https://www.jimtof.org/search/jp/ESdetails?e=xJlXi-VNzio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C30-2024-1 株式会社FUJI 2024公式出展説明</a:t>
            </a:r>
          </a:p>
          <a:p xmlns:a="http://schemas.openxmlformats.org/drawingml/2006/main">
            <a:r>
              <a:t>https://www.jimtof.org/2024/search/jp/ESdetails?e=UZiobfgROkY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TAKISAWA</a:t>
            </a:r>
          </a:p>
          <a:p xmlns:a="http://schemas.openxmlformats.org/drawingml/2006/main">
            <a:r>
              <a:t>2024との比較 2024の搬入出用TR-20Wに対し、2026は状況判断を伴う切粉除去を参考出品。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オートデスク</a:t>
            </a:r>
          </a:p>
          <a:p xmlns:a="http://schemas.openxmlformats.org/drawingml/2006/main">
            <a:r>
              <a:t>2024との比較 2024からFusionとCAM自動化。2026はAIと製品データ・PLMの統合を強調。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ニコン</a:t>
            </a:r>
          </a:p>
          <a:p xmlns:a="http://schemas.openxmlformats.org/drawingml/2006/main">
            <a:r>
              <a:t>2024との比較 2024からロボット測定・自動搬送・インライン検査。2026は計測と内部解析を横断。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C31-2026-1 株式会社TAKISAWA 2026公式出展説明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C31-2024-1 株式会社TAKISAWA 2024公式出展説明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C32-2026-1 オートデスク株式会社 2026公式出展説明</a:t>
            </a:r>
          </a:p>
          <a:p xmlns:a="http://schemas.openxmlformats.org/drawingml/2006/main">
            <a:r>
              <a:t>https://www.jimtof.org/search/jp/ESdetails?e=Y_kC6hMTghk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C32-2024-1 オートデスク株式会社 2024公式出展説明</a:t>
            </a:r>
          </a:p>
          <a:p xmlns:a="http://schemas.openxmlformats.org/drawingml/2006/main">
            <a:r>
              <a:t>https://www.jimtof.org/2024/search/jp/ESdetails?e=5CWUqNS_dBw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C33-2026-1 株式会社ニコン 2026公式出展説明</a:t>
            </a:r>
          </a:p>
          <a:p xmlns:a="http://schemas.openxmlformats.org/drawingml/2006/main">
            <a:r>
              <a:t>https://www.jimtof.org/search/jp/ESdetails?e=lmqsWTyiVAY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2026開催分／確認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C33-2024-1 株式会社ニコン 2024公式出展説明</a:t>
            </a:r>
          </a:p>
          <a:p xmlns:a="http://schemas.openxmlformats.org/drawingml/2006/main">
            <a:r>
              <a:t>https://www.jimtof.org/2024/search/jp/ESdetails?e=anszOsTbjDI</a:t>
            </a:r>
          </a:p>
          <a:p xmlns:a="http://schemas.openxmlformats.org/drawingml/2006/main">
            <a:r>
              <a:t>該当箇所 出展説明・主な出展物</a:t>
            </a:r>
          </a:p>
          <a:p xmlns:a="http://schemas.openxmlformats.org/drawingml/2006/main">
            <a:r>
              <a:t>公開 2024開催分／確認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S01 JIMTOF2026 開催概要</a:t>
            </a:r>
          </a:p>
          <a:p xmlns:a="http://schemas.openxmlformats.org/drawingml/2006/main">
            <a:r>
              <a:t>https://www.jimtof.org/jp/outline.html</a:t>
            </a:r>
          </a:p>
          <a:p xmlns:a="http://schemas.openxmlformats.org/drawingml/2006/main">
            <a:r>
              <a:t>該当箇所 会期・開場時間・東4〜6ホール休館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JIMTOF2026 企画展示と特別企画</a:t>
            </a:r>
          </a:p>
          <a:p xmlns:a="http://schemas.openxmlformats.org/drawingml/2006/main">
            <a:r>
              <a:t>https://www.jimtof.org/jp/evt_show.html</a:t>
            </a:r>
          </a:p>
          <a:p xmlns:a="http://schemas.openxmlformats.org/drawingml/2006/main">
            <a:r>
              <a:t>該当箇所 ロボティクス企画・きさげロボット・AM ZONE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2026年版ものづくり白書 概要</a:t>
            </a:r>
          </a:p>
          <a:p xmlns:a="http://schemas.openxmlformats.org/drawingml/2006/main">
            <a:r>
              <a:t>https://www.meti.go.jp/report/whitepaper/mono/2026/pdf/gaiyo.pdf</a:t>
            </a:r>
          </a:p>
          <a:p xmlns:a="http://schemas.openxmlformats.org/drawingml/2006/main">
            <a:r>
              <a:t>該当箇所 20ページ AIロボティクス戦略の整理</a:t>
            </a:r>
          </a:p>
          <a:p xmlns:a="http://schemas.openxmlformats.org/drawingml/2006/main">
            <a:r>
              <a:t>公開 2026-05／確認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日工会 会員104社の出展見どころ</a:t>
            </a:r>
          </a:p>
          <a:p xmlns:a="http://schemas.openxmlformats.org/drawingml/2006/main">
            <a:r>
              <a:t>https://www.jmtba.or.jp/news/news-16826/</a:t>
            </a:r>
          </a:p>
          <a:p xmlns:a="http://schemas.openxmlformats.org/drawingml/2006/main">
            <a:r>
              <a:t>該当箇所 104社・10月26日に完全版公開予定</a:t>
            </a:r>
          </a:p>
          <a:p xmlns:a="http://schemas.openxmlformats.org/drawingml/2006/main">
            <a:r>
              <a:t>公開 2026-10-15／確認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DMG森精機 JIMTOF2026</a:t>
            </a:r>
          </a:p>
          <a:p xmlns:a="http://schemas.openxmlformats.org/drawingml/2006/main">
            <a:r>
              <a:t>https://www.dmgmori.co.jp/sp/jimtof/jimtof2026/</a:t>
            </a:r>
          </a:p>
          <a:p xmlns:a="http://schemas.openxmlformats.org/drawingml/2006/main">
            <a:r>
              <a:t>該当箇所 GX Flex・AMR・工具管理から保全までの連携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DMG MORI Condition Agent</a:t>
            </a:r>
          </a:p>
          <a:p xmlns:a="http://schemas.openxmlformats.org/drawingml/2006/main">
            <a:r>
              <a:t>https://www.dmgmori.co.jp/corporate/en/news/2026/20260706_conditionagent_e.html</a:t>
            </a:r>
          </a:p>
          <a:p xmlns:a="http://schemas.openxmlformats.org/drawingml/2006/main">
            <a:r>
              <a:t>該当箇所 対象機と2026年4月受注分からの標準提供。検索収録と既存根拠台帳で確認</a:t>
            </a:r>
          </a:p>
          <a:p xmlns:a="http://schemas.openxmlformats.org/drawingml/2006/main">
            <a:r>
              <a:t>公開 2026-07-06／確認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マザック JIMTOF2026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該当箇所 工程集約・E1001・AI紹介動画の公開予定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オークマ JIMTOF2026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ARMROID・OMR20・Tower APC・AI and Intelligent Technologies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ファナック 新商品発表展示会2026</a:t>
            </a:r>
          </a:p>
          <a:p xmlns:a="http://schemas.openxmlformats.org/drawingml/2006/main">
            <a:r>
              <a:t>https://www.fanuc.co.jp/ja/profile/news/article/article33.html</a:t>
            </a:r>
          </a:p>
          <a:p xmlns:a="http://schemas.openxmlformats.org/drawingml/2006/main">
            <a:r>
              <a:t>該当箇所 FAコーナ デジタルで確認してから適用するフィジカルAI CNC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三菱電機 JIMTOF2026 出展案内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該当箇所 CNC・省人化ソリューションと実機展示なしの注記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NIDECグループ JIMTOF2026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 切粉除去は参考出品・Nidec NC Twin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ジェイテクト JIMTOF2026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該当箇所 Mill-Plan・ファインティーチレス・工場マネジメント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ミツトヨ JIMTOF特設サイト</a:t>
            </a:r>
          </a:p>
          <a:p xmlns:a="http://schemas.openxmlformats.org/drawingml/2006/main">
            <a:r>
              <a:t>https://www.mitutoyo.co.jp/jimtof/</a:t>
            </a:r>
          </a:p>
          <a:p xmlns:a="http://schemas.openxmlformats.org/drawingml/2006/main">
            <a:r>
              <a:t>該当箇所 MiSTARと加工機の連携・RA-Robot・品質管理DXセミナー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レニショー JIMTOF2024 Central紹介</a:t>
            </a:r>
          </a:p>
          <a:p xmlns:a="http://schemas.openxmlformats.org/drawingml/2006/main">
            <a:r>
              <a:t>https://www.renishaw.com/jp/renishaws-new-smart-manufacturing-data-platform-showcases-smart-factory-automation-at-imts-2024--48184</a:t>
            </a:r>
          </a:p>
          <a:p xmlns:a="http://schemas.openxmlformats.org/drawingml/2006/main">
            <a:r>
              <a:t>該当箇所 2024年時点のRenishaw Central展示</a:t>
            </a:r>
          </a:p>
          <a:p xmlns:a="http://schemas.openxmlformats.org/drawingml/2006/main">
            <a:r>
              <a:t>公開 2024年の展示案内／確認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Renishaw Centralと工程制御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計測データ収集・処理・工程制御。既存根拠台帳も参照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Hexagon JIMTOF2026 国内初展示</a:t>
            </a:r>
          </a:p>
          <a:p xmlns:a="http://schemas.openxmlformats.org/drawingml/2006/main">
            <a:r>
              <a:t>https://prtimes.jp/main/html/rd/p/000000027.000148625.html</a:t>
            </a:r>
          </a:p>
          <a:p xmlns:a="http://schemas.openxmlformats.org/drawingml/2006/main">
            <a:r>
              <a:t>該当箇所 E2013・E7035・ProPlanAIとMAESTRO</a:t>
            </a:r>
          </a:p>
          <a:p xmlns:a="http://schemas.openxmlformats.org/drawingml/2006/main">
            <a:r>
              <a:t>公開 2026-10-14／確認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ESPRIT EDGE リリース履歴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ProPlanAI導入・2026.1旋削等の商用拡張・2026.2も掲載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CloudNC Mastercam向け提供開始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3軸・3+2軸、北米販売を含む提供開始発表</a:t>
            </a:r>
          </a:p>
          <a:p xmlns:a="http://schemas.openxmlformats.org/drawingml/2006/main">
            <a:r>
              <a:t>公開 2024-07-25／確認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CloudNC CAM Assist for Mastercam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戦略生成とプログラマーの確認・調整。版と国内提供条件は現地確認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Beckhoff TwinCAT Chat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PLCコード作成支援の既存性</a:t>
            </a:r>
          </a:p>
          <a:p xmlns:a="http://schemas.openxmlformats.org/drawingml/2006/main">
            <a:r>
              <a:t>公開 2023-04／確認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Beckhoff CoAgent 技術発表</a:t>
            </a:r>
          </a:p>
          <a:p xmlns:a="http://schemas.openxmlformats.org/drawingml/2006/main">
            <a:r>
              <a:t>https://www.beckhoff.com/en-us/company/press/open-model-independent-ai-assistance-for-automation-programming-and-controls-engineering-2026-06.html</a:t>
            </a:r>
          </a:p>
          <a:p xmlns:a="http://schemas.openxmlformats.org/drawingml/2006/main">
            <a:r>
              <a:t>該当箇所 PLC・I/O・HMI、Operationsは今後の拡張との記載</a:t>
            </a:r>
          </a:p>
          <a:p xmlns:a="http://schemas.openxmlformats.org/drawingml/2006/main">
            <a:r>
              <a:t>公開 2026-06-23／確認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 HACARUS Check ZERO 正式販売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少量良品学習・追加学習。発売は2025年</a:t>
            </a:r>
          </a:p>
          <a:p xmlns:a="http://schemas.openxmlformats.org/drawingml/2006/main">
            <a:r>
              <a:t>公開 2025-07-07／確認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MCP Adapterは提供計画。既存台帳EDP-06と照合</a:t>
            </a:r>
          </a:p>
          <a:p xmlns:a="http://schemas.openxmlformats.org/drawingml/2006/main">
            <a:r>
              <a:t>公開 2026-06／確認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中村留 JIMTOF2026</a:t>
            </a:r>
          </a:p>
          <a:p xmlns:a="http://schemas.openxmlformats.org/drawingml/2006/main">
            <a:r>
              <a:t>https://www.nakamura-tome.co.jp/lp/jimtof2026/</a:t>
            </a:r>
          </a:p>
          <a:p xmlns:a="http://schemas.openxmlformats.org/drawingml/2006/main">
            <a:r>
              <a:t>該当箇所 RoboSync・既存台車／パレットの利用・E2027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S25 パナソニック AI支援型遠隔操作の実証</a:t>
            </a:r>
          </a:p>
          <a:p xmlns:a="http://schemas.openxmlformats.org/drawingml/2006/main">
            <a:r>
              <a:t>https://news.panasonic.com/jp/press/jn260713-1</a:t>
            </a:r>
          </a:p>
          <a:p xmlns:a="http://schemas.openxmlformats.org/drawingml/2006/main">
            <a:r>
              <a:t>該当箇所 障害物停止時の人による遠隔回避。別会場の実証</a:t>
            </a:r>
          </a:p>
          <a:p xmlns:a="http://schemas.openxmlformats.org/drawingml/2006/main">
            <a:r>
              <a:t>公開 2026-07-13／確認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匠フォース 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引合受領から見積書作成・人の確認修正承認</a:t>
            </a:r>
          </a:p>
          <a:p xmlns:a="http://schemas.openxmlformats.org/drawingml/2006/main">
            <a:r>
              <a:t>公開 2026-07-17／確認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東京精密 JIMTOF2026</a:t>
            </a:r>
          </a:p>
          <a:p xmlns:a="http://schemas.openxmlformats.org/drawingml/2006/main">
            <a:r>
              <a:t>https://www.accretech.com/jp/product/measuring/event/20261026_jimtof.html</a:t>
            </a:r>
          </a:p>
          <a:p xmlns:a="http://schemas.openxmlformats.org/drawingml/2006/main">
            <a:r>
              <a:t>該当箇所 出展日程確認。具体展示内容の記載不足</a:t>
            </a:r>
          </a:p>
          <a:p xmlns:a="http://schemas.openxmlformats.org/drawingml/2006/main">
            <a:r>
              <a:t>公開 掲載日記載なし／確認 2026-10-19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松浦機械 JIMTOF2026</a:t>
            </a:r>
          </a:p>
          <a:p xmlns:a="http://schemas.openxmlformats.org/drawingml/2006/main">
            <a:r>
              <a:t>https://exhibition-matsuura.com/entrance/</a:t>
            </a:r>
          </a:p>
          <a:p xmlns:a="http://schemas.openxmlformats.org/drawingml/2006/main">
            <a:r>
              <a:t>該当箇所 MX-850T PC4・MX-520T PC7・GibbsCAM2026</a:t>
            </a:r>
          </a:p>
          <a:p xmlns:a="http://schemas.openxmlformats.org/drawingml/2006/main">
            <a:r>
              <a:t>公開 掲載日記載なし／確認 2026-10-19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cab0576e741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e6a162a8b49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fad2c43b24b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aa4b98a4340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5959e1dce40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bca9ef3be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36466-202F-4BF0-9A82-F1EF1EDF1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F78CE6-5698-45BB-AFB2-8B7188EEED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377D46-9F9A-4701-825D-F5C57715A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ED1C21-5F85-488F-AFC1-17405EA75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08E2F7-26D1-4B40-BFF7-8AF3840A6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766C00-B7A7-4D1F-A574-18A1A07D8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F3CD2B-ABDB-40EC-8151-0E008667A1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8ABE03-CAB2-4FF6-B89C-349CD18E8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1E9E37-877E-49E9-B4CE-9A1085D50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9DA680-9EB1-4BDF-A3DE-D78F4530D4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3755db1e34b9b" /><Relationship Type="http://schemas.openxmlformats.org/officeDocument/2006/relationships/slideLayout" Target="/ppt/slideLayouts/slideLayout1.xml" Id="R1316c6f54c2b4b23" /><Relationship Type="http://schemas.openxmlformats.org/officeDocument/2006/relationships/slideLayout" Target="/ppt/slideLayouts/slideLayout2.xml" Id="R03fa785d90ae4b45" /><Relationship Type="http://schemas.openxmlformats.org/officeDocument/2006/relationships/slideLayout" Target="/ppt/slideLayouts/slideLayout3.xml" Id="Rf229da04ee2d40ad" /><Relationship Type="http://schemas.openxmlformats.org/officeDocument/2006/relationships/slideLayout" Target="/ppt/slideLayouts/slideLayout4.xml" Id="R9a86427619df4a12" /><Relationship Type="http://schemas.openxmlformats.org/officeDocument/2006/relationships/slideLayout" Target="/ppt/slideLayouts/slideLayout5.xml" Id="Re0dda1b92d4442b7" /><Relationship Type="http://schemas.openxmlformats.org/officeDocument/2006/relationships/slideLayout" Target="/ppt/slideLayouts/slideLayout6.xml" Id="Reae42e677fc14e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6c6f54c2b4b23"/>
    <p:sldLayoutId xmlns:r="http://schemas.openxmlformats.org/officeDocument/2006/relationships" id="2147483650" r:id="R03fa785d90ae4b45"/>
    <p:sldLayoutId xmlns:r="http://schemas.openxmlformats.org/officeDocument/2006/relationships" id="2147483651" r:id="Rf229da04ee2d40ad"/>
    <p:sldLayoutId xmlns:r="http://schemas.openxmlformats.org/officeDocument/2006/relationships" id="2147483652" r:id="R9a86427619df4a12"/>
    <p:sldLayoutId xmlns:r="http://schemas.openxmlformats.org/officeDocument/2006/relationships" id="2147483653" r:id="Re0dda1b92d4442b7"/>
    <p:sldLayoutId xmlns:r="http://schemas.openxmlformats.org/officeDocument/2006/relationships" id="2147483654" r:id="Reae42e677fc14e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e0fec97f84522" /><Relationship Type="http://schemas.openxmlformats.org/officeDocument/2006/relationships/notesSlide" Target="/ppt/notesSlides/notesSlide1.xml" Id="R62b898a912304e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e4837267843de" /><Relationship Type="http://schemas.openxmlformats.org/officeDocument/2006/relationships/notesSlide" Target="/ppt/notesSlides/notesSlide2.xml" Id="R0bb3852f9ae5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40ecc427b404f" /><Relationship Type="http://schemas.openxmlformats.org/officeDocument/2006/relationships/notesSlide" Target="/ppt/notesSlides/notesSlide3.xml" Id="R890566d3b6364d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5dcdf694549a0" /><Relationship Type="http://schemas.openxmlformats.org/officeDocument/2006/relationships/chart" Target="/ppt/slides/charts/chart1.xml" Id="R216db228c5534972" /><Relationship Type="http://schemas.openxmlformats.org/officeDocument/2006/relationships/notesSlide" Target="/ppt/notesSlides/notesSlide4.xml" Id="R3cc820c8ff77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7b0f81a2b446c" /><Relationship Type="http://schemas.openxmlformats.org/officeDocument/2006/relationships/notesSlide" Target="/ppt/notesSlides/notesSlide5.xml" Id="Rc25adf46af7c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72fc091974f79" /><Relationship Type="http://schemas.openxmlformats.org/officeDocument/2006/relationships/notesSlide" Target="/ppt/notesSlides/notesSlide6.xml" Id="Rb09df50e2a7e46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92777410c4d8a" /><Relationship Type="http://schemas.openxmlformats.org/officeDocument/2006/relationships/notesSlide" Target="/ppt/notesSlides/notesSlide7.xml" Id="Rb96de3a55f6148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5831fa2894ecb" /><Relationship Type="http://schemas.openxmlformats.org/officeDocument/2006/relationships/notesSlide" Target="/ppt/notesSlides/notesSlide8.xml" Id="Rfd48d8f1a9e74f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f29a1628a4f55" /><Relationship Type="http://schemas.openxmlformats.org/officeDocument/2006/relationships/notesSlide" Target="/ppt/notesSlides/notesSlide9.xml" Id="R3bbcd658148b4a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330c6b8c243e7" /><Relationship Type="http://schemas.openxmlformats.org/officeDocument/2006/relationships/notesSlide" Target="/ppt/notesSlides/notesSlide10.xml" Id="Rc55fdb1d5ba74c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b7c7fc56f4390" /><Relationship Type="http://schemas.openxmlformats.org/officeDocument/2006/relationships/notesSlide" Target="/ppt/notesSlides/notesSlide11.xml" Id="Rd2737b6b2a0340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900e89b1d42f0" /><Relationship Type="http://schemas.openxmlformats.org/officeDocument/2006/relationships/notesSlide" Target="/ppt/notesSlides/notesSlide12.xml" Id="R1fe8007bc6ff47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60f194b9c44fb" /><Relationship Type="http://schemas.openxmlformats.org/officeDocument/2006/relationships/notesSlide" Target="/ppt/notesSlides/notesSlide13.xml" Id="R57d34c603e924a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e118237b0483e" /><Relationship Type="http://schemas.openxmlformats.org/officeDocument/2006/relationships/notesSlide" Target="/ppt/notesSlides/notesSlide14.xml" Id="R5b5bf7c9d2294c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4a5eb6ecd4cea" /><Relationship Type="http://schemas.openxmlformats.org/officeDocument/2006/relationships/notesSlide" Target="/ppt/notesSlides/notesSlide15.xml" Id="R198224f29a5848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c8a4b6f924ec9" /><Relationship Type="http://schemas.openxmlformats.org/officeDocument/2006/relationships/notesSlide" Target="/ppt/notesSlides/notesSlide16.xml" Id="R4134fd8a8c2245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cf07d5b0f4aa8" /><Relationship Type="http://schemas.openxmlformats.org/officeDocument/2006/relationships/notesSlide" Target="/ppt/notesSlides/notesSlide17.xml" Id="R404cb63b99f14e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9aa2d0b2d4100" /><Relationship Type="http://schemas.openxmlformats.org/officeDocument/2006/relationships/notesSlide" Target="/ppt/notesSlides/notesSlide18.xml" Id="Rc0297a4881b34d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3d62ba5a844c0" /><Relationship Type="http://schemas.openxmlformats.org/officeDocument/2006/relationships/notesSlide" Target="/ppt/notesSlides/notesSlide19.xml" Id="Rd86ee2ddb70845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5b2c6f5d64fc6" /><Relationship Type="http://schemas.openxmlformats.org/officeDocument/2006/relationships/notesSlide" Target="/ppt/notesSlides/notesSlide20.xml" Id="R1784d73f6de14f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e859bc8af14551" /><Relationship Type="http://schemas.openxmlformats.org/officeDocument/2006/relationships/notesSlide" Target="/ppt/notesSlides/notesSlide21.xml" Id="Ra3901631025f42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3e783eae44f70" /><Relationship Type="http://schemas.openxmlformats.org/officeDocument/2006/relationships/notesSlide" Target="/ppt/notesSlides/notesSlide22.xml" Id="R766d9d2a5c5745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d7b357a2c491d" /><Relationship Type="http://schemas.openxmlformats.org/officeDocument/2006/relationships/notesSlide" Target="/ppt/notesSlides/notesSlide23.xml" Id="Rfbf7d5e398ee48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4d21a69a944c2" /><Relationship Type="http://schemas.openxmlformats.org/officeDocument/2006/relationships/notesSlide" Target="/ppt/notesSlides/notesSlide24.xml" Id="R5fae0a94586c4e2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9BA8B7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AIの語</c:v>
                </c:pt>
                <c:pt idx="1">
                  <c:v>生成AI・エージェント</c:v>
                </c:pt>
                <c:pt idx="2">
                  <c:v>フィジカルAI</c:v>
                </c:pt>
                <c:pt idx="3">
                  <c:v>自動化・省人化</c:v>
                </c:pt>
                <c:pt idx="4">
                  <c:v>設計・製造デジタル</c:v>
                </c:pt>
                <c:pt idx="5">
                  <c:v>工場運用・データ</c:v>
                </c:pt>
                <c:pt idx="6">
                  <c:v>状態監視・補正</c:v>
                </c:pt>
                <c:pt idx="7">
                  <c:v>自律の語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22</c:v>
                </c:pt>
                <c:pt idx="1">
                  <c:v>0</c:v>
                </c:pt>
                <c:pt idx="2">
                  <c:v>0</c:v>
                </c:pt>
                <c:pt idx="3">
                  <c:v>172</c:v>
                </c:pt>
                <c:pt idx="4">
                  <c:v>43</c:v>
                </c:pt>
                <c:pt idx="5">
                  <c:v>59</c:v>
                </c:pt>
                <c:pt idx="6">
                  <c:v>31</c:v>
                </c:pt>
                <c:pt idx="7">
                  <c:v>4</c:v>
                </c:pt>
              </c:numCache>
            </c:numRef>
          </c:val>
        </c:ser>
        <c:ser>
          <c:idx val="1"/>
          <c:order val="1"/>
          <c:tx>
            <c:v>2026</c:v>
          </c:tx>
          <c:spPr>
            <a:solidFill xmlns:a="http://schemas.openxmlformats.org/drawingml/2006/main">
              <a:srgbClr val="126B84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AIの語</c:v>
                </c:pt>
                <c:pt idx="1">
                  <c:v>生成AI・エージェント</c:v>
                </c:pt>
                <c:pt idx="2">
                  <c:v>フィジカルAI</c:v>
                </c:pt>
                <c:pt idx="3">
                  <c:v>自動化・省人化</c:v>
                </c:pt>
                <c:pt idx="4">
                  <c:v>設計・製造デジタル</c:v>
                </c:pt>
                <c:pt idx="5">
                  <c:v>工場運用・データ</c:v>
                </c:pt>
                <c:pt idx="6">
                  <c:v>状態監視・補正</c:v>
                </c:pt>
                <c:pt idx="7">
                  <c:v>自律の語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40</c:v>
                </c:pt>
                <c:pt idx="1">
                  <c:v>5</c:v>
                </c:pt>
                <c:pt idx="2">
                  <c:v>7</c:v>
                </c:pt>
                <c:pt idx="3">
                  <c:v>193</c:v>
                </c:pt>
                <c:pt idx="4">
                  <c:v>39</c:v>
                </c:pt>
                <c:pt idx="5">
                  <c:v>57</c:v>
                </c:pt>
                <c:pt idx="6">
                  <c:v>26</c:v>
                </c:pt>
                <c:pt idx="7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74A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74A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4C382FB-2A19-41C9-87F3-FCC3CBEB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E1E9652-A650-40FE-8B15-FBBF135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3" name="cover-label">
            <a:extLst xmlns:a="http://schemas.openxmlformats.org/drawingml/2006/main">
              <a:ext uri="{FF2B5EF4-FFF2-40B4-BE49-F238E27FC236}">
                <a16:creationId xmlns:a16="http://schemas.microsoft.com/office/drawing/2014/main" id="{04DA5D19-7D79-4F9A-A49A-E993C789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333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JIMTOF2026　事前調査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6E3979-28E8-4AF1-B7AE-281BCF34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386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60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AIと自動化の動向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58D3C9-36BC-48CE-9F05-F6D43948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2024年との比較とブース訪問提案</a:t>
            </a:r>
          </a:p>
        </p:txBody>
      </p:sp>
      <p:sp>
        <p:nvSpPr>
          <p:cNvPr id="6" name="cover-scope">
            <a:extLst xmlns:a="http://schemas.openxmlformats.org/drawingml/2006/main">
              <a:ext uri="{FF2B5EF4-FFF2-40B4-BE49-F238E27FC236}">
                <a16:creationId xmlns:a16="http://schemas.microsoft.com/office/drawing/2014/main" id="{5C81DD3F-6200-4B39-BE46-A314AB58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333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全出展者一覧の集計を土台に</a:t>
            </a:r>
          </a:p>
          <a:p xmlns:a="http://schemas.openxmlformats.org/drawingml/2006/main">
            <a:pPr>
              <a:def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AX／DXと実機への接続を比較する</a:t>
            </a:r>
          </a:p>
        </p:txBody>
      </p:sp>
      <p:sp>
        <p:nvSpPr>
          <p:cNvPr id="7" name="footnote">
            <a:extLst xmlns:a="http://schemas.openxmlformats.org/drawingml/2006/main">
              <a:ext uri="{FF2B5EF4-FFF2-40B4-BE49-F238E27FC236}">
                <a16:creationId xmlns:a16="http://schemas.microsoft.com/office/drawing/2014/main" id="{BEFC0B7E-4D9E-4051-9B87-528F7DF3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2026年10月19日調査　2026年の展示は予定。現地実演・効果は未検証。</a:t>
            </a:r>
          </a:p>
        </p:txBody>
      </p:sp>
    </p:spTree>
    <p:extLst>
      <p:ext uri="{BB962C8B-B14F-4D97-AF65-F5344CB8AC3E}">
        <p14:creationId xmlns:p14="http://schemas.microsoft.com/office/powerpoint/2010/main" val="785610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89B51BD-1E7E-459E-BAFB-04136DC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調査で見えた4つの論点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B9E8A25-39D2-4BC2-A243-EBB876B5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AIの訴求拡大と、継続する自動化を分けて読む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2B246F2-8C41-4FF1-825C-CBBBACC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4D3E9-01F6-4249-AB76-BAF8D4F61D85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14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619750"/>
                <a:gridCol w="586740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調査結果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視察で確認すること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1334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AIの広がり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同名538名称キーで22から40へ言及増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生成結果の修正と検証を含む準備時間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334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無人運転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爪・工具・切粉・検査へ対象を拡張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搬送以外に残る人手と介入回数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334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フィジカルAI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具体作業の展示と参考出品が並ぶ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適用条件、失敗検出、復帰手順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334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AXとDX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データと制御の接続が共通の論点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誰が判断し、誰が操作するか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570B436D-8AE2-41A4-ABA1-15558B75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調査者による横断分析。言及数は普及率・市場シェアではない。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259419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C2E5885-37AE-48A9-AC47-B695C6CD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全出展者を対象とする調査の範囲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C165A42-3D25-42A8-BB1B-268D0B45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母集団は10月16日取得のCSVに固定。最新発表は個別説明へ追加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E66B250-C45F-443C-A4E8-B2E0A31C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14745-95CA-42F9-B561-035CBB56D0EE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3505200"/>
                <a:gridCol w="3505200"/>
              </a:tblGrid>
              <a:tr h="6191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指標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809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公式一覧の掲載行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1,281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1,146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809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正規化した名称キー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1,242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1,131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説明文がある名称キー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933　75.1%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800　70.7%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809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説明なしの名称キー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両年とも説明がある同名比較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538名称キー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538名称キー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14EF44D9-B98B-429B-AE31-71CE282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NFKC・空白除去・英字大小統一。法人の完全名寄せではない。説明なしを陰性にしない。</a:t>
            </a:r>
          </a:p>
        </p:txBody>
      </p:sp>
    </p:spTree>
    <p:extLst>
      <p:ext uri="{BB962C8B-B14F-4D97-AF65-F5344CB8AC3E}">
        <p14:creationId xmlns:p14="http://schemas.microsoft.com/office/powerpoint/2010/main" val="1005068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B5F90D-85C6-42BA-A43E-CA89A89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同名企業でもAIへの言及は増加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A0E84392-DCAC-441C-806F-6FE7B796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両年に説明がある538名称キー。DXの記載は一様に増えてはいない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EAF8D8C-83DF-476C-81BA-3E3449DA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774D19B-C1F0-43AC-B555-873B93BF4F03}"/>
              </a:ext>
            </a:extLst>
          </p:cNvPr>
          <p:cNvGraphicFramePr/>
          <p:nvPr/>
        </p:nvGraphicFramePr>
        <p:xfrm>
          <a:off xmlns:a="http://schemas.openxmlformats.org/drawingml/2006/main" x="704850" y="2162175"/>
          <a:ext xmlns:a="http://schemas.openxmlformats.org/drawingml/2006/main" cx="13811250" cy="538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6db228c5534972"/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FF01950D-6C0B-49FC-80E5-C9413C3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語彙ヒットの比較。区分は重複し、記載の追加は新機能の初登場を意味しない。</a:t>
            </a:r>
          </a:p>
        </p:txBody>
      </p:sp>
    </p:spTree>
    <p:extLst>
      <p:ext uri="{BB962C8B-B14F-4D97-AF65-F5344CB8AC3E}">
        <p14:creationId xmlns:p14="http://schemas.microsoft.com/office/powerpoint/2010/main" val="1453373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7F78383-E993-4891-9436-266286F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AIという語と 製造AIの機能を区別する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0BEA0F0-1B76-4C50-B579-E16E7AD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両年のAI語ヒット86件を文脈確認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08FA026-79DC-4745-B65A-FF532AE2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4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5E36E346-7B5A-47F6-8DC4-228C7D6F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652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語の増加から言えること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241AED3E-8C64-4F70-9FD2-4CDCAD6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14575"/>
            <a:ext cx="652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そのまま実装件数にできない例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B3E1AABE-C022-405A-8CEF-F923552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6524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全体の言及は29から57</a:t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同名比較では22から40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AIを含む訴求が増えている</a:t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個別の担当業務と方式を調べる入口になる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EE50D76A-C311-4B7D-BF32-22457D4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86100"/>
            <a:ext cx="6524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AI/AOモジュールはアナログ入出力</a:t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AIサーバー用材料は需要先の説明</a:t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AI翻訳は加工・工場AIの機能と別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IPCや減速機は応用機能と区別</a:t>
            </a:r>
          </a:p>
        </p:txBody>
      </p:sp>
      <p:sp>
        <p:nvSpPr>
          <p:cNvPr id="8" name="footnote">
            <a:extLst xmlns:a="http://schemas.openxmlformats.org/drawingml/2006/main">
              <a:ext uri="{FF2B5EF4-FFF2-40B4-BE49-F238E27FC236}">
                <a16:creationId xmlns:a16="http://schemas.microsoft.com/office/drawing/2014/main" id="{9AE3FC96-1242-4B02-9C45-6E3AEEF2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数値は再現可能な語彙集計として保持。除外理由はai_context_review.csvに保存。</a:t>
            </a:r>
          </a:p>
        </p:txBody>
      </p:sp>
    </p:spTree>
    <p:extLst>
      <p:ext uri="{BB962C8B-B14F-4D97-AF65-F5344CB8AC3E}">
        <p14:creationId xmlns:p14="http://schemas.microsoft.com/office/powerpoint/2010/main" val="272942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358A9F-4899-4E4F-B842-F47B549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仕事と実現方式で整理する6つの動向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61C3D5F-BCEA-4198-AFE5-45AD916A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AI利用、自動化、データ連携、自律化を別の軸として比較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513AB20-C05C-4C49-844F-ACFB6950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AEA78-F81C-4EFA-B32B-75E40D77AC70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27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95950"/>
                <a:gridCol w="5695950"/>
              </a:tblGrid>
              <a:tr h="5905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仕事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比較する方式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代表的な訪問先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781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生産準備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工程予測、CAM生成、PLC支援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Hexagon、JBM、Beckhoff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81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CNCと物理作業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生成AI接続、状況認識、指令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ファナック、TAKISAWA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段取りと付帯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交換機構、ロボット、AMR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DMG森精機、オークマ、中村留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81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品質と工具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計測補正、画像AI、寿命提案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ミツトヨ、レニショー、モリ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工場運用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記録、診断、遠隔介入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三菱電機、パナソニック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81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実装基盤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仮想検証、データの意味、制御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シーメンス、Beckhoff、たけびし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35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8A3C8F-722E-486F-B308-240AC5E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生産準備AIは 学習源と出力で比較する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880E9B8-6E9B-4462-8F75-9D4ABC71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AI支援自体は2024年以前から存在。対応業務の具体化を読む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5C264CE-EBE9-412A-B847-142F9C0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23451-6A60-4990-B998-E992471BBC84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37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6286500"/>
                <a:gridCol w="491490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比較対象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確認できる方式・出力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現地の確認点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ProPlanAI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履歴ジョブから工程を予測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2026.1で旋削・複合等へ商用拡張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必要な履歴、未経験部品、修正負担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CAM Assist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加工戦略と経路の生成を支援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Mastercam向けは2024年に発表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工具・材料・保持の設定とNC検証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PLC・I/O・HMI設計を支援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国内版と運用版の段階、変更承認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匠フォース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図面認識・原価計算・見積案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根拠の提示、人の修正と再学習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B37B16BC-4BB3-4901-A228-C8281C98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[S17][S18][S21][S26]　生成時間だけでなく、修正と検証を含む総時間で比較。</a:t>
            </a:r>
          </a:p>
        </p:txBody>
      </p:sp>
    </p:spTree>
    <p:extLst>
      <p:ext uri="{BB962C8B-B14F-4D97-AF65-F5344CB8AC3E}">
        <p14:creationId xmlns:p14="http://schemas.microsoft.com/office/powerpoint/2010/main" val="1036809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365CFBE-3CDC-4BD0-9073-9FDD8D3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フィジカルAIは具体作業と提供段階を確認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A0F1980-433E-4160-A2D9-564AC78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CNCへの接続と、切粉除去の参考出品を比較する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EFEBBBB-93F8-45AA-B08A-894D475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597F625-FF61-44F8-B23E-A5B7CE85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652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ファナック S2001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A93FD0B-36D4-43F5-BCE8-C5A7441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14575"/>
            <a:ext cx="652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TAKISAWA E3013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601D3B71-F7F9-44B8-9C8B-5A9F766A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6524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フィジカルAI CNCと生成AIロボット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2024にもAIバラ積みとツイン</a:t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2026は生成AIとの接続を明示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仮想検証から実機適用の承認点を確認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E6E20BF3-58A9-4FEB-A91C-33A13B4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86100"/>
            <a:ext cx="6524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TR-20Wの切粉絡まり判断・除去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2024のワーク搬入出から対象を拡張</a:t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2026展示は参考出品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失敗検出と復帰、製品化条件を確認</a:t>
            </a:r>
          </a:p>
        </p:txBody>
      </p:sp>
      <p:sp>
        <p:nvSpPr>
          <p:cNvPr id="8" name="footnote">
            <a:extLst xmlns:a="http://schemas.openxmlformats.org/drawingml/2006/main">
              <a:ext uri="{FF2B5EF4-FFF2-40B4-BE49-F238E27FC236}">
                <a16:creationId xmlns:a16="http://schemas.microsoft.com/office/drawing/2014/main" id="{85AC8FA0-2786-4CD6-AB61-839DBC0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[S09][S11]　別展示会の事例をJIMTOFで実演する機能と自動的に同一視しない。</a:t>
            </a:r>
          </a:p>
        </p:txBody>
      </p:sp>
    </p:spTree>
    <p:extLst>
      <p:ext uri="{BB962C8B-B14F-4D97-AF65-F5344CB8AC3E}">
        <p14:creationId xmlns:p14="http://schemas.microsoft.com/office/powerpoint/2010/main" val="359340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3067B9-DCB1-4884-8BDB-CA8197FD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無人運転は搬送以外の人手が比較点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25FC3D2-212E-4C9C-8148-827A1354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AIを使わない機構や固定手順も、省人化への寄与で評価する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E315085-CDA1-40AF-BB92-BBDC6EC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CA96-9029-4459-95DE-44B996D2B616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26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6191250"/>
                <a:gridCol w="5153025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対象作業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今回の比較例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見るべき指標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爪と工具交換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 GX Flex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品種切替と補充の残る人手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台車とパレット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中村留 RoboSync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既存設備への適用と移設後の復旧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把持と着脱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FUJI 異形・重量ワーク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対象形状、半自動と全自動の範囲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機内・移動ロボット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オークマ ARMROID・OMR20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手動切替、再教示、長時間運転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計測までの連携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ツガミ コレット交換・機外測定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測定を含む切替と例外対応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7A9D9D0B-3392-42FF-98F2-E8D93C6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搬送速度より、準備・補充・回収・復帰を含む有人時間をそろえて比較。</a:t>
            </a:r>
          </a:p>
        </p:txBody>
      </p:sp>
    </p:spTree>
    <p:extLst>
      <p:ext uri="{BB962C8B-B14F-4D97-AF65-F5344CB8AC3E}">
        <p14:creationId xmlns:p14="http://schemas.microsoft.com/office/powerpoint/2010/main" val="187424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FBCBD67-DC82-4B62-8998-786CB66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品質データを加工と工具の判断へ返す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785A58C-5FF6-40E6-A7A0-1CF24CE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計測フィードバック自体は既存。接続範囲と運用条件を比較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55554F0-DF1A-4B80-BDE6-B75A1A9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7ED89-7761-4BA7-8BFE-126467924249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24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39115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訪問先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未確認にする点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162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ミツトヨ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MiSTARと加工機の工程連携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判定後の補正、停止、再測定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62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レニショー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CentralとIPC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補正先、上限、他社機との接続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HACARUS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良品学習と追加学習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見逃し、過検出、更新後の評価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620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ハイデンハインとモリ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AI摩耗診断と寿命・交換提案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未学習条件と、自動交換への接続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E9C5E098-B541-442C-A21D-5E4A993D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[S13][S14][S15][S22]　Check ZEROの発売は2025年。2026初の技術とはしない。</a:t>
            </a:r>
          </a:p>
        </p:txBody>
      </p:sp>
    </p:spTree>
    <p:extLst>
      <p:ext uri="{BB962C8B-B14F-4D97-AF65-F5344CB8AC3E}">
        <p14:creationId xmlns:p14="http://schemas.microsoft.com/office/powerpoint/2010/main" val="347030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9553D67-91E7-454E-83CF-D8C0CA8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工場DXは アラーム後の仕事まで確認する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D36C5C1-0D1E-47DB-84C9-C10548DF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診断・提案・遠隔操作を、修理や自律復帰と分ける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EB333C7-04B6-49BA-9F00-08449B9E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6F36C-918B-413A-960D-86B433B12E87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400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334000"/>
                <a:gridCol w="529590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確認できる提案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誰が動くかを確認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Condition 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予兆保全・異常兆候の分析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診断開始、保全判断、修理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遠隔保守、スマート保全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遠隔操作と現地作業の範囲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X-Area Remote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複数設備の監視と遠隔操作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停止後の人の介入と通信断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保全記録のAI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記録から対処のヒントや分析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提案の採否と設備操作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EA098EAD-329C-41D0-8264-B723FDB4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[S06][S10][S25]　三菱電機CNCは最新案内で実機展示なし。</a:t>
            </a:r>
          </a:p>
        </p:txBody>
      </p:sp>
    </p:spTree>
    <p:extLst>
      <p:ext uri="{BB962C8B-B14F-4D97-AF65-F5344CB8AC3E}">
        <p14:creationId xmlns:p14="http://schemas.microsoft.com/office/powerpoint/2010/main" val="448576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48DE7A-7FA1-4331-9995-FF07940F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AIを実機へ接続するための比較軸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A635936-6DC7-432B-8B1B-5358FCCC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データの意味、モデルと実機の一致、検証と承認が共通の論点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B21184E-A4B2-4651-8327-3FBD41D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54D1E-922D-4159-BB18-CAB8F8D20E7E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400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143500"/>
                <a:gridCol w="558165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基盤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訪問先の例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質問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デジタルスレッド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シーメンス、Hexagon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工具・部品・測定の情報をどう引き継ぐか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仮想検証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ファナック、CGTech、ニデック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モデル更新と実機差の確認を誰が行うか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制御へのAI実装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Beckhoff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学習データ、モデル評価、PLC反映の手順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2001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設備とエージェント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たけびし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読出しと書込み、実行承認、提供段階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31C71FF6-4DB9-4BA5-94C3-6CB40E5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MCP Adapterは確認記事では提供計画。接続できることと、安全に自律操作できることを分ける。</a:t>
            </a:r>
          </a:p>
        </p:txBody>
      </p:sp>
    </p:spTree>
    <p:extLst>
      <p:ext uri="{BB962C8B-B14F-4D97-AF65-F5344CB8AC3E}">
        <p14:creationId xmlns:p14="http://schemas.microsoft.com/office/powerpoint/2010/main" val="290950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706819A-C3CE-454D-9282-261C9AEC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東展示棟の優先訪問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008F4175-FC88-4370-8364-26EA337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工程集約、生産準備AI、計測フィードバックを比較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981E905-8AE3-487E-8EA6-014D854A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D8CA1-D8B6-4BEC-BA07-DAF5BF02975B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26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667500"/>
                <a:gridCol w="539115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エリア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優先する候補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マザック E1001</a:t>
                      </a:r>
                    </a:p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牧野 E1024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工程集約とライン自動化の構成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 E2013、JBM E2002</a:t>
                      </a:r>
                    </a:p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Beckhoff E2028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生成案とNC検証、制御設計支援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オークマ E3028、TAKISAWA E3013</a:t>
                      </a:r>
                    </a:p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 E3006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人手が残る工程と仮想検証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ミツトヨ E7085、レニショー E7089</a:t>
                      </a:r>
                    </a:p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 E7035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計測から判定・補正への接続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 E8005</a:t>
                      </a:r>
                    </a:p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ジェイテクト E8003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工具・切粉・保全までの連携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8B5748CF-0075-4A36-9B17-2601D7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候補の全件訪問を1日の必須条件にはしない。各枠で選び、移動と待ち時間を確保。</a:t>
            </a:r>
          </a:p>
        </p:txBody>
      </p:sp>
    </p:spTree>
    <p:extLst>
      <p:ext uri="{BB962C8B-B14F-4D97-AF65-F5344CB8AC3E}">
        <p14:creationId xmlns:p14="http://schemas.microsoft.com/office/powerpoint/2010/main" val="1154634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51E0C08-BD9D-4007-A026-CA7324B2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南と西の優先訪問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7B2E011-A5EC-40ED-81B8-2A4ED53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制御、AI検査、業務AI、データ接続、遠隔管制を比較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3922D02-5DF9-492E-A5D8-87392677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80050-66E7-47EB-95AB-57353E2A3327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26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762750"/>
                <a:gridCol w="529590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エリア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南2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 S2001、三菱電機 S2003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生成AIから実機指令、提供段階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南1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HACARUS／日東商事 S1031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追加学習と誤判定への対応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南3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匠技研 S3011、たけびし S3015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人の承認と設備データの接続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南3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モリ S3048、興和 S3104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工具診断、撮像の安定性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OSG W1070、京セラ W1046</a:t>
                      </a:r>
                    </a:p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パナソニック W3086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工具管理、状態監視、遠隔介入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F60F32FC-E67C-4F8C-AB0F-1443AF5F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モリのツールソムリエは実機出展なし。工具診断・アナライザーを対象に確認。</a:t>
            </a:r>
          </a:p>
        </p:txBody>
      </p:sp>
    </p:spTree>
    <p:extLst>
      <p:ext uri="{BB962C8B-B14F-4D97-AF65-F5344CB8AC3E}">
        <p14:creationId xmlns:p14="http://schemas.microsoft.com/office/powerpoint/2010/main" val="4884030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A36BA6-00CB-4400-B145-0DC3B11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2日間の配分案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116B501-2674-47BB-8AA1-05651193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東4〜6は休館。実演時刻・混雑に合わせて順序を調整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0FE9ED7-C3F6-42DB-9769-20D66FB0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A1C4C-513D-4748-A2EA-4C6C23E66C4C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362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886450"/>
                <a:gridCol w="588645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時間帯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1日目 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2日目 南と西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午前前半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マザックと牧野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工程集約・ライン自動化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ファナックと三菱電機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CNC・ロボットとAI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午前後半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 CAMとBeckhoff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JBMは入替候補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HACARUS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良品学習と追加調整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午後前半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オークマとTAKISAWA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シーメンスは入替候補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南3から2件を選択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業務AI・工具診断・データ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119062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午後後半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計測を1〜2件、その後DMG森精機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接続と総合構成を比較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西の工具・遠隔管制</a:t>
                      </a:r>
                    </a:p>
                    <a:p>
                      <a:r>
                        <a:rPr sz="202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最後に未回答を再確認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8677421D-037A-4786-9ABA-A765F68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会場10〜17時、最終日16時終了。1日なら東と南の基準点に絞り、西は別担当で補完。</a:t>
            </a:r>
          </a:p>
        </p:txBody>
      </p:sp>
    </p:spTree>
    <p:extLst>
      <p:ext uri="{BB962C8B-B14F-4D97-AF65-F5344CB8AC3E}">
        <p14:creationId xmlns:p14="http://schemas.microsoft.com/office/powerpoint/2010/main" val="680395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AF6909-1D1F-4DD6-A876-A57E0147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デモの速さに加えて準備と復帰を測る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28BBF561-2159-4663-8EC9-F06E598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同じ質問を各社に当て、導入や研究テーマの判断に使う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A9B2827-4AE7-4D3F-96BC-C9217C3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83595-AE8F-4E44-827B-6E3C0F1FEBF7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314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715000"/>
                <a:gridCol w="5676900"/>
              </a:tblGrid>
              <a:tr h="600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測る指標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例外条件の質問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429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生産準備AI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生成時間、修正時間、検証時間、初回加工合格率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図面不足、未知形状、工具欠品で何が起きるか。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429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ロボットと付帯作業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品種切替時間、連続運転時間、介入回数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切粉形状やワーク位置が変わると、再試行と停止はどう変わるか。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計測と補正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見逃し率、過検出率、測定時間、工程能力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補正上限、測定異常、油汚れをどう扱うか。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429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保全と工場DX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入力時間、接続工数、停止時間、復旧時間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診断後の操作・修理を誰が担うか。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データと制御基盤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モデル更新工数、実機差、ログ、再検証時間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生成案と実機の設定の版を、どう一致させるか。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99FAE3A0-FE17-4C5D-BC76-9010426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商用、参考出品、α版、提供計画、動画・サンプルを区別して記録する。</a:t>
            </a:r>
          </a:p>
        </p:txBody>
      </p:sp>
    </p:spTree>
    <p:extLst>
      <p:ext uri="{BB962C8B-B14F-4D97-AF65-F5344CB8AC3E}">
        <p14:creationId xmlns:p14="http://schemas.microsoft.com/office/powerpoint/2010/main" val="17230007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CA4F28-7EA8-435A-840A-67C191F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1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7C54055-9C2B-43B9-B7F7-CBD60460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1CFEF10-57F1-4C46-BD7D-F04D6FBB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01565-4E92-4B27-AB2C-BDB641376839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51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E8005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GX Flex、AMR、MATRIS WPH、DX Office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工具交換と切粉回収を含む全体の無人時間。AIエージェントとCondition Agentの担当の違い。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ヤマザキマザック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E1001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INTEGREX、自動化、デジタル・AI連携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工程集約後の段取りと、AIが実際に変更する設定・加工条件。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オークマ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ARMROID、OMR20、タワーAPC、OSP・AI知能化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手動と自動の切替工数、品種切替、熱変位制御とAIの役割分担。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牧野フライス製作所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E1024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MAS、生産ラインエンジニアリング、5軸・パレット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機械以外の段取り、再計画と停止復帰で人が担う仕事。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S2001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フィジカルAI CNC、生成AIロボット、Smart Digital Twin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提案から仮想検証、実機適用までの画面と承認点。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14DF779F-0105-40F5-8216-6B82A5EB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9420825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A975A3-E2EE-45C4-97FB-87FD4D0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2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AA7E0B9-5EAF-4398-9858-C7175040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F19003C-ABE4-4D1A-8E23-81472BD3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41181-F4DC-411B-BBC7-F87238AABCA9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51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S2003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CNC省人化、放電加工スケジューラ、遠隔保守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CNCは最新案内で実機展示なし。資料と相談でAI機能・適用機・権限を確認。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E3006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Digital Thread、SINUMERIK ONE、Heller Tokn、Equator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CAD／CAM／測定データを接続する実際の手順と版管理。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ジェイテクト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E8003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Mill-Plan、ファインティーチレス、工場マネジメント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オフライン教示の現合修正をどれだけ減らせるか。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ニデックマシンツール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Nidec NC Twin、門形・歯車加工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NC Twinの実機差と更新工数。TAKISAWAのAI展示と分けて見る。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ニデックオーケーケー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VB-X650、パレット・拡張マガジン、GC53RⅡ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工具・パレット容量と、有人段取りが残る範囲。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046E01DD-EF2E-40C7-91E3-FFD18A18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9959379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E3D2AD9-8DE1-4AC1-ADF5-35A95D71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3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2490F78-53DF-42D2-9B1A-8FFA8B5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5A4DDCE-2660-470F-B316-670002B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DAA6A-BA3C-46A3-B4E6-5A52750BE664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51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ソディック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E2017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ワイヤ放電＋搬送、精密切削自動化、IoT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放電と後工程をつなぐ段取り・電極やワイヤ関連の停止要因。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アマダ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新型レーザ・バンドソー、DPG150、プレス自動化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AI表記が減っても機能後退とは判断しない。計測・補正と段取り自動化を確認。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ブラザー工業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E1055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SPEEDIOの大容量工具搭載、5軸、PC-1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工具本数増加が補充・段取り時間をどれだけ変えるか。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松浦機械製作所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MX-520T PC7、MX-850T PC4、MiOS、GibbsCAM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MiOSで未完段取りをどう検知し、長時間運転の準備を完了するか。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シチズンマシナリー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S2002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FA-Friendly、ATC、自動計測、複合加工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棒材交換以外の検査、刃具管理、切粉処理の有人作業。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1AB03D42-B9DB-49EE-BAD6-6E75A0FE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21181053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24DDDF-FD93-44A2-87CD-077CA222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4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A600BABD-15C6-43EC-8838-3031BFA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0611694-6DE0-474A-BCCE-0A016B0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BD1D0-A4BD-4FDD-8D5F-C52CB81EB984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51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スター精密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S1003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加工支援、ソフトウェア、ロボット部品加工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ヒューマノイド部品の加工需要と、自社機でAIを使う機能を区別。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ツガミ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S1004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TMA8Fのコレット交換・機外測定、VA3Sの搬送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多品種の切替時、コレット・工具・測定プログラムを誰が設定するか。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オーエスジー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W1070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MONOlithbox、Aブランド工具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工具在庫と加工計画・補充をどうつなぐか。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三菱マテリアル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W1065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ヘッド交換式工具、加工ソリューション、再資源化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交換作業と工具寿命の安定化が無人運転に与える効果。AI機能は未確認。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京セラ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W1046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VIMOA、EASY TOOL GUIDE、切削工具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検出後の停止・条件変更・工具交換までの接続範囲。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F5494675-28A2-4BB1-9FEF-23BE0DDF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8708725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8EBAA6F-BEF2-4564-AA8D-99559E89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5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D2948BA7-86C6-409D-9FA5-BB031BB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626AE0A-1F64-4C80-8DEC-FD2D791C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DFE1C-9B24-466D-AB32-078F23037954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51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タンガロイ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W1090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MATRIX 360、工具・自動化対応システム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使用実績と在庫・補充のつながり。AIとの関係は確認できない。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ミツトヨ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E3008 / E7085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MiSTARと加工機、RA-Robot、計測プラットフォーム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ワーク投入後に測定・判定・加工補正のどこまで自動で進むか。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東京精密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E7044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精密測定機器の出展。具体的な2026展示は確認課題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測定自動化、加工機接続、データ活用の出展機と実演時間を現地確認。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レニショー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E7089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Renishaw Central、Equator、新プローブ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IPCの補正先・上限・不確かさ、他社機の接続を比較。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ハイデンハイン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E7043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VT 122、VTC 6.0のAI摩耗診断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摩耗診断が交換指示や自動交換までつながるか。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BDFB79FD-B872-4431-A089-382EBCA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20046987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E0EB416-B193-4E8F-9F54-FC95FF6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6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A9411F66-580C-4006-91D6-3E2D328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04B0EFD-AF74-45E2-8C05-FAFF2A7D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06B8A-7B75-4FC8-A430-035F6ECFA384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5514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ベッコフオートメーション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TwinCAT CoAgent、ML Creator、オープンCNC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国内提供版、EngineeringとOperationsの提供段階、実機変更の承認。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 Manufacturing Intelligence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E7035 / E2013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E2013のProPlanAIとE7035のMAESTRO・PRESTO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履歴の準備量、未経験部品の工程案、CAMと検査をつなぐデータ。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住友電気工業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SumiSmall、交換式ドリル、安定切粉処理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切粉・欠損・交換負担を減らす条件。2026個別AI機能は未確認。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中村留精密工業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RoboSync、Protona、複合旋盤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移設・品種切替の復旧工数、ストッカー不要の適用条件。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FUJI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異形ワーク把持、重量物の半自動着脱、Quist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全自動と半自動を分け、重量・形状の適用範囲と残る人手を確認。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89EB9626-CF20-4A4C-9B74-604AD2E8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15629942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E355E72-A3B2-4F14-9960-1817490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補足　大手と主要企業の比較 7 / 7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FE4347A-6F92-440B-8F65-1BA4A9BD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全33社を掲載。AI記載の薄い企業も、自動化とDXへの役割で比較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C330D4A-4CAF-4B01-84FF-833C9C1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EB5BA-DA98-4CFB-91D4-2F2CB24AC32F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38684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572125"/>
                <a:gridCol w="5010150"/>
              </a:tblGrid>
              <a:tr h="609600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企業と小間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見るもの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比較・質問の焦点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TAKISAWA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TR-20Wの切粉除去、工程集約、減速機部品加工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除去失敗時の停止・再試行と、学習していない切粉への適応。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オートデスク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S3019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Fusion、Fusion Manage、クラウド・PLM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個別AIタスク、必要ライセンス、データの持出しと検証工程。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ニコン</a:t>
                      </a:r>
                    </a:p>
                    <a:p>
                      <a:r>
                        <a:rPr sz="1800" b="1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NEXIV、CT、ロボットビジョン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 wrap="square" lIns="123825" tIns="123825" rIns="123825" bIns="1238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74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検査工程とロボット動作の接続。2026の個別AI機能差は未確認。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9AE0C934-3508-4A6A-A458-F9D3637B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年度比較の詳細と公式原典は各ページの発表者ノートに収録。2026年は展示予定。</a:t>
            </a:r>
          </a:p>
        </p:txBody>
      </p:sp>
    </p:spTree>
    <p:extLst>
      <p:ext uri="{BB962C8B-B14F-4D97-AF65-F5344CB8AC3E}">
        <p14:creationId xmlns:p14="http://schemas.microsoft.com/office/powerpoint/2010/main" val="6650094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1EE79BE-75B9-4AF9-8C33-5E6899D5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根拠と確認が必要な範囲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BB57C85-A6DB-41BD-BEEC-418BF59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379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詳細な出典・年度比較・ブース別質問はHTMLとWordへ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CBDC8C1-DC14-4551-9654-4FE655C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sp>
        <p:nvSpPr>
          <p:cNvPr id="4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127DFBCC-BD46-4B5B-8E1C-8212948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出典の種類</a:t>
            </a:r>
          </a:p>
        </p:txBody>
      </p:sp>
      <p:sp>
        <p:nvSpPr>
          <p:cNvPr id="5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846A0A07-0D81-4263-B8EF-BB89DB3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628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両年の公式出展者CSV</a:t>
            </a:r>
          </a:p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企業の展示特設ページと技術発表</a:t>
            </a:r>
          </a:p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2026年版ものづくり白書</a:t>
            </a:r>
          </a:p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日工会とJIMTOFの企画資料</a:t>
            </a:r>
          </a:p>
        </p:txBody>
      </p:sp>
      <p:sp>
        <p:nvSpPr>
          <p:cNvPr id="6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2834F095-269E-4622-B7B8-824B6D28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26B84"/>
                </a:solidFill>
                <a:latin typeface="Noto Sans JP"/>
                <a:ea typeface="Noto Sans JP"/>
                <a:cs typeface="Noto Sans JP"/>
              </a:rPr>
              <a:t>現地で確かめること</a:t>
            </a:r>
          </a:p>
        </p:txBody>
      </p:sp>
      <p:sp>
        <p:nvSpPr>
          <p:cNvPr id="7" name="limits-body">
            <a:extLst xmlns:a="http://schemas.openxmlformats.org/drawingml/2006/main">
              <a:ext uri="{FF2B5EF4-FFF2-40B4-BE49-F238E27FC236}">
                <a16:creationId xmlns:a16="http://schemas.microsoft.com/office/drawing/2014/main" id="{0983BA3B-E20E-4DAA-A545-74A96DA9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647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説明なし企業と2024の別名照合</a:t>
            </a:r>
          </a:p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国内の提供版と実演する範囲</a:t>
            </a:r>
          </a:p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成功率、採用実績、総工数</a:t>
            </a:r>
          </a:p>
          <a:p xmlns:a="http://schemas.openxmlformats.org/drawingml/2006/main">
            <a:pPr>
              <a:def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17374A"/>
                </a:solidFill>
                <a:latin typeface="Noto Sans JP"/>
                <a:ea typeface="Noto Sans JP"/>
                <a:cs typeface="Noto Sans JP"/>
              </a:rPr>
              <a:t>失敗時の人への引継ぎと復帰</a:t>
            </a:r>
          </a:p>
        </p:txBody>
      </p:sp>
      <p:sp>
        <p:nvSpPr>
          <p:cNvPr id="8" name="footnote">
            <a:extLst xmlns:a="http://schemas.openxmlformats.org/drawingml/2006/main">
              <a:ext uri="{FF2B5EF4-FFF2-40B4-BE49-F238E27FC236}">
                <a16:creationId xmlns:a16="http://schemas.microsoft.com/office/drawing/2014/main" id="{84734EDA-7C74-4089-99AC-662C3766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72400"/>
            <a:ext cx="1285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A78"/>
                </a:solidFill>
                <a:latin typeface="Noto Sans JP"/>
                <a:ea typeface="Noto Sans JP"/>
                <a:cs typeface="Noto Sans JP"/>
              </a:rPr>
              <a:t>主要な結論は複数資料を照合した分析。メーカーの効果主張を第三者実証とは扱わない。</a:t>
            </a:r>
          </a:p>
        </p:txBody>
      </p:sp>
    </p:spTree>
    <p:extLst>
      <p:ext uri="{BB962C8B-B14F-4D97-AF65-F5344CB8AC3E}">
        <p14:creationId xmlns:p14="http://schemas.microsoft.com/office/powerpoint/2010/main" val="1590544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2026-10-18T23:03:20.9410000Z</dcterms:created>
  <dcterms:modified xsi:type="dcterms:W3CDTF">2026-10-18T23:03:20.9410000Z</dcterms:modified>
</coreProperties>
</file>