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33d33d3c1f44d81" /><Relationship Type="http://schemas.openxmlformats.org/officeDocument/2006/relationships/extended-properties" Target="/docProps/app.xml" Id="Rcbb2898453f94cc6" /><Relationship Type="http://schemas.openxmlformats.org/officeDocument/2006/relationships/officeDocument" Target="/ppt/presentation.xml" Id="R90ea9f906ae045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417c238bcd438a"/>
  </p:sldMasterIdLst>
  <p:notesMasterIdLst>
    <p:notesMasterId xmlns:r="http://schemas.openxmlformats.org/officeDocument/2006/relationships" r:id="R3cf16797c4d848ef"/>
  </p:notesMasterIdLst>
  <p:sldIdLst>
    <p:sldId xmlns:r="http://schemas.openxmlformats.org/officeDocument/2006/relationships" id="256" r:id="R47b312536a824f5b"/>
    <p:sldId xmlns:r="http://schemas.openxmlformats.org/officeDocument/2006/relationships" id="257" r:id="Rd89295e759214214"/>
    <p:sldId xmlns:r="http://schemas.openxmlformats.org/officeDocument/2006/relationships" id="258" r:id="R46342a74dfca42e4"/>
    <p:sldId xmlns:r="http://schemas.openxmlformats.org/officeDocument/2006/relationships" id="259" r:id="R048638351c7a4f28"/>
    <p:sldId xmlns:r="http://schemas.openxmlformats.org/officeDocument/2006/relationships" id="260" r:id="R885846f859ab45df"/>
    <p:sldId xmlns:r="http://schemas.openxmlformats.org/officeDocument/2006/relationships" id="261" r:id="R92dec8fb71d34575"/>
    <p:sldId xmlns:r="http://schemas.openxmlformats.org/officeDocument/2006/relationships" id="262" r:id="R71c8a570ef064187"/>
    <p:sldId xmlns:r="http://schemas.openxmlformats.org/officeDocument/2006/relationships" id="263" r:id="R2626a523ce06461f"/>
    <p:sldId xmlns:r="http://schemas.openxmlformats.org/officeDocument/2006/relationships" id="264" r:id="R9fa30c3d151349ab"/>
    <p:sldId xmlns:r="http://schemas.openxmlformats.org/officeDocument/2006/relationships" id="265" r:id="R5e528d7162b3472d"/>
    <p:sldId xmlns:r="http://schemas.openxmlformats.org/officeDocument/2006/relationships" id="266" r:id="R8ccd7a8c09d54817"/>
    <p:sldId xmlns:r="http://schemas.openxmlformats.org/officeDocument/2006/relationships" id="267" r:id="R1026f37075e4476b"/>
    <p:sldId xmlns:r="http://schemas.openxmlformats.org/officeDocument/2006/relationships" id="268" r:id="Rcc326f9ce2bc4fe1"/>
    <p:sldId xmlns:r="http://schemas.openxmlformats.org/officeDocument/2006/relationships" id="269" r:id="R86fe08aded6e40a0"/>
    <p:sldId xmlns:r="http://schemas.openxmlformats.org/officeDocument/2006/relationships" id="270" r:id="R3d761985c9d44902"/>
    <p:sldId xmlns:r="http://schemas.openxmlformats.org/officeDocument/2006/relationships" id="271" r:id="R133fc95d7af64071"/>
    <p:sldId xmlns:r="http://schemas.openxmlformats.org/officeDocument/2006/relationships" id="272" r:id="Rf98689d23c744838"/>
    <p:sldId xmlns:r="http://schemas.openxmlformats.org/officeDocument/2006/relationships" id="273" r:id="Rd6f1c4e996a34708"/>
    <p:sldId xmlns:r="http://schemas.openxmlformats.org/officeDocument/2006/relationships" id="274" r:id="R1a4c47a403614880"/>
    <p:sldId xmlns:r="http://schemas.openxmlformats.org/officeDocument/2006/relationships" id="275" r:id="R88fc687ece164d6a"/>
    <p:sldId xmlns:r="http://schemas.openxmlformats.org/officeDocument/2006/relationships" id="276" r:id="R91c3ffc427574db1"/>
    <p:sldId xmlns:r="http://schemas.openxmlformats.org/officeDocument/2006/relationships" id="277" r:id="Rf78f8f71ab064fc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3e55a2d4164f86" /><Relationship Type="http://schemas.openxmlformats.org/officeDocument/2006/relationships/slideMaster" Target="/ppt/slideMasters/slideMaster1.xml" Id="R15417c238bcd438a" /><Relationship Type="http://schemas.openxmlformats.org/officeDocument/2006/relationships/notesMaster" Target="/ppt/notesMasters/notesMaster1.xml" Id="R3cf16797c4d848ef" /><Relationship Type="http://schemas.openxmlformats.org/officeDocument/2006/relationships/presProps" Target="/ppt/presProps.xml" Id="R7db20618e4164370" /><Relationship Type="http://schemas.openxmlformats.org/officeDocument/2006/relationships/tableStyles" Target="/ppt/tableStyles.xml" Id="Rc9085857b65b426e" /><Relationship Type="http://schemas.openxmlformats.org/officeDocument/2006/relationships/slide" Target="/ppt/slides/slide1.xml" Id="R47b312536a824f5b" /><Relationship Type="http://schemas.openxmlformats.org/officeDocument/2006/relationships/slide" Target="/ppt/slides/slide2.xml" Id="Rd89295e759214214" /><Relationship Type="http://schemas.openxmlformats.org/officeDocument/2006/relationships/slide" Target="/ppt/slides/slide3.xml" Id="R46342a74dfca42e4" /><Relationship Type="http://schemas.openxmlformats.org/officeDocument/2006/relationships/slide" Target="/ppt/slides/slide4.xml" Id="R048638351c7a4f28" /><Relationship Type="http://schemas.openxmlformats.org/officeDocument/2006/relationships/slide" Target="/ppt/slides/slide5.xml" Id="R885846f859ab45df" /><Relationship Type="http://schemas.openxmlformats.org/officeDocument/2006/relationships/slide" Target="/ppt/slides/slide6.xml" Id="R92dec8fb71d34575" /><Relationship Type="http://schemas.openxmlformats.org/officeDocument/2006/relationships/slide" Target="/ppt/slides/slide7.xml" Id="R71c8a570ef064187" /><Relationship Type="http://schemas.openxmlformats.org/officeDocument/2006/relationships/slide" Target="/ppt/slides/slide8.xml" Id="R2626a523ce06461f" /><Relationship Type="http://schemas.openxmlformats.org/officeDocument/2006/relationships/slide" Target="/ppt/slides/slide9.xml" Id="R9fa30c3d151349ab" /><Relationship Type="http://schemas.openxmlformats.org/officeDocument/2006/relationships/slide" Target="/ppt/slides/slide10.xml" Id="R5e528d7162b3472d" /><Relationship Type="http://schemas.openxmlformats.org/officeDocument/2006/relationships/slide" Target="/ppt/slides/slide11.xml" Id="R8ccd7a8c09d54817" /><Relationship Type="http://schemas.openxmlformats.org/officeDocument/2006/relationships/slide" Target="/ppt/slides/slide12.xml" Id="R1026f37075e4476b" /><Relationship Type="http://schemas.openxmlformats.org/officeDocument/2006/relationships/slide" Target="/ppt/slides/slide13.xml" Id="Rcc326f9ce2bc4fe1" /><Relationship Type="http://schemas.openxmlformats.org/officeDocument/2006/relationships/slide" Target="/ppt/slides/slide14.xml" Id="R86fe08aded6e40a0" /><Relationship Type="http://schemas.openxmlformats.org/officeDocument/2006/relationships/slide" Target="/ppt/slides/slide15.xml" Id="R3d761985c9d44902" /><Relationship Type="http://schemas.openxmlformats.org/officeDocument/2006/relationships/slide" Target="/ppt/slides/slide16.xml" Id="R133fc95d7af64071" /><Relationship Type="http://schemas.openxmlformats.org/officeDocument/2006/relationships/slide" Target="/ppt/slides/slide17.xml" Id="Rf98689d23c744838" /><Relationship Type="http://schemas.openxmlformats.org/officeDocument/2006/relationships/slide" Target="/ppt/slides/slide18.xml" Id="Rd6f1c4e996a34708" /><Relationship Type="http://schemas.openxmlformats.org/officeDocument/2006/relationships/slide" Target="/ppt/slides/slide19.xml" Id="R1a4c47a403614880" /><Relationship Type="http://schemas.openxmlformats.org/officeDocument/2006/relationships/slide" Target="/ppt/slides/slide20.xml" Id="R88fc687ece164d6a" /><Relationship Type="http://schemas.openxmlformats.org/officeDocument/2006/relationships/slide" Target="/ppt/slides/slide21.xml" Id="R91c3ffc427574db1" /><Relationship Type="http://schemas.openxmlformats.org/officeDocument/2006/relationships/slide" Target="/ppt/slides/slide22.xml" Id="Rf78f8f71ab06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5255dc6f994b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8dcc247f314719" /><Relationship Type="http://schemas.openxmlformats.org/officeDocument/2006/relationships/notesMaster" Target="/ppt/notesMasters/notesMaster1.xml" Id="R135646bc299b45a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15546659b047de" /><Relationship Type="http://schemas.openxmlformats.org/officeDocument/2006/relationships/notesMaster" Target="/ppt/notesMasters/notesMaster1.xml" Id="R961adb71ae2c41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ae771f728f54974" /><Relationship Type="http://schemas.openxmlformats.org/officeDocument/2006/relationships/notesMaster" Target="/ppt/notesMasters/notesMaster1.xml" Id="R8b9c5877d5e540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b226b4cabc4753" /><Relationship Type="http://schemas.openxmlformats.org/officeDocument/2006/relationships/notesMaster" Target="/ppt/notesMasters/notesMaster1.xml" Id="Rcf2c16b9e15a4e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7e5e1469ff4ac9" /><Relationship Type="http://schemas.openxmlformats.org/officeDocument/2006/relationships/notesMaster" Target="/ppt/notesMasters/notesMaster1.xml" Id="R71f94639710747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a871a0b14749d0" /><Relationship Type="http://schemas.openxmlformats.org/officeDocument/2006/relationships/notesMaster" Target="/ppt/notesMasters/notesMaster1.xml" Id="Re9d88d98715c44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fdd47c0c3f41ef" /><Relationship Type="http://schemas.openxmlformats.org/officeDocument/2006/relationships/notesMaster" Target="/ppt/notesMasters/notesMaster1.xml" Id="R4744d0cffbd544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97ea7716754394" /><Relationship Type="http://schemas.openxmlformats.org/officeDocument/2006/relationships/notesMaster" Target="/ppt/notesMasters/notesMaster1.xml" Id="Rf09675e29c374f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1b4d5d541349a5" /><Relationship Type="http://schemas.openxmlformats.org/officeDocument/2006/relationships/notesMaster" Target="/ppt/notesMasters/notesMaster1.xml" Id="R8c1f1e35fea147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26870a76d94cb0" /><Relationship Type="http://schemas.openxmlformats.org/officeDocument/2006/relationships/notesMaster" Target="/ppt/notesMasters/notesMaster1.xml" Id="R948cf13980574e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6c4c7b72604e82" /><Relationship Type="http://schemas.openxmlformats.org/officeDocument/2006/relationships/notesMaster" Target="/ppt/notesMasters/notesMaster1.xml" Id="Rc0e7db76803f47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1e35e3109c64254" /><Relationship Type="http://schemas.openxmlformats.org/officeDocument/2006/relationships/notesMaster" Target="/ppt/notesMasters/notesMaster1.xml" Id="R199fb5bcf1bc43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c5941c4549c49d2" /><Relationship Type="http://schemas.openxmlformats.org/officeDocument/2006/relationships/notesMaster" Target="/ppt/notesMasters/notesMaster1.xml" Id="R0ef0eb9327904b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d5c118293d64fb3" /><Relationship Type="http://schemas.openxmlformats.org/officeDocument/2006/relationships/notesMaster" Target="/ppt/notesMasters/notesMaster1.xml" Id="R7615de4144434d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a31986a9fe4744" /><Relationship Type="http://schemas.openxmlformats.org/officeDocument/2006/relationships/notesMaster" Target="/ppt/notesMasters/notesMaster1.xml" Id="R94b1945f93d3491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bc1214922e4957" /><Relationship Type="http://schemas.openxmlformats.org/officeDocument/2006/relationships/notesMaster" Target="/ppt/notesMasters/notesMaster1.xml" Id="R3df156e8d625464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a007a2cafb4826" /><Relationship Type="http://schemas.openxmlformats.org/officeDocument/2006/relationships/notesMaster" Target="/ppt/notesMasters/notesMaster1.xml" Id="Rf6beb2c81609486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5fec3e691945d6" /><Relationship Type="http://schemas.openxmlformats.org/officeDocument/2006/relationships/notesMaster" Target="/ppt/notesMasters/notesMaster1.xml" Id="R8da6c0445b4448b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962f273c6344ae" /><Relationship Type="http://schemas.openxmlformats.org/officeDocument/2006/relationships/notesMaster" Target="/ppt/notesMasters/notesMaster1.xml" Id="R5785082e7dbf491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5f1da79975b49c5" /><Relationship Type="http://schemas.openxmlformats.org/officeDocument/2006/relationships/notesMaster" Target="/ppt/notesMasters/notesMaster1.xml" Id="Rea77940d02fa4bc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3cb18ca8bae493a" /><Relationship Type="http://schemas.openxmlformats.org/officeDocument/2006/relationships/notesMaster" Target="/ppt/notesMasters/notesMaster1.xml" Id="R94872d1226d848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9ec9823b82f4561" /><Relationship Type="http://schemas.openxmlformats.org/officeDocument/2006/relationships/notesMaster" Target="/ppt/notesMasters/notesMaster1.xml" Id="R1f2eae4d520549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資料横断の分析。共同開発計画、既存製品、2026展示予定を含む。実演性能は現地未確認。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Q02 DMG森精機の公式発表</a:t>
            </a:r>
          </a:p>
          <a:p xmlns:a="http://schemas.openxmlformats.org/drawingml/2006/main">
            <a:r>
              <a:t>DMG森精機 GENIAC事業に採択：生産設備データエコシステムと製造フィジカルAI基盤 2026-07-06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掲載位置 多目的AI開発基盤の説明</a:t>
            </a:r>
          </a:p>
          <a:p xmlns:a="http://schemas.openxmlformats.org/drawingml/2006/main">
            <a:r>
              <a:t>原文抜粋 市場投入後の設備から継続的にデータを収集・学習・還元する仕組み</a:t>
            </a:r>
          </a:p>
          <a:p xmlns:a="http://schemas.openxmlformats.org/drawingml/2006/main">
            <a:r>
              <a:t>文脈の要約 異常検知から品質予測・条件最適化、生産セルへ広げる計画の中の表現。</a:t>
            </a:r>
          </a:p>
          <a:p xmlns:a="http://schemas.openxmlformats.org/drawingml/2006/main">
            <a:r>
              <a:t>留保 構築を目指す仕組み。既に全用途で循環が成立したという実績ではない。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Q05 MONOistの記者説明。マザック共同開発を取材</a:t>
            </a:r>
          </a:p>
          <a:p xmlns:a="http://schemas.openxmlformats.org/drawingml/2006/main">
            <a:r>
              <a:t>MONOist 加工の工程設計をAIエージェントで自動化 2026-10-19</a:t>
            </a:r>
          </a:p>
          <a:p xmlns:a="http://schemas.openxmlformats.org/drawingml/2006/main">
            <a:r>
              <a:t>https://monoist.itmedia.co.jp/mn/articles/2610/19/news039_2.html</a:t>
            </a:r>
          </a:p>
          <a:p xmlns:a="http://schemas.openxmlformats.org/drawingml/2006/main">
            <a:r>
              <a:t>掲載位置 後編 MAZATROLとGコードを比較する段落</a:t>
            </a:r>
          </a:p>
          <a:p xmlns:a="http://schemas.openxmlformats.org/drawingml/2006/main">
            <a:r>
              <a:t>原文抜粋 「何をどのように加工したいのか」という作業者の意図や目的</a:t>
            </a:r>
          </a:p>
          <a:p xmlns:a="http://schemas.openxmlformats.org/drawingml/2006/main">
            <a:r>
              <a:t>文脈の要約 対話プログラムの加工意図と判断結果を学習する方式を説明する。</a:t>
            </a:r>
          </a:p>
          <a:p xmlns:a="http://schemas.openxmlformats.org/drawingml/2006/main">
            <a:r>
              <a:t>留保 記者の説明からの抜粋で、発言者の直接発言ではない。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Q06 日立・ファナックの共同発表をファナックが掲載</a:t>
            </a:r>
          </a:p>
          <a:p xmlns:a="http://schemas.openxmlformats.org/drawingml/2006/main">
            <a:r>
              <a:t>ファナック・日立 フィジカルAI実装の共同事業化に向けた戦略的パートナーシップ 2026-09-30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掲載位置 提携の説明・カスタマーゼロの段落</a:t>
            </a:r>
          </a:p>
          <a:p xmlns:a="http://schemas.openxmlformats.org/drawingml/2006/main">
            <a:r>
              <a:t>原文抜粋 現場固有のルールを継続的に学習します。</a:t>
            </a:r>
          </a:p>
          <a:p xmlns:a="http://schemas.openxmlformats.org/drawingml/2006/main">
            <a:r>
              <a:t>文脈の要約 日立の工場で共同実証し、現場課題へ柔軟に対応する実用化計画の一節。</a:t>
            </a:r>
          </a:p>
          <a:p xmlns:a="http://schemas.openxmlformats.org/drawingml/2006/main">
            <a:r>
              <a:t>留保 将来の共同実証・実用化を説明する。全機能の達成実績とはしない。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Q11 Siemensの公式ブログ</a:t>
            </a:r>
          </a:p>
          <a:p xmlns:a="http://schemas.openxmlformats.org/drawingml/2006/main">
            <a:r>
              <a:t>Siemens From agile to autonomous: adaptive production 2026-07-08</a:t>
            </a:r>
          </a:p>
          <a:p xmlns:a="http://schemas.openxmlformats.org/drawingml/2006/main">
            <a:r>
              <a:t>https://blogs.sw.siemens.com/nx-manufacturing/from-agile-to-autonomous-building-adaptive-production-with-digital-twins-and-industrial-ai/</a:t>
            </a:r>
          </a:p>
          <a:p xmlns:a="http://schemas.openxmlformats.org/drawingml/2006/main">
            <a:r>
              <a:t>掲載位置 Three principlesの1項目目</a:t>
            </a:r>
          </a:p>
          <a:p xmlns:a="http://schemas.openxmlformats.org/drawingml/2006/main">
            <a:r>
              <a:t>原文抜粋 AI must operate on the current state of the factory.</a:t>
            </a:r>
          </a:p>
          <a:p xmlns:a="http://schemas.openxmlformats.org/drawingml/2006/main">
            <a:r>
              <a:t>文脈の要約 過去のスナップショットだけでなく現在の状態を使う方針。</a:t>
            </a:r>
          </a:p>
          <a:p xmlns:a="http://schemas.openxmlformats.org/drawingml/2006/main">
            <a:r>
              <a:t>留保 製造AIに求める原則。特定の更新周期や全システムでの実現実績ではない。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Q14 Hexagon公式ブログの執筆者による説明</a:t>
            </a:r>
          </a:p>
          <a:p xmlns:a="http://schemas.openxmlformats.org/drawingml/2006/main">
            <a:r>
              <a:t>Hexagon／製品技術担当者 The next step in CAM isn’t new. It’s already here. 2026-04-29</a:t>
            </a:r>
          </a:p>
          <a:p xmlns:a="http://schemas.openxmlformats.org/drawingml/2006/main">
            <a:r>
              <a:t>https://blog.manufacturing.hexagon.com/advanced-manufacturing/cam-software/the-next-step-in-cam-isnt-new-its-already-here/</a:t>
            </a:r>
          </a:p>
          <a:p xmlns:a="http://schemas.openxmlformats.org/drawingml/2006/main">
            <a:r>
              <a:t>掲載位置 熟練者の経験が個人に残る問題を説明する段落</a:t>
            </a:r>
          </a:p>
          <a:p xmlns:a="http://schemas.openxmlformats.org/drawingml/2006/main">
            <a:r>
              <a:t>原文抜粋 The software helps execute decisions, but it doesn’t retain the reasoning behind them.</a:t>
            </a:r>
          </a:p>
          <a:p xmlns:a="http://schemas.openxmlformats.org/drawingml/2006/main">
            <a:r>
              <a:t>文脈の要約 CAMの機能だけでなく、過去の考え方を次のプログラミングで使う課題を述べる。</a:t>
            </a:r>
          </a:p>
          <a:p xmlns:a="http://schemas.openxmlformats.org/drawingml/2006/main">
            <a:r>
              <a:t>留保 CAM一般への問題提起。全てのソフトに履歴保存がないという仕様確認ではない。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ESPRIT EDGE ProPlanAI ブース E2013</a:t>
            </a:r>
          </a:p>
          <a:p xmlns:a="http://schemas.openxmlformats.org/drawingml/2006/main">
            <a:r>
              <a:t>製品機能／展示予定</a:t>
            </a:r>
          </a:p>
          <a:p xmlns:a="http://schemas.openxmlformats.org/drawingml/2006/main">
            <a:r>
              <a:t>部品特徴・PMI・過去ジョブを用いて加工工程案を生成。2026.1では旋削・複合・スイス型の商用範囲を説明。</a:t>
            </a:r>
          </a:p>
          <a:p xmlns:a="http://schemas.openxmlformats.org/drawingml/2006/main">
            <a:r>
              <a:t>現地確認 対象形状と加工法、工程案の修正箇所、採用までの確認工数。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EOV-V007-2026-2 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掲載位置 2025.2 PROPLANAI、2026.1 ProPlanAI for Turning, Mill-Turn &amp; Swiss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FC020 JBMエンジニアリング Mastercam＋CAMAssist ブース E2002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形状、工具、材種、機械・保持条件から工程・経路・条件案を生成。CAM上で修正・検証し、人がポスト処理する。</a:t>
            </a:r>
          </a:p>
          <a:p xmlns:a="http://schemas.openxmlformats.org/drawingml/2006/main">
            <a:r>
              <a:t>現地確認 3軸・3+2軸の対応範囲、干渉回避、生成後に残る手作業。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 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EOV-V008-2024-2 JIMTOF2024公式カタログ：ジェービーエムエンジニアリング株式会社 (AM111)</a:t>
            </a:r>
          </a:p>
          <a:p xmlns:a="http://schemas.openxmlformats.org/drawingml/2006/main">
            <a:r>
              <a:t>https://www.jimtof.org/2024/search/jp/ESdetails?e=ZBxZW2vyjUw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EOV-V008-2026-1 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 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掲載位置 仕組みステップ1〜4／FAQの対象加工・顧客データ学習の否定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EDP-10 Mastercam向けCAM Assist提供開始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掲載位置 July 25, 2024／3軸・3+2軸向け。北米販売開始の説明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AC131 タクテックス CAM Assist for SolidCAM ブース S1016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SolidCAM環境で3軸・3+2軸の加工戦略と経路案を生成。既存CAM運用への組込み方を比較する。</a:t>
            </a:r>
          </a:p>
          <a:p xmlns:a="http://schemas.openxmlformats.org/drawingml/2006/main">
            <a:r>
              <a:t>現地確認 工具DBの流用、修正・検証、Mastercam版との対応差。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EEX-EXH-2026-0436fc7b61f51a8e JIMTOF2026公式出展説明：タクテックス株式会社 (S1016)</a:t>
            </a:r>
          </a:p>
          <a:p xmlns:a="http://schemas.openxmlformats.org/drawingml/2006/main">
            <a:r>
              <a:t>https://www.jimtof.org/search/jp/ESdetails?e=2TVzwvOqLxI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EEX-EXH-2024-eb84f3b7fa9cf6db JIMTOF2024公式出展説明：タクテックス株式会社 (E5030)</a:t>
            </a:r>
          </a:p>
          <a:p xmlns:a="http://schemas.openxmlformats.org/drawingml/2006/main">
            <a:r>
              <a:t>https://www.jimtof.org/2024/search/jp/ESdetails?e=p_i9WuUhNRg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EDP-07 SolidCAM向けCAM Assist</a:t>
            </a:r>
          </a:p>
          <a:p xmlns:a="http://schemas.openxmlformats.org/drawingml/2006/main">
            <a:r>
              <a:t>https://www.cloudnc.com/ja/solidcam</a:t>
            </a:r>
          </a:p>
          <a:p xmlns:a="http://schemas.openxmlformats.org/drawingml/2006/main">
            <a:r>
              <a:t>掲載位置 仕組みステップ1〜4／FAQの対象加工・通信・戦略生成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EDP-08 CloudNC CAM Assist公式ヘルプ</a:t>
            </a:r>
          </a:p>
          <a:p xmlns:a="http://schemas.openxmlformats.org/drawingml/2006/main">
            <a:r>
              <a:t>https://help.solidcam.com/topics/solutions/cloudnc-cam-assist.htm</a:t>
            </a:r>
          </a:p>
          <a:p xmlns:a="http://schemas.openxmlformats.org/drawingml/2006/main">
            <a:r>
              <a:t>掲載位置 形状・工具・材種・段取りの入力／プログラマーの修正・検証・NC出力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FC022 CGTech Vericut Force／Optimizer ブース S3014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NCと切削モデルに基づき送りを事前に最適化。Forceの物理ベース機能とOptimizerの機能範囲は版別に確認する。</a:t>
            </a:r>
          </a:p>
          <a:p xmlns:a="http://schemas.openxmlformats.org/drawingml/2006/main">
            <a:r>
              <a:t>現地確認 材料・工具モデルの設定、負荷制約、実加工との差と修正方法。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EOV-V009-2024-1 JIMTOF2024公式カタログ：株式会社CGTech (E5042)</a:t>
            </a:r>
          </a:p>
          <a:p xmlns:a="http://schemas.openxmlformats.org/drawingml/2006/main">
            <a:r>
              <a:t>https://www.jimtof.org/2024/search/jp/ESdetails?e=AxDUk3YbQDI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EOV-V009-2026-1 JIMTOF2026公式カタログ：株式会社CGTech (S3014)</a:t>
            </a:r>
          </a:p>
          <a:p xmlns:a="http://schemas.openxmlformats.org/drawingml/2006/main">
            <a:r>
              <a:t>https://www.jimtof.org/search/jp/ESdetails?e=41U8xW4UkcM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RPT-S04 Vericut Force FAQ</a:t>
            </a:r>
          </a:p>
          <a:p xmlns:a="http://schemas.openxmlformats.org/drawingml/2006/main">
            <a:r>
              <a:t>https://archive.vericut.com/force-faq/</a:t>
            </a:r>
          </a:p>
          <a:p xmlns:a="http://schemas.openxmlformats.org/drawingml/2006/main">
            <a:r>
              <a:t>掲載位置 Force physics-based optimization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RPT001 Third Wave Systems Production Module／AdvantEdge ブース E1064</a:t>
            </a:r>
          </a:p>
          <a:p xmlns:a="http://schemas.openxmlformats.org/drawingml/2006/main">
            <a:r>
              <a:t>展示告知＋製品資料</a:t>
            </a:r>
          </a:p>
          <a:p xmlns:a="http://schemas.openxmlformats.org/drawingml/2006/main">
            <a:r>
              <a:t>Production ModuleはNCレベルの負荷解析・最適化。AdvantEdgeは刃先近傍のFEM解析で、対象と計算粒度が異なる。</a:t>
            </a:r>
          </a:p>
          <a:p xmlns:a="http://schemas.openxmlformats.org/drawingml/2006/main">
            <a:r>
              <a:t>現地確認 材料モデル、切削力・温度の検証、NC最適化への受渡し。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RPT-EXH-2026-3f24aaee60d77db1 Third Wave Systems Japan合同会社 JIMTOF2026</a:t>
            </a:r>
          </a:p>
          <a:p xmlns:a="http://schemas.openxmlformats.org/drawingml/2006/main">
            <a:r>
              <a:t>https://www.jimtof.org/search/jp/ESdetails?e=L43LSAjxuyc</a:t>
            </a:r>
          </a:p>
          <a:p xmlns:a="http://schemas.openxmlformats.org/drawingml/2006/main">
            <a:r>
              <a:t>掲載位置 main &gt; div.container &gt; div.row &gt; div.col-md-8.mb-5; 見出し「主な出展物」と直後のp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RPT-S05 Production Module v8.2 release</a:t>
            </a:r>
          </a:p>
          <a:p xmlns:a="http://schemas.openxmlformats.org/drawingml/2006/main">
            <a:r>
              <a:t>https://thirdwavesys.com/latest-news/production-module-v8-2-release/</a:t>
            </a:r>
          </a:p>
          <a:p xmlns:a="http://schemas.openxmlformats.org/drawingml/2006/main">
            <a:r>
              <a:t>掲載位置 工具たわみ・entry/exit feedrate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RPT002 西部商工 ACM ブース S3020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主軸負荷をリアルタイム監視し送りを自動調整。既存NCを変更せず導入する説明。負荷が変動する荒加工等が対象。</a:t>
            </a:r>
          </a:p>
          <a:p xmlns:a="http://schemas.openxmlformats.org/drawingml/2006/main">
            <a:r>
              <a:t>現地確認 制御周期・目標負荷、急変時の制限、時間短縮と工具寿命の両立。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RPT-EXH-2026-107042c6cf64ba96 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掲載位置 main &gt; div.container &gt; div.row &gt; div.col-md-8.mb-5; 見出し「主な出展物」と直後のp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 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掲載位置 main &gt; div.container &gt; div.row &gt; div.col-md-8.mb-5; 見出し「主な出展物」と直後のp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RPT006 ヤマザキマザック Ai Thermal Shield ブース E1001</a:t>
            </a:r>
          </a:p>
          <a:p xmlns:a="http://schemas.openxmlformats.org/drawingml/2006/main">
            <a:r>
              <a:t>既存製品資料／個別展示未確認</a:t>
            </a:r>
          </a:p>
          <a:p xmlns:a="http://schemas.openxmlformats.org/drawingml/2006/main">
            <a:r>
              <a:t>温度・主軸速度等を考慮し、加工後のワーク測定データを学習して熱変位オフセットを最適化するとの製品説明。</a:t>
            </a:r>
          </a:p>
          <a:p xmlns:a="http://schemas.openxmlformats.org/drawingml/2006/main">
            <a:r>
              <a:t>現地確認 学習に必要な測定・運転条件、再学習、対象展示機への搭載。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RPT-S03 Mazak Accuracy / Ai Thermal Shield</a:t>
            </a:r>
          </a:p>
          <a:p xmlns:a="http://schemas.openxmlformats.org/drawingml/2006/main">
            <a:r>
              <a:t>https://www.mazak.com/uk-en/technology/accuracy/</a:t>
            </a:r>
          </a:p>
          <a:p xmlns:a="http://schemas.openxmlformats.org/drawingml/2006/main">
            <a:r>
              <a:t>掲載位置 Ai Thermal Shield／Smooth Thermal Shield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EOV-V004-2024-1 JIMTOF2024公式カタログ：ヤマザキマザック株式会社 (E5001)</a:t>
            </a:r>
          </a:p>
          <a:p xmlns:a="http://schemas.openxmlformats.org/drawingml/2006/main">
            <a:r>
              <a:t>https://www.jimtof.org/2024/search/jp/ESdetails?e=q0OrZBKM3uQ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EOV-V004-2026-1 JIMTOF2026公式カタログ：ヤマザキマザック株式会社 (E1001)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EAT-N08 JIMTOF2026 Machines &amp; Automation Systems</a:t>
            </a:r>
          </a:p>
          <a:p xmlns:a="http://schemas.openxmlformats.org/drawingml/2006/main">
            <a:r>
              <a:t>https://www.mazak.com/jp-en/news-media/upcoming-events/jimtof2026/</a:t>
            </a:r>
          </a:p>
          <a:p xmlns:a="http://schemas.openxmlformats.org/drawingml/2006/main">
            <a:r>
              <a:t>掲載位置 Machines &amp; Automation Systems／Automation 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FC009 オークマ サーモフレンドリーコンセプト ブース E3028</a:t>
            </a:r>
          </a:p>
          <a:p xmlns:a="http://schemas.openxmlformats.org/drawingml/2006/main">
            <a:r>
              <a:t>熱変位制御を展示告知</a:t>
            </a:r>
          </a:p>
          <a:p xmlns:a="http://schemas.openxmlformats.org/drawingml/2006/main">
            <a:r>
              <a:t>熱変形を単純化する機械構造と熱変位制御を組み合わせる。2026告知のAI機能との対応は個別確認が必要。</a:t>
            </a:r>
          </a:p>
          <a:p xmlns:a="http://schemas.openxmlformats.org/drawingml/2006/main">
            <a:r>
              <a:t>現地確認 補正対象、環境・暖機条件、AIの入力と補正担当範囲。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RPT-S02 オークマ サーモフレンドリーコンセプト</a:t>
            </a:r>
          </a:p>
          <a:p xmlns:a="http://schemas.openxmlformats.org/drawingml/2006/main">
            <a:r>
              <a:t>https://www.okuma.co.jp/thermo-aniv/</a:t>
            </a:r>
          </a:p>
          <a:p xmlns:a="http://schemas.openxmlformats.org/drawingml/2006/main">
            <a:r>
              <a:t>掲載位置 サーモフレンドリーコンセプトの説明・沿革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RPT007 オークマ 加工ナビ M-i／M-gⅡ ブース E3028</a:t>
            </a:r>
          </a:p>
          <a:p xmlns:a="http://schemas.openxmlformats.org/drawingml/2006/main">
            <a:r>
              <a:t>既存製品資料／個別展示未確認</a:t>
            </a:r>
          </a:p>
          <a:p xmlns:a="http://schemas.openxmlformats.org/drawingml/2006/main">
            <a:r>
              <a:t>M-iは内蔵センサの振動から主軸速度を算出・変更。M-gⅡはマイクを使い速度候補を提示し、人が選択する。</a:t>
            </a:r>
          </a:p>
          <a:p xmlns:a="http://schemas.openxmlformats.org/drawingml/2006/main">
            <a:r>
              <a:t>現地確認 自動変更と推奨表示の差、対象加工・工具、制御の安定範囲。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RPT-S01 オークマ 加工ナビ</a:t>
            </a:r>
          </a:p>
          <a:p xmlns:a="http://schemas.openxmlformats.org/drawingml/2006/main">
            <a:r>
              <a:t>https://www.okuma.co.jp/solution_technology/process/</a:t>
            </a:r>
          </a:p>
          <a:p xmlns:a="http://schemas.openxmlformats.org/drawingml/2006/main">
            <a:r>
              <a:t>掲載位置 加工ナビ M-i／M-gⅡ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FC039 モリマシナリー ツールコラージュ／アナライザー ブース S3048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刃先画像で欠け・摩耗を判定・記録。別機能のアナライザーは摩耗履歴から寿命・交換時期を提案する。</a:t>
            </a:r>
          </a:p>
          <a:p xmlns:a="http://schemas.openxmlformats.org/drawingml/2006/main">
            <a:r>
              <a:t>現地確認 工具・材種別の必要履歴、汚れへの耐性、交換判断の責任分担。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 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EOV-V024-2026-1 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EDP-12 TOOL SOMMELIER／TOOL COLLAGE</a:t>
            </a:r>
          </a:p>
          <a:p xmlns:a="http://schemas.openxmlformats.org/drawingml/2006/main">
            <a:r>
              <a:t>https://mori-machinery.com/en/product/tool-sommelier?post_id=1066</a:t>
            </a:r>
          </a:p>
          <a:p xmlns:a="http://schemas.openxmlformats.org/drawingml/2006/main">
            <a:r>
              <a:t>掲載位置 刃先撮像・欠け摩耗自動検出／FAQの工具・径制約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 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掲載位置 2023年6月2日、成果と今後の展望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FC038 ハイデンハイン VT 122＋VTC 6.0 ブース E7043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ビジョンシステムVT 122とVTC 6.0によるAI摩耗診断・工具長計測を出展説明に記載。</a:t>
            </a:r>
          </a:p>
          <a:p xmlns:a="http://schemas.openxmlformats.org/drawingml/2006/main">
            <a:r>
              <a:t>現地確認 摩耗量・欠けの判定基準、撮像条件、測定後のCNC連携。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EOV-V023-2024-1 JIMTOF2024公式カタログ：ハイデンハイン株式会社 (E7123)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EOV-V023-2026-1 JIMTOF2026公式カタログ：ハイデンハイン株式会社 (E7043)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FC035 マーポス ARTIS／BLU／VTS ブース E7087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工具・機械・加工プロセスの監視と工具計測を組み合わせる。製品ごとの信号・判定・停止出力を比較する。</a:t>
            </a:r>
          </a:p>
          <a:p xmlns:a="http://schemas.openxmlformats.org/drawingml/2006/main">
            <a:r>
              <a:t>現地確認 破損検出と摩耗推定の差、監視閾値、停止・補正の出力先。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EOV-V020-2024-1 JIMTOF2024公式カタログ：マーポス株式会社 (E7107)</a:t>
            </a:r>
          </a:p>
          <a:p xmlns:a="http://schemas.openxmlformats.org/drawingml/2006/main">
            <a:r>
              <a:t>https://www.jimtof.org/2024/search/jp/ESdetails?e=K8FKaawJkn0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EOV-V020-2026-1 JIMTOF2026公式カタログ：マーポス株式会社 (E7087)</a:t>
            </a:r>
          </a:p>
          <a:p xmlns:a="http://schemas.openxmlformats.org/drawingml/2006/main">
            <a:r>
              <a:t>https://www.jimtof.org/search/jp/ESdetails?e=tThKOA-gm8s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 ブース E7089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計測・装置状態等を集約し、IPCで工具オフセットや機械変数を更新。測定から加工補正までを接続する。</a:t>
            </a:r>
          </a:p>
          <a:p xmlns:a="http://schemas.openxmlformats.org/drawingml/2006/main">
            <a:r>
              <a:t>現地確認 補正ルール、対象CNC、外れ値の扱い、補正を止める条件。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 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メカニズム、現場でのクローズドループ、導入効果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FC036 HACARUS HACARUS Check ZERO ブース S1031</a:t>
            </a:r>
          </a:p>
          <a:p xmlns:a="http://schemas.openxmlformats.org/drawingml/2006/main">
            <a:r>
              <a:t>販売済み／展示予定</a:t>
            </a:r>
          </a:p>
          <a:p xmlns:a="http://schemas.openxmlformats.org/drawingml/2006/main">
            <a:r>
              <a:t>少量の良品画像との差で異常を検出。人が良品・不良品ラベルを追加し、見逃し・過検出を調整する。</a:t>
            </a:r>
          </a:p>
          <a:p xmlns:a="http://schemas.openxmlformats.org/drawingml/2006/main">
            <a:r>
              <a:t>現地確認 不良種類別の評価、追加学習後の再評価、撮像条件の許容差。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EOV-V021-2026-1 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EOV-W06 AI外観検査ソリューション HACARUS Check</a:t>
            </a:r>
          </a:p>
          <a:p xmlns:a="http://schemas.openxmlformats.org/drawingml/2006/main">
            <a:r>
              <a:t>https://hacarus.com/ja/technology/hacarus-check-series/</a:t>
            </a:r>
          </a:p>
          <a:p xmlns:a="http://schemas.openxmlformats.org/drawingml/2006/main">
            <a:r>
              <a:t>掲載位置 2026.04.06本文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 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掲載位置 2025/7/9販売／良品学習とアノテーション追加学習／判定UI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EDP-15 Checkシリーズ公式製品説明</a:t>
            </a:r>
          </a:p>
          <a:p xmlns:a="http://schemas.openxmlformats.org/drawingml/2006/main">
            <a:r>
              <a:t>https://check.hacarus.com/ja/</a:t>
            </a:r>
          </a:p>
          <a:p xmlns:a="http://schemas.openxmlformats.org/drawingml/2006/main">
            <a:r>
              <a:t>掲載位置 Check ZERO／デュアルチューニング／機器構成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 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掲載位置 特徴／異常箇所表示・良否アノテーション追加学習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AC085 サイバーRC GH5 ブース E7074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機内3D画像で工具刃先を測り、目標とする幅・角度へホーニングを補正するとの出展説明。</a:t>
            </a:r>
          </a:p>
          <a:p xmlns:a="http://schemas.openxmlformats.org/drawingml/2006/main">
            <a:r>
              <a:t>現地確認 画像精度、補正量・収束条件、最終形状の合否判定。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EEX-EXH-2026-a0cbad27ea34d7c4 JIMTOF2026公式出展説明：株式会社サイバーRC (E7074)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EEX-EXH-2024-76ac534a229f7c29 JIMTOF2024公式出展説明：株式会社サイバーRC (W3046)</a:t>
            </a:r>
          </a:p>
          <a:p xmlns:a="http://schemas.openxmlformats.org/drawingml/2006/main">
            <a:r>
              <a:t>https://www.jimtof.org/2024/search/jp/ESdetails?e=wk2AEX5rHpw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EDP-02 GH5総合カタログ</a:t>
            </a:r>
          </a:p>
          <a:p xmlns:a="http://schemas.openxmlformats.org/drawingml/2006/main">
            <a:r>
              <a:t>https://cyber-rc.com/wp-content/uploads/2025/10/%E7%B7%8F%E5%90%88%E3%82%AB%E3%82%BF%E3%83%AD%E3%82%B0420-x-297-mm%E6%A8%AA%E4%B8%A6%E3%81%B3-.pdf</a:t>
            </a:r>
          </a:p>
          <a:p xmlns:a="http://schemas.openxmlformats.org/drawingml/2006/main">
            <a:r>
              <a:t>掲載位置 GRISTAR HONING 5 AXIS／幅・角度設定、Robot Eye、自動調整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 ブース E3013</a:t>
            </a:r>
          </a:p>
          <a:p xmlns:a="http://schemas.openxmlformats.org/drawingml/2006/main">
            <a:r>
              <a:t>参考出品</a:t>
            </a:r>
          </a:p>
          <a:p xmlns:a="http://schemas.openxmlformats.org/drawingml/2006/main">
            <a:r>
              <a:t>絡まった切粉の状況を判断して除去するフィジカルAI搭載デモを予告。センサ・学習方式は非公開。</a:t>
            </a:r>
          </a:p>
          <a:p xmlns:a="http://schemas.openxmlformats.org/drawingml/2006/main">
            <a:r>
              <a:t>現地確認 絡まり方を変えた実演、除去完了の判定、失敗時の再試行。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 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TR-20W：フィジカルAI搭載のロボットシステム（参考出品）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掲載位置 2024年11月1日／MGC300の出展説明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AC146 東京エレクトロンデバイス 3D形状認識加工システム ブース E7073</a:t>
            </a:r>
          </a:p>
          <a:p xmlns:a="http://schemas.openxmlformats.org/drawingml/2006/main">
            <a:r>
              <a:t>共同ブースで展示予定</a:t>
            </a:r>
          </a:p>
          <a:p xmlns:a="http://schemas.openxmlformats.org/drawingml/2006/main">
            <a:r>
              <a:t>レーザースキャンした形状から加工軌道を生成。図面・パタン教示不要との説明。AI方式の利用は未確認。</a:t>
            </a:r>
          </a:p>
          <a:p xmlns:a="http://schemas.openxmlformats.org/drawingml/2006/main">
            <a:r>
              <a:t>現地確認 未登録形状の対応範囲、干渉確認、取り残しと加工品質。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EEX-EXH-2026-8c08de1ffed47316 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 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掲載位置 展示会概要・出展製品／2026年5月13日の製品説明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FC005 ファナック 生成AIによるロボット駆動 ブース S2001</a:t>
            </a:r>
          </a:p>
          <a:p xmlns:a="http://schemas.openxmlformats.org/drawingml/2006/main">
            <a:r>
              <a:t>展示予定／詳細未公表</a:t>
            </a:r>
          </a:p>
          <a:p xmlns:a="http://schemas.openxmlformats.org/drawingml/2006/main">
            <a:r>
              <a:t>生成AIによるロボット駆動事例を予告。入力、動作生成、検証、実行の構成と対象作業は現地確認が必要。</a:t>
            </a:r>
          </a:p>
          <a:p xmlns:a="http://schemas.openxmlformats.org/drawingml/2006/main">
            <a:r>
              <a:t>現地確認 既知・未知条件への対応、AI担当処理、成功率と介入条件。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FC002 DMG森精機 MATRIS WPH 210 ブース E8005</a:t>
            </a:r>
          </a:p>
          <a:p xmlns:a="http://schemas.openxmlformats.org/drawingml/2006/main">
            <a:r>
              <a:t>日本初公開予定</a:t>
            </a:r>
          </a:p>
          <a:p xmlns:a="http://schemas.openxmlformats.org/drawingml/2006/main">
            <a:r>
              <a:t>ワークとパレットの両方を供給するシステム。品種・ロットの変化に応じた供給と切替えが比較点。</a:t>
            </a:r>
          </a:p>
          <a:p xmlns:a="http://schemas.openxmlformats.org/drawingml/2006/main">
            <a:r>
              <a:t>現地確認 ワーク・治具の事前準備、切替え手順、無人継続を妨げる作業。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EOV-V001-2024-1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FC048 中村留精密工業 RoboSync ブース E2027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移設後にマーカーを読み、工作機械との相対位置を補正。既存パレット・台車を利用する省スペース構成。</a:t>
            </a:r>
          </a:p>
          <a:p xmlns:a="http://schemas.openxmlformats.org/drawingml/2006/main">
            <a:r>
              <a:t>現地確認 再教示の残作業、位置誤差の許容範囲、品種変更時の設定。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EOV-V029-2024-1 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EOV-V029-2026-1 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 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掲載位置 製品の特長 &gt; 簡単復旧、簡単操作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FC008 オークマ ARMROID／OMR20 ブース E3028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機内組込みのARMROIDと、機械脇へ配置するOMR20を出展。設置方式と段取り負担を比較する。</a:t>
            </a:r>
          </a:p>
          <a:p xmlns:a="http://schemas.openxmlformats.org/drawingml/2006/main">
            <a:r>
              <a:t>現地確認 担当作業、品種切替え、安全領域、停止後の復帰手順。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FC004 DMG森精機 Condition Agent ブース E8005</a:t>
            </a:r>
          </a:p>
          <a:p xmlns:a="http://schemas.openxmlformats.org/drawingml/2006/main">
            <a:r>
              <a:t>提供開始／個別展示未確認</a:t>
            </a:r>
          </a:p>
          <a:p xmlns:a="http://schemas.openxmlformats.org/drawingml/2006/main">
            <a:r>
              <a:t>診断専用NCを実行してデータを取得し、クラウドで分析。2026年4月受注分から対象機へ標準搭載する説明。</a:t>
            </a:r>
          </a:p>
          <a:p xmlns:a="http://schemas.openxmlformats.org/drawingml/2006/main">
            <a:r>
              <a:t>現地確認 診断対象部位、通常運転ログとの差、異常判定後の保全手順。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EOV-V001-2024-1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EAT-N07 Condition Agent 提供開始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2026/07/06本文・主な特長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Q26 CELOS ClubにCondition Agentを搭載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Condition Agentの診断方法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AC225 ムラテックCCS プライマリドクタサービス ブース E3031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稼働中の電流・振動等を新品状態と比較し劣化・異常を診断するとの説明。</a:t>
            </a:r>
          </a:p>
          <a:p xmlns:a="http://schemas.openxmlformats.org/drawingml/2006/main">
            <a:r>
              <a:t>現地確認 負荷・加工条件の違いの補正、故障モード別の検知性能。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EEX-EXH-2026-308c5194f12fe009 JIMTOF2026公式出展説明：ムラテックＣＣＳ株式会社 (E3031)</a:t>
            </a:r>
          </a:p>
          <a:p xmlns:a="http://schemas.openxmlformats.org/drawingml/2006/main">
            <a:r>
              <a:t>https://www.jimtof.org/search/jp/ESdetails?e=Z_SbvK_hxBY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EEX-EXH-2024-b0a94c1cd407ea8a JIMTOF2024公式出展説明：ムラテックCCS株式会社 (E6019)</a:t>
            </a:r>
          </a:p>
          <a:p xmlns:a="http://schemas.openxmlformats.org/drawingml/2006/main">
            <a:r>
              <a:t>https://www.jimtof.org/2024/search/jp/ESdetails?e=2N7pXq5Aehs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EDP-13 AIを用いた故障診断</a:t>
            </a:r>
          </a:p>
          <a:p xmlns:a="http://schemas.openxmlformats.org/drawingml/2006/main">
            <a:r>
              <a:t>https://www.muratec.jp/company/ti/rd/detail.php?id=7540</a:t>
            </a:r>
          </a:p>
          <a:p xmlns:a="http://schemas.openxmlformats.org/drawingml/2006/main">
            <a:r>
              <a:t>掲載位置 電流・振動を新品データと比較／補正入力回数・軸負荷による劣化判定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FC013 ベッコフ TwinCAT CoAgent for Operations ブース E2028</a:t>
            </a:r>
          </a:p>
          <a:p xmlns:a="http://schemas.openxmlformats.org/drawingml/2006/main">
            <a:r>
              <a:t>製品発表／投入時期要問合せ</a:t>
            </a:r>
          </a:p>
          <a:p xmlns:a="http://schemas.openxmlformats.org/drawingml/2006/main">
            <a:r>
              <a:t>ライブデータ、ログ、保守文書から原因仮説・対処案を生成。コマンド実行も説明するが権限範囲は未公開。</a:t>
            </a:r>
          </a:p>
          <a:p xmlns:a="http://schemas.openxmlformats.org/drawingml/2006/main">
            <a:r>
              <a:t>現地確認 原因の裏付け、実行可能な命令、人の承認、失敗時の復旧。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 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掲載位置 Properties／Product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 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掲載位置 Properties／direct system access；Product status／market release on 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FC027 ものレボ MonoRevo ブース W3042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工程設計・計画・進捗をまとめて管理し、自動スケジューリングを支援。AIの担当処理は未確認。</a:t>
            </a:r>
          </a:p>
          <a:p xmlns:a="http://schemas.openxmlformats.org/drawingml/2006/main">
            <a:r>
              <a:t>現地確認 設備・作業者・工具の制約、割込時の再計画、計画の確定者。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EOV-V014-2026-1 JIMTOF2026公式カタログ：ものレボ株式会社 (W3042)</a:t>
            </a:r>
          </a:p>
          <a:p xmlns:a="http://schemas.openxmlformats.org/drawingml/2006/main">
            <a:r>
              <a:t>https://www.jimtof.org/search/jp/ESdetails?e=sccKfxE4bYo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FC026 Smart Craft Smart Craft MES ブース S3002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作業記録、指示、履歴を一元管理し外部システムとAPI連携。自動最適計画の実装とは分けて扱う。</a:t>
            </a:r>
          </a:p>
          <a:p xmlns:a="http://schemas.openxmlformats.org/drawingml/2006/main">
            <a:r>
              <a:t>現地確認 設備実績との接続、計画系との更新周期、現場入力の負担。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EOV-V013-2026-1 JIMTOF2026公式カタログ：株式会社Smart Craft (S3002)</a:t>
            </a:r>
          </a:p>
          <a:p xmlns:a="http://schemas.openxmlformats.org/drawingml/2006/main">
            <a:r>
              <a:t>https://www.jimtof.org/search/jp/ESdetails?e=WqjRB6DEqN0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AC295 WinTool WinTool ブース E1049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工具情報と現物・工程資源を連携し、在庫ルールに基づく購買要求を扱う。</a:t>
            </a:r>
          </a:p>
          <a:p xmlns:a="http://schemas.openxmlformats.org/drawingml/2006/main">
            <a:r>
              <a:t>現地確認 計画に必要な工具可用性、CAM・プリセット・在庫の対応。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EEX-EXH-2026-4fb92ba6b82546d7 JIMTOF2026公式出展説明：WinTool AG (E1049)</a:t>
            </a:r>
          </a:p>
          <a:p xmlns:a="http://schemas.openxmlformats.org/drawingml/2006/main">
            <a:r>
              <a:t>https://www.jimtof.org/search/jp/ESdetails?e=sSFZV23clJo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EEX-EXH-2024-3f1fa1966a57e011 JIMTOF2024公式出展説明：WinTool AG (E5003)</a:t>
            </a:r>
          </a:p>
          <a:p xmlns:a="http://schemas.openxmlformats.org/drawingml/2006/main">
            <a:r>
              <a:t>https://www.jimtof.org/2024/search/jp/ESdetails?e=-n22F1d_CDc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EDP-18 ERP Integration</a:t>
            </a:r>
          </a:p>
          <a:p xmlns:a="http://schemas.openxmlformats.org/drawingml/2006/main">
            <a:r>
              <a:t>https://www.wintool.com/en/tool-management-software/cnc-inventory-manager/erp-integration</a:t>
            </a:r>
          </a:p>
          <a:p xmlns:a="http://schemas.openxmlformats.org/drawingml/2006/main">
            <a:r>
              <a:t>掲載位置 最低在庫で購買要求を生成し、管理者承認後にERPへ自動送信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EDP-19 CNC Process Manager</a:t>
            </a:r>
          </a:p>
          <a:p xmlns:a="http://schemas.openxmlformats.org/drawingml/2006/main">
            <a:r>
              <a:t>https://www.wintool.com/software/cnc-prozessverwaltung</a:t>
            </a:r>
          </a:p>
          <a:p xmlns:a="http://schemas.openxmlformats.org/drawingml/2006/main">
            <a:r>
              <a:t>掲載位置 工具積卸リスト・在庫確認・プリセッター指示・NCと測定値の転送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FC011 ベッコフ TwinCAT CoAgent for Engineering ブース E2028</a:t>
            </a:r>
          </a:p>
          <a:p xmlns:a="http://schemas.openxmlformats.org/drawingml/2006/main">
            <a:r>
              <a:t>展示告知＋製品資料</a:t>
            </a:r>
          </a:p>
          <a:p xmlns:a="http://schemas.openxmlformats.org/drawingml/2006/main">
            <a:r>
              <a:t>要求と既存プロジェクトの文脈に基づきPLCコード案を提案。人が確認し制御プロジェクトへ採用する。</a:t>
            </a:r>
          </a:p>
          <a:p xmlns:a="http://schemas.openxmlformats.org/drawingml/2006/main">
            <a:r>
              <a:t>現地確認 既存コード・ライブラリの参照、生成コードの検証と採用手順。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掲載位置 Features／Product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掲載位置 2025/6/13／Placing people at the heart of automation；PLC・I/O・HMI、専門家がreview・confirm・approve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FC012 ベッコフ TwinCAT CoAgent for Engineering ブース E2028</a:t>
            </a:r>
          </a:p>
          <a:p xmlns:a="http://schemas.openxmlformats.org/drawingml/2006/main">
            <a:r>
              <a:t>展示告知＋製品資料</a:t>
            </a:r>
          </a:p>
          <a:p xmlns:a="http://schemas.openxmlformats.org/drawingml/2006/main">
            <a:r>
              <a:t>I/O構成とHMI生成・操作を支援。PLCコード生成と同じ製品内でも対象成果物を分けて確認する。</a:t>
            </a:r>
          </a:p>
          <a:p xmlns:a="http://schemas.openxmlformats.org/drawingml/2006/main">
            <a:r>
              <a:t>現地確認 要件からの構成生成、変更整合性、実機接続前の検証。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掲載位置 Features／Product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掲載位置 2025/6/13／Placing people at the heart of automation；PLC・I/O・HMI、専門家がreview・confirm・approve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FC017 EPLAN Eplan Copilot ブース S1067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設計の文脈に応じた回答・推奨・手順を生成。設計データをどこまで自動作成するかを確認する。</a:t>
            </a:r>
          </a:p>
          <a:p xmlns:a="http://schemas.openxmlformats.org/drawingml/2006/main">
            <a:r>
              <a:t>現地確認 回答支援と設計変更の範囲、標準回路・部品DBの利用。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EOV-V006-2024-1 JIMTOF2024公式カタログ：EPLAN株式会社 (E2033)</a:t>
            </a:r>
          </a:p>
          <a:p xmlns:a="http://schemas.openxmlformats.org/drawingml/2006/main">
            <a:r>
              <a:t>https://www.jimtof.org/2024/search/jp/ESdetails?e=50efK4rQsHs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EOV-V006-2026-1 JIMTOF2026公式カタログ：EPLAN株式会社 (S1067)</a:t>
            </a:r>
          </a:p>
          <a:p xmlns:a="http://schemas.openxmlformats.org/drawingml/2006/main">
            <a:r>
              <a:t>https://www.jimtof.org/search/jp/ESdetails?e=FHsQAvmFusY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EAT-N06 Eplan Copilot</a:t>
            </a:r>
          </a:p>
          <a:p xmlns:a="http://schemas.openxmlformats.org/drawingml/2006/main">
            <a:r>
              <a:t>https://www.eplan.com/us-en/about-us/innovations/eplan-copilot/</a:t>
            </a:r>
          </a:p>
          <a:p xmlns:a="http://schemas.openxmlformats.org/drawingml/2006/main">
            <a:r>
              <a:t>掲載位置 Based on a described task／Looking ahead／conceptual phase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FC014 ベッコフ TwinCAT Machine Learning Creator ブース E2028</a:t>
            </a:r>
          </a:p>
          <a:p xmlns:a="http://schemas.openxmlformats.org/drawingml/2006/main">
            <a:r>
              <a:t>展示予定／既存基盤</a:t>
            </a:r>
          </a:p>
          <a:p xmlns:a="http://schemas.openxmlformats.org/drawingml/2006/main">
            <a:r>
              <a:t>人が用意したデータから学習・モデル選択・評価を支援。ONNX等で出力し、制御側へ実装する。</a:t>
            </a:r>
          </a:p>
          <a:p xmlns:a="http://schemas.openxmlformats.org/drawingml/2006/main">
            <a:r>
              <a:t>現地確認 必要データ・ラベル、推論周期、更新時の評価・差戻し。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EOV-W01 TwinCAT 3 Machine Learning Creator</a:t>
            </a:r>
          </a:p>
          <a:p xmlns:a="http://schemas.openxmlformats.org/drawingml/2006/main">
            <a:r>
              <a:t>https://www.beckhoff.com/en-za/products/automation/twincat/texxxx-twincat-3-engineering/te3850.html</a:t>
            </a:r>
          </a:p>
          <a:p xmlns:a="http://schemas.openxmlformats.org/drawingml/2006/main">
            <a:r>
              <a:t>掲載位置 製品説明冒頭、Product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EDP-04 PC Control 02/2024：Machine Learning Creator</a:t>
            </a:r>
          </a:p>
          <a:p xmlns:a="http://schemas.openxmlformats.org/drawingml/2006/main">
            <a:r>
              <a:t>https://www.beckhoff.com/media/downloads/information-media/pc-control/pcc_0224_e.pdf</a:t>
            </a:r>
          </a:p>
          <a:p xmlns:a="http://schemas.openxmlformats.org/drawingml/2006/main">
            <a:r>
              <a:t>掲載位置 TE3850／訓練・テストデータ分割、モデル解析、ONNX出力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AC098 シーメンス Digital Thread／工作機械ツイン ブース E3006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SINUMERIK ONEを搭載したHeller Toknの工作機械ツインと、Equatorによる工程内品質保証を実演予定。</a:t>
            </a:r>
          </a:p>
          <a:p xmlns:a="http://schemas.openxmlformats.org/drawingml/2006/main">
            <a:r>
              <a:t>現地確認 設計変更・加工条件・測定結果のデータ対応と更新の自動化。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EEX-EXH-2026-9b991dd8132f51dc JIMTOF2026公式出展説明：シーメンス株式会社 (E3006)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EEX-EXH-2024-558faea07a73f5d8 JIMTOF2024公式出展説明：シーメンス株式会社 (E5008)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EDP-16 HELLER Toknとデジタルツインの訓練事例</a:t>
            </a:r>
          </a:p>
          <a:p xmlns:a="http://schemas.openxmlformats.org/drawingml/2006/main">
            <a:r>
              <a:t>https://references.siemens.com/en/reference/heller-tokn-digital-twin?id=41137</a:t>
            </a:r>
          </a:p>
          <a:p xmlns:a="http://schemas.openxmlformats.org/drawingml/2006/main">
            <a:r>
              <a:t>掲載位置 Completion: 2024／仮想SINUMERIK ONEと3D機械モデルによる訓練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EDP-17 Humanoidとの工場内物流の運用試験</a:t>
            </a:r>
          </a:p>
          <a:p xmlns:a="http://schemas.openxmlformats.org/drawingml/2006/main">
            <a:r>
              <a:t>https://press.siemens.com/jp/ja/pressrelease/pr-20260416</a:t>
            </a:r>
          </a:p>
          <a:p xmlns:a="http://schemas.openxmlformats.org/drawingml/2006/main">
            <a:r>
              <a:t>掲載位置 HMND 01 Alphaのトート把持・搬送・配置／Jetson Thor・Isaac Sim/Lab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AC273 NdotLight TRINIX ブース S4004</a:t>
            </a:r>
          </a:p>
          <a:p xmlns:a="http://schemas.openxmlformats.org/drawingml/2006/main">
            <a:r>
              <a:t>展示予定／実機精度未検証</a:t>
            </a:r>
          </a:p>
          <a:p xmlns:a="http://schemas.openxmlformats.org/drawingml/2006/main">
            <a:r>
              <a:t>CAD等から形状・関節・物理属性を生成し、USD／URDF／MJCF等へ出力するとの説明。</a:t>
            </a:r>
          </a:p>
          <a:p xmlns:a="http://schemas.openxmlformats.org/drawingml/2006/main">
            <a:r>
              <a:t>現地確認 質量・摩擦の実測と推定の区別、生成物の検証、実機との差。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EEX-EXH-2026-016097f87d1914b2 JIMTOF2026公式出展説明：NdotLight Co., Ltd. (S4004)</a:t>
            </a:r>
          </a:p>
          <a:p xmlns:a="http://schemas.openxmlformats.org/drawingml/2006/main">
            <a:r>
              <a:t>https://www.jimtof.org/search/jp/ESdetails?e=6Ds1v9hxvrY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EEX-WNDOT TRINIX：Physical AI向け3Dデータの企業公式説明</a:t>
            </a:r>
          </a:p>
          <a:p xmlns:a="http://schemas.openxmlformats.org/drawingml/2006/main">
            <a:r>
              <a:t>https://ndotlight.com/newsroom/ndotlight-proposes-a-new-3d-data-standard-for-the-physical-ai-era-with-trinix</a:t>
            </a:r>
          </a:p>
          <a:p xmlns:a="http://schemas.openxmlformats.org/drawingml/2006/main">
            <a:r>
              <a:t>掲載位置 展示会概要・出展製品／2026年5月13日の製品説明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ERF-06 TRINIX：物理属性生成と自己修正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掲載位置 Physics Injection／Self-corrective Closed Loop／FAQ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ERF-07 SimReady FAQ：静的検証と実行時検証</a:t>
            </a:r>
          </a:p>
          <a:p xmlns:a="http://schemas.openxmlformats.org/drawingml/2006/main">
            <a:r>
              <a:t>https://docs.omniverse.nvidia.com/simready/latest/simready-faq.html</a:t>
            </a:r>
          </a:p>
          <a:p xmlns:a="http://schemas.openxmlformats.org/drawingml/2006/main">
            <a:r>
              <a:t>掲載位置 What Is the Difference…Foundation；How Do I Validate My Composed Scene…（L526–538）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ERF-08 SimReady Physics Best Practices</a:t>
            </a:r>
          </a:p>
          <a:p xmlns:a="http://schemas.openxmlformats.org/drawingml/2006/main">
            <a:r>
              <a:t>https://docs.omniverse.nvidia.com/simready/latest/simready-asset-creation/physics-best-practices.html</a:t>
            </a:r>
          </a:p>
          <a:p xmlns:a="http://schemas.openxmlformats.org/drawingml/2006/main">
            <a:r>
              <a:t>掲載位置 Typical USDPhysics Components／Collider、Mass、materialの摩擦・密度・反発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ERF-09 DexBench共同開発の告知</a:t>
            </a:r>
          </a:p>
          <a:p xmlns:a="http://schemas.openxmlformats.org/drawingml/2006/main">
            <a:r>
              <a:t>https://ndotlight.com/newsroom/ndotlight-to-co-develop-dexbench-a-global-standard-for-humanoid-evaluation-with-nvidia-and-rlwrld</a:t>
            </a:r>
          </a:p>
          <a:p xmlns:a="http://schemas.openxmlformats.org/drawingml/2006/main">
            <a:r>
              <a:t>掲載位置 2026/8/7／SimReady環境・操作評価・sim-to-real gap低減の共同開発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ファナック・日立の実証先は日立の工場。マザックの工程設計AIとDMGのGENIACは開発計画。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Q02 DMG森精機の公式発表</a:t>
            </a:r>
          </a:p>
          <a:p xmlns:a="http://schemas.openxmlformats.org/drawingml/2006/main">
            <a:r>
              <a:t>DMG森精機 GENIAC事業に採択：生産設備データエコシステムと製造フィジカルAI基盤 2026-07-06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掲載位置 多目的AI開発基盤の説明</a:t>
            </a:r>
          </a:p>
          <a:p xmlns:a="http://schemas.openxmlformats.org/drawingml/2006/main">
            <a:r>
              <a:t>原文抜粋 市場投入後の設備から継続的にデータを収集・学習・還元する仕組み</a:t>
            </a:r>
          </a:p>
          <a:p xmlns:a="http://schemas.openxmlformats.org/drawingml/2006/main">
            <a:r>
              <a:t>文脈の要約 異常検知から品質予測・条件最適化、生産セルへ広げる計画の中の表現。</a:t>
            </a:r>
          </a:p>
          <a:p xmlns:a="http://schemas.openxmlformats.org/drawingml/2006/main">
            <a:r>
              <a:t>留保 構築を目指す仕組み。既に全用途で循環が成立したという実績ではない。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Q05 MONOistの記者説明。マザック共同開発を取材</a:t>
            </a:r>
          </a:p>
          <a:p xmlns:a="http://schemas.openxmlformats.org/drawingml/2006/main">
            <a:r>
              <a:t>MONOist 加工の工程設計をAIエージェントで自動化 2026-10-19</a:t>
            </a:r>
          </a:p>
          <a:p xmlns:a="http://schemas.openxmlformats.org/drawingml/2006/main">
            <a:r>
              <a:t>https://monoist.itmedia.co.jp/mn/articles/2610/19/news039_2.html</a:t>
            </a:r>
          </a:p>
          <a:p xmlns:a="http://schemas.openxmlformats.org/drawingml/2006/main">
            <a:r>
              <a:t>掲載位置 後編 MAZATROLとGコードを比較する段落</a:t>
            </a:r>
          </a:p>
          <a:p xmlns:a="http://schemas.openxmlformats.org/drawingml/2006/main">
            <a:r>
              <a:t>原文抜粋 「何をどのように加工したいのか」という作業者の意図や目的</a:t>
            </a:r>
          </a:p>
          <a:p xmlns:a="http://schemas.openxmlformats.org/drawingml/2006/main">
            <a:r>
              <a:t>文脈の要約 対話プログラムの加工意図と判断結果を学習する方式を説明する。</a:t>
            </a:r>
          </a:p>
          <a:p xmlns:a="http://schemas.openxmlformats.org/drawingml/2006/main">
            <a:r>
              <a:t>留保 記者の説明からの抜粋で、発言者の直接発言ではない。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Q06 日立・ファナックの共同発表をファナックが掲載</a:t>
            </a:r>
          </a:p>
          <a:p xmlns:a="http://schemas.openxmlformats.org/drawingml/2006/main">
            <a:r>
              <a:t>ファナック・日立 フィジカルAI実装の共同事業化に向けた戦略的パートナーシップ 2026-09-30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掲載位置 提携の説明・カスタマーゼロの段落</a:t>
            </a:r>
          </a:p>
          <a:p xmlns:a="http://schemas.openxmlformats.org/drawingml/2006/main">
            <a:r>
              <a:t>原文抜粋 現場固有のルールを継続的に学習します。</a:t>
            </a:r>
          </a:p>
          <a:p xmlns:a="http://schemas.openxmlformats.org/drawingml/2006/main">
            <a:r>
              <a:t>文脈の要約 日立の工場で共同実証し、現場課題へ柔軟に対応する実用化計画の一節。</a:t>
            </a:r>
          </a:p>
          <a:p xmlns:a="http://schemas.openxmlformats.org/drawingml/2006/main">
            <a:r>
              <a:t>留保 将来の共同実証・実用化を説明する。全機能の達成実績とはしない。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Q26 DMG森精機の公式製品発表</a:t>
            </a:r>
          </a:p>
          <a:p xmlns:a="http://schemas.openxmlformats.org/drawingml/2006/main">
            <a:r>
              <a:t>DMG森精機 CELOS ClubにCondition Agentを搭載 2026-07-06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Condition Agentの診断方法</a:t>
            </a:r>
          </a:p>
          <a:p xmlns:a="http://schemas.openxmlformats.org/drawingml/2006/main">
            <a:r>
              <a:t>原文抜粋 工作機械の診断専用NCプログラムを実行し</a:t>
            </a:r>
          </a:p>
          <a:p xmlns:a="http://schemas.openxmlformats.org/drawingml/2006/main">
            <a:r>
              <a:t>文脈の要約 専用の動作でデータを得てクラウド分析する方式の説明。</a:t>
            </a:r>
          </a:p>
          <a:p xmlns:a="http://schemas.openxmlformats.org/drawingml/2006/main">
            <a:r>
              <a:t>留保 診断方法の部分引用。全ての加工ログが同じ方法で取られるわけではない。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Q11 Siemensの公式ブログ</a:t>
            </a:r>
          </a:p>
          <a:p xmlns:a="http://schemas.openxmlformats.org/drawingml/2006/main">
            <a:r>
              <a:t>Siemens From agile to autonomous: adaptive production 2026-07-08</a:t>
            </a:r>
          </a:p>
          <a:p xmlns:a="http://schemas.openxmlformats.org/drawingml/2006/main">
            <a:r>
              <a:t>https://blogs.sw.siemens.com/nx-manufacturing/from-agile-to-autonomous-building-adaptive-production-with-digital-twins-and-industrial-ai/</a:t>
            </a:r>
          </a:p>
          <a:p xmlns:a="http://schemas.openxmlformats.org/drawingml/2006/main">
            <a:r>
              <a:t>掲載位置 Three principlesの1項目目</a:t>
            </a:r>
          </a:p>
          <a:p xmlns:a="http://schemas.openxmlformats.org/drawingml/2006/main">
            <a:r>
              <a:t>原文抜粋 AI must operate on the current state of the factory.</a:t>
            </a:r>
          </a:p>
          <a:p xmlns:a="http://schemas.openxmlformats.org/drawingml/2006/main">
            <a:r>
              <a:t>文脈の要約 過去のスナップショットだけでなく現在の状態を使う方針。</a:t>
            </a:r>
          </a:p>
          <a:p xmlns:a="http://schemas.openxmlformats.org/drawingml/2006/main">
            <a:r>
              <a:t>留保 製造AIに求める原則。特定の更新周期や全システムでの実現実績ではない。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DMG森精機 E8005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ヤマザキマザック E1001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オークマ E3028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ファナック S2001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シーメンス E3006</a:t>
            </a:r>
          </a:p>
          <a:p xmlns:a="http://schemas.openxmlformats.org/drawingml/2006/main">
            <a:r>
              <a:t>https://www.jimtof.org/search/jp/ESdetails?e=EBIotJu7lrg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会場内の移動順は未設定。共同開発AIや個別製品の展示有無を含め、告知の範囲を現地確認する。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ESPRIT EDGE ProPlanAI ブース E2013</a:t>
            </a:r>
          </a:p>
          <a:p xmlns:a="http://schemas.openxmlformats.org/drawingml/2006/main">
            <a:r>
              <a:t>製品機能／展示予定</a:t>
            </a:r>
          </a:p>
          <a:p xmlns:a="http://schemas.openxmlformats.org/drawingml/2006/main">
            <a:r>
              <a:t>部品特徴・PMI・過去ジョブを用いて加工工程案を生成。2026.1では旋削・複合・スイス型の商用範囲を説明。</a:t>
            </a:r>
          </a:p>
          <a:p xmlns:a="http://schemas.openxmlformats.org/drawingml/2006/main">
            <a:r>
              <a:t>現地確認 対象形状と加工法、工程案の修正箇所、採用までの確認工数。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EOV-V007-2026-2 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掲載位置 2025.2 PROPLANAI、2026.1 ProPlanAI for Turning, Mill-Turn &amp; Swiss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FC020 JBMエンジニアリング Mastercam＋CAMAssist ブース E2002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形状、工具、材種、機械・保持条件から工程・経路・条件案を生成。CAM上で修正・検証し、人がポスト処理する。</a:t>
            </a:r>
          </a:p>
          <a:p xmlns:a="http://schemas.openxmlformats.org/drawingml/2006/main">
            <a:r>
              <a:t>現地確認 3軸・3+2軸の対応範囲、干渉回避、生成後に残る手作業。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 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EOV-V008-2024-2 JIMTOF2024公式カタログ：ジェービーエムエンジニアリング株式会社 (AM111)</a:t>
            </a:r>
          </a:p>
          <a:p xmlns:a="http://schemas.openxmlformats.org/drawingml/2006/main">
            <a:r>
              <a:t>https://www.jimtof.org/2024/search/jp/ESdetails?e=ZBxZW2vyjUw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EOV-V008-2026-1 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 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掲載位置 仕組みステップ1〜4／FAQの対象加工・顧客データ学習の否定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EDP-10 Mastercam向けCAM Assist提供開始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掲載位置 July 25, 2024／3軸・3+2軸向け。北米販売開始の説明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AC131 タクテックス CAM Assist for SolidCAM ブース S1016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SolidCAM環境で3軸・3+2軸の加工戦略と経路案を生成。既存CAM運用への組込み方を比較する。</a:t>
            </a:r>
          </a:p>
          <a:p xmlns:a="http://schemas.openxmlformats.org/drawingml/2006/main">
            <a:r>
              <a:t>現地確認 工具DBの流用、修正・検証、Mastercam版との対応差。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EEX-EXH-2026-0436fc7b61f51a8e JIMTOF2026公式出展説明：タクテックス株式会社 (S1016)</a:t>
            </a:r>
          </a:p>
          <a:p xmlns:a="http://schemas.openxmlformats.org/drawingml/2006/main">
            <a:r>
              <a:t>https://www.jimtof.org/search/jp/ESdetails?e=2TVzwvOqLxI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EEX-EXH-2024-eb84f3b7fa9cf6db JIMTOF2024公式出展説明：タクテックス株式会社 (E5030)</a:t>
            </a:r>
          </a:p>
          <a:p xmlns:a="http://schemas.openxmlformats.org/drawingml/2006/main">
            <a:r>
              <a:t>https://www.jimtof.org/2024/search/jp/ESdetails?e=p_i9WuUhNRg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EDP-07 SolidCAM向けCAM Assist</a:t>
            </a:r>
          </a:p>
          <a:p xmlns:a="http://schemas.openxmlformats.org/drawingml/2006/main">
            <a:r>
              <a:t>https://www.cloudnc.com/ja/solidcam</a:t>
            </a:r>
          </a:p>
          <a:p xmlns:a="http://schemas.openxmlformats.org/drawingml/2006/main">
            <a:r>
              <a:t>掲載位置 仕組みステップ1〜4／FAQの対象加工・通信・戦略生成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EDP-08 CloudNC CAM Assist公式ヘルプ</a:t>
            </a:r>
          </a:p>
          <a:p xmlns:a="http://schemas.openxmlformats.org/drawingml/2006/main">
            <a:r>
              <a:t>https://help.solidcam.com/topics/solutions/cloudnc-cam-assist.htm</a:t>
            </a:r>
          </a:p>
          <a:p xmlns:a="http://schemas.openxmlformats.org/drawingml/2006/main">
            <a:r>
              <a:t>掲載位置 形状・工具・材種・段取りの入力／プログラマーの修正・検証・NC出力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FC022 CGTech Vericut Force／Optimizer ブース S3014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NCと切削モデルに基づき送りを事前に最適化。Forceの物理ベース機能とOptimizerの機能範囲は版別に確認する。</a:t>
            </a:r>
          </a:p>
          <a:p xmlns:a="http://schemas.openxmlformats.org/drawingml/2006/main">
            <a:r>
              <a:t>現地確認 材料・工具モデルの設定、負荷制約、実加工との差と修正方法。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EOV-V009-2024-1 JIMTOF2024公式カタログ：株式会社CGTech (E5042)</a:t>
            </a:r>
          </a:p>
          <a:p xmlns:a="http://schemas.openxmlformats.org/drawingml/2006/main">
            <a:r>
              <a:t>https://www.jimtof.org/2024/search/jp/ESdetails?e=AxDUk3YbQDI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EOV-V009-2026-1 JIMTOF2026公式カタログ：株式会社CGTech (S3014)</a:t>
            </a:r>
          </a:p>
          <a:p xmlns:a="http://schemas.openxmlformats.org/drawingml/2006/main">
            <a:r>
              <a:t>https://www.jimtof.org/search/jp/ESdetails?e=41U8xW4UkcM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RPT-S04 Vericut Force FAQ</a:t>
            </a:r>
          </a:p>
          <a:p xmlns:a="http://schemas.openxmlformats.org/drawingml/2006/main">
            <a:r>
              <a:t>https://archive.vericut.com/force-faq/</a:t>
            </a:r>
          </a:p>
          <a:p xmlns:a="http://schemas.openxmlformats.org/drawingml/2006/main">
            <a:r>
              <a:t>掲載位置 Force physics-based optimization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RPT001 Third Wave Systems Production Module／AdvantEdge ブース E1064</a:t>
            </a:r>
          </a:p>
          <a:p xmlns:a="http://schemas.openxmlformats.org/drawingml/2006/main">
            <a:r>
              <a:t>展示告知＋製品資料</a:t>
            </a:r>
          </a:p>
          <a:p xmlns:a="http://schemas.openxmlformats.org/drawingml/2006/main">
            <a:r>
              <a:t>Production ModuleはNCレベルの負荷解析・最適化。AdvantEdgeは刃先近傍のFEM解析で、対象と計算粒度が異なる。</a:t>
            </a:r>
          </a:p>
          <a:p xmlns:a="http://schemas.openxmlformats.org/drawingml/2006/main">
            <a:r>
              <a:t>現地確認 材料モデル、切削力・温度の検証、NC最適化への受渡し。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RPT-EXH-2026-3f24aaee60d77db1 Third Wave Systems Japan合同会社 JIMTOF2026</a:t>
            </a:r>
          </a:p>
          <a:p xmlns:a="http://schemas.openxmlformats.org/drawingml/2006/main">
            <a:r>
              <a:t>https://www.jimtof.org/search/jp/ESdetails?e=L43LSAjxuyc</a:t>
            </a:r>
          </a:p>
          <a:p xmlns:a="http://schemas.openxmlformats.org/drawingml/2006/main">
            <a:r>
              <a:t>掲載位置 main &gt; div.container &gt; div.row &gt; div.col-md-8.mb-5; 見出し「主な出展物」と直後のp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RPT-S05 Production Module v8.2 release</a:t>
            </a:r>
          </a:p>
          <a:p xmlns:a="http://schemas.openxmlformats.org/drawingml/2006/main">
            <a:r>
              <a:t>https://thirdwavesys.com/latest-news/production-module-v8-2-release/</a:t>
            </a:r>
          </a:p>
          <a:p xmlns:a="http://schemas.openxmlformats.org/drawingml/2006/main">
            <a:r>
              <a:t>掲載位置 工具たわみ・entry/exit feedrate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RPT002 西部商工 ACM ブース S3020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主軸負荷をリアルタイム監視し送りを自動調整。既存NCを変更せず導入する説明。負荷が変動する荒加工等が対象。</a:t>
            </a:r>
          </a:p>
          <a:p xmlns:a="http://schemas.openxmlformats.org/drawingml/2006/main">
            <a:r>
              <a:t>現地確認 制御周期・目標負荷、急変時の制限、時間短縮と工具寿命の両立。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RPT-EXH-2026-107042c6cf64ba96 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掲載位置 main &gt; div.container &gt; div.row &gt; div.col-md-8.mb-5; 見出し「主な出展物」と直後のp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 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掲載位置 main &gt; div.container &gt; div.row &gt; div.col-md-8.mb-5; 見出し「主な出展物」と直後のp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RPT006 ヤマザキマザック Ai Thermal Shield ブース E1001</a:t>
            </a:r>
          </a:p>
          <a:p xmlns:a="http://schemas.openxmlformats.org/drawingml/2006/main">
            <a:r>
              <a:t>既存製品資料／個別展示未確認</a:t>
            </a:r>
          </a:p>
          <a:p xmlns:a="http://schemas.openxmlformats.org/drawingml/2006/main">
            <a:r>
              <a:t>温度・主軸速度等を考慮し、加工後のワーク測定データを学習して熱変位オフセットを最適化するとの製品説明。</a:t>
            </a:r>
          </a:p>
          <a:p xmlns:a="http://schemas.openxmlformats.org/drawingml/2006/main">
            <a:r>
              <a:t>現地確認 学習に必要な測定・運転条件、再学習、対象展示機への搭載。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RPT-S03 Mazak Accuracy / Ai Thermal Shield</a:t>
            </a:r>
          </a:p>
          <a:p xmlns:a="http://schemas.openxmlformats.org/drawingml/2006/main">
            <a:r>
              <a:t>https://www.mazak.com/uk-en/technology/accuracy/</a:t>
            </a:r>
          </a:p>
          <a:p xmlns:a="http://schemas.openxmlformats.org/drawingml/2006/main">
            <a:r>
              <a:t>掲載位置 Ai Thermal Shield／Smooth Thermal Shield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EOV-V004-2024-1 JIMTOF2024公式カタログ：ヤマザキマザック株式会社 (E5001)</a:t>
            </a:r>
          </a:p>
          <a:p xmlns:a="http://schemas.openxmlformats.org/drawingml/2006/main">
            <a:r>
              <a:t>https://www.jimtof.org/2024/search/jp/ESdetails?e=q0OrZBKM3uQ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EOV-V004-2026-1 JIMTOF2026公式カタログ：ヤマザキマザック株式会社 (E1001)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EAT-N08 JIMTOF2026 Machines &amp; Automation Systems</a:t>
            </a:r>
          </a:p>
          <a:p xmlns:a="http://schemas.openxmlformats.org/drawingml/2006/main">
            <a:r>
              <a:t>https://www.mazak.com/jp-en/news-media/upcoming-events/jimtof2026/</a:t>
            </a:r>
          </a:p>
          <a:p xmlns:a="http://schemas.openxmlformats.org/drawingml/2006/main">
            <a:r>
              <a:t>掲載位置 Machines &amp; Automation Systems／Automation 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FC009 オークマ サーモフレンドリーコンセプト ブース E3028</a:t>
            </a:r>
          </a:p>
          <a:p xmlns:a="http://schemas.openxmlformats.org/drawingml/2006/main">
            <a:r>
              <a:t>熱変位制御を展示告知</a:t>
            </a:r>
          </a:p>
          <a:p xmlns:a="http://schemas.openxmlformats.org/drawingml/2006/main">
            <a:r>
              <a:t>熱変形を単純化する機械構造と熱変位制御を組み合わせる。2026告知のAI機能との対応は個別確認が必要。</a:t>
            </a:r>
          </a:p>
          <a:p xmlns:a="http://schemas.openxmlformats.org/drawingml/2006/main">
            <a:r>
              <a:t>現地確認 補正対象、環境・暖機条件、AIの入力と補正担当範囲。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RPT-S02 オークマ サーモフレンドリーコンセプト</a:t>
            </a:r>
          </a:p>
          <a:p xmlns:a="http://schemas.openxmlformats.org/drawingml/2006/main">
            <a:r>
              <a:t>https://www.okuma.co.jp/thermo-aniv/</a:t>
            </a:r>
          </a:p>
          <a:p xmlns:a="http://schemas.openxmlformats.org/drawingml/2006/main">
            <a:r>
              <a:t>掲載位置 サーモフレンドリーコンセプトの説明・沿革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RPT007 オークマ 加工ナビ M-i／M-gⅡ ブース E3028</a:t>
            </a:r>
          </a:p>
          <a:p xmlns:a="http://schemas.openxmlformats.org/drawingml/2006/main">
            <a:r>
              <a:t>既存製品資料／個別展示未確認</a:t>
            </a:r>
          </a:p>
          <a:p xmlns:a="http://schemas.openxmlformats.org/drawingml/2006/main">
            <a:r>
              <a:t>M-iは内蔵センサの振動から主軸速度を算出・変更。M-gⅡはマイクを使い速度候補を提示し、人が選択する。</a:t>
            </a:r>
          </a:p>
          <a:p xmlns:a="http://schemas.openxmlformats.org/drawingml/2006/main">
            <a:r>
              <a:t>現地確認 自動変更と推奨表示の差、対象加工・工具、制御の安定範囲。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RPT-S01 オークマ 加工ナビ</a:t>
            </a:r>
          </a:p>
          <a:p xmlns:a="http://schemas.openxmlformats.org/drawingml/2006/main">
            <a:r>
              <a:t>https://www.okuma.co.jp/solution_technology/process/</a:t>
            </a:r>
          </a:p>
          <a:p xmlns:a="http://schemas.openxmlformats.org/drawingml/2006/main">
            <a:r>
              <a:t>掲載位置 加工ナビ M-i／M-gⅡ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FC039 モリマシナリー ツールコラージュ／アナライザー ブース S3048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刃先画像で欠け・摩耗を判定・記録。別機能のアナライザーは摩耗履歴から寿命・交換時期を提案する。</a:t>
            </a:r>
          </a:p>
          <a:p xmlns:a="http://schemas.openxmlformats.org/drawingml/2006/main">
            <a:r>
              <a:t>現地確認 工具・材種別の必要履歴、汚れへの耐性、交換判断の責任分担。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 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EOV-V024-2026-1 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EDP-12 TOOL SOMMELIER／TOOL COLLAGE</a:t>
            </a:r>
          </a:p>
          <a:p xmlns:a="http://schemas.openxmlformats.org/drawingml/2006/main">
            <a:r>
              <a:t>https://mori-machinery.com/en/product/tool-sommelier?post_id=1066</a:t>
            </a:r>
          </a:p>
          <a:p xmlns:a="http://schemas.openxmlformats.org/drawingml/2006/main">
            <a:r>
              <a:t>掲載位置 刃先撮像・欠け摩耗自動検出／FAQの工具・径制約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 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掲載位置 2023年6月2日、成果と今後の展望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FC038 ハイデンハイン VT 122＋VTC 6.0 ブース E7043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ビジョンシステムVT 122とVTC 6.0によるAI摩耗診断・工具長計測を出展説明に記載。</a:t>
            </a:r>
          </a:p>
          <a:p xmlns:a="http://schemas.openxmlformats.org/drawingml/2006/main">
            <a:r>
              <a:t>現地確認 摩耗量・欠けの判定基準、撮像条件、測定後のCNC連携。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EOV-V023-2024-1 JIMTOF2024公式カタログ：ハイデンハイン株式会社 (E7123)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EOV-V023-2026-1 JIMTOF2026公式カタログ：ハイデンハイン株式会社 (E7043)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FC035 マーポス ARTIS／BLU／VTS ブース E7087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工具・機械・加工プロセスの監視と工具計測を組み合わせる。製品ごとの信号・判定・停止出力を比較する。</a:t>
            </a:r>
          </a:p>
          <a:p xmlns:a="http://schemas.openxmlformats.org/drawingml/2006/main">
            <a:r>
              <a:t>現地確認 破損検出と摩耗推定の差、監視閾値、停止・補正の出力先。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EOV-V020-2024-1 JIMTOF2024公式カタログ：マーポス株式会社 (E7107)</a:t>
            </a:r>
          </a:p>
          <a:p xmlns:a="http://schemas.openxmlformats.org/drawingml/2006/main">
            <a:r>
              <a:t>https://www.jimtof.org/2024/search/jp/ESdetails?e=K8FKaawJkn0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EOV-V020-2026-1 JIMTOF2026公式カタログ：マーポス株式会社 (E7087)</a:t>
            </a:r>
          </a:p>
          <a:p xmlns:a="http://schemas.openxmlformats.org/drawingml/2006/main">
            <a:r>
              <a:t>https://www.jimtof.org/search/jp/ESdetails?e=tThKOA-gm8s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 ブース E7089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計測・装置状態等を集約し、IPCで工具オフセットや機械変数を更新。測定から加工補正までを接続する。</a:t>
            </a:r>
          </a:p>
          <a:p xmlns:a="http://schemas.openxmlformats.org/drawingml/2006/main">
            <a:r>
              <a:t>現地確認 補正ルール、対象CNC、外れ値の扱い、補正を止める条件。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 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メカニズム、現場でのクローズドループ、導入効果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FC036 HACARUS HACARUS Check ZERO ブース S1031</a:t>
            </a:r>
          </a:p>
          <a:p xmlns:a="http://schemas.openxmlformats.org/drawingml/2006/main">
            <a:r>
              <a:t>販売済み／展示予定</a:t>
            </a:r>
          </a:p>
          <a:p xmlns:a="http://schemas.openxmlformats.org/drawingml/2006/main">
            <a:r>
              <a:t>少量の良品画像との差で異常を検出。人が良品・不良品ラベルを追加し、見逃し・過検出を調整する。</a:t>
            </a:r>
          </a:p>
          <a:p xmlns:a="http://schemas.openxmlformats.org/drawingml/2006/main">
            <a:r>
              <a:t>現地確認 不良種類別の評価、追加学習後の再評価、撮像条件の許容差。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EOV-V021-2026-1 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EOV-W06 AI外観検査ソリューション HACARUS Check</a:t>
            </a:r>
          </a:p>
          <a:p xmlns:a="http://schemas.openxmlformats.org/drawingml/2006/main">
            <a:r>
              <a:t>https://hacarus.com/ja/technology/hacarus-check-series/</a:t>
            </a:r>
          </a:p>
          <a:p xmlns:a="http://schemas.openxmlformats.org/drawingml/2006/main">
            <a:r>
              <a:t>掲載位置 2026.04.06本文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 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掲載位置 2025/7/9販売／良品学習とアノテーション追加学習／判定UI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EDP-15 Checkシリーズ公式製品説明</a:t>
            </a:r>
          </a:p>
          <a:p xmlns:a="http://schemas.openxmlformats.org/drawingml/2006/main">
            <a:r>
              <a:t>https://check.hacarus.com/ja/</a:t>
            </a:r>
          </a:p>
          <a:p xmlns:a="http://schemas.openxmlformats.org/drawingml/2006/main">
            <a:r>
              <a:t>掲載位置 Check ZERO／デュアルチューニング／機器構成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 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掲載位置 特徴／異常箇所表示・良否アノテーション追加学習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AC085 サイバーRC GH5 ブース E7074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機内3D画像で工具刃先を測り、目標とする幅・角度へホーニングを補正するとの出展説明。</a:t>
            </a:r>
          </a:p>
          <a:p xmlns:a="http://schemas.openxmlformats.org/drawingml/2006/main">
            <a:r>
              <a:t>現地確認 画像精度、補正量・収束条件、最終形状の合否判定。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EEX-EXH-2026-a0cbad27ea34d7c4 JIMTOF2026公式出展説明：株式会社サイバーRC (E7074)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EEX-EXH-2024-76ac534a229f7c29 JIMTOF2024公式出展説明：株式会社サイバーRC (W3046)</a:t>
            </a:r>
          </a:p>
          <a:p xmlns:a="http://schemas.openxmlformats.org/drawingml/2006/main">
            <a:r>
              <a:t>https://www.jimtof.org/2024/search/jp/ESdetails?e=wk2AEX5rHpw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EDP-02 GH5総合カタログ</a:t>
            </a:r>
          </a:p>
          <a:p xmlns:a="http://schemas.openxmlformats.org/drawingml/2006/main">
            <a:r>
              <a:t>https://cyber-rc.com/wp-content/uploads/2025/10/%E7%B7%8F%E5%90%88%E3%82%AB%E3%82%BF%E3%83%AD%E3%82%B0420-x-297-mm%E6%A8%AA%E4%B8%A6%E3%81%B3-.pdf</a:t>
            </a:r>
          </a:p>
          <a:p xmlns:a="http://schemas.openxmlformats.org/drawingml/2006/main">
            <a:r>
              <a:t>掲載位置 GRISTAR HONING 5 AXIS／幅・角度設定、Robot Eye、自動調整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 ブース E3013</a:t>
            </a:r>
          </a:p>
          <a:p xmlns:a="http://schemas.openxmlformats.org/drawingml/2006/main">
            <a:r>
              <a:t>参考出品</a:t>
            </a:r>
          </a:p>
          <a:p xmlns:a="http://schemas.openxmlformats.org/drawingml/2006/main">
            <a:r>
              <a:t>絡まった切粉の状況を判断して除去するフィジカルAI搭載デモを予告。センサ・学習方式は非公開。</a:t>
            </a:r>
          </a:p>
          <a:p xmlns:a="http://schemas.openxmlformats.org/drawingml/2006/main">
            <a:r>
              <a:t>現地確認 絡まり方を変えた実演、除去完了の判定、失敗時の再試行。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 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TR-20W：フィジカルAI搭載のロボットシステム（参考出品）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掲載位置 2024年11月1日／MGC300の出展説明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AC146 東京エレクトロンデバイス 3D形状認識加工システム ブース E7073</a:t>
            </a:r>
          </a:p>
          <a:p xmlns:a="http://schemas.openxmlformats.org/drawingml/2006/main">
            <a:r>
              <a:t>共同ブースで展示予定</a:t>
            </a:r>
          </a:p>
          <a:p xmlns:a="http://schemas.openxmlformats.org/drawingml/2006/main">
            <a:r>
              <a:t>レーザースキャンした形状から加工軌道を生成。図面・パタン教示不要との説明。AI方式の利用は未確認。</a:t>
            </a:r>
          </a:p>
          <a:p xmlns:a="http://schemas.openxmlformats.org/drawingml/2006/main">
            <a:r>
              <a:t>現地確認 未登録形状の対応範囲、干渉確認、取り残しと加工品質。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EEX-EXH-2026-8c08de1ffed47316 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 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掲載位置 展示会概要・出展製品／2026年5月13日の製品説明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FC005 ファナック 生成AIによるロボット駆動 ブース S2001</a:t>
            </a:r>
          </a:p>
          <a:p xmlns:a="http://schemas.openxmlformats.org/drawingml/2006/main">
            <a:r>
              <a:t>展示予定／詳細未公表</a:t>
            </a:r>
          </a:p>
          <a:p xmlns:a="http://schemas.openxmlformats.org/drawingml/2006/main">
            <a:r>
              <a:t>生成AIによるロボット駆動事例を予告。入力、動作生成、検証、実行の構成と対象作業は現地確認が必要。</a:t>
            </a:r>
          </a:p>
          <a:p xmlns:a="http://schemas.openxmlformats.org/drawingml/2006/main">
            <a:r>
              <a:t>現地確認 既知・未知条件への対応、AI担当処理、成功率と介入条件。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FC002 DMG森精機 MATRIS WPH 210 ブース E8005</a:t>
            </a:r>
          </a:p>
          <a:p xmlns:a="http://schemas.openxmlformats.org/drawingml/2006/main">
            <a:r>
              <a:t>日本初公開予定</a:t>
            </a:r>
          </a:p>
          <a:p xmlns:a="http://schemas.openxmlformats.org/drawingml/2006/main">
            <a:r>
              <a:t>ワークとパレットの両方を供給するシステム。品種・ロットの変化に応じた供給と切替えが比較点。</a:t>
            </a:r>
          </a:p>
          <a:p xmlns:a="http://schemas.openxmlformats.org/drawingml/2006/main">
            <a:r>
              <a:t>現地確認 ワーク・治具の事前準備、切替え手順、無人継続を妨げる作業。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EOV-V001-2024-1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FC048 中村留精密工業 RoboSync ブース E2027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移設後にマーカーを読み、工作機械との相対位置を補正。既存パレット・台車を利用する省スペース構成。</a:t>
            </a:r>
          </a:p>
          <a:p xmlns:a="http://schemas.openxmlformats.org/drawingml/2006/main">
            <a:r>
              <a:t>現地確認 再教示の残作業、位置誤差の許容範囲、品種変更時の設定。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EOV-V029-2024-1 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EOV-V029-2026-1 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 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掲載位置 製品の特長 &gt; 簡単復旧、簡単操作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FC008 オークマ ARMROID／OMR20 ブース E3028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機内組込みのARMROIDと、機械脇へ配置するOMR20を出展。設置方式と段取り負担を比較する。</a:t>
            </a:r>
          </a:p>
          <a:p xmlns:a="http://schemas.openxmlformats.org/drawingml/2006/main">
            <a:r>
              <a:t>現地確認 担当作業、品種切替え、安全領域、停止後の復帰手順。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FC004 DMG森精機 Condition Agent ブース E8005</a:t>
            </a:r>
          </a:p>
          <a:p xmlns:a="http://schemas.openxmlformats.org/drawingml/2006/main">
            <a:r>
              <a:t>提供開始／個別展示未確認</a:t>
            </a:r>
          </a:p>
          <a:p xmlns:a="http://schemas.openxmlformats.org/drawingml/2006/main">
            <a:r>
              <a:t>診断専用NCを実行してデータを取得し、クラウドで分析。2026年4月受注分から対象機へ標準搭載する説明。</a:t>
            </a:r>
          </a:p>
          <a:p xmlns:a="http://schemas.openxmlformats.org/drawingml/2006/main">
            <a:r>
              <a:t>現地確認 診断対象部位、通常運転ログとの差、異常判定後の保全手順。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EOV-V001-2024-1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EAT-N07 Condition Agent 提供開始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2026/07/06本文・主な特長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Q26 CELOS ClubにCondition Agentを搭載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Condition Agentの診断方法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AC225 ムラテックCCS プライマリドクタサービス ブース E3031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稼働中の電流・振動等を新品状態と比較し劣化・異常を診断するとの説明。</a:t>
            </a:r>
          </a:p>
          <a:p xmlns:a="http://schemas.openxmlformats.org/drawingml/2006/main">
            <a:r>
              <a:t>現地確認 負荷・加工条件の違いの補正、故障モード別の検知性能。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EEX-EXH-2026-308c5194f12fe009 JIMTOF2026公式出展説明：ムラテックＣＣＳ株式会社 (E3031)</a:t>
            </a:r>
          </a:p>
          <a:p xmlns:a="http://schemas.openxmlformats.org/drawingml/2006/main">
            <a:r>
              <a:t>https://www.jimtof.org/search/jp/ESdetails?e=Z_SbvK_hxBY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EEX-EXH-2024-b0a94c1cd407ea8a JIMTOF2024公式出展説明：ムラテックCCS株式会社 (E6019)</a:t>
            </a:r>
          </a:p>
          <a:p xmlns:a="http://schemas.openxmlformats.org/drawingml/2006/main">
            <a:r>
              <a:t>https://www.jimtof.org/2024/search/jp/ESdetails?e=2N7pXq5Aehs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EDP-13 AIを用いた故障診断</a:t>
            </a:r>
          </a:p>
          <a:p xmlns:a="http://schemas.openxmlformats.org/drawingml/2006/main">
            <a:r>
              <a:t>https://www.muratec.jp/company/ti/rd/detail.php?id=7540</a:t>
            </a:r>
          </a:p>
          <a:p xmlns:a="http://schemas.openxmlformats.org/drawingml/2006/main">
            <a:r>
              <a:t>掲載位置 電流・振動を新品データと比較／補正入力回数・軸負荷による劣化判定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FC013 ベッコフ TwinCAT CoAgent for Operations ブース E2028</a:t>
            </a:r>
          </a:p>
          <a:p xmlns:a="http://schemas.openxmlformats.org/drawingml/2006/main">
            <a:r>
              <a:t>製品発表／投入時期要問合せ</a:t>
            </a:r>
          </a:p>
          <a:p xmlns:a="http://schemas.openxmlformats.org/drawingml/2006/main">
            <a:r>
              <a:t>ライブデータ、ログ、保守文書から原因仮説・対処案を生成。コマンド実行も説明するが権限範囲は未公開。</a:t>
            </a:r>
          </a:p>
          <a:p xmlns:a="http://schemas.openxmlformats.org/drawingml/2006/main">
            <a:r>
              <a:t>現地確認 原因の裏付け、実行可能な命令、人の承認、失敗時の復旧。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 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掲載位置 Properties／Product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 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掲載位置 Properties／direct system access；Product status／market release on request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FC027 ものレボ MonoRevo ブース W3042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工程設計・計画・進捗をまとめて管理し、自動スケジューリングを支援。AIの担当処理は未確認。</a:t>
            </a:r>
          </a:p>
          <a:p xmlns:a="http://schemas.openxmlformats.org/drawingml/2006/main">
            <a:r>
              <a:t>現地確認 設備・作業者・工具の制約、割込時の再計画、計画の確定者。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EOV-V014-2026-1 JIMTOF2026公式カタログ：ものレボ株式会社 (W3042)</a:t>
            </a:r>
          </a:p>
          <a:p xmlns:a="http://schemas.openxmlformats.org/drawingml/2006/main">
            <a:r>
              <a:t>https://www.jimtof.org/search/jp/ESdetails?e=sccKfxE4bYo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FC026 Smart Craft Smart Craft MES ブース S3002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作業記録、指示、履歴を一元管理し外部システムとAPI連携。自動最適計画の実装とは分けて扱う。</a:t>
            </a:r>
          </a:p>
          <a:p xmlns:a="http://schemas.openxmlformats.org/drawingml/2006/main">
            <a:r>
              <a:t>現地確認 設備実績との接続、計画系との更新周期、現場入力の負担。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EOV-V013-2026-1 JIMTOF2026公式カタログ：株式会社Smart Craft (S3002)</a:t>
            </a:r>
          </a:p>
          <a:p xmlns:a="http://schemas.openxmlformats.org/drawingml/2006/main">
            <a:r>
              <a:t>https://www.jimtof.org/search/jp/ESdetails?e=WqjRB6DEqN0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AC295 WinTool WinTool ブース E1049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工具情報と現物・工程資源を連携し、在庫ルールに基づく購買要求を扱う。</a:t>
            </a:r>
          </a:p>
          <a:p xmlns:a="http://schemas.openxmlformats.org/drawingml/2006/main">
            <a:r>
              <a:t>現地確認 計画に必要な工具可用性、CAM・プリセット・在庫の対応。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EEX-EXH-2026-4fb92ba6b82546d7 JIMTOF2026公式出展説明：WinTool AG (E1049)</a:t>
            </a:r>
          </a:p>
          <a:p xmlns:a="http://schemas.openxmlformats.org/drawingml/2006/main">
            <a:r>
              <a:t>https://www.jimtof.org/search/jp/ESdetails?e=sSFZV23clJo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EEX-EXH-2024-3f1fa1966a57e011 JIMTOF2024公式出展説明：WinTool AG (E5003)</a:t>
            </a:r>
          </a:p>
          <a:p xmlns:a="http://schemas.openxmlformats.org/drawingml/2006/main">
            <a:r>
              <a:t>https://www.jimtof.org/2024/search/jp/ESdetails?e=-n22F1d_CDc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EDP-18 ERP Integration</a:t>
            </a:r>
          </a:p>
          <a:p xmlns:a="http://schemas.openxmlformats.org/drawingml/2006/main">
            <a:r>
              <a:t>https://www.wintool.com/en/tool-management-software/cnc-inventory-manager/erp-integration</a:t>
            </a:r>
          </a:p>
          <a:p xmlns:a="http://schemas.openxmlformats.org/drawingml/2006/main">
            <a:r>
              <a:t>掲載位置 最低在庫で購買要求を生成し、管理者承認後にERPへ自動送信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EDP-19 CNC Process Manager</a:t>
            </a:r>
          </a:p>
          <a:p xmlns:a="http://schemas.openxmlformats.org/drawingml/2006/main">
            <a:r>
              <a:t>https://www.wintool.com/software/cnc-prozessverwaltung</a:t>
            </a:r>
          </a:p>
          <a:p xmlns:a="http://schemas.openxmlformats.org/drawingml/2006/main">
            <a:r>
              <a:t>掲載位置 工具積卸リスト・在庫確認・プリセッター指示・NCと測定値の転送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FC011 ベッコフ TwinCAT CoAgent for Engineering ブース E2028</a:t>
            </a:r>
          </a:p>
          <a:p xmlns:a="http://schemas.openxmlformats.org/drawingml/2006/main">
            <a:r>
              <a:t>展示告知＋製品資料</a:t>
            </a:r>
          </a:p>
          <a:p xmlns:a="http://schemas.openxmlformats.org/drawingml/2006/main">
            <a:r>
              <a:t>要求と既存プロジェクトの文脈に基づきPLCコード案を提案。人が確認し制御プロジェクトへ採用する。</a:t>
            </a:r>
          </a:p>
          <a:p xmlns:a="http://schemas.openxmlformats.org/drawingml/2006/main">
            <a:r>
              <a:t>現地確認 既存コード・ライブラリの参照、生成コードの検証と採用手順。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掲載位置 Features／Product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掲載位置 2025/6/13／Placing people at the heart of automation；PLC・I/O・HMI、専門家がreview・confirm・approve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FC012 ベッコフ TwinCAT CoAgent for Engineering ブース E2028</a:t>
            </a:r>
          </a:p>
          <a:p xmlns:a="http://schemas.openxmlformats.org/drawingml/2006/main">
            <a:r>
              <a:t>展示告知＋製品資料</a:t>
            </a:r>
          </a:p>
          <a:p xmlns:a="http://schemas.openxmlformats.org/drawingml/2006/main">
            <a:r>
              <a:t>I/O構成とHMI生成・操作を支援。PLCコード生成と同じ製品内でも対象成果物を分けて確認する。</a:t>
            </a:r>
          </a:p>
          <a:p xmlns:a="http://schemas.openxmlformats.org/drawingml/2006/main">
            <a:r>
              <a:t>現地確認 要件からの構成生成、変更整合性、実機接続前の検証。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掲載位置 Features／Product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掲載位置 2025/6/13／Placing people at the heart of automation；PLC・I/O・HMI、専門家がreview・confirm・approve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FC017 EPLAN Eplan Copilot ブース S1067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設計の文脈に応じた回答・推奨・手順を生成。設計データをどこまで自動作成するかを確認する。</a:t>
            </a:r>
          </a:p>
          <a:p xmlns:a="http://schemas.openxmlformats.org/drawingml/2006/main">
            <a:r>
              <a:t>現地確認 回答支援と設計変更の範囲、標準回路・部品DBの利用。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EOV-V006-2024-1 JIMTOF2024公式カタログ：EPLAN株式会社 (E2033)</a:t>
            </a:r>
          </a:p>
          <a:p xmlns:a="http://schemas.openxmlformats.org/drawingml/2006/main">
            <a:r>
              <a:t>https://www.jimtof.org/2024/search/jp/ESdetails?e=50efK4rQsHs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EOV-V006-2026-1 JIMTOF2026公式カタログ：EPLAN株式会社 (S1067)</a:t>
            </a:r>
          </a:p>
          <a:p xmlns:a="http://schemas.openxmlformats.org/drawingml/2006/main">
            <a:r>
              <a:t>https://www.jimtof.org/search/jp/ESdetails?e=FHsQAvmFusY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EAT-N06 Eplan Copilot</a:t>
            </a:r>
          </a:p>
          <a:p xmlns:a="http://schemas.openxmlformats.org/drawingml/2006/main">
            <a:r>
              <a:t>https://www.eplan.com/us-en/about-us/innovations/eplan-copilot/</a:t>
            </a:r>
          </a:p>
          <a:p xmlns:a="http://schemas.openxmlformats.org/drawingml/2006/main">
            <a:r>
              <a:t>掲載位置 Based on a described task／Looking ahead／conceptual phase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FC014 ベッコフ TwinCAT Machine Learning Creator ブース E2028</a:t>
            </a:r>
          </a:p>
          <a:p xmlns:a="http://schemas.openxmlformats.org/drawingml/2006/main">
            <a:r>
              <a:t>展示予定／既存基盤</a:t>
            </a:r>
          </a:p>
          <a:p xmlns:a="http://schemas.openxmlformats.org/drawingml/2006/main">
            <a:r>
              <a:t>人が用意したデータから学習・モデル選択・評価を支援。ONNX等で出力し、制御側へ実装する。</a:t>
            </a:r>
          </a:p>
          <a:p xmlns:a="http://schemas.openxmlformats.org/drawingml/2006/main">
            <a:r>
              <a:t>現地確認 必要データ・ラベル、推論周期、更新時の評価・差戻し。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EOV-W01 TwinCAT 3 Machine Learning Creator</a:t>
            </a:r>
          </a:p>
          <a:p xmlns:a="http://schemas.openxmlformats.org/drawingml/2006/main">
            <a:r>
              <a:t>https://www.beckhoff.com/en-za/products/automation/twincat/texxxx-twincat-3-engineering/te3850.html</a:t>
            </a:r>
          </a:p>
          <a:p xmlns:a="http://schemas.openxmlformats.org/drawingml/2006/main">
            <a:r>
              <a:t>掲載位置 製品説明冒頭、Product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EDP-04 PC Control 02/2024：Machine Learning Creator</a:t>
            </a:r>
          </a:p>
          <a:p xmlns:a="http://schemas.openxmlformats.org/drawingml/2006/main">
            <a:r>
              <a:t>https://www.beckhoff.com/media/downloads/information-media/pc-control/pcc_0224_e.pdf</a:t>
            </a:r>
          </a:p>
          <a:p xmlns:a="http://schemas.openxmlformats.org/drawingml/2006/main">
            <a:r>
              <a:t>掲載位置 TE3850／訓練・テストデータ分割、モデル解析、ONNX出力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AC098 シーメンス Digital Thread／工作機械ツイン ブース E3006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SINUMERIK ONEを搭載したHeller Toknの工作機械ツインと、Equatorによる工程内品質保証を実演予定。</a:t>
            </a:r>
          </a:p>
          <a:p xmlns:a="http://schemas.openxmlformats.org/drawingml/2006/main">
            <a:r>
              <a:t>現地確認 設計変更・加工条件・測定結果のデータ対応と更新の自動化。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EEX-EXH-2026-9b991dd8132f51dc JIMTOF2026公式出展説明：シーメンス株式会社 (E3006)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EEX-EXH-2024-558faea07a73f5d8 JIMTOF2024公式出展説明：シーメンス株式会社 (E5008)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EDP-16 HELLER Toknとデジタルツインの訓練事例</a:t>
            </a:r>
          </a:p>
          <a:p xmlns:a="http://schemas.openxmlformats.org/drawingml/2006/main">
            <a:r>
              <a:t>https://references.siemens.com/en/reference/heller-tokn-digital-twin?id=41137</a:t>
            </a:r>
          </a:p>
          <a:p xmlns:a="http://schemas.openxmlformats.org/drawingml/2006/main">
            <a:r>
              <a:t>掲載位置 Completion: 2024／仮想SINUMERIK ONEと3D機械モデルによる訓練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EDP-17 Humanoidとの工場内物流の運用試験</a:t>
            </a:r>
          </a:p>
          <a:p xmlns:a="http://schemas.openxmlformats.org/drawingml/2006/main">
            <a:r>
              <a:t>https://press.siemens.com/jp/ja/pressrelease/pr-20260416</a:t>
            </a:r>
          </a:p>
          <a:p xmlns:a="http://schemas.openxmlformats.org/drawingml/2006/main">
            <a:r>
              <a:t>掲載位置 HMND 01 Alphaのトート把持・搬送・配置／Jetson Thor・Isaac Sim/Lab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AC273 NdotLight TRINIX ブース S4004</a:t>
            </a:r>
          </a:p>
          <a:p xmlns:a="http://schemas.openxmlformats.org/drawingml/2006/main">
            <a:r>
              <a:t>展示予定／実機精度未検証</a:t>
            </a:r>
          </a:p>
          <a:p xmlns:a="http://schemas.openxmlformats.org/drawingml/2006/main">
            <a:r>
              <a:t>CAD等から形状・関節・物理属性を生成し、USD／URDF／MJCF等へ出力するとの説明。</a:t>
            </a:r>
          </a:p>
          <a:p xmlns:a="http://schemas.openxmlformats.org/drawingml/2006/main">
            <a:r>
              <a:t>現地確認 質量・摩擦の実測と推定の区別、生成物の検証、実機との差。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EEX-EXH-2026-016097f87d1914b2 JIMTOF2026公式出展説明：NdotLight Co., Ltd. (S4004)</a:t>
            </a:r>
          </a:p>
          <a:p xmlns:a="http://schemas.openxmlformats.org/drawingml/2006/main">
            <a:r>
              <a:t>https://www.jimtof.org/search/jp/ESdetails?e=6Ds1v9hxvrY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EEX-WNDOT TRINIX：Physical AI向け3Dデータの企業公式説明</a:t>
            </a:r>
          </a:p>
          <a:p xmlns:a="http://schemas.openxmlformats.org/drawingml/2006/main">
            <a:r>
              <a:t>https://ndotlight.com/newsroom/ndotlight-proposes-a-new-3d-data-standard-for-the-physical-ai-era-with-trinix</a:t>
            </a:r>
          </a:p>
          <a:p xmlns:a="http://schemas.openxmlformats.org/drawingml/2006/main">
            <a:r>
              <a:t>掲載位置 展示会概要・出展製品／2026年5月13日の製品説明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ERF-06 TRINIX：物理属性生成と自己修正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掲載位置 Physics Injection／Self-corrective Closed Loop／FAQ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ERF-07 SimReady FAQ：静的検証と実行時検証</a:t>
            </a:r>
          </a:p>
          <a:p xmlns:a="http://schemas.openxmlformats.org/drawingml/2006/main">
            <a:r>
              <a:t>https://docs.omniverse.nvidia.com/simready/latest/simready-faq.html</a:t>
            </a:r>
          </a:p>
          <a:p xmlns:a="http://schemas.openxmlformats.org/drawingml/2006/main">
            <a:r>
              <a:t>掲載位置 What Is the Difference…Foundation；How Do I Validate My Composed Scene…（L526–538）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ERF-08 SimReady Physics Best Practices</a:t>
            </a:r>
          </a:p>
          <a:p xmlns:a="http://schemas.openxmlformats.org/drawingml/2006/main">
            <a:r>
              <a:t>https://docs.omniverse.nvidia.com/simready/latest/simready-asset-creation/physics-best-practices.html</a:t>
            </a:r>
          </a:p>
          <a:p xmlns:a="http://schemas.openxmlformats.org/drawingml/2006/main">
            <a:r>
              <a:t>掲載位置 Typical USDPhysics Components／Collider、Mass、materialの摩擦・密度・反発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ERF-09 DexBench共同開発の告知</a:t>
            </a:r>
          </a:p>
          <a:p xmlns:a="http://schemas.openxmlformats.org/drawingml/2006/main">
            <a:r>
              <a:t>https://ndotlight.com/newsroom/ndotlight-to-co-develop-dexbench-a-global-standard-for-humanoid-evaluation-with-nvidia-and-rlwrld</a:t>
            </a:r>
          </a:p>
          <a:p xmlns:a="http://schemas.openxmlformats.org/drawingml/2006/main">
            <a:r>
              <a:t>掲載位置 2026/8/7／SimReady環境・操作評価・sim-to-real gap低減の共同開発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FC018 Hexagon ESPRIT EDGE ProPlanAI ブース E2013</a:t>
            </a:r>
          </a:p>
          <a:p xmlns:a="http://schemas.openxmlformats.org/drawingml/2006/main">
            <a:r>
              <a:t>製品機能／展示予定</a:t>
            </a:r>
          </a:p>
          <a:p xmlns:a="http://schemas.openxmlformats.org/drawingml/2006/main">
            <a:r>
              <a:t>部品特徴・PMI・過去ジョブを用いて加工工程案を生成。2026.1では旋削・複合・スイス型の商用範囲を説明。</a:t>
            </a:r>
          </a:p>
          <a:p xmlns:a="http://schemas.openxmlformats.org/drawingml/2006/main">
            <a:r>
              <a:t>現地確認 対象形状と加工法、工程案の修正箇所、採用までの確認工数。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EOV-V007-2026-2 JIMTOF2026公式カタログ：Hexagon Manufacturing Intelligence株式会社 (E2013)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EOV-W02 ESPRIT EDGE Release Highlights</a:t>
            </a:r>
          </a:p>
          <a:p xmlns:a="http://schemas.openxmlformats.org/drawingml/2006/main">
            <a:r>
              <a:t>https://hexagon.com/products/esprit-edge/release-highlights</a:t>
            </a:r>
          </a:p>
          <a:p xmlns:a="http://schemas.openxmlformats.org/drawingml/2006/main">
            <a:r>
              <a:t>掲載位置 2025.2 PROPLANAI、2026.1 ProPlanAI for Turning, Mill-Turn &amp; Swiss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FC020 JBMエンジニアリング Mastercam＋CAMAssist ブース E2002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形状、工具、材種、機械・保持条件から工程・経路・条件案を生成。CAM上で修正・検証し、人がポスト処理する。</a:t>
            </a:r>
          </a:p>
          <a:p xmlns:a="http://schemas.openxmlformats.org/drawingml/2006/main">
            <a:r>
              <a:t>現地確認 3軸・3+2軸の対応範囲、干渉回避、生成後に残る手作業。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EOV-V008-2024-1 JIMTOF2024公式カタログ：ジェービーエムエンジニアリング株式会社 (E5028)</a:t>
            </a:r>
          </a:p>
          <a:p xmlns:a="http://schemas.openxmlformats.org/drawingml/2006/main">
            <a:r>
              <a:t>https://www.jimtof.org/2024/search/jp/ESdetails?e=G-8gydwhMvE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EOV-V008-2024-2 JIMTOF2024公式カタログ：ジェービーエムエンジニアリング株式会社 (AM111)</a:t>
            </a:r>
          </a:p>
          <a:p xmlns:a="http://schemas.openxmlformats.org/drawingml/2006/main">
            <a:r>
              <a:t>https://www.jimtof.org/2024/search/jp/ESdetails?e=ZBxZW2vyjUw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EOV-V008-2026-1 JIMTOF2026公式カタログ：ジェービーエムエンジニアリング株式会社 (E2002)</a:t>
            </a:r>
          </a:p>
          <a:p xmlns:a="http://schemas.openxmlformats.org/drawingml/2006/main">
            <a:r>
              <a:t>https://www.jimtof.org/search/jp/ESdetails?e=VrAjMTKmxdw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EDP-09 Mastercam向けCAM Assist</a:t>
            </a:r>
          </a:p>
          <a:p xmlns:a="http://schemas.openxmlformats.org/drawingml/2006/main">
            <a:r>
              <a:t>https://www.cloudnc.com/ja/mastercam</a:t>
            </a:r>
          </a:p>
          <a:p xmlns:a="http://schemas.openxmlformats.org/drawingml/2006/main">
            <a:r>
              <a:t>掲載位置 仕組みステップ1〜4／FAQの対象加工・顧客データ学習の否定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EDP-10 Mastercam向けCAM Assist提供開始</a:t>
            </a:r>
          </a:p>
          <a:p xmlns:a="http://schemas.openxmlformats.org/drawingml/2006/main">
            <a:r>
              <a:t>https://www.cloudnc.com/news-room/cam-assist-the-first-ai-plug-in-for-cam-is-now-available-for-mastercam</a:t>
            </a:r>
          </a:p>
          <a:p xmlns:a="http://schemas.openxmlformats.org/drawingml/2006/main">
            <a:r>
              <a:t>掲載位置 July 25, 2024／3軸・3+2軸向け。北米販売開始の説明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AC131 タクテックス CAM Assist for SolidCAM ブース S1016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SolidCAM環境で3軸・3+2軸の加工戦略と経路案を生成。既存CAM運用への組込み方を比較する。</a:t>
            </a:r>
          </a:p>
          <a:p xmlns:a="http://schemas.openxmlformats.org/drawingml/2006/main">
            <a:r>
              <a:t>現地確認 工具DBの流用、修正・検証、Mastercam版との対応差。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EEX-EXH-2026-0436fc7b61f51a8e JIMTOF2026公式出展説明：タクテックス株式会社 (S1016)</a:t>
            </a:r>
          </a:p>
          <a:p xmlns:a="http://schemas.openxmlformats.org/drawingml/2006/main">
            <a:r>
              <a:t>https://www.jimtof.org/search/jp/ESdetails?e=2TVzwvOqLxI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EEX-EXH-2024-eb84f3b7fa9cf6db JIMTOF2024公式出展説明：タクテックス株式会社 (E5030)</a:t>
            </a:r>
          </a:p>
          <a:p xmlns:a="http://schemas.openxmlformats.org/drawingml/2006/main">
            <a:r>
              <a:t>https://www.jimtof.org/2024/search/jp/ESdetails?e=p_i9WuUhNRg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EDP-07 SolidCAM向けCAM Assist</a:t>
            </a:r>
          </a:p>
          <a:p xmlns:a="http://schemas.openxmlformats.org/drawingml/2006/main">
            <a:r>
              <a:t>https://www.cloudnc.com/ja/solidcam</a:t>
            </a:r>
          </a:p>
          <a:p xmlns:a="http://schemas.openxmlformats.org/drawingml/2006/main">
            <a:r>
              <a:t>掲載位置 仕組みステップ1〜4／FAQの対象加工・通信・戦略生成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EDP-08 CloudNC CAM Assist公式ヘルプ</a:t>
            </a:r>
          </a:p>
          <a:p xmlns:a="http://schemas.openxmlformats.org/drawingml/2006/main">
            <a:r>
              <a:t>https://help.solidcam.com/topics/solutions/cloudnc-cam-assist.htm</a:t>
            </a:r>
          </a:p>
          <a:p xmlns:a="http://schemas.openxmlformats.org/drawingml/2006/main">
            <a:r>
              <a:t>掲載位置 形状・工具・材種・段取りの入力／プログラマーの修正・検証・NC出力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FC022 CGTech Vericut Force／Optimizer ブース S3014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NCと切削モデルに基づき送りを事前に最適化。Forceの物理ベース機能とOptimizerの機能範囲は版別に確認する。</a:t>
            </a:r>
          </a:p>
          <a:p xmlns:a="http://schemas.openxmlformats.org/drawingml/2006/main">
            <a:r>
              <a:t>現地確認 材料・工具モデルの設定、負荷制約、実加工との差と修正方法。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EOV-V009-2024-1 JIMTOF2024公式カタログ：株式会社CGTech (E5042)</a:t>
            </a:r>
          </a:p>
          <a:p xmlns:a="http://schemas.openxmlformats.org/drawingml/2006/main">
            <a:r>
              <a:t>https://www.jimtof.org/2024/search/jp/ESdetails?e=AxDUk3YbQDI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EOV-V009-2026-1 JIMTOF2026公式カタログ：株式会社CGTech (S3014)</a:t>
            </a:r>
          </a:p>
          <a:p xmlns:a="http://schemas.openxmlformats.org/drawingml/2006/main">
            <a:r>
              <a:t>https://www.jimtof.org/search/jp/ESdetails?e=41U8xW4UkcM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RPT-S04 Vericut Force FAQ</a:t>
            </a:r>
          </a:p>
          <a:p xmlns:a="http://schemas.openxmlformats.org/drawingml/2006/main">
            <a:r>
              <a:t>https://archive.vericut.com/force-faq/</a:t>
            </a:r>
          </a:p>
          <a:p xmlns:a="http://schemas.openxmlformats.org/drawingml/2006/main">
            <a:r>
              <a:t>掲載位置 Force physics-based optimization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RPT001 Third Wave Systems Production Module／AdvantEdge ブース E1064</a:t>
            </a:r>
          </a:p>
          <a:p xmlns:a="http://schemas.openxmlformats.org/drawingml/2006/main">
            <a:r>
              <a:t>展示告知＋製品資料</a:t>
            </a:r>
          </a:p>
          <a:p xmlns:a="http://schemas.openxmlformats.org/drawingml/2006/main">
            <a:r>
              <a:t>Production ModuleはNCレベルの負荷解析・最適化。AdvantEdgeは刃先近傍のFEM解析で、対象と計算粒度が異なる。</a:t>
            </a:r>
          </a:p>
          <a:p xmlns:a="http://schemas.openxmlformats.org/drawingml/2006/main">
            <a:r>
              <a:t>現地確認 材料モデル、切削力・温度の検証、NC最適化への受渡し。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RPT-EXH-2026-3f24aaee60d77db1 Third Wave Systems Japan合同会社 JIMTOF2026</a:t>
            </a:r>
          </a:p>
          <a:p xmlns:a="http://schemas.openxmlformats.org/drawingml/2006/main">
            <a:r>
              <a:t>https://www.jimtof.org/search/jp/ESdetails?e=L43LSAjxuyc</a:t>
            </a:r>
          </a:p>
          <a:p xmlns:a="http://schemas.openxmlformats.org/drawingml/2006/main">
            <a:r>
              <a:t>掲載位置 main &gt; div.container &gt; div.row &gt; div.col-md-8.mb-5; 見出し「主な出展物」と直後のp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RPT-S05 Production Module v8.2 release</a:t>
            </a:r>
          </a:p>
          <a:p xmlns:a="http://schemas.openxmlformats.org/drawingml/2006/main">
            <a:r>
              <a:t>https://thirdwavesys.com/latest-news/production-module-v8-2-release/</a:t>
            </a:r>
          </a:p>
          <a:p xmlns:a="http://schemas.openxmlformats.org/drawingml/2006/main">
            <a:r>
              <a:t>掲載位置 工具たわみ・entry/exit feedrate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RPT002 西部商工 ACM ブース S3020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主軸負荷をリアルタイム監視し送りを自動調整。既存NCを変更せず導入する説明。負荷が変動する荒加工等が対象。</a:t>
            </a:r>
          </a:p>
          <a:p xmlns:a="http://schemas.openxmlformats.org/drawingml/2006/main">
            <a:r>
              <a:t>現地確認 制御周期・目標負荷、急変時の制限、時間短縮と工具寿命の両立。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RPT-EXH-2026-107042c6cf64ba96 西部商工株式会社 JIMTOF2026</a:t>
            </a:r>
          </a:p>
          <a:p xmlns:a="http://schemas.openxmlformats.org/drawingml/2006/main">
            <a:r>
              <a:t>https://www.jimtof.org/search/jp/ESdetails?e=OC6R-wdDduM</a:t>
            </a:r>
          </a:p>
          <a:p xmlns:a="http://schemas.openxmlformats.org/drawingml/2006/main">
            <a:r>
              <a:t>掲載位置 main &gt; div.container &gt; div.row &gt; div.col-md-8.mb-5; 見出し「主な出展物」と直後のp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RPT-EXH-2024-151b23d9e05ccb13 西部商工株式会社 JIMTOF2024</a:t>
            </a:r>
          </a:p>
          <a:p xmlns:a="http://schemas.openxmlformats.org/drawingml/2006/main">
            <a:r>
              <a:t>https://www.jimtof.org/2024/search/jp/ESdetails?e=YRTw8XJWi9g</a:t>
            </a:r>
          </a:p>
          <a:p xmlns:a="http://schemas.openxmlformats.org/drawingml/2006/main">
            <a:r>
              <a:t>掲載位置 main &gt; div.container &gt; div.row &gt; div.col-md-8.mb-5; 見出し「主な出展物」と直後のp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RPT006 ヤマザキマザック Ai Thermal Shield ブース E1001</a:t>
            </a:r>
          </a:p>
          <a:p xmlns:a="http://schemas.openxmlformats.org/drawingml/2006/main">
            <a:r>
              <a:t>既存製品資料／個別展示未確認</a:t>
            </a:r>
          </a:p>
          <a:p xmlns:a="http://schemas.openxmlformats.org/drawingml/2006/main">
            <a:r>
              <a:t>温度・主軸速度等を考慮し、加工後のワーク測定データを学習して熱変位オフセットを最適化するとの製品説明。</a:t>
            </a:r>
          </a:p>
          <a:p xmlns:a="http://schemas.openxmlformats.org/drawingml/2006/main">
            <a:r>
              <a:t>現地確認 学習に必要な測定・運転条件、再学習、対象展示機への搭載。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RPT-S03 Mazak Accuracy / Ai Thermal Shield</a:t>
            </a:r>
          </a:p>
          <a:p xmlns:a="http://schemas.openxmlformats.org/drawingml/2006/main">
            <a:r>
              <a:t>https://www.mazak.com/uk-en/technology/accuracy/</a:t>
            </a:r>
          </a:p>
          <a:p xmlns:a="http://schemas.openxmlformats.org/drawingml/2006/main">
            <a:r>
              <a:t>掲載位置 Ai Thermal Shield／Smooth Thermal Shield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EOV-V004-2024-1 JIMTOF2024公式カタログ：ヤマザキマザック株式会社 (E5001)</a:t>
            </a:r>
          </a:p>
          <a:p xmlns:a="http://schemas.openxmlformats.org/drawingml/2006/main">
            <a:r>
              <a:t>https://www.jimtof.org/2024/search/jp/ESdetails?e=q0OrZBKM3uQ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EOV-V004-2026-1 JIMTOF2026公式カタログ：ヤマザキマザック株式会社 (E1001)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EAT-N08 JIMTOF2026 Machines &amp; Automation Systems</a:t>
            </a:r>
          </a:p>
          <a:p xmlns:a="http://schemas.openxmlformats.org/drawingml/2006/main">
            <a:r>
              <a:t>https://www.mazak.com/jp-en/news-media/upcoming-events/jimtof2026/</a:t>
            </a:r>
          </a:p>
          <a:p xmlns:a="http://schemas.openxmlformats.org/drawingml/2006/main">
            <a:r>
              <a:t>掲載位置 Machines &amp; Automation Systems／Automation Systems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FC009 オークマ サーモフレンドリーコンセプト ブース E3028</a:t>
            </a:r>
          </a:p>
          <a:p xmlns:a="http://schemas.openxmlformats.org/drawingml/2006/main">
            <a:r>
              <a:t>熱変位制御を展示告知</a:t>
            </a:r>
          </a:p>
          <a:p xmlns:a="http://schemas.openxmlformats.org/drawingml/2006/main">
            <a:r>
              <a:t>熱変形を単純化する機械構造と熱変位制御を組み合わせる。2026告知のAI機能との対応は個別確認が必要。</a:t>
            </a:r>
          </a:p>
          <a:p xmlns:a="http://schemas.openxmlformats.org/drawingml/2006/main">
            <a:r>
              <a:t>現地確認 補正対象、環境・暖機条件、AIの入力と補正担当範囲。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RPT-S02 オークマ サーモフレンドリーコンセプト</a:t>
            </a:r>
          </a:p>
          <a:p xmlns:a="http://schemas.openxmlformats.org/drawingml/2006/main">
            <a:r>
              <a:t>https://www.okuma.co.jp/thermo-aniv/</a:t>
            </a:r>
          </a:p>
          <a:p xmlns:a="http://schemas.openxmlformats.org/drawingml/2006/main">
            <a:r>
              <a:t>掲載位置 サーモフレンドリーコンセプトの説明・沿革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RPT007 オークマ 加工ナビ M-i／M-gⅡ ブース E3028</a:t>
            </a:r>
          </a:p>
          <a:p xmlns:a="http://schemas.openxmlformats.org/drawingml/2006/main">
            <a:r>
              <a:t>既存製品資料／個別展示未確認</a:t>
            </a:r>
          </a:p>
          <a:p xmlns:a="http://schemas.openxmlformats.org/drawingml/2006/main">
            <a:r>
              <a:t>M-iは内蔵センサの振動から主軸速度を算出・変更。M-gⅡはマイクを使い速度候補を提示し、人が選択する。</a:t>
            </a:r>
          </a:p>
          <a:p xmlns:a="http://schemas.openxmlformats.org/drawingml/2006/main">
            <a:r>
              <a:t>現地確認 自動変更と推奨表示の差、対象加工・工具、制御の安定範囲。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RPT-S01 オークマ 加工ナビ</a:t>
            </a:r>
          </a:p>
          <a:p xmlns:a="http://schemas.openxmlformats.org/drawingml/2006/main">
            <a:r>
              <a:t>https://www.okuma.co.jp/solution_technology/process/</a:t>
            </a:r>
          </a:p>
          <a:p xmlns:a="http://schemas.openxmlformats.org/drawingml/2006/main">
            <a:r>
              <a:t>掲載位置 加工ナビ M-i／M-gⅡ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FC039 モリマシナリー ツールコラージュ／アナライザー ブース S3048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刃先画像で欠け・摩耗を判定・記録。別機能のアナライザーは摩耗履歴から寿命・交換時期を提案する。</a:t>
            </a:r>
          </a:p>
          <a:p xmlns:a="http://schemas.openxmlformats.org/drawingml/2006/main">
            <a:r>
              <a:t>現地確認 工具・材種別の必要履歴、汚れへの耐性、交換判断の責任分担。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EOV-V024-2024-1 JIMTOF2024公式カタログ：モリマシナリー株式会社 (S3017)</a:t>
            </a:r>
          </a:p>
          <a:p xmlns:a="http://schemas.openxmlformats.org/drawingml/2006/main">
            <a:r>
              <a:t>https://www.jimtof.org/2024/search/jp/ESdetails?e=yEoPl5sH6Sg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EOV-V024-2026-1 JIMTOF2026公式カタログ：モリマシナリー株式会社 (S3048)</a:t>
            </a:r>
          </a:p>
          <a:p xmlns:a="http://schemas.openxmlformats.org/drawingml/2006/main">
            <a:r>
              <a:t>https://www.jimtof.org/search/jp/ESdetails?e=ZvT3Lci-hnM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EDP-12 TOOL SOMMELIER／TOOL COLLAGE</a:t>
            </a:r>
          </a:p>
          <a:p xmlns:a="http://schemas.openxmlformats.org/drawingml/2006/main">
            <a:r>
              <a:t>https://mori-machinery.com/en/product/tool-sommelier?post_id=1066</a:t>
            </a:r>
          </a:p>
          <a:p xmlns:a="http://schemas.openxmlformats.org/drawingml/2006/main">
            <a:r>
              <a:t>掲載位置 刃先撮像・欠け摩耗自動検出／FAQの工具・径制約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EOV-W08 工具の欠け・摩耗・寿命を推定するAI研究発表</a:t>
            </a:r>
          </a:p>
          <a:p xmlns:a="http://schemas.openxmlformats.org/drawingml/2006/main">
            <a:r>
              <a:t>https://mori-machinery.com/wp-content/uploads/2023/06/%E7%86%9F%E7%B7%B4%E8%80%85%E3%81%AE%E7%B5%8C%E9%A8%93%E7%9F%A5%E3%82%92%E3%82%82%E3%81%A8%E3%81%AB%E5%88%87%E5%89%8A%E5%B7%A5%E5%85%B7%E3%81%AE%E6%AC%A0%E3%81%91%E3%83%BB%E6%91%A9%E8%80%97%E3%83%BB%E5%AF%BF%E5%91%BD%E3%82%92%E6%8E%A8%E5%AE%9A%E3%81%99%E3%82%8BAI%E3%82%92%E9%96%8B%E7%99%BA.pdf</a:t>
            </a:r>
          </a:p>
          <a:p xmlns:a="http://schemas.openxmlformats.org/drawingml/2006/main">
            <a:r>
              <a:t>掲載位置 2023年6月2日、成果と今後の展望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FC038 ハイデンハイン VT 122＋VTC 6.0 ブース E7043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ビジョンシステムVT 122とVTC 6.0によるAI摩耗診断・工具長計測を出展説明に記載。</a:t>
            </a:r>
          </a:p>
          <a:p xmlns:a="http://schemas.openxmlformats.org/drawingml/2006/main">
            <a:r>
              <a:t>現地確認 摩耗量・欠けの判定基準、撮像条件、測定後のCNC連携。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EOV-V023-2024-1 JIMTOF2024公式カタログ：ハイデンハイン株式会社 (E7123)</a:t>
            </a:r>
          </a:p>
          <a:p xmlns:a="http://schemas.openxmlformats.org/drawingml/2006/main">
            <a:r>
              <a:t>https://www.jimtof.org/2024/search/jp/ESdetails?e=GFSwCXSxe9o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EOV-V023-2026-1 JIMTOF2026公式カタログ：ハイデンハイン株式会社 (E7043)</a:t>
            </a:r>
          </a:p>
          <a:p xmlns:a="http://schemas.openxmlformats.org/drawingml/2006/main">
            <a:r>
              <a:t>https://www.jimtof.org/search/jp/ESdetails?e=iohDR5yR9VA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FC035 マーポス ARTIS／BLU／VTS ブース E7087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工具・機械・加工プロセスの監視と工具計測を組み合わせる。製品ごとの信号・判定・停止出力を比較する。</a:t>
            </a:r>
          </a:p>
          <a:p xmlns:a="http://schemas.openxmlformats.org/drawingml/2006/main">
            <a:r>
              <a:t>現地確認 破損検出と摩耗推定の差、監視閾値、停止・補正の出力先。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EOV-V020-2024-1 JIMTOF2024公式カタログ：マーポス株式会社 (E7107)</a:t>
            </a:r>
          </a:p>
          <a:p xmlns:a="http://schemas.openxmlformats.org/drawingml/2006/main">
            <a:r>
              <a:t>https://www.jimtof.org/2024/search/jp/ESdetails?e=K8FKaawJkn0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EOV-V020-2026-1 JIMTOF2026公式カタログ：マーポス株式会社 (E7087)</a:t>
            </a:r>
          </a:p>
          <a:p xmlns:a="http://schemas.openxmlformats.org/drawingml/2006/main">
            <a:r>
              <a:t>https://www.jimtof.org/search/jp/ESdetails?e=tThKOA-gm8s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FC033 レニショー Renishaw Central＋IPC ブース E7089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計測・装置状態等を集約し、IPCで工具オフセットや機械変数を更新。測定から加工補正までを接続する。</a:t>
            </a:r>
          </a:p>
          <a:p xmlns:a="http://schemas.openxmlformats.org/drawingml/2006/main">
            <a:r>
              <a:t>現地確認 補正ルール、対象CNC、外れ値の扱い、補正を止める条件。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EOV-V018-2024-1 JIMTOF2024公式カタログ：レニショー株式会社 (E7026)</a:t>
            </a:r>
          </a:p>
          <a:p xmlns:a="http://schemas.openxmlformats.org/drawingml/2006/main">
            <a:r>
              <a:t>https://www.jimtof.org/2024/search/jp/ESdetails?e=ekM3exgIAtc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EOV-V018-2026-1 JIMTOF2026公式カタログ：レニショー株式会社 (E7089)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EOV-W03 Renishaw Central データプラットフォーム</a:t>
            </a:r>
          </a:p>
          <a:p xmlns:a="http://schemas.openxmlformats.org/drawingml/2006/main">
            <a:r>
              <a:t>https://www.renishaw.com/jp/smart-manufacturing-data-platform-for-industrial-process-control--47853</a:t>
            </a:r>
          </a:p>
          <a:p xmlns:a="http://schemas.openxmlformats.org/drawingml/2006/main">
            <a:r>
              <a:t>掲載位置 メカニズム、現場でのクローズドループ、導入効果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FC036 HACARUS HACARUS Check ZERO ブース S1031</a:t>
            </a:r>
          </a:p>
          <a:p xmlns:a="http://schemas.openxmlformats.org/drawingml/2006/main">
            <a:r>
              <a:t>販売済み／展示予定</a:t>
            </a:r>
          </a:p>
          <a:p xmlns:a="http://schemas.openxmlformats.org/drawingml/2006/main">
            <a:r>
              <a:t>少量の良品画像との差で異常を検出。人が良品・不良品ラベルを追加し、見逃し・過検出を調整する。</a:t>
            </a:r>
          </a:p>
          <a:p xmlns:a="http://schemas.openxmlformats.org/drawingml/2006/main">
            <a:r>
              <a:t>現地確認 不良種類別の評価、追加学習後の再評価、撮像条件の許容差。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EOV-V021-2026-1 JIMTOF2026公式カタログ：株式会社ＨＡＣＡＲＵＳ (S1031)</a:t>
            </a:r>
          </a:p>
          <a:p xmlns:a="http://schemas.openxmlformats.org/drawingml/2006/main">
            <a:r>
              <a:t>https://www.jimtof.org/search/jp/ESdetails?e=oatArsOZ-Wc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EOV-W06 AI外観検査ソリューション HACARUS Check</a:t>
            </a:r>
          </a:p>
          <a:p xmlns:a="http://schemas.openxmlformats.org/drawingml/2006/main">
            <a:r>
              <a:t>https://hacarus.com/ja/technology/hacarus-check-series/</a:t>
            </a:r>
          </a:p>
          <a:p xmlns:a="http://schemas.openxmlformats.org/drawingml/2006/main">
            <a:r>
              <a:t>掲載位置 2026.04.06本文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EDP-14 Check ZERO正式販売開始</a:t>
            </a:r>
          </a:p>
          <a:p xmlns:a="http://schemas.openxmlformats.org/drawingml/2006/main">
            <a:r>
              <a:t>https://hacarus.com/ja/press-release/20250707-news/</a:t>
            </a:r>
          </a:p>
          <a:p xmlns:a="http://schemas.openxmlformats.org/drawingml/2006/main">
            <a:r>
              <a:t>掲載位置 2025/7/9販売／良品学習とアノテーション追加学習／判定UI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EDP-15 Checkシリーズ公式製品説明</a:t>
            </a:r>
          </a:p>
          <a:p xmlns:a="http://schemas.openxmlformats.org/drawingml/2006/main">
            <a:r>
              <a:t>https://check.hacarus.com/ja/</a:t>
            </a:r>
          </a:p>
          <a:p xmlns:a="http://schemas.openxmlformats.org/drawingml/2006/main">
            <a:r>
              <a:t>掲載位置 Check ZERO／デュアルチューニング／機器構成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ERF-05 Check ZERO公式ソフトウェア説明</a:t>
            </a:r>
          </a:p>
          <a:p xmlns:a="http://schemas.openxmlformats.org/drawingml/2006/main">
            <a:r>
              <a:t>https://check.hacarus.com/ja/aisoftware/</a:t>
            </a:r>
          </a:p>
          <a:p xmlns:a="http://schemas.openxmlformats.org/drawingml/2006/main">
            <a:r>
              <a:t>掲載位置 特徴／異常箇所表示・良否アノテーション追加学習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AC085 サイバーRC GH5 ブース E7074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機内3D画像で工具刃先を測り、目標とする幅・角度へホーニングを補正するとの出展説明。</a:t>
            </a:r>
          </a:p>
          <a:p xmlns:a="http://schemas.openxmlformats.org/drawingml/2006/main">
            <a:r>
              <a:t>現地確認 画像精度、補正量・収束条件、最終形状の合否判定。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EEX-EXH-2026-a0cbad27ea34d7c4 JIMTOF2026公式出展説明：株式会社サイバーRC (E7074)</a:t>
            </a:r>
          </a:p>
          <a:p xmlns:a="http://schemas.openxmlformats.org/drawingml/2006/main">
            <a:r>
              <a:t>https://www.jimtof.org/search/jp/ESdetails?e=8ealehgmk8o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EEX-EXH-2024-76ac534a229f7c29 JIMTOF2024公式出展説明：株式会社サイバーRC (W3046)</a:t>
            </a:r>
          </a:p>
          <a:p xmlns:a="http://schemas.openxmlformats.org/drawingml/2006/main">
            <a:r>
              <a:t>https://www.jimtof.org/2024/search/jp/ESdetails?e=wk2AEX5rHpw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EDP-02 GH5総合カタログ</a:t>
            </a:r>
          </a:p>
          <a:p xmlns:a="http://schemas.openxmlformats.org/drawingml/2006/main">
            <a:r>
              <a:t>https://cyber-rc.com/wp-content/uploads/2025/10/%E7%B7%8F%E5%90%88%E3%82%AB%E3%82%BF%E3%83%AD%E3%82%B0420-x-297-mm%E6%A8%AA%E4%B8%A6%E3%81%B3-.pdf</a:t>
            </a:r>
          </a:p>
          <a:p xmlns:a="http://schemas.openxmlformats.org/drawingml/2006/main">
            <a:r>
              <a:t>掲載位置 GRISTAR HONING 5 AXIS／幅・角度設定、Robot Eye、自動調整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FC049 TAKISAWA TR-20W ブース E3013</a:t>
            </a:r>
          </a:p>
          <a:p xmlns:a="http://schemas.openxmlformats.org/drawingml/2006/main">
            <a:r>
              <a:t>参考出品</a:t>
            </a:r>
          </a:p>
          <a:p xmlns:a="http://schemas.openxmlformats.org/drawingml/2006/main">
            <a:r>
              <a:t>絡まった切粉の状況を判断して除去するフィジカルAI搭載デモを予告。センサ・学習方式は非公開。</a:t>
            </a:r>
          </a:p>
          <a:p xmlns:a="http://schemas.openxmlformats.org/drawingml/2006/main">
            <a:r>
              <a:t>現地確認 絡まり方を変えた実演、除去完了の判定、失敗時の再試行。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EOV-V030-2024-1 JIMTOF2024公式カタログ：株式会社TAKISAWA (E3013)</a:t>
            </a:r>
          </a:p>
          <a:p xmlns:a="http://schemas.openxmlformats.org/drawingml/2006/main">
            <a:r>
              <a:t>https://www.jimtof.org/2024/search/jp/ESdetails?e=K00DRD-BngA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EOV-V030-2026-1 JIMTOF2026公式カタログ：株式会社TAKISAWA (E3013)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EAT-N01 JIMTOF2026 TR-20W</a:t>
            </a:r>
          </a:p>
          <a:p xmlns:a="http://schemas.openxmlformats.org/drawingml/2006/main">
            <a:r>
              <a:t>https://www.nidec.com/jp/products/machine-tools/contents/machine-tool-jimtof2026/</a:t>
            </a:r>
          </a:p>
          <a:p xmlns:a="http://schemas.openxmlformats.org/drawingml/2006/main">
            <a:r>
              <a:t>掲載位置 TR-20W：フィジカルAI搭載のロボットシステム（参考出品）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EAT-N02 MGC300開発発表</a:t>
            </a:r>
          </a:p>
          <a:p xmlns:a="http://schemas.openxmlformats.org/drawingml/2006/main">
            <a:r>
              <a:t>https://www.nidec.com/jp/product/news/2024/news1101-03/</a:t>
            </a:r>
          </a:p>
          <a:p xmlns:a="http://schemas.openxmlformats.org/drawingml/2006/main">
            <a:r>
              <a:t>掲載位置 2024年11月1日／MGC300の出展説明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AC146 東京エレクトロンデバイス 3D形状認識加工システム ブース E7073</a:t>
            </a:r>
          </a:p>
          <a:p xmlns:a="http://schemas.openxmlformats.org/drawingml/2006/main">
            <a:r>
              <a:t>共同ブースで展示予定</a:t>
            </a:r>
          </a:p>
          <a:p xmlns:a="http://schemas.openxmlformats.org/drawingml/2006/main">
            <a:r>
              <a:t>レーザースキャンした形状から加工軌道を生成。図面・パタン教示不要との説明。AI方式の利用は未確認。</a:t>
            </a:r>
          </a:p>
          <a:p xmlns:a="http://schemas.openxmlformats.org/drawingml/2006/main">
            <a:r>
              <a:t>現地確認 未登録形状の対応範囲、干渉確認、取り残しと加工品質。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EEX-EXH-2026-8c08de1ffed47316 JIMTOF2026公式出展説明：東京エレクトロンデバイス株式会社 (E7073)</a:t>
            </a:r>
          </a:p>
          <a:p xmlns:a="http://schemas.openxmlformats.org/drawingml/2006/main">
            <a:r>
              <a:t>https://www.jimtof.org/search/jp/ESdetails?e=c4cChQniAm8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EEX-WTED 企業公式の展示告知</a:t>
            </a:r>
          </a:p>
          <a:p xmlns:a="http://schemas.openxmlformats.org/drawingml/2006/main">
            <a:r>
              <a:t>https://www.inrevium.com/news-event/event/p7331/</a:t>
            </a:r>
          </a:p>
          <a:p xmlns:a="http://schemas.openxmlformats.org/drawingml/2006/main">
            <a:r>
              <a:t>掲載位置 展示会概要・出展製品／2026年5月13日の製品説明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FC005 ファナック 生成AIによるロボット駆動 ブース S2001</a:t>
            </a:r>
          </a:p>
          <a:p xmlns:a="http://schemas.openxmlformats.org/drawingml/2006/main">
            <a:r>
              <a:t>展示予定／詳細未公表</a:t>
            </a:r>
          </a:p>
          <a:p xmlns:a="http://schemas.openxmlformats.org/drawingml/2006/main">
            <a:r>
              <a:t>生成AIによるロボット駆動事例を予告。入力、動作生成、検証、実行の構成と対象作業は現地確認が必要。</a:t>
            </a:r>
          </a:p>
          <a:p xmlns:a="http://schemas.openxmlformats.org/drawingml/2006/main">
            <a:r>
              <a:t>現地確認 既知・未知条件への対応、AI担当処理、成功率と介入条件。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EOV-V002-2024-1 JIMTOF2024公式カタログ：ファナック株式会社 (S2001)</a:t>
            </a:r>
          </a:p>
          <a:p xmlns:a="http://schemas.openxmlformats.org/drawingml/2006/main">
            <a:r>
              <a:t>https://www.jimtof.org/2024/search/jp/ESdetails?e=N0RgOmmcwZw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EOV-V002-2026-1 JIMTOF2026公式カタログ：ファナック株式会社 (S2001)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FC002 DMG森精機 MATRIS WPH 210 ブース E8005</a:t>
            </a:r>
          </a:p>
          <a:p xmlns:a="http://schemas.openxmlformats.org/drawingml/2006/main">
            <a:r>
              <a:t>日本初公開予定</a:t>
            </a:r>
          </a:p>
          <a:p xmlns:a="http://schemas.openxmlformats.org/drawingml/2006/main">
            <a:r>
              <a:t>ワークとパレットの両方を供給するシステム。品種・ロットの変化に応じた供給と切替えが比較点。</a:t>
            </a:r>
          </a:p>
          <a:p xmlns:a="http://schemas.openxmlformats.org/drawingml/2006/main">
            <a:r>
              <a:t>現地確認 ワーク・治具の事前準備、切替え手順、無人継続を妨げる作業。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EOV-V001-2024-1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FC048 中村留精密工業 RoboSync ブース E2027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移設後にマーカーを読み、工作機械との相対位置を補正。既存パレット・台車を利用する省スペース構成。</a:t>
            </a:r>
          </a:p>
          <a:p xmlns:a="http://schemas.openxmlformats.org/drawingml/2006/main">
            <a:r>
              <a:t>現地確認 再教示の残作業、位置誤差の許容範囲、品種変更時の設定。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EOV-V029-2024-1 JIMTOF2024公式カタログ：中村留精密工業株式会社 (E5033)</a:t>
            </a:r>
          </a:p>
          <a:p xmlns:a="http://schemas.openxmlformats.org/drawingml/2006/main">
            <a:r>
              <a:t>https://www.jimtof.org/2024/search/jp/ESdetails?e=RYK326OoMn4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EOV-V029-2026-1 JIMTOF2026公式カタログ：中村留精密工業株式会社 (E2027)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EOV-W04 RoboSync</a:t>
            </a:r>
          </a:p>
          <a:p xmlns:a="http://schemas.openxmlformats.org/drawingml/2006/main">
            <a:r>
              <a:t>https://www.nakamura-tome.co.jp/products/automation/robosync/</a:t>
            </a:r>
          </a:p>
          <a:p xmlns:a="http://schemas.openxmlformats.org/drawingml/2006/main">
            <a:r>
              <a:t>掲載位置 製品の特長 &gt; 簡単復旧、簡単操作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FC008 オークマ ARMROID／OMR20 ブース E3028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機内組込みのARMROIDと、機械脇へ配置するOMR20を出展。設置方式と段取り負担を比較する。</a:t>
            </a:r>
          </a:p>
          <a:p xmlns:a="http://schemas.openxmlformats.org/drawingml/2006/main">
            <a:r>
              <a:t>現地確認 担当作業、品種切替え、安全領域、停止後の復帰手順。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EOV-V003-2024-1 JIMTOF2024公式カタログ：オークマ株式会社 (E6048)</a:t>
            </a:r>
          </a:p>
          <a:p xmlns:a="http://schemas.openxmlformats.org/drawingml/2006/main">
            <a:r>
              <a:t>https://www.jimtof.org/2024/search/jp/ESdetails?e=iFfGVH0vPS8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EOV-V003-2026-1 JIMTOF2026公式カタログ：オークマ株式会社 (E3028)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FC004 DMG森精機 Condition Agent ブース E8005</a:t>
            </a:r>
          </a:p>
          <a:p xmlns:a="http://schemas.openxmlformats.org/drawingml/2006/main">
            <a:r>
              <a:t>提供開始／個別展示未確認</a:t>
            </a:r>
          </a:p>
          <a:p xmlns:a="http://schemas.openxmlformats.org/drawingml/2006/main">
            <a:r>
              <a:t>診断専用NCを実行してデータを取得し、クラウドで分析。2026年4月受注分から対象機へ標準搭載する説明。</a:t>
            </a:r>
          </a:p>
          <a:p xmlns:a="http://schemas.openxmlformats.org/drawingml/2006/main">
            <a:r>
              <a:t>現地確認 診断対象部位、通常運転ログとの差、異常判定後の保全手順。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EOV-V001-2024-1 JIMTOF2024公式カタログ：DMG森精機株式会社 (E8001)</a:t>
            </a:r>
          </a:p>
          <a:p xmlns:a="http://schemas.openxmlformats.org/drawingml/2006/main">
            <a:r>
              <a:t>https://www.jimtof.org/2024/search/jp/ESdetails?e=lOXEEpvlXpM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EOV-V001-2026-1 JIMTOF2026公式カタログ：DMG森精機株式会社 (E8005)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EAT-N07 Condition Agent 提供開始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2026/07/06本文・主な特長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Q26 CELOS ClubにCondition Agentを搭載</a:t>
            </a:r>
          </a:p>
          <a:p xmlns:a="http://schemas.openxmlformats.org/drawingml/2006/main">
            <a:r>
              <a:t>https://www.dmgmori.co.jp/corporate/news/2026/20260706_conditionagent.html</a:t>
            </a:r>
          </a:p>
          <a:p xmlns:a="http://schemas.openxmlformats.org/drawingml/2006/main">
            <a:r>
              <a:t>掲載位置 Condition Agentの診断方法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AC225 ムラテックCCS プライマリドクタサービス ブース E3031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稼働中の電流・振動等を新品状態と比較し劣化・異常を診断するとの説明。</a:t>
            </a:r>
          </a:p>
          <a:p xmlns:a="http://schemas.openxmlformats.org/drawingml/2006/main">
            <a:r>
              <a:t>現地確認 負荷・加工条件の違いの補正、故障モード別の検知性能。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EEX-EXH-2026-308c5194f12fe009 JIMTOF2026公式出展説明：ムラテックＣＣＳ株式会社 (E3031)</a:t>
            </a:r>
          </a:p>
          <a:p xmlns:a="http://schemas.openxmlformats.org/drawingml/2006/main">
            <a:r>
              <a:t>https://www.jimtof.org/search/jp/ESdetails?e=Z_SbvK_hxBY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EEX-EXH-2024-b0a94c1cd407ea8a JIMTOF2024公式出展説明：ムラテックCCS株式会社 (E6019)</a:t>
            </a:r>
          </a:p>
          <a:p xmlns:a="http://schemas.openxmlformats.org/drawingml/2006/main">
            <a:r>
              <a:t>https://www.jimtof.org/2024/search/jp/ESdetails?e=2N7pXq5Aehs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EDP-13 AIを用いた故障診断</a:t>
            </a:r>
          </a:p>
          <a:p xmlns:a="http://schemas.openxmlformats.org/drawingml/2006/main">
            <a:r>
              <a:t>https://www.muratec.jp/company/ti/rd/detail.php?id=7540</a:t>
            </a:r>
          </a:p>
          <a:p xmlns:a="http://schemas.openxmlformats.org/drawingml/2006/main">
            <a:r>
              <a:t>掲載位置 電流・振動を新品データと比較／補正入力回数・軸負荷による劣化判定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FC013 ベッコフ TwinCAT CoAgent for Operations ブース E2028</a:t>
            </a:r>
          </a:p>
          <a:p xmlns:a="http://schemas.openxmlformats.org/drawingml/2006/main">
            <a:r>
              <a:t>製品発表／投入時期要問合せ</a:t>
            </a:r>
          </a:p>
          <a:p xmlns:a="http://schemas.openxmlformats.org/drawingml/2006/main">
            <a:r>
              <a:t>ライブデータ、ログ、保守文書から原因仮説・対処案を生成。コマンド実行も説明するが権限範囲は未公開。</a:t>
            </a:r>
          </a:p>
          <a:p xmlns:a="http://schemas.openxmlformats.org/drawingml/2006/main">
            <a:r>
              <a:t>現地確認 原因の裏付け、実行可能な命令、人の承認、失敗時の復旧。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EAT-N04 CoAgent for Operations TF1700</a:t>
            </a:r>
          </a:p>
          <a:p xmlns:a="http://schemas.openxmlformats.org/drawingml/2006/main">
            <a:r>
              <a:t>https://www.beckhoff.com/ko-kr/products/automation/twincat/tfxxxx-twincat-3-functions/tf1xxx-system/tf1700.html</a:t>
            </a:r>
          </a:p>
          <a:p xmlns:a="http://schemas.openxmlformats.org/drawingml/2006/main">
            <a:r>
              <a:t>掲載位置 Properties／Product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ERF-02 TF1700 CoAgent for Operations</a:t>
            </a:r>
          </a:p>
          <a:p xmlns:a="http://schemas.openxmlformats.org/drawingml/2006/main">
            <a:r>
              <a:t>https://www.beckhoff.com/en-en/products/automation/twincat/tfxxxx-twincat-3-functions/tf1xxx-system/tf1700.html</a:t>
            </a:r>
          </a:p>
          <a:p xmlns:a="http://schemas.openxmlformats.org/drawingml/2006/main">
            <a:r>
              <a:t>掲載位置 Properties／direct system access；Product status／market release on request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FC027 ものレボ MonoRevo ブース W3042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工程設計・計画・進捗をまとめて管理し、自動スケジューリングを支援。AIの担当処理は未確認。</a:t>
            </a:r>
          </a:p>
          <a:p xmlns:a="http://schemas.openxmlformats.org/drawingml/2006/main">
            <a:r>
              <a:t>現地確認 設備・作業者・工具の制約、割込時の再計画、計画の確定者。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EOV-V014-2026-1 JIMTOF2026公式カタログ：ものレボ株式会社 (W3042)</a:t>
            </a:r>
          </a:p>
          <a:p xmlns:a="http://schemas.openxmlformats.org/drawingml/2006/main">
            <a:r>
              <a:t>https://www.jimtof.org/search/jp/ESdetails?e=sccKfxE4bYo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FC026 Smart Craft Smart Craft MES ブース S3002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作業記録、指示、履歴を一元管理し外部システムとAPI連携。自動最適計画の実装とは分けて扱う。</a:t>
            </a:r>
          </a:p>
          <a:p xmlns:a="http://schemas.openxmlformats.org/drawingml/2006/main">
            <a:r>
              <a:t>現地確認 設備実績との接続、計画系との更新周期、現場入力の負担。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EOV-V013-2026-1 JIMTOF2026公式カタログ：株式会社Smart Craft (S3002)</a:t>
            </a:r>
          </a:p>
          <a:p xmlns:a="http://schemas.openxmlformats.org/drawingml/2006/main">
            <a:r>
              <a:t>https://www.jimtof.org/search/jp/ESdetails?e=WqjRB6DEqN0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AC295 WinTool WinTool ブース E1049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工具情報と現物・工程資源を連携し、在庫ルールに基づく購買要求を扱う。</a:t>
            </a:r>
          </a:p>
          <a:p xmlns:a="http://schemas.openxmlformats.org/drawingml/2006/main">
            <a:r>
              <a:t>現地確認 計画に必要な工具可用性、CAM・プリセット・在庫の対応。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EEX-EXH-2026-4fb92ba6b82546d7 JIMTOF2026公式出展説明：WinTool AG (E1049)</a:t>
            </a:r>
          </a:p>
          <a:p xmlns:a="http://schemas.openxmlformats.org/drawingml/2006/main">
            <a:r>
              <a:t>https://www.jimtof.org/search/jp/ESdetails?e=sSFZV23clJo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EEX-EXH-2024-3f1fa1966a57e011 JIMTOF2024公式出展説明：WinTool AG (E5003)</a:t>
            </a:r>
          </a:p>
          <a:p xmlns:a="http://schemas.openxmlformats.org/drawingml/2006/main">
            <a:r>
              <a:t>https://www.jimtof.org/2024/search/jp/ESdetails?e=-n22F1d_CDc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EDP-18 ERP Integration</a:t>
            </a:r>
          </a:p>
          <a:p xmlns:a="http://schemas.openxmlformats.org/drawingml/2006/main">
            <a:r>
              <a:t>https://www.wintool.com/en/tool-management-software/cnc-inventory-manager/erp-integration</a:t>
            </a:r>
          </a:p>
          <a:p xmlns:a="http://schemas.openxmlformats.org/drawingml/2006/main">
            <a:r>
              <a:t>掲載位置 最低在庫で購買要求を生成し、管理者承認後にERPへ自動送信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EDP-19 CNC Process Manager</a:t>
            </a:r>
          </a:p>
          <a:p xmlns:a="http://schemas.openxmlformats.org/drawingml/2006/main">
            <a:r>
              <a:t>https://www.wintool.com/software/cnc-prozessverwaltung</a:t>
            </a:r>
          </a:p>
          <a:p xmlns:a="http://schemas.openxmlformats.org/drawingml/2006/main">
            <a:r>
              <a:t>掲載位置 工具積卸リスト・在庫確認・プリセッター指示・NCと測定値の転送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FC011 ベッコフ TwinCAT CoAgent for Engineering ブース E2028</a:t>
            </a:r>
          </a:p>
          <a:p xmlns:a="http://schemas.openxmlformats.org/drawingml/2006/main">
            <a:r>
              <a:t>展示告知＋製品資料</a:t>
            </a:r>
          </a:p>
          <a:p xmlns:a="http://schemas.openxmlformats.org/drawingml/2006/main">
            <a:r>
              <a:t>要求と既存プロジェクトの文脈に基づきPLCコード案を提案。人が確認し制御プロジェクトへ採用する。</a:t>
            </a:r>
          </a:p>
          <a:p xmlns:a="http://schemas.openxmlformats.org/drawingml/2006/main">
            <a:r>
              <a:t>現地確認 既存コード・ライブラリの参照、生成コードの検証と採用手順。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掲載位置 Features／Product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掲載位置 2025/6/13／Placing people at the heart of automation；PLC・I/O・HMI、専門家がreview・confirm・approve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FC012 ベッコフ TwinCAT CoAgent for Engineering ブース E2028</a:t>
            </a:r>
          </a:p>
          <a:p xmlns:a="http://schemas.openxmlformats.org/drawingml/2006/main">
            <a:r>
              <a:t>展示告知＋製品資料</a:t>
            </a:r>
          </a:p>
          <a:p xmlns:a="http://schemas.openxmlformats.org/drawingml/2006/main">
            <a:r>
              <a:t>I/O構成とHMI生成・操作を支援。PLCコード生成と同じ製品内でも対象成果物を分けて確認する。</a:t>
            </a:r>
          </a:p>
          <a:p xmlns:a="http://schemas.openxmlformats.org/drawingml/2006/main">
            <a:r>
              <a:t>現地確認 要件からの構成生成、変更整合性、実機接続前の検証。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EAT-N03 CoAgent for Engineering TE1700</a:t>
            </a:r>
          </a:p>
          <a:p xmlns:a="http://schemas.openxmlformats.org/drawingml/2006/main">
            <a:r>
              <a:t>https://www.beckhoff.com/ko-kr/products/automation/twincat/texxxx-twincat-3-engineering/te1700.html</a:t>
            </a:r>
          </a:p>
          <a:p xmlns:a="http://schemas.openxmlformats.org/drawingml/2006/main">
            <a:r>
              <a:t>掲載位置 Features／Product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EAT-N05 TwinCAT projects with AI-assisted engineering</a:t>
            </a:r>
          </a:p>
          <a:p xmlns:a="http://schemas.openxmlformats.org/drawingml/2006/main">
            <a:r>
              <a:t>https://www.beckhoff.com/ko-kr/products/automation/twincat-projects-with-ai-supported-engineering/</a:t>
            </a:r>
          </a:p>
          <a:p xmlns:a="http://schemas.openxmlformats.org/drawingml/2006/main">
            <a:r>
              <a:t>掲載位置 CoAgents for development and machine operation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EDP-03 TwinCAT Chat発表</a:t>
            </a:r>
          </a:p>
          <a:p xmlns:a="http://schemas.openxmlformats.org/drawingml/2006/main">
            <a:r>
              <a:t>https://www.beckhoff.com/en-en/company/press/twincat-chat-using-innovative-chatbot-technology-in-twincat-engineering-2023-04.html</a:t>
            </a:r>
          </a:p>
          <a:p xmlns:a="http://schemas.openxmlformats.org/drawingml/2006/main">
            <a:r>
              <a:t>掲載位置 TwinCAT XAE／コード作成・追加・最適化・文書化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ERF-01 From chatbot to intelligent agent</a:t>
            </a:r>
          </a:p>
          <a:p xmlns:a="http://schemas.openxmlformats.org/drawingml/2006/main">
            <a:r>
              <a:t>https://www.beckhoff.com/en-gb/company/news/from-chatbot-to-intelligent-agent.html</a:t>
            </a:r>
          </a:p>
          <a:p xmlns:a="http://schemas.openxmlformats.org/drawingml/2006/main">
            <a:r>
              <a:t>掲載位置 2025/6/13／Placing people at the heart of automation；PLC・I/O・HMI、専門家がreview・confirm・approve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FC017 EPLAN Eplan Copilot ブース S1067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設計の文脈に応じた回答・推奨・手順を生成。設計データをどこまで自動作成するかを確認する。</a:t>
            </a:r>
          </a:p>
          <a:p xmlns:a="http://schemas.openxmlformats.org/drawingml/2006/main">
            <a:r>
              <a:t>現地確認 回答支援と設計変更の範囲、標準回路・部品DBの利用。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EOV-V006-2024-1 JIMTOF2024公式カタログ：EPLAN株式会社 (E2033)</a:t>
            </a:r>
          </a:p>
          <a:p xmlns:a="http://schemas.openxmlformats.org/drawingml/2006/main">
            <a:r>
              <a:t>https://www.jimtof.org/2024/search/jp/ESdetails?e=50efK4rQsHs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EOV-V006-2026-1 JIMTOF2026公式カタログ：EPLAN株式会社 (S1067)</a:t>
            </a:r>
          </a:p>
          <a:p xmlns:a="http://schemas.openxmlformats.org/drawingml/2006/main">
            <a:r>
              <a:t>https://www.jimtof.org/search/jp/ESdetails?e=FHsQAvmFusY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EAT-N06 Eplan Copilot</a:t>
            </a:r>
          </a:p>
          <a:p xmlns:a="http://schemas.openxmlformats.org/drawingml/2006/main">
            <a:r>
              <a:t>https://www.eplan.com/us-en/about-us/innovations/eplan-copilot/</a:t>
            </a:r>
          </a:p>
          <a:p xmlns:a="http://schemas.openxmlformats.org/drawingml/2006/main">
            <a:r>
              <a:t>掲載位置 Based on a described task／Looking ahead／conceptual phase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出展予定と製品資料を照合。個別展示未確認の機能は明示。製品版・性能・人の介入は現地確認。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FC014 ベッコフ TwinCAT Machine Learning Creator ブース E2028</a:t>
            </a:r>
          </a:p>
          <a:p xmlns:a="http://schemas.openxmlformats.org/drawingml/2006/main">
            <a:r>
              <a:t>展示予定／既存基盤</a:t>
            </a:r>
          </a:p>
          <a:p xmlns:a="http://schemas.openxmlformats.org/drawingml/2006/main">
            <a:r>
              <a:t>人が用意したデータから学習・モデル選択・評価を支援。ONNX等で出力し、制御側へ実装する。</a:t>
            </a:r>
          </a:p>
          <a:p xmlns:a="http://schemas.openxmlformats.org/drawingml/2006/main">
            <a:r>
              <a:t>現地確認 必要データ・ラベル、推論周期、更新時の評価・差戻し。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EOV-V005-2026-1 JIMTOF2026公式カタログ：ベッコフオートメーション株式会社 (E2028)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>掲載位置 main &gt; div.col-md-8.mb-5 の出展紹介、見出し「主な出展物」直後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EOV-W01 TwinCAT 3 Machine Learning Creator</a:t>
            </a:r>
          </a:p>
          <a:p xmlns:a="http://schemas.openxmlformats.org/drawingml/2006/main">
            <a:r>
              <a:t>https://www.beckhoff.com/en-za/products/automation/twincat/texxxx-twincat-3-engineering/te3850.html</a:t>
            </a:r>
          </a:p>
          <a:p xmlns:a="http://schemas.openxmlformats.org/drawingml/2006/main">
            <a:r>
              <a:t>掲載位置 製品説明冒頭、Product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EDP-04 PC Control 02/2024：Machine Learning Creator</a:t>
            </a:r>
          </a:p>
          <a:p xmlns:a="http://schemas.openxmlformats.org/drawingml/2006/main">
            <a:r>
              <a:t>https://www.beckhoff.com/media/downloads/information-media/pc-control/pcc_0224_e.pdf</a:t>
            </a:r>
          </a:p>
          <a:p xmlns:a="http://schemas.openxmlformats.org/drawingml/2006/main">
            <a:r>
              <a:t>掲載位置 TE3850／訓練・テストデータ分割、モデル解析、ONNX出力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AC098 シーメンス Digital Thread／工作機械ツイン ブース E3006</a:t>
            </a:r>
          </a:p>
          <a:p xmlns:a="http://schemas.openxmlformats.org/drawingml/2006/main">
            <a:r>
              <a:t>展示予定</a:t>
            </a:r>
          </a:p>
          <a:p xmlns:a="http://schemas.openxmlformats.org/drawingml/2006/main">
            <a:r>
              <a:t>SINUMERIK ONEを搭載したHeller Toknの工作機械ツインと、Equatorによる工程内品質保証を実演予定。</a:t>
            </a:r>
          </a:p>
          <a:p xmlns:a="http://schemas.openxmlformats.org/drawingml/2006/main">
            <a:r>
              <a:t>現地確認 設計変更・加工条件・測定結果のデータ対応と更新の自動化。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EEX-EXH-2026-9b991dd8132f51dc JIMTOF2026公式出展説明：シーメンス株式会社 (E3006)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EEX-EXH-2024-558faea07a73f5d8 JIMTOF2024公式出展説明：シーメンス株式会社 (E5008)</a:t>
            </a:r>
          </a:p>
          <a:p xmlns:a="http://schemas.openxmlformats.org/drawingml/2006/main">
            <a:r>
              <a:t>https://www.jimtof.org/2024/search/jp/ESdetails?e=nYvFR1vpbuE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EDP-16 HELLER Toknとデジタルツインの訓練事例</a:t>
            </a:r>
          </a:p>
          <a:p xmlns:a="http://schemas.openxmlformats.org/drawingml/2006/main">
            <a:r>
              <a:t>https://references.siemens.com/en/reference/heller-tokn-digital-twin?id=41137</a:t>
            </a:r>
          </a:p>
          <a:p xmlns:a="http://schemas.openxmlformats.org/drawingml/2006/main">
            <a:r>
              <a:t>掲載位置 Completion: 2024／仮想SINUMERIK ONEと3D機械モデルによる訓練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EDP-17 Humanoidとの工場内物流の運用試験</a:t>
            </a:r>
          </a:p>
          <a:p xmlns:a="http://schemas.openxmlformats.org/drawingml/2006/main">
            <a:r>
              <a:t>https://press.siemens.com/jp/ja/pressrelease/pr-20260416</a:t>
            </a:r>
          </a:p>
          <a:p xmlns:a="http://schemas.openxmlformats.org/drawingml/2006/main">
            <a:r>
              <a:t>掲載位置 HMND 01 Alphaのトート把持・搬送・配置／Jetson Thor・Isaac Sim/Lab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AC273 NdotLight TRINIX ブース S4004</a:t>
            </a:r>
          </a:p>
          <a:p xmlns:a="http://schemas.openxmlformats.org/drawingml/2006/main">
            <a:r>
              <a:t>展示予定／実機精度未検証</a:t>
            </a:r>
          </a:p>
          <a:p xmlns:a="http://schemas.openxmlformats.org/drawingml/2006/main">
            <a:r>
              <a:t>CAD等から形状・関節・物理属性を生成し、USD／URDF／MJCF等へ出力するとの説明。</a:t>
            </a:r>
          </a:p>
          <a:p xmlns:a="http://schemas.openxmlformats.org/drawingml/2006/main">
            <a:r>
              <a:t>現地確認 質量・摩擦の実測と推定の区別、生成物の検証、実機との差。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EEX-EXH-2026-016097f87d1914b2 JIMTOF2026公式出展説明：NdotLight Co., Ltd. (S4004)</a:t>
            </a:r>
          </a:p>
          <a:p xmlns:a="http://schemas.openxmlformats.org/drawingml/2006/main">
            <a:r>
              <a:t>https://www.jimtof.org/search/jp/ESdetails?e=6Ds1v9hxvrY</a:t>
            </a:r>
          </a:p>
          <a:p xmlns:a="http://schemas.openxmlformats.org/drawingml/2006/main">
            <a:r>
              <a:t>掲載位置 出展紹介・主な出展物。追加カードの原典抜粋で検索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EEX-WNDOT TRINIX：Physical AI向け3Dデータの企業公式説明</a:t>
            </a:r>
          </a:p>
          <a:p xmlns:a="http://schemas.openxmlformats.org/drawingml/2006/main">
            <a:r>
              <a:t>https://ndotlight.com/newsroom/ndotlight-proposes-a-new-3d-data-standard-for-the-physical-ai-era-with-trinix</a:t>
            </a:r>
          </a:p>
          <a:p xmlns:a="http://schemas.openxmlformats.org/drawingml/2006/main">
            <a:r>
              <a:t>掲載位置 展示会概要・出展製品／2026年5月13日の製品説明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ERF-06 TRINIX：物理属性生成と自己修正</a:t>
            </a:r>
          </a:p>
          <a:p xmlns:a="http://schemas.openxmlformats.org/drawingml/2006/main">
            <a:r>
              <a:t>https://ndotlight.com/</a:t>
            </a:r>
          </a:p>
          <a:p xmlns:a="http://schemas.openxmlformats.org/drawingml/2006/main">
            <a:r>
              <a:t>掲載位置 Physics Injection／Self-corrective Closed Loop／FAQ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ERF-07 SimReady FAQ：静的検証と実行時検証</a:t>
            </a:r>
          </a:p>
          <a:p xmlns:a="http://schemas.openxmlformats.org/drawingml/2006/main">
            <a:r>
              <a:t>https://docs.omniverse.nvidia.com/simready/latest/simready-faq.html</a:t>
            </a:r>
          </a:p>
          <a:p xmlns:a="http://schemas.openxmlformats.org/drawingml/2006/main">
            <a:r>
              <a:t>掲載位置 What Is the Difference…Foundation；How Do I Validate My Composed Scene…（L526–538）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ERF-08 SimReady Physics Best Practices</a:t>
            </a:r>
          </a:p>
          <a:p xmlns:a="http://schemas.openxmlformats.org/drawingml/2006/main">
            <a:r>
              <a:t>https://docs.omniverse.nvidia.com/simready/latest/simready-asset-creation/physics-best-practices.html</a:t>
            </a:r>
          </a:p>
          <a:p xmlns:a="http://schemas.openxmlformats.org/drawingml/2006/main">
            <a:r>
              <a:t>掲載位置 Typical USDPhysics Components／Collider、Mass、materialの摩擦・密度・反発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ERF-09 DexBench共同開発の告知</a:t>
            </a:r>
          </a:p>
          <a:p xmlns:a="http://schemas.openxmlformats.org/drawingml/2006/main">
            <a:r>
              <a:t>https://ndotlight.com/newsroom/ndotlight-to-co-develop-dexbench-a-global-standard-for-humanoid-evaluation-with-nvidia-and-rlwrld</a:t>
            </a:r>
          </a:p>
          <a:p xmlns:a="http://schemas.openxmlformats.org/drawingml/2006/main">
            <a:r>
              <a:t>掲載位置 2026/8/7／SimReady環境・操作評価・sim-to-real gap低減の共同開発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本調査の作業定義であり、業界統一規格ではない。TR-20W・3D形状認識加工・ファナックの違いはT06を参照。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Q07 ファナック 安部健一郎氏の取材発言</a:t>
            </a:r>
          </a:p>
          <a:p xmlns:a="http://schemas.openxmlformats.org/drawingml/2006/main">
            <a:r>
              <a:t>MONOist ファナックとフィジカルAI、現場主義の開発思想 2026-07-02</a:t>
            </a:r>
          </a:p>
          <a:p xmlns:a="http://schemas.openxmlformats.org/drawingml/2006/main">
            <a:r>
              <a:t>https://monoist.itmedia.co.jp/mn/articles/2607/02/news043.html</a:t>
            </a:r>
          </a:p>
          <a:p xmlns:a="http://schemas.openxmlformats.org/drawingml/2006/main">
            <a:r>
              <a:t>掲載位置 1頁 やりたいことの結果がフィジカルAIだった</a:t>
            </a:r>
          </a:p>
          <a:p xmlns:a="http://schemas.openxmlformats.org/drawingml/2006/main">
            <a:r>
              <a:t>原文抜粋 周囲の環境を見て確認し、いろいろな演算をAIが行う</a:t>
            </a:r>
          </a:p>
          <a:p xmlns:a="http://schemas.openxmlformats.org/drawingml/2006/main">
            <a:r>
              <a:t>文脈の要約 決められた反復動作に対し、環境を確認してAIの演算を用いるソリューションを説明する。</a:t>
            </a:r>
          </a:p>
          <a:p xmlns:a="http://schemas.openxmlformats.org/drawingml/2006/main">
            <a:r>
              <a:t>留保 正式な業界規格の定義ではない。どの変化にどこまで対応できるかは個別に調べる。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Q41 NVIDIA公式教材</a:t>
            </a:r>
          </a:p>
          <a:p xmlns:a="http://schemas.openxmlformats.org/drawingml/2006/main">
            <a:r>
              <a:t>NVIDIA NVIDIA Physical AI学習教材 未記載</a:t>
            </a:r>
          </a:p>
          <a:p xmlns:a="http://schemas.openxmlformats.org/drawingml/2006/main">
            <a:r>
              <a:t>https://docs.nvidia.com/learning/physical-ai/sim-to-real-so-101/latest/01-overview.html</a:t>
            </a:r>
          </a:p>
          <a:p xmlns:a="http://schemas.openxmlformats.org/drawingml/2006/main">
            <a:r>
              <a:t>掲載位置 What Is Physical AI? の4項目目</a:t>
            </a:r>
          </a:p>
          <a:p xmlns:a="http://schemas.openxmlformats.org/drawingml/2006/main">
            <a:r>
              <a:t>原文抜粋 Adapt to the unpredictability of real environments</a:t>
            </a:r>
          </a:p>
          <a:p xmlns:a="http://schemas.openxmlformats.org/drawingml/2006/main">
            <a:r>
              <a:t>文脈の要約 知覚、物理・空間の理解、実行、環境の変動への適応を説明する。</a:t>
            </a:r>
          </a:p>
          <a:p xmlns:a="http://schemas.openxmlformats.org/drawingml/2006/main">
            <a:r>
              <a:t>留保 教材の能力整理。工業用システムの性能証明ではない。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原文の連続部分を抜粋。開発構想・研究方針の表明を、製品性能や展示での達成証明とは扱わない。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Q05 MONOistの記者説明。マザック共同開発を取材</a:t>
            </a:r>
          </a:p>
          <a:p xmlns:a="http://schemas.openxmlformats.org/drawingml/2006/main">
            <a:r>
              <a:t>MONOist 加工の工程設計をAIエージェントで自動化 2026-10-19</a:t>
            </a:r>
          </a:p>
          <a:p xmlns:a="http://schemas.openxmlformats.org/drawingml/2006/main">
            <a:r>
              <a:t>https://monoist.itmedia.co.jp/mn/articles/2610/19/news039_2.html</a:t>
            </a:r>
          </a:p>
          <a:p xmlns:a="http://schemas.openxmlformats.org/drawingml/2006/main">
            <a:r>
              <a:t>掲載位置 後編 MAZATROLとGコードを比較する段落</a:t>
            </a:r>
          </a:p>
          <a:p xmlns:a="http://schemas.openxmlformats.org/drawingml/2006/main">
            <a:r>
              <a:t>原文抜粋 「何をどのように加工したいのか」という作業者の意図や目的</a:t>
            </a:r>
          </a:p>
          <a:p xmlns:a="http://schemas.openxmlformats.org/drawingml/2006/main">
            <a:r>
              <a:t>文脈の要約 対話プログラムの加工意図と判断結果を学習する方式を説明する。</a:t>
            </a:r>
          </a:p>
          <a:p xmlns:a="http://schemas.openxmlformats.org/drawingml/2006/main">
            <a:r>
              <a:t>留保 記者の説明からの抜粋で、発言者の直接発言ではない。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Q07 ファナック 安部健一郎氏の取材発言</a:t>
            </a:r>
          </a:p>
          <a:p xmlns:a="http://schemas.openxmlformats.org/drawingml/2006/main">
            <a:r>
              <a:t>MONOist ファナックとフィジカルAI、現場主義の開発思想 2026-07-02</a:t>
            </a:r>
          </a:p>
          <a:p xmlns:a="http://schemas.openxmlformats.org/drawingml/2006/main">
            <a:r>
              <a:t>https://monoist.itmedia.co.jp/mn/articles/2607/02/news043.html</a:t>
            </a:r>
          </a:p>
          <a:p xmlns:a="http://schemas.openxmlformats.org/drawingml/2006/main">
            <a:r>
              <a:t>掲載位置 1頁 やりたいことの結果がフィジカルAIだった</a:t>
            </a:r>
          </a:p>
          <a:p xmlns:a="http://schemas.openxmlformats.org/drawingml/2006/main">
            <a:r>
              <a:t>原文抜粋 周囲の環境を見て確認し、いろいろな演算をAIが行う</a:t>
            </a:r>
          </a:p>
          <a:p xmlns:a="http://schemas.openxmlformats.org/drawingml/2006/main">
            <a:r>
              <a:t>文脈の要約 決められた反復動作に対し、環境を確認してAIの演算を用いるソリューションを説明する。</a:t>
            </a:r>
          </a:p>
          <a:p xmlns:a="http://schemas.openxmlformats.org/drawingml/2006/main">
            <a:r>
              <a:t>留保 正式な業界規格の定義ではない。どの変化にどこまで対応できるかは個別に調べる。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Q06 日立・ファナックの共同発表をファナックが掲載</a:t>
            </a:r>
          </a:p>
          <a:p xmlns:a="http://schemas.openxmlformats.org/drawingml/2006/main">
            <a:r>
              <a:t>ファナック・日立 フィジカルAI実装の共同事業化に向けた戦略的パートナーシップ 2026-09-30</a:t>
            </a:r>
          </a:p>
          <a:p xmlns:a="http://schemas.openxmlformats.org/drawingml/2006/main">
            <a:r>
              <a:t>https://www.fanuc.co.jp/ja/profile/pr/newsrelease/2026/news20260930.html</a:t>
            </a:r>
          </a:p>
          <a:p xmlns:a="http://schemas.openxmlformats.org/drawingml/2006/main">
            <a:r>
              <a:t>掲載位置 提携の説明・カスタマーゼロの段落</a:t>
            </a:r>
          </a:p>
          <a:p xmlns:a="http://schemas.openxmlformats.org/drawingml/2006/main">
            <a:r>
              <a:t>原文抜粋 現場固有のルールを継続的に学習します。</a:t>
            </a:r>
          </a:p>
          <a:p xmlns:a="http://schemas.openxmlformats.org/drawingml/2006/main">
            <a:r>
              <a:t>文脈の要約 日立の工場で共同実証し、現場課題へ柔軟に対応する実用化計画の一節。</a:t>
            </a:r>
          </a:p>
          <a:p xmlns:a="http://schemas.openxmlformats.org/drawingml/2006/main">
            <a:r>
              <a:t>留保 将来の共同実証・実用化を説明する。全機能の達成実績とはしない。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Q14 Hexagon公式ブログの執筆者による説明</a:t>
            </a:r>
          </a:p>
          <a:p xmlns:a="http://schemas.openxmlformats.org/drawingml/2006/main">
            <a:r>
              <a:t>Hexagon／製品技術担当者 The next step in CAM isn’t new. It’s already here. 2026-04-29</a:t>
            </a:r>
          </a:p>
          <a:p xmlns:a="http://schemas.openxmlformats.org/drawingml/2006/main">
            <a:r>
              <a:t>https://blog.manufacturing.hexagon.com/advanced-manufacturing/cam-software/the-next-step-in-cam-isnt-new-its-already-here/</a:t>
            </a:r>
          </a:p>
          <a:p xmlns:a="http://schemas.openxmlformats.org/drawingml/2006/main">
            <a:r>
              <a:t>掲載位置 熟練者の経験が個人に残る問題を説明する段落</a:t>
            </a:r>
          </a:p>
          <a:p xmlns:a="http://schemas.openxmlformats.org/drawingml/2006/main">
            <a:r>
              <a:t>原文抜粋 The software helps execute decisions, but it doesn’t retain the reasoning behind them.</a:t>
            </a:r>
          </a:p>
          <a:p xmlns:a="http://schemas.openxmlformats.org/drawingml/2006/main">
            <a:r>
              <a:t>文脈の要約 CAMの機能だけでなく、過去の考え方を次のプログラミングで使う課題を述べる。</a:t>
            </a:r>
          </a:p>
          <a:p xmlns:a="http://schemas.openxmlformats.org/drawingml/2006/main">
            <a:r>
              <a:t>留保 CAM一般への問題提起。全てのソフトに履歴保存がないという仕様確認ではない。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原文の連続部分を抜粋。開発構想・研究方針の表明を、製品性能や展示での達成証明とは扱わない。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Q02 DMG森精機の公式発表</a:t>
            </a:r>
          </a:p>
          <a:p xmlns:a="http://schemas.openxmlformats.org/drawingml/2006/main">
            <a:r>
              <a:t>DMG森精機 GENIAC事業に採択：生産設備データエコシステムと製造フィジカルAI基盤 2026-07-06</a:t>
            </a:r>
          </a:p>
          <a:p xmlns:a="http://schemas.openxmlformats.org/drawingml/2006/main">
            <a:r>
              <a:t>https://www.dmgmori.co.jp/corporate/news/2026/20260706_geniac.html</a:t>
            </a:r>
          </a:p>
          <a:p xmlns:a="http://schemas.openxmlformats.org/drawingml/2006/main">
            <a:r>
              <a:t>掲載位置 多目的AI開発基盤の説明</a:t>
            </a:r>
          </a:p>
          <a:p xmlns:a="http://schemas.openxmlformats.org/drawingml/2006/main">
            <a:r>
              <a:t>原文抜粋 市場投入後の設備から継続的にデータを収集・学習・還元する仕組み</a:t>
            </a:r>
          </a:p>
          <a:p xmlns:a="http://schemas.openxmlformats.org/drawingml/2006/main">
            <a:r>
              <a:t>文脈の要約 異常検知から品質予測・条件最適化、生産セルへ広げる計画の中の表現。</a:t>
            </a:r>
          </a:p>
          <a:p xmlns:a="http://schemas.openxmlformats.org/drawingml/2006/main">
            <a:r>
              <a:t>留保 構築を目指す仕組み。既に全用途で循環が成立したという実績ではない。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Q01 産総研の公式説明</a:t>
            </a:r>
          </a:p>
          <a:p xmlns:a="http://schemas.openxmlformats.org/drawingml/2006/main">
            <a:r>
              <a:t>産総研 製造AX拠点を始動 2026-07-02</a:t>
            </a:r>
          </a:p>
          <a:p xmlns:a="http://schemas.openxmlformats.org/drawingml/2006/main">
            <a:r>
              <a:t>https://www.aist.go.jp/aist_j/news/pr20260702.html</a:t>
            </a:r>
          </a:p>
          <a:p xmlns:a="http://schemas.openxmlformats.org/drawingml/2006/main">
            <a:r>
              <a:t>掲載位置 産総研を核とした製造AX拠点</a:t>
            </a:r>
          </a:p>
          <a:p xmlns:a="http://schemas.openxmlformats.org/drawingml/2006/main">
            <a:r>
              <a:t>原文抜粋 製造工程の現象理解に基づく製造データ取得の支援</a:t>
            </a:r>
          </a:p>
          <a:p xmlns:a="http://schemas.openxmlformats.org/drawingml/2006/main">
            <a:r>
              <a:t>文脈の要約 拠点に期待される支援として、取得設計、匿名化・構造化、AI開発を説明する。</a:t>
            </a:r>
          </a:p>
          <a:p xmlns:a="http://schemas.openxmlformats.org/drawingml/2006/main">
            <a:r>
              <a:t>留保 期待される役割の説明であり、特定の取得技術の性能実証ではない。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Q24 DMG森精機 森雅彦氏の取材発言</a:t>
            </a:r>
          </a:p>
          <a:p xmlns:a="http://schemas.openxmlformats.org/drawingml/2006/main">
            <a:r>
              <a:t>MONOist 工作機械のソフトウェアデファインド化とMX 2025-09-26</a:t>
            </a:r>
          </a:p>
          <a:p xmlns:a="http://schemas.openxmlformats.org/drawingml/2006/main">
            <a:r>
              <a:t>https://monoist.itmedia.co.jp/mn/articles/2509/27/news004_2.html</a:t>
            </a:r>
          </a:p>
          <a:p xmlns:a="http://schemas.openxmlformats.org/drawingml/2006/main">
            <a:r>
              <a:t>掲載位置 後編 シミュレーションとAIに関する回答</a:t>
            </a:r>
          </a:p>
          <a:p xmlns:a="http://schemas.openxmlformats.org/drawingml/2006/main">
            <a:r>
              <a:t>原文抜粋 まずはシミュレーションのモデルをしっかりと作り込んで</a:t>
            </a:r>
          </a:p>
          <a:p xmlns:a="http://schemas.openxmlformats.org/drawingml/2006/main">
            <a:r>
              <a:t>文脈の要約 研究論文への言及として、モデルを土台にAIを使う方法へ関心を示す。</a:t>
            </a:r>
          </a:p>
          <a:p xmlns:a="http://schemas.openxmlformats.org/drawingml/2006/main">
            <a:r>
              <a:t>留保 技術への関心を述べた条件節。特定の自社実装の達成証明ではない。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Q11 Siemensの公式ブログ</a:t>
            </a:r>
          </a:p>
          <a:p xmlns:a="http://schemas.openxmlformats.org/drawingml/2006/main">
            <a:r>
              <a:t>Siemens From agile to autonomous: adaptive production 2026-07-08</a:t>
            </a:r>
          </a:p>
          <a:p xmlns:a="http://schemas.openxmlformats.org/drawingml/2006/main">
            <a:r>
              <a:t>https://blogs.sw.siemens.com/nx-manufacturing/from-agile-to-autonomous-building-adaptive-production-with-digital-twins-and-industrial-ai/</a:t>
            </a:r>
          </a:p>
          <a:p xmlns:a="http://schemas.openxmlformats.org/drawingml/2006/main">
            <a:r>
              <a:t>掲載位置 Three principlesの1項目目</a:t>
            </a:r>
          </a:p>
          <a:p xmlns:a="http://schemas.openxmlformats.org/drawingml/2006/main">
            <a:r>
              <a:t>原文抜粋 AI must operate on the current state of the factory.</a:t>
            </a:r>
          </a:p>
          <a:p xmlns:a="http://schemas.openxmlformats.org/drawingml/2006/main">
            <a:r>
              <a:t>文脈の要約 過去のスナップショットだけでなく現在の状態を使う方針。</a:t>
            </a:r>
          </a:p>
          <a:p xmlns:a="http://schemas.openxmlformats.org/drawingml/2006/main">
            <a:r>
              <a:t>留保 製造AIに求める原則。特定の更新周期や全システムでの実現実績ではない。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出展者の公開説明を要約。AI機能の未確認と、AIを使用しないという確認は区別。東京精密は展示内容未取得。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DMG森精機 E8005</a:t>
            </a:r>
          </a:p>
          <a:p xmlns:a="http://schemas.openxmlformats.org/drawingml/2006/main">
            <a:r>
              <a:t>MATRIS WPH 210／AMR 1000</a:t>
            </a:r>
          </a:p>
          <a:p xmlns:a="http://schemas.openxmlformats.org/drawingml/2006/main">
            <a:r>
              <a:t>https://www.jimtof.org/search/jp/ESdetails?e=zcqDj1lSkGs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ヤマザキマザック E1001</a:t>
            </a:r>
          </a:p>
          <a:p xmlns:a="http://schemas.openxmlformats.org/drawingml/2006/main">
            <a:r>
              <a:t>INTEGREX／AIソリューション</a:t>
            </a:r>
          </a:p>
          <a:p xmlns:a="http://schemas.openxmlformats.org/drawingml/2006/main">
            <a:r>
              <a:t>https://www.jimtof.org/search/jp/ESdetails?e=PJEgqNYlWes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オークマ E3028</a:t>
            </a:r>
          </a:p>
          <a:p xmlns:a="http://schemas.openxmlformats.org/drawingml/2006/main">
            <a:r>
              <a:t>ARMROID／OMR20</a:t>
            </a:r>
          </a:p>
          <a:p xmlns:a="http://schemas.openxmlformats.org/drawingml/2006/main">
            <a:r>
              <a:t>https://www.jimtof.org/search/jp/ESdetails?e=30li0vWcseI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牧野フライス製作所 E1024</a:t>
            </a:r>
          </a:p>
          <a:p xmlns:a="http://schemas.openxmlformats.org/drawingml/2006/main">
            <a:r>
              <a:t>MASシリーズ／生産ラインエンジニアリング</a:t>
            </a:r>
          </a:p>
          <a:p xmlns:a="http://schemas.openxmlformats.org/drawingml/2006/main">
            <a:r>
              <a:t>https://www.jimtof.org/search/jp/ESdetails?e=M5OL10ECBTE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ファナック S2001</a:t>
            </a:r>
          </a:p>
          <a:p xmlns:a="http://schemas.openxmlformats.org/drawingml/2006/main">
            <a:r>
              <a:t>フィジカルAI CNC／生成AIロボット</a:t>
            </a:r>
          </a:p>
          <a:p xmlns:a="http://schemas.openxmlformats.org/drawingml/2006/main">
            <a:r>
              <a:t>https://www.jimtof.org/search/jp/ESdetails?e=q0OrZBKM3uQ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三菱電機 S2003</a:t>
            </a:r>
          </a:p>
          <a:p xmlns:a="http://schemas.openxmlformats.org/drawingml/2006/main">
            <a:r>
              <a:t>CNC省人化／新開発スケジューラ</a:t>
            </a:r>
          </a:p>
          <a:p xmlns:a="http://schemas.openxmlformats.org/drawingml/2006/main">
            <a:r>
              <a:t>https://www.jimtof.org/search/jp/ESdetails?e=AjLnzm01WWU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シーメンス E3006</a:t>
            </a:r>
          </a:p>
          <a:p xmlns:a="http://schemas.openxmlformats.org/drawingml/2006/main">
            <a:r>
              <a:t>SINUMERIK ONE／工作機械ツイン</a:t>
            </a:r>
          </a:p>
          <a:p xmlns:a="http://schemas.openxmlformats.org/drawingml/2006/main">
            <a:r>
              <a:t>https://www.jimtof.org/search/jp/ESdetails?e=EBIotJu7lrg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ジェイテクト E8003</a:t>
            </a:r>
          </a:p>
          <a:p xmlns:a="http://schemas.openxmlformats.org/drawingml/2006/main">
            <a:r>
              <a:t>G5P250G／工場ソリューション</a:t>
            </a:r>
          </a:p>
          <a:p xmlns:a="http://schemas.openxmlformats.org/drawingml/2006/main">
            <a:r>
              <a:t>https://www.jimtof.org/search/jp/ESdetails?e=cW9RNSMEfso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ニデックマシンツール E3011</a:t>
            </a:r>
          </a:p>
          <a:p xmlns:a="http://schemas.openxmlformats.org/drawingml/2006/main">
            <a:r>
              <a:t>MVR-Hx／Nidec NC Twin</a:t>
            </a:r>
          </a:p>
          <a:p xmlns:a="http://schemas.openxmlformats.org/drawingml/2006/main">
            <a:r>
              <a:t>https://www.jimtof.org/search/jp/ESdetails?e=oS1WYTzqdvg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出展者の公開説明を要約。AI機能の未確認と、AIを使用しないという確認は区別。東京精密は展示内容未取得。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ニデックオーケーケー E3012</a:t>
            </a:r>
          </a:p>
          <a:p xmlns:a="http://schemas.openxmlformats.org/drawingml/2006/main">
            <a:r>
              <a:t>VB-X650／パレットストッカ</a:t>
            </a:r>
          </a:p>
          <a:p xmlns:a="http://schemas.openxmlformats.org/drawingml/2006/main">
            <a:r>
              <a:t>https://www.jimtof.org/search/jp/ESdetails?e=cIGcLA71ub0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ソディック E2017</a:t>
            </a:r>
          </a:p>
          <a:p xmlns:a="http://schemas.openxmlformats.org/drawingml/2006/main">
            <a:r>
              <a:t>ALN600G＋搬送ロボット</a:t>
            </a:r>
          </a:p>
          <a:p xmlns:a="http://schemas.openxmlformats.org/drawingml/2006/main">
            <a:r>
              <a:t>https://www.jimtof.org/search/jp/ESdetails?e=k6keXdSLQmQ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アマダ E2012</a:t>
            </a:r>
          </a:p>
          <a:p xmlns:a="http://schemas.openxmlformats.org/drawingml/2006/main">
            <a:r>
              <a:t>SDEW8010iⅢ＋ALFAS03KR</a:t>
            </a:r>
          </a:p>
          <a:p xmlns:a="http://schemas.openxmlformats.org/drawingml/2006/main">
            <a:r>
              <a:t>https://www.jimtof.org/search/jp/ESdetails?e=lwacRdqPa60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ブラザー工業 E1055</a:t>
            </a:r>
          </a:p>
          <a:p xmlns:a="http://schemas.openxmlformats.org/drawingml/2006/main">
            <a:r>
              <a:t>SPEEDIO／PC-1</a:t>
            </a:r>
          </a:p>
          <a:p xmlns:a="http://schemas.openxmlformats.org/drawingml/2006/main">
            <a:r>
              <a:t>https://www.jimtof.org/search/jp/ESdetails?e=lOXEEpvlXpM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松浦機械製作所 E3030</a:t>
            </a:r>
          </a:p>
          <a:p xmlns:a="http://schemas.openxmlformats.org/drawingml/2006/main">
            <a:r>
              <a:t>MX-520T PC7／MiOS 4</a:t>
            </a:r>
          </a:p>
          <a:p xmlns:a="http://schemas.openxmlformats.org/drawingml/2006/main">
            <a:r>
              <a:t>https://www.jimtof.org/search/jp/ESdetails?e=K_X61J2xV_w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シチズンマシナリー S2002</a:t>
            </a:r>
          </a:p>
          <a:p xmlns:a="http://schemas.openxmlformats.org/drawingml/2006/main">
            <a:r>
              <a:t>自動計測／FA連携／LFV</a:t>
            </a:r>
          </a:p>
          <a:p xmlns:a="http://schemas.openxmlformats.org/drawingml/2006/main">
            <a:r>
              <a:t>https://www.jimtof.org/search/jp/ESdetails?e=sqCigr-Fu70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スター精密 S1003</a:t>
            </a:r>
          </a:p>
          <a:p xmlns:a="http://schemas.openxmlformats.org/drawingml/2006/main">
            <a:r>
              <a:t>SB-12RⅡほか／各種支援</a:t>
            </a:r>
          </a:p>
          <a:p xmlns:a="http://schemas.openxmlformats.org/drawingml/2006/main">
            <a:r>
              <a:t>https://www.jimtof.org/search/jp/ESdetails?e=uGFHKigy2ag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ツガミ S1004</a:t>
            </a:r>
          </a:p>
          <a:p xmlns:a="http://schemas.openxmlformats.org/drawingml/2006/main">
            <a:r>
              <a:t>TMA8F／VA3S＋ロボット</a:t>
            </a:r>
          </a:p>
          <a:p xmlns:a="http://schemas.openxmlformats.org/drawingml/2006/main">
            <a:r>
              <a:t>https://www.jimtof.org/search/jp/ESdetails?e=fKOIqkxqaBI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出展者の公開説明を要約。AI機能の未確認と、AIを使用しないという確認は区別。東京精密は展示内容未取得。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オーエスジー W1070</a:t>
            </a:r>
          </a:p>
          <a:p xmlns:a="http://schemas.openxmlformats.org/drawingml/2006/main">
            <a:r>
              <a:t>MONOlithbox</a:t>
            </a:r>
          </a:p>
          <a:p xmlns:a="http://schemas.openxmlformats.org/drawingml/2006/main">
            <a:r>
              <a:t>https://www.jimtof.org/search/jp/ESdetails?e=AooPnMJlHW4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三菱マテリアル W1065</a:t>
            </a:r>
          </a:p>
          <a:p xmlns:a="http://schemas.openxmlformats.org/drawingml/2006/main">
            <a:r>
              <a:t>DXAS／RS0112ほか</a:t>
            </a:r>
          </a:p>
          <a:p xmlns:a="http://schemas.openxmlformats.org/drawingml/2006/main">
            <a:r>
              <a:t>https://www.jimtof.org/search/jp/ESdetails?e=8cRbffPwDP4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京セラ W1046</a:t>
            </a:r>
          </a:p>
          <a:p xmlns:a="http://schemas.openxmlformats.org/drawingml/2006/main">
            <a:r>
              <a:t>VIMOA／EASY TOOL GUIDE</a:t>
            </a:r>
          </a:p>
          <a:p xmlns:a="http://schemas.openxmlformats.org/drawingml/2006/main">
            <a:r>
              <a:t>https://www.jimtof.org/search/jp/ESdetails?e=E4SA18YM2G4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タンガロイ W1090</a:t>
            </a:r>
          </a:p>
          <a:p xmlns:a="http://schemas.openxmlformats.org/drawingml/2006/main">
            <a:r>
              <a:t>MATRIX 360</a:t>
            </a:r>
          </a:p>
          <a:p xmlns:a="http://schemas.openxmlformats.org/drawingml/2006/main">
            <a:r>
              <a:t>https://www.jimtof.org/search/jp/ESdetails?e=VUyVyFPIn2Q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ミツトヨ E3008／E7085</a:t>
            </a:r>
          </a:p>
          <a:p xmlns:a="http://schemas.openxmlformats.org/drawingml/2006/main">
            <a:r>
              <a:t>自動計測／計測プラットフォーム</a:t>
            </a:r>
          </a:p>
          <a:p xmlns:a="http://schemas.openxmlformats.org/drawingml/2006/main">
            <a:r>
              <a:t>https://www.jimtof.org/search/jp/ESdetails?e=a7y3JtW8DXM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東京精密 E7044</a:t>
            </a:r>
          </a:p>
          <a:p xmlns:a="http://schemas.openxmlformats.org/drawingml/2006/main">
            <a:r>
              <a:t>出展内容の保存情報なし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レニショー E7089</a:t>
            </a:r>
          </a:p>
          <a:p xmlns:a="http://schemas.openxmlformats.org/drawingml/2006/main">
            <a:r>
              <a:t>Renishaw Central／Equator</a:t>
            </a:r>
          </a:p>
          <a:p xmlns:a="http://schemas.openxmlformats.org/drawingml/2006/main">
            <a:r>
              <a:t>https://www.jimtof.org/search/jp/ESdetails?e=pYGmVz5GC1c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ハイデンハイン E7043</a:t>
            </a:r>
          </a:p>
          <a:p xmlns:a="http://schemas.openxmlformats.org/drawingml/2006/main">
            <a:r>
              <a:t>VT 122＋VTC 6.0</a:t>
            </a:r>
          </a:p>
          <a:p xmlns:a="http://schemas.openxmlformats.org/drawingml/2006/main">
            <a:r>
              <a:t>https://www.jimtof.org/search/jp/ESdetails?e=iohDR5yR9VA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出展者の公開説明を要約。AI機能の未確認と、AIを使用しないという確認は区別。東京精密は展示内容未取得。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ベッコフオートメーション E2028</a:t>
            </a:r>
          </a:p>
          <a:p xmlns:a="http://schemas.openxmlformats.org/drawingml/2006/main">
            <a:r>
              <a:t>TwinCAT CNC／ML Creator／CoAgent</a:t>
            </a:r>
          </a:p>
          <a:p xmlns:a="http://schemas.openxmlformats.org/drawingml/2006/main">
            <a:r>
              <a:t>https://www.jimtof.org/search/jp/ESdetails?e=K7DqahO2h08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Hexagon Manufacturing Intelligence E7035／E2013</a:t>
            </a:r>
          </a:p>
          <a:p xmlns:a="http://schemas.openxmlformats.org/drawingml/2006/main">
            <a:r>
              <a:t>ProPlanAI／MAESTRO／PRESTO</a:t>
            </a:r>
          </a:p>
          <a:p xmlns:a="http://schemas.openxmlformats.org/drawingml/2006/main">
            <a:r>
              <a:t>https://www.jimtof.org/search/jp/ESdetails?e=oUyVPjxvy-U</a:t>
            </a:r>
          </a:p>
          <a:p xmlns:a="http://schemas.openxmlformats.org/drawingml/2006/main">
            <a:r>
              <a:t>https://www.jimtof.org/search/jp/ESdetails?e=6l20Qo0pjl4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住友電気工業 W1027</a:t>
            </a:r>
          </a:p>
          <a:p xmlns:a="http://schemas.openxmlformats.org/drawingml/2006/main">
            <a:r>
              <a:t>SumiSmall／WEZMほか</a:t>
            </a:r>
          </a:p>
          <a:p xmlns:a="http://schemas.openxmlformats.org/drawingml/2006/main">
            <a:r>
              <a:t>https://www.jimtof.org/search/jp/ESdetails?e=fUD_CMl54Kw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中村留精密工業 E2027</a:t>
            </a:r>
          </a:p>
          <a:p xmlns:a="http://schemas.openxmlformats.org/drawingml/2006/main">
            <a:r>
              <a:t>RoboSync／Protona</a:t>
            </a:r>
          </a:p>
          <a:p xmlns:a="http://schemas.openxmlformats.org/drawingml/2006/main">
            <a:r>
              <a:t>https://www.jimtof.org/search/jp/ESdetails?e=C7A_2ZTDXNw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FUJI E3021</a:t>
            </a:r>
          </a:p>
          <a:p xmlns:a="http://schemas.openxmlformats.org/drawingml/2006/main">
            <a:r>
              <a:t>VN40／TN400ⅡR／Quist</a:t>
            </a:r>
          </a:p>
          <a:p xmlns:a="http://schemas.openxmlformats.org/drawingml/2006/main">
            <a:r>
              <a:t>https://www.jimtof.org/search/jp/ESdetails?e=xJlXi-VNzio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TAKISAWA E3013</a:t>
            </a:r>
          </a:p>
          <a:p xmlns:a="http://schemas.openxmlformats.org/drawingml/2006/main">
            <a:r>
              <a:t>TR-20W</a:t>
            </a:r>
          </a:p>
          <a:p xmlns:a="http://schemas.openxmlformats.org/drawingml/2006/main">
            <a:r>
              <a:t>https://www.jimtof.org/search/jp/ESdetails?e=3dTDRAMwZpM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オートデスク S3019</a:t>
            </a:r>
          </a:p>
          <a:p xmlns:a="http://schemas.openxmlformats.org/drawingml/2006/main">
            <a:r>
              <a:t>Fusion／Fusion Manage</a:t>
            </a:r>
          </a:p>
          <a:p xmlns:a="http://schemas.openxmlformats.org/drawingml/2006/main">
            <a:r>
              <a:t>https://www.jimtof.org/search/jp/ESdetails?e=Y_kC6hMTghk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ニコン E7001</a:t>
            </a:r>
          </a:p>
          <a:p xmlns:a="http://schemas.openxmlformats.org/drawingml/2006/main">
            <a:r>
              <a:t>NEXIV／MV5X／ロボットビジョン</a:t>
            </a:r>
          </a:p>
          <a:p xmlns:a="http://schemas.openxmlformats.org/drawingml/2006/main">
            <a:r>
              <a:t>https://www.jimtof.org/search/jp/ESdetails?e=lmqsWTyiVAY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公開資料による事前調査。現地未確認。2026年10月22日。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2024・2026照合は2,427掲載行。候補索引全344件と出典リンクはHTML版に掲載。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data/research/strategy_review_20261021/exhibitor_coverage_all_2024_2026.csv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data/research/strategy_review_20261021/macro_wording_signals.csv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data/research/report_v0/technology_directory.json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data/research/report_v0/case_comparison.json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bacc026f6247d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e0e41b1504f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53b99764c4d9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c758e03c64e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a2c827201b47e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cf025a95748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6175099-C7C2-4474-BF82-962E4FC021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043C1D-1707-46D0-BAEA-48771293A9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BD239B1-BB61-4D91-9567-2302CC1D8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5123940-14E2-44E9-86BD-DE548DFF7D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0D611F0-F387-4E1F-BE27-DA88916C81F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2648B62-E71C-48A3-88CA-446F9B3DA6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72C34DE-4D5B-44DC-B125-2457EFC7BD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B738604-9DCE-4C8A-85FD-EEC0A132C86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BDE6C35-3ADD-4EB7-B3C4-81D81EC957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06E41C-674D-44F2-8C8B-CCBBCFEA3B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63926f87924cc5" /><Relationship Type="http://schemas.openxmlformats.org/officeDocument/2006/relationships/slideLayout" Target="/ppt/slideLayouts/slideLayout1.xml" Id="Rb0922494ed304ae3" /><Relationship Type="http://schemas.openxmlformats.org/officeDocument/2006/relationships/slideLayout" Target="/ppt/slideLayouts/slideLayout2.xml" Id="R71c3305ce4bc4853" /><Relationship Type="http://schemas.openxmlformats.org/officeDocument/2006/relationships/slideLayout" Target="/ppt/slideLayouts/slideLayout3.xml" Id="Rcf5d6c1c1d7c42e5" /><Relationship Type="http://schemas.openxmlformats.org/officeDocument/2006/relationships/slideLayout" Target="/ppt/slideLayouts/slideLayout4.xml" Id="R94bd9a362eed4c0c" /><Relationship Type="http://schemas.openxmlformats.org/officeDocument/2006/relationships/slideLayout" Target="/ppt/slideLayouts/slideLayout5.xml" Id="R4f1397bda6324722" /><Relationship Type="http://schemas.openxmlformats.org/officeDocument/2006/relationships/slideLayout" Target="/ppt/slideLayouts/slideLayout6.xml" Id="R724cd4355da641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922494ed304ae3"/>
    <p:sldLayoutId xmlns:r="http://schemas.openxmlformats.org/officeDocument/2006/relationships" id="2147483650" r:id="R71c3305ce4bc4853"/>
    <p:sldLayoutId xmlns:r="http://schemas.openxmlformats.org/officeDocument/2006/relationships" id="2147483651" r:id="Rcf5d6c1c1d7c42e5"/>
    <p:sldLayoutId xmlns:r="http://schemas.openxmlformats.org/officeDocument/2006/relationships" id="2147483652" r:id="R94bd9a362eed4c0c"/>
    <p:sldLayoutId xmlns:r="http://schemas.openxmlformats.org/officeDocument/2006/relationships" id="2147483653" r:id="R4f1397bda6324722"/>
    <p:sldLayoutId xmlns:r="http://schemas.openxmlformats.org/officeDocument/2006/relationships" id="2147483654" r:id="R724cd4355da641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42066b382e4ae8" /><Relationship Type="http://schemas.openxmlformats.org/officeDocument/2006/relationships/notesSlide" Target="/ppt/notesSlides/notesSlide1.xml" Id="R39f70312266546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94d30126394f16" /><Relationship Type="http://schemas.openxmlformats.org/officeDocument/2006/relationships/notesSlide" Target="/ppt/notesSlides/notesSlide2.xml" Id="R09905d558f9c4ef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b619ba4d104399" /><Relationship Type="http://schemas.openxmlformats.org/officeDocument/2006/relationships/notesSlide" Target="/ppt/notesSlides/notesSlide3.xml" Id="R97a3533d27aa4a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0d9ec3bc4c4fed" /><Relationship Type="http://schemas.openxmlformats.org/officeDocument/2006/relationships/notesSlide" Target="/ppt/notesSlides/notesSlide4.xml" Id="Rfae421819f0d4e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0ebbbc2b7e4e41" /><Relationship Type="http://schemas.openxmlformats.org/officeDocument/2006/relationships/notesSlide" Target="/ppt/notesSlides/notesSlide5.xml" Id="R660524306c384d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8de2189964434d" /><Relationship Type="http://schemas.openxmlformats.org/officeDocument/2006/relationships/notesSlide" Target="/ppt/notesSlides/notesSlide6.xml" Id="R1ce853ed82934c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d65ab0e704ab7" /><Relationship Type="http://schemas.openxmlformats.org/officeDocument/2006/relationships/notesSlide" Target="/ppt/notesSlides/notesSlide7.xml" Id="R81ac839360054f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6b3bf5679403e" /><Relationship Type="http://schemas.openxmlformats.org/officeDocument/2006/relationships/notesSlide" Target="/ppt/notesSlides/notesSlide8.xml" Id="Rc126cbed6a4c45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c22e15d72df4c8f" /><Relationship Type="http://schemas.openxmlformats.org/officeDocument/2006/relationships/notesSlide" Target="/ppt/notesSlides/notesSlide9.xml" Id="R085bf78962ce460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75c45a58e46dc" /><Relationship Type="http://schemas.openxmlformats.org/officeDocument/2006/relationships/notesSlide" Target="/ppt/notesSlides/notesSlide10.xml" Id="Rbf472fc5f6664a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016573c8e54184" /><Relationship Type="http://schemas.openxmlformats.org/officeDocument/2006/relationships/notesSlide" Target="/ppt/notesSlides/notesSlide11.xml" Id="R1cd62299fefe4e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b1660350941be" /><Relationship Type="http://schemas.openxmlformats.org/officeDocument/2006/relationships/notesSlide" Target="/ppt/notesSlides/notesSlide12.xml" Id="R05341da58bfc4bc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956576d8f34885" /><Relationship Type="http://schemas.openxmlformats.org/officeDocument/2006/relationships/notesSlide" Target="/ppt/notesSlides/notesSlide13.xml" Id="R26cc71d62d144d3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7692df029340a0" /><Relationship Type="http://schemas.openxmlformats.org/officeDocument/2006/relationships/notesSlide" Target="/ppt/notesSlides/notesSlide14.xml" Id="R8e2ec825105f4e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398e4a0fd94c3c" /><Relationship Type="http://schemas.openxmlformats.org/officeDocument/2006/relationships/notesSlide" Target="/ppt/notesSlides/notesSlide15.xml" Id="Rb0b59e6fcd264f8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2934fe959e44b8" /><Relationship Type="http://schemas.openxmlformats.org/officeDocument/2006/relationships/hyperlink" Target="https://monoist.itmedia.co.jp/mn/articles/2610/19/news039_2.html" TargetMode="External" Id="R5f0d99e30a594a51" /><Relationship Type="http://schemas.openxmlformats.org/officeDocument/2006/relationships/hyperlink" Target="https://monoist.itmedia.co.jp/mn/articles/2607/02/news043.html" TargetMode="External" Id="R180631cf41174807" /><Relationship Type="http://schemas.openxmlformats.org/officeDocument/2006/relationships/hyperlink" Target="https://www.fanuc.co.jp/ja/profile/pr/newsrelease/2026/news20260930.html" TargetMode="External" Id="R89556e6fbc8f486a" /><Relationship Type="http://schemas.openxmlformats.org/officeDocument/2006/relationships/hyperlink" Target="https://blog.manufacturing.hexagon.com/advanced-manufacturing/cam-software/the-next-step-in-cam-isnt-new-its-already-here/" TargetMode="External" Id="R9d97b8daa3294281" /><Relationship Type="http://schemas.openxmlformats.org/officeDocument/2006/relationships/notesSlide" Target="/ppt/notesSlides/notesSlide16.xml" Id="R369f952588464e7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bfc093f72c4169" /><Relationship Type="http://schemas.openxmlformats.org/officeDocument/2006/relationships/hyperlink" Target="https://www.dmgmori.co.jp/corporate/news/2026/20260706_geniac.html" TargetMode="External" Id="R297bc3af10314554" /><Relationship Type="http://schemas.openxmlformats.org/officeDocument/2006/relationships/hyperlink" Target="https://www.aist.go.jp/aist_j/news/pr20260702.html" TargetMode="External" Id="R968c8eee23dc47ce" /><Relationship Type="http://schemas.openxmlformats.org/officeDocument/2006/relationships/hyperlink" Target="https://monoist.itmedia.co.jp/mn/articles/2509/27/news004_2.html" TargetMode="External" Id="R919640c51efd42b0" /><Relationship Type="http://schemas.openxmlformats.org/officeDocument/2006/relationships/hyperlink" Target="https://blogs.sw.siemens.com/nx-manufacturing/from-agile-to-autonomous-building-adaptive-production-with-digital-twins-and-industrial-ai/" TargetMode="External" Id="Ra439277df3844d30" /><Relationship Type="http://schemas.openxmlformats.org/officeDocument/2006/relationships/notesSlide" Target="/ppt/notesSlides/notesSlide17.xml" Id="R5ac17a322d7349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303f95c2146dc" /><Relationship Type="http://schemas.openxmlformats.org/officeDocument/2006/relationships/notesSlide" Target="/ppt/notesSlides/notesSlide18.xml" Id="R6214ce5ac44a45f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1913662aeb46f9" /><Relationship Type="http://schemas.openxmlformats.org/officeDocument/2006/relationships/notesSlide" Target="/ppt/notesSlides/notesSlide19.xml" Id="R9368b5ff32da47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a606941b924d3b" /><Relationship Type="http://schemas.openxmlformats.org/officeDocument/2006/relationships/notesSlide" Target="/ppt/notesSlides/notesSlide20.xml" Id="Rf92d330edea64f2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e4e21f22a4fec" /><Relationship Type="http://schemas.openxmlformats.org/officeDocument/2006/relationships/notesSlide" Target="/ppt/notesSlides/notesSlide21.xml" Id="Rd412025d888c4f3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68096a97fb4e12" /><Relationship Type="http://schemas.openxmlformats.org/officeDocument/2006/relationships/notesSlide" Target="/ppt/notesSlides/notesSlide22.xml" Id="R28014078ca584a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AC129D54-B16B-4BD6-B865-16C4B6FC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JIMTOF2026 技術動向の要点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35F34F07-44C1-490F-ACF5-2EE95274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顧客課題は「技能依存」「品質変動」「多品種対応」「工程間の分断」。AI・自動化の適用を担当タスクで整理する。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D3E10-094C-4E60-86A0-74293B407DC2}"/>
              </a:ext>
            </a:extLst>
          </p:cNvPr>
          <p:cNvGraphicFramePr/>
          <p:nvPr/>
        </p:nvGraphicFramePr>
        <p:xfrm>
          <a:off xmlns:a="http://schemas.openxmlformats.org/drawingml/2006/main" x="819150" y="2466975"/>
          <a:ext xmlns:a="http://schemas.openxmlformats.org/drawingml/2006/main" cx="16649700" cy="6410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2952750"/>
                <a:gridCol w="4953000"/>
                <a:gridCol w="5600700"/>
              </a:tblGrid>
              <a:tr h="58102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技術領域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顧客ニーズ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技術の方向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45732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工程設計のAI化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技能依存低減・準備時間短縮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特徴認識、過去工程の再利用、CAM工程案の生成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ProPlanAI、CAMAssist。マザックは工程設計AIを共同開発。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5732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加工制御の高度化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品質安定・工具寿命延長・加工時間短縮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物理モデルによる事前最適化と、実測による補正・適応制御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Vericut Force、ACM、Ai Thermal Shield、Renishaw IPC。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45732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ロボット作業の適応化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多品種対応・教示削減・停止時間短縮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状態認識から動作・軌道を変更する作業自動化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TR-20Wは切粉除去の参考出品。ファナックは生成AI駆動事例を予告。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5732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工程間のデータ統合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計画・実績・品質の連携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デジタルスレッド、MES、再計画、AI学習基盤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シーメンスの設計・加工・品質連携。DMG・マザックの開発構想。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conclusion">
            <a:extLst xmlns:a="http://schemas.openxmlformats.org/drawingml/2006/main">
              <a:ext uri="{FF2B5EF4-FFF2-40B4-BE49-F238E27FC236}">
                <a16:creationId xmlns:a16="http://schemas.microsoft.com/office/drawing/2014/main" id="{3AA73F4A-F633-4E40-BCA4-6EE498E6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029700"/>
            <a:ext cx="1657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全体最適化を目指す開発と、製品化・展示予定の個別機能を対応付けて調査する。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6E6456E-02DA-4B80-A116-51E2B86F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資料横断の分析。共同開発計画、既存製品、2026展示予定を含む。実演性能は現地未確認。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83C4A91-91C1-40E9-B6C3-EEE17129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01 / 22</a:t>
            </a:r>
          </a:p>
        </p:txBody>
      </p:sp>
    </p:spTree>
    <p:extLst>
      <p:ext uri="{BB962C8B-B14F-4D97-AF65-F5344CB8AC3E}">
        <p14:creationId xmlns:p14="http://schemas.microsoft.com/office/powerpoint/2010/main" val="5844025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35F54469-02DB-4148-9732-016E7577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主要メーカーの開発対象と実現技術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640C59DA-41C5-49BB-9B10-A301A6F1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工作機械・CNC・ソフトウェア各社の担当領域を比較。データ基盤と共同開発の計画は、展示機能と分けて示す。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3FE0E-F290-4859-A254-7127E1FF4135}"/>
              </a:ext>
            </a:extLst>
          </p:cNvPr>
          <p:cNvGraphicFramePr/>
          <p:nvPr/>
        </p:nvGraphicFramePr>
        <p:xfrm>
          <a:off xmlns:a="http://schemas.openxmlformats.org/drawingml/2006/main" x="819150" y="2419350"/>
          <a:ext xmlns:a="http://schemas.openxmlformats.org/drawingml/2006/main" cx="16649700" cy="6753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2724150"/>
                <a:gridCol w="6191250"/>
                <a:gridCol w="5314950"/>
              </a:tblGrid>
              <a:tr h="5715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ターゲット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公開製品・展示告知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共同開発・今後の方向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2192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加工・保全・生産セル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AMR 1000、MATRIS WPH 210、AIエージェント実装を展示告知。Condition Agentは診断用NCとクラウド分析。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GENIACで市場投入設備のデータ収集・学習・還元基盤を計画。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0492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ヤマザキマザック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工程設計・生産計画・段取り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INTEGREX、自動化・デジタル・AIソリューションを告知。個別の工程設計AIの展示内容は要確認。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ABEJAと共同開発。MAZATROLの加工意図・判断結果を使う工程設計等を目指す。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2192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CNC知的作業・ロボット動作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フィジカルAI CNC、生成AIによるロボット駆動、オープンプラットフォームの事例を告知。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日立の工場をカスタマーゼロに共同実証。2027年度の事業化を目指す。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加工精度・機内作業・供給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熱変位制御、ARMROID、OMR20、多面APC。構造・制御・搬送の組合せで品質と稼働率を改善。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2026告知のAI機能と各既存制御機能の対応範囲を現地確認。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2192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シーメンス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設計・加工・品質保証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NX、SINUMERIK ONE、工作機械ツイン、Equatorによる工程内品質保証。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Digital Threadを軸に工程間データを連携。全工場の自律運営の達成とは区別。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A22CFF46-7AD8-4693-8544-3A6D69CB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ファナック・日立の実証先は日立の工場。マザックの工程設計AIとDMGのGENIACは開発計画。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6438438-17EE-4339-9582-9A623A9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02 / 22</a:t>
            </a:r>
          </a:p>
        </p:txBody>
      </p:sp>
    </p:spTree>
    <p:extLst>
      <p:ext uri="{BB962C8B-B14F-4D97-AF65-F5344CB8AC3E}">
        <p14:creationId xmlns:p14="http://schemas.microsoft.com/office/powerpoint/2010/main" val="731743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96E39170-45AA-45BB-AEE9-27502087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視察優先ブースと確認内容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B89809B1-3D44-4408-AC11-798334F4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調査目的への適合と、方式の違いを比較できる組合せを優先。各ブースで確認する対象を製品・機能まで指定する。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18D598-EC3E-45CC-9875-A55AD313BFD7}"/>
              </a:ext>
            </a:extLst>
          </p:cNvPr>
          <p:cNvGraphicFramePr/>
          <p:nvPr/>
        </p:nvGraphicFramePr>
        <p:xfrm>
          <a:off xmlns:a="http://schemas.openxmlformats.org/drawingml/2006/main" x="819150" y="2419350"/>
          <a:ext xmlns:a="http://schemas.openxmlformats.org/drawingml/2006/main" cx="16649700" cy="689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95625"/>
                <a:gridCol w="6858000"/>
                <a:gridCol w="6696075"/>
              </a:tblGrid>
              <a:tr h="5619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調査テーマ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比較・確認内容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9048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工程設計・CAM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Hexagon ProPlanAI　E2013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JBM CAMAssist　E2002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対象形状と工程・経路生成、人の修正工数を比較。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加工最適化・制御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CGTech Force　S3014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西部商工 ACM　S3020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加工前の送り最適化と加工中の負荷適応制御を比較。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9048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ロボット適応動作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　S2001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TAKISAWA TR-20W　E3013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状態変化に対する判断・動作変更、失敗後の復帰を確認。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計測・加工補正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レニショー Central＋IPC　E7089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ハイデンハイン VT 122　E7043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寸法補正と工具状態判定が実機運用へ戻る範囲を確認。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9048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加工セル・段取り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 MATRIS WPH 210　E8005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 ARMROID／OMR20　E3028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品種切替え、事前準備、無人運転に残る人作業を比較。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048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工程設計AI・生産計画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ヤマザキマザック　E1001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ものレボ MonoRevo　W3042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共同開発の展示有無と、計画制約・割込時の再計画を確認。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9048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工程統合・AI実装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シーメンス　E3006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ベッコフ　E2028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02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データの工程間連携とAIモデルの制御実装を確認。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476B155F-0ABA-4578-8F8D-28AA92A4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会場内の移動順は未設定。共同開発AIや個別製品の展示有無を含め、告知の範囲を現地確認する。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AB8D16-6FB6-479E-A833-50870A4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03 / 22</a:t>
            </a:r>
          </a:p>
        </p:txBody>
      </p:sp>
    </p:spTree>
    <p:extLst>
      <p:ext uri="{BB962C8B-B14F-4D97-AF65-F5344CB8AC3E}">
        <p14:creationId xmlns:p14="http://schemas.microsoft.com/office/powerpoint/2010/main" val="3290243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60BB539-44D3-4E3F-BAEA-BBC9A917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T01 工程設計・NCプログラム生成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67A1B1B-27AF-42E2-95B6-FB29BE5D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顧客ニーズ：多品種部品の加工準備時間短縮、熟練者の工程・工具選定ノウハウの再利用。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207C4-C60A-4EE3-AC18-CD5C453AF988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Hexagon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ESPRIT EDGE ProPlanAI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E2013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加工工程の立案。方式：特徴認識・工程予測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部品特徴・PMI・過去ジョブを用いて加工工程案を生成。2026.1では旋削・複合・スイス型の商用範囲を説明。（製品機能／展示予定）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対象形状と加工法、工程案の修正箇所、採用までの確認工数。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JBMエンジニアリング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Mastercam＋CAMAssist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E2002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工具経路・条件の作成。方式：AIによるCAM作成支援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形状、工具、材種、機械・保持条件から工程・経路・条件案を生成。CAM上で修正・検証し、人がポスト処理する。（展示予定）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3軸・3+2軸の対応範囲、干渉回避、生成後に残る手作業。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タクテックス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CAM Assist for SolidCAM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S1016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工具経路・条件の作成。方式：AIによるCAM作成支援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SolidCAM環境で3軸・3+2軸の加工戦略と経路案を生成。既存CAM運用への組込み方を比較する。（展示予定）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工具DBの流用、修正・検証、Mastercam版との対応差。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42B3B87B-6CA9-444F-8DB2-63865DFD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工程案の生成、工具経路の生成、ポスト処理後のNC検証を区別する。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D78E8C5F-1AF2-459C-92D1-89C5CCB0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23FA6CE9-A3AB-4A76-A25E-60676254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04 / 22</a:t>
            </a:r>
          </a:p>
        </p:txBody>
      </p:sp>
    </p:spTree>
    <p:extLst>
      <p:ext uri="{BB962C8B-B14F-4D97-AF65-F5344CB8AC3E}">
        <p14:creationId xmlns:p14="http://schemas.microsoft.com/office/powerpoint/2010/main" val="1493592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4DB47A74-02EB-4A01-9B8C-B3C4177D8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T02 NC加工条件最適化・適応制御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3A5930E2-FABD-4305-BCD5-EC1FCCD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顧客ニーズ：加工時間短縮と過負荷・工具破損の抑制。鋳鍛造品などの取り代変動への対応。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E22CB-AF6B-49A1-8DCC-22A64BF61DED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CGTech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Vericut Force／Optimizer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S3014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加工前の送り最適化。方式：切削物理モデル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NCと切削モデルに基づき送りを事前に最適化。Forceの物理ベース機能とOptimizerの機能範囲は版別に確認する。（展示予定）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材料・工具モデルの設定、負荷制約、実加工との差と修正方法。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Third Wave Systems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Production Module／AdvantEdge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E1064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送り最適化・切削解析。方式：NC負荷解析／刃先FEM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Production ModuleはNCレベルの負荷解析・最適化。AdvantEdgeは刃先近傍のFEM解析で、対象と計算粒度が異なる。（展示告知＋製品資料）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材料モデル、切削力・温度の検証、NC最適化への受渡し。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西部商工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ACM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S3020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加工中の送り調整。方式：主軸負荷フィードバック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主軸負荷をリアルタイム監視し送りを自動調整。既存NCを変更せず導入する説明。負荷が変動する荒加工等が対象。（展示予定）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制御周期・目標負荷、急変時の制限、時間短縮と工具寿命の両立。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4ACCBBF2-3110-4FFB-B2EC-BB2356D2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加工前のモデルベース最適化と、加工中の実測フィードバック制御は適用場面が異なる。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7E83289-479D-47EA-9C47-EB4FE91B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AF2A2B6-9173-4022-ADFF-C1FC9D7A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05 / 22</a:t>
            </a:r>
          </a:p>
        </p:txBody>
      </p:sp>
    </p:spTree>
    <p:extLst>
      <p:ext uri="{BB962C8B-B14F-4D97-AF65-F5344CB8AC3E}">
        <p14:creationId xmlns:p14="http://schemas.microsoft.com/office/powerpoint/2010/main" val="16989419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7EE2959-CFEF-49BC-9649-DE89EF8D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T03 熱変位補正・びびり抑制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C9F6A04C-1F2A-4532-A1F4-366BE604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顧客ニーズ：暖機・環境温度・切削振動による寸法精度と面品位の変動を抑制。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65DFC-393E-4E0A-8205-1342C298587B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ヤマザキマザック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 Thermal Shield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E1001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熱変位の予測・補正。方式：測定データを用いる学習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温度・主軸速度等を考慮し、加工後のワーク測定データを学習して熱変位オフセットを最適化するとの製品説明。（既存製品資料／個別展示未確認）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学習に必要な測定・運転条件、再学習、対象展示機への搭載。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サーモフレンドリーコンセプト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熱変位の抑制・補正。方式：構造設計・熱変位制御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熱変形を単純化する機械構造と熱変位制御を組み合わせる。2026告知のAI機能との対応は個別確認が必要。（熱変位制御を展示告知）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補正対象、環境・暖機条件、AIの入力と補正担当範囲。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加工ナビ M-i／M-gⅡ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びびり抑制。方式：振動解析・主軸速度調整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M-iは内蔵センサの振動から主軸速度を算出・変更。M-gⅡはマイクを使い速度候補を提示し、人が選択する。（既存製品資料／個別展示未確認）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自動変更と推奨表示の差、対象加工・工具、制御の安定範囲。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D6FEFC92-2FDB-4E64-A7EE-9513B474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熱変位の予測補正、構造設計、びびり抑制の主軸速度制御を別の機能として比較する。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4E01AF6-7FB6-4531-9983-E1BD0974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81DA1B2-8329-4AC9-8D82-F21D8551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06 / 22</a:t>
            </a:r>
          </a:p>
        </p:txBody>
      </p:sp>
    </p:spTree>
    <p:extLst>
      <p:ext uri="{BB962C8B-B14F-4D97-AF65-F5344CB8AC3E}">
        <p14:creationId xmlns:p14="http://schemas.microsoft.com/office/powerpoint/2010/main" val="6103960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BEEED0CD-6F1B-4273-ACE7-D7E3ED01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T04 工具状態監視・寿命予測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907CEA1A-3FB9-4666-A006-2B3F1967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顧客ニーズ：工具の早期交換を減らしつつ、突発欠損・不良品の連続発生を防止。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BAAD5-869B-435E-B3E7-9F326E1EAE1A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モリマシナリー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ツールコラージュ／アナライザー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S3048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欠け・摩耗判定、交換時期提案。方式：刃先画像AI・摩耗履歴解析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刃先画像で欠け・摩耗を判定・記録。別機能のアナライザーは摩耗履歴から寿命・交換時期を提案する。（展示予定）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工具・材種別の必要履歴、汚れへの耐性、交換判断の責任分担。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ハイデンハイン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VT 122＋VTC 6.0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E7043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機上工具検査。方式：画像計測・AI摩耗診断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ビジョンシステムVT 122とVTC 6.0によるAI摩耗診断・工具長計測を出展説明に記載。（展示予定）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摩耗量・欠けの判定基準、撮像条件、測定後のCNC連携。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マーポス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ARTIS／BLU／VTS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E7087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工具・加工プロセス監視。方式：加工信号監視・工具計測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工具・機械・加工プロセスの監視と工具計測を組み合わせる。製品ごとの信号・判定・停止出力を比較する。（展示予定）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破損検出と摩耗推定の差、監視閾値、停止・補正の出力先。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427F3FB0-8296-4362-8CFE-E31D5441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現在の摩耗判定、将来の寿命予測、交換指令の実行は別段階。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3B06CEA-6CFD-4FD9-8E12-41E393D9D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D158C26-21C4-4008-98AA-03D15B6E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07 / 22</a:t>
            </a:r>
          </a:p>
        </p:txBody>
      </p:sp>
    </p:spTree>
    <p:extLst>
      <p:ext uri="{BB962C8B-B14F-4D97-AF65-F5344CB8AC3E}">
        <p14:creationId xmlns:p14="http://schemas.microsoft.com/office/powerpoint/2010/main" val="1443263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6137B7C5-5A84-40C8-BEA5-44D238DE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T05 計測・外観検査・加工補正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241D7306-05EA-40C1-8292-5EA77D52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顧客ニーズ：測定・検査の省人化、見逃し・過検出の低減、測定結果からの加工精度安定化。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8EB789-AB14-4B02-8404-B88090452F60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レニショー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Renishaw Central＋IPC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E7089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計測結果の加工フィードバック。方式：計測データ・プロセス制御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計測・装置状態等を集約し、IPCで工具オフセットや機械変数を更新。測定から加工補正までを接続する。（展示予定）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補正ルール、対象CNC、外れ値の扱い、補正を止める条件。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HACARUS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HACARUS Check ZERO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S1031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外観の異常判定。方式：良品学習・追加学習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少量の良品画像との差で異常を検出。人が良品・不良品ラベルを追加し、見逃し・過検出を調整する。（販売済み／展示予定）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不良種類別の評価、追加学習後の再評価、撮像条件の許容差。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サイバーRC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GH5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E7074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刃先形状の補正加工。方式：機内3D画像・AI補正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機内3D画像で工具刃先を測り、目標とする幅・角度へホーニングを補正するとの出展説明。（展示予定）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画像精度、補正量・収束条件、最終形状の合否判定。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32FDDF18-F0FA-497D-BCD7-26CDA67D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画像の良否判定、寸法計測、工具オフセット補正は入力・出力が異なる。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0C91345-8305-41EF-BA23-56D74BE5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2ECCF15-EEEF-424E-9B5D-9B4841A1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08 / 22</a:t>
            </a:r>
          </a:p>
        </p:txBody>
      </p:sp>
    </p:spTree>
    <p:extLst>
      <p:ext uri="{BB962C8B-B14F-4D97-AF65-F5344CB8AC3E}">
        <p14:creationId xmlns:p14="http://schemas.microsoft.com/office/powerpoint/2010/main" val="16389760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0F8EF19-BA69-4CD8-BE23-7C0DBEE90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T06 ロボット認識・動作生成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F13601C1-189F-4FD3-88CE-F4E51103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顧客ニーズ：ワーク形状・位置・切粉状態の変化による教示負担と、自動運転の中断を削減。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731D6-941D-4C7E-89FA-2F2392F8A269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TAKISAWA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TR-20W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E3013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主軸に絡む切粉の除去。方式：状況認識・判断・除去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絡まった切粉の状況を判断して除去するフィジカルAI搭載デモを予告。センサ・学習方式は非公開。（参考出品）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絡まり方を変えた実演、除去完了の判定、失敗時の再試行。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東京エレクトロンデバイス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3D形状認識加工システム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E7073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不定形ワークの面取り・皿もみ。方式：3D認識・加工軌道生成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レーザースキャンした形状から加工軌道を生成。図面・パタン教示不要との説明。AI方式の利用は未確認。（共同ブースで展示予定）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未登録形状の対応範囲、干渉確認、取り残しと加工品質。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生成AIによるロボット駆動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S2001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具体作業は未公表。方式：生成AI・オープンプラットフォーム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生成AIによるロボット駆動事例を予告。入力、動作生成、検証、実行の構成と対象作業は現地確認が必要。（展示予定／詳細未公表）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既知・未知条件への対応、AI担当処理、成功率と介入条件。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B7DA44E9-1A71-4536-B286-EF79D561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認識、軌道生成、実行、完了確認の担当範囲で比較。フィジカルAIの呼称と確認済み機能を併記する。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6B7419E-14BE-4AB7-A910-78176FAFC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681E56A-CED4-422F-97EC-F719FBC9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09 / 22</a:t>
            </a:r>
          </a:p>
        </p:txBody>
      </p:sp>
    </p:spTree>
    <p:extLst>
      <p:ext uri="{BB962C8B-B14F-4D97-AF65-F5344CB8AC3E}">
        <p14:creationId xmlns:p14="http://schemas.microsoft.com/office/powerpoint/2010/main" val="4209091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D503A192-24B8-4E96-BD6A-091325D5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T07 段取り・搬送・加工セル自動化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83537F7E-0AE5-4794-A124-94158F9B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顧客ニーズ：多品種・変量生産での品種切替え、供給・回収、長時間無人運転に残る人手を削減。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8F1AA0-E1A9-4A3D-AB8C-FC8B1F7DB3B1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MATRIS WPH 210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E8005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ワーク・パレット供給。方式：ハンドリングシステム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ワークとパレットの両方を供給するシステム。品種・ロットの変化に応じた供給と切替えが比較点。（日本初公開予定）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ワーク・治具の事前準備、切替え手順、無人継続を妨げる作業。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中村留精密工業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RoboSync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E2027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移設後の位置復旧。方式：マーカー認識・相対位置補正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移設後にマーカーを読み、工作機械との相対位置を補正。既存パレット・台車を利用する省スペース構成。（展示予定）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再教示の残作業、位置誤差の許容範囲、品種変更時の設定。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ARMROID／OMR20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機内作業・ワーク供給。方式：機内ロボット／移動式協働ロボット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機内組込みのARMROIDと、機械脇へ配置するOMR20を出展。設置方式と段取り負担を比較する。（展示予定）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担当作業、品種切替え、安全領域、停止後の復帰手順。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6885F56F-B3DA-43D5-B39F-CA51CAAF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段取り機構、位置補正、供給システム、工程間搬送を区別。AI利用の有無より対応する変動条件を見る。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6484BB1F-1717-4E72-A31D-53B134B1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6F04946-627B-4A9B-93E3-1CDDEC0C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10 / 22</a:t>
            </a:r>
          </a:p>
        </p:txBody>
      </p:sp>
    </p:spTree>
    <p:extLst>
      <p:ext uri="{BB962C8B-B14F-4D97-AF65-F5344CB8AC3E}">
        <p14:creationId xmlns:p14="http://schemas.microsoft.com/office/powerpoint/2010/main" val="2084973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3FDBD728-6FFB-477A-9C30-46152031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T08 設備診断・予知保全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3F79536C-112F-4197-88C2-A88E07D89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顧客ニーズ：故障の事前把握、診断・復旧時間短縮、保全知識の属人化解消。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069CD-556B-450D-9C1C-3F165F4A1E6E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Condition Agent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E8005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機械状態の診断。方式：診断用NC・クラウド分析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診断専用NCを実行してデータを取得し、クラウドで分析。2026年4月受注分から対象機へ標準搭載する説明。（提供開始／個別展示未確認）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診断対象部位、通常運転ログとの差、異常判定後の保全手順。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ムラテックCCS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プライマリドクタサービス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E3031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稼働中の劣化・異常診断。方式：電流・振動等のAI解析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稼働中の電流・振動等を新品状態と比較し劣化・異常を診断するとの説明。（展示予定）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負荷・加工条件の違いの補正、故障モード別の検知性能。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ベッコフ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TwinCAT CoAgent for Operations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原因診断・運用支援。方式：生成AI・設備データ／文書参照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ライブデータ、ログ、保守文書から原因仮説・対処案を生成。コマンド実行も説明するが権限範囲は未公開。（製品発表／投入時期要問合せ）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原因の裏付け、実行可能な命令、人の承認、失敗時の復旧。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492AB7D6-6731-4862-BCAF-4565C775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専用診断動作、通常稼働データの異常検知、対話型の原因・対処支援を区別する。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4D84813-CC07-40A0-A77D-3356FF75C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73B99D1-7EB8-437C-B171-EA42FE38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11 / 22</a:t>
            </a:r>
          </a:p>
        </p:txBody>
      </p:sp>
    </p:spTree>
    <p:extLst>
      <p:ext uri="{BB962C8B-B14F-4D97-AF65-F5344CB8AC3E}">
        <p14:creationId xmlns:p14="http://schemas.microsoft.com/office/powerpoint/2010/main" val="13520651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F213347A-D0CD-4165-882F-31F8E4F8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T09 生産スケジューリング・MES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A77522F-BAE5-4A68-8DC9-7216C0B9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顧客ニーズ：納期・設備負荷・進捗変化への計画調整と、指示・実績・履歴の分断解消。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C5DE1-46B9-4357-93A5-71C00188DD24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ものレボ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MonoRevo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W3042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工程計画・負荷調整。方式：自動スケジューリング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工程設計・計画・進捗をまとめて管理し、自動スケジューリングを支援。AIの担当処理は未確認。（展示予定）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設備・作業者・工具の制約、割込時の再計画、計画の確定者。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Smart Craft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Smart Craft MES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S3002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作業指示・実績・履歴管理。方式：MES・API連携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作業記録、指示、履歴を一元管理し外部システムとAPI連携。自動最適計画の実装とは分けて扱う。（展示予定）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設備実績との接続、計画系との更新周期、現場入力の負担。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WinTool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WinTool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E1049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工具・工程資源の管理。方式：工具DB・在庫ルール連携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工具情報と現物・工程資源を連携し、在庫ルールに基づく購買要求を扱う。（展示予定）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計画に必要な工具可用性、CAM・プリセット・在庫の対応。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A0D6789D-F3DE-499F-8985-20E9398A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日程を決めるスケジューラと、指示・実績を管理するMESを分けて比較する。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24C492B9-D91A-41AB-8239-1B50D40D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B527599A-14C5-42A1-A4D0-1AD0F996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12 / 22</a:t>
            </a:r>
          </a:p>
        </p:txBody>
      </p:sp>
    </p:spTree>
    <p:extLst>
      <p:ext uri="{BB962C8B-B14F-4D97-AF65-F5344CB8AC3E}">
        <p14:creationId xmlns:p14="http://schemas.microsoft.com/office/powerpoint/2010/main" val="857146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0297536-FDC8-4A11-8515-E63C3C5A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T10 制御ソフトウェア開発支援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D0487CB8-FD0A-4A27-BA68-E3881D20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顧客ニーズ：PLCプログラミング、I/O構成、HMI・電気設計に必要な開発工数の削減。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7CEFD6-618A-4440-9007-E6EE2130A2F9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ベッコフ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TwinCAT CoAgent for Engineering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PLCコード作成。方式：生成AI・プロジェクト文脈参照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要求と既存プロジェクトの文脈に基づきPLCコード案を提案。人が確認し制御プロジェクトへ採用する。（展示告知＋製品資料）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既存コード・ライブラリの参照、生成コードの検証と採用手順。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ベッコフ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TwinCAT CoAgent for Engineering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I/O・HMI作成。方式：生成AIによる構成・画面支援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I/O構成とHMI生成・操作を支援。PLCコード生成と同じ製品内でも対象成果物を分けて確認する。（展示告知＋製品資料）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要件からの構成生成、変更整合性、実機接続前の検証。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EPLAN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Eplan Copilot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S1067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電気設計の支援。方式：生成AI・設計文脈参照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設計の文脈に応じた回答・推奨・手順を生成。設計データをどこまで自動作成するかを確認する。（展示予定）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回答支援と設計変更の範囲、標準回路・部品DBの利用。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A50473DA-0C6D-4DDA-8782-FDA7F8C0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プログラムや設計案の生成はエンジニアリング支援。設備の自律運転とは別に評価する。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BFE885D-B1E5-483C-8347-00878D3F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0804D47A-F6E7-4FBF-80E3-0219B528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13 / 22</a:t>
            </a:r>
          </a:p>
        </p:txBody>
      </p:sp>
    </p:spTree>
    <p:extLst>
      <p:ext uri="{BB962C8B-B14F-4D97-AF65-F5344CB8AC3E}">
        <p14:creationId xmlns:p14="http://schemas.microsoft.com/office/powerpoint/2010/main" val="6182988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8A77749F-5B54-43B1-9084-8EA9F270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T11 製造データ基盤・デジタルツイン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A5554B0F-3B45-402C-B312-5BAED2F2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顧客ニーズ：設備・工程データの連携、AIの制御実装、仮想検証・学習に必要なデータ準備。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924D78-5F25-44AC-A460-6012FA825719}"/>
              </a:ext>
            </a:extLst>
          </p:cNvPr>
          <p:cNvGraphicFramePr/>
          <p:nvPr/>
        </p:nvGraphicFramePr>
        <p:xfrm>
          <a:off xmlns:a="http://schemas.openxmlformats.org/drawingml/2006/main" x="819150" y="2571750"/>
          <a:ext xmlns:a="http://schemas.openxmlformats.org/drawingml/2006/main" cx="16649700" cy="614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2952750"/>
                <a:gridCol w="5953125"/>
                <a:gridCol w="4219575"/>
              </a:tblGrid>
              <a:tr h="6000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企業・製品・ブース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対象タスク・実現方式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技術内容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現地確認事項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ベッコフ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TwinCAT Machine Learning Creator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E2028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AIモデル作成・制御実装。方式：AutoML・ONNX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人が用意したデータから学習・モデル選択・評価を支援。ONNX等で出力し、制御側へ実装する。（展示予定／既存基盤）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必要データ・ラベル、推論周期、更新時の評価・差戻し。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シーメンス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Digital Thread／工作機械ツイン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E3006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設計・加工・品質の連携。方式：デジタルスレッド・機械ツイン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SINUMERIK ONEを搭載したHeller Toknの工作機械ツインと、Equatorによる工程内品質保証を実演予定。（展示予定）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設計変更・加工条件・測定結果のデータ対応と更新の自動化。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8478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NdotLight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TRINIX</a:t>
                      </a:r>
                    </a:p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S4004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物理シミュレーション用データ作成。方式：CAD生成・SimReady変換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CAD等から形状・関節・物理属性を生成し、USD／URDF／MJCF等へ出力するとの説明。（展示予定／実機精度未検証）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0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質量・摩擦の実測と推定の区別、生成物の検証、実機との差。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chnical-distinction">
            <a:extLst xmlns:a="http://schemas.openxmlformats.org/drawingml/2006/main">
              <a:ext uri="{FF2B5EF4-FFF2-40B4-BE49-F238E27FC236}">
                <a16:creationId xmlns:a16="http://schemas.microsoft.com/office/drawing/2014/main" id="{3F318744-6739-4C89-B3D4-37B7D8E3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896350"/>
            <a:ext cx="16621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1950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設備接続、モデル作成・実装、工作機械の仮想検証、物理シミュレーション用データは異なる基盤機能。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4F1B4DC-9683-457A-878F-69284E36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出展予定と製品資料を照合。個別展示未確認の機能は明示。製品版・性能・人の介入は現地確認。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A07F2740-BF32-4887-9D5A-C0C721D1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14 / 22</a:t>
            </a:r>
          </a:p>
        </p:txBody>
      </p:sp>
    </p:spTree>
    <p:extLst>
      <p:ext uri="{BB962C8B-B14F-4D97-AF65-F5344CB8AC3E}">
        <p14:creationId xmlns:p14="http://schemas.microsoft.com/office/powerpoint/2010/main" val="16529882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ding">
            <a:extLst xmlns:a="http://schemas.openxmlformats.org/drawingml/2006/main">
              <a:ext uri="{FF2B5EF4-FFF2-40B4-BE49-F238E27FC236}">
                <a16:creationId xmlns:a16="http://schemas.microsoft.com/office/drawing/2014/main" id="{32B157A9-1A2E-40B9-A114-D22A86AC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フィジカルAIの調査・報告基準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9F6BC523-337F-4876-8BA7-36AFDB6A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作業定義：AIが現実環境を知覚し、その状態に応じて物理的な行動を選択・生成・調整する技術。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21DC3-3106-4DD0-9E9F-F02EBC1C3F8A}"/>
              </a:ext>
            </a:extLst>
          </p:cNvPr>
          <p:cNvGraphicFramePr/>
          <p:nvPr/>
        </p:nvGraphicFramePr>
        <p:xfrm>
          <a:off xmlns:a="http://schemas.openxmlformats.org/drawingml/2006/main" x="819150" y="2647950"/>
          <a:ext xmlns:a="http://schemas.openxmlformats.org/drawingml/2006/main" cx="16649700" cy="508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524250"/>
                <a:gridCol w="13125450"/>
              </a:tblGrid>
              <a:tr h="5905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評価項目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確認・記録する内容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11239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適用タスク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搬入出、切粉除去、面取りなど、担当作業を特定する。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認識・判断方式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画像・力覚等の入力と、学習モデル／幾何処理／ルールの担当を確認する。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11239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動作の適応範囲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位置・形状・状態を変えた際の動作変更と、再教示の必要量を確認する。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完了・失敗処理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250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完了確認、再試行、人への引継ぎ、許可された動作範囲を記録する。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definition-note">
            <a:extLst xmlns:a="http://schemas.openxmlformats.org/drawingml/2006/main">
              <a:ext uri="{FF2B5EF4-FFF2-40B4-BE49-F238E27FC236}">
                <a16:creationId xmlns:a16="http://schemas.microsoft.com/office/drawing/2014/main" id="{F710DC07-0FE0-48DE-8916-18C56B51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972425"/>
            <a:ext cx="16525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1">
                <a:solidFill>
                  <a:srgbClr val="087B81"/>
                </a:solidFill>
                <a:latin typeface="Yu Gothic UI"/>
                <a:ea typeface="Yu Gothic UI"/>
                <a:cs typeface="Yu Gothic UI"/>
              </a:rPr>
              <a:t>固定設置・単一タスクでも適応動作を持ち得る。VLAや基盤モデルの使用は別項目で確認し、名称だけで最新方式と判定しない。</a:t>
            </a:r>
          </a:p>
        </p:txBody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D5402C9-9E4B-4E25-8A9B-4F9480DB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本調査の作業定義であり、業界統一規格ではない。TR-20W・3D形状認識加工・ファナックの違いはT06を参照。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A6ABBA9-C333-44C9-9833-0640CB76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15 / 22</a:t>
            </a:r>
          </a:p>
        </p:txBody>
      </p:sp>
    </p:spTree>
    <p:extLst>
      <p:ext uri="{BB962C8B-B14F-4D97-AF65-F5344CB8AC3E}">
        <p14:creationId xmlns:p14="http://schemas.microsoft.com/office/powerpoint/2010/main" val="9845893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ing">
            <a:extLst xmlns:a="http://schemas.openxmlformats.org/drawingml/2006/main">
              <a:ext uri="{FF2B5EF4-FFF2-40B4-BE49-F238E27FC236}">
                <a16:creationId xmlns:a16="http://schemas.microsoft.com/office/drawing/2014/main" id="{50840DE4-D238-4E3E-87BB-83950C93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原文根拠：工程設計・現場適応の開発方向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C0BCFF94-52EB-4374-86B3-E073B204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本文の解釈を確認するための短い原文抜粋。発言者・記事種別・文脈を併記する。全46抜粋は別添HTML原文集に収録。</a:t>
            </a:r>
          </a:p>
        </p:txBody>
      </p:sp>
      <p:sp>
        <p:nvSpPr>
          <p:cNvPr id="3" name="quote-Q05">
            <a:extLst xmlns:a="http://schemas.openxmlformats.org/drawingml/2006/main">
              <a:ext uri="{FF2B5EF4-FFF2-40B4-BE49-F238E27FC236}">
                <a16:creationId xmlns:a16="http://schemas.microsoft.com/office/drawing/2014/main" id="{EFF6561C-47F4-473C-BA66-F9548165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657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「「何をどのように加工したいのか」という作業者の意図や目的」</a:t>
            </a:r>
          </a:p>
        </p:txBody>
      </p:sp>
      <p:sp>
        <p:nvSpPr>
          <p:cNvPr id="4" name="attribution-Q05">
            <a:extLst xmlns:a="http://schemas.openxmlformats.org/drawingml/2006/main">
              <a:ext uri="{FF2B5EF4-FFF2-40B4-BE49-F238E27FC236}">
                <a16:creationId xmlns:a16="http://schemas.microsoft.com/office/drawing/2014/main" id="{11960651-06C3-4BE8-A5B8-071A7003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657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  <a:hlinkClick xmlns:r="http://schemas.openxmlformats.org/officeDocument/2006/relationships" r:id="R5f0d99e30a594a51"/>
              </a:rPr>
              <a:t>Q05　MONOistの記者説明。マザック共同開発を取材　2026-10-19</a:t>
            </a:r>
          </a:p>
        </p:txBody>
      </p:sp>
      <p:sp>
        <p:nvSpPr>
          <p:cNvPr id="5" name="meaning-Q05">
            <a:extLst xmlns:a="http://schemas.openxmlformats.org/drawingml/2006/main">
              <a:ext uri="{FF2B5EF4-FFF2-40B4-BE49-F238E27FC236}">
                <a16:creationId xmlns:a16="http://schemas.microsoft.com/office/drawing/2014/main" id="{ED3C2C76-5767-439B-BABD-6D4D3AC4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1657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文脈〔要約〕：対話プログラムの加工意図と判断結果を学習する方式を説明する。</a:t>
            </a:r>
          </a:p>
        </p:txBody>
      </p:sp>
      <p:sp>
        <p:nvSpPr>
          <p:cNvPr id="6" name="quote-Q07">
            <a:extLst xmlns:a="http://schemas.openxmlformats.org/drawingml/2006/main">
              <a:ext uri="{FF2B5EF4-FFF2-40B4-BE49-F238E27FC236}">
                <a16:creationId xmlns:a16="http://schemas.microsoft.com/office/drawing/2014/main" id="{21282A09-FB1B-40C5-A8EE-9D7D5B4C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657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「周囲の環境を見て確認し、いろいろな演算をAIが行う」</a:t>
            </a:r>
          </a:p>
        </p:txBody>
      </p:sp>
      <p:sp>
        <p:nvSpPr>
          <p:cNvPr id="7" name="attribution-Q07">
            <a:extLst xmlns:a="http://schemas.openxmlformats.org/drawingml/2006/main">
              <a:ext uri="{FF2B5EF4-FFF2-40B4-BE49-F238E27FC236}">
                <a16:creationId xmlns:a16="http://schemas.microsoft.com/office/drawing/2014/main" id="{A6952261-B8E2-40BC-830C-FB4FAFB4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657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  <a:hlinkClick xmlns:r="http://schemas.openxmlformats.org/officeDocument/2006/relationships" r:id="R180631cf41174807"/>
              </a:rPr>
              <a:t>Q07　ファナック 安部健一郎氏の取材発言　2026-07-02</a:t>
            </a:r>
          </a:p>
        </p:txBody>
      </p:sp>
      <p:sp>
        <p:nvSpPr>
          <p:cNvPr id="8" name="meaning-Q07">
            <a:extLst xmlns:a="http://schemas.openxmlformats.org/drawingml/2006/main">
              <a:ext uri="{FF2B5EF4-FFF2-40B4-BE49-F238E27FC236}">
                <a16:creationId xmlns:a16="http://schemas.microsoft.com/office/drawing/2014/main" id="{53EC6F7C-652B-4967-A778-2984C605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657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文脈〔要約〕：決められた反復動作に対し、環境を確認してAIの演算を用いるソリューションを説明する。</a:t>
            </a:r>
          </a:p>
        </p:txBody>
      </p:sp>
      <p:sp>
        <p:nvSpPr>
          <p:cNvPr id="9" name="quote-Q06">
            <a:extLst xmlns:a="http://schemas.openxmlformats.org/drawingml/2006/main">
              <a:ext uri="{FF2B5EF4-FFF2-40B4-BE49-F238E27FC236}">
                <a16:creationId xmlns:a16="http://schemas.microsoft.com/office/drawing/2014/main" id="{7E0679AF-3527-43AA-A031-18ED3464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657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「現場固有のルールを継続的に学習します。」</a:t>
            </a:r>
          </a:p>
        </p:txBody>
      </p:sp>
      <p:sp>
        <p:nvSpPr>
          <p:cNvPr id="10" name="attribution-Q06">
            <a:extLst xmlns:a="http://schemas.openxmlformats.org/drawingml/2006/main">
              <a:ext uri="{FF2B5EF4-FFF2-40B4-BE49-F238E27FC236}">
                <a16:creationId xmlns:a16="http://schemas.microsoft.com/office/drawing/2014/main" id="{7C1BFDF2-DA66-4EA9-89FE-04DF2A2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34150"/>
            <a:ext cx="1657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  <a:hlinkClick xmlns:r="http://schemas.openxmlformats.org/officeDocument/2006/relationships" r:id="R89556e6fbc8f486a"/>
              </a:rPr>
              <a:t>Q06　日立・ファナックの共同発表をファナックが掲載　2026-09-30</a:t>
            </a:r>
          </a:p>
        </p:txBody>
      </p:sp>
      <p:sp>
        <p:nvSpPr>
          <p:cNvPr id="11" name="meaning-Q06">
            <a:extLst xmlns:a="http://schemas.openxmlformats.org/drawingml/2006/main">
              <a:ext uri="{FF2B5EF4-FFF2-40B4-BE49-F238E27FC236}">
                <a16:creationId xmlns:a16="http://schemas.microsoft.com/office/drawing/2014/main" id="{182D1A55-D9F6-4C1A-B436-D47371D3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24675"/>
            <a:ext cx="1657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文脈〔要約〕：日立の工場で共同実証し、現場課題へ柔軟に対応する実用化計画の一節。</a:t>
            </a:r>
          </a:p>
        </p:txBody>
      </p:sp>
      <p:sp>
        <p:nvSpPr>
          <p:cNvPr id="12" name="quote-Q14">
            <a:extLst xmlns:a="http://schemas.openxmlformats.org/drawingml/2006/main">
              <a:ext uri="{FF2B5EF4-FFF2-40B4-BE49-F238E27FC236}">
                <a16:creationId xmlns:a16="http://schemas.microsoft.com/office/drawing/2014/main" id="{26390B80-897E-414B-8FE9-0979E98A2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77125"/>
            <a:ext cx="1657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「The software helps execute decisions, but it doesn’t retain the reasoning behind them.」</a:t>
            </a:r>
          </a:p>
        </p:txBody>
      </p:sp>
      <p:sp>
        <p:nvSpPr>
          <p:cNvPr id="13" name="attribution-Q14">
            <a:extLst xmlns:a="http://schemas.openxmlformats.org/drawingml/2006/main">
              <a:ext uri="{FF2B5EF4-FFF2-40B4-BE49-F238E27FC236}">
                <a16:creationId xmlns:a16="http://schemas.microsoft.com/office/drawing/2014/main" id="{0C2D11D4-FCEA-4DEF-A071-C1DD872B5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62925"/>
            <a:ext cx="1657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  <a:hlinkClick xmlns:r="http://schemas.openxmlformats.org/officeDocument/2006/relationships" r:id="R9d97b8daa3294281"/>
              </a:rPr>
              <a:t>Q14　Hexagon公式ブログの執筆者による説明　2026-04-29</a:t>
            </a:r>
          </a:p>
        </p:txBody>
      </p:sp>
      <p:sp>
        <p:nvSpPr>
          <p:cNvPr id="14" name="meaning-Q14">
            <a:extLst xmlns:a="http://schemas.openxmlformats.org/drawingml/2006/main">
              <a:ext uri="{FF2B5EF4-FFF2-40B4-BE49-F238E27FC236}">
                <a16:creationId xmlns:a16="http://schemas.microsoft.com/office/drawing/2014/main" id="{BF328868-C099-44CC-B1BF-9C96BF71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53450"/>
            <a:ext cx="1657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文脈〔要約〕：CAMの機能だけでなく、過去の考え方を次のプログラミングで使う課題を述べる。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73E4262D-9FE4-4612-97C2-1E98D6C44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原文の連続部分を抜粋。開発構想・研究方針の表明を、製品性能や展示での達成証明とは扱わない。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2A98870A-DB1F-45F0-9883-D138532A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16 / 22</a:t>
            </a:r>
          </a:p>
        </p:txBody>
      </p:sp>
    </p:spTree>
    <p:extLst>
      <p:ext uri="{BB962C8B-B14F-4D97-AF65-F5344CB8AC3E}">
        <p14:creationId xmlns:p14="http://schemas.microsoft.com/office/powerpoint/2010/main" val="9546565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heading">
            <a:extLst xmlns:a="http://schemas.openxmlformats.org/drawingml/2006/main">
              <a:ext uri="{FF2B5EF4-FFF2-40B4-BE49-F238E27FC236}">
                <a16:creationId xmlns:a16="http://schemas.microsoft.com/office/drawing/2014/main" id="{4E1DE7D0-1501-435A-9AF2-0CADCE52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原文根拠：製造データ・物理モデル・工程統合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06335297-ED69-4DAC-9873-C00642D9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本文の解釈を確認するための短い原文抜粋。発言者・記事種別・文脈を併記する。全46抜粋は別添HTML原文集に収録。</a:t>
            </a:r>
          </a:p>
        </p:txBody>
      </p:sp>
      <p:sp>
        <p:nvSpPr>
          <p:cNvPr id="3" name="quote-Q02">
            <a:extLst xmlns:a="http://schemas.openxmlformats.org/drawingml/2006/main">
              <a:ext uri="{FF2B5EF4-FFF2-40B4-BE49-F238E27FC236}">
                <a16:creationId xmlns:a16="http://schemas.microsoft.com/office/drawing/2014/main" id="{4C6EBFF0-DE1D-428F-86CB-2992C3F2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90800"/>
            <a:ext cx="1657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「市場投入後の設備から継続的にデータを収集・学習・還元する仕組み」</a:t>
            </a:r>
          </a:p>
        </p:txBody>
      </p:sp>
      <p:sp>
        <p:nvSpPr>
          <p:cNvPr id="4" name="attribution-Q02">
            <a:extLst xmlns:a="http://schemas.openxmlformats.org/drawingml/2006/main">
              <a:ext uri="{FF2B5EF4-FFF2-40B4-BE49-F238E27FC236}">
                <a16:creationId xmlns:a16="http://schemas.microsoft.com/office/drawing/2014/main" id="{8FB36874-628D-429E-B0DA-2DE91DFD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1657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  <a:hlinkClick xmlns:r="http://schemas.openxmlformats.org/officeDocument/2006/relationships" r:id="R297bc3af10314554"/>
              </a:rPr>
              <a:t>Q02　DMG森精機の公式発表　2026-07-06</a:t>
            </a:r>
          </a:p>
        </p:txBody>
      </p:sp>
      <p:sp>
        <p:nvSpPr>
          <p:cNvPr id="5" name="meaning-Q02">
            <a:extLst xmlns:a="http://schemas.openxmlformats.org/drawingml/2006/main">
              <a:ext uri="{FF2B5EF4-FFF2-40B4-BE49-F238E27FC236}">
                <a16:creationId xmlns:a16="http://schemas.microsoft.com/office/drawing/2014/main" id="{41365E09-1241-4D3D-98AB-A268C3FB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1657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文脈〔要約〕：異常検知から品質予測・条件最適化、生産セルへ広げる計画の中の表現。</a:t>
            </a:r>
          </a:p>
        </p:txBody>
      </p:sp>
      <p:sp>
        <p:nvSpPr>
          <p:cNvPr id="6" name="quote-Q01">
            <a:extLst xmlns:a="http://schemas.openxmlformats.org/drawingml/2006/main">
              <a:ext uri="{FF2B5EF4-FFF2-40B4-BE49-F238E27FC236}">
                <a16:creationId xmlns:a16="http://schemas.microsoft.com/office/drawing/2014/main" id="{975FDC2B-8738-4387-8DC1-E2EB77B3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19575"/>
            <a:ext cx="1657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「製造工程の現象理解に基づく製造データ取得の支援」</a:t>
            </a:r>
          </a:p>
        </p:txBody>
      </p:sp>
      <p:sp>
        <p:nvSpPr>
          <p:cNvPr id="7" name="attribution-Q01">
            <a:extLst xmlns:a="http://schemas.openxmlformats.org/drawingml/2006/main">
              <a:ext uri="{FF2B5EF4-FFF2-40B4-BE49-F238E27FC236}">
                <a16:creationId xmlns:a16="http://schemas.microsoft.com/office/drawing/2014/main" id="{486BCDA4-A666-4509-98C6-14A180DC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657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  <a:hlinkClick xmlns:r="http://schemas.openxmlformats.org/officeDocument/2006/relationships" r:id="R968c8eee23dc47ce"/>
              </a:rPr>
              <a:t>Q01　産総研の公式説明　2026-07-02</a:t>
            </a:r>
          </a:p>
        </p:txBody>
      </p:sp>
      <p:sp>
        <p:nvSpPr>
          <p:cNvPr id="8" name="meaning-Q01">
            <a:extLst xmlns:a="http://schemas.openxmlformats.org/drawingml/2006/main">
              <a:ext uri="{FF2B5EF4-FFF2-40B4-BE49-F238E27FC236}">
                <a16:creationId xmlns:a16="http://schemas.microsoft.com/office/drawing/2014/main" id="{C1594B10-35F7-4E32-9F66-2BFB7B5C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657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文脈〔要約〕：拠点に期待される支援として、取得設計、匿名化・構造化、AI開発を説明する。</a:t>
            </a:r>
          </a:p>
        </p:txBody>
      </p:sp>
      <p:sp>
        <p:nvSpPr>
          <p:cNvPr id="9" name="quote-Q24">
            <a:extLst xmlns:a="http://schemas.openxmlformats.org/drawingml/2006/main">
              <a:ext uri="{FF2B5EF4-FFF2-40B4-BE49-F238E27FC236}">
                <a16:creationId xmlns:a16="http://schemas.microsoft.com/office/drawing/2014/main" id="{57538935-BAB7-4A0C-B2DE-8D3F1DE82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48350"/>
            <a:ext cx="1657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「まずはシミュレーションのモデルをしっかりと作り込んで」</a:t>
            </a:r>
          </a:p>
        </p:txBody>
      </p:sp>
      <p:sp>
        <p:nvSpPr>
          <p:cNvPr id="10" name="attribution-Q24">
            <a:extLst xmlns:a="http://schemas.openxmlformats.org/drawingml/2006/main">
              <a:ext uri="{FF2B5EF4-FFF2-40B4-BE49-F238E27FC236}">
                <a16:creationId xmlns:a16="http://schemas.microsoft.com/office/drawing/2014/main" id="{16B9C328-94E5-4A9C-8FEA-3286FCE20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534150"/>
            <a:ext cx="1657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  <a:hlinkClick xmlns:r="http://schemas.openxmlformats.org/officeDocument/2006/relationships" r:id="R919640c51efd42b0"/>
              </a:rPr>
              <a:t>Q24　DMG森精機 森雅彦氏の取材発言　2025-09-26</a:t>
            </a:r>
          </a:p>
        </p:txBody>
      </p:sp>
      <p:sp>
        <p:nvSpPr>
          <p:cNvPr id="11" name="meaning-Q24">
            <a:extLst xmlns:a="http://schemas.openxmlformats.org/drawingml/2006/main">
              <a:ext uri="{FF2B5EF4-FFF2-40B4-BE49-F238E27FC236}">
                <a16:creationId xmlns:a16="http://schemas.microsoft.com/office/drawing/2014/main" id="{BE2965E3-4CB5-4C28-8645-3308B4AF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924675"/>
            <a:ext cx="1657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文脈〔要約〕：研究論文への言及として、モデルを土台にAIを使う方法へ関心を示す。</a:t>
            </a:r>
          </a:p>
        </p:txBody>
      </p:sp>
      <p:sp>
        <p:nvSpPr>
          <p:cNvPr id="12" name="quote-Q11">
            <a:extLst xmlns:a="http://schemas.openxmlformats.org/drawingml/2006/main">
              <a:ext uri="{FF2B5EF4-FFF2-40B4-BE49-F238E27FC236}">
                <a16:creationId xmlns:a16="http://schemas.microsoft.com/office/drawing/2014/main" id="{8E29018D-9655-46CD-82EF-EE132F9C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477125"/>
            <a:ext cx="1657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40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「AI must operate on the current state of the factory.」</a:t>
            </a:r>
          </a:p>
        </p:txBody>
      </p:sp>
      <p:sp>
        <p:nvSpPr>
          <p:cNvPr id="13" name="attribution-Q11">
            <a:extLst xmlns:a="http://schemas.openxmlformats.org/drawingml/2006/main">
              <a:ext uri="{FF2B5EF4-FFF2-40B4-BE49-F238E27FC236}">
                <a16:creationId xmlns:a16="http://schemas.microsoft.com/office/drawing/2014/main" id="{68D1E62A-2842-458A-B680-E59C4737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162925"/>
            <a:ext cx="1657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725" b="0">
                <a:solidFill>
                  <a:srgbClr val="536774"/>
                </a:solidFill>
                <a:latin typeface="Yu Gothic UI"/>
                <a:ea typeface="Yu Gothic UI"/>
                <a:cs typeface="Yu Gothic UI"/>
                <a:hlinkClick xmlns:r="http://schemas.openxmlformats.org/officeDocument/2006/relationships" r:id="Ra439277df3844d30"/>
              </a:rPr>
              <a:t>Q11　Siemensの公式ブログ　2026-07-08</a:t>
            </a:r>
          </a:p>
        </p:txBody>
      </p:sp>
      <p:sp>
        <p:nvSpPr>
          <p:cNvPr id="14" name="meaning-Q11">
            <a:extLst xmlns:a="http://schemas.openxmlformats.org/drawingml/2006/main">
              <a:ext uri="{FF2B5EF4-FFF2-40B4-BE49-F238E27FC236}">
                <a16:creationId xmlns:a16="http://schemas.microsoft.com/office/drawing/2014/main" id="{7B6F9D60-69F4-4DE6-97F2-14D971B5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553450"/>
            <a:ext cx="16573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1875" b="0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文脈〔要約〕：過去のスナップショットだけでなく現在の状態を使う方針。</a:t>
            </a:r>
          </a:p>
        </p:txBody>
      </p:sp>
      <p:sp>
        <p:nvSpPr>
          <p:cNvPr id="15" name="footer">
            <a:extLst xmlns:a="http://schemas.openxmlformats.org/drawingml/2006/main">
              <a:ext uri="{FF2B5EF4-FFF2-40B4-BE49-F238E27FC236}">
                <a16:creationId xmlns:a16="http://schemas.microsoft.com/office/drawing/2014/main" id="{2107EA4D-BB94-4C3B-9E32-B92ED8E6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原文の連続部分を抜粋。開発構想・研究方針の表明を、製品性能や展示での達成証明とは扱わない。</a:t>
            </a:r>
          </a:p>
        </p:txBody>
      </p:sp>
      <p:sp>
        <p:nvSpPr>
          <p:cNvPr id="16" name="page">
            <a:extLst xmlns:a="http://schemas.openxmlformats.org/drawingml/2006/main">
              <a:ext uri="{FF2B5EF4-FFF2-40B4-BE49-F238E27FC236}">
                <a16:creationId xmlns:a16="http://schemas.microsoft.com/office/drawing/2014/main" id="{8C8435A1-9D3C-42BA-B2B3-BF658D49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17 / 22</a:t>
            </a:r>
          </a:p>
        </p:txBody>
      </p:sp>
    </p:spTree>
    <p:extLst>
      <p:ext uri="{BB962C8B-B14F-4D97-AF65-F5344CB8AC3E}">
        <p14:creationId xmlns:p14="http://schemas.microsoft.com/office/powerpoint/2010/main" val="2692122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EBAB8CBF-DD8B-4EF2-90B8-411B1BC6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主要33社の展示索引 1 / 4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0495030-38EF-42B6-9A70-4096B218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大手の展示を追加で確認する索引。AI機能が未確認の場合も、実際の加工・自動化・工具・計測の展示で位置付ける。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7C95D-506E-478F-93EA-76889224A00D}"/>
              </a:ext>
            </a:extLst>
          </p:cNvPr>
          <p:cNvGraphicFramePr/>
          <p:nvPr/>
        </p:nvGraphicFramePr>
        <p:xfrm>
          <a:off xmlns:a="http://schemas.openxmlformats.org/drawingml/2006/main" x="819150" y="2095500"/>
          <a:ext xmlns:a="http://schemas.openxmlformats.org/drawingml/2006/main" cx="16649700" cy="7324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191000"/>
                <a:gridCol w="3048000"/>
                <a:gridCol w="6362700"/>
              </a:tblGrid>
              <a:tr h="5524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展示品・ソリューション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7524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DMG森精機　E8005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MATRIS WPH 210／AMR 1000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段取り・搬送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供給・搬送の接続と品種切替え。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ヤマザキマザック　E1001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INTEGREX／AIソリューション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工程集約・工程設計AI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共同開発AIの実演有無と準備・計画の自動化範囲。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524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オークマ　E3028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ARMROID／OMR20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機内作業・供給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機内組込みと移動式の段取り・復帰。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牧野フライス製作所　E1024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MASシリーズ／生産ラインエンジニアリング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加工セル・ライン統合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加工・供給・計測を統括する範囲。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524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ファナック　S2001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フィジカルAI CNC／生成AIロボット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知的作業・ロボット動作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AIが変更する判断・動作と変動条件。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三菱電機　S2003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CNC省人化／新開発スケジューラ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加工支援・自動化運用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計画制約、加工・保全へのAI適用。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524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シーメンス　E3006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SINUMERIK ONE／工作機械ツイン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デジタルスレッド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設計・加工・品質データの受渡し。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524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ジェイテクト　E8003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G5P250G／工場ソリューション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熟練研削・資源管理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熟練加工の再現方法と人・設備の管理。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5247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ニデックマシンツール　E3011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MVR-Hx／Nidec NC Twin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加工前検証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機械・制御モデルの再現範囲。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84FA73AF-52ED-4678-87E8-004DEAD2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出展者の公開説明を要約。AI機能の未確認と、AIを使用しないという確認は区別。東京精密は展示内容未取得。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76FEA4-2AD1-466F-939D-B84E2394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18 / 22</a:t>
            </a:r>
          </a:p>
        </p:txBody>
      </p:sp>
    </p:spTree>
    <p:extLst>
      <p:ext uri="{BB962C8B-B14F-4D97-AF65-F5344CB8AC3E}">
        <p14:creationId xmlns:p14="http://schemas.microsoft.com/office/powerpoint/2010/main" val="19346989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5F111915-DB84-46E3-9C31-065B16F8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主要33社の展示索引 2 / 4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F2E3038D-DA30-48B9-A850-3AC9F585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大手の展示を追加で確認する索引。AI機能が未確認の場合も、実際の加工・自動化・工具・計測の展示で位置付ける。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879153-9C6A-40DF-AE84-77673BEA5E12}"/>
              </a:ext>
            </a:extLst>
          </p:cNvPr>
          <p:cNvGraphicFramePr/>
          <p:nvPr/>
        </p:nvGraphicFramePr>
        <p:xfrm>
          <a:off xmlns:a="http://schemas.openxmlformats.org/drawingml/2006/main" x="819150" y="24003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191000"/>
                <a:gridCol w="3048000"/>
                <a:gridCol w="6362700"/>
              </a:tblGrid>
              <a:tr h="5524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展示品・ソリューション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ニデックオーケーケー　E3012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VB-X650／パレットストッカ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長時間無人運転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段取り、工具・パレットの容量制約。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ソディック　E2017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ALN600G＋搬送ロボット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放電加工の自動化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供給・加工・例外処理の連携。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アマダ　E2012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SDEW8010iⅢ＋ALFAS03KR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プレス加工自動化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供給から加工までの人作業と切替え。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ブラザー工業　E1055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SPEEDIO／PC-1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工程集約・段取り削減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工具本数・外段取り・パレット交換。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松浦機械製作所　E3030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MX-520T PC7／MiOS 4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多品種の無人運転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パレット・工具・運転順の管理。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シチズンマシナリー　S2002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自動計測／FA連携／LFV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自動盤の連続運転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計測補正・切粉対策とFA接続。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スター精密　S1003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SB-12RⅡほか／各種支援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小物部品加工・工程支援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自動化機能の担当工程。人型部品加工とAIロボットを区別。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ツガミ　S1004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TMA8F／VA3S＋ロボット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段取り・測定・供給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コレット交換と機外測定の連続運転。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2CC9FA8B-D0F7-4D84-A05F-C23E4FF5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出展者の公開説明を要約。AI機能の未確認と、AIを使用しないという確認は区別。東京精密は展示内容未取得。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05500F6-9B72-4CC6-91D6-6E9FC85E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19 / 22</a:t>
            </a:r>
          </a:p>
        </p:txBody>
      </p:sp>
    </p:spTree>
    <p:extLst>
      <p:ext uri="{BB962C8B-B14F-4D97-AF65-F5344CB8AC3E}">
        <p14:creationId xmlns:p14="http://schemas.microsoft.com/office/powerpoint/2010/main" val="3139824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BB884A99-5D88-4A22-BC07-040D4F75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主要33社の展示索引 3 / 4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7D999AD-40DF-4F71-BEC5-6132BBC8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大手の展示を追加で確認する索引。AI機能が未確認の場合も、実際の加工・自動化・工具・計測の展示で位置付ける。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10831-00B3-4F23-8B40-CEBDDFB3E43D}"/>
              </a:ext>
            </a:extLst>
          </p:cNvPr>
          <p:cNvGraphicFramePr/>
          <p:nvPr/>
        </p:nvGraphicFramePr>
        <p:xfrm>
          <a:off xmlns:a="http://schemas.openxmlformats.org/drawingml/2006/main" x="819150" y="24003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191000"/>
                <a:gridCol w="3048000"/>
                <a:gridCol w="6362700"/>
              </a:tblGrid>
              <a:tr h="5524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展示品・ソリューション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オーエスジー　W1070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MONOlithbox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工具管理DX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工具在庫・現物・工程データの対応。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三菱マテリアル　W1065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DXAS／RS0112ほか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工具・加工プロセス改善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加工条件選定・デジタル連携の有無。AI機能は未確認。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京セラ　W1046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VIMOA／EASY TOOL GUIDE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加工監視・工具選定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取得信号、分析対象、工具選定への反映。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タンガロイ　W1090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MATRIX 360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工具管理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工具在庫管理と加工・購買情報の連携。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ミツトヨ　E3008／E7085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自動計測／計測プラットフォーム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計測自動化・品質データ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測定の自動化と加工工程支援の接続。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東京精密　E7044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出展内容の保存情報なし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内容未確認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E7044は登録済み。展示品とAI・自動化機能を現地確認。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レニショー　E7089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Renishaw Central／Equator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計測・加工補正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IPCの補正先、閾値、異常時の扱い。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ハイデンハイン　E7043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VT 122＋VTC 6.0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工具検査・摩耗診断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画像判定からCNCへの情報連携。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E8A02C54-D690-449C-BAE5-04D71B38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出展者の公開説明を要約。AI機能の未確認と、AIを使用しないという確認は区別。東京精密は展示内容未取得。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E1F95FE-A340-418B-A7CE-EF0E46978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20 / 22</a:t>
            </a:r>
          </a:p>
        </p:txBody>
      </p:sp>
    </p:spTree>
    <p:extLst>
      <p:ext uri="{BB962C8B-B14F-4D97-AF65-F5344CB8AC3E}">
        <p14:creationId xmlns:p14="http://schemas.microsoft.com/office/powerpoint/2010/main" val="3730833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heading">
            <a:extLst xmlns:a="http://schemas.openxmlformats.org/drawingml/2006/main">
              <a:ext uri="{FF2B5EF4-FFF2-40B4-BE49-F238E27FC236}">
                <a16:creationId xmlns:a16="http://schemas.microsoft.com/office/drawing/2014/main" id="{B5515A12-B4A6-4B03-A4BF-056AD1EF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主要33社の展示索引 4 / 4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EDC2E567-033F-4191-BB5E-469ECD46D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大手の展示を追加で確認する索引。AI機能が未確認の場合も、実際の加工・自動化・工具・計測の展示で位置付ける。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A05A7-58A4-4D96-8EF2-82922FB6038F}"/>
              </a:ext>
            </a:extLst>
          </p:cNvPr>
          <p:cNvGraphicFramePr/>
          <p:nvPr/>
        </p:nvGraphicFramePr>
        <p:xfrm>
          <a:off xmlns:a="http://schemas.openxmlformats.org/drawingml/2006/main" x="819150" y="2400300"/>
          <a:ext xmlns:a="http://schemas.openxmlformats.org/drawingml/2006/main" cx="16649700" cy="6648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4191000"/>
                <a:gridCol w="3048000"/>
                <a:gridCol w="6362700"/>
              </a:tblGrid>
              <a:tr h="55245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企業・ブース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展示品・ソリューション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対象タスク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確認事項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ベッコフ　E2028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TwinCAT CNC／ML Creator／CoAgent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AI実装・制御開発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データ取得、モデル評価、実機制御の接続。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Hexagon　E7035／E2013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ProPlanAI／MAESTRO／PRESTO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工程設計・品質保証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CAMと品質保証は別ブース。用途別に比較。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住友電気工業　W1027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SumiSmall／WEZMほか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工具・工程集約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条件設定・工具データ提供の範囲。AI機能は未確認。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中村留精密工業　E2027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RoboSync／Protona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供給段取り・NC作成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移設後の位置補正とプログラム作成の負担。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FUJI　E3021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VN40／TN400ⅡR／Quist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異形ワーク・段取り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把持・表裏加工・備品管理の自動化範囲。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TAKISAWA　E3013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TR-20W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切粉除去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絡まり認識、除去動作、完了・失敗判定。参考出品。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オートデスク　S3019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Fusion／Fusion Manage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CAD/CAM・PLM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AI支援対象と設計・製造データの連携。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ニコン　E7001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NEXIV／MV5X／ロボットビジョン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計測・認識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18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計測・認識結果が加工・搬送へ戻る範囲。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6CECE884-F115-4DF2-8447-C2E82765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出展者の公開説明を要約。AI機能の未確認と、AIを使用しないという確認は区別。東京精密は展示内容未取得。</a:t>
            </a:r>
          </a:p>
        </p:txBody>
      </p:sp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B594670-13F1-49FA-8887-A172F412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21 / 22</a:t>
            </a:r>
          </a:p>
        </p:txBody>
      </p:sp>
    </p:spTree>
    <p:extLst>
      <p:ext uri="{BB962C8B-B14F-4D97-AF65-F5344CB8AC3E}">
        <p14:creationId xmlns:p14="http://schemas.microsoft.com/office/powerpoint/2010/main" val="4342287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heading">
            <a:extLst xmlns:a="http://schemas.openxmlformats.org/drawingml/2006/main">
              <a:ext uri="{FF2B5EF4-FFF2-40B4-BE49-F238E27FC236}">
                <a16:creationId xmlns:a16="http://schemas.microsoft.com/office/drawing/2014/main" id="{C59B8599-51FC-4D8F-AFED-C7E5B56A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"/>
            <a:ext cx="16649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34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調査範囲と2024年比較</a:t>
            </a:r>
          </a:p>
        </p:txBody>
      </p:sp>
      <p:sp>
        <p:nvSpPr>
          <p:cNvPr id="2" name="context">
            <a:extLst xmlns:a="http://schemas.openxmlformats.org/drawingml/2006/main">
              <a:ext uri="{FF2B5EF4-FFF2-40B4-BE49-F238E27FC236}">
                <a16:creationId xmlns:a16="http://schemas.microsoft.com/office/drawing/2014/main" id="{5E233D1A-FA65-499B-86C0-F1D941D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1655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全出展者の照合と同名企業パネルをマクロ分析の土台とし、詳細な方式比較へ展開した。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0E9FF-F57B-469D-A847-D060B8C9A49B}"/>
              </a:ext>
            </a:extLst>
          </p:cNvPr>
          <p:cNvGraphicFramePr/>
          <p:nvPr/>
        </p:nvGraphicFramePr>
        <p:xfrm>
          <a:off xmlns:a="http://schemas.openxmlformats.org/drawingml/2006/main" x="819150" y="2514600"/>
          <a:ext xmlns:a="http://schemas.openxmlformats.org/drawingml/2006/main" cx="16649700" cy="3629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982200"/>
                <a:gridCol w="3333750"/>
                <a:gridCol w="3333750"/>
              </a:tblGrid>
              <a:tr h="581025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出展説明の用語群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2024年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FFFFFF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2026年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T w="9525">
                      <a:solidFill>
                        <a:srgbClr val="CFDBDF"/>
                      </a:solidFill>
                      <a:prstDash val="solid"/>
                    </a:lnT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193647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AI明示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22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40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生成AIとエージェント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5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フィジカルAI明示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0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7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1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自動化と省人化</a:t>
                      </a:r>
                    </a:p>
                  </a:txBody>
                  <a:tcPr marL="91440" marR="91440" marT="45720" marB="45720" anchor="t">
                    <a:lnL w="9525">
                      <a:solidFill>
                        <a:srgbClr val="CFDBDF"/>
                      </a:solidFill>
                      <a:prstDash val="solid"/>
                    </a:lnL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172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  <a:tc>
                  <a:txBody>
                    <a:bodyPr wrap="square" lIns="104775" tIns="104775" rIns="104775" bIns="104775">
                      <a:noAutofit/>
                    </a:bodyPr>
                    <a:lstStyle/>
                    <a:p>
                      <a:pPr>
                        <a:lnSpc>
                          <a:spcPct val="112000"/>
                        </a:lnSpc>
                        <a:buNone/>
                      </a:pPr>
                      <a:r>
                        <a:rPr sz="2175" b="0">
                          <a:solidFill>
                            <a:srgbClr val="193647"/>
                          </a:solidFill>
                          <a:latin typeface="Yu Gothic UI"/>
                          <a:ea typeface="Yu Gothic UI"/>
                          <a:cs typeface="Yu Gothic UI"/>
                        </a:rPr>
                        <a:t>193</a:t>
                      </a:r>
                    </a:p>
                  </a:txBody>
                  <a:tcPr marL="91440" marR="91440" marT="45720" marB="45720" anchor="t">
                    <a:lnR w="9525">
                      <a:solidFill>
                        <a:srgbClr val="CFDBDF"/>
                      </a:solidFill>
                      <a:prstDash val="solid"/>
                    </a:lnR>
                    <a:lnB w="9525">
                      <a:solidFill>
                        <a:srgbClr val="CFDBDF"/>
                      </a:solidFill>
                      <a:prstDash val="solid"/>
                    </a:lnB>
                    <a:solidFill>
                      <a:srgbClr val="F0F5F5"/>
                    </a:solidFill>
                  </a:tcPr>
                </a:tc>
              </a:tr>
            </a:tbl>
          </a:graphicData>
        </a:graphic>
      </p:graphicFrame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AB6B9824-9C3D-4F35-9034-664ECFBE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38925"/>
            <a:ext cx="16573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集計対象：両年に説明文がある同名538件。複数カテゴリの重複あり。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defRPr>
            </a:pPr>
            <a:r>
              <a:rPr sz="2250" b="1">
                <a:solidFill>
                  <a:srgbClr val="193647"/>
                </a:solidFill>
                <a:latin typeface="Yu Gothic UI"/>
                <a:ea typeface="Yu Gothic UI"/>
                <a:cs typeface="Yu Gothic UI"/>
              </a:rPr>
              <a:t>技術索引344件、詳細比較57件、本編は方式差を比較する33行。主要企業33社を別途確認。</a:t>
            </a:r>
          </a:p>
        </p:txBody>
      </p:sp>
      <p:sp>
        <p:nvSpPr>
          <p:cNvPr id="5" name="limits">
            <a:extLst xmlns:a="http://schemas.openxmlformats.org/drawingml/2006/main">
              <a:ext uri="{FF2B5EF4-FFF2-40B4-BE49-F238E27FC236}">
                <a16:creationId xmlns:a16="http://schemas.microsoft.com/office/drawing/2014/main" id="{EC176AB6-65EB-4FB9-8971-E52403A9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10525"/>
            <a:ext cx="1657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文言の増加は、採用率・性能向上・新機能数を表さない。顧客ニーズは公開説明からの課題整理。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21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説明文や詳細URLがない企業もあり、全社・全製品の技術を完全に分解した調査ではない。</a:t>
            </a:r>
          </a:p>
        </p:txBody>
      </p:sp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C8D313A0-B762-4CCC-B4CA-8E748C72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34525"/>
            <a:ext cx="15144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00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2024・2026照合は2,427掲載行。候補索引全344件と出典リンクはHTML版に掲載。</a:t>
            </a:r>
          </a:p>
        </p:txBody>
      </p:sp>
      <p:sp>
        <p:nvSpPr>
          <p:cNvPr id="7" name="page">
            <a:extLst xmlns:a="http://schemas.openxmlformats.org/drawingml/2006/main">
              <a:ext uri="{FF2B5EF4-FFF2-40B4-BE49-F238E27FC236}">
                <a16:creationId xmlns:a16="http://schemas.microsoft.com/office/drawing/2014/main" id="{C0909593-FB56-404E-98F9-D462D412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0" y="9534525"/>
            <a:ext cx="95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defPPr>
            <a:lvl1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1pPr>
            <a:lvl2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2pPr>
            <a:lvl3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3pPr>
            <a:lvl4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4pPr>
            <a:lvl5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5pPr>
            <a:lvl6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6pPr>
            <a:lvl7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7pPr>
            <a:lvl8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8pPr>
            <a:lvl9pPr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defRPr>
            </a:pPr>
            <a:r>
              <a:rPr sz="1575" b="0">
                <a:solidFill>
                  <a:srgbClr val="536774"/>
                </a:solidFill>
                <a:latin typeface="Yu Gothic UI"/>
                <a:ea typeface="Yu Gothic UI"/>
                <a:cs typeface="Yu Gothic UI"/>
              </a:rPr>
              <a:t>22 / 22</a:t>
            </a:r>
          </a:p>
        </p:txBody>
      </p:sp>
    </p:spTree>
    <p:extLst>
      <p:ext uri="{BB962C8B-B14F-4D97-AF65-F5344CB8AC3E}">
        <p14:creationId xmlns:p14="http://schemas.microsoft.com/office/powerpoint/2010/main" val="1558603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2026-10-22T02:08:33.1070000Z</dcterms:created>
  <dcterms:modified xsi:type="dcterms:W3CDTF">2026-10-22T02:08:33.1070000Z</dcterms:modified>
</coreProperties>
</file>